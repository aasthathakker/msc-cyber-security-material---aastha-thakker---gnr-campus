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Nuni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Nunito-bold.fntdata"/><Relationship Id="rId27" Type="http://schemas.openxmlformats.org/officeDocument/2006/relationships/font" Target="fonts/Nuni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Nuni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7ecaf498d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7ecaf498d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https://medium.com/intro-to-artificial-intelligence/logistic-regression-using-gradient-descent-bf8cbe749ceb</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7ecaf498d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7ecaf498d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7ecaf498d1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7ecaf498d1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7ecaf498d1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7ecaf498d1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7ecaf498d1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7ecaf498d1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7ecaf498d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7ecaf498d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7ecaf498d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7ecaf498d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7ecaf498d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7ecaf498d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7ecaf498d1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7ecaf498d1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7ecaf498d1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7ecaf498d1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7ecaf498d1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7ecaf498d1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7ecaf498d1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7ecaf498d1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7ecaf498d1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7ecaf498d1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7ecaf498d1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7ecaf498d1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7ecaf498d1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7ecaf498d1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7ecaf498d1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7ecaf498d1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7ecaf498d1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7ecaf498d1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7ecaf498d1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7ecaf498d1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7ecaf498d1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7ecaf498d1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7ecaf498d1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7ecaf498d1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geeksforgeeks.org/machine-learning/derivative-of-the-sigmoid-function/"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Logistic Regression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to Logistic regression</a:t>
            </a:r>
            <a:endParaRPr/>
          </a:p>
        </p:txBody>
      </p:sp>
      <p:sp>
        <p:nvSpPr>
          <p:cNvPr id="61" name="Google Shape;61;p14"/>
          <p:cNvSpPr txBox="1"/>
          <p:nvPr>
            <p:ph idx="1" type="body"/>
          </p:nvPr>
        </p:nvSpPr>
        <p:spPr>
          <a:xfrm>
            <a:off x="311700" y="1152475"/>
            <a:ext cx="47082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A basic machine learning approach that is frequently used for binary classification tasks is called logistic regression. </a:t>
            </a:r>
            <a:endParaRPr/>
          </a:p>
          <a:p>
            <a:pPr indent="0" lvl="0" marL="0" rtl="0" algn="l">
              <a:spcBef>
                <a:spcPts val="1200"/>
              </a:spcBef>
              <a:spcAft>
                <a:spcPts val="0"/>
              </a:spcAft>
              <a:buNone/>
            </a:pPr>
            <a:r>
              <a:rPr lang="en"/>
              <a:t>Though its name suggests otherwise, it uses the sigmoid function to simulate the likelihood of an instance falling into a specific class, producing values between</a:t>
            </a:r>
            <a:r>
              <a:rPr b="1" lang="en"/>
              <a:t> 0 and 1. </a:t>
            </a:r>
            <a:endParaRPr b="1"/>
          </a:p>
          <a:p>
            <a:pPr indent="0" lvl="0" marL="0" rtl="0" algn="l">
              <a:spcBef>
                <a:spcPts val="1200"/>
              </a:spcBef>
              <a:spcAft>
                <a:spcPts val="1200"/>
              </a:spcAft>
              <a:buNone/>
            </a:pPr>
            <a:r>
              <a:rPr lang="en"/>
              <a:t>Logistic regression, with its emphasis on i</a:t>
            </a:r>
            <a:r>
              <a:rPr b="1" lang="en"/>
              <a:t>nterpretability, simplicity, and efficient computation</a:t>
            </a:r>
            <a:r>
              <a:rPr lang="en"/>
              <a:t>, is widely applied in a variety of fields, such as marketing, finance, and healthcare, and it offers insightful forecasts and useful information for decision-making.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About Binary classification  with logistic regression</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A statistical model for binary classification is called logistic regression. Using the sigmoid function, it forecasts the likelihood that an instance will belong to a particular class, guaranteeing results between 0 and 1. </a:t>
            </a:r>
            <a:endParaRPr/>
          </a:p>
          <a:p>
            <a:pPr indent="0" lvl="0" marL="0" rtl="0" algn="l">
              <a:spcBef>
                <a:spcPts val="1200"/>
              </a:spcBef>
              <a:spcAft>
                <a:spcPts val="0"/>
              </a:spcAft>
              <a:buNone/>
            </a:pPr>
            <a:r>
              <a:rPr lang="en"/>
              <a:t>To minimize the </a:t>
            </a:r>
            <a:r>
              <a:rPr b="1" lang="en"/>
              <a:t>log loss</a:t>
            </a:r>
            <a:r>
              <a:rPr lang="en"/>
              <a:t>, the model computes a linear combination of input characteristics, transforms it using the </a:t>
            </a:r>
            <a:r>
              <a:rPr b="1" lang="en"/>
              <a:t>sigmoid</a:t>
            </a:r>
            <a:r>
              <a:rPr lang="en"/>
              <a:t>, and then </a:t>
            </a:r>
            <a:r>
              <a:rPr b="1" lang="en"/>
              <a:t>optimizes</a:t>
            </a:r>
            <a:r>
              <a:rPr lang="en"/>
              <a:t> its coefficients using methods like </a:t>
            </a:r>
            <a:r>
              <a:rPr b="1" lang="en"/>
              <a:t>gradient descent.</a:t>
            </a:r>
            <a:endParaRPr b="1"/>
          </a:p>
          <a:p>
            <a:pPr indent="0" lvl="0" marL="0" rtl="0" algn="l">
              <a:spcBef>
                <a:spcPts val="1200"/>
              </a:spcBef>
              <a:spcAft>
                <a:spcPts val="0"/>
              </a:spcAft>
              <a:buNone/>
            </a:pPr>
            <a:r>
              <a:rPr lang="en"/>
              <a:t> These coefficients establish the </a:t>
            </a:r>
            <a:r>
              <a:rPr b="1" lang="en"/>
              <a:t>decision boundary</a:t>
            </a:r>
            <a:r>
              <a:rPr lang="en"/>
              <a:t> that divides the classes. Because of its ease of use, i</a:t>
            </a:r>
            <a:r>
              <a:rPr b="1" lang="en"/>
              <a:t>nterpretability, and versatility across multiple domains,</a:t>
            </a:r>
            <a:r>
              <a:rPr lang="en"/>
              <a:t> Logistic Regression is widely used in machine learning for problems that involve binary outcomes. </a:t>
            </a:r>
            <a:endParaRPr/>
          </a:p>
          <a:p>
            <a:pPr indent="0" lvl="0" marL="0" rtl="0" algn="l">
              <a:spcBef>
                <a:spcPts val="1200"/>
              </a:spcBef>
              <a:spcAft>
                <a:spcPts val="1200"/>
              </a:spcAft>
              <a:buNone/>
            </a:pPr>
            <a:r>
              <a:rPr lang="en"/>
              <a:t>Overfitting can be avoided by implementing regularization.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73" name="Google Shape;73;p16"/>
          <p:cNvPicPr preferRelativeResize="0"/>
          <p:nvPr/>
        </p:nvPicPr>
        <p:blipFill>
          <a:blip r:embed="rId3">
            <a:alphaModFix/>
          </a:blip>
          <a:stretch>
            <a:fillRect/>
          </a:stretch>
        </p:blipFill>
        <p:spPr>
          <a:xfrm>
            <a:off x="1801850" y="1114425"/>
            <a:ext cx="5438775" cy="2914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Sigmoid Function</a:t>
            </a:r>
            <a:endParaRPr/>
          </a:p>
        </p:txBody>
      </p:sp>
      <p:sp>
        <p:nvSpPr>
          <p:cNvPr id="79" name="Google Shape;79;p17"/>
          <p:cNvSpPr txBox="1"/>
          <p:nvPr>
            <p:ph idx="1" type="body"/>
          </p:nvPr>
        </p:nvSpPr>
        <p:spPr>
          <a:xfrm>
            <a:off x="311700" y="1152475"/>
            <a:ext cx="41499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Sigmoid Function: The main function that ensures outputs are between 0 and 1 by converting a linear combination of input data into probabilities.</a:t>
            </a:r>
            <a:endParaRPr/>
          </a:p>
          <a:p>
            <a:pPr indent="0" lvl="0" marL="0" rtl="0" algn="l">
              <a:spcBef>
                <a:spcPts val="1200"/>
              </a:spcBef>
              <a:spcAft>
                <a:spcPts val="0"/>
              </a:spcAft>
              <a:buNone/>
            </a:pPr>
            <a:r>
              <a:rPr lang="en"/>
              <a:t>The sigmoid function is denoted as </a:t>
            </a:r>
            <a:endParaRPr/>
          </a:p>
          <a:p>
            <a:pPr indent="0" lvl="0" marL="0" rtl="0" algn="l">
              <a:spcBef>
                <a:spcPts val="1200"/>
              </a:spcBef>
              <a:spcAft>
                <a:spcPts val="0"/>
              </a:spcAft>
              <a:buNone/>
            </a:pPr>
            <a:r>
              <a:rPr lang="en"/>
              <a:t>σ(z) σ(z), and is defined as: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Where, z is linear combination of input features and coefficients.</a:t>
            </a:r>
            <a:endParaRPr/>
          </a:p>
          <a:p>
            <a:pPr indent="0" lvl="0" marL="0" rtl="0" algn="l">
              <a:spcBef>
                <a:spcPts val="1200"/>
              </a:spcBef>
              <a:spcAft>
                <a:spcPts val="1200"/>
              </a:spcAft>
              <a:buNone/>
            </a:pPr>
            <a:r>
              <a:t/>
            </a:r>
            <a:endParaRPr/>
          </a:p>
        </p:txBody>
      </p:sp>
      <p:pic>
        <p:nvPicPr>
          <p:cNvPr id="80" name="Google Shape;80;p17"/>
          <p:cNvPicPr preferRelativeResize="0"/>
          <p:nvPr/>
        </p:nvPicPr>
        <p:blipFill>
          <a:blip r:embed="rId3">
            <a:alphaModFix/>
          </a:blip>
          <a:stretch>
            <a:fillRect/>
          </a:stretch>
        </p:blipFill>
        <p:spPr>
          <a:xfrm>
            <a:off x="4461600" y="1152475"/>
            <a:ext cx="4377600" cy="256443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Hypothesis Function: uses the sigmoid function and weights (coefficients) to combine input features to estimate the likelihood of falling into a particular class.</a:t>
            </a:r>
            <a:endParaRPr/>
          </a:p>
          <a:p>
            <a:pPr indent="0" lvl="0" marL="0" rtl="0" algn="l">
              <a:spcBef>
                <a:spcPts val="1200"/>
              </a:spcBef>
              <a:spcAft>
                <a:spcPts val="1200"/>
              </a:spcAft>
              <a:buNone/>
            </a:pPr>
            <a:r>
              <a:rPr lang="en"/>
              <a:t>In logistic regression, the hypothesis function is provided by: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Concepts of Logistic Regression</a:t>
            </a:r>
            <a:endParaRPr/>
          </a:p>
          <a:p>
            <a:pPr indent="0" lvl="0" marL="0" rtl="0" algn="l">
              <a:spcBef>
                <a:spcPts val="0"/>
              </a:spcBef>
              <a:spcAft>
                <a:spcPts val="0"/>
              </a:spcAft>
              <a:buNone/>
            </a:pPr>
            <a:r>
              <a:t/>
            </a:r>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Sigmoid Function:</a:t>
            </a:r>
            <a:r>
              <a:rPr lang="en" sz="1350">
                <a:solidFill>
                  <a:srgbClr val="273239"/>
                </a:solidFill>
                <a:highlight>
                  <a:srgbClr val="FFFFFF"/>
                </a:highlight>
                <a:latin typeface="Nunito"/>
                <a:ea typeface="Nunito"/>
                <a:cs typeface="Nunito"/>
                <a:sym typeface="Nunito"/>
              </a:rPr>
              <a:t> The main function that ensures outputs are between 0 and 1 by converting a linear combination of input data into probabilities.</a:t>
            </a:r>
            <a:endParaRPr sz="1350">
              <a:solidFill>
                <a:srgbClr val="273239"/>
              </a:solidFill>
              <a:highlight>
                <a:srgbClr val="FFFFFF"/>
              </a:highlight>
              <a:latin typeface="Nunito"/>
              <a:ea typeface="Nunito"/>
              <a:cs typeface="Nunito"/>
              <a:sym typeface="Nunito"/>
            </a:endParaRPr>
          </a:p>
          <a:p>
            <a:pPr indent="0" lvl="0" marL="0" rtl="0" algn="l">
              <a:lnSpc>
                <a:spcPct val="120000"/>
              </a:lnSpc>
              <a:spcBef>
                <a:spcPts val="1200"/>
              </a:spcBef>
              <a:spcAft>
                <a:spcPts val="0"/>
              </a:spcAft>
              <a:buClr>
                <a:schemeClr val="dk1"/>
              </a:buClr>
              <a:buSzPts val="1100"/>
              <a:buFont typeface="Arial"/>
              <a:buNone/>
            </a:pPr>
            <a:r>
              <a:rPr lang="en" sz="1350">
                <a:solidFill>
                  <a:srgbClr val="273239"/>
                </a:solidFill>
                <a:highlight>
                  <a:srgbClr val="FFFFFF"/>
                </a:highlight>
                <a:latin typeface="Nunito"/>
                <a:ea typeface="Nunito"/>
                <a:cs typeface="Nunito"/>
                <a:sym typeface="Nunito"/>
              </a:rPr>
              <a:t>The </a:t>
            </a:r>
            <a:r>
              <a:rPr lang="en" sz="1350" u="sng">
                <a:solidFill>
                  <a:srgbClr val="357960"/>
                </a:solidFill>
                <a:highlight>
                  <a:srgbClr val="FFFFFF"/>
                </a:highlight>
                <a:latin typeface="Nunito"/>
                <a:ea typeface="Nunito"/>
                <a:cs typeface="Nunito"/>
                <a:sym typeface="Nunito"/>
                <a:hlinkClick r:id="rId3">
                  <a:extLst>
                    <a:ext uri="{A12FA001-AC4F-418D-AE19-62706E023703}">
                      <ahyp:hlinkClr val="tx"/>
                    </a:ext>
                  </a:extLst>
                </a:hlinkClick>
              </a:rPr>
              <a:t>sigmoid function</a:t>
            </a:r>
            <a:r>
              <a:rPr lang="en" sz="1350">
                <a:solidFill>
                  <a:srgbClr val="273239"/>
                </a:solidFill>
                <a:highlight>
                  <a:srgbClr val="FFFFFF"/>
                </a:highlight>
                <a:latin typeface="Nunito"/>
                <a:ea typeface="Nunito"/>
                <a:cs typeface="Nunito"/>
                <a:sym typeface="Nunito"/>
              </a:rPr>
              <a:t> is denoted as </a:t>
            </a:r>
            <a:endParaRPr sz="1350">
              <a:solidFill>
                <a:srgbClr val="273239"/>
              </a:solidFill>
              <a:highlight>
                <a:srgbClr val="FFFFFF"/>
              </a:highlight>
              <a:latin typeface="Nunito"/>
              <a:ea typeface="Nunito"/>
              <a:cs typeface="Nunito"/>
              <a:sym typeface="Nunito"/>
            </a:endParaRPr>
          </a:p>
          <a:p>
            <a:pPr indent="0" lvl="0" marL="0" rtl="0" algn="l">
              <a:lnSpc>
                <a:spcPct val="120000"/>
              </a:lnSpc>
              <a:spcBef>
                <a:spcPts val="0"/>
              </a:spcBef>
              <a:spcAft>
                <a:spcPts val="0"/>
              </a:spcAft>
              <a:buClr>
                <a:schemeClr val="dk1"/>
              </a:buClr>
              <a:buSzPts val="1100"/>
              <a:buFont typeface="Arial"/>
              <a:buNone/>
            </a:pPr>
            <a:r>
              <a:rPr lang="en" sz="1650">
                <a:solidFill>
                  <a:srgbClr val="273239"/>
                </a:solidFill>
                <a:highlight>
                  <a:srgbClr val="FFFFFF"/>
                </a:highlight>
                <a:latin typeface="Times New Roman"/>
                <a:ea typeface="Times New Roman"/>
                <a:cs typeface="Times New Roman"/>
                <a:sym typeface="Times New Roman"/>
              </a:rPr>
              <a:t>σ(z)</a:t>
            </a:r>
            <a:endParaRPr sz="1650">
              <a:solidFill>
                <a:srgbClr val="273239"/>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i="1" lang="en" sz="1650">
                <a:solidFill>
                  <a:srgbClr val="273239"/>
                </a:solidFill>
                <a:highlight>
                  <a:srgbClr val="FFFFFF"/>
                </a:highlight>
                <a:latin typeface="Times New Roman"/>
                <a:ea typeface="Times New Roman"/>
                <a:cs typeface="Times New Roman"/>
                <a:sym typeface="Times New Roman"/>
              </a:rPr>
              <a:t>σ</a:t>
            </a:r>
            <a:r>
              <a:rPr lang="en" sz="1650">
                <a:solidFill>
                  <a:srgbClr val="273239"/>
                </a:solidFill>
                <a:highlight>
                  <a:srgbClr val="FFFFFF"/>
                </a:highlight>
                <a:latin typeface="Times New Roman"/>
                <a:ea typeface="Times New Roman"/>
                <a:cs typeface="Times New Roman"/>
                <a:sym typeface="Times New Roman"/>
              </a:rPr>
              <a:t>(</a:t>
            </a:r>
            <a:r>
              <a:rPr i="1" lang="en" sz="1650">
                <a:solidFill>
                  <a:srgbClr val="273239"/>
                </a:solidFill>
                <a:highlight>
                  <a:srgbClr val="FFFFFF"/>
                </a:highlight>
                <a:latin typeface="Times New Roman"/>
                <a:ea typeface="Times New Roman"/>
                <a:cs typeface="Times New Roman"/>
                <a:sym typeface="Times New Roman"/>
              </a:rPr>
              <a:t>z</a:t>
            </a:r>
            <a:r>
              <a:rPr lang="en" sz="1650">
                <a:solidFill>
                  <a:srgbClr val="273239"/>
                </a:solidFill>
                <a:highlight>
                  <a:srgbClr val="FFFFFF"/>
                </a:highlight>
                <a:latin typeface="Times New Roman"/>
                <a:ea typeface="Times New Roman"/>
                <a:cs typeface="Times New Roman"/>
                <a:sym typeface="Times New Roman"/>
              </a:rPr>
              <a:t>)</a:t>
            </a:r>
            <a:r>
              <a:rPr lang="en" sz="1350">
                <a:solidFill>
                  <a:srgbClr val="273239"/>
                </a:solidFill>
                <a:highlight>
                  <a:srgbClr val="FFFFFF"/>
                </a:highlight>
                <a:latin typeface="Nunito"/>
                <a:ea typeface="Nunito"/>
                <a:cs typeface="Nunito"/>
                <a:sym typeface="Nunito"/>
              </a:rPr>
              <a:t>, and is defined as:</a:t>
            </a:r>
            <a:endParaRPr sz="1350">
              <a:solidFill>
                <a:srgbClr val="273239"/>
              </a:solidFill>
              <a:highlight>
                <a:srgbClr val="FFFFFF"/>
              </a:highlight>
              <a:latin typeface="Nunito"/>
              <a:ea typeface="Nunito"/>
              <a:cs typeface="Nunito"/>
              <a:sym typeface="Nunito"/>
            </a:endParaRPr>
          </a:p>
          <a:p>
            <a:pPr indent="0" lvl="0" marL="0" rtl="0" algn="l">
              <a:lnSpc>
                <a:spcPct val="120000"/>
              </a:lnSpc>
              <a:spcBef>
                <a:spcPts val="0"/>
              </a:spcBef>
              <a:spcAft>
                <a:spcPts val="0"/>
              </a:spcAft>
              <a:buClr>
                <a:schemeClr val="dk1"/>
              </a:buClr>
              <a:buSzPts val="1100"/>
              <a:buFont typeface="Arial"/>
              <a:buNone/>
            </a:pPr>
            <a:r>
              <a:rPr lang="en" sz="1650">
                <a:solidFill>
                  <a:srgbClr val="273239"/>
                </a:solidFill>
                <a:highlight>
                  <a:srgbClr val="FFFFFF"/>
                </a:highlight>
                <a:latin typeface="Times New Roman"/>
                <a:ea typeface="Times New Roman"/>
                <a:cs typeface="Times New Roman"/>
                <a:sym typeface="Times New Roman"/>
              </a:rPr>
              <a:t>σ(z)=11+ez</a:t>
            </a:r>
            <a:endParaRPr sz="1650">
              <a:solidFill>
                <a:srgbClr val="273239"/>
              </a:solidFill>
              <a:highlight>
                <a:srgbClr val="FFFFFF"/>
              </a:highlight>
              <a:latin typeface="Times New Roman"/>
              <a:ea typeface="Times New Roman"/>
              <a:cs typeface="Times New Roman"/>
              <a:sym typeface="Times New Roman"/>
            </a:endParaRPr>
          </a:p>
          <a:p>
            <a:pPr indent="0" lvl="0" marL="0" marR="0" rtl="0" algn="l">
              <a:lnSpc>
                <a:spcPct val="120000"/>
              </a:lnSpc>
              <a:spcBef>
                <a:spcPts val="0"/>
              </a:spcBef>
              <a:spcAft>
                <a:spcPts val="0"/>
              </a:spcAft>
              <a:buClr>
                <a:schemeClr val="dk1"/>
              </a:buClr>
              <a:buSzPts val="1100"/>
              <a:buFont typeface="Arial"/>
              <a:buNone/>
            </a:pPr>
            <a:r>
              <a:rPr i="1" lang="en" sz="1650">
                <a:solidFill>
                  <a:srgbClr val="273239"/>
                </a:solidFill>
                <a:highlight>
                  <a:srgbClr val="FFFFFF"/>
                </a:highlight>
                <a:latin typeface="Times New Roman"/>
                <a:ea typeface="Times New Roman"/>
                <a:cs typeface="Times New Roman"/>
                <a:sym typeface="Times New Roman"/>
              </a:rPr>
              <a:t>σ</a:t>
            </a:r>
            <a:r>
              <a:rPr lang="en" sz="1650">
                <a:solidFill>
                  <a:srgbClr val="273239"/>
                </a:solidFill>
                <a:highlight>
                  <a:srgbClr val="FFFFFF"/>
                </a:highlight>
                <a:latin typeface="Times New Roman"/>
                <a:ea typeface="Times New Roman"/>
                <a:cs typeface="Times New Roman"/>
                <a:sym typeface="Times New Roman"/>
              </a:rPr>
              <a:t>(</a:t>
            </a:r>
            <a:r>
              <a:rPr i="1" lang="en" sz="1650">
                <a:solidFill>
                  <a:srgbClr val="273239"/>
                </a:solidFill>
                <a:highlight>
                  <a:srgbClr val="FFFFFF"/>
                </a:highlight>
                <a:latin typeface="Times New Roman"/>
                <a:ea typeface="Times New Roman"/>
                <a:cs typeface="Times New Roman"/>
                <a:sym typeface="Times New Roman"/>
              </a:rPr>
              <a:t>z</a:t>
            </a:r>
            <a:r>
              <a:rPr lang="en" sz="1650">
                <a:solidFill>
                  <a:srgbClr val="273239"/>
                </a:solidFill>
                <a:highlight>
                  <a:srgbClr val="FFFFFF"/>
                </a:highlight>
                <a:latin typeface="Times New Roman"/>
                <a:ea typeface="Times New Roman"/>
                <a:cs typeface="Times New Roman"/>
                <a:sym typeface="Times New Roman"/>
              </a:rPr>
              <a:t>)=</a:t>
            </a:r>
            <a:endParaRPr sz="1650">
              <a:solidFill>
                <a:srgbClr val="273239"/>
              </a:solidFill>
              <a:highlight>
                <a:srgbClr val="FFFFFF"/>
              </a:highlight>
              <a:latin typeface="Times New Roman"/>
              <a:ea typeface="Times New Roman"/>
              <a:cs typeface="Times New Roman"/>
              <a:sym typeface="Times New Roman"/>
            </a:endParaRPr>
          </a:p>
          <a:p>
            <a:pPr indent="0" lvl="0" marL="0" marR="0" rtl="0" algn="l">
              <a:lnSpc>
                <a:spcPct val="120000"/>
              </a:lnSpc>
              <a:spcBef>
                <a:spcPts val="0"/>
              </a:spcBef>
              <a:spcAft>
                <a:spcPts val="0"/>
              </a:spcAft>
              <a:buClr>
                <a:schemeClr val="dk1"/>
              </a:buClr>
              <a:buSzPts val="1100"/>
              <a:buFont typeface="Arial"/>
              <a:buNone/>
            </a:pPr>
            <a:r>
              <a:rPr lang="en" sz="1150">
                <a:solidFill>
                  <a:srgbClr val="273239"/>
                </a:solidFill>
                <a:highlight>
                  <a:srgbClr val="FFFFFF"/>
                </a:highlight>
                <a:latin typeface="Times New Roman"/>
                <a:ea typeface="Times New Roman"/>
                <a:cs typeface="Times New Roman"/>
                <a:sym typeface="Times New Roman"/>
              </a:rPr>
              <a:t>1+</a:t>
            </a:r>
            <a:r>
              <a:rPr i="1" lang="en" sz="1150">
                <a:solidFill>
                  <a:srgbClr val="273239"/>
                </a:solidFill>
                <a:highlight>
                  <a:srgbClr val="FFFFFF"/>
                </a:highlight>
                <a:latin typeface="Times New Roman"/>
                <a:ea typeface="Times New Roman"/>
                <a:cs typeface="Times New Roman"/>
                <a:sym typeface="Times New Roman"/>
              </a:rPr>
              <a:t>e</a:t>
            </a:r>
            <a:endParaRPr i="1" sz="1150">
              <a:solidFill>
                <a:srgbClr val="273239"/>
              </a:solidFill>
              <a:highlight>
                <a:srgbClr val="FFFFFF"/>
              </a:highlight>
              <a:latin typeface="Times New Roman"/>
              <a:ea typeface="Times New Roman"/>
              <a:cs typeface="Times New Roman"/>
              <a:sym typeface="Times New Roman"/>
            </a:endParaRPr>
          </a:p>
          <a:p>
            <a:pPr indent="0" lvl="0" marL="0" rtl="0" algn="l">
              <a:lnSpc>
                <a:spcPct val="120000"/>
              </a:lnSpc>
              <a:spcBef>
                <a:spcPts val="0"/>
              </a:spcBef>
              <a:spcAft>
                <a:spcPts val="0"/>
              </a:spcAft>
              <a:buClr>
                <a:schemeClr val="dk1"/>
              </a:buClr>
              <a:buSzPts val="1100"/>
              <a:buFont typeface="Arial"/>
              <a:buNone/>
            </a:pPr>
            <a:r>
              <a:rPr i="1" lang="en" sz="800">
                <a:solidFill>
                  <a:srgbClr val="273239"/>
                </a:solidFill>
                <a:highlight>
                  <a:srgbClr val="FFFFFF"/>
                </a:highlight>
                <a:latin typeface="Times New Roman"/>
                <a:ea typeface="Times New Roman"/>
                <a:cs typeface="Times New Roman"/>
                <a:sym typeface="Times New Roman"/>
              </a:rPr>
              <a:t>z</a:t>
            </a:r>
            <a:endParaRPr i="1" sz="800">
              <a:solidFill>
                <a:srgbClr val="273239"/>
              </a:solidFill>
              <a:highlight>
                <a:srgbClr val="FFFFFF"/>
              </a:highlight>
              <a:latin typeface="Times New Roman"/>
              <a:ea typeface="Times New Roman"/>
              <a:cs typeface="Times New Roman"/>
              <a:sym typeface="Times New Roman"/>
            </a:endParaRPr>
          </a:p>
          <a:p>
            <a:pPr indent="0" lvl="0" marL="0" marR="0" rtl="0" algn="ctr">
              <a:lnSpc>
                <a:spcPct val="120000"/>
              </a:lnSpc>
              <a:spcBef>
                <a:spcPts val="0"/>
              </a:spcBef>
              <a:spcAft>
                <a:spcPts val="0"/>
              </a:spcAft>
              <a:buClr>
                <a:schemeClr val="dk1"/>
              </a:buClr>
              <a:buSzPts val="1100"/>
              <a:buFont typeface="Arial"/>
              <a:buNone/>
            </a:pPr>
            <a:r>
              <a:rPr lang="en" sz="1150">
                <a:solidFill>
                  <a:srgbClr val="273239"/>
                </a:solidFill>
                <a:highlight>
                  <a:srgbClr val="FFFFFF"/>
                </a:highlight>
                <a:latin typeface="Times New Roman"/>
                <a:ea typeface="Times New Roman"/>
                <a:cs typeface="Times New Roman"/>
                <a:sym typeface="Times New Roman"/>
              </a:rPr>
              <a:t>1</a:t>
            </a:r>
            <a:endParaRPr sz="1150">
              <a:solidFill>
                <a:srgbClr val="273239"/>
              </a:solidFill>
              <a:highlight>
                <a:srgbClr val="FFFFFF"/>
              </a:highlight>
              <a:latin typeface="Times New Roman"/>
              <a:ea typeface="Times New Roman"/>
              <a:cs typeface="Times New Roman"/>
              <a:sym typeface="Times New Roman"/>
            </a:endParaRPr>
          </a:p>
          <a:p>
            <a:pPr indent="0" lvl="0" marL="0" marR="0" rtl="0" algn="ctr">
              <a:lnSpc>
                <a:spcPct val="120000"/>
              </a:lnSpc>
              <a:spcBef>
                <a:spcPts val="0"/>
              </a:spcBef>
              <a:spcAft>
                <a:spcPts val="0"/>
              </a:spcAft>
              <a:buClr>
                <a:schemeClr val="dk1"/>
              </a:buClr>
              <a:buSzPts val="1100"/>
              <a:buFont typeface="Arial"/>
              <a:buNone/>
            </a:pPr>
            <a:r>
              <a:rPr lang="en" sz="100">
                <a:solidFill>
                  <a:srgbClr val="273239"/>
                </a:solidFill>
                <a:highlight>
                  <a:srgbClr val="FFFFFF"/>
                </a:highlight>
                <a:latin typeface="Times New Roman"/>
                <a:ea typeface="Times New Roman"/>
                <a:cs typeface="Times New Roman"/>
                <a:sym typeface="Times New Roman"/>
              </a:rPr>
              <a:t>​</a:t>
            </a:r>
            <a:endParaRPr sz="100">
              <a:solidFill>
                <a:srgbClr val="273239"/>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1200"/>
              </a:spcAft>
              <a:buNone/>
            </a:pPr>
            <a:r>
              <a:rPr lang="en" sz="1350">
                <a:solidFill>
                  <a:srgbClr val="273239"/>
                </a:solidFill>
                <a:highlight>
                  <a:srgbClr val="FFFFFF"/>
                </a:highlight>
                <a:latin typeface="Nunito"/>
                <a:ea typeface="Nunito"/>
                <a:cs typeface="Nunito"/>
                <a:sym typeface="Nunito"/>
              </a:rPr>
              <a:t>Where, z is linear combination of input features and coefficients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the Logistic Regression Algorithm Works</a:t>
            </a:r>
            <a:endParaRPr/>
          </a:p>
          <a:p>
            <a:pPr indent="0" lvl="0" marL="0" rtl="0" algn="l">
              <a:spcBef>
                <a:spcPts val="0"/>
              </a:spcBef>
              <a:spcAft>
                <a:spcPts val="0"/>
              </a:spcAft>
              <a:buNone/>
            </a:pPr>
            <a:r>
              <a:t/>
            </a:r>
            <a:endParaRPr/>
          </a:p>
        </p:txBody>
      </p:sp>
      <p:sp>
        <p:nvSpPr>
          <p:cNvPr id="98" name="Google Shape;9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Python code for simple x features and binary classification</a:t>
            </a:r>
            <a:endParaRPr/>
          </a:p>
        </p:txBody>
      </p:sp>
      <p:sp>
        <p:nvSpPr>
          <p:cNvPr id="104" name="Google Shape;104;p21"/>
          <p:cNvSpPr txBox="1"/>
          <p:nvPr>
            <p:ph idx="1" type="body"/>
          </p:nvPr>
        </p:nvSpPr>
        <p:spPr>
          <a:xfrm>
            <a:off x="186225" y="1017725"/>
            <a:ext cx="5729100" cy="41259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None/>
            </a:pPr>
            <a:r>
              <a:rPr lang="en"/>
              <a:t>from sklearn.linear_model import LogisticRegression</a:t>
            </a:r>
            <a:endParaRPr/>
          </a:p>
          <a:p>
            <a:pPr indent="0" lvl="0" marL="0" rtl="0" algn="l">
              <a:spcBef>
                <a:spcPts val="1200"/>
              </a:spcBef>
              <a:spcAft>
                <a:spcPts val="0"/>
              </a:spcAft>
              <a:buNone/>
            </a:pPr>
            <a:r>
              <a:rPr lang="en"/>
              <a:t>import numpy as np</a:t>
            </a:r>
            <a:endParaRPr/>
          </a:p>
          <a:p>
            <a:pPr indent="0" lvl="0" marL="0" rtl="0" algn="l">
              <a:spcBef>
                <a:spcPts val="1200"/>
              </a:spcBef>
              <a:spcAft>
                <a:spcPts val="0"/>
              </a:spcAft>
              <a:buNone/>
            </a:pPr>
            <a:r>
              <a:rPr lang="en"/>
              <a:t>X_raw = np.array([[0.5], [2.0]])   # features (no bias column — sklearn handles intercept)</a:t>
            </a:r>
            <a:endParaRPr/>
          </a:p>
          <a:p>
            <a:pPr indent="0" lvl="0" marL="0" rtl="0" algn="l">
              <a:spcBef>
                <a:spcPts val="1200"/>
              </a:spcBef>
              <a:spcAft>
                <a:spcPts val="0"/>
              </a:spcAft>
              <a:buNone/>
            </a:pPr>
            <a:r>
              <a:rPr lang="en"/>
              <a:t>y = np.array([0, 1])</a:t>
            </a:r>
            <a:endParaRPr/>
          </a:p>
          <a:p>
            <a:pPr indent="0" lvl="0" marL="0" rtl="0" algn="l">
              <a:spcBef>
                <a:spcPts val="1200"/>
              </a:spcBef>
              <a:spcAft>
                <a:spcPts val="0"/>
              </a:spcAft>
              <a:buNone/>
            </a:pPr>
            <a:r>
              <a:rPr lang="en"/>
              <a:t>model = LogisticRegression(solver='liblinear')   # common simple solver</a:t>
            </a:r>
            <a:endParaRPr/>
          </a:p>
          <a:p>
            <a:pPr indent="0" lvl="0" marL="0" rtl="0" algn="l">
              <a:spcBef>
                <a:spcPts val="1200"/>
              </a:spcBef>
              <a:spcAft>
                <a:spcPts val="0"/>
              </a:spcAft>
              <a:buNone/>
            </a:pPr>
            <a:r>
              <a:rPr lang="en"/>
              <a:t>model.fit(X_raw, y)</a:t>
            </a:r>
            <a:endParaRPr/>
          </a:p>
          <a:p>
            <a:pPr indent="0" lvl="0" marL="0" rtl="0" algn="l">
              <a:spcBef>
                <a:spcPts val="1200"/>
              </a:spcBef>
              <a:spcAft>
                <a:spcPts val="0"/>
              </a:spcAft>
              <a:buNone/>
            </a:pPr>
            <a:r>
              <a:rPr lang="en"/>
              <a:t>probs = model.predict_proba(X_raw)[:,1]   # predicted probability of class 1</a:t>
            </a:r>
            <a:endParaRPr/>
          </a:p>
          <a:p>
            <a:pPr indent="0" lvl="0" marL="0" rtl="0" algn="l">
              <a:spcBef>
                <a:spcPts val="1200"/>
              </a:spcBef>
              <a:spcAft>
                <a:spcPts val="0"/>
              </a:spcAft>
              <a:buNone/>
            </a:pPr>
            <a:r>
              <a:rPr lang="en"/>
              <a:t>preds = model.predict(X_raw)</a:t>
            </a:r>
            <a:endParaRPr/>
          </a:p>
          <a:p>
            <a:pPr indent="0" lvl="0" marL="0" rtl="0" algn="l">
              <a:spcBef>
                <a:spcPts val="1200"/>
              </a:spcBef>
              <a:spcAft>
                <a:spcPts val="0"/>
              </a:spcAft>
              <a:buNone/>
            </a:pPr>
            <a:r>
              <a:rPr lang="en"/>
              <a:t>print("probs:", probs)</a:t>
            </a:r>
            <a:endParaRPr/>
          </a:p>
          <a:p>
            <a:pPr indent="0" lvl="0" marL="0" rtl="0" algn="l">
              <a:spcBef>
                <a:spcPts val="1200"/>
              </a:spcBef>
              <a:spcAft>
                <a:spcPts val="1200"/>
              </a:spcAft>
              <a:buNone/>
            </a:pPr>
            <a:r>
              <a:rPr lang="en"/>
              <a:t>print("preds:", preds)</a:t>
            </a:r>
            <a:endParaRPr/>
          </a:p>
        </p:txBody>
      </p:sp>
      <p:pic>
        <p:nvPicPr>
          <p:cNvPr id="105" name="Google Shape;105;p21"/>
          <p:cNvPicPr preferRelativeResize="0"/>
          <p:nvPr/>
        </p:nvPicPr>
        <p:blipFill rotWithShape="1">
          <a:blip r:embed="rId3">
            <a:alphaModFix/>
          </a:blip>
          <a:srcRect b="25245" l="32789" r="44413" t="38065"/>
          <a:stretch/>
        </p:blipFill>
        <p:spPr>
          <a:xfrm>
            <a:off x="5915450" y="1017725"/>
            <a:ext cx="3354626" cy="2559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0 — initial forward pass (with w=[0,0])</a:t>
            </a:r>
            <a:endParaRPr/>
          </a:p>
        </p:txBody>
      </p:sp>
      <p:sp>
        <p:nvSpPr>
          <p:cNvPr id="111" name="Google Shape;111;p22"/>
          <p:cNvSpPr txBox="1"/>
          <p:nvPr>
            <p:ph idx="1" type="body"/>
          </p:nvPr>
        </p:nvSpPr>
        <p:spPr>
          <a:xfrm>
            <a:off x="311700" y="1152475"/>
            <a:ext cx="59022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t>Linear scores: z=Xw</a:t>
            </a:r>
            <a:endParaRPr/>
          </a:p>
          <a:p>
            <a:pPr indent="0" lvl="0" marL="0" rtl="0" algn="l">
              <a:spcBef>
                <a:spcPts val="1200"/>
              </a:spcBef>
              <a:spcAft>
                <a:spcPts val="0"/>
              </a:spcAft>
              <a:buNone/>
            </a:pPr>
            <a:r>
              <a:rPr lang="en"/>
              <a:t>z1=1∗0+0.5∗0=0</a:t>
            </a:r>
            <a:endParaRPr/>
          </a:p>
          <a:p>
            <a:pPr indent="0" lvl="0" marL="0" rtl="0" algn="l">
              <a:spcBef>
                <a:spcPts val="1200"/>
              </a:spcBef>
              <a:spcAft>
                <a:spcPts val="0"/>
              </a:spcAft>
              <a:buNone/>
            </a:pPr>
            <a:r>
              <a:rPr lang="en"/>
              <a:t>z2=1∗0+2.0∗0=</a:t>
            </a:r>
            <a:endParaRPr/>
          </a:p>
          <a:p>
            <a:pPr indent="0" lvl="0" marL="0" rtl="0" algn="l">
              <a:spcBef>
                <a:spcPts val="1200"/>
              </a:spcBef>
              <a:spcAft>
                <a:spcPts val="0"/>
              </a:spcAft>
              <a:buNone/>
            </a:pPr>
            <a:r>
              <a:rPr lang="en"/>
              <a:t>So z=[0,0]</a:t>
            </a:r>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7" name="Google Shape;117;p23"/>
          <p:cNvSpPr txBox="1"/>
          <p:nvPr>
            <p:ph idx="1" type="body"/>
          </p:nvPr>
        </p:nvSpPr>
        <p:spPr>
          <a:xfrm>
            <a:off x="311700" y="1152475"/>
            <a:ext cx="4777200" cy="23325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t>Probabilities pi=σ(zi)</a:t>
            </a:r>
            <a:endParaRPr/>
          </a:p>
          <a:p>
            <a:pPr indent="0" lvl="0" marL="0" rtl="0" algn="l">
              <a:spcBef>
                <a:spcPts val="1200"/>
              </a:spcBef>
              <a:spcAft>
                <a:spcPts val="0"/>
              </a:spcAft>
              <a:buNone/>
            </a:pPr>
            <a:r>
              <a:rPr lang="en"/>
              <a:t>σ(0)=1/(1+e0)  =1/2=0.5</a:t>
            </a:r>
            <a:endParaRPr/>
          </a:p>
          <a:p>
            <a:pPr indent="0" lvl="0" marL="0" rtl="0" algn="l">
              <a:spcBef>
                <a:spcPts val="1200"/>
              </a:spcBef>
              <a:spcAft>
                <a:spcPts val="0"/>
              </a:spcAft>
              <a:buNone/>
            </a:pPr>
            <a:br>
              <a:rPr lang="en"/>
            </a:br>
            <a:r>
              <a:rPr lang="en"/>
              <a:t> So p=[0.5, 0.5]p=[0.5,\,0.5]p=[0.5,0.5]</a:t>
            </a:r>
            <a:endParaRPr/>
          </a:p>
          <a:p>
            <a:pPr indent="0" lvl="0" marL="0" rtl="0" algn="l">
              <a:spcBef>
                <a:spcPts val="1200"/>
              </a:spcBef>
              <a:spcAft>
                <a:spcPts val="1200"/>
              </a:spcAft>
              <a:buNone/>
            </a:pPr>
            <a:r>
              <a:t/>
            </a:r>
            <a:endParaRPr/>
          </a:p>
        </p:txBody>
      </p:sp>
      <p:sp>
        <p:nvSpPr>
          <p:cNvPr id="118" name="Google Shape;118;p23"/>
          <p:cNvSpPr txBox="1"/>
          <p:nvPr/>
        </p:nvSpPr>
        <p:spPr>
          <a:xfrm>
            <a:off x="5356000" y="1266425"/>
            <a:ext cx="3554400" cy="327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Log Loss: </a:t>
            </a:r>
            <a:r>
              <a:rPr lang="en" sz="1800">
                <a:solidFill>
                  <a:schemeClr val="dk2"/>
                </a:solidFill>
              </a:rPr>
              <a:t>The optimization cost function is a measure of the discrepancy between actual class labels and projected probability.</a:t>
            </a:r>
            <a:endParaRPr sz="1800">
              <a:solidFill>
                <a:schemeClr val="dk2"/>
              </a:solidFill>
            </a:endParaRPr>
          </a:p>
          <a:p>
            <a:pPr indent="0" lvl="0" marL="0" rtl="0" algn="l">
              <a:spcBef>
                <a:spcPts val="0"/>
              </a:spcBef>
              <a:spcAft>
                <a:spcPts val="0"/>
              </a:spcAft>
              <a:buNone/>
            </a:pPr>
            <a:r>
              <a:rPr lang="en" sz="1800">
                <a:solidFill>
                  <a:schemeClr val="dk2"/>
                </a:solidFill>
              </a:rPr>
              <a:t>The definition of the log loss for a single instance is:</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Cost function</a:t>
            </a:r>
            <a:endParaRPr/>
          </a:p>
          <a:p>
            <a:pPr indent="0" lvl="0" marL="0" rtl="0" algn="l">
              <a:spcBef>
                <a:spcPts val="0"/>
              </a:spcBef>
              <a:spcAft>
                <a:spcPts val="0"/>
              </a:spcAft>
              <a:buNone/>
            </a:pPr>
            <a:r>
              <a:t/>
            </a:r>
            <a:endParaRPr/>
          </a:p>
        </p:txBody>
      </p:sp>
      <p:sp>
        <p:nvSpPr>
          <p:cNvPr id="124" name="Google Shape;124;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need to find appropriate w and b in such a way that we can fit a straight line that is going to be an approximate representation of the data points. </a:t>
            </a:r>
            <a:endParaRPr/>
          </a:p>
          <a:p>
            <a:pPr indent="0" lvl="0" marL="0" rtl="0" algn="l">
              <a:spcBef>
                <a:spcPts val="1200"/>
              </a:spcBef>
              <a:spcAft>
                <a:spcPts val="0"/>
              </a:spcAft>
              <a:buNone/>
            </a:pPr>
            <a:r>
              <a:rPr lang="en"/>
              <a:t>In order to identify the best w and b, we need to define the cost function, J(w,b). The cost function gives how good is the model with a specific value of w and b.</a:t>
            </a:r>
            <a:endParaRPr/>
          </a:p>
          <a:p>
            <a:pPr indent="0" lvl="0" marL="0" rtl="0" algn="l">
              <a:spcBef>
                <a:spcPts val="1200"/>
              </a:spcBef>
              <a:spcAft>
                <a:spcPts val="0"/>
              </a:spcAft>
              <a:buNone/>
            </a:pPr>
            <a:r>
              <a:rPr lang="en"/>
              <a:t>As the sigmoid function is a non-convex function, we need to derive a cost function which make this algorithm makes convex.</a:t>
            </a:r>
            <a:endParaRPr/>
          </a:p>
          <a:p>
            <a:pPr indent="0" lvl="0" marL="0" rtl="0" algn="l">
              <a:spcBef>
                <a:spcPts val="1200"/>
              </a:spcBef>
              <a:spcAft>
                <a:spcPts val="1200"/>
              </a:spcAft>
              <a:buNone/>
            </a:pPr>
            <a:r>
              <a:rPr lang="en"/>
              <a:t> Thus, we can apply the gradient descent algorithm to find the best fit value for w and b.</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Loss per sample (binary cross-entropy):</a:t>
            </a:r>
            <a:endParaRPr/>
          </a:p>
        </p:txBody>
      </p:sp>
      <p:sp>
        <p:nvSpPr>
          <p:cNvPr id="130" name="Google Shape;130;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ℓi​=−(yi​logpi​+(1−yi​)log(1−pi​)).</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For sample1 </a:t>
            </a:r>
            <a:r>
              <a:rPr b="1" lang="en"/>
              <a:t>(y1=0)</a:t>
            </a:r>
            <a:r>
              <a:rPr lang="en"/>
              <a:t>: ℓ1=−(0⋅log⁡0.5+1⋅log⁡(1−0.5))=−log⁡(0.5)=0.69314718056</a:t>
            </a:r>
            <a:endParaRPr/>
          </a:p>
          <a:p>
            <a:pPr indent="0" lvl="0" marL="0" rtl="0" algn="l">
              <a:spcBef>
                <a:spcPts val="1200"/>
              </a:spcBef>
              <a:spcAft>
                <a:spcPts val="0"/>
              </a:spcAft>
              <a:buNone/>
            </a:pPr>
            <a:r>
              <a:rPr lang="en"/>
              <a:t>For sample2 </a:t>
            </a:r>
            <a:r>
              <a:rPr b="1" lang="en"/>
              <a:t>(y2=1)</a:t>
            </a:r>
            <a:r>
              <a:rPr lang="en"/>
              <a:t>: ℓ2=−(1⋅log⁡0.5+0⋅log⁡(0.5))=−log⁡(0.5)=0.69314718056</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b="1" lang="en"/>
              <a:t>Average loss</a:t>
            </a:r>
            <a:r>
              <a:rPr lang="en"/>
              <a:t> J=(0.693147+0.693147)/2=0.69314718056J</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6" name="Google Shape;136;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 order to find the best w and b, we utilize the gradient descent algorithm. Gradient descent and its variants are widely used in machine learning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142" name="Google Shape;142;p27"/>
          <p:cNvPicPr preferRelativeResize="0"/>
          <p:nvPr/>
        </p:nvPicPr>
        <p:blipFill rotWithShape="1">
          <a:blip r:embed="rId3">
            <a:alphaModFix/>
          </a:blip>
          <a:srcRect b="46777" l="33676" r="25671" t="21487"/>
          <a:stretch/>
        </p:blipFill>
        <p:spPr>
          <a:xfrm>
            <a:off x="4702200" y="1568425"/>
            <a:ext cx="4196649" cy="2183800"/>
          </a:xfrm>
          <a:prstGeom prst="rect">
            <a:avLst/>
          </a:prstGeom>
          <a:noFill/>
          <a:ln>
            <a:noFill/>
          </a:ln>
        </p:spPr>
      </p:pic>
      <p:pic>
        <p:nvPicPr>
          <p:cNvPr id="143" name="Google Shape;143;p27"/>
          <p:cNvPicPr preferRelativeResize="0"/>
          <p:nvPr/>
        </p:nvPicPr>
        <p:blipFill>
          <a:blip r:embed="rId4">
            <a:alphaModFix/>
          </a:blip>
          <a:stretch>
            <a:fillRect/>
          </a:stretch>
        </p:blipFill>
        <p:spPr>
          <a:xfrm>
            <a:off x="0" y="1634750"/>
            <a:ext cx="4702200" cy="25472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9" name="Google Shape;149;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The gradient descent algorithm is a first-order iterative optimisation to find out the minimum value in the cost function. </a:t>
            </a:r>
            <a:endParaRPr/>
          </a:p>
          <a:p>
            <a:pPr indent="0" lvl="0" marL="0" rtl="0" algn="l">
              <a:spcBef>
                <a:spcPts val="1200"/>
              </a:spcBef>
              <a:spcAft>
                <a:spcPts val="0"/>
              </a:spcAft>
              <a:buNone/>
            </a:pPr>
            <a:r>
              <a:rPr lang="en"/>
              <a:t>In this approach, we initialise w(weights) with a random value and find out the gradient. </a:t>
            </a:r>
            <a:endParaRPr/>
          </a:p>
          <a:p>
            <a:pPr indent="0" lvl="0" marL="0" rtl="0" algn="l">
              <a:spcBef>
                <a:spcPts val="1200"/>
              </a:spcBef>
              <a:spcAft>
                <a:spcPts val="0"/>
              </a:spcAft>
              <a:buNone/>
            </a:pPr>
            <a:r>
              <a:rPr lang="en"/>
              <a:t>Then we update the w in the opposite direction of the gradient. And, this process continues until the cost minimum is found.</a:t>
            </a:r>
            <a:endParaRPr/>
          </a:p>
          <a:p>
            <a:pPr indent="0" lvl="0" marL="0" rtl="0" algn="l">
              <a:spcBef>
                <a:spcPts val="1200"/>
              </a:spcBef>
              <a:spcAft>
                <a:spcPts val="0"/>
              </a:spcAft>
              <a:buNone/>
            </a:pPr>
            <a:r>
              <a:rPr lang="en"/>
              <a:t> The gradient always points towards the direction of the greatest increase, so in order to find the minimum or descent point, we update the weights in the opposite direction of the gradient. </a:t>
            </a:r>
            <a:endParaRPr/>
          </a:p>
          <a:p>
            <a:pPr indent="0" lvl="0" marL="0" rtl="0" algn="l">
              <a:spcBef>
                <a:spcPts val="1200"/>
              </a:spcBef>
              <a:spcAft>
                <a:spcPts val="0"/>
              </a:spcAft>
              <a:buNone/>
            </a:pPr>
            <a:r>
              <a:rPr lang="en"/>
              <a:t>We apply the same approach to find the minimum of b as well.</a:t>
            </a:r>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5" name="Google Shape;155;p29"/>
          <p:cNvSpPr txBox="1"/>
          <p:nvPr>
            <p:ph idx="1" type="body"/>
          </p:nvPr>
        </p:nvSpPr>
        <p:spPr>
          <a:xfrm>
            <a:off x="311700" y="1152475"/>
            <a:ext cx="3650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6" name="Google Shape;156;p29"/>
          <p:cNvPicPr preferRelativeResize="0"/>
          <p:nvPr/>
        </p:nvPicPr>
        <p:blipFill rotWithShape="1">
          <a:blip r:embed="rId3">
            <a:alphaModFix/>
          </a:blip>
          <a:srcRect b="27861" l="33792" r="23812" t="53011"/>
          <a:stretch/>
        </p:blipFill>
        <p:spPr>
          <a:xfrm>
            <a:off x="4182950" y="1452275"/>
            <a:ext cx="5037374" cy="1277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62" name="Google Shape;162;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Decision Boundary: </a:t>
            </a:r>
            <a:r>
              <a:rPr lang="en"/>
              <a:t>The surface or line used to divide instances into several classes according to the determined probability.</a:t>
            </a:r>
            <a:endParaRPr/>
          </a:p>
          <a:p>
            <a:pPr indent="0" lvl="0" marL="0" rtl="0" algn="l">
              <a:spcBef>
                <a:spcPts val="1200"/>
              </a:spcBef>
              <a:spcAft>
                <a:spcPts val="0"/>
              </a:spcAft>
              <a:buNone/>
            </a:pPr>
            <a:r>
              <a:rPr b="1" lang="en"/>
              <a:t>Probability Threshold:</a:t>
            </a:r>
            <a:r>
              <a:rPr lang="en"/>
              <a:t> a number (usually 0.5) that is used to calculate the class assignment using the probabilities that are anticipated.</a:t>
            </a:r>
            <a:endParaRPr/>
          </a:p>
          <a:p>
            <a:pPr indent="0" lvl="0" marL="0" rtl="0" algn="l">
              <a:spcBef>
                <a:spcPts val="1200"/>
              </a:spcBef>
              <a:spcAft>
                <a:spcPts val="1200"/>
              </a:spcAft>
              <a:buNone/>
            </a:pPr>
            <a:r>
              <a:rPr b="1" lang="en"/>
              <a:t>Odds Ratio:</a:t>
            </a:r>
            <a:r>
              <a:rPr lang="en"/>
              <a:t> The likelihood that an event will occur as opposed to not, which sheds light on how characteristics and the target variable are related.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68" name="Google Shape;168;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High-dimensional Logistic Regression</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Using L1 (Lasso) or L2 (Ridge) regularization to handle thousands of features (like gene expression data).</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Ongoing research explores efficient optimization for ultra-high dimensional data.</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Sparse Logistic Regression</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Feature selection built into logistic regression (important in genomics, text mining, cybersecurity).</a:t>
            </a:r>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74" name="Google Shape;174;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40000" lnSpcReduction="20000"/>
          </a:bodyPr>
          <a:lstStyle/>
          <a:p>
            <a:pPr indent="0" lvl="0" marL="0" rtl="0" algn="l">
              <a:spcBef>
                <a:spcPts val="0"/>
              </a:spcBef>
              <a:spcAft>
                <a:spcPts val="0"/>
              </a:spcAft>
              <a:buNone/>
            </a:pPr>
            <a:r>
              <a:rPr lang="en"/>
              <a:t>Robust &amp; Fair Logistic Regression</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Dealing with noisy labels, adversarial examples, or bias/fairness in predictions.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Extensions with Nonlinearities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Kernel Logistic Regression → combines logistic regression with kernel methods to capture nonlinear relationships.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Hybrid Models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Combining logistic regression with deep learning (e.g., last layer of a neural net often acts like logistic regression).</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In cybersecurity research, people often embed logistic regression inside ensemble models (stacking with random forests, XGBoost).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80" name="Google Shape;180;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100">
                <a:solidFill>
                  <a:schemeClr val="dk1"/>
                </a:solidFill>
              </a:rPr>
              <a:t>Explainable AI (XAI)</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Logistic regression is often used as a </a:t>
            </a:r>
            <a:r>
              <a:rPr b="1" lang="en" sz="1100">
                <a:solidFill>
                  <a:schemeClr val="dk1"/>
                </a:solidFill>
              </a:rPr>
              <a:t>reference model</a:t>
            </a:r>
            <a:r>
              <a:rPr lang="en" sz="1100">
                <a:solidFill>
                  <a:schemeClr val="dk1"/>
                </a:solidFill>
              </a:rPr>
              <a:t> in interpretability research, since its coefficients have direct meaning (log-od</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