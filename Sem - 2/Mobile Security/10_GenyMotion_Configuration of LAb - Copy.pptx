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357" r:id="rId3"/>
    <p:sldId id="408" r:id="rId4"/>
    <p:sldId id="442" r:id="rId5"/>
    <p:sldId id="528" r:id="rId6"/>
    <p:sldId id="517" r:id="rId7"/>
    <p:sldId id="519" r:id="rId8"/>
    <p:sldId id="520" r:id="rId9"/>
    <p:sldId id="522" r:id="rId10"/>
    <p:sldId id="529" r:id="rId11"/>
    <p:sldId id="530" r:id="rId12"/>
    <p:sldId id="521" r:id="rId13"/>
    <p:sldId id="523" r:id="rId14"/>
    <p:sldId id="527" r:id="rId15"/>
    <p:sldId id="524" r:id="rId16"/>
    <p:sldId id="525" r:id="rId17"/>
    <p:sldId id="526" r:id="rId18"/>
    <p:sldId id="531" r:id="rId19"/>
    <p:sldId id="532" r:id="rId20"/>
    <p:sldId id="515" r:id="rId21"/>
    <p:sldId id="465" r:id="rId2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8" d="100"/>
          <a:sy n="68" d="100"/>
        </p:scale>
        <p:origin x="1446" y="66"/>
      </p:cViewPr>
      <p:guideLst>
        <p:guide orient="horz" pos="2145"/>
        <p:guide pos="28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notesMaster" Target="notesMasters/notesMaster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806D20-265A-45AE-8D7F-1100293F805F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854D4B-AC91-4CBF-9F06-E2874E0FB78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900093-A566-4883-87EB-6E6022A9D2E1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41F41E-2724-4E8B-A7C1-40819B11D8AC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781080"/>
            <a:ext cx="8546121" cy="5791192"/>
          </a:xfrm>
        </p:spPr>
        <p:txBody>
          <a:bodyPr>
            <a:normAutofit fontScale="85000" lnSpcReduction="20000"/>
          </a:bodyPr>
          <a:lstStyle/>
          <a:p>
            <a:endParaRPr lang="en-IN" sz="4800" b="1" dirty="0">
              <a:solidFill>
                <a:schemeClr val="tx1"/>
              </a:solidFill>
            </a:endParaRPr>
          </a:p>
          <a:p>
            <a:r>
              <a:rPr lang="en-IN" sz="4800" b="1" dirty="0">
                <a:solidFill>
                  <a:schemeClr val="tx1"/>
                </a:solidFill>
              </a:rPr>
              <a:t>Mobile Phone Security </a:t>
            </a:r>
            <a:endParaRPr lang="en-IN" sz="4800" b="1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Dr. </a:t>
            </a:r>
            <a:r>
              <a:rPr lang="en-US" sz="2000" b="1" dirty="0" err="1">
                <a:solidFill>
                  <a:schemeClr val="tx1"/>
                </a:solidFill>
              </a:rPr>
              <a:t>Digvijaysinh</a:t>
            </a:r>
            <a:r>
              <a:rPr lang="en-US" sz="2000" b="1" dirty="0">
                <a:solidFill>
                  <a:schemeClr val="tx1"/>
                </a:solidFill>
              </a:rPr>
              <a:t> Rathod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Associate Professor 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(Cyber Security and Digital Forensics)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Institute of Forensic Science 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Gujarat Forensic Sciences University</a:t>
            </a:r>
            <a:endParaRPr lang="en-US" sz="2000" b="1" dirty="0">
              <a:solidFill>
                <a:schemeClr val="tx1"/>
              </a:solidFill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>
              <a:latin typeface="Calibri" panose="020F0502020204030204" pitchFamily="34" charset="0"/>
            </a:endParaRP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digvijay.rathod@gfsu.edu.in</a:t>
            </a:r>
            <a:endParaRPr lang="en-US" b="1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 bwMode="auto">
          <a:xfrm>
            <a:off x="2428860" y="1928802"/>
            <a:ext cx="4909738" cy="30003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9" name="Picture 5" descr="GFSU: Courses, Admissions, Placements, Scholarships, Fees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045495" y="0"/>
            <a:ext cx="1120496" cy="142873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3398" y="282668"/>
            <a:ext cx="8546121" cy="5467320"/>
          </a:xfrm>
        </p:spPr>
        <p:txBody>
          <a:bodyPr>
            <a:noAutofit/>
          </a:bodyPr>
          <a:lstStyle/>
          <a:p>
            <a:pPr lvl="1">
              <a:lnSpc>
                <a:spcPct val="150000"/>
              </a:lnSpc>
            </a:pPr>
            <a:endParaRPr lang="en-IN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en-IN" sz="4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Configuration of Virtual Laboratory for</a:t>
            </a:r>
            <a:endParaRPr lang="en-IN" sz="4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en-IN" sz="4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Mobile Forensic </a:t>
            </a:r>
            <a:endParaRPr lang="en-IN" sz="4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en-IN" sz="4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endParaRPr lang="en-IN" sz="4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en-IN" sz="4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Pen Testing</a:t>
            </a:r>
            <a:endParaRPr lang="en-IN" sz="4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a.Configuration of Genymotion in virtual machine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altLang="en-US" sz="259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b.Configuration of Santoku OS in virtual machine</a:t>
            </a:r>
            <a:endParaRPr lang="en-IN" altLang="en-US" sz="259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altLang="en-US" sz="259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c.Configuration of Appie</a:t>
            </a:r>
            <a:endParaRPr lang="en-IN" altLang="en-US" sz="259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</a:pPr>
            <a:endParaRPr lang="en-IN" altLang="en-US"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Lab Configuration 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3398" y="282668"/>
            <a:ext cx="8546121" cy="5467320"/>
          </a:xfrm>
        </p:spPr>
        <p:txBody>
          <a:bodyPr>
            <a:noAutofit/>
          </a:bodyPr>
          <a:lstStyle/>
          <a:p>
            <a:pPr lvl="1">
              <a:lnSpc>
                <a:spcPct val="150000"/>
              </a:lnSpc>
            </a:pPr>
            <a:endParaRPr lang="en-IN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IN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IN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IN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en-IN" sz="4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Genymotion</a:t>
            </a:r>
            <a:endParaRPr lang="en-IN" sz="4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IN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a.Configuration of Genymotion in virtual machine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57300" lvl="2" indent="-3429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IN" alt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Cross-platform Android emulator for developers &amp; QA engineers. Develop &amp; automate your tests to deliver best quality apps. On desktop, AWS, GCP &amp; SaaS</a:t>
            </a:r>
            <a:r>
              <a:rPr lang="en-IN" alt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IN" altLang="en-US"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57300" lvl="2" indent="-3429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IN" alt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Genymotion is a virtual environment that allows you to simulate phones on your computer. </a:t>
            </a:r>
            <a:endParaRPr lang="en-IN" altLang="en-US"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57300" lvl="2" indent="-3429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IN" alt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You can create the phone and run apps through it as if you were playing them on a mobile device.</a:t>
            </a:r>
            <a:endParaRPr lang="en-IN" altLang="en-US"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57300" lvl="2" indent="-3429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IN" alt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 is used by developers to test their products.</a:t>
            </a:r>
            <a:endParaRPr lang="en-IN" altLang="en-US"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 algn="just">
              <a:lnSpc>
                <a:spcPct val="150000"/>
              </a:lnSpc>
              <a:buFont typeface="Wingdings" panose="05000000000000000000" pitchFamily="2" charset="2"/>
            </a:pPr>
            <a:endParaRPr lang="en-IN" altLang="en-US"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/>
              <a:t>Genymotion</a:t>
            </a:r>
            <a:endParaRPr lang="en-US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a.Configuration of Genymotion in virtual machine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57300" lvl="2" indent="-3429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system includes cloud technology that allows you to check websites and work alongside others.</a:t>
            </a:r>
            <a:endParaRPr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57300" lvl="2" indent="-3429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You can check how the GPS is working or how the WiFi adaptor will react to different settings.</a:t>
            </a:r>
            <a:endParaRPr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57300" lvl="2" indent="-3429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 is compatible with Android SDK and Studio. </a:t>
            </a:r>
            <a:endParaRPr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57300" lvl="2" indent="-3429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feature means you can build your application in this software and immediately transfer it for testing on Genymotion. </a:t>
            </a:r>
            <a:endParaRPr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/>
              <a:t>Genymotion</a:t>
            </a:r>
            <a:endParaRPr lang="en-US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a.Configuration of Genymotion in virtual machine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57300" lvl="2" indent="-3429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programme also is extremely fast,  using x86 architecture.</a:t>
            </a:r>
            <a:endParaRPr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57300" lvl="2" indent="-342900" algn="just">
              <a:lnSpc>
                <a:spcPct val="150000"/>
              </a:lnSpc>
              <a:buFont typeface="Wingdings" panose="05000000000000000000" charset="0"/>
              <a:buChar char="ü"/>
            </a:pPr>
            <a:endParaRPr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/>
              <a:t>Genymotion</a:t>
            </a:r>
            <a:endParaRPr lang="en-US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Configuration  Steps of Genymotion in virtual machine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https://www.genymotion.com</a:t>
            </a:r>
            <a:endParaRPr lang="en-US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</a:pPr>
            <a:endParaRPr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/>
              <a:t>Genymotion</a:t>
            </a:r>
            <a:endParaRPr lang="en-US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781080"/>
            <a:ext cx="8546121" cy="5791192"/>
          </a:xfrm>
        </p:spPr>
        <p:txBody>
          <a:bodyPr>
            <a:normAutofit fontScale="85000" lnSpcReduction="20000"/>
          </a:bodyPr>
          <a:lstStyle/>
          <a:p>
            <a:endParaRPr lang="en-IN" sz="4800" b="1" dirty="0">
              <a:solidFill>
                <a:schemeClr val="tx1"/>
              </a:solidFill>
            </a:endParaRPr>
          </a:p>
          <a:p>
            <a:r>
              <a:rPr lang="en-IN" sz="4800" b="1" dirty="0">
                <a:solidFill>
                  <a:schemeClr val="tx1"/>
                </a:solidFill>
              </a:rPr>
              <a:t>Mobile Phone Security </a:t>
            </a:r>
            <a:endParaRPr lang="en-IN" sz="4800" b="1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Dr. </a:t>
            </a:r>
            <a:r>
              <a:rPr lang="en-US" sz="2000" b="1" dirty="0" err="1">
                <a:solidFill>
                  <a:schemeClr val="tx1"/>
                </a:solidFill>
              </a:rPr>
              <a:t>Digvijaysinh</a:t>
            </a:r>
            <a:r>
              <a:rPr lang="en-US" sz="2000" b="1" dirty="0">
                <a:solidFill>
                  <a:schemeClr val="tx1"/>
                </a:solidFill>
              </a:rPr>
              <a:t> Rathod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Associate Professor 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(Cyber Security and Digital Forensics)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Institute of Forensic Science 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Gujarat Forensic Sciences University</a:t>
            </a:r>
            <a:endParaRPr lang="en-US" sz="2000" b="1" dirty="0">
              <a:solidFill>
                <a:schemeClr val="tx1"/>
              </a:solidFill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>
              <a:latin typeface="Calibri" panose="020F0502020204030204" pitchFamily="34" charset="0"/>
            </a:endParaRP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digvijay.rathod@gfsu.edu.in</a:t>
            </a:r>
            <a:endParaRPr lang="en-US" b="1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 bwMode="auto">
          <a:xfrm>
            <a:off x="2428860" y="1928802"/>
            <a:ext cx="4909738" cy="30003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9" name="Picture 5" descr="GFSU: Courses, Admissions, Placements, Scholarships, Fees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045495" y="0"/>
            <a:ext cx="1120496" cy="142873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3398" y="282668"/>
            <a:ext cx="8546121" cy="5467320"/>
          </a:xfrm>
        </p:spPr>
        <p:txBody>
          <a:bodyPr>
            <a:noAutofit/>
          </a:bodyPr>
          <a:lstStyle/>
          <a:p>
            <a:pPr lvl="1">
              <a:lnSpc>
                <a:spcPct val="150000"/>
              </a:lnSpc>
            </a:pPr>
            <a:endParaRPr lang="en-IN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IN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IN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IN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en-IN" sz="4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Santoku</a:t>
            </a:r>
            <a:endParaRPr lang="en-IN" sz="4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IN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01553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Santoku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Linux flavor and its free and open source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Name was suggested by Thomas Cannon of </a:t>
            </a:r>
            <a:r>
              <a:rPr lang="en-US" sz="2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viaForensics</a:t>
            </a: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(who happens to be the project leader of </a:t>
            </a:r>
            <a:r>
              <a:rPr lang="en-US" sz="2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Santoku</a:t>
            </a: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Linux)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Santoku</a:t>
            </a: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Linux is aimed at 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Mobile Forensics, </a:t>
            </a:r>
            <a:endParaRPr lang="en-US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Mobile Malware Analysis, and </a:t>
            </a:r>
            <a:endParaRPr lang="en-US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Mobile Security Testing;</a:t>
            </a:r>
            <a:endParaRPr lang="en-US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altLang="en-US" sz="256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 of tools available in the santoku</a:t>
            </a:r>
            <a:endParaRPr lang="en-IN" altLang="en-US" sz="256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altLang="en-US" sz="219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https://santoku-linux.com/features/</a:t>
            </a:r>
            <a:endParaRPr lang="en-IN" altLang="en-US" sz="219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/>
              <a:t>Santoku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01553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GNU/Linux distro designed to help you in every aspect of your 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mobile forensics, 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mobile malware analysis, 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reverse engineering and 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security testing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</a:pPr>
            <a:endParaRPr lang="en-US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/>
              <a:t>Santoku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01553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Tools available in the 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Santoku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are: 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Development Tools: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Penetration Testing: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Reverse Engineering: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Wireless Analyzers: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Device Forensics: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Mobile Infrastructure: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</a:pPr>
            <a:endParaRPr lang="en-US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/>
              <a:t>Santoku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01553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 you are into mobile security and mobile forensics then this distribution is definitely right for you.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Mobile Forensics: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Firmware flashing tools for multiple manufacturers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Imaging tools for NAND, media cards, and RAM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Free versions of some commercial forensics tools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Useful scripts and utilities specifically designed for mobile forensics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/>
              <a:t>Santoku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01553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Mobile Malware Analysis: 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71550" lvl="1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Mobile device emulators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71550" lvl="1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Utilities to simulate network services for dynamic analysis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71550" lvl="1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Decompilation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disassembly tools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71550" lvl="1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Access to malware databases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/>
              <a:t>Santoku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01553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Mobile Security Testing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Decompilation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disassembly tools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Scripts to detect common issues in mobile applications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Scripts to automate decrypting binaries, deploying apps, enumerating app details, and more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/>
              <a:t>Santoku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Configuration  Steps of </a:t>
            </a:r>
            <a:r>
              <a:rPr lang="en-US" sz="2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Santoku</a:t>
            </a: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https://santoku-linux.com/</a:t>
            </a:r>
            <a:endParaRPr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/>
              <a:t>Genymotion</a:t>
            </a:r>
            <a:endParaRPr lang="en-US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781080"/>
            <a:ext cx="8546121" cy="5791192"/>
          </a:xfrm>
        </p:spPr>
        <p:txBody>
          <a:bodyPr>
            <a:normAutofit fontScale="85000" lnSpcReduction="20000"/>
          </a:bodyPr>
          <a:lstStyle/>
          <a:p>
            <a:endParaRPr lang="en-IN" sz="4800" b="1" dirty="0">
              <a:solidFill>
                <a:schemeClr val="tx1"/>
              </a:solidFill>
            </a:endParaRPr>
          </a:p>
          <a:p>
            <a:r>
              <a:rPr lang="en-IN" sz="4800" b="1" dirty="0">
                <a:solidFill>
                  <a:schemeClr val="tx1"/>
                </a:solidFill>
              </a:rPr>
              <a:t>Mobile Phone Security </a:t>
            </a:r>
            <a:endParaRPr lang="en-IN" sz="4800" b="1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Dr. </a:t>
            </a:r>
            <a:r>
              <a:rPr lang="en-US" sz="2000" b="1" dirty="0" err="1">
                <a:solidFill>
                  <a:schemeClr val="tx1"/>
                </a:solidFill>
              </a:rPr>
              <a:t>Digvijaysinh</a:t>
            </a:r>
            <a:r>
              <a:rPr lang="en-US" sz="2000" b="1" dirty="0">
                <a:solidFill>
                  <a:schemeClr val="tx1"/>
                </a:solidFill>
              </a:rPr>
              <a:t> Rathod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Associate Professor 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(Cyber Security and Digital Forensics)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Institute of Forensic Science 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Gujarat Forensic Sciences University</a:t>
            </a:r>
            <a:endParaRPr lang="en-US" sz="2000" b="1" dirty="0">
              <a:solidFill>
                <a:schemeClr val="tx1"/>
              </a:solidFill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>
              <a:latin typeface="Calibri" panose="020F0502020204030204" pitchFamily="34" charset="0"/>
            </a:endParaRP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digvijay.rathod@gfsu.edu.in</a:t>
            </a:r>
            <a:endParaRPr lang="en-US" b="1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 bwMode="auto">
          <a:xfrm>
            <a:off x="2428860" y="1928802"/>
            <a:ext cx="4909738" cy="30003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9" name="Picture 5" descr="GFSU: Courses, Admissions, Placements, Scholarships, Fees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045495" y="0"/>
            <a:ext cx="1120496" cy="142873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03510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altLang="en-US" sz="2595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Appie</a:t>
            </a:r>
            <a:r>
              <a:rPr lang="en-IN" altLang="en-US" sz="259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Android </a:t>
            </a:r>
            <a:r>
              <a:rPr lang="en-IN" altLang="en-US" sz="2595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Pentesting</a:t>
            </a:r>
            <a:r>
              <a:rPr lang="en-IN" altLang="en-US" sz="259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Portable Integrated Environment</a:t>
            </a:r>
            <a:endParaRPr lang="en-IN" altLang="en-US" sz="259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altLang="en-US" sz="2595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Appie</a:t>
            </a:r>
            <a:r>
              <a:rPr lang="en-IN" altLang="en-US" sz="259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is a software package that has been pre-configured to function as an Android Pentesting Environment on any windows based machine without the need of a Virtual Machine (VM) or </a:t>
            </a:r>
            <a:r>
              <a:rPr lang="en-IN" altLang="en-US" sz="2595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dualboot</a:t>
            </a:r>
            <a:r>
              <a:rPr lang="en-IN" altLang="en-US" sz="259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IN" altLang="en-US" sz="259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altLang="en-US" sz="259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https://manifestsecurity.com/appie/</a:t>
            </a:r>
            <a:endParaRPr lang="en-IN" altLang="en-US" sz="259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/>
              <a:t>Appie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781080"/>
            <a:ext cx="8546121" cy="5791192"/>
          </a:xfrm>
        </p:spPr>
        <p:txBody>
          <a:bodyPr>
            <a:normAutofit fontScale="85000" lnSpcReduction="20000"/>
          </a:bodyPr>
          <a:lstStyle/>
          <a:p>
            <a:endParaRPr lang="en-IN" sz="4800" b="1" dirty="0">
              <a:solidFill>
                <a:schemeClr val="tx1"/>
              </a:solidFill>
            </a:endParaRPr>
          </a:p>
          <a:p>
            <a:r>
              <a:rPr lang="en-IN" sz="4800" b="1" dirty="0">
                <a:solidFill>
                  <a:schemeClr val="tx1"/>
                </a:solidFill>
              </a:rPr>
              <a:t>Mobile Phone Security </a:t>
            </a:r>
            <a:endParaRPr lang="en-IN" sz="4800" b="1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Dr. </a:t>
            </a:r>
            <a:r>
              <a:rPr lang="en-US" sz="2000" b="1" dirty="0" err="1">
                <a:solidFill>
                  <a:schemeClr val="tx1"/>
                </a:solidFill>
              </a:rPr>
              <a:t>Digvijaysinh</a:t>
            </a:r>
            <a:r>
              <a:rPr lang="en-US" sz="2000" b="1" dirty="0">
                <a:solidFill>
                  <a:schemeClr val="tx1"/>
                </a:solidFill>
              </a:rPr>
              <a:t> Rathod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Associate Professor 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(Cyber Security and Digital Forensics)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Institute of Forensic Science 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Gujarat Forensic Sciences University</a:t>
            </a:r>
            <a:endParaRPr lang="en-US" sz="2000" b="1" dirty="0">
              <a:solidFill>
                <a:schemeClr val="tx1"/>
              </a:solidFill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>
              <a:latin typeface="Calibri" panose="020F0502020204030204" pitchFamily="34" charset="0"/>
            </a:endParaRP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digvijay.rathod@gfsu.edu.in</a:t>
            </a:r>
            <a:endParaRPr lang="en-US" b="1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 bwMode="auto">
          <a:xfrm>
            <a:off x="2428860" y="1928802"/>
            <a:ext cx="4909738" cy="30003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9" name="Picture 5" descr="GFSU: Courses, Admissions, Placements, Scholarships, Fees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045495" y="0"/>
            <a:ext cx="1120496" cy="142873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4200</Words>
  <Application>WPS Presentation</Application>
  <PresentationFormat>On-screen Show (4:3)</PresentationFormat>
  <Paragraphs>235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9" baseType="lpstr">
      <vt:lpstr>Arial</vt:lpstr>
      <vt:lpstr>SimSun</vt:lpstr>
      <vt:lpstr>Wingdings</vt:lpstr>
      <vt:lpstr>Calibri</vt:lpstr>
      <vt:lpstr>Times New Roman</vt:lpstr>
      <vt:lpstr>Wingdings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digvijay</dc:creator>
  <cp:lastModifiedBy>user</cp:lastModifiedBy>
  <cp:revision>578</cp:revision>
  <dcterms:created xsi:type="dcterms:W3CDTF">2018-03-30T10:15:00Z</dcterms:created>
  <dcterms:modified xsi:type="dcterms:W3CDTF">2020-09-25T06:19:17Z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1033-11.2.0.9684</vt:lpwstr>
  </property>
</Properties>
</file>