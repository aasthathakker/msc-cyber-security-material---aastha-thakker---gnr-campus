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6"/>
  </p:notesMasterIdLst>
  <p:sldIdLst>
    <p:sldId id="658" r:id="rId2"/>
    <p:sldId id="408" r:id="rId3"/>
    <p:sldId id="593" r:id="rId4"/>
    <p:sldId id="650" r:id="rId5"/>
    <p:sldId id="648" r:id="rId6"/>
    <p:sldId id="649" r:id="rId7"/>
    <p:sldId id="651" r:id="rId8"/>
    <p:sldId id="652" r:id="rId9"/>
    <p:sldId id="653" r:id="rId10"/>
    <p:sldId id="654" r:id="rId11"/>
    <p:sldId id="655" r:id="rId12"/>
    <p:sldId id="656" r:id="rId13"/>
    <p:sldId id="657" r:id="rId14"/>
    <p:sldId id="626" r:id="rId1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45">
          <p15:clr>
            <a:srgbClr val="A4A3A4"/>
          </p15:clr>
        </p15:guide>
        <p15:guide id="2" pos="28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33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8" d="100"/>
          <a:sy n="68" d="100"/>
        </p:scale>
        <p:origin x="1446" y="66"/>
      </p:cViewPr>
      <p:guideLst>
        <p:guide orient="horz" pos="2145"/>
        <p:guide pos="28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B806D20-265A-45AE-8D7F-1100293F805F}" type="datetimeFigureOut">
              <a:rPr lang="en-US" smtClean="0"/>
              <a:t>10/30/2020</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9854D4B-AC91-4CBF-9F06-E2874E0FB789}"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9854D4B-AC91-4CBF-9F06-E2874E0FB789}" type="slidenum">
              <a:rPr lang="en-US" smtClean="0"/>
              <a:t>7</a:t>
            </a:fld>
            <a:endParaRPr lang="en-US"/>
          </a:p>
        </p:txBody>
      </p:sp>
    </p:spTree>
    <p:extLst>
      <p:ext uri="{BB962C8B-B14F-4D97-AF65-F5344CB8AC3E}">
        <p14:creationId xmlns:p14="http://schemas.microsoft.com/office/powerpoint/2010/main" val="13157011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9854D4B-AC91-4CBF-9F06-E2874E0FB789}" type="slidenum">
              <a:rPr lang="en-US" smtClean="0"/>
              <a:t>8</a:t>
            </a:fld>
            <a:endParaRPr lang="en-US"/>
          </a:p>
        </p:txBody>
      </p:sp>
    </p:spTree>
    <p:extLst>
      <p:ext uri="{BB962C8B-B14F-4D97-AF65-F5344CB8AC3E}">
        <p14:creationId xmlns:p14="http://schemas.microsoft.com/office/powerpoint/2010/main" val="30501894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9854D4B-AC91-4CBF-9F06-E2874E0FB789}" type="slidenum">
              <a:rPr lang="en-US" smtClean="0"/>
              <a:t>9</a:t>
            </a:fld>
            <a:endParaRPr lang="en-US"/>
          </a:p>
        </p:txBody>
      </p:sp>
    </p:spTree>
    <p:extLst>
      <p:ext uri="{BB962C8B-B14F-4D97-AF65-F5344CB8AC3E}">
        <p14:creationId xmlns:p14="http://schemas.microsoft.com/office/powerpoint/2010/main" val="1881600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9854D4B-AC91-4CBF-9F06-E2874E0FB789}" type="slidenum">
              <a:rPr lang="en-US" smtClean="0"/>
              <a:t>10</a:t>
            </a:fld>
            <a:endParaRPr lang="en-US"/>
          </a:p>
        </p:txBody>
      </p:sp>
    </p:spTree>
    <p:extLst>
      <p:ext uri="{BB962C8B-B14F-4D97-AF65-F5344CB8AC3E}">
        <p14:creationId xmlns:p14="http://schemas.microsoft.com/office/powerpoint/2010/main" val="13908621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9854D4B-AC91-4CBF-9F06-E2874E0FB789}" type="slidenum">
              <a:rPr lang="en-US" smtClean="0"/>
              <a:t>11</a:t>
            </a:fld>
            <a:endParaRPr lang="en-US"/>
          </a:p>
        </p:txBody>
      </p:sp>
    </p:spTree>
    <p:extLst>
      <p:ext uri="{BB962C8B-B14F-4D97-AF65-F5344CB8AC3E}">
        <p14:creationId xmlns:p14="http://schemas.microsoft.com/office/powerpoint/2010/main" val="35811124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9854D4B-AC91-4CBF-9F06-E2874E0FB789}" type="slidenum">
              <a:rPr lang="en-US" smtClean="0"/>
              <a:t>12</a:t>
            </a:fld>
            <a:endParaRPr lang="en-US"/>
          </a:p>
        </p:txBody>
      </p:sp>
    </p:spTree>
    <p:extLst>
      <p:ext uri="{BB962C8B-B14F-4D97-AF65-F5344CB8AC3E}">
        <p14:creationId xmlns:p14="http://schemas.microsoft.com/office/powerpoint/2010/main" val="18992972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9854D4B-AC91-4CBF-9F06-E2874E0FB789}" type="slidenum">
              <a:rPr lang="en-US" smtClean="0"/>
              <a:t>13</a:t>
            </a:fld>
            <a:endParaRPr lang="en-US"/>
          </a:p>
        </p:txBody>
      </p:sp>
    </p:spTree>
    <p:extLst>
      <p:ext uri="{BB962C8B-B14F-4D97-AF65-F5344CB8AC3E}">
        <p14:creationId xmlns:p14="http://schemas.microsoft.com/office/powerpoint/2010/main" val="28284038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64900093-A566-4883-87EB-6E6022A9D2E1}" type="datetimeFigureOut">
              <a:rPr lang="en-US" smtClean="0"/>
              <a:t>10/30/2020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41F41E-2724-4E8B-A7C1-40819B11D8AC}"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4900093-A566-4883-87EB-6E6022A9D2E1}" type="datetimeFigureOut">
              <a:rPr lang="en-US" smtClean="0"/>
              <a:t>10/30/2020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41F41E-2724-4E8B-A7C1-40819B11D8AC}"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4900093-A566-4883-87EB-6E6022A9D2E1}" type="datetimeFigureOut">
              <a:rPr lang="en-US" smtClean="0"/>
              <a:t>10/30/2020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41F41E-2724-4E8B-A7C1-40819B11D8AC}"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4900093-A566-4883-87EB-6E6022A9D2E1}" type="datetimeFigureOut">
              <a:rPr lang="en-US" smtClean="0"/>
              <a:t>10/30/2020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F41F41E-2724-4E8B-A7C1-40819B11D8AC}"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4900093-A566-4883-87EB-6E6022A9D2E1}" type="datetimeFigureOut">
              <a:rPr lang="en-US" smtClean="0"/>
              <a:t>10/30/2020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F41F41E-2724-4E8B-A7C1-40819B11D8AC}"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4900093-A566-4883-87EB-6E6022A9D2E1}" type="datetimeFigureOut">
              <a:rPr lang="en-US" smtClean="0"/>
              <a:t>10/30/2020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F41F41E-2724-4E8B-A7C1-40819B11D8AC}"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4900093-A566-4883-87EB-6E6022A9D2E1}" type="datetimeFigureOut">
              <a:rPr lang="en-US" smtClean="0"/>
              <a:t>10/30/2020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F41F41E-2724-4E8B-A7C1-40819B11D8AC}"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4900093-A566-4883-87EB-6E6022A9D2E1}" type="datetimeFigureOut">
              <a:rPr lang="en-US" smtClean="0"/>
              <a:t>10/30/2020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F41F41E-2724-4E8B-A7C1-40819B11D8AC}"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4900093-A566-4883-87EB-6E6022A9D2E1}" type="datetimeFigureOut">
              <a:rPr lang="en-US" smtClean="0"/>
              <a:t>10/30/2020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F41F41E-2724-4E8B-A7C1-40819B11D8AC}"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4900093-A566-4883-87EB-6E6022A9D2E1}" type="datetimeFigureOut">
              <a:rPr lang="en-US" smtClean="0"/>
              <a:t>10/30/2020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41F41E-2724-4E8B-A7C1-40819B11D8AC}"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4900093-A566-4883-87EB-6E6022A9D2E1}" type="datetimeFigureOut">
              <a:rPr lang="en-US" smtClean="0"/>
              <a:t>10/30/2020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41F41E-2724-4E8B-A7C1-40819B11D8AC}"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4900093-A566-4883-87EB-6E6022A9D2E1}" type="datetimeFigureOut">
              <a:rPr lang="en-US" smtClean="0"/>
              <a:t>10/30/2020</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F41F41E-2724-4E8B-A7C1-40819B11D8AC}"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69278" y="781080"/>
            <a:ext cx="8546121" cy="5791192"/>
          </a:xfrm>
        </p:spPr>
        <p:txBody>
          <a:bodyPr>
            <a:normAutofit fontScale="85000" lnSpcReduction="20000"/>
          </a:bodyPr>
          <a:lstStyle/>
          <a:p>
            <a:endParaRPr lang="en-IN" sz="4800" b="1" dirty="0">
              <a:solidFill>
                <a:schemeClr val="tx1"/>
              </a:solidFill>
            </a:endParaRPr>
          </a:p>
          <a:p>
            <a:r>
              <a:rPr lang="en-IN" sz="4800" b="1" dirty="0">
                <a:solidFill>
                  <a:schemeClr val="tx1"/>
                </a:solidFill>
              </a:rPr>
              <a:t>Mobile Phone Security </a:t>
            </a:r>
          </a:p>
          <a:p>
            <a:endParaRPr lang="en-IN" sz="2000" dirty="0">
              <a:solidFill>
                <a:schemeClr val="tx1"/>
              </a:solidFill>
            </a:endParaRPr>
          </a:p>
          <a:p>
            <a:endParaRPr lang="en-IN" sz="2000" dirty="0">
              <a:solidFill>
                <a:schemeClr val="tx1"/>
              </a:solidFill>
            </a:endParaRPr>
          </a:p>
          <a:p>
            <a:endParaRPr lang="en-IN" sz="2000" dirty="0">
              <a:solidFill>
                <a:schemeClr val="tx1"/>
              </a:solidFill>
            </a:endParaRPr>
          </a:p>
          <a:p>
            <a:endParaRPr lang="en-IN" sz="2000" dirty="0">
              <a:solidFill>
                <a:schemeClr val="tx1"/>
              </a:solidFill>
            </a:endParaRPr>
          </a:p>
          <a:p>
            <a:endParaRPr lang="en-IN" sz="2000" dirty="0">
              <a:solidFill>
                <a:schemeClr val="tx1"/>
              </a:solidFill>
            </a:endParaRPr>
          </a:p>
          <a:p>
            <a:endParaRPr lang="en-US" sz="2000" dirty="0">
              <a:solidFill>
                <a:schemeClr val="tx1"/>
              </a:solidFill>
            </a:endParaRPr>
          </a:p>
          <a:p>
            <a:endParaRPr lang="en-US" sz="2000" dirty="0">
              <a:solidFill>
                <a:schemeClr val="tx1"/>
              </a:solidFill>
            </a:endParaRPr>
          </a:p>
          <a:p>
            <a:endParaRPr lang="en-US" sz="2000" dirty="0">
              <a:solidFill>
                <a:schemeClr val="tx1"/>
              </a:solidFill>
            </a:endParaRPr>
          </a:p>
          <a:p>
            <a:endParaRPr lang="en-IN" sz="2000" b="1" dirty="0">
              <a:solidFill>
                <a:schemeClr val="tx1"/>
              </a:solidFill>
            </a:endParaRPr>
          </a:p>
          <a:p>
            <a:endParaRPr lang="en-IN" sz="2000" b="1" dirty="0">
              <a:solidFill>
                <a:schemeClr val="tx1"/>
              </a:solidFill>
            </a:endParaRPr>
          </a:p>
          <a:p>
            <a:endParaRPr lang="en-IN" sz="2000" b="1" dirty="0">
              <a:solidFill>
                <a:schemeClr val="tx1"/>
              </a:solidFill>
            </a:endParaRPr>
          </a:p>
          <a:p>
            <a:endParaRPr lang="en-US" sz="2000" b="1" dirty="0">
              <a:solidFill>
                <a:schemeClr val="tx1"/>
              </a:solidFill>
            </a:endParaRPr>
          </a:p>
          <a:p>
            <a:r>
              <a:rPr lang="en-US" sz="2000" b="1" dirty="0">
                <a:solidFill>
                  <a:schemeClr val="tx1"/>
                </a:solidFill>
              </a:rPr>
              <a:t>Dr. </a:t>
            </a:r>
            <a:r>
              <a:rPr lang="en-US" sz="2000" b="1" dirty="0" err="1">
                <a:solidFill>
                  <a:schemeClr val="tx1"/>
                </a:solidFill>
              </a:rPr>
              <a:t>Digvijaysinh</a:t>
            </a:r>
            <a:r>
              <a:rPr lang="en-US" sz="2000" b="1" dirty="0">
                <a:solidFill>
                  <a:schemeClr val="tx1"/>
                </a:solidFill>
              </a:rPr>
              <a:t> Rathod</a:t>
            </a:r>
          </a:p>
          <a:p>
            <a:r>
              <a:rPr lang="en-US" sz="2000" b="1" dirty="0">
                <a:solidFill>
                  <a:schemeClr val="tx1"/>
                </a:solidFill>
              </a:rPr>
              <a:t>Associate Professor </a:t>
            </a:r>
            <a:r>
              <a:rPr lang="en-IN" altLang="en-US" sz="2000" b="1" dirty="0">
                <a:solidFill>
                  <a:schemeClr val="tx1"/>
                </a:solidFill>
              </a:rPr>
              <a:t>&amp; Associate Dean</a:t>
            </a:r>
            <a:r>
              <a:rPr lang="en-US" sz="2000" b="1" dirty="0">
                <a:solidFill>
                  <a:schemeClr val="tx1"/>
                </a:solidFill>
              </a:rPr>
              <a:t> </a:t>
            </a:r>
          </a:p>
          <a:p>
            <a:r>
              <a:rPr lang="en-IN" altLang="en-US" sz="2000" b="1" dirty="0">
                <a:solidFill>
                  <a:schemeClr val="tx1"/>
                </a:solidFill>
              </a:rPr>
              <a:t>School of Cyber Security and Digital Forensics</a:t>
            </a:r>
            <a:endParaRPr lang="en-US" sz="2000" b="1" dirty="0">
              <a:solidFill>
                <a:schemeClr val="tx1"/>
              </a:solidFill>
            </a:endParaRPr>
          </a:p>
          <a:p>
            <a:r>
              <a:rPr lang="en-US" sz="2000" b="1" dirty="0">
                <a:solidFill>
                  <a:schemeClr val="tx1"/>
                </a:solidFill>
              </a:rPr>
              <a:t>National Forensic Sciences University with status of Institution of National Importance </a:t>
            </a:r>
          </a:p>
        </p:txBody>
      </p:sp>
      <p:sp>
        <p:nvSpPr>
          <p:cNvPr id="4" name="Right Triangle 3"/>
          <p:cNvSpPr/>
          <p:nvPr/>
        </p:nvSpPr>
        <p:spPr>
          <a:xfrm rot="5400000">
            <a:off x="-21195" y="4322"/>
            <a:ext cx="780949" cy="772569"/>
          </a:xfrm>
          <a:prstGeom prst="rtTriangl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5" name="Right Triangle 4"/>
          <p:cNvSpPr/>
          <p:nvPr/>
        </p:nvSpPr>
        <p:spPr>
          <a:xfrm rot="16200000">
            <a:off x="8367241" y="6067518"/>
            <a:ext cx="780949" cy="772569"/>
          </a:xfrm>
          <a:prstGeom prst="rtTriangl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6" name="Rounded Rectangle 5"/>
          <p:cNvSpPr/>
          <p:nvPr/>
        </p:nvSpPr>
        <p:spPr>
          <a:xfrm>
            <a:off x="783274" y="-1"/>
            <a:ext cx="7620000" cy="59574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sz="2400" b="1" dirty="0">
              <a:latin typeface="Calibri" panose="020F0502020204030204" pitchFamily="34" charset="0"/>
            </a:endParaRPr>
          </a:p>
        </p:txBody>
      </p:sp>
      <p:sp>
        <p:nvSpPr>
          <p:cNvPr id="7" name="Right Triangle 6"/>
          <p:cNvSpPr/>
          <p:nvPr/>
        </p:nvSpPr>
        <p:spPr>
          <a:xfrm rot="10800000">
            <a:off x="8417865" y="18177"/>
            <a:ext cx="780949" cy="772569"/>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ight Triangle 7"/>
          <p:cNvSpPr/>
          <p:nvPr/>
        </p:nvSpPr>
        <p:spPr>
          <a:xfrm>
            <a:off x="-4190" y="6083920"/>
            <a:ext cx="780949" cy="772569"/>
          </a:xfrm>
          <a:prstGeom prst="r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0" name="Rounded Rectangle 9"/>
          <p:cNvSpPr/>
          <p:nvPr/>
        </p:nvSpPr>
        <p:spPr>
          <a:xfrm>
            <a:off x="730649" y="6470204"/>
            <a:ext cx="7620000" cy="3811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digvijay.rathod@gfsu.edu.in</a:t>
            </a:r>
          </a:p>
        </p:txBody>
      </p:sp>
      <p:pic>
        <p:nvPicPr>
          <p:cNvPr id="1027" name="Picture 3"/>
          <p:cNvPicPr>
            <a:picLocks noChangeAspect="1" noChangeArrowheads="1"/>
          </p:cNvPicPr>
          <p:nvPr/>
        </p:nvPicPr>
        <p:blipFill>
          <a:blip r:embed="rId2" cstate="print"/>
          <a:srcRect/>
          <a:stretch>
            <a:fillRect/>
          </a:stretch>
        </p:blipFill>
        <p:spPr bwMode="auto">
          <a:xfrm>
            <a:off x="2428860" y="1928802"/>
            <a:ext cx="4909738" cy="3000396"/>
          </a:xfrm>
          <a:prstGeom prst="rect">
            <a:avLst/>
          </a:prstGeom>
          <a:noFill/>
          <a:ln w="9525">
            <a:noFill/>
            <a:miter lim="800000"/>
            <a:headEnd/>
            <a:tailEnd/>
          </a:ln>
          <a:effectLst/>
        </p:spPr>
      </p:pic>
      <p:pic>
        <p:nvPicPr>
          <p:cNvPr id="2" name="Picture 1">
            <a:extLst>
              <a:ext uri="{FF2B5EF4-FFF2-40B4-BE49-F238E27FC236}">
                <a16:creationId xmlns:a16="http://schemas.microsoft.com/office/drawing/2014/main" id="{A5AAE2C0-19BC-4DB3-87F8-786B52506785}"/>
              </a:ext>
            </a:extLst>
          </p:cNvPr>
          <p:cNvPicPr>
            <a:picLocks noChangeAspect="1"/>
          </p:cNvPicPr>
          <p:nvPr/>
        </p:nvPicPr>
        <p:blipFill>
          <a:blip r:embed="rId3"/>
          <a:stretch>
            <a:fillRect/>
          </a:stretch>
        </p:blipFill>
        <p:spPr>
          <a:xfrm>
            <a:off x="2909882" y="-5152"/>
            <a:ext cx="3667125" cy="124777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17179560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75604" y="982029"/>
            <a:ext cx="8546121" cy="904368"/>
          </a:xfrm>
        </p:spPr>
        <p:txBody>
          <a:bodyPr>
            <a:noAutofit/>
          </a:bodyPr>
          <a:lstStyle/>
          <a:p>
            <a:pPr lvl="1">
              <a:lnSpc>
                <a:spcPct val="150000"/>
              </a:lnSpc>
            </a:pPr>
            <a:r>
              <a:rPr lang="en-US" altLang="en-US" sz="4000" b="1" dirty="0">
                <a:solidFill>
                  <a:schemeClr val="tx1"/>
                </a:solidFill>
                <a:latin typeface="Times New Roman" panose="02020603050405020304" pitchFamily="18" charset="0"/>
                <a:cs typeface="Times New Roman" panose="02020603050405020304" pitchFamily="18" charset="0"/>
              </a:rPr>
              <a:t>Insecure Logging</a:t>
            </a:r>
          </a:p>
          <a:p>
            <a:pPr lvl="1">
              <a:lnSpc>
                <a:spcPct val="150000"/>
              </a:lnSpc>
            </a:pPr>
            <a:r>
              <a:rPr lang="en-IN" altLang="en-US" sz="4000" b="1" dirty="0">
                <a:solidFill>
                  <a:schemeClr val="tx1"/>
                </a:solidFill>
                <a:latin typeface="Times New Roman" panose="02020603050405020304" pitchFamily="18" charset="0"/>
                <a:cs typeface="Times New Roman" panose="02020603050405020304" pitchFamily="18" charset="0"/>
              </a:rPr>
              <a:t>or</a:t>
            </a:r>
          </a:p>
          <a:p>
            <a:pPr lvl="1">
              <a:lnSpc>
                <a:spcPct val="150000"/>
              </a:lnSpc>
            </a:pPr>
            <a:r>
              <a:rPr lang="en-US" altLang="en-US" sz="4000" b="1" dirty="0">
                <a:solidFill>
                  <a:schemeClr val="tx1"/>
                </a:solidFill>
                <a:latin typeface="Times New Roman" panose="02020603050405020304" pitchFamily="18" charset="0"/>
                <a:cs typeface="Times New Roman" panose="02020603050405020304" pitchFamily="18" charset="0"/>
              </a:rPr>
              <a:t>Do not log sensitive information </a:t>
            </a:r>
          </a:p>
          <a:p>
            <a:pPr lvl="1">
              <a:lnSpc>
                <a:spcPct val="150000"/>
              </a:lnSpc>
            </a:pPr>
            <a:endParaRPr lang="en-US" altLang="en-US" sz="4000" b="1" dirty="0">
              <a:solidFill>
                <a:schemeClr val="tx1"/>
              </a:solidFill>
              <a:latin typeface="Times New Roman" panose="02020603050405020304" pitchFamily="18" charset="0"/>
              <a:cs typeface="Times New Roman" panose="02020603050405020304" pitchFamily="18" charset="0"/>
            </a:endParaRPr>
          </a:p>
        </p:txBody>
      </p:sp>
      <p:sp>
        <p:nvSpPr>
          <p:cNvPr id="4" name="Right Triangle 3"/>
          <p:cNvSpPr/>
          <p:nvPr/>
        </p:nvSpPr>
        <p:spPr>
          <a:xfrm rot="5400000">
            <a:off x="-21195" y="4322"/>
            <a:ext cx="780949" cy="772569"/>
          </a:xfrm>
          <a:prstGeom prst="rtTriangl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5" name="Right Triangle 4"/>
          <p:cNvSpPr/>
          <p:nvPr/>
        </p:nvSpPr>
        <p:spPr>
          <a:xfrm rot="16200000">
            <a:off x="8367241" y="6067518"/>
            <a:ext cx="780949" cy="772569"/>
          </a:xfrm>
          <a:prstGeom prst="rtTriangl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6" name="Rounded Rectangle 5"/>
          <p:cNvSpPr/>
          <p:nvPr/>
        </p:nvSpPr>
        <p:spPr>
          <a:xfrm>
            <a:off x="783274" y="-1"/>
            <a:ext cx="7620000" cy="59574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Insecure Logging</a:t>
            </a:r>
          </a:p>
        </p:txBody>
      </p:sp>
      <p:sp>
        <p:nvSpPr>
          <p:cNvPr id="7" name="Right Triangle 6"/>
          <p:cNvSpPr/>
          <p:nvPr/>
        </p:nvSpPr>
        <p:spPr>
          <a:xfrm rot="10800000">
            <a:off x="8417865" y="18177"/>
            <a:ext cx="780949" cy="772569"/>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ight Triangle 7"/>
          <p:cNvSpPr/>
          <p:nvPr/>
        </p:nvSpPr>
        <p:spPr>
          <a:xfrm>
            <a:off x="-4190" y="6083920"/>
            <a:ext cx="780949" cy="772569"/>
          </a:xfrm>
          <a:prstGeom prst="r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0" name="Rounded Rectangle 9"/>
          <p:cNvSpPr/>
          <p:nvPr/>
        </p:nvSpPr>
        <p:spPr>
          <a:xfrm>
            <a:off x="730649" y="6470204"/>
            <a:ext cx="7620000" cy="3811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Dr.  </a:t>
            </a:r>
            <a:r>
              <a:rPr lang="en-US" b="1" dirty="0" err="1"/>
              <a:t>Digvijaysinh</a:t>
            </a:r>
            <a:r>
              <a:rPr lang="en-US" b="1" dirty="0"/>
              <a:t> Rathod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69278" y="671896"/>
            <a:ext cx="8546121" cy="5467320"/>
          </a:xfrm>
        </p:spPr>
        <p:txBody>
          <a:bodyPr>
            <a:noAutofit/>
          </a:bodyPr>
          <a:lstStyle/>
          <a:p>
            <a:pPr marL="971550" lvl="1" indent="-514350" algn="just">
              <a:lnSpc>
                <a:spcPct val="150000"/>
              </a:lnSpc>
              <a:buFont typeface="Wingdings" panose="05000000000000000000" pitchFamily="2" charset="2"/>
              <a:buChar char="ü"/>
            </a:pPr>
            <a:r>
              <a:rPr lang="en-US" sz="2600" dirty="0">
                <a:solidFill>
                  <a:schemeClr val="tx1"/>
                </a:solidFill>
                <a:latin typeface="Times New Roman" panose="02020603050405020304" pitchFamily="18" charset="0"/>
                <a:cs typeface="Times New Roman" panose="02020603050405020304" pitchFamily="18" charset="0"/>
              </a:rPr>
              <a:t>Android provides capabilities for an app to output logging information and obtain log output. </a:t>
            </a:r>
          </a:p>
          <a:p>
            <a:pPr marL="971550" lvl="1" indent="-514350" algn="just">
              <a:lnSpc>
                <a:spcPct val="150000"/>
              </a:lnSpc>
              <a:buFont typeface="Wingdings" panose="05000000000000000000" pitchFamily="2" charset="2"/>
              <a:buChar char="ü"/>
            </a:pPr>
            <a:r>
              <a:rPr lang="en-US" sz="2600" dirty="0">
                <a:solidFill>
                  <a:schemeClr val="tx1"/>
                </a:solidFill>
                <a:latin typeface="Times New Roman" panose="02020603050405020304" pitchFamily="18" charset="0"/>
                <a:cs typeface="Times New Roman" panose="02020603050405020304" pitchFamily="18" charset="0"/>
              </a:rPr>
              <a:t>Applications can send information to log output using the </a:t>
            </a:r>
            <a:r>
              <a:rPr lang="en-US" sz="2600" dirty="0" err="1">
                <a:solidFill>
                  <a:schemeClr val="tx1"/>
                </a:solidFill>
                <a:latin typeface="Times New Roman" panose="02020603050405020304" pitchFamily="18" charset="0"/>
                <a:cs typeface="Times New Roman" panose="02020603050405020304" pitchFamily="18" charset="0"/>
              </a:rPr>
              <a:t>android.util.Log</a:t>
            </a:r>
            <a:r>
              <a:rPr lang="en-US" sz="2600" dirty="0">
                <a:solidFill>
                  <a:schemeClr val="tx1"/>
                </a:solidFill>
                <a:latin typeface="Times New Roman" panose="02020603050405020304" pitchFamily="18" charset="0"/>
                <a:cs typeface="Times New Roman" panose="02020603050405020304" pitchFamily="18" charset="0"/>
              </a:rPr>
              <a:t> class. </a:t>
            </a:r>
          </a:p>
          <a:p>
            <a:pPr marL="971550" lvl="1" indent="-514350" algn="just">
              <a:lnSpc>
                <a:spcPct val="150000"/>
              </a:lnSpc>
              <a:buFont typeface="Wingdings" panose="05000000000000000000" pitchFamily="2" charset="2"/>
              <a:buChar char="ü"/>
            </a:pPr>
            <a:r>
              <a:rPr lang="en-US" sz="2600" dirty="0">
                <a:solidFill>
                  <a:schemeClr val="tx1"/>
                </a:solidFill>
                <a:latin typeface="Times New Roman" panose="02020603050405020304" pitchFamily="18" charset="0"/>
                <a:cs typeface="Times New Roman" panose="02020603050405020304" pitchFamily="18" charset="0"/>
              </a:rPr>
              <a:t>To obtain log output, applications can execute the logcat command.</a:t>
            </a:r>
            <a:endParaRPr lang="en-US" sz="2200" dirty="0">
              <a:solidFill>
                <a:schemeClr val="tx1"/>
              </a:solidFill>
              <a:latin typeface="Times New Roman" panose="02020603050405020304" pitchFamily="18" charset="0"/>
              <a:cs typeface="Times New Roman" panose="02020603050405020304" pitchFamily="18" charset="0"/>
            </a:endParaRPr>
          </a:p>
        </p:txBody>
      </p:sp>
      <p:sp>
        <p:nvSpPr>
          <p:cNvPr id="4" name="Right Triangle 3"/>
          <p:cNvSpPr/>
          <p:nvPr/>
        </p:nvSpPr>
        <p:spPr>
          <a:xfrm rot="5400000">
            <a:off x="-21195" y="4322"/>
            <a:ext cx="780949" cy="772569"/>
          </a:xfrm>
          <a:prstGeom prst="rtTriangl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5" name="Right Triangle 4"/>
          <p:cNvSpPr/>
          <p:nvPr/>
        </p:nvSpPr>
        <p:spPr>
          <a:xfrm rot="16200000">
            <a:off x="8367241" y="6067518"/>
            <a:ext cx="780949" cy="772569"/>
          </a:xfrm>
          <a:prstGeom prst="rtTriangl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6" name="Rounded Rectangle 5"/>
          <p:cNvSpPr/>
          <p:nvPr/>
        </p:nvSpPr>
        <p:spPr>
          <a:xfrm>
            <a:off x="783274" y="-1"/>
            <a:ext cx="7620000" cy="59574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Insecure Logging</a:t>
            </a:r>
          </a:p>
        </p:txBody>
      </p:sp>
      <p:sp>
        <p:nvSpPr>
          <p:cNvPr id="7" name="Right Triangle 6"/>
          <p:cNvSpPr/>
          <p:nvPr/>
        </p:nvSpPr>
        <p:spPr>
          <a:xfrm rot="10800000">
            <a:off x="8417865" y="18177"/>
            <a:ext cx="780949" cy="772569"/>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ight Triangle 7"/>
          <p:cNvSpPr/>
          <p:nvPr/>
        </p:nvSpPr>
        <p:spPr>
          <a:xfrm>
            <a:off x="-4190" y="6083920"/>
            <a:ext cx="780949" cy="772569"/>
          </a:xfrm>
          <a:prstGeom prst="r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0" name="Rounded Rectangle 9"/>
          <p:cNvSpPr/>
          <p:nvPr/>
        </p:nvSpPr>
        <p:spPr>
          <a:xfrm>
            <a:off x="730649" y="6470204"/>
            <a:ext cx="7620000" cy="3811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Dr.  </a:t>
            </a:r>
            <a:r>
              <a:rPr lang="en-US" b="1" dirty="0" err="1"/>
              <a:t>Digvijaysinh</a:t>
            </a:r>
            <a:r>
              <a:rPr lang="en-US" b="1" dirty="0"/>
              <a:t> Rathod</a:t>
            </a:r>
          </a:p>
        </p:txBody>
      </p:sp>
      <p:sp>
        <p:nvSpPr>
          <p:cNvPr id="13" name="Rectangle 12">
            <a:extLst>
              <a:ext uri="{FF2B5EF4-FFF2-40B4-BE49-F238E27FC236}">
                <a16:creationId xmlns:a16="http://schemas.microsoft.com/office/drawing/2014/main" id="{FBEA7A61-E1B6-430F-8DE5-C22E7E7C903B}"/>
              </a:ext>
            </a:extLst>
          </p:cNvPr>
          <p:cNvSpPr/>
          <p:nvPr/>
        </p:nvSpPr>
        <p:spPr>
          <a:xfrm>
            <a:off x="738710" y="5910382"/>
            <a:ext cx="8290990" cy="584775"/>
          </a:xfrm>
          <a:prstGeom prst="rect">
            <a:avLst/>
          </a:prstGeom>
        </p:spPr>
        <p:txBody>
          <a:bodyPr wrap="square">
            <a:spAutoFit/>
          </a:bodyPr>
          <a:lstStyle/>
          <a:p>
            <a:r>
              <a:rPr lang="en-IN" sz="1600" dirty="0">
                <a:latin typeface="Times New Roman" panose="02020603050405020304" pitchFamily="18" charset="0"/>
                <a:cs typeface="Times New Roman" panose="02020603050405020304" pitchFamily="18" charset="0"/>
              </a:rPr>
              <a:t>Ref: https://wiki.sei.cmu.edu/confluence/display/android/DRD04J.+Do+not+log+sensitive+information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67588" y="461075"/>
            <a:ext cx="8546121" cy="5467320"/>
          </a:xfrm>
        </p:spPr>
        <p:txBody>
          <a:bodyPr>
            <a:noAutofit/>
          </a:bodyPr>
          <a:lstStyle/>
          <a:p>
            <a:pPr marL="971550" lvl="1" indent="-514350" algn="just">
              <a:lnSpc>
                <a:spcPct val="150000"/>
              </a:lnSpc>
              <a:buFont typeface="Wingdings" panose="05000000000000000000" pitchFamily="2" charset="2"/>
              <a:buChar char="ü"/>
            </a:pPr>
            <a:r>
              <a:rPr lang="en-US" sz="2600" dirty="0">
                <a:solidFill>
                  <a:schemeClr val="tx1"/>
                </a:solidFill>
                <a:latin typeface="Times New Roman" panose="02020603050405020304" pitchFamily="18" charset="0"/>
                <a:cs typeface="Times New Roman" panose="02020603050405020304" pitchFamily="18" charset="0"/>
              </a:rPr>
              <a:t>To log output</a:t>
            </a:r>
          </a:p>
          <a:p>
            <a:pPr marL="971550" lvl="1" indent="-514350" algn="just">
              <a:lnSpc>
                <a:spcPct val="150000"/>
              </a:lnSpc>
              <a:buFont typeface="Wingdings" panose="05000000000000000000" pitchFamily="2" charset="2"/>
              <a:buChar char="ü"/>
            </a:pPr>
            <a:r>
              <a:rPr lang="en-US" sz="2600" dirty="0">
                <a:solidFill>
                  <a:schemeClr val="tx1"/>
                </a:solidFill>
                <a:latin typeface="Times New Roman" panose="02020603050405020304" pitchFamily="18" charset="0"/>
                <a:cs typeface="Times New Roman" panose="02020603050405020304" pitchFamily="18" charset="0"/>
              </a:rPr>
              <a:t>The </a:t>
            </a:r>
            <a:r>
              <a:rPr lang="en-US" sz="2600" dirty="0" err="1">
                <a:solidFill>
                  <a:schemeClr val="tx1"/>
                </a:solidFill>
                <a:latin typeface="Times New Roman" panose="02020603050405020304" pitchFamily="18" charset="0"/>
                <a:cs typeface="Times New Roman" panose="02020603050405020304" pitchFamily="18" charset="0"/>
              </a:rPr>
              <a:t>android.util.Log</a:t>
            </a:r>
            <a:r>
              <a:rPr lang="en-US" sz="2600" dirty="0">
                <a:solidFill>
                  <a:schemeClr val="tx1"/>
                </a:solidFill>
                <a:latin typeface="Times New Roman" panose="02020603050405020304" pitchFamily="18" charset="0"/>
                <a:cs typeface="Times New Roman" panose="02020603050405020304" pitchFamily="18" charset="0"/>
              </a:rPr>
              <a:t> class allows a number of possibilities:</a:t>
            </a:r>
          </a:p>
          <a:p>
            <a:pPr marL="971550" lvl="1" indent="-514350" algn="just">
              <a:lnSpc>
                <a:spcPct val="150000"/>
              </a:lnSpc>
              <a:buFont typeface="Wingdings" panose="05000000000000000000" pitchFamily="2" charset="2"/>
              <a:buChar char="ü"/>
            </a:pPr>
            <a:endParaRPr lang="en-US" sz="2600" dirty="0">
              <a:solidFill>
                <a:schemeClr val="tx1"/>
              </a:solidFill>
              <a:latin typeface="Times New Roman" panose="02020603050405020304" pitchFamily="18" charset="0"/>
              <a:cs typeface="Times New Roman" panose="02020603050405020304" pitchFamily="18" charset="0"/>
            </a:endParaRPr>
          </a:p>
          <a:p>
            <a:pPr marL="971550" lvl="1" indent="-514350" algn="just">
              <a:lnSpc>
                <a:spcPct val="150000"/>
              </a:lnSpc>
              <a:buFont typeface="Wingdings" panose="05000000000000000000" pitchFamily="2" charset="2"/>
              <a:buChar char="ü"/>
            </a:pPr>
            <a:r>
              <a:rPr lang="en-US" sz="2600" dirty="0" err="1">
                <a:solidFill>
                  <a:schemeClr val="tx1"/>
                </a:solidFill>
                <a:latin typeface="Times New Roman" panose="02020603050405020304" pitchFamily="18" charset="0"/>
                <a:cs typeface="Times New Roman" panose="02020603050405020304" pitchFamily="18" charset="0"/>
              </a:rPr>
              <a:t>Log.v</a:t>
            </a:r>
            <a:r>
              <a:rPr lang="en-US" sz="2600" dirty="0">
                <a:solidFill>
                  <a:schemeClr val="tx1"/>
                </a:solidFill>
                <a:latin typeface="Times New Roman" panose="02020603050405020304" pitchFamily="18" charset="0"/>
                <a:cs typeface="Times New Roman" panose="02020603050405020304" pitchFamily="18" charset="0"/>
              </a:rPr>
              <a:t>("method", </a:t>
            </a:r>
            <a:r>
              <a:rPr lang="en-US" sz="2600" dirty="0" err="1">
                <a:solidFill>
                  <a:schemeClr val="tx1"/>
                </a:solidFill>
                <a:latin typeface="Times New Roman" panose="02020603050405020304" pitchFamily="18" charset="0"/>
                <a:cs typeface="Times New Roman" panose="02020603050405020304" pitchFamily="18" charset="0"/>
              </a:rPr>
              <a:t>Login.TAG</a:t>
            </a:r>
            <a:r>
              <a:rPr lang="en-US" sz="2600" dirty="0">
                <a:solidFill>
                  <a:schemeClr val="tx1"/>
                </a:solidFill>
                <a:latin typeface="Times New Roman" panose="02020603050405020304" pitchFamily="18" charset="0"/>
                <a:cs typeface="Times New Roman" panose="02020603050405020304" pitchFamily="18" charset="0"/>
              </a:rPr>
              <a:t> + ", account=" + str1);</a:t>
            </a:r>
          </a:p>
          <a:p>
            <a:pPr marL="971550" lvl="1" indent="-514350" algn="just">
              <a:lnSpc>
                <a:spcPct val="150000"/>
              </a:lnSpc>
              <a:buFont typeface="Wingdings" panose="05000000000000000000" pitchFamily="2" charset="2"/>
              <a:buChar char="ü"/>
            </a:pPr>
            <a:r>
              <a:rPr lang="en-US" sz="2600" dirty="0" err="1">
                <a:solidFill>
                  <a:schemeClr val="tx1"/>
                </a:solidFill>
                <a:latin typeface="Times New Roman" panose="02020603050405020304" pitchFamily="18" charset="0"/>
                <a:cs typeface="Times New Roman" panose="02020603050405020304" pitchFamily="18" charset="0"/>
              </a:rPr>
              <a:t>Log.v</a:t>
            </a:r>
            <a:r>
              <a:rPr lang="en-US" sz="2600" dirty="0">
                <a:solidFill>
                  <a:schemeClr val="tx1"/>
                </a:solidFill>
                <a:latin typeface="Times New Roman" panose="02020603050405020304" pitchFamily="18" charset="0"/>
                <a:cs typeface="Times New Roman" panose="02020603050405020304" pitchFamily="18" charset="0"/>
              </a:rPr>
              <a:t>("method", </a:t>
            </a:r>
            <a:r>
              <a:rPr lang="en-US" sz="2600" dirty="0" err="1">
                <a:solidFill>
                  <a:schemeClr val="tx1"/>
                </a:solidFill>
                <a:latin typeface="Times New Roman" panose="02020603050405020304" pitchFamily="18" charset="0"/>
                <a:cs typeface="Times New Roman" panose="02020603050405020304" pitchFamily="18" charset="0"/>
              </a:rPr>
              <a:t>Login.TAG</a:t>
            </a:r>
            <a:r>
              <a:rPr lang="en-US" sz="2600" dirty="0">
                <a:solidFill>
                  <a:schemeClr val="tx1"/>
                </a:solidFill>
                <a:latin typeface="Times New Roman" panose="02020603050405020304" pitchFamily="18" charset="0"/>
                <a:cs typeface="Times New Roman" panose="02020603050405020304" pitchFamily="18" charset="0"/>
              </a:rPr>
              <a:t> + ", password=" + str2);</a:t>
            </a:r>
          </a:p>
          <a:p>
            <a:pPr marL="971550" lvl="1" indent="-514350" algn="just">
              <a:lnSpc>
                <a:spcPct val="150000"/>
              </a:lnSpc>
              <a:buFont typeface="Wingdings" panose="05000000000000000000" pitchFamily="2" charset="2"/>
              <a:buChar char="ü"/>
            </a:pPr>
            <a:r>
              <a:rPr lang="en-US" sz="2600" dirty="0">
                <a:solidFill>
                  <a:schemeClr val="tx1"/>
                </a:solidFill>
                <a:latin typeface="Times New Roman" panose="02020603050405020304" pitchFamily="18" charset="0"/>
                <a:cs typeface="Times New Roman" panose="02020603050405020304" pitchFamily="18" charset="0"/>
              </a:rPr>
              <a:t>To obtain log output</a:t>
            </a:r>
          </a:p>
          <a:p>
            <a:pPr marL="971550" lvl="1" indent="-514350" algn="just">
              <a:lnSpc>
                <a:spcPct val="150000"/>
              </a:lnSpc>
              <a:buFont typeface="Wingdings" panose="05000000000000000000" pitchFamily="2" charset="2"/>
              <a:buChar char="ü"/>
            </a:pPr>
            <a:r>
              <a:rPr lang="en-US" sz="2600" dirty="0">
                <a:solidFill>
                  <a:schemeClr val="tx1"/>
                </a:solidFill>
                <a:latin typeface="Times New Roman" panose="02020603050405020304" pitchFamily="18" charset="0"/>
                <a:cs typeface="Times New Roman" panose="02020603050405020304" pitchFamily="18" charset="0"/>
              </a:rPr>
              <a:t>Declare READ_LOGS permission in the manifest file so that an app can read log output:</a:t>
            </a:r>
          </a:p>
          <a:p>
            <a:pPr marL="971550" lvl="1" indent="-514350" algn="just">
              <a:lnSpc>
                <a:spcPct val="150000"/>
              </a:lnSpc>
              <a:buFont typeface="Wingdings" panose="05000000000000000000" pitchFamily="2" charset="2"/>
              <a:buChar char="ü"/>
            </a:pPr>
            <a:endParaRPr lang="en-US" sz="2600" dirty="0">
              <a:solidFill>
                <a:schemeClr val="tx1"/>
              </a:solidFill>
              <a:latin typeface="Times New Roman" panose="02020603050405020304" pitchFamily="18" charset="0"/>
              <a:cs typeface="Times New Roman" panose="02020603050405020304" pitchFamily="18" charset="0"/>
            </a:endParaRPr>
          </a:p>
          <a:p>
            <a:pPr marL="971550" lvl="1" indent="-514350" algn="just">
              <a:lnSpc>
                <a:spcPct val="150000"/>
              </a:lnSpc>
              <a:buFont typeface="Wingdings" panose="05000000000000000000" pitchFamily="2" charset="2"/>
              <a:buChar char="ü"/>
            </a:pPr>
            <a:endParaRPr lang="en-US" sz="2600" dirty="0">
              <a:solidFill>
                <a:schemeClr val="tx1"/>
              </a:solidFill>
              <a:latin typeface="Times New Roman" panose="02020603050405020304" pitchFamily="18" charset="0"/>
              <a:cs typeface="Times New Roman" panose="02020603050405020304" pitchFamily="18" charset="0"/>
            </a:endParaRPr>
          </a:p>
        </p:txBody>
      </p:sp>
      <p:sp>
        <p:nvSpPr>
          <p:cNvPr id="4" name="Right Triangle 3"/>
          <p:cNvSpPr/>
          <p:nvPr/>
        </p:nvSpPr>
        <p:spPr>
          <a:xfrm rot="5400000">
            <a:off x="-21195" y="4322"/>
            <a:ext cx="780949" cy="772569"/>
          </a:xfrm>
          <a:prstGeom prst="rtTriangl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5" name="Right Triangle 4"/>
          <p:cNvSpPr/>
          <p:nvPr/>
        </p:nvSpPr>
        <p:spPr>
          <a:xfrm rot="16200000">
            <a:off x="8367241" y="6067518"/>
            <a:ext cx="780949" cy="772569"/>
          </a:xfrm>
          <a:prstGeom prst="rtTriangl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6" name="Rounded Rectangle 5"/>
          <p:cNvSpPr/>
          <p:nvPr/>
        </p:nvSpPr>
        <p:spPr>
          <a:xfrm>
            <a:off x="783274" y="-1"/>
            <a:ext cx="7620000" cy="59574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Insecure Logging</a:t>
            </a:r>
          </a:p>
        </p:txBody>
      </p:sp>
      <p:sp>
        <p:nvSpPr>
          <p:cNvPr id="7" name="Right Triangle 6"/>
          <p:cNvSpPr/>
          <p:nvPr/>
        </p:nvSpPr>
        <p:spPr>
          <a:xfrm rot="10800000">
            <a:off x="8417865" y="18177"/>
            <a:ext cx="780949" cy="772569"/>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ight Triangle 7"/>
          <p:cNvSpPr/>
          <p:nvPr/>
        </p:nvSpPr>
        <p:spPr>
          <a:xfrm>
            <a:off x="-4190" y="6083920"/>
            <a:ext cx="780949" cy="772569"/>
          </a:xfrm>
          <a:prstGeom prst="r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0" name="Rounded Rectangle 9"/>
          <p:cNvSpPr/>
          <p:nvPr/>
        </p:nvSpPr>
        <p:spPr>
          <a:xfrm>
            <a:off x="730649" y="6470204"/>
            <a:ext cx="7620000" cy="3811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Dr.  </a:t>
            </a:r>
            <a:r>
              <a:rPr lang="en-US" b="1" dirty="0" err="1"/>
              <a:t>Digvijaysinh</a:t>
            </a:r>
            <a:r>
              <a:rPr lang="en-US" b="1" dirty="0"/>
              <a:t> Rathod</a:t>
            </a:r>
          </a:p>
        </p:txBody>
      </p:sp>
      <p:graphicFrame>
        <p:nvGraphicFramePr>
          <p:cNvPr id="9" name="Table 8">
            <a:extLst>
              <a:ext uri="{FF2B5EF4-FFF2-40B4-BE49-F238E27FC236}">
                <a16:creationId xmlns:a16="http://schemas.microsoft.com/office/drawing/2014/main" id="{02A9DCC6-F8D9-4C60-91D6-F122D341D1C1}"/>
              </a:ext>
            </a:extLst>
          </p:cNvPr>
          <p:cNvGraphicFramePr>
            <a:graphicFrameLocks noGrp="1"/>
          </p:cNvGraphicFramePr>
          <p:nvPr>
            <p:extLst>
              <p:ext uri="{D42A27DB-BD31-4B8C-83A1-F6EECF244321}">
                <p14:modId xmlns:p14="http://schemas.microsoft.com/office/powerpoint/2010/main" val="1103838566"/>
              </p:ext>
            </p:extLst>
          </p:nvPr>
        </p:nvGraphicFramePr>
        <p:xfrm>
          <a:off x="1253243" y="2293214"/>
          <a:ext cx="7128792" cy="876300"/>
        </p:xfrm>
        <a:graphic>
          <a:graphicData uri="http://schemas.openxmlformats.org/drawingml/2006/table">
            <a:tbl>
              <a:tblPr>
                <a:tableStyleId>{5940675A-B579-460E-94D1-54222C63F5DA}</a:tableStyleId>
              </a:tblPr>
              <a:tblGrid>
                <a:gridCol w="2583367">
                  <a:extLst>
                    <a:ext uri="{9D8B030D-6E8A-4147-A177-3AD203B41FA5}">
                      <a16:colId xmlns:a16="http://schemas.microsoft.com/office/drawing/2014/main" val="745101955"/>
                    </a:ext>
                  </a:extLst>
                </a:gridCol>
                <a:gridCol w="2592288">
                  <a:extLst>
                    <a:ext uri="{9D8B030D-6E8A-4147-A177-3AD203B41FA5}">
                      <a16:colId xmlns:a16="http://schemas.microsoft.com/office/drawing/2014/main" val="1819164027"/>
                    </a:ext>
                  </a:extLst>
                </a:gridCol>
                <a:gridCol w="1953137">
                  <a:extLst>
                    <a:ext uri="{9D8B030D-6E8A-4147-A177-3AD203B41FA5}">
                      <a16:colId xmlns:a16="http://schemas.microsoft.com/office/drawing/2014/main" val="3492893698"/>
                    </a:ext>
                  </a:extLst>
                </a:gridCol>
              </a:tblGrid>
              <a:tr h="0">
                <a:tc>
                  <a:txBody>
                    <a:bodyPr/>
                    <a:lstStyle/>
                    <a:p>
                      <a:pPr algn="l" fontAlgn="t"/>
                      <a:r>
                        <a:rPr lang="en-IN" sz="2000" dirty="0" err="1">
                          <a:effectLst/>
                          <a:latin typeface="Times New Roman" panose="02020603050405020304" pitchFamily="18" charset="0"/>
                          <a:cs typeface="Times New Roman" panose="02020603050405020304" pitchFamily="18" charset="0"/>
                        </a:rPr>
                        <a:t>Log.d</a:t>
                      </a:r>
                      <a:r>
                        <a:rPr lang="en-IN" sz="2000" dirty="0">
                          <a:effectLst/>
                          <a:latin typeface="Times New Roman" panose="02020603050405020304" pitchFamily="18" charset="0"/>
                          <a:cs typeface="Times New Roman" panose="02020603050405020304" pitchFamily="18" charset="0"/>
                        </a:rPr>
                        <a:t> (Debug)</a:t>
                      </a:r>
                    </a:p>
                  </a:txBody>
                  <a:tcPr marL="95250" marR="95250" marT="66675" marB="66675"/>
                </a:tc>
                <a:tc>
                  <a:txBody>
                    <a:bodyPr/>
                    <a:lstStyle/>
                    <a:p>
                      <a:pPr algn="l" fontAlgn="t"/>
                      <a:r>
                        <a:rPr lang="en-IN" sz="2000" dirty="0" err="1">
                          <a:effectLst/>
                          <a:latin typeface="Times New Roman" panose="02020603050405020304" pitchFamily="18" charset="0"/>
                          <a:cs typeface="Times New Roman" panose="02020603050405020304" pitchFamily="18" charset="0"/>
                        </a:rPr>
                        <a:t>Log.e</a:t>
                      </a:r>
                      <a:r>
                        <a:rPr lang="en-IN" sz="2000" dirty="0">
                          <a:effectLst/>
                          <a:latin typeface="Times New Roman" panose="02020603050405020304" pitchFamily="18" charset="0"/>
                          <a:cs typeface="Times New Roman" panose="02020603050405020304" pitchFamily="18" charset="0"/>
                        </a:rPr>
                        <a:t> (Error)</a:t>
                      </a:r>
                    </a:p>
                  </a:txBody>
                  <a:tcPr marL="95250" marR="95250" marT="66675" marB="66675"/>
                </a:tc>
                <a:tc>
                  <a:txBody>
                    <a:bodyPr/>
                    <a:lstStyle/>
                    <a:p>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741242221"/>
                  </a:ext>
                </a:extLst>
              </a:tr>
              <a:tr h="0">
                <a:tc>
                  <a:txBody>
                    <a:bodyPr/>
                    <a:lstStyle/>
                    <a:p>
                      <a:pPr algn="l" fontAlgn="t"/>
                      <a:r>
                        <a:rPr lang="en-IN" sz="2000" dirty="0" err="1">
                          <a:effectLst/>
                          <a:latin typeface="Times New Roman" panose="02020603050405020304" pitchFamily="18" charset="0"/>
                          <a:cs typeface="Times New Roman" panose="02020603050405020304" pitchFamily="18" charset="0"/>
                        </a:rPr>
                        <a:t>Log.i</a:t>
                      </a:r>
                      <a:r>
                        <a:rPr lang="en-IN" sz="2000" dirty="0">
                          <a:effectLst/>
                          <a:latin typeface="Times New Roman" panose="02020603050405020304" pitchFamily="18" charset="0"/>
                          <a:cs typeface="Times New Roman" panose="02020603050405020304" pitchFamily="18" charset="0"/>
                        </a:rPr>
                        <a:t> (Info)</a:t>
                      </a:r>
                    </a:p>
                  </a:txBody>
                  <a:tcPr marL="95250" marR="95250" marT="66675" marB="66675"/>
                </a:tc>
                <a:tc>
                  <a:txBody>
                    <a:bodyPr/>
                    <a:lstStyle/>
                    <a:p>
                      <a:pPr algn="l" fontAlgn="t"/>
                      <a:r>
                        <a:rPr lang="en-IN" sz="2000" dirty="0" err="1">
                          <a:effectLst/>
                          <a:latin typeface="Times New Roman" panose="02020603050405020304" pitchFamily="18" charset="0"/>
                          <a:cs typeface="Times New Roman" panose="02020603050405020304" pitchFamily="18" charset="0"/>
                        </a:rPr>
                        <a:t>Log.v</a:t>
                      </a:r>
                      <a:r>
                        <a:rPr lang="en-IN" sz="2000" dirty="0">
                          <a:effectLst/>
                          <a:latin typeface="Times New Roman" panose="02020603050405020304" pitchFamily="18" charset="0"/>
                          <a:cs typeface="Times New Roman" panose="02020603050405020304" pitchFamily="18" charset="0"/>
                        </a:rPr>
                        <a:t> (Verbose)</a:t>
                      </a:r>
                    </a:p>
                  </a:txBody>
                  <a:tcPr marL="95250" marR="95250" marT="66675" marB="66675"/>
                </a:tc>
                <a:tc>
                  <a:txBody>
                    <a:bodyPr/>
                    <a:lstStyle/>
                    <a:p>
                      <a:pPr algn="l" fontAlgn="t"/>
                      <a:r>
                        <a:rPr lang="en-IN" sz="2000" dirty="0" err="1">
                          <a:effectLst/>
                          <a:latin typeface="Times New Roman" panose="02020603050405020304" pitchFamily="18" charset="0"/>
                          <a:cs typeface="Times New Roman" panose="02020603050405020304" pitchFamily="18" charset="0"/>
                        </a:rPr>
                        <a:t>Log.w</a:t>
                      </a:r>
                      <a:r>
                        <a:rPr lang="en-IN" sz="2000" dirty="0">
                          <a:effectLst/>
                          <a:latin typeface="Times New Roman" panose="02020603050405020304" pitchFamily="18" charset="0"/>
                          <a:cs typeface="Times New Roman" panose="02020603050405020304" pitchFamily="18" charset="0"/>
                        </a:rPr>
                        <a:t> (Warn)</a:t>
                      </a:r>
                    </a:p>
                  </a:txBody>
                  <a:tcPr marL="95250" marR="95250" marT="66675" marB="66675"/>
                </a:tc>
                <a:extLst>
                  <a:ext uri="{0D108BD9-81ED-4DB2-BD59-A6C34878D82A}">
                    <a16:rowId xmlns:a16="http://schemas.microsoft.com/office/drawing/2014/main" val="532738386"/>
                  </a:ext>
                </a:extLst>
              </a:tr>
            </a:tbl>
          </a:graphicData>
        </a:graphic>
      </p:graphicFrame>
    </p:spTree>
    <p:extLst>
      <p:ext uri="{BB962C8B-B14F-4D97-AF65-F5344CB8AC3E}">
        <p14:creationId xmlns:p14="http://schemas.microsoft.com/office/powerpoint/2010/main" val="30776497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423458"/>
            <a:ext cx="8546121" cy="5467320"/>
          </a:xfrm>
        </p:spPr>
        <p:txBody>
          <a:bodyPr>
            <a:noAutofit/>
          </a:bodyPr>
          <a:lstStyle/>
          <a:p>
            <a:pPr marL="971550" lvl="1" indent="-514350" algn="just">
              <a:lnSpc>
                <a:spcPct val="150000"/>
              </a:lnSpc>
              <a:buFont typeface="Wingdings" panose="05000000000000000000" pitchFamily="2" charset="2"/>
              <a:buChar char="ü"/>
            </a:pPr>
            <a:r>
              <a:rPr lang="en-US" sz="2600" dirty="0">
                <a:solidFill>
                  <a:schemeClr val="tx1"/>
                </a:solidFill>
                <a:latin typeface="Times New Roman" panose="02020603050405020304" pitchFamily="18" charset="0"/>
                <a:cs typeface="Times New Roman" panose="02020603050405020304" pitchFamily="18" charset="0"/>
              </a:rPr>
              <a:t>AndroidManifest.xml:</a:t>
            </a:r>
          </a:p>
          <a:p>
            <a:pPr marL="971550" lvl="1" indent="-514350" algn="just">
              <a:lnSpc>
                <a:spcPct val="150000"/>
              </a:lnSpc>
              <a:buFont typeface="Wingdings" panose="05000000000000000000" pitchFamily="2" charset="2"/>
              <a:buChar char="ü"/>
            </a:pPr>
            <a:r>
              <a:rPr lang="en-US" sz="2600" dirty="0">
                <a:solidFill>
                  <a:schemeClr val="tx1"/>
                </a:solidFill>
                <a:latin typeface="Times New Roman" panose="02020603050405020304" pitchFamily="18" charset="0"/>
                <a:cs typeface="Times New Roman" panose="02020603050405020304" pitchFamily="18" charset="0"/>
              </a:rPr>
              <a:t>&lt;uses-permission </a:t>
            </a:r>
            <a:r>
              <a:rPr lang="en-US" sz="2600" dirty="0" err="1">
                <a:solidFill>
                  <a:schemeClr val="tx1"/>
                </a:solidFill>
                <a:latin typeface="Times New Roman" panose="02020603050405020304" pitchFamily="18" charset="0"/>
                <a:cs typeface="Times New Roman" panose="02020603050405020304" pitchFamily="18" charset="0"/>
              </a:rPr>
              <a:t>android:name</a:t>
            </a:r>
            <a:r>
              <a:rPr lang="en-US" sz="2600" dirty="0">
                <a:solidFill>
                  <a:schemeClr val="tx1"/>
                </a:solidFill>
                <a:latin typeface="Times New Roman" panose="02020603050405020304" pitchFamily="18" charset="0"/>
                <a:cs typeface="Times New Roman" panose="02020603050405020304" pitchFamily="18" charset="0"/>
              </a:rPr>
              <a:t>="</a:t>
            </a:r>
            <a:r>
              <a:rPr lang="en-US" sz="2600" dirty="0" err="1">
                <a:solidFill>
                  <a:schemeClr val="tx1"/>
                </a:solidFill>
                <a:latin typeface="Times New Roman" panose="02020603050405020304" pitchFamily="18" charset="0"/>
                <a:cs typeface="Times New Roman" panose="02020603050405020304" pitchFamily="18" charset="0"/>
              </a:rPr>
              <a:t>android.permission.READ_LOGS</a:t>
            </a:r>
            <a:r>
              <a:rPr lang="en-US" sz="2600" dirty="0">
                <a:solidFill>
                  <a:schemeClr val="tx1"/>
                </a:solidFill>
                <a:latin typeface="Times New Roman" panose="02020603050405020304" pitchFamily="18" charset="0"/>
                <a:cs typeface="Times New Roman" panose="02020603050405020304" pitchFamily="18" charset="0"/>
              </a:rPr>
              <a:t>"/&gt;</a:t>
            </a:r>
          </a:p>
          <a:p>
            <a:pPr marL="971550" lvl="1" indent="-514350" algn="just">
              <a:lnSpc>
                <a:spcPct val="150000"/>
              </a:lnSpc>
              <a:buFont typeface="Wingdings" panose="05000000000000000000" pitchFamily="2" charset="2"/>
              <a:buChar char="ü"/>
            </a:pPr>
            <a:r>
              <a:rPr lang="en-US" sz="2600" dirty="0">
                <a:solidFill>
                  <a:schemeClr val="tx1"/>
                </a:solidFill>
                <a:latin typeface="Times New Roman" panose="02020603050405020304" pitchFamily="18" charset="0"/>
                <a:cs typeface="Times New Roman" panose="02020603050405020304" pitchFamily="18" charset="0"/>
              </a:rPr>
              <a:t>Prior to Android 4.0, any application with READ_LOGS permission could obtain all the other applications' log output. After Android 4.1, the specification of READ_LOGS permission has been changed. Even applications with READ_LOGS permission cannot obtain log output from other applications.</a:t>
            </a:r>
          </a:p>
          <a:p>
            <a:pPr lvl="1" algn="just">
              <a:lnSpc>
                <a:spcPct val="150000"/>
              </a:lnSpc>
            </a:pPr>
            <a:endParaRPr lang="en-US" sz="2600" dirty="0">
              <a:solidFill>
                <a:schemeClr val="tx1"/>
              </a:solidFill>
              <a:latin typeface="Times New Roman" panose="02020603050405020304" pitchFamily="18" charset="0"/>
              <a:cs typeface="Times New Roman" panose="02020603050405020304" pitchFamily="18" charset="0"/>
            </a:endParaRPr>
          </a:p>
        </p:txBody>
      </p:sp>
      <p:sp>
        <p:nvSpPr>
          <p:cNvPr id="4" name="Right Triangle 3"/>
          <p:cNvSpPr/>
          <p:nvPr/>
        </p:nvSpPr>
        <p:spPr>
          <a:xfrm rot="5400000">
            <a:off x="-21195" y="4322"/>
            <a:ext cx="780949" cy="772569"/>
          </a:xfrm>
          <a:prstGeom prst="rtTriangl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5" name="Right Triangle 4"/>
          <p:cNvSpPr/>
          <p:nvPr/>
        </p:nvSpPr>
        <p:spPr>
          <a:xfrm rot="16200000">
            <a:off x="8367241" y="6067518"/>
            <a:ext cx="780949" cy="772569"/>
          </a:xfrm>
          <a:prstGeom prst="rtTriangl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6" name="Rounded Rectangle 5"/>
          <p:cNvSpPr/>
          <p:nvPr/>
        </p:nvSpPr>
        <p:spPr>
          <a:xfrm>
            <a:off x="783274" y="-1"/>
            <a:ext cx="7620000" cy="59574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Insecure Logging</a:t>
            </a:r>
          </a:p>
        </p:txBody>
      </p:sp>
      <p:sp>
        <p:nvSpPr>
          <p:cNvPr id="7" name="Right Triangle 6"/>
          <p:cNvSpPr/>
          <p:nvPr/>
        </p:nvSpPr>
        <p:spPr>
          <a:xfrm rot="10800000">
            <a:off x="8417865" y="18177"/>
            <a:ext cx="780949" cy="772569"/>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ight Triangle 7"/>
          <p:cNvSpPr/>
          <p:nvPr/>
        </p:nvSpPr>
        <p:spPr>
          <a:xfrm>
            <a:off x="-4190" y="6083920"/>
            <a:ext cx="780949" cy="772569"/>
          </a:xfrm>
          <a:prstGeom prst="r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0" name="Rounded Rectangle 9"/>
          <p:cNvSpPr/>
          <p:nvPr/>
        </p:nvSpPr>
        <p:spPr>
          <a:xfrm>
            <a:off x="730649" y="6470204"/>
            <a:ext cx="7620000" cy="3811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Dr.  </a:t>
            </a:r>
            <a:r>
              <a:rPr lang="en-US" b="1" dirty="0" err="1"/>
              <a:t>Digvijaysinh</a:t>
            </a:r>
            <a:r>
              <a:rPr lang="en-US" b="1" dirty="0"/>
              <a:t> Rathod</a:t>
            </a:r>
          </a:p>
        </p:txBody>
      </p:sp>
    </p:spTree>
    <p:extLst>
      <p:ext uri="{BB962C8B-B14F-4D97-AF65-F5344CB8AC3E}">
        <p14:creationId xmlns:p14="http://schemas.microsoft.com/office/powerpoint/2010/main" val="36702517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69278" y="671896"/>
            <a:ext cx="8546121" cy="5467320"/>
          </a:xfrm>
        </p:spPr>
        <p:txBody>
          <a:bodyPr>
            <a:noAutofit/>
          </a:bodyPr>
          <a:lstStyle/>
          <a:p>
            <a:pPr marL="971550" lvl="1" indent="-514350" algn="just">
              <a:lnSpc>
                <a:spcPct val="150000"/>
              </a:lnSpc>
              <a:buFont typeface="Wingdings" panose="05000000000000000000" pitchFamily="2" charset="2"/>
              <a:buChar char="ü"/>
            </a:pPr>
            <a:r>
              <a:rPr lang="en-US" sz="2600" dirty="0">
                <a:solidFill>
                  <a:schemeClr val="tx1"/>
                </a:solidFill>
                <a:latin typeface="Times New Roman" panose="02020603050405020304" pitchFamily="18" charset="0"/>
                <a:cs typeface="Times New Roman" panose="02020603050405020304" pitchFamily="18" charset="0"/>
              </a:rPr>
              <a:t>However, by connecting an Android device to a PC, log output from other applications can be obtained.</a:t>
            </a:r>
          </a:p>
          <a:p>
            <a:pPr marL="971550" lvl="1" indent="-514350" algn="just">
              <a:lnSpc>
                <a:spcPct val="150000"/>
              </a:lnSpc>
              <a:buFont typeface="Wingdings" panose="05000000000000000000" pitchFamily="2" charset="2"/>
              <a:buChar char="ü"/>
            </a:pPr>
            <a:r>
              <a:rPr lang="en-US" sz="2600" dirty="0">
                <a:solidFill>
                  <a:schemeClr val="tx1"/>
                </a:solidFill>
                <a:latin typeface="Times New Roman" panose="02020603050405020304" pitchFamily="18" charset="0"/>
                <a:cs typeface="Times New Roman" panose="02020603050405020304" pitchFamily="18" charset="0"/>
              </a:rPr>
              <a:t>Therefore, it is important that applications do not send sensitive information to log output.</a:t>
            </a:r>
          </a:p>
          <a:p>
            <a:pPr marL="971550" lvl="1" indent="-514350" algn="just">
              <a:lnSpc>
                <a:spcPct val="150000"/>
              </a:lnSpc>
              <a:buFont typeface="Wingdings" panose="05000000000000000000" pitchFamily="2" charset="2"/>
              <a:buChar char="ü"/>
            </a:pPr>
            <a:endParaRPr lang="en-US" sz="2600" dirty="0">
              <a:solidFill>
                <a:schemeClr val="tx1"/>
              </a:solidFill>
              <a:latin typeface="Times New Roman" panose="02020603050405020304" pitchFamily="18" charset="0"/>
              <a:cs typeface="Times New Roman" panose="02020603050405020304" pitchFamily="18" charset="0"/>
            </a:endParaRPr>
          </a:p>
        </p:txBody>
      </p:sp>
      <p:sp>
        <p:nvSpPr>
          <p:cNvPr id="4" name="Right Triangle 3"/>
          <p:cNvSpPr/>
          <p:nvPr/>
        </p:nvSpPr>
        <p:spPr>
          <a:xfrm rot="5400000">
            <a:off x="-21195" y="4322"/>
            <a:ext cx="780949" cy="772569"/>
          </a:xfrm>
          <a:prstGeom prst="rtTriangl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5" name="Right Triangle 4"/>
          <p:cNvSpPr/>
          <p:nvPr/>
        </p:nvSpPr>
        <p:spPr>
          <a:xfrm rot="16200000">
            <a:off x="8367241" y="6067518"/>
            <a:ext cx="780949" cy="772569"/>
          </a:xfrm>
          <a:prstGeom prst="rtTriangl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6" name="Rounded Rectangle 5"/>
          <p:cNvSpPr/>
          <p:nvPr/>
        </p:nvSpPr>
        <p:spPr>
          <a:xfrm>
            <a:off x="783274" y="-1"/>
            <a:ext cx="7620000" cy="59574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Insecure Logging</a:t>
            </a:r>
          </a:p>
        </p:txBody>
      </p:sp>
      <p:sp>
        <p:nvSpPr>
          <p:cNvPr id="7" name="Right Triangle 6"/>
          <p:cNvSpPr/>
          <p:nvPr/>
        </p:nvSpPr>
        <p:spPr>
          <a:xfrm rot="10800000">
            <a:off x="8417865" y="18177"/>
            <a:ext cx="780949" cy="772569"/>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ight Triangle 7"/>
          <p:cNvSpPr/>
          <p:nvPr/>
        </p:nvSpPr>
        <p:spPr>
          <a:xfrm>
            <a:off x="-4190" y="6083920"/>
            <a:ext cx="780949" cy="772569"/>
          </a:xfrm>
          <a:prstGeom prst="r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0" name="Rounded Rectangle 9"/>
          <p:cNvSpPr/>
          <p:nvPr/>
        </p:nvSpPr>
        <p:spPr>
          <a:xfrm>
            <a:off x="730649" y="6470204"/>
            <a:ext cx="7620000" cy="3811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Dr.  </a:t>
            </a:r>
            <a:r>
              <a:rPr lang="en-US" b="1" dirty="0" err="1"/>
              <a:t>Digvijaysinh</a:t>
            </a:r>
            <a:r>
              <a:rPr lang="en-US" b="1" dirty="0"/>
              <a:t> Rathod</a:t>
            </a:r>
          </a:p>
        </p:txBody>
      </p:sp>
    </p:spTree>
    <p:extLst>
      <p:ext uri="{BB962C8B-B14F-4D97-AF65-F5344CB8AC3E}">
        <p14:creationId xmlns:p14="http://schemas.microsoft.com/office/powerpoint/2010/main" val="20759170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69278" y="671896"/>
            <a:ext cx="8546121" cy="5467320"/>
          </a:xfrm>
        </p:spPr>
        <p:txBody>
          <a:bodyPr>
            <a:noAutofit/>
          </a:bodyPr>
          <a:lstStyle/>
          <a:p>
            <a:pPr marL="971550" lvl="1" indent="-514350" algn="just">
              <a:lnSpc>
                <a:spcPct val="150000"/>
              </a:lnSpc>
              <a:buFont typeface="Wingdings" panose="05000000000000000000" pitchFamily="2" charset="2"/>
              <a:buChar char="ü"/>
            </a:pPr>
            <a:r>
              <a:rPr lang="en-US" sz="2600" dirty="0">
                <a:solidFill>
                  <a:schemeClr val="tx1"/>
                </a:solidFill>
                <a:latin typeface="Times New Roman" panose="02020603050405020304" pitchFamily="18" charset="0"/>
                <a:cs typeface="Times New Roman" panose="02020603050405020304" pitchFamily="18" charset="0"/>
              </a:rPr>
              <a:t>Applications should make sure that they do not send sensitive information to log output. </a:t>
            </a:r>
          </a:p>
          <a:p>
            <a:pPr marL="971550" lvl="1" indent="-514350" algn="just">
              <a:lnSpc>
                <a:spcPct val="150000"/>
              </a:lnSpc>
              <a:buFont typeface="Wingdings" panose="05000000000000000000" pitchFamily="2" charset="2"/>
              <a:buChar char="ü"/>
            </a:pPr>
            <a:r>
              <a:rPr lang="en-US" sz="2600" dirty="0">
                <a:solidFill>
                  <a:schemeClr val="tx1"/>
                </a:solidFill>
                <a:latin typeface="Times New Roman" panose="02020603050405020304" pitchFamily="18" charset="0"/>
                <a:cs typeface="Times New Roman" panose="02020603050405020304" pitchFamily="18" charset="0"/>
              </a:rPr>
              <a:t>If the app includes a third party library, the developer should make sure that the library does not send sensitive information to log output. </a:t>
            </a:r>
          </a:p>
          <a:p>
            <a:pPr marL="971550" lvl="1" indent="-514350" algn="just">
              <a:lnSpc>
                <a:spcPct val="150000"/>
              </a:lnSpc>
              <a:buFont typeface="Wingdings" panose="05000000000000000000" pitchFamily="2" charset="2"/>
              <a:buChar char="ü"/>
            </a:pPr>
            <a:r>
              <a:rPr lang="en-US" sz="2600" dirty="0">
                <a:solidFill>
                  <a:schemeClr val="tx1"/>
                </a:solidFill>
                <a:latin typeface="Times New Roman" panose="02020603050405020304" pitchFamily="18" charset="0"/>
                <a:cs typeface="Times New Roman" panose="02020603050405020304" pitchFamily="18" charset="0"/>
              </a:rPr>
              <a:t>One common solution is for an application to declare and use a custom log class, so that log output is automatically turned on/off based on Debug/Release.</a:t>
            </a:r>
          </a:p>
          <a:p>
            <a:pPr marL="971550" lvl="1" indent="-514350" algn="just">
              <a:lnSpc>
                <a:spcPct val="150000"/>
              </a:lnSpc>
              <a:buFont typeface="Wingdings" panose="05000000000000000000" pitchFamily="2" charset="2"/>
              <a:buChar char="ü"/>
            </a:pPr>
            <a:endParaRPr lang="en-US" sz="2600" dirty="0">
              <a:solidFill>
                <a:schemeClr val="tx1"/>
              </a:solidFill>
              <a:latin typeface="Times New Roman" panose="02020603050405020304" pitchFamily="18" charset="0"/>
              <a:cs typeface="Times New Roman" panose="02020603050405020304" pitchFamily="18" charset="0"/>
            </a:endParaRPr>
          </a:p>
        </p:txBody>
      </p:sp>
      <p:sp>
        <p:nvSpPr>
          <p:cNvPr id="4" name="Right Triangle 3"/>
          <p:cNvSpPr/>
          <p:nvPr/>
        </p:nvSpPr>
        <p:spPr>
          <a:xfrm rot="5400000">
            <a:off x="-21195" y="4322"/>
            <a:ext cx="780949" cy="772569"/>
          </a:xfrm>
          <a:prstGeom prst="rtTriangl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5" name="Right Triangle 4"/>
          <p:cNvSpPr/>
          <p:nvPr/>
        </p:nvSpPr>
        <p:spPr>
          <a:xfrm rot="16200000">
            <a:off x="8367241" y="6067518"/>
            <a:ext cx="780949" cy="772569"/>
          </a:xfrm>
          <a:prstGeom prst="rtTriangl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6" name="Rounded Rectangle 5"/>
          <p:cNvSpPr/>
          <p:nvPr/>
        </p:nvSpPr>
        <p:spPr>
          <a:xfrm>
            <a:off x="783274" y="-1"/>
            <a:ext cx="7620000" cy="59574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Insecure Logging - Applicability</a:t>
            </a:r>
          </a:p>
        </p:txBody>
      </p:sp>
      <p:sp>
        <p:nvSpPr>
          <p:cNvPr id="7" name="Right Triangle 6"/>
          <p:cNvSpPr/>
          <p:nvPr/>
        </p:nvSpPr>
        <p:spPr>
          <a:xfrm rot="10800000">
            <a:off x="8417865" y="18177"/>
            <a:ext cx="780949" cy="772569"/>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ight Triangle 7"/>
          <p:cNvSpPr/>
          <p:nvPr/>
        </p:nvSpPr>
        <p:spPr>
          <a:xfrm>
            <a:off x="-4190" y="6083920"/>
            <a:ext cx="780949" cy="772569"/>
          </a:xfrm>
          <a:prstGeom prst="r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0" name="Rounded Rectangle 9"/>
          <p:cNvSpPr/>
          <p:nvPr/>
        </p:nvSpPr>
        <p:spPr>
          <a:xfrm>
            <a:off x="730649" y="6470204"/>
            <a:ext cx="7620000" cy="3811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Dr.  </a:t>
            </a:r>
            <a:r>
              <a:rPr lang="en-US" b="1" dirty="0" err="1"/>
              <a:t>Digvijaysinh</a:t>
            </a:r>
            <a:r>
              <a:rPr lang="en-US" b="1" dirty="0"/>
              <a:t> Rathod</a:t>
            </a:r>
          </a:p>
        </p:txBody>
      </p:sp>
    </p:spTree>
    <p:extLst>
      <p:ext uri="{BB962C8B-B14F-4D97-AF65-F5344CB8AC3E}">
        <p14:creationId xmlns:p14="http://schemas.microsoft.com/office/powerpoint/2010/main" val="23191134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69278" y="671896"/>
            <a:ext cx="8546121" cy="5467320"/>
          </a:xfrm>
        </p:spPr>
        <p:txBody>
          <a:bodyPr>
            <a:noAutofit/>
          </a:bodyPr>
          <a:lstStyle/>
          <a:p>
            <a:pPr marL="971550" lvl="1" indent="-514350" algn="just">
              <a:lnSpc>
                <a:spcPct val="150000"/>
              </a:lnSpc>
              <a:buFont typeface="Wingdings" panose="05000000000000000000" pitchFamily="2" charset="2"/>
              <a:buChar char="ü"/>
            </a:pPr>
            <a:r>
              <a:rPr lang="en-US" sz="2600" dirty="0">
                <a:solidFill>
                  <a:schemeClr val="tx1"/>
                </a:solidFill>
                <a:latin typeface="Times New Roman" panose="02020603050405020304" pitchFamily="18" charset="0"/>
                <a:cs typeface="Times New Roman" panose="02020603050405020304" pitchFamily="18" charset="0"/>
              </a:rPr>
              <a:t>Developers can use </a:t>
            </a:r>
            <a:r>
              <a:rPr lang="en-US" sz="2600" dirty="0" err="1">
                <a:solidFill>
                  <a:schemeClr val="tx1"/>
                </a:solidFill>
                <a:latin typeface="Times New Roman" panose="02020603050405020304" pitchFamily="18" charset="0"/>
                <a:cs typeface="Times New Roman" panose="02020603050405020304" pitchFamily="18" charset="0"/>
              </a:rPr>
              <a:t>ProGuard</a:t>
            </a:r>
            <a:r>
              <a:rPr lang="en-US" sz="2600" dirty="0">
                <a:solidFill>
                  <a:schemeClr val="tx1"/>
                </a:solidFill>
                <a:latin typeface="Times New Roman" panose="02020603050405020304" pitchFamily="18" charset="0"/>
                <a:cs typeface="Times New Roman" panose="02020603050405020304" pitchFamily="18" charset="0"/>
              </a:rPr>
              <a:t> to delete specific method calls. This assumes that the method contains no side effects.</a:t>
            </a:r>
          </a:p>
        </p:txBody>
      </p:sp>
      <p:sp>
        <p:nvSpPr>
          <p:cNvPr id="4" name="Right Triangle 3"/>
          <p:cNvSpPr/>
          <p:nvPr/>
        </p:nvSpPr>
        <p:spPr>
          <a:xfrm rot="5400000">
            <a:off x="-21195" y="4322"/>
            <a:ext cx="780949" cy="772569"/>
          </a:xfrm>
          <a:prstGeom prst="rtTriangl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5" name="Right Triangle 4"/>
          <p:cNvSpPr/>
          <p:nvPr/>
        </p:nvSpPr>
        <p:spPr>
          <a:xfrm rot="16200000">
            <a:off x="8367241" y="6067518"/>
            <a:ext cx="780949" cy="772569"/>
          </a:xfrm>
          <a:prstGeom prst="rtTriangl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6" name="Rounded Rectangle 5"/>
          <p:cNvSpPr/>
          <p:nvPr/>
        </p:nvSpPr>
        <p:spPr>
          <a:xfrm>
            <a:off x="783274" y="-1"/>
            <a:ext cx="7620000" cy="59574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Insecure Logging - Applicability</a:t>
            </a:r>
          </a:p>
        </p:txBody>
      </p:sp>
      <p:sp>
        <p:nvSpPr>
          <p:cNvPr id="7" name="Right Triangle 6"/>
          <p:cNvSpPr/>
          <p:nvPr/>
        </p:nvSpPr>
        <p:spPr>
          <a:xfrm rot="10800000">
            <a:off x="8417865" y="18177"/>
            <a:ext cx="780949" cy="772569"/>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ight Triangle 7"/>
          <p:cNvSpPr/>
          <p:nvPr/>
        </p:nvSpPr>
        <p:spPr>
          <a:xfrm>
            <a:off x="-4190" y="6083920"/>
            <a:ext cx="780949" cy="772569"/>
          </a:xfrm>
          <a:prstGeom prst="r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0" name="Rounded Rectangle 9"/>
          <p:cNvSpPr/>
          <p:nvPr/>
        </p:nvSpPr>
        <p:spPr>
          <a:xfrm>
            <a:off x="730649" y="6470204"/>
            <a:ext cx="7620000" cy="3811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Dr.  </a:t>
            </a:r>
            <a:r>
              <a:rPr lang="en-US" b="1" dirty="0" err="1"/>
              <a:t>Digvijaysinh</a:t>
            </a:r>
            <a:r>
              <a:rPr lang="en-US" b="1" dirty="0"/>
              <a:t> Rathod</a:t>
            </a:r>
          </a:p>
        </p:txBody>
      </p:sp>
    </p:spTree>
    <p:extLst>
      <p:ext uri="{BB962C8B-B14F-4D97-AF65-F5344CB8AC3E}">
        <p14:creationId xmlns:p14="http://schemas.microsoft.com/office/powerpoint/2010/main" val="32953349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69278" y="671896"/>
            <a:ext cx="8546121" cy="5467320"/>
          </a:xfrm>
        </p:spPr>
        <p:txBody>
          <a:bodyPr>
            <a:noAutofit/>
          </a:bodyPr>
          <a:lstStyle/>
          <a:p>
            <a:pPr marL="971550" lvl="1" indent="-514350" algn="just">
              <a:lnSpc>
                <a:spcPct val="150000"/>
              </a:lnSpc>
              <a:buFont typeface="Wingdings" panose="05000000000000000000" pitchFamily="2" charset="2"/>
              <a:buChar char="ü"/>
            </a:pPr>
            <a:r>
              <a:rPr lang="en-US" sz="2200" dirty="0">
                <a:solidFill>
                  <a:schemeClr val="tx1"/>
                </a:solidFill>
                <a:latin typeface="Times New Roman" panose="02020603050405020304" pitchFamily="18" charset="0"/>
                <a:cs typeface="Times New Roman" panose="02020603050405020304" pitchFamily="18" charset="0"/>
              </a:rPr>
              <a:t>Facebook SDK for Android: http://readwrite.com/2012/04/10/what-developers-and-users-can#awesm=~o9iqZAMlUPshPu</a:t>
            </a:r>
          </a:p>
          <a:p>
            <a:pPr marL="971550" lvl="1" indent="-514350" algn="just">
              <a:lnSpc>
                <a:spcPct val="150000"/>
              </a:lnSpc>
              <a:buFont typeface="Wingdings" panose="05000000000000000000" pitchFamily="2" charset="2"/>
              <a:buChar char="ü"/>
            </a:pPr>
            <a:r>
              <a:rPr lang="en-US" sz="2200" dirty="0">
                <a:solidFill>
                  <a:schemeClr val="tx1"/>
                </a:solidFill>
                <a:latin typeface="Times New Roman" panose="02020603050405020304" pitchFamily="18" charset="0"/>
                <a:cs typeface="Times New Roman" panose="02020603050405020304" pitchFamily="18" charset="0"/>
              </a:rPr>
              <a:t>JVN#23328321 </a:t>
            </a:r>
            <a:r>
              <a:rPr lang="en-US" sz="2200" dirty="0" err="1">
                <a:solidFill>
                  <a:schemeClr val="tx1"/>
                </a:solidFill>
                <a:latin typeface="Times New Roman" panose="02020603050405020304" pitchFamily="18" charset="0"/>
                <a:cs typeface="Times New Roman" panose="02020603050405020304" pitchFamily="18" charset="0"/>
              </a:rPr>
              <a:t>Puella</a:t>
            </a:r>
            <a:r>
              <a:rPr lang="en-US" sz="2200" dirty="0">
                <a:solidFill>
                  <a:schemeClr val="tx1"/>
                </a:solidFill>
                <a:latin typeface="Times New Roman" panose="02020603050405020304" pitchFamily="18" charset="0"/>
                <a:cs typeface="Times New Roman" panose="02020603050405020304" pitchFamily="18" charset="0"/>
              </a:rPr>
              <a:t> Magi </a:t>
            </a:r>
            <a:r>
              <a:rPr lang="en-US" sz="2200" dirty="0" err="1">
                <a:solidFill>
                  <a:schemeClr val="tx1"/>
                </a:solidFill>
                <a:latin typeface="Times New Roman" panose="02020603050405020304" pitchFamily="18" charset="0"/>
                <a:cs typeface="Times New Roman" panose="02020603050405020304" pitchFamily="18" charset="0"/>
              </a:rPr>
              <a:t>Madoka</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Magica</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iP</a:t>
            </a:r>
            <a:r>
              <a:rPr lang="en-US" sz="2200" dirty="0">
                <a:solidFill>
                  <a:schemeClr val="tx1"/>
                </a:solidFill>
                <a:latin typeface="Times New Roman" panose="02020603050405020304" pitchFamily="18" charset="0"/>
                <a:cs typeface="Times New Roman" panose="02020603050405020304" pitchFamily="18" charset="0"/>
              </a:rPr>
              <a:t> for Android vulnerable to information disclosure</a:t>
            </a:r>
          </a:p>
          <a:p>
            <a:pPr marL="971550" lvl="1" indent="-514350" algn="just">
              <a:lnSpc>
                <a:spcPct val="150000"/>
              </a:lnSpc>
              <a:buFont typeface="Wingdings" panose="05000000000000000000" pitchFamily="2" charset="2"/>
              <a:buChar char="ü"/>
            </a:pPr>
            <a:r>
              <a:rPr lang="en-US" sz="2200" dirty="0">
                <a:solidFill>
                  <a:schemeClr val="tx1"/>
                </a:solidFill>
                <a:latin typeface="Times New Roman" panose="02020603050405020304" pitchFamily="18" charset="0"/>
                <a:cs typeface="Times New Roman" panose="02020603050405020304" pitchFamily="18" charset="0"/>
              </a:rPr>
              <a:t>JVN#86040029 </a:t>
            </a:r>
            <a:r>
              <a:rPr lang="en-US" sz="2200" dirty="0" err="1">
                <a:solidFill>
                  <a:schemeClr val="tx1"/>
                </a:solidFill>
                <a:latin typeface="Times New Roman" panose="02020603050405020304" pitchFamily="18" charset="0"/>
                <a:cs typeface="Times New Roman" panose="02020603050405020304" pitchFamily="18" charset="0"/>
              </a:rPr>
              <a:t>Weathernews</a:t>
            </a:r>
            <a:r>
              <a:rPr lang="en-US" sz="2200" dirty="0">
                <a:solidFill>
                  <a:schemeClr val="tx1"/>
                </a:solidFill>
                <a:latin typeface="Times New Roman" panose="02020603050405020304" pitchFamily="18" charset="0"/>
                <a:cs typeface="Times New Roman" panose="02020603050405020304" pitchFamily="18" charset="0"/>
              </a:rPr>
              <a:t> Touch for Android stores location information in the system log file</a:t>
            </a:r>
          </a:p>
          <a:p>
            <a:pPr marL="971550" lvl="1" indent="-514350" algn="just">
              <a:lnSpc>
                <a:spcPct val="150000"/>
              </a:lnSpc>
              <a:buFont typeface="Wingdings" panose="05000000000000000000" pitchFamily="2" charset="2"/>
              <a:buChar char="ü"/>
            </a:pPr>
            <a:r>
              <a:rPr lang="en-US" sz="2200" dirty="0">
                <a:solidFill>
                  <a:schemeClr val="tx1"/>
                </a:solidFill>
                <a:latin typeface="Times New Roman" panose="02020603050405020304" pitchFamily="18" charset="0"/>
                <a:cs typeface="Times New Roman" panose="02020603050405020304" pitchFamily="18" charset="0"/>
              </a:rPr>
              <a:t>JVN#33159152 </a:t>
            </a:r>
            <a:r>
              <a:rPr lang="en-US" sz="2200" dirty="0" err="1">
                <a:solidFill>
                  <a:schemeClr val="tx1"/>
                </a:solidFill>
                <a:latin typeface="Times New Roman" panose="02020603050405020304" pitchFamily="18" charset="0"/>
                <a:cs typeface="Times New Roman" panose="02020603050405020304" pitchFamily="18" charset="0"/>
              </a:rPr>
              <a:t>Loctouch</a:t>
            </a:r>
            <a:r>
              <a:rPr lang="en-US" sz="2200" dirty="0">
                <a:solidFill>
                  <a:schemeClr val="tx1"/>
                </a:solidFill>
                <a:latin typeface="Times New Roman" panose="02020603050405020304" pitchFamily="18" charset="0"/>
                <a:cs typeface="Times New Roman" panose="02020603050405020304" pitchFamily="18" charset="0"/>
              </a:rPr>
              <a:t> for Android information management vulnerability</a:t>
            </a:r>
          </a:p>
          <a:p>
            <a:pPr marL="971550" lvl="1" indent="-514350" algn="just">
              <a:lnSpc>
                <a:spcPct val="150000"/>
              </a:lnSpc>
              <a:buFont typeface="Wingdings" panose="05000000000000000000" pitchFamily="2" charset="2"/>
              <a:buChar char="ü"/>
            </a:pPr>
            <a:r>
              <a:rPr lang="en-US" sz="2200" dirty="0">
                <a:solidFill>
                  <a:schemeClr val="tx1"/>
                </a:solidFill>
                <a:latin typeface="Times New Roman" panose="02020603050405020304" pitchFamily="18" charset="0"/>
                <a:cs typeface="Times New Roman" panose="02020603050405020304" pitchFamily="18" charset="0"/>
              </a:rPr>
              <a:t>JVN#56923652 Monaca Debugger for Android information management vulnerability</a:t>
            </a:r>
          </a:p>
        </p:txBody>
      </p:sp>
      <p:sp>
        <p:nvSpPr>
          <p:cNvPr id="4" name="Right Triangle 3"/>
          <p:cNvSpPr/>
          <p:nvPr/>
        </p:nvSpPr>
        <p:spPr>
          <a:xfrm rot="5400000">
            <a:off x="-21195" y="4322"/>
            <a:ext cx="780949" cy="772569"/>
          </a:xfrm>
          <a:prstGeom prst="rtTriangl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5" name="Right Triangle 4"/>
          <p:cNvSpPr/>
          <p:nvPr/>
        </p:nvSpPr>
        <p:spPr>
          <a:xfrm rot="16200000">
            <a:off x="8367241" y="6067518"/>
            <a:ext cx="780949" cy="772569"/>
          </a:xfrm>
          <a:prstGeom prst="rtTriangl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6" name="Rounded Rectangle 5"/>
          <p:cNvSpPr/>
          <p:nvPr/>
        </p:nvSpPr>
        <p:spPr>
          <a:xfrm>
            <a:off x="783274" y="-1"/>
            <a:ext cx="7620000" cy="59574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Insecure Logging - Related Vulnerabilities</a:t>
            </a:r>
          </a:p>
        </p:txBody>
      </p:sp>
      <p:sp>
        <p:nvSpPr>
          <p:cNvPr id="7" name="Right Triangle 6"/>
          <p:cNvSpPr/>
          <p:nvPr/>
        </p:nvSpPr>
        <p:spPr>
          <a:xfrm rot="10800000">
            <a:off x="8417865" y="18177"/>
            <a:ext cx="780949" cy="772569"/>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ight Triangle 7"/>
          <p:cNvSpPr/>
          <p:nvPr/>
        </p:nvSpPr>
        <p:spPr>
          <a:xfrm>
            <a:off x="-4190" y="6083920"/>
            <a:ext cx="780949" cy="772569"/>
          </a:xfrm>
          <a:prstGeom prst="r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0" name="Rounded Rectangle 9"/>
          <p:cNvSpPr/>
          <p:nvPr/>
        </p:nvSpPr>
        <p:spPr>
          <a:xfrm>
            <a:off x="730649" y="6470204"/>
            <a:ext cx="7620000" cy="3811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Dr.  </a:t>
            </a:r>
            <a:r>
              <a:rPr lang="en-US" b="1" dirty="0" err="1"/>
              <a:t>Digvijaysinh</a:t>
            </a:r>
            <a:r>
              <a:rPr lang="en-US" b="1" dirty="0"/>
              <a:t> Rathod</a:t>
            </a:r>
          </a:p>
        </p:txBody>
      </p:sp>
    </p:spTree>
    <p:extLst>
      <p:ext uri="{BB962C8B-B14F-4D97-AF65-F5344CB8AC3E}">
        <p14:creationId xmlns:p14="http://schemas.microsoft.com/office/powerpoint/2010/main" val="14307772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69278" y="671896"/>
            <a:ext cx="8546121" cy="5467320"/>
          </a:xfrm>
        </p:spPr>
        <p:txBody>
          <a:bodyPr>
            <a:noAutofit/>
          </a:bodyPr>
          <a:lstStyle/>
          <a:p>
            <a:pPr marL="971550" lvl="1" indent="-514350" algn="just">
              <a:lnSpc>
                <a:spcPct val="150000"/>
              </a:lnSpc>
              <a:buFont typeface="Wingdings" panose="05000000000000000000" pitchFamily="2" charset="2"/>
              <a:buChar char="ü"/>
            </a:pPr>
            <a:r>
              <a:rPr lang="en-US" sz="2600" dirty="0">
                <a:solidFill>
                  <a:schemeClr val="tx1"/>
                </a:solidFill>
                <a:latin typeface="Times New Roman" panose="02020603050405020304" pitchFamily="18" charset="0"/>
                <a:cs typeface="Times New Roman" panose="02020603050405020304" pitchFamily="18" charset="0"/>
              </a:rPr>
              <a:t>Logging sensitive information can leak sensitive information to malicious apps.</a:t>
            </a:r>
          </a:p>
        </p:txBody>
      </p:sp>
      <p:sp>
        <p:nvSpPr>
          <p:cNvPr id="4" name="Right Triangle 3"/>
          <p:cNvSpPr/>
          <p:nvPr/>
        </p:nvSpPr>
        <p:spPr>
          <a:xfrm rot="5400000">
            <a:off x="-21195" y="4322"/>
            <a:ext cx="780949" cy="772569"/>
          </a:xfrm>
          <a:prstGeom prst="rtTriangl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5" name="Right Triangle 4"/>
          <p:cNvSpPr/>
          <p:nvPr/>
        </p:nvSpPr>
        <p:spPr>
          <a:xfrm rot="16200000">
            <a:off x="8367241" y="6067518"/>
            <a:ext cx="780949" cy="772569"/>
          </a:xfrm>
          <a:prstGeom prst="rtTriangl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6" name="Rounded Rectangle 5"/>
          <p:cNvSpPr/>
          <p:nvPr/>
        </p:nvSpPr>
        <p:spPr>
          <a:xfrm>
            <a:off x="783274" y="-1"/>
            <a:ext cx="7620000" cy="59574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Insecure Logging - Risk Assessment</a:t>
            </a:r>
          </a:p>
        </p:txBody>
      </p:sp>
      <p:sp>
        <p:nvSpPr>
          <p:cNvPr id="7" name="Right Triangle 6"/>
          <p:cNvSpPr/>
          <p:nvPr/>
        </p:nvSpPr>
        <p:spPr>
          <a:xfrm rot="10800000">
            <a:off x="8417865" y="18177"/>
            <a:ext cx="780949" cy="772569"/>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ight Triangle 7"/>
          <p:cNvSpPr/>
          <p:nvPr/>
        </p:nvSpPr>
        <p:spPr>
          <a:xfrm>
            <a:off x="-4190" y="6083920"/>
            <a:ext cx="780949" cy="772569"/>
          </a:xfrm>
          <a:prstGeom prst="r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0" name="Rounded Rectangle 9"/>
          <p:cNvSpPr/>
          <p:nvPr/>
        </p:nvSpPr>
        <p:spPr>
          <a:xfrm>
            <a:off x="730649" y="6470204"/>
            <a:ext cx="7620000" cy="3811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Dr.  </a:t>
            </a:r>
            <a:r>
              <a:rPr lang="en-US" b="1" dirty="0" err="1"/>
              <a:t>Digvijaysinh</a:t>
            </a:r>
            <a:r>
              <a:rPr lang="en-US" b="1" dirty="0"/>
              <a:t> Rathod</a:t>
            </a:r>
          </a:p>
        </p:txBody>
      </p:sp>
      <p:graphicFrame>
        <p:nvGraphicFramePr>
          <p:cNvPr id="11" name="Table 10">
            <a:extLst>
              <a:ext uri="{FF2B5EF4-FFF2-40B4-BE49-F238E27FC236}">
                <a16:creationId xmlns:a16="http://schemas.microsoft.com/office/drawing/2014/main" id="{DA19E0CE-2242-42FF-ABAD-4A08ABEA9341}"/>
              </a:ext>
            </a:extLst>
          </p:cNvPr>
          <p:cNvGraphicFramePr>
            <a:graphicFrameLocks noGrp="1"/>
          </p:cNvGraphicFramePr>
          <p:nvPr>
            <p:extLst>
              <p:ext uri="{D42A27DB-BD31-4B8C-83A1-F6EECF244321}">
                <p14:modId xmlns:p14="http://schemas.microsoft.com/office/powerpoint/2010/main" val="3004315974"/>
              </p:ext>
            </p:extLst>
          </p:nvPr>
        </p:nvGraphicFramePr>
        <p:xfrm>
          <a:off x="740538" y="2081631"/>
          <a:ext cx="8339138" cy="1272540"/>
        </p:xfrm>
        <a:graphic>
          <a:graphicData uri="http://schemas.openxmlformats.org/drawingml/2006/table">
            <a:tbl>
              <a:tblPr>
                <a:tableStyleId>{E8B1032C-EA38-4F05-BA0D-38AFFFC7BED3}</a:tableStyleId>
              </a:tblPr>
              <a:tblGrid>
                <a:gridCol w="1371600">
                  <a:extLst>
                    <a:ext uri="{9D8B030D-6E8A-4147-A177-3AD203B41FA5}">
                      <a16:colId xmlns:a16="http://schemas.microsoft.com/office/drawing/2014/main" val="483903821"/>
                    </a:ext>
                  </a:extLst>
                </a:gridCol>
                <a:gridCol w="1371600">
                  <a:extLst>
                    <a:ext uri="{9D8B030D-6E8A-4147-A177-3AD203B41FA5}">
                      <a16:colId xmlns:a16="http://schemas.microsoft.com/office/drawing/2014/main" val="4035032186"/>
                    </a:ext>
                  </a:extLst>
                </a:gridCol>
                <a:gridCol w="1597025">
                  <a:extLst>
                    <a:ext uri="{9D8B030D-6E8A-4147-A177-3AD203B41FA5}">
                      <a16:colId xmlns:a16="http://schemas.microsoft.com/office/drawing/2014/main" val="3331182386"/>
                    </a:ext>
                  </a:extLst>
                </a:gridCol>
                <a:gridCol w="1371600">
                  <a:extLst>
                    <a:ext uri="{9D8B030D-6E8A-4147-A177-3AD203B41FA5}">
                      <a16:colId xmlns:a16="http://schemas.microsoft.com/office/drawing/2014/main" val="740590859"/>
                    </a:ext>
                  </a:extLst>
                </a:gridCol>
                <a:gridCol w="1255713">
                  <a:extLst>
                    <a:ext uri="{9D8B030D-6E8A-4147-A177-3AD203B41FA5}">
                      <a16:colId xmlns:a16="http://schemas.microsoft.com/office/drawing/2014/main" val="2919998955"/>
                    </a:ext>
                  </a:extLst>
                </a:gridCol>
                <a:gridCol w="1371600">
                  <a:extLst>
                    <a:ext uri="{9D8B030D-6E8A-4147-A177-3AD203B41FA5}">
                      <a16:colId xmlns:a16="http://schemas.microsoft.com/office/drawing/2014/main" val="4168151945"/>
                    </a:ext>
                  </a:extLst>
                </a:gridCol>
              </a:tblGrid>
              <a:tr h="0">
                <a:tc>
                  <a:txBody>
                    <a:bodyPr/>
                    <a:lstStyle/>
                    <a:p>
                      <a:pPr algn="l" fontAlgn="t"/>
                      <a:r>
                        <a:rPr lang="en-IN" sz="2200" b="1" dirty="0">
                          <a:effectLst/>
                          <a:latin typeface="Times New Roman" panose="02020603050405020304" pitchFamily="18" charset="0"/>
                          <a:cs typeface="Times New Roman" panose="02020603050405020304" pitchFamily="18" charset="0"/>
                        </a:rPr>
                        <a:t>Rule</a:t>
                      </a:r>
                      <a:endParaRPr lang="en-IN" sz="2200" b="1" dirty="0">
                        <a:solidFill>
                          <a:srgbClr val="172B4D"/>
                        </a:solidFill>
                        <a:effectLst/>
                        <a:latin typeface="Times New Roman" panose="02020603050405020304" pitchFamily="18" charset="0"/>
                        <a:cs typeface="Times New Roman" panose="02020603050405020304" pitchFamily="18" charset="0"/>
                      </a:endParaRPr>
                    </a:p>
                  </a:txBody>
                  <a:tcPr marL="95250" marR="142875" marT="66675" marB="66675"/>
                </a:tc>
                <a:tc>
                  <a:txBody>
                    <a:bodyPr/>
                    <a:lstStyle/>
                    <a:p>
                      <a:pPr algn="l" fontAlgn="t"/>
                      <a:r>
                        <a:rPr lang="en-IN" sz="2200" b="1" dirty="0">
                          <a:effectLst/>
                          <a:latin typeface="Times New Roman" panose="02020603050405020304" pitchFamily="18" charset="0"/>
                          <a:cs typeface="Times New Roman" panose="02020603050405020304" pitchFamily="18" charset="0"/>
                        </a:rPr>
                        <a:t>Severity</a:t>
                      </a:r>
                      <a:endParaRPr lang="en-IN" sz="2200" b="1" dirty="0">
                        <a:solidFill>
                          <a:srgbClr val="172B4D"/>
                        </a:solidFill>
                        <a:effectLst/>
                        <a:latin typeface="Times New Roman" panose="02020603050405020304" pitchFamily="18" charset="0"/>
                        <a:cs typeface="Times New Roman" panose="02020603050405020304" pitchFamily="18" charset="0"/>
                      </a:endParaRPr>
                    </a:p>
                  </a:txBody>
                  <a:tcPr marL="95250" marR="142875" marT="66675" marB="66675"/>
                </a:tc>
                <a:tc>
                  <a:txBody>
                    <a:bodyPr/>
                    <a:lstStyle/>
                    <a:p>
                      <a:pPr algn="l" fontAlgn="t"/>
                      <a:r>
                        <a:rPr lang="en-IN" sz="2200" b="1" dirty="0">
                          <a:effectLst/>
                          <a:latin typeface="Times New Roman" panose="02020603050405020304" pitchFamily="18" charset="0"/>
                          <a:cs typeface="Times New Roman" panose="02020603050405020304" pitchFamily="18" charset="0"/>
                        </a:rPr>
                        <a:t>Likelihood</a:t>
                      </a:r>
                      <a:endParaRPr lang="en-IN" sz="2200" b="1" dirty="0">
                        <a:solidFill>
                          <a:srgbClr val="172B4D"/>
                        </a:solidFill>
                        <a:effectLst/>
                        <a:latin typeface="Times New Roman" panose="02020603050405020304" pitchFamily="18" charset="0"/>
                        <a:cs typeface="Times New Roman" panose="02020603050405020304" pitchFamily="18" charset="0"/>
                      </a:endParaRPr>
                    </a:p>
                  </a:txBody>
                  <a:tcPr marL="95250" marR="142875" marT="66675" marB="66675"/>
                </a:tc>
                <a:tc>
                  <a:txBody>
                    <a:bodyPr/>
                    <a:lstStyle/>
                    <a:p>
                      <a:pPr algn="l" fontAlgn="t"/>
                      <a:r>
                        <a:rPr lang="en-IN" sz="2200" b="1" dirty="0">
                          <a:effectLst/>
                          <a:latin typeface="Times New Roman" panose="02020603050405020304" pitchFamily="18" charset="0"/>
                          <a:cs typeface="Times New Roman" panose="02020603050405020304" pitchFamily="18" charset="0"/>
                        </a:rPr>
                        <a:t>Remediation Cost</a:t>
                      </a:r>
                      <a:endParaRPr lang="en-IN" sz="2200" b="1" dirty="0">
                        <a:solidFill>
                          <a:srgbClr val="172B4D"/>
                        </a:solidFill>
                        <a:effectLst/>
                        <a:latin typeface="Times New Roman" panose="02020603050405020304" pitchFamily="18" charset="0"/>
                        <a:cs typeface="Times New Roman" panose="02020603050405020304" pitchFamily="18" charset="0"/>
                      </a:endParaRPr>
                    </a:p>
                  </a:txBody>
                  <a:tcPr marL="95250" marR="142875" marT="66675" marB="66675"/>
                </a:tc>
                <a:tc>
                  <a:txBody>
                    <a:bodyPr/>
                    <a:lstStyle/>
                    <a:p>
                      <a:pPr algn="l" fontAlgn="t"/>
                      <a:r>
                        <a:rPr lang="en-IN" sz="2200" b="1" dirty="0">
                          <a:effectLst/>
                          <a:latin typeface="Times New Roman" panose="02020603050405020304" pitchFamily="18" charset="0"/>
                          <a:cs typeface="Times New Roman" panose="02020603050405020304" pitchFamily="18" charset="0"/>
                        </a:rPr>
                        <a:t>Priority</a:t>
                      </a:r>
                      <a:endParaRPr lang="en-IN" sz="2200" b="1" dirty="0">
                        <a:solidFill>
                          <a:srgbClr val="172B4D"/>
                        </a:solidFill>
                        <a:effectLst/>
                        <a:latin typeface="Times New Roman" panose="02020603050405020304" pitchFamily="18" charset="0"/>
                        <a:cs typeface="Times New Roman" panose="02020603050405020304" pitchFamily="18" charset="0"/>
                      </a:endParaRPr>
                    </a:p>
                  </a:txBody>
                  <a:tcPr marL="95250" marR="142875" marT="66675" marB="66675"/>
                </a:tc>
                <a:tc>
                  <a:txBody>
                    <a:bodyPr/>
                    <a:lstStyle/>
                    <a:p>
                      <a:pPr algn="l" fontAlgn="t"/>
                      <a:r>
                        <a:rPr lang="en-IN" sz="2200" b="1" dirty="0">
                          <a:effectLst/>
                          <a:latin typeface="Times New Roman" panose="02020603050405020304" pitchFamily="18" charset="0"/>
                          <a:cs typeface="Times New Roman" panose="02020603050405020304" pitchFamily="18" charset="0"/>
                        </a:rPr>
                        <a:t>Level</a:t>
                      </a:r>
                      <a:endParaRPr lang="en-IN" sz="2200" b="1" dirty="0">
                        <a:solidFill>
                          <a:srgbClr val="172B4D"/>
                        </a:solidFill>
                        <a:effectLst/>
                        <a:latin typeface="Times New Roman" panose="02020603050405020304" pitchFamily="18" charset="0"/>
                        <a:cs typeface="Times New Roman" panose="02020603050405020304" pitchFamily="18" charset="0"/>
                      </a:endParaRPr>
                    </a:p>
                  </a:txBody>
                  <a:tcPr marL="95250" marR="142875" marT="66675" marB="66675"/>
                </a:tc>
                <a:extLst>
                  <a:ext uri="{0D108BD9-81ED-4DB2-BD59-A6C34878D82A}">
                    <a16:rowId xmlns:a16="http://schemas.microsoft.com/office/drawing/2014/main" val="2565148998"/>
                  </a:ext>
                </a:extLst>
              </a:tr>
              <a:tr h="0">
                <a:tc>
                  <a:txBody>
                    <a:bodyPr/>
                    <a:lstStyle/>
                    <a:p>
                      <a:pPr algn="l" fontAlgn="t"/>
                      <a:r>
                        <a:rPr lang="en-IN" sz="2200">
                          <a:effectLst/>
                          <a:latin typeface="Times New Roman" panose="02020603050405020304" pitchFamily="18" charset="0"/>
                          <a:cs typeface="Times New Roman" panose="02020603050405020304" pitchFamily="18" charset="0"/>
                        </a:rPr>
                        <a:t>DRD04-J</a:t>
                      </a:r>
                    </a:p>
                  </a:txBody>
                  <a:tcPr marL="95250" marR="95250" marT="66675" marB="66675"/>
                </a:tc>
                <a:tc>
                  <a:txBody>
                    <a:bodyPr/>
                    <a:lstStyle/>
                    <a:p>
                      <a:pPr algn="l" fontAlgn="t"/>
                      <a:r>
                        <a:rPr lang="en-IN" sz="2200">
                          <a:effectLst/>
                          <a:latin typeface="Times New Roman" panose="02020603050405020304" pitchFamily="18" charset="0"/>
                          <a:cs typeface="Times New Roman" panose="02020603050405020304" pitchFamily="18" charset="0"/>
                        </a:rPr>
                        <a:t>Medium</a:t>
                      </a:r>
                    </a:p>
                  </a:txBody>
                  <a:tcPr marL="95250" marR="95250" marT="66675" marB="66675"/>
                </a:tc>
                <a:tc>
                  <a:txBody>
                    <a:bodyPr/>
                    <a:lstStyle/>
                    <a:p>
                      <a:pPr algn="l" fontAlgn="t"/>
                      <a:r>
                        <a:rPr lang="en-IN" sz="2200">
                          <a:effectLst/>
                          <a:latin typeface="Times New Roman" panose="02020603050405020304" pitchFamily="18" charset="0"/>
                          <a:cs typeface="Times New Roman" panose="02020603050405020304" pitchFamily="18" charset="0"/>
                        </a:rPr>
                        <a:t>Probable</a:t>
                      </a:r>
                    </a:p>
                  </a:txBody>
                  <a:tcPr marL="95250" marR="95250" marT="66675" marB="66675"/>
                </a:tc>
                <a:tc>
                  <a:txBody>
                    <a:bodyPr/>
                    <a:lstStyle/>
                    <a:p>
                      <a:pPr algn="l" fontAlgn="t"/>
                      <a:r>
                        <a:rPr lang="en-IN" sz="2200">
                          <a:effectLst/>
                          <a:latin typeface="Times New Roman" panose="02020603050405020304" pitchFamily="18" charset="0"/>
                          <a:cs typeface="Times New Roman" panose="02020603050405020304" pitchFamily="18" charset="0"/>
                        </a:rPr>
                        <a:t>Medium</a:t>
                      </a:r>
                    </a:p>
                  </a:txBody>
                  <a:tcPr marL="95250" marR="95250" marT="66675" marB="66675"/>
                </a:tc>
                <a:tc>
                  <a:txBody>
                    <a:bodyPr/>
                    <a:lstStyle/>
                    <a:p>
                      <a:pPr algn="l" fontAlgn="t"/>
                      <a:r>
                        <a:rPr lang="en-IN" sz="2200">
                          <a:effectLst/>
                          <a:latin typeface="Times New Roman" panose="02020603050405020304" pitchFamily="18" charset="0"/>
                          <a:cs typeface="Times New Roman" panose="02020603050405020304" pitchFamily="18" charset="0"/>
                        </a:rPr>
                        <a:t>P8</a:t>
                      </a:r>
                    </a:p>
                  </a:txBody>
                  <a:tcPr marL="95250" marR="95250" marT="66675" marB="66675"/>
                </a:tc>
                <a:tc>
                  <a:txBody>
                    <a:bodyPr/>
                    <a:lstStyle/>
                    <a:p>
                      <a:pPr algn="l" fontAlgn="t"/>
                      <a:r>
                        <a:rPr lang="en-IN" sz="2200" dirty="0">
                          <a:effectLst/>
                          <a:latin typeface="Times New Roman" panose="02020603050405020304" pitchFamily="18" charset="0"/>
                          <a:cs typeface="Times New Roman" panose="02020603050405020304" pitchFamily="18" charset="0"/>
                        </a:rPr>
                        <a:t>L2</a:t>
                      </a:r>
                    </a:p>
                  </a:txBody>
                  <a:tcPr marL="95250" marR="95250" marT="66675" marB="66675"/>
                </a:tc>
                <a:extLst>
                  <a:ext uri="{0D108BD9-81ED-4DB2-BD59-A6C34878D82A}">
                    <a16:rowId xmlns:a16="http://schemas.microsoft.com/office/drawing/2014/main" val="3288997681"/>
                  </a:ext>
                </a:extLst>
              </a:tr>
            </a:tbl>
          </a:graphicData>
        </a:graphic>
      </p:graphicFrame>
    </p:spTree>
    <p:extLst>
      <p:ext uri="{BB962C8B-B14F-4D97-AF65-F5344CB8AC3E}">
        <p14:creationId xmlns:p14="http://schemas.microsoft.com/office/powerpoint/2010/main" val="11373777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69278" y="671896"/>
            <a:ext cx="8546121" cy="5467320"/>
          </a:xfrm>
        </p:spPr>
        <p:txBody>
          <a:bodyPr>
            <a:noAutofit/>
          </a:bodyPr>
          <a:lstStyle/>
          <a:p>
            <a:pPr marL="971550" lvl="1" indent="-514350" algn="just">
              <a:lnSpc>
                <a:spcPct val="150000"/>
              </a:lnSpc>
              <a:buFont typeface="Wingdings" panose="05000000000000000000" pitchFamily="2" charset="2"/>
              <a:buChar char="ü"/>
            </a:pPr>
            <a:r>
              <a:rPr lang="en-US" sz="2200" dirty="0" err="1">
                <a:solidFill>
                  <a:schemeClr val="tx1"/>
                </a:solidFill>
                <a:latin typeface="Times New Roman" panose="02020603050405020304" pitchFamily="18" charset="0"/>
                <a:cs typeface="Times New Roman" panose="02020603050405020304" pitchFamily="18" charset="0"/>
              </a:rPr>
              <a:t>c.Let</a:t>
            </a:r>
            <a:r>
              <a:rPr lang="en-US" sz="2200" dirty="0">
                <a:solidFill>
                  <a:schemeClr val="tx1"/>
                </a:solidFill>
                <a:latin typeface="Times New Roman" panose="02020603050405020304" pitchFamily="18" charset="0"/>
                <a:cs typeface="Times New Roman" panose="02020603050405020304" pitchFamily="18" charset="0"/>
              </a:rPr>
              <a:t> start DIVA and click on 1. Insecure Logging and enter the value. It shows the error message “An error occurred. Please try again later”. Let do the analysis of the code,</a:t>
            </a:r>
          </a:p>
          <a:p>
            <a:pPr marL="971550" lvl="1" indent="-514350" algn="just">
              <a:lnSpc>
                <a:spcPct val="150000"/>
              </a:lnSpc>
              <a:buFont typeface="Wingdings" panose="05000000000000000000" pitchFamily="2" charset="2"/>
              <a:buChar char="ü"/>
            </a:pPr>
            <a:r>
              <a:rPr lang="en-US" sz="2200" dirty="0" err="1">
                <a:solidFill>
                  <a:schemeClr val="tx1"/>
                </a:solidFill>
                <a:latin typeface="Times New Roman" panose="02020603050405020304" pitchFamily="18" charset="0"/>
                <a:cs typeface="Times New Roman" panose="02020603050405020304" pitchFamily="18" charset="0"/>
              </a:rPr>
              <a:t>d.santoku@santaku</a:t>
            </a:r>
            <a:r>
              <a:rPr lang="en-US" sz="2200" dirty="0">
                <a:solidFill>
                  <a:schemeClr val="tx1"/>
                </a:solidFill>
                <a:latin typeface="Times New Roman" panose="02020603050405020304" pitchFamily="18" charset="0"/>
                <a:cs typeface="Times New Roman" panose="02020603050405020304" pitchFamily="18" charset="0"/>
              </a:rPr>
              <a:t>:~/ Desktop$ unzip –d diva diva-</a:t>
            </a:r>
            <a:r>
              <a:rPr lang="en-US" sz="2200" dirty="0" err="1">
                <a:solidFill>
                  <a:schemeClr val="tx1"/>
                </a:solidFill>
                <a:latin typeface="Times New Roman" panose="02020603050405020304" pitchFamily="18" charset="0"/>
                <a:cs typeface="Times New Roman" panose="02020603050405020304" pitchFamily="18" charset="0"/>
              </a:rPr>
              <a:t>beta.apk</a:t>
            </a:r>
            <a:endParaRPr lang="en-US" sz="2200" dirty="0">
              <a:solidFill>
                <a:schemeClr val="tx1"/>
              </a:solidFill>
              <a:latin typeface="Times New Roman" panose="02020603050405020304" pitchFamily="18" charset="0"/>
              <a:cs typeface="Times New Roman" panose="02020603050405020304" pitchFamily="18" charset="0"/>
            </a:endParaRPr>
          </a:p>
          <a:p>
            <a:pPr marL="971550" lvl="1" indent="-514350" algn="just">
              <a:lnSpc>
                <a:spcPct val="150000"/>
              </a:lnSpc>
              <a:buFont typeface="Wingdings" panose="05000000000000000000" pitchFamily="2" charset="2"/>
              <a:buChar char="ü"/>
            </a:pPr>
            <a:r>
              <a:rPr lang="en-US" sz="2200" dirty="0" err="1">
                <a:solidFill>
                  <a:schemeClr val="tx1"/>
                </a:solidFill>
                <a:latin typeface="Times New Roman" panose="02020603050405020304" pitchFamily="18" charset="0"/>
                <a:cs typeface="Times New Roman" panose="02020603050405020304" pitchFamily="18" charset="0"/>
              </a:rPr>
              <a:t>e.santoku@santaku</a:t>
            </a:r>
            <a:r>
              <a:rPr lang="en-US" sz="2200" dirty="0">
                <a:solidFill>
                  <a:schemeClr val="tx1"/>
                </a:solidFill>
                <a:latin typeface="Times New Roman" panose="02020603050405020304" pitchFamily="18" charset="0"/>
                <a:cs typeface="Times New Roman" panose="02020603050405020304" pitchFamily="18" charset="0"/>
              </a:rPr>
              <a:t>:~/ Desktop$ cd diva/</a:t>
            </a:r>
          </a:p>
          <a:p>
            <a:pPr marL="971550" lvl="1" indent="-514350" algn="just">
              <a:lnSpc>
                <a:spcPct val="150000"/>
              </a:lnSpc>
              <a:buFont typeface="Wingdings" panose="05000000000000000000" pitchFamily="2" charset="2"/>
              <a:buChar char="ü"/>
            </a:pPr>
            <a:r>
              <a:rPr lang="en-US" sz="2200" dirty="0" err="1">
                <a:solidFill>
                  <a:schemeClr val="tx1"/>
                </a:solidFill>
                <a:latin typeface="Times New Roman" panose="02020603050405020304" pitchFamily="18" charset="0"/>
                <a:cs typeface="Times New Roman" panose="02020603050405020304" pitchFamily="18" charset="0"/>
              </a:rPr>
              <a:t>f.santoku@santaku</a:t>
            </a:r>
            <a:r>
              <a:rPr lang="en-US" sz="2200" dirty="0">
                <a:solidFill>
                  <a:schemeClr val="tx1"/>
                </a:solidFill>
                <a:latin typeface="Times New Roman" panose="02020603050405020304" pitchFamily="18" charset="0"/>
                <a:cs typeface="Times New Roman" panose="02020603050405020304" pitchFamily="18" charset="0"/>
              </a:rPr>
              <a:t>:~/ Desktop$ d2j –</a:t>
            </a:r>
            <a:r>
              <a:rPr lang="en-US" sz="2200" dirty="0" err="1">
                <a:solidFill>
                  <a:schemeClr val="tx1"/>
                </a:solidFill>
                <a:latin typeface="Times New Roman" panose="02020603050405020304" pitchFamily="18" charset="0"/>
                <a:cs typeface="Times New Roman" panose="02020603050405020304" pitchFamily="18" charset="0"/>
              </a:rPr>
              <a:t>dex</a:t>
            </a:r>
            <a:r>
              <a:rPr lang="en-US" sz="2200" dirty="0">
                <a:solidFill>
                  <a:schemeClr val="tx1"/>
                </a:solidFill>
                <a:latin typeface="Times New Roman" panose="02020603050405020304" pitchFamily="18" charset="0"/>
                <a:cs typeface="Times New Roman" panose="02020603050405020304" pitchFamily="18" charset="0"/>
              </a:rPr>
              <a:t>-jar </a:t>
            </a:r>
            <a:r>
              <a:rPr lang="en-US" sz="2200" dirty="0" err="1">
                <a:solidFill>
                  <a:schemeClr val="tx1"/>
                </a:solidFill>
                <a:latin typeface="Times New Roman" panose="02020603050405020304" pitchFamily="18" charset="0"/>
                <a:cs typeface="Times New Roman" panose="02020603050405020304" pitchFamily="18" charset="0"/>
              </a:rPr>
              <a:t>classes.dex</a:t>
            </a:r>
            <a:endParaRPr lang="en-US" sz="2200" dirty="0">
              <a:solidFill>
                <a:schemeClr val="tx1"/>
              </a:solidFill>
              <a:latin typeface="Times New Roman" panose="02020603050405020304" pitchFamily="18" charset="0"/>
              <a:cs typeface="Times New Roman" panose="02020603050405020304" pitchFamily="18" charset="0"/>
            </a:endParaRPr>
          </a:p>
          <a:p>
            <a:pPr marL="971550" lvl="1" indent="-514350" algn="just">
              <a:lnSpc>
                <a:spcPct val="150000"/>
              </a:lnSpc>
              <a:buFont typeface="Wingdings" panose="05000000000000000000" pitchFamily="2" charset="2"/>
              <a:buChar char="ü"/>
            </a:pPr>
            <a:r>
              <a:rPr lang="en-US" sz="2200" dirty="0" err="1">
                <a:solidFill>
                  <a:schemeClr val="tx1"/>
                </a:solidFill>
                <a:latin typeface="Times New Roman" panose="02020603050405020304" pitchFamily="18" charset="0"/>
                <a:cs typeface="Times New Roman" panose="02020603050405020304" pitchFamily="18" charset="0"/>
              </a:rPr>
              <a:t>g.santoku@santaku</a:t>
            </a:r>
            <a:r>
              <a:rPr lang="en-US" sz="2200" dirty="0">
                <a:solidFill>
                  <a:schemeClr val="tx1"/>
                </a:solidFill>
                <a:latin typeface="Times New Roman" panose="02020603050405020304" pitchFamily="18" charset="0"/>
                <a:cs typeface="Times New Roman" panose="02020603050405020304" pitchFamily="18" charset="0"/>
              </a:rPr>
              <a:t>:~/ Desktop$ ls</a:t>
            </a:r>
          </a:p>
          <a:p>
            <a:pPr marL="971550" lvl="1" indent="-514350" algn="just">
              <a:lnSpc>
                <a:spcPct val="150000"/>
              </a:lnSpc>
              <a:buFont typeface="Wingdings" panose="05000000000000000000" pitchFamily="2" charset="2"/>
              <a:buChar char="ü"/>
            </a:pPr>
            <a:r>
              <a:rPr lang="en-US" sz="2200" dirty="0" err="1">
                <a:solidFill>
                  <a:schemeClr val="tx1"/>
                </a:solidFill>
                <a:latin typeface="Times New Roman" panose="02020603050405020304" pitchFamily="18" charset="0"/>
                <a:cs typeface="Times New Roman" panose="02020603050405020304" pitchFamily="18" charset="0"/>
              </a:rPr>
              <a:t>h.santoku@santaku</a:t>
            </a:r>
            <a:r>
              <a:rPr lang="en-US" sz="2200" dirty="0">
                <a:solidFill>
                  <a:schemeClr val="tx1"/>
                </a:solidFill>
                <a:latin typeface="Times New Roman" panose="02020603050405020304" pitchFamily="18" charset="0"/>
                <a:cs typeface="Times New Roman" panose="02020603050405020304" pitchFamily="18" charset="0"/>
              </a:rPr>
              <a:t>:~/ Desktop$ </a:t>
            </a:r>
            <a:r>
              <a:rPr lang="en-US" sz="2200" dirty="0" err="1">
                <a:solidFill>
                  <a:schemeClr val="tx1"/>
                </a:solidFill>
                <a:latin typeface="Times New Roman" panose="02020603050405020304" pitchFamily="18" charset="0"/>
                <a:cs typeface="Times New Roman" panose="02020603050405020304" pitchFamily="18" charset="0"/>
              </a:rPr>
              <a:t>jd-Igui</a:t>
            </a:r>
            <a:r>
              <a:rPr lang="en-US" sz="2200" dirty="0">
                <a:solidFill>
                  <a:schemeClr val="tx1"/>
                </a:solidFill>
                <a:latin typeface="Times New Roman" panose="02020603050405020304" pitchFamily="18" charset="0"/>
                <a:cs typeface="Times New Roman" panose="02020603050405020304" pitchFamily="18" charset="0"/>
              </a:rPr>
              <a:t> classes-dex2jar.jar</a:t>
            </a:r>
          </a:p>
          <a:p>
            <a:pPr marL="971550" lvl="1" indent="-514350" algn="just">
              <a:lnSpc>
                <a:spcPct val="150000"/>
              </a:lnSpc>
              <a:buFont typeface="Wingdings" panose="05000000000000000000" pitchFamily="2" charset="2"/>
              <a:buChar char="ü"/>
            </a:pPr>
            <a:r>
              <a:rPr lang="en-US" sz="2200" dirty="0" err="1">
                <a:solidFill>
                  <a:schemeClr val="tx1"/>
                </a:solidFill>
                <a:latin typeface="Times New Roman" panose="02020603050405020304" pitchFamily="18" charset="0"/>
                <a:cs typeface="Times New Roman" panose="02020603050405020304" pitchFamily="18" charset="0"/>
              </a:rPr>
              <a:t>i.check</a:t>
            </a:r>
            <a:r>
              <a:rPr lang="en-US" sz="2200" dirty="0">
                <a:solidFill>
                  <a:schemeClr val="tx1"/>
                </a:solidFill>
                <a:latin typeface="Times New Roman" panose="02020603050405020304" pitchFamily="18" charset="0"/>
                <a:cs typeface="Times New Roman" panose="02020603050405020304" pitchFamily="18" charset="0"/>
              </a:rPr>
              <a:t> the </a:t>
            </a:r>
            <a:r>
              <a:rPr lang="en-US" sz="2200" dirty="0" err="1">
                <a:solidFill>
                  <a:schemeClr val="tx1"/>
                </a:solidFill>
                <a:latin typeface="Times New Roman" panose="02020603050405020304" pitchFamily="18" charset="0"/>
                <a:cs typeface="Times New Roman" panose="02020603050405020304" pitchFamily="18" charset="0"/>
              </a:rPr>
              <a:t>LogActivity</a:t>
            </a:r>
            <a:endParaRPr lang="en-US" sz="2200" dirty="0">
              <a:solidFill>
                <a:schemeClr val="tx1"/>
              </a:solidFill>
              <a:latin typeface="Times New Roman" panose="02020603050405020304" pitchFamily="18" charset="0"/>
              <a:cs typeface="Times New Roman" panose="02020603050405020304" pitchFamily="18" charset="0"/>
            </a:endParaRPr>
          </a:p>
        </p:txBody>
      </p:sp>
      <p:sp>
        <p:nvSpPr>
          <p:cNvPr id="4" name="Right Triangle 3"/>
          <p:cNvSpPr/>
          <p:nvPr/>
        </p:nvSpPr>
        <p:spPr>
          <a:xfrm rot="5400000">
            <a:off x="-21195" y="4322"/>
            <a:ext cx="780949" cy="772569"/>
          </a:xfrm>
          <a:prstGeom prst="rtTriangl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5" name="Right Triangle 4"/>
          <p:cNvSpPr/>
          <p:nvPr/>
        </p:nvSpPr>
        <p:spPr>
          <a:xfrm rot="16200000">
            <a:off x="8367241" y="6067518"/>
            <a:ext cx="780949" cy="772569"/>
          </a:xfrm>
          <a:prstGeom prst="rtTriangl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6" name="Rounded Rectangle 5"/>
          <p:cNvSpPr/>
          <p:nvPr/>
        </p:nvSpPr>
        <p:spPr>
          <a:xfrm>
            <a:off x="783274" y="-1"/>
            <a:ext cx="7620000" cy="59574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Insecure Logging –DIVA (Practical)</a:t>
            </a:r>
          </a:p>
        </p:txBody>
      </p:sp>
      <p:sp>
        <p:nvSpPr>
          <p:cNvPr id="7" name="Right Triangle 6"/>
          <p:cNvSpPr/>
          <p:nvPr/>
        </p:nvSpPr>
        <p:spPr>
          <a:xfrm rot="10800000">
            <a:off x="8417865" y="18177"/>
            <a:ext cx="780949" cy="772569"/>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ight Triangle 7"/>
          <p:cNvSpPr/>
          <p:nvPr/>
        </p:nvSpPr>
        <p:spPr>
          <a:xfrm>
            <a:off x="-4190" y="6083920"/>
            <a:ext cx="780949" cy="772569"/>
          </a:xfrm>
          <a:prstGeom prst="r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0" name="Rounded Rectangle 9"/>
          <p:cNvSpPr/>
          <p:nvPr/>
        </p:nvSpPr>
        <p:spPr>
          <a:xfrm>
            <a:off x="730649" y="6470204"/>
            <a:ext cx="7620000" cy="3811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Dr.  </a:t>
            </a:r>
            <a:r>
              <a:rPr lang="en-US" b="1" dirty="0" err="1"/>
              <a:t>Digvijaysinh</a:t>
            </a:r>
            <a:r>
              <a:rPr lang="en-US" b="1" dirty="0"/>
              <a:t> Rathod</a:t>
            </a:r>
          </a:p>
        </p:txBody>
      </p:sp>
    </p:spTree>
    <p:extLst>
      <p:ext uri="{BB962C8B-B14F-4D97-AF65-F5344CB8AC3E}">
        <p14:creationId xmlns:p14="http://schemas.microsoft.com/office/powerpoint/2010/main" val="37579909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69278" y="671896"/>
            <a:ext cx="8546121" cy="5467320"/>
          </a:xfrm>
        </p:spPr>
        <p:txBody>
          <a:bodyPr>
            <a:noAutofit/>
          </a:bodyPr>
          <a:lstStyle/>
          <a:p>
            <a:pPr marL="971550" lvl="1" indent="-514350" algn="just">
              <a:lnSpc>
                <a:spcPct val="150000"/>
              </a:lnSpc>
              <a:buFont typeface="Wingdings" panose="05000000000000000000" pitchFamily="2" charset="2"/>
              <a:buChar char="ü"/>
            </a:pPr>
            <a:r>
              <a:rPr lang="en-US" sz="2200" dirty="0">
                <a:solidFill>
                  <a:schemeClr val="tx1"/>
                </a:solidFill>
                <a:latin typeface="Times New Roman" panose="02020603050405020304" pitchFamily="18" charset="0"/>
                <a:cs typeface="Times New Roman" panose="02020603050405020304" pitchFamily="18" charset="0"/>
              </a:rPr>
              <a:t>catch (</a:t>
            </a:r>
            <a:r>
              <a:rPr lang="en-US" sz="2200" dirty="0" err="1">
                <a:solidFill>
                  <a:schemeClr val="tx1"/>
                </a:solidFill>
                <a:latin typeface="Times New Roman" panose="02020603050405020304" pitchFamily="18" charset="0"/>
                <a:cs typeface="Times New Roman" panose="02020603050405020304" pitchFamily="18" charset="0"/>
              </a:rPr>
              <a:t>RuntimeExceptionlocalRuntimeException</a:t>
            </a:r>
            <a:r>
              <a:rPr lang="en-US" sz="2200" dirty="0">
                <a:solidFill>
                  <a:schemeClr val="tx1"/>
                </a:solidFill>
                <a:latin typeface="Times New Roman" panose="02020603050405020304" pitchFamily="18" charset="0"/>
                <a:cs typeface="Times New Roman" panose="02020603050405020304" pitchFamily="18" charset="0"/>
              </a:rPr>
              <a:t>)</a:t>
            </a:r>
          </a:p>
          <a:p>
            <a:pPr lvl="1" algn="just">
              <a:lnSpc>
                <a:spcPct val="150000"/>
              </a:lnSpc>
            </a:pP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Log.e</a:t>
            </a:r>
            <a:r>
              <a:rPr lang="en-US" sz="2200" dirty="0">
                <a:solidFill>
                  <a:schemeClr val="tx1"/>
                </a:solidFill>
                <a:latin typeface="Times New Roman" panose="02020603050405020304" pitchFamily="18" charset="0"/>
                <a:cs typeface="Times New Roman" panose="02020603050405020304" pitchFamily="18" charset="0"/>
              </a:rPr>
              <a:t>(“diva-log”, “Error while processing transaction with credit card:” + </a:t>
            </a:r>
            <a:r>
              <a:rPr lang="en-US" sz="2200" dirty="0" err="1">
                <a:solidFill>
                  <a:schemeClr val="tx1"/>
                </a:solidFill>
                <a:latin typeface="Times New Roman" panose="02020603050405020304" pitchFamily="18" charset="0"/>
                <a:cs typeface="Times New Roman" panose="02020603050405020304" pitchFamily="18" charset="0"/>
              </a:rPr>
              <a:t>localEditText.getText</a:t>
            </a:r>
            <a:r>
              <a:rPr lang="en-US" sz="2200" dirty="0">
                <a:solidFill>
                  <a:schemeClr val="tx1"/>
                </a:solidFill>
                <a:latin typeface="Times New Roman" panose="02020603050405020304" pitchFamily="18" charset="0"/>
                <a:cs typeface="Times New Roman" panose="02020603050405020304" pitchFamily="18" charset="0"/>
              </a:rPr>
              <a:t>().</a:t>
            </a:r>
            <a:r>
              <a:rPr lang="en-US" sz="2200" dirty="0" err="1">
                <a:solidFill>
                  <a:schemeClr val="tx1"/>
                </a:solidFill>
                <a:latin typeface="Times New Roman" panose="02020603050405020304" pitchFamily="18" charset="0"/>
                <a:cs typeface="Times New Roman" panose="02020603050405020304" pitchFamily="18" charset="0"/>
              </a:rPr>
              <a:t>tostring</a:t>
            </a:r>
            <a:r>
              <a:rPr lang="en-US" sz="2200" dirty="0">
                <a:solidFill>
                  <a:schemeClr val="tx1"/>
                </a:solidFill>
                <a:latin typeface="Times New Roman" panose="02020603050405020304" pitchFamily="18" charset="0"/>
                <a:cs typeface="Times New Roman" panose="02020603050405020304" pitchFamily="18" charset="0"/>
              </a:rPr>
              <a:t>());</a:t>
            </a:r>
          </a:p>
          <a:p>
            <a:pPr lvl="1" algn="just">
              <a:lnSpc>
                <a:spcPct val="150000"/>
              </a:lnSpc>
            </a:pPr>
            <a:r>
              <a:rPr lang="en-US" sz="2200" dirty="0" err="1">
                <a:solidFill>
                  <a:schemeClr val="tx1"/>
                </a:solidFill>
                <a:latin typeface="Times New Roman" panose="02020603050405020304" pitchFamily="18" charset="0"/>
                <a:cs typeface="Times New Roman" panose="02020603050405020304" pitchFamily="18" charset="0"/>
              </a:rPr>
              <a:t>Toast.makeText</a:t>
            </a:r>
            <a:r>
              <a:rPr lang="en-US" sz="2200" dirty="0">
                <a:solidFill>
                  <a:schemeClr val="tx1"/>
                </a:solidFill>
                <a:latin typeface="Times New Roman" panose="02020603050405020304" pitchFamily="18" charset="0"/>
                <a:cs typeface="Times New Roman" panose="02020603050405020304" pitchFamily="18" charset="0"/>
              </a:rPr>
              <a:t>(this, “An error occurred. Please try again leter”,0).show();</a:t>
            </a:r>
          </a:p>
          <a:p>
            <a:pPr lvl="1" algn="just">
              <a:lnSpc>
                <a:spcPct val="150000"/>
              </a:lnSpc>
            </a:pPr>
            <a:r>
              <a:rPr lang="en-US" sz="2200" dirty="0">
                <a:solidFill>
                  <a:schemeClr val="tx1"/>
                </a:solidFill>
                <a:latin typeface="Times New Roman" panose="02020603050405020304" pitchFamily="18" charset="0"/>
                <a:cs typeface="Times New Roman" panose="02020603050405020304" pitchFamily="18" charset="0"/>
              </a:rPr>
              <a:t>}</a:t>
            </a:r>
          </a:p>
          <a:p>
            <a:pPr marL="800100" lvl="1" indent="-342900" algn="just">
              <a:lnSpc>
                <a:spcPct val="150000"/>
              </a:lnSpc>
              <a:buFont typeface="Wingdings" panose="05000000000000000000" pitchFamily="2" charset="2"/>
              <a:buChar char="ü"/>
            </a:pPr>
            <a:r>
              <a:rPr lang="en-US" sz="2200" dirty="0" err="1">
                <a:solidFill>
                  <a:schemeClr val="tx1"/>
                </a:solidFill>
                <a:latin typeface="Times New Roman" panose="02020603050405020304" pitchFamily="18" charset="0"/>
                <a:cs typeface="Times New Roman" panose="02020603050405020304" pitchFamily="18" charset="0"/>
              </a:rPr>
              <a:t>j.Now</a:t>
            </a:r>
            <a:r>
              <a:rPr lang="en-US" sz="2200" dirty="0">
                <a:solidFill>
                  <a:schemeClr val="tx1"/>
                </a:solidFill>
                <a:latin typeface="Times New Roman" panose="02020603050405020304" pitchFamily="18" charset="0"/>
                <a:cs typeface="Times New Roman" panose="02020603050405020304" pitchFamily="18" charset="0"/>
              </a:rPr>
              <a:t> find the process id for same and using same process id we can search for entry from the log.</a:t>
            </a:r>
          </a:p>
          <a:p>
            <a:pPr marL="800100" lvl="1" indent="-342900" algn="just">
              <a:lnSpc>
                <a:spcPct val="150000"/>
              </a:lnSpc>
              <a:buFont typeface="Wingdings" panose="05000000000000000000" pitchFamily="2" charset="2"/>
              <a:buChar char="ü"/>
            </a:pPr>
            <a:r>
              <a:rPr lang="en-US" sz="2200" dirty="0" err="1">
                <a:solidFill>
                  <a:schemeClr val="tx1"/>
                </a:solidFill>
                <a:latin typeface="Times New Roman" panose="02020603050405020304" pitchFamily="18" charset="0"/>
                <a:cs typeface="Times New Roman" panose="02020603050405020304" pitchFamily="18" charset="0"/>
              </a:rPr>
              <a:t>k.santoku@santaku</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adb</a:t>
            </a:r>
            <a:r>
              <a:rPr lang="en-US" sz="2200" dirty="0">
                <a:solidFill>
                  <a:schemeClr val="tx1"/>
                </a:solidFill>
                <a:latin typeface="Times New Roman" panose="02020603050405020304" pitchFamily="18" charset="0"/>
                <a:cs typeface="Times New Roman" panose="02020603050405020304" pitchFamily="18" charset="0"/>
              </a:rPr>
              <a:t> shell </a:t>
            </a:r>
            <a:r>
              <a:rPr lang="en-US" sz="2200" dirty="0" err="1">
                <a:solidFill>
                  <a:schemeClr val="tx1"/>
                </a:solidFill>
                <a:latin typeface="Times New Roman" panose="02020603050405020304" pitchFamily="18" charset="0"/>
                <a:cs typeface="Times New Roman" panose="02020603050405020304" pitchFamily="18" charset="0"/>
              </a:rPr>
              <a:t>ps</a:t>
            </a:r>
            <a:r>
              <a:rPr lang="en-US" sz="2200" dirty="0">
                <a:solidFill>
                  <a:schemeClr val="tx1"/>
                </a:solidFill>
                <a:latin typeface="Times New Roman" panose="02020603050405020304" pitchFamily="18" charset="0"/>
                <a:cs typeface="Times New Roman" panose="02020603050405020304" pitchFamily="18" charset="0"/>
              </a:rPr>
              <a:t> | grep “diva”</a:t>
            </a:r>
          </a:p>
          <a:p>
            <a:pPr marL="800100" lvl="1" indent="-342900" algn="just">
              <a:lnSpc>
                <a:spcPct val="150000"/>
              </a:lnSpc>
              <a:buFont typeface="Wingdings" panose="05000000000000000000" pitchFamily="2" charset="2"/>
              <a:buChar char="ü"/>
            </a:pPr>
            <a:r>
              <a:rPr lang="en-US" sz="2200" dirty="0" err="1">
                <a:solidFill>
                  <a:schemeClr val="tx1"/>
                </a:solidFill>
                <a:latin typeface="Times New Roman" panose="02020603050405020304" pitchFamily="18" charset="0"/>
                <a:cs typeface="Times New Roman" panose="02020603050405020304" pitchFamily="18" charset="0"/>
              </a:rPr>
              <a:t>l.check</a:t>
            </a:r>
            <a:r>
              <a:rPr lang="en-US" sz="2200" dirty="0">
                <a:solidFill>
                  <a:schemeClr val="tx1"/>
                </a:solidFill>
                <a:latin typeface="Times New Roman" panose="02020603050405020304" pitchFamily="18" charset="0"/>
                <a:cs typeface="Times New Roman" panose="02020603050405020304" pitchFamily="18" charset="0"/>
              </a:rPr>
              <a:t> the second column which shows the process id.</a:t>
            </a:r>
          </a:p>
        </p:txBody>
      </p:sp>
      <p:sp>
        <p:nvSpPr>
          <p:cNvPr id="4" name="Right Triangle 3"/>
          <p:cNvSpPr/>
          <p:nvPr/>
        </p:nvSpPr>
        <p:spPr>
          <a:xfrm rot="5400000">
            <a:off x="-21195" y="4322"/>
            <a:ext cx="780949" cy="772569"/>
          </a:xfrm>
          <a:prstGeom prst="rtTriangl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5" name="Right Triangle 4"/>
          <p:cNvSpPr/>
          <p:nvPr/>
        </p:nvSpPr>
        <p:spPr>
          <a:xfrm rot="16200000">
            <a:off x="8367241" y="6067518"/>
            <a:ext cx="780949" cy="772569"/>
          </a:xfrm>
          <a:prstGeom prst="rtTriangl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6" name="Rounded Rectangle 5"/>
          <p:cNvSpPr/>
          <p:nvPr/>
        </p:nvSpPr>
        <p:spPr>
          <a:xfrm>
            <a:off x="783274" y="-1"/>
            <a:ext cx="7620000" cy="59574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Insecure Logging –DIVA</a:t>
            </a:r>
          </a:p>
        </p:txBody>
      </p:sp>
      <p:sp>
        <p:nvSpPr>
          <p:cNvPr id="7" name="Right Triangle 6"/>
          <p:cNvSpPr/>
          <p:nvPr/>
        </p:nvSpPr>
        <p:spPr>
          <a:xfrm rot="10800000">
            <a:off x="8417865" y="18177"/>
            <a:ext cx="780949" cy="772569"/>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ight Triangle 7"/>
          <p:cNvSpPr/>
          <p:nvPr/>
        </p:nvSpPr>
        <p:spPr>
          <a:xfrm>
            <a:off x="-4190" y="6083920"/>
            <a:ext cx="780949" cy="772569"/>
          </a:xfrm>
          <a:prstGeom prst="r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0" name="Rounded Rectangle 9"/>
          <p:cNvSpPr/>
          <p:nvPr/>
        </p:nvSpPr>
        <p:spPr>
          <a:xfrm>
            <a:off x="730649" y="6470204"/>
            <a:ext cx="7620000" cy="3811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Dr.  </a:t>
            </a:r>
            <a:r>
              <a:rPr lang="en-US" b="1" dirty="0" err="1"/>
              <a:t>Digvijaysinh</a:t>
            </a:r>
            <a:r>
              <a:rPr lang="en-US" b="1" dirty="0"/>
              <a:t> Rathod</a:t>
            </a:r>
          </a:p>
        </p:txBody>
      </p:sp>
    </p:spTree>
    <p:extLst>
      <p:ext uri="{BB962C8B-B14F-4D97-AF65-F5344CB8AC3E}">
        <p14:creationId xmlns:p14="http://schemas.microsoft.com/office/powerpoint/2010/main" val="25820463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69278" y="671896"/>
            <a:ext cx="8546121" cy="5467320"/>
          </a:xfrm>
        </p:spPr>
        <p:txBody>
          <a:bodyPr>
            <a:noAutofit/>
          </a:bodyPr>
          <a:lstStyle/>
          <a:p>
            <a:pPr marL="971550" lvl="1" indent="-514350" algn="just">
              <a:lnSpc>
                <a:spcPct val="150000"/>
              </a:lnSpc>
              <a:buFont typeface="Wingdings" panose="05000000000000000000" pitchFamily="2" charset="2"/>
              <a:buChar char="ü"/>
            </a:pPr>
            <a:r>
              <a:rPr lang="en-US" sz="2200" dirty="0" err="1">
                <a:solidFill>
                  <a:schemeClr val="tx1"/>
                </a:solidFill>
                <a:latin typeface="Times New Roman" panose="02020603050405020304" pitchFamily="18" charset="0"/>
                <a:cs typeface="Times New Roman" panose="02020603050405020304" pitchFamily="18" charset="0"/>
              </a:rPr>
              <a:t>m.santoku@santaku</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adb</a:t>
            </a:r>
            <a:r>
              <a:rPr lang="en-US" sz="2200" dirty="0">
                <a:solidFill>
                  <a:schemeClr val="tx1"/>
                </a:solidFill>
                <a:latin typeface="Times New Roman" panose="02020603050405020304" pitchFamily="18" charset="0"/>
                <a:cs typeface="Times New Roman" panose="02020603050405020304" pitchFamily="18" charset="0"/>
              </a:rPr>
              <a:t> shell logcat | grep “1065”</a:t>
            </a:r>
          </a:p>
          <a:p>
            <a:pPr marL="971550" lvl="1" indent="-514350" algn="just">
              <a:lnSpc>
                <a:spcPct val="150000"/>
              </a:lnSpc>
              <a:buFont typeface="Wingdings" panose="05000000000000000000" pitchFamily="2" charset="2"/>
              <a:buChar char="ü"/>
            </a:pPr>
            <a:r>
              <a:rPr lang="en-US" sz="2200" dirty="0" err="1">
                <a:solidFill>
                  <a:schemeClr val="tx1"/>
                </a:solidFill>
                <a:latin typeface="Times New Roman" panose="02020603050405020304" pitchFamily="18" charset="0"/>
                <a:cs typeface="Times New Roman" panose="02020603050405020304" pitchFamily="18" charset="0"/>
              </a:rPr>
              <a:t>n.now</a:t>
            </a:r>
            <a:r>
              <a:rPr lang="en-US" sz="2200" dirty="0">
                <a:solidFill>
                  <a:schemeClr val="tx1"/>
                </a:solidFill>
                <a:latin typeface="Times New Roman" panose="02020603050405020304" pitchFamily="18" charset="0"/>
                <a:cs typeface="Times New Roman" panose="02020603050405020304" pitchFamily="18" charset="0"/>
              </a:rPr>
              <a:t> move in the </a:t>
            </a:r>
            <a:r>
              <a:rPr lang="en-US" sz="2200" dirty="0" err="1">
                <a:solidFill>
                  <a:schemeClr val="tx1"/>
                </a:solidFill>
                <a:latin typeface="Times New Roman" panose="02020603050405020304" pitchFamily="18" charset="0"/>
                <a:cs typeface="Times New Roman" panose="02020603050405020304" pitchFamily="18" charset="0"/>
              </a:rPr>
              <a:t>theGenymotion</a:t>
            </a:r>
            <a:r>
              <a:rPr lang="en-US" sz="2200" dirty="0">
                <a:solidFill>
                  <a:schemeClr val="tx1"/>
                </a:solidFill>
                <a:latin typeface="Times New Roman" panose="02020603050405020304" pitchFamily="18" charset="0"/>
                <a:cs typeface="Times New Roman" panose="02020603050405020304" pitchFamily="18" charset="0"/>
              </a:rPr>
              <a:t> and enter the credit card number and click on check out</a:t>
            </a:r>
          </a:p>
          <a:p>
            <a:pPr marL="971550" lvl="1" indent="-514350" algn="just">
              <a:lnSpc>
                <a:spcPct val="150000"/>
              </a:lnSpc>
              <a:buFont typeface="Wingdings" panose="05000000000000000000" pitchFamily="2" charset="2"/>
              <a:buChar char="ü"/>
            </a:pPr>
            <a:r>
              <a:rPr lang="en-US" sz="2200" dirty="0" err="1">
                <a:solidFill>
                  <a:schemeClr val="tx1"/>
                </a:solidFill>
                <a:latin typeface="Times New Roman" panose="02020603050405020304" pitchFamily="18" charset="0"/>
                <a:cs typeface="Times New Roman" panose="02020603050405020304" pitchFamily="18" charset="0"/>
              </a:rPr>
              <a:t>o.move</a:t>
            </a:r>
            <a:r>
              <a:rPr lang="en-US" sz="2200" dirty="0">
                <a:solidFill>
                  <a:schemeClr val="tx1"/>
                </a:solidFill>
                <a:latin typeface="Times New Roman" panose="02020603050405020304" pitchFamily="18" charset="0"/>
                <a:cs typeface="Times New Roman" panose="02020603050405020304" pitchFamily="18" charset="0"/>
              </a:rPr>
              <a:t> into the logcat window and check the last entry in the logcat it show the credit card number also. Instead of credit card it may be username password or authentication token.</a:t>
            </a:r>
          </a:p>
          <a:p>
            <a:pPr marL="971550" lvl="1" indent="-514350" algn="just">
              <a:lnSpc>
                <a:spcPct val="150000"/>
              </a:lnSpc>
              <a:buFont typeface="Wingdings" panose="05000000000000000000" pitchFamily="2" charset="2"/>
              <a:buChar char="ü"/>
            </a:pPr>
            <a:r>
              <a:rPr lang="en-US" sz="2200" dirty="0" err="1">
                <a:solidFill>
                  <a:schemeClr val="tx1"/>
                </a:solidFill>
                <a:latin typeface="Times New Roman" panose="02020603050405020304" pitchFamily="18" charset="0"/>
                <a:cs typeface="Times New Roman" panose="02020603050405020304" pitchFamily="18" charset="0"/>
              </a:rPr>
              <a:t>p.One</a:t>
            </a:r>
            <a:r>
              <a:rPr lang="en-US" sz="2200" dirty="0">
                <a:solidFill>
                  <a:schemeClr val="tx1"/>
                </a:solidFill>
                <a:latin typeface="Times New Roman" panose="02020603050405020304" pitchFamily="18" charset="0"/>
                <a:cs typeface="Times New Roman" panose="02020603050405020304" pitchFamily="18" charset="0"/>
              </a:rPr>
              <a:t> more way to represent the logcat entry is using </a:t>
            </a:r>
            <a:r>
              <a:rPr lang="en-US" sz="2200" dirty="0" err="1">
                <a:solidFill>
                  <a:schemeClr val="tx1"/>
                </a:solidFill>
                <a:latin typeface="Times New Roman" panose="02020603050405020304" pitchFamily="18" charset="0"/>
                <a:cs typeface="Times New Roman" panose="02020603050405020304" pitchFamily="18" charset="0"/>
              </a:rPr>
              <a:t>pidcat</a:t>
            </a:r>
            <a:endParaRPr lang="en-US" sz="2200" dirty="0">
              <a:solidFill>
                <a:schemeClr val="tx1"/>
              </a:solidFill>
              <a:latin typeface="Times New Roman" panose="02020603050405020304" pitchFamily="18" charset="0"/>
              <a:cs typeface="Times New Roman" panose="02020603050405020304" pitchFamily="18" charset="0"/>
            </a:endParaRPr>
          </a:p>
          <a:p>
            <a:pPr marL="971550" lvl="1" indent="-514350" algn="just">
              <a:lnSpc>
                <a:spcPct val="150000"/>
              </a:lnSpc>
              <a:buFont typeface="Wingdings" panose="05000000000000000000" pitchFamily="2" charset="2"/>
              <a:buChar char="ü"/>
            </a:pPr>
            <a:r>
              <a:rPr lang="en-US" sz="2200" dirty="0" err="1">
                <a:solidFill>
                  <a:schemeClr val="tx1"/>
                </a:solidFill>
                <a:latin typeface="Times New Roman" panose="02020603050405020304" pitchFamily="18" charset="0"/>
                <a:cs typeface="Times New Roman" panose="02020603050405020304" pitchFamily="18" charset="0"/>
              </a:rPr>
              <a:t>q.santoku@santoku</a:t>
            </a:r>
            <a:r>
              <a:rPr lang="en-US" sz="2200" dirty="0">
                <a:solidFill>
                  <a:schemeClr val="tx1"/>
                </a:solidFill>
                <a:latin typeface="Times New Roman" panose="02020603050405020304" pitchFamily="18" charset="0"/>
                <a:cs typeface="Times New Roman" panose="02020603050405020304" pitchFamily="18" charset="0"/>
              </a:rPr>
              <a:t>: cd </a:t>
            </a:r>
            <a:r>
              <a:rPr lang="en-US" sz="2200" dirty="0" err="1">
                <a:solidFill>
                  <a:schemeClr val="tx1"/>
                </a:solidFill>
                <a:latin typeface="Times New Roman" panose="02020603050405020304" pitchFamily="18" charset="0"/>
                <a:cs typeface="Times New Roman" panose="02020603050405020304" pitchFamily="18" charset="0"/>
              </a:rPr>
              <a:t>pidcat</a:t>
            </a:r>
            <a:r>
              <a:rPr lang="en-US" sz="2200" dirty="0">
                <a:solidFill>
                  <a:schemeClr val="tx1"/>
                </a:solidFill>
                <a:latin typeface="Times New Roman" panose="02020603050405020304" pitchFamily="18" charset="0"/>
                <a:cs typeface="Times New Roman" panose="02020603050405020304" pitchFamily="18" charset="0"/>
              </a:rPr>
              <a:t>/</a:t>
            </a:r>
          </a:p>
          <a:p>
            <a:pPr marL="971550" lvl="1" indent="-514350" algn="just">
              <a:lnSpc>
                <a:spcPct val="150000"/>
              </a:lnSpc>
              <a:buFont typeface="Wingdings" panose="05000000000000000000" pitchFamily="2" charset="2"/>
              <a:buChar char="ü"/>
            </a:pPr>
            <a:r>
              <a:rPr lang="en-US" sz="2200" dirty="0" err="1">
                <a:solidFill>
                  <a:schemeClr val="tx1"/>
                </a:solidFill>
                <a:latin typeface="Times New Roman" panose="02020603050405020304" pitchFamily="18" charset="0"/>
                <a:cs typeface="Times New Roman" panose="02020603050405020304" pitchFamily="18" charset="0"/>
              </a:rPr>
              <a:t>r.santoku@santoku</a:t>
            </a:r>
            <a:r>
              <a:rPr lang="en-US" sz="2200" dirty="0">
                <a:solidFill>
                  <a:schemeClr val="tx1"/>
                </a:solidFill>
                <a:latin typeface="Times New Roman" panose="02020603050405020304" pitchFamily="18" charset="0"/>
                <a:cs typeface="Times New Roman" panose="02020603050405020304" pitchFamily="18" charset="0"/>
              </a:rPr>
              <a:t>/</a:t>
            </a:r>
            <a:r>
              <a:rPr lang="en-US" sz="2200" dirty="0" err="1">
                <a:solidFill>
                  <a:schemeClr val="tx1"/>
                </a:solidFill>
                <a:latin typeface="Times New Roman" panose="02020603050405020304" pitchFamily="18" charset="0"/>
                <a:cs typeface="Times New Roman" panose="02020603050405020304" pitchFamily="18" charset="0"/>
              </a:rPr>
              <a:t>pidcat</a:t>
            </a:r>
            <a:r>
              <a:rPr lang="en-US" sz="2200" dirty="0">
                <a:solidFill>
                  <a:schemeClr val="tx1"/>
                </a:solidFill>
                <a:latin typeface="Times New Roman" panose="02020603050405020304" pitchFamily="18" charset="0"/>
                <a:cs typeface="Times New Roman" panose="02020603050405020304" pitchFamily="18" charset="0"/>
              </a:rPr>
              <a:t>:$ python pidcat.py</a:t>
            </a:r>
          </a:p>
        </p:txBody>
      </p:sp>
      <p:sp>
        <p:nvSpPr>
          <p:cNvPr id="4" name="Right Triangle 3"/>
          <p:cNvSpPr/>
          <p:nvPr/>
        </p:nvSpPr>
        <p:spPr>
          <a:xfrm rot="5400000">
            <a:off x="-21195" y="4322"/>
            <a:ext cx="780949" cy="772569"/>
          </a:xfrm>
          <a:prstGeom prst="rtTriangl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5" name="Right Triangle 4"/>
          <p:cNvSpPr/>
          <p:nvPr/>
        </p:nvSpPr>
        <p:spPr>
          <a:xfrm rot="16200000">
            <a:off x="8367241" y="6067518"/>
            <a:ext cx="780949" cy="772569"/>
          </a:xfrm>
          <a:prstGeom prst="rtTriangl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6" name="Rounded Rectangle 5"/>
          <p:cNvSpPr/>
          <p:nvPr/>
        </p:nvSpPr>
        <p:spPr>
          <a:xfrm>
            <a:off x="783274" y="-1"/>
            <a:ext cx="7620000" cy="59574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Insecure Logging –DIVA</a:t>
            </a:r>
          </a:p>
        </p:txBody>
      </p:sp>
      <p:sp>
        <p:nvSpPr>
          <p:cNvPr id="7" name="Right Triangle 6"/>
          <p:cNvSpPr/>
          <p:nvPr/>
        </p:nvSpPr>
        <p:spPr>
          <a:xfrm rot="10800000">
            <a:off x="8417865" y="18177"/>
            <a:ext cx="780949" cy="772569"/>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ight Triangle 7"/>
          <p:cNvSpPr/>
          <p:nvPr/>
        </p:nvSpPr>
        <p:spPr>
          <a:xfrm>
            <a:off x="-4190" y="6083920"/>
            <a:ext cx="780949" cy="772569"/>
          </a:xfrm>
          <a:prstGeom prst="r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0" name="Rounded Rectangle 9"/>
          <p:cNvSpPr/>
          <p:nvPr/>
        </p:nvSpPr>
        <p:spPr>
          <a:xfrm>
            <a:off x="730649" y="6470204"/>
            <a:ext cx="7620000" cy="3811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Dr.  </a:t>
            </a:r>
            <a:r>
              <a:rPr lang="en-US" b="1" dirty="0" err="1"/>
              <a:t>Digvijaysinh</a:t>
            </a:r>
            <a:r>
              <a:rPr lang="en-US" b="1" dirty="0"/>
              <a:t> Rathod</a:t>
            </a:r>
          </a:p>
        </p:txBody>
      </p:sp>
    </p:spTree>
    <p:extLst>
      <p:ext uri="{BB962C8B-B14F-4D97-AF65-F5344CB8AC3E}">
        <p14:creationId xmlns:p14="http://schemas.microsoft.com/office/powerpoint/2010/main" val="18644051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69278" y="781080"/>
            <a:ext cx="8546121" cy="5791192"/>
          </a:xfrm>
        </p:spPr>
        <p:txBody>
          <a:bodyPr>
            <a:normAutofit fontScale="85000" lnSpcReduction="20000"/>
          </a:bodyPr>
          <a:lstStyle/>
          <a:p>
            <a:endParaRPr lang="en-IN" sz="4800" b="1" dirty="0">
              <a:solidFill>
                <a:schemeClr val="tx1"/>
              </a:solidFill>
            </a:endParaRPr>
          </a:p>
          <a:p>
            <a:r>
              <a:rPr lang="en-IN" sz="4800" b="1" dirty="0">
                <a:solidFill>
                  <a:schemeClr val="tx1"/>
                </a:solidFill>
              </a:rPr>
              <a:t>Mobile Phone Security </a:t>
            </a:r>
          </a:p>
          <a:p>
            <a:endParaRPr lang="en-IN" sz="2000" dirty="0">
              <a:solidFill>
                <a:schemeClr val="tx1"/>
              </a:solidFill>
            </a:endParaRPr>
          </a:p>
          <a:p>
            <a:endParaRPr lang="en-IN" sz="2000" dirty="0">
              <a:solidFill>
                <a:schemeClr val="tx1"/>
              </a:solidFill>
            </a:endParaRPr>
          </a:p>
          <a:p>
            <a:endParaRPr lang="en-IN" sz="2000" dirty="0">
              <a:solidFill>
                <a:schemeClr val="tx1"/>
              </a:solidFill>
            </a:endParaRPr>
          </a:p>
          <a:p>
            <a:endParaRPr lang="en-IN" sz="2000" dirty="0">
              <a:solidFill>
                <a:schemeClr val="tx1"/>
              </a:solidFill>
            </a:endParaRPr>
          </a:p>
          <a:p>
            <a:endParaRPr lang="en-IN" sz="2000" dirty="0">
              <a:solidFill>
                <a:schemeClr val="tx1"/>
              </a:solidFill>
            </a:endParaRPr>
          </a:p>
          <a:p>
            <a:endParaRPr lang="en-US" sz="2000" dirty="0">
              <a:solidFill>
                <a:schemeClr val="tx1"/>
              </a:solidFill>
            </a:endParaRPr>
          </a:p>
          <a:p>
            <a:endParaRPr lang="en-US" sz="2000" dirty="0">
              <a:solidFill>
                <a:schemeClr val="tx1"/>
              </a:solidFill>
            </a:endParaRPr>
          </a:p>
          <a:p>
            <a:endParaRPr lang="en-US" sz="2000" dirty="0">
              <a:solidFill>
                <a:schemeClr val="tx1"/>
              </a:solidFill>
            </a:endParaRPr>
          </a:p>
          <a:p>
            <a:endParaRPr lang="en-IN" sz="2000" b="1" dirty="0">
              <a:solidFill>
                <a:schemeClr val="tx1"/>
              </a:solidFill>
            </a:endParaRPr>
          </a:p>
          <a:p>
            <a:endParaRPr lang="en-IN" sz="2000" b="1" dirty="0">
              <a:solidFill>
                <a:schemeClr val="tx1"/>
              </a:solidFill>
            </a:endParaRPr>
          </a:p>
          <a:p>
            <a:endParaRPr lang="en-IN" sz="2000" b="1" dirty="0">
              <a:solidFill>
                <a:schemeClr val="tx1"/>
              </a:solidFill>
            </a:endParaRPr>
          </a:p>
          <a:p>
            <a:endParaRPr lang="en-US" sz="2000" b="1" dirty="0">
              <a:solidFill>
                <a:schemeClr val="tx1"/>
              </a:solidFill>
            </a:endParaRPr>
          </a:p>
          <a:p>
            <a:r>
              <a:rPr lang="en-US" sz="2000" b="1" dirty="0">
                <a:solidFill>
                  <a:schemeClr val="tx1"/>
                </a:solidFill>
              </a:rPr>
              <a:t>Dr. </a:t>
            </a:r>
            <a:r>
              <a:rPr lang="en-US" sz="2000" b="1" dirty="0" err="1">
                <a:solidFill>
                  <a:schemeClr val="tx1"/>
                </a:solidFill>
              </a:rPr>
              <a:t>Digvijaysinh</a:t>
            </a:r>
            <a:r>
              <a:rPr lang="en-US" sz="2000" b="1" dirty="0">
                <a:solidFill>
                  <a:schemeClr val="tx1"/>
                </a:solidFill>
              </a:rPr>
              <a:t> Rathod</a:t>
            </a:r>
          </a:p>
          <a:p>
            <a:r>
              <a:rPr lang="en-US" sz="2000" b="1" dirty="0">
                <a:solidFill>
                  <a:schemeClr val="tx1"/>
                </a:solidFill>
              </a:rPr>
              <a:t>Associate Professor </a:t>
            </a:r>
            <a:r>
              <a:rPr lang="en-IN" altLang="en-US" sz="2000" b="1" dirty="0">
                <a:solidFill>
                  <a:schemeClr val="tx1"/>
                </a:solidFill>
              </a:rPr>
              <a:t>&amp; Associate Dean</a:t>
            </a:r>
            <a:r>
              <a:rPr lang="en-US" sz="2000" b="1" dirty="0">
                <a:solidFill>
                  <a:schemeClr val="tx1"/>
                </a:solidFill>
              </a:rPr>
              <a:t> </a:t>
            </a:r>
          </a:p>
          <a:p>
            <a:r>
              <a:rPr lang="en-IN" altLang="en-US" sz="2000" b="1" dirty="0">
                <a:solidFill>
                  <a:schemeClr val="tx1"/>
                </a:solidFill>
              </a:rPr>
              <a:t>School of Cyber Security and Digital Forensics</a:t>
            </a:r>
            <a:endParaRPr lang="en-US" sz="2000" b="1" dirty="0">
              <a:solidFill>
                <a:schemeClr val="tx1"/>
              </a:solidFill>
            </a:endParaRPr>
          </a:p>
          <a:p>
            <a:r>
              <a:rPr lang="en-US" sz="2000" b="1" dirty="0">
                <a:solidFill>
                  <a:schemeClr val="tx1"/>
                </a:solidFill>
              </a:rPr>
              <a:t>National Forensic Sciences University with status of Institution of National Importance </a:t>
            </a:r>
          </a:p>
        </p:txBody>
      </p:sp>
      <p:sp>
        <p:nvSpPr>
          <p:cNvPr id="4" name="Right Triangle 3"/>
          <p:cNvSpPr/>
          <p:nvPr/>
        </p:nvSpPr>
        <p:spPr>
          <a:xfrm rot="5400000">
            <a:off x="-21195" y="4322"/>
            <a:ext cx="780949" cy="772569"/>
          </a:xfrm>
          <a:prstGeom prst="rtTriangl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5" name="Right Triangle 4"/>
          <p:cNvSpPr/>
          <p:nvPr/>
        </p:nvSpPr>
        <p:spPr>
          <a:xfrm rot="16200000">
            <a:off x="8367241" y="6067518"/>
            <a:ext cx="780949" cy="772569"/>
          </a:xfrm>
          <a:prstGeom prst="rtTriangl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6" name="Rounded Rectangle 5"/>
          <p:cNvSpPr/>
          <p:nvPr/>
        </p:nvSpPr>
        <p:spPr>
          <a:xfrm>
            <a:off x="783274" y="-1"/>
            <a:ext cx="7620000" cy="59574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sz="2400" b="1" dirty="0">
              <a:latin typeface="Calibri" panose="020F0502020204030204" pitchFamily="34" charset="0"/>
            </a:endParaRPr>
          </a:p>
        </p:txBody>
      </p:sp>
      <p:sp>
        <p:nvSpPr>
          <p:cNvPr id="7" name="Right Triangle 6"/>
          <p:cNvSpPr/>
          <p:nvPr/>
        </p:nvSpPr>
        <p:spPr>
          <a:xfrm rot="10800000">
            <a:off x="8417865" y="18177"/>
            <a:ext cx="780949" cy="772569"/>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ight Triangle 7"/>
          <p:cNvSpPr/>
          <p:nvPr/>
        </p:nvSpPr>
        <p:spPr>
          <a:xfrm>
            <a:off x="-4190" y="6083920"/>
            <a:ext cx="780949" cy="772569"/>
          </a:xfrm>
          <a:prstGeom prst="r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0" name="Rounded Rectangle 9"/>
          <p:cNvSpPr/>
          <p:nvPr/>
        </p:nvSpPr>
        <p:spPr>
          <a:xfrm>
            <a:off x="730649" y="6470204"/>
            <a:ext cx="7620000" cy="3811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digvijay.rathod@gfsu.edu.in</a:t>
            </a:r>
          </a:p>
        </p:txBody>
      </p:sp>
      <p:pic>
        <p:nvPicPr>
          <p:cNvPr id="1027" name="Picture 3"/>
          <p:cNvPicPr>
            <a:picLocks noChangeAspect="1" noChangeArrowheads="1"/>
          </p:cNvPicPr>
          <p:nvPr/>
        </p:nvPicPr>
        <p:blipFill>
          <a:blip r:embed="rId2" cstate="print"/>
          <a:srcRect/>
          <a:stretch>
            <a:fillRect/>
          </a:stretch>
        </p:blipFill>
        <p:spPr bwMode="auto">
          <a:xfrm>
            <a:off x="2428860" y="1928802"/>
            <a:ext cx="4909738" cy="3000396"/>
          </a:xfrm>
          <a:prstGeom prst="rect">
            <a:avLst/>
          </a:prstGeom>
          <a:noFill/>
          <a:ln w="9525">
            <a:noFill/>
            <a:miter lim="800000"/>
            <a:headEnd/>
            <a:tailEnd/>
          </a:ln>
          <a:effectLst/>
        </p:spPr>
      </p:pic>
      <p:pic>
        <p:nvPicPr>
          <p:cNvPr id="2" name="Picture 1">
            <a:extLst>
              <a:ext uri="{FF2B5EF4-FFF2-40B4-BE49-F238E27FC236}">
                <a16:creationId xmlns:a16="http://schemas.microsoft.com/office/drawing/2014/main" id="{A5AAE2C0-19BC-4DB3-87F8-786B52506785}"/>
              </a:ext>
            </a:extLst>
          </p:cNvPr>
          <p:cNvPicPr>
            <a:picLocks noChangeAspect="1"/>
          </p:cNvPicPr>
          <p:nvPr/>
        </p:nvPicPr>
        <p:blipFill>
          <a:blip r:embed="rId3"/>
          <a:stretch>
            <a:fillRect/>
          </a:stretch>
        </p:blipFill>
        <p:spPr>
          <a:xfrm>
            <a:off x="2909882" y="-5152"/>
            <a:ext cx="3667125" cy="1247775"/>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TotalTime>
  <Words>935</Words>
  <Application>Microsoft Office PowerPoint</Application>
  <PresentationFormat>On-screen Show (4:3)</PresentationFormat>
  <Paragraphs>135</Paragraphs>
  <Slides>14</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digvijay</dc:creator>
  <cp:lastModifiedBy>Windows User</cp:lastModifiedBy>
  <cp:revision>747</cp:revision>
  <dcterms:created xsi:type="dcterms:W3CDTF">2018-03-30T10:15:00Z</dcterms:created>
  <dcterms:modified xsi:type="dcterms:W3CDTF">2020-10-30T08:57:39Z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1033-11.2.0.9718</vt:lpwstr>
  </property>
</Properties>
</file>