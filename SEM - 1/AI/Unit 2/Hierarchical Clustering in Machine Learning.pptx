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i+L9NReRnQZAU2bTtMb6cV9bPf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62D1023-50A8-4CC2-8EBB-6C06AFB22386}">
  <a:tblStyle styleId="{662D1023-50A8-4CC2-8EBB-6C06AFB2238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5" name="Google Shape;195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5" name="Google Shape;205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3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3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Hierarchical cluster Analysis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Hierarchical clustering is another unsupervised machine learning algorithm, which is used to group the unlabeled datasets into a cluster and also known as </a:t>
            </a:r>
            <a:r>
              <a:rPr b="1" lang="en-US"/>
              <a:t>hierarchical cluster analysis</a:t>
            </a:r>
            <a:r>
              <a:rPr lang="en-US"/>
              <a:t> or HCA.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HCA intro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 this algorithm, we develop the hierarchy of clusters in the form of a tree, and this tree-shaped structure is known as the </a:t>
            </a:r>
            <a:r>
              <a:rPr b="1" lang="en-US"/>
              <a:t>dendrogram</a:t>
            </a:r>
            <a:r>
              <a:rPr lang="en-US"/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Sometimes the results of K-means clustering and hierarchical clustering may look similar, but they both differ depending on how they work.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As there is no requirement to predetermine the number of clusters as we did in the K-Means algorithm.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Two Approach in HCA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Agglomerative:</a:t>
            </a:r>
            <a:r>
              <a:rPr lang="en-US"/>
              <a:t> Agglomerative is a </a:t>
            </a:r>
            <a:r>
              <a:rPr b="1" lang="en-US"/>
              <a:t>bottom-up</a:t>
            </a:r>
            <a:r>
              <a:rPr lang="en-US"/>
              <a:t> approach, in which the algorithm starts with taking all data points as single clusters and merging them until one cluster is left.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Divisive:</a:t>
            </a:r>
            <a:r>
              <a:rPr lang="en-US"/>
              <a:t> Divisive algorithm is the reverse of the agglomerative algorithm as it is a </a:t>
            </a:r>
            <a:r>
              <a:rPr b="1" lang="en-US"/>
              <a:t>top-down approach.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Why hierarchical clustering?</a:t>
            </a:r>
            <a:br>
              <a:rPr lang="en-US"/>
            </a:br>
            <a:endParaRPr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 As we have seen in the K-means clustering that there are some challenges with this algorithm, which are a </a:t>
            </a:r>
            <a:r>
              <a:rPr b="1" lang="en-US" sz="3600"/>
              <a:t>predetermined number of clusters</a:t>
            </a:r>
            <a:r>
              <a:rPr lang="en-US"/>
              <a:t>, and it always tries to </a:t>
            </a:r>
            <a:r>
              <a:rPr lang="en-US" sz="3600">
                <a:solidFill>
                  <a:srgbClr val="FF0000"/>
                </a:solidFill>
              </a:rPr>
              <a:t>create the clusters of the same size. </a:t>
            </a:r>
            <a:endParaRPr sz="3600">
              <a:solidFill>
                <a:srgbClr val="FF0000"/>
              </a:solidFill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To solve these two challenges, we can opt for the hierarchical clustering algorithm because, in this algorithm, we don't need to have knowledge about the predefined number of clusters.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Agglomerative Hierarchical clustering</a:t>
            </a:r>
            <a:endParaRPr/>
          </a:p>
        </p:txBody>
      </p:sp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838200" y="1825625"/>
            <a:ext cx="10515600" cy="27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495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500"/>
              <a:t>The agglomerative hierarchical clustering algorithm is a popular example of HCA.</a:t>
            </a:r>
            <a:endParaRPr sz="2500"/>
          </a:p>
          <a:p>
            <a:pPr indent="-23495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500"/>
              <a:t> To group the datasets into clusters, it follows the </a:t>
            </a:r>
            <a:r>
              <a:rPr b="1" lang="en-US" sz="2500"/>
              <a:t>bottom-up approach</a:t>
            </a:r>
            <a:r>
              <a:rPr lang="en-US" sz="2500"/>
              <a:t>.</a:t>
            </a:r>
            <a:endParaRPr sz="2500"/>
          </a:p>
          <a:p>
            <a:pPr indent="-23495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500"/>
              <a:t> It means, this algorithm considers each </a:t>
            </a:r>
            <a:r>
              <a:rPr b="1" lang="en-US" sz="2500"/>
              <a:t>dataset as a single cluster </a:t>
            </a:r>
            <a:r>
              <a:rPr lang="en-US" sz="2500"/>
              <a:t>at the </a:t>
            </a:r>
            <a:r>
              <a:rPr b="1" lang="en-US" sz="2500"/>
              <a:t>beginning</a:t>
            </a:r>
            <a:r>
              <a:rPr lang="en-US" sz="2500"/>
              <a:t>, and then start </a:t>
            </a:r>
            <a:r>
              <a:rPr b="1" lang="en-US" sz="2500">
                <a:solidFill>
                  <a:srgbClr val="FF0000"/>
                </a:solidFill>
              </a:rPr>
              <a:t>combining the closest pair of clusters together</a:t>
            </a:r>
            <a:r>
              <a:rPr lang="en-US" sz="2500"/>
              <a:t>.</a:t>
            </a:r>
            <a:endParaRPr sz="2500"/>
          </a:p>
          <a:p>
            <a:pPr indent="-23495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500"/>
              <a:t> It does this until all the clusters are merged into a single cluster that contains all the datasets.</a:t>
            </a:r>
            <a:endParaRPr sz="2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title"/>
          </p:nvPr>
        </p:nvSpPr>
        <p:spPr>
          <a:xfrm>
            <a:off x="838200" y="237450"/>
            <a:ext cx="10515600" cy="8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Agglomerative Hierarchical clustering Work</a:t>
            </a:r>
            <a:endParaRPr/>
          </a:p>
        </p:txBody>
      </p:sp>
      <p:sp>
        <p:nvSpPr>
          <p:cNvPr id="115" name="Google Shape;115;p6"/>
          <p:cNvSpPr txBox="1"/>
          <p:nvPr>
            <p:ph idx="1" type="body"/>
          </p:nvPr>
        </p:nvSpPr>
        <p:spPr>
          <a:xfrm>
            <a:off x="505650" y="1114350"/>
            <a:ext cx="11180700" cy="25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Hierarchical clustering creates a hierarchical representation of the clusters in a dataset. The method starts by treating each data point as a separate cluster and then iteratively combines the closest clusters until a stopping criterion is reached.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Step-1:</a:t>
            </a:r>
            <a:r>
              <a:rPr lang="en-US"/>
              <a:t> Create each data point as a single cluster. Let's say there are N data points, so the number of clusters will also be N.</a:t>
            </a:r>
            <a:endParaRPr/>
          </a:p>
        </p:txBody>
      </p:sp>
      <p:pic>
        <p:nvPicPr>
          <p:cNvPr id="116" name="Google Shape;11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87338" y="3694350"/>
            <a:ext cx="4017333" cy="316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 txBox="1"/>
          <p:nvPr>
            <p:ph idx="1" type="body"/>
          </p:nvPr>
        </p:nvSpPr>
        <p:spPr>
          <a:xfrm>
            <a:off x="838200" y="1050838"/>
            <a:ext cx="4966800" cy="18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Step 2: </a:t>
            </a:r>
            <a:r>
              <a:rPr lang="en-US"/>
              <a:t>Take two closest data points or clusters and merge them to form one cluster. So, there will now be N-1 clusters.</a:t>
            </a:r>
            <a:endParaRPr/>
          </a:p>
        </p:txBody>
      </p:sp>
      <p:pic>
        <p:nvPicPr>
          <p:cNvPr descr="Hierarchical Clustering in Machine Learning" id="122" name="Google Shape;12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8581" y="494149"/>
            <a:ext cx="3810000" cy="3000376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7"/>
          <p:cNvSpPr txBox="1"/>
          <p:nvPr>
            <p:ph idx="1" type="body"/>
          </p:nvPr>
        </p:nvSpPr>
        <p:spPr>
          <a:xfrm>
            <a:off x="838200" y="3850588"/>
            <a:ext cx="5167500" cy="22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Step 3: </a:t>
            </a:r>
            <a:r>
              <a:rPr lang="en-US"/>
              <a:t>Again, take the two closest clusters and merge them together to form one cluster. There will be N-2 clusters.</a:t>
            </a:r>
            <a:endParaRPr/>
          </a:p>
        </p:txBody>
      </p:sp>
      <p:pic>
        <p:nvPicPr>
          <p:cNvPr id="124" name="Google Shape;12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8573" y="3486200"/>
            <a:ext cx="3810000" cy="300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"/>
          <p:cNvSpPr txBox="1"/>
          <p:nvPr>
            <p:ph idx="1" type="body"/>
          </p:nvPr>
        </p:nvSpPr>
        <p:spPr>
          <a:xfrm>
            <a:off x="838200" y="1023075"/>
            <a:ext cx="105156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Step-4: </a:t>
            </a:r>
            <a:r>
              <a:rPr lang="en-US"/>
              <a:t>Repeat Step 3 until only one cluster left. So, we will get the following clusters. Consider the below images:</a:t>
            </a:r>
            <a:endParaRPr/>
          </a:p>
        </p:txBody>
      </p:sp>
      <p:pic>
        <p:nvPicPr>
          <p:cNvPr id="130" name="Google Shape;13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350" y="2790625"/>
            <a:ext cx="3810000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ierarchical Clustering in Machine Learning" id="131" name="Google Shape;13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90988" y="2790615"/>
            <a:ext cx="3810000" cy="3000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33643" y="2790616"/>
            <a:ext cx="3810000" cy="300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1"/>
          <p:cNvSpPr txBox="1"/>
          <p:nvPr>
            <p:ph idx="1" type="body"/>
          </p:nvPr>
        </p:nvSpPr>
        <p:spPr>
          <a:xfrm>
            <a:off x="838200" y="658300"/>
            <a:ext cx="10515600" cy="12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Step-5:</a:t>
            </a:r>
            <a:r>
              <a:rPr lang="en-US"/>
              <a:t> Once all the clusters are combined into one big cluster, develop the dendrogram to divide the clusters as per the problem.</a:t>
            </a:r>
            <a:endParaRPr/>
          </a:p>
        </p:txBody>
      </p:sp>
      <p:pic>
        <p:nvPicPr>
          <p:cNvPr id="138" name="Google Shape;13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6740" y="1870298"/>
            <a:ext cx="10358526" cy="42263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Steps of Hierarchical Clustering Algorithm:</a:t>
            </a:r>
            <a:endParaRPr/>
          </a:p>
        </p:txBody>
      </p:sp>
      <p:sp>
        <p:nvSpPr>
          <p:cNvPr id="144" name="Google Shape;144;p13"/>
          <p:cNvSpPr txBox="1"/>
          <p:nvPr>
            <p:ph idx="1" type="body"/>
          </p:nvPr>
        </p:nvSpPr>
        <p:spPr>
          <a:xfrm>
            <a:off x="838200" y="1825625"/>
            <a:ext cx="10515600" cy="21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</a:t>
            </a:r>
            <a:r>
              <a:rPr b="1" lang="en-US"/>
              <a:t> Data Preprocessing:</a:t>
            </a:r>
            <a:r>
              <a:rPr lang="en-US"/>
              <a:t> Before applying the hierarchical clustering algorithm, it is important to preprocess the data to ensure that it is suitable for analysis. This may involve tasks such as </a:t>
            </a:r>
            <a:r>
              <a:rPr lang="en-US" u="sng"/>
              <a:t>normalizing the data, handling missing values, and converting categorical variables into numerical representations.</a:t>
            </a:r>
            <a:endParaRPr/>
          </a:p>
        </p:txBody>
      </p:sp>
      <p:sp>
        <p:nvSpPr>
          <p:cNvPr id="145" name="Google Shape;145;p13"/>
          <p:cNvSpPr txBox="1"/>
          <p:nvPr>
            <p:ph idx="1" type="body"/>
          </p:nvPr>
        </p:nvSpPr>
        <p:spPr>
          <a:xfrm>
            <a:off x="838200" y="4022525"/>
            <a:ext cx="10515600" cy="21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</a:t>
            </a:r>
            <a:r>
              <a:rPr b="1" lang="en-US"/>
              <a:t> Distance Matrix Calculation:</a:t>
            </a:r>
            <a:r>
              <a:rPr lang="en-US"/>
              <a:t> A distance matrix is created to represent the </a:t>
            </a:r>
            <a:r>
              <a:rPr lang="en-US" u="sng"/>
              <a:t>pairwise distances between all data points.</a:t>
            </a:r>
            <a:r>
              <a:rPr lang="en-US"/>
              <a:t> The choice of distance metric depends on the nature of the data. Common distance metrics include </a:t>
            </a:r>
            <a:r>
              <a:rPr lang="en-US" u="sng"/>
              <a:t>Euclidean distance,</a:t>
            </a:r>
            <a:r>
              <a:rPr lang="en-US"/>
              <a:t> Manhattan distance, and Minkowski distance.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5"/>
          <p:cNvSpPr txBox="1"/>
          <p:nvPr>
            <p:ph idx="1" type="body"/>
          </p:nvPr>
        </p:nvSpPr>
        <p:spPr>
          <a:xfrm>
            <a:off x="838200" y="488400"/>
            <a:ext cx="10515600" cy="58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Cluster Initiation:</a:t>
            </a:r>
            <a:r>
              <a:rPr lang="en-US"/>
              <a:t> Initially, each data point is considered as a separate cluster. This forms the base of the hierarchical structure.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1900"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Iterative Merging or Splitting:</a:t>
            </a:r>
            <a:r>
              <a:rPr lang="en-US"/>
              <a:t> The algorithm iteratively merges the closest clusters or splits the most diverse clusters, based on the chosen linkage criterion. Common</a:t>
            </a:r>
            <a:r>
              <a:rPr lang="en-US" u="sng"/>
              <a:t> linkage criteria include single linkage, complete linkage, and average linkage.</a:t>
            </a:r>
            <a:br>
              <a:rPr lang="en-US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Linkage Criterion Selection: </a:t>
            </a:r>
            <a:r>
              <a:rPr lang="en-US"/>
              <a:t>The linkage criterion determines how the distance between clusters is calculated. Different linkage criteria lead to different hierarchical structures.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Stopping Criterion</a:t>
            </a:r>
            <a:r>
              <a:rPr lang="en-US"/>
              <a:t>: The algorithm stops when a pre-defined stopping criterion is met. Common stopping criteria include a </a:t>
            </a:r>
            <a:r>
              <a:rPr lang="en-US" u="sng"/>
              <a:t>maximum number of clusters, a minimum threshold for cluster similarity, or a desired level of granularity.</a:t>
            </a:r>
            <a:endParaRPr u="sng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7"/>
          <p:cNvSpPr txBox="1"/>
          <p:nvPr>
            <p:ph idx="1" type="body"/>
          </p:nvPr>
        </p:nvSpPr>
        <p:spPr>
          <a:xfrm>
            <a:off x="838200" y="658325"/>
            <a:ext cx="10515600" cy="46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Dendrogram Generation:</a:t>
            </a:r>
            <a:r>
              <a:rPr lang="en-US"/>
              <a:t> A dendrogram is a tree-like diagram that visually represents the hierarchical clustering process. It shows the merging or splitting of clusters at each step of the algorithm.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Cluster Extraction: </a:t>
            </a:r>
            <a:r>
              <a:rPr lang="en-US"/>
              <a:t>The final clusters are extracted from the dendrogram by choosing a desired level of granularity or cutting the dendrogram at a specific height. Final clusters are obtained by cutting the dendrogram at a chosen height.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A lower cut results in more clusters (fine-grained analysis).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A higher cut results in fewer clusters (coarse-grained analysis).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Advantages of Hierarchical Clustering:</a:t>
            </a:r>
            <a:br>
              <a:rPr lang="en-US"/>
            </a:br>
            <a:endParaRPr/>
          </a:p>
        </p:txBody>
      </p:sp>
      <p:sp>
        <p:nvSpPr>
          <p:cNvPr id="161" name="Google Shape;161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Easy to understand and implement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Produces a hierarchical structure of clusters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Can handle both numerical and categorical data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Applicable to a wide range of data types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No need to predefine number of clusters, unlike K-means.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Produces an interpretable dendrogram showing relationships between data points.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Works well with small datasets and provides detailed insights.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Flexible cluster shapes depending on linkage method used.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Useful for exploratory data analysis and pattern discovery.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Disadvantages of Hierarchical Clustering:</a:t>
            </a:r>
            <a:endParaRPr/>
          </a:p>
        </p:txBody>
      </p:sp>
      <p:sp>
        <p:nvSpPr>
          <p:cNvPr id="167" name="Google Shape;167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Sensitive to the choice of distance metric and linkage criterion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Computationally expensive for large datasets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May not always produce the most optimal clustering results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Once a merge or split is done, it cannot be undone.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Sensitive to noise and outliers, which can distort clustering.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Not suitable for very large or real-time datasets.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Example.</a:t>
            </a:r>
            <a:endParaRPr/>
          </a:p>
        </p:txBody>
      </p:sp>
      <p:sp>
        <p:nvSpPr>
          <p:cNvPr id="173" name="Google Shape;173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Let's consider a simple example using the customer purchase data from a supermarket. The data consists of the purchase amounts for 10 different customers on five different items: milk, bread, eggs, apples, and oranges.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/>
              <a:t>Step 1:</a:t>
            </a:r>
            <a:r>
              <a:rPr lang="en-US"/>
              <a:t> </a:t>
            </a:r>
            <a:r>
              <a:rPr lang="en-US" u="sng"/>
              <a:t>Data Preprocessing</a:t>
            </a:r>
            <a:endParaRPr u="sng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The data is preprocessed by normalizing the purchase amounts to range between 0 and 1. This ensures that all items have an equal influence on the clustering process.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Step 2: Distance Matrix Calculation</a:t>
            </a:r>
            <a:br>
              <a:rPr lang="en-US"/>
            </a:br>
            <a:endParaRPr/>
          </a:p>
        </p:txBody>
      </p:sp>
      <p:sp>
        <p:nvSpPr>
          <p:cNvPr id="179" name="Google Shape;179;p21"/>
          <p:cNvSpPr txBox="1"/>
          <p:nvPr>
            <p:ph idx="1" type="body"/>
          </p:nvPr>
        </p:nvSpPr>
        <p:spPr>
          <a:xfrm>
            <a:off x="674050" y="1341425"/>
            <a:ext cx="10515600" cy="51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283845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742"/>
              <a:t>The Euclidean distance is used to calculate the pairwise distances between customers based on their normalized purchase amounts. The distance matrix is shown below:</a:t>
            </a:r>
            <a:endParaRPr sz="3742"/>
          </a:p>
          <a:p>
            <a:pPr indent="-24828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17045"/>
              <a:buChar char="•"/>
            </a:pPr>
            <a:r>
              <a:rPr b="1" lang="en-US" sz="2514"/>
              <a:t>Customer   </a:t>
            </a:r>
            <a:r>
              <a:rPr b="1" lang="en-US" sz="2942"/>
              <a:t>| </a:t>
            </a:r>
            <a:r>
              <a:rPr b="1" lang="en-US" sz="2657"/>
              <a:t>Milk</a:t>
            </a:r>
            <a:r>
              <a:rPr b="1" lang="en-US" sz="2942"/>
              <a:t> | </a:t>
            </a:r>
            <a:r>
              <a:rPr b="1" lang="en-US" sz="2228"/>
              <a:t>Bread</a:t>
            </a:r>
            <a:r>
              <a:rPr b="1" lang="en-US" sz="2942"/>
              <a:t> | </a:t>
            </a:r>
            <a:r>
              <a:rPr b="1" lang="en-US" sz="2371"/>
              <a:t>Egg</a:t>
            </a:r>
            <a:r>
              <a:rPr b="1" lang="en-US" sz="2942"/>
              <a:t> | </a:t>
            </a:r>
            <a:r>
              <a:rPr b="1" lang="en-US" sz="2085"/>
              <a:t>Apple</a:t>
            </a:r>
            <a:r>
              <a:rPr b="1" lang="en-US" sz="2942"/>
              <a:t> | </a:t>
            </a:r>
            <a:r>
              <a:rPr b="1" lang="en-US" sz="2371"/>
              <a:t>Orange</a:t>
            </a:r>
            <a:endParaRPr sz="2371"/>
          </a:p>
          <a:p>
            <a:pPr indent="-24828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2942"/>
              <a:t>---</a:t>
            </a:r>
            <a:r>
              <a:rPr b="1" lang="en-US" sz="2942"/>
              <a:t>----</a:t>
            </a:r>
            <a:r>
              <a:rPr b="1" lang="en-US" sz="2942"/>
              <a:t>---------|------|-----|------|------|-------</a:t>
            </a:r>
            <a:endParaRPr sz="2942"/>
          </a:p>
          <a:p>
            <a:pPr indent="-24828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2942"/>
              <a:t>Customer 1 | 0.8 | 0.2 | 0.3 | 0.5 | 0.2</a:t>
            </a:r>
            <a:endParaRPr sz="2942"/>
          </a:p>
          <a:p>
            <a:pPr indent="-24828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2942"/>
              <a:t>Customer 2 | 0.6 | 0.4 | 0.1 | 0.3 | 0.6</a:t>
            </a:r>
            <a:endParaRPr sz="2942"/>
          </a:p>
          <a:p>
            <a:pPr indent="-24828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2942"/>
              <a:t>Customer 3 | 0.4 | 0.4 | 0.5 | 0.4 | 0.3</a:t>
            </a:r>
            <a:endParaRPr sz="2942"/>
          </a:p>
          <a:p>
            <a:pPr indent="-24828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2942"/>
              <a:t>Customer 4 | 0.2 | 0.6 | 0.4 | 0.2 | 0.6</a:t>
            </a:r>
            <a:endParaRPr sz="2942"/>
          </a:p>
          <a:p>
            <a:pPr indent="-24828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2942"/>
              <a:t>Customer 5 | 0.1 | 0.8 | 0.7 | 0.1 | 0.3</a:t>
            </a:r>
            <a:endParaRPr sz="2942"/>
          </a:p>
          <a:p>
            <a:pPr indent="-24828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2942"/>
              <a:t>Customer 6 | 0.9 | 0.1 | 0.1 | 0.1 | 0.8</a:t>
            </a:r>
            <a:endParaRPr sz="2942"/>
          </a:p>
          <a:p>
            <a:pPr indent="-24828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2942"/>
              <a:t>Customer 7 | 0.7 | 0.3 | 0.2 | 0.8 | 0.0</a:t>
            </a:r>
            <a:endParaRPr sz="2942"/>
          </a:p>
          <a:p>
            <a:pPr indent="-24828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2942"/>
              <a:t>Customer 8 | 0.5 | 0.5 | 0.5 | 0.5 | 0.5</a:t>
            </a:r>
            <a:endParaRPr sz="2942"/>
          </a:p>
          <a:p>
            <a:pPr indent="-24828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2942"/>
              <a:t>Customer 9 | 0.3 | 0.7 | 0.8 | 0.7 | 0.2</a:t>
            </a:r>
            <a:endParaRPr sz="2942"/>
          </a:p>
          <a:p>
            <a:pPr indent="-24828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2942"/>
              <a:t>Customer 10 | 0.2 | 0.2 | 0.2 | 0.8 | 0.8</a:t>
            </a:r>
            <a:endParaRPr sz="2942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2"/>
          <p:cNvSpPr txBox="1"/>
          <p:nvPr>
            <p:ph type="title"/>
          </p:nvPr>
        </p:nvSpPr>
        <p:spPr>
          <a:xfrm>
            <a:off x="838200" y="1097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Distance between Customer 1 &amp; Customer 2</a:t>
            </a:r>
            <a:endParaRPr/>
          </a:p>
        </p:txBody>
      </p:sp>
      <p:sp>
        <p:nvSpPr>
          <p:cNvPr id="185" name="Google Shape;185;p22"/>
          <p:cNvSpPr txBox="1"/>
          <p:nvPr>
            <p:ph idx="1" type="body"/>
          </p:nvPr>
        </p:nvSpPr>
        <p:spPr>
          <a:xfrm>
            <a:off x="838200" y="1588500"/>
            <a:ext cx="105156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how to calculate the distance between Customer 1 and Customer 2 for the items milk, bread, eggs, apples, and oranges:</a:t>
            </a:r>
            <a:endParaRPr sz="2400"/>
          </a:p>
          <a:p>
            <a:pPr indent="-2667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Step 1: Normalize the data - </a:t>
            </a:r>
            <a:r>
              <a:rPr lang="en-US" sz="2400"/>
              <a:t>Normalize the purchase amounts for each item to a range between 0 and 1. This ensures that all items have an equal influence on the distance calculation. Here's the normalized data:</a:t>
            </a:r>
            <a:endParaRPr sz="2400"/>
          </a:p>
        </p:txBody>
      </p:sp>
      <p:graphicFrame>
        <p:nvGraphicFramePr>
          <p:cNvPr id="186" name="Google Shape;186;p22"/>
          <p:cNvGraphicFramePr/>
          <p:nvPr/>
        </p:nvGraphicFramePr>
        <p:xfrm>
          <a:off x="1458611" y="34692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{662D1023-50A8-4CC2-8EBB-6C06AFB22386}</a:tableStyleId>
              </a:tblPr>
              <a:tblGrid>
                <a:gridCol w="3091600"/>
                <a:gridCol w="3091600"/>
                <a:gridCol w="3091600"/>
              </a:tblGrid>
              <a:tr h="201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Item</a:t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Customer 1</a:t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Customer 2</a:t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Milk</a:t>
                      </a:r>
                      <a:endParaRPr b="1" sz="1400" u="none" cap="none" strike="noStrike"/>
                    </a:p>
                  </a:txBody>
                  <a:tcPr marT="152400" marB="1524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0.8</a:t>
                      </a:r>
                      <a:endParaRPr sz="1400" u="none" cap="none" strike="noStrike"/>
                    </a:p>
                  </a:txBody>
                  <a:tcPr marT="152400" marB="1524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0.6</a:t>
                      </a:r>
                      <a:endParaRPr sz="1400" u="none" cap="none" strike="noStrike"/>
                    </a:p>
                  </a:txBody>
                  <a:tcPr marT="152400" marB="1524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Bread</a:t>
                      </a:r>
                      <a:endParaRPr b="1" sz="1400" u="none" cap="none" strike="noStrike"/>
                    </a:p>
                  </a:txBody>
                  <a:tcPr marT="152400" marB="1524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0.2</a:t>
                      </a:r>
                      <a:endParaRPr sz="1400" u="none" cap="none" strike="noStrike"/>
                    </a:p>
                  </a:txBody>
                  <a:tcPr marT="152400" marB="1524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0.4</a:t>
                      </a:r>
                      <a:endParaRPr sz="1400" u="none" cap="none" strike="noStrike"/>
                    </a:p>
                  </a:txBody>
                  <a:tcPr marT="152400" marB="1524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Eggs</a:t>
                      </a:r>
                      <a:endParaRPr b="1" sz="1400" u="none" cap="none" strike="noStrike"/>
                    </a:p>
                  </a:txBody>
                  <a:tcPr marT="152400" marB="1524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0.3</a:t>
                      </a:r>
                      <a:endParaRPr sz="1400" u="none" cap="none" strike="noStrike"/>
                    </a:p>
                  </a:txBody>
                  <a:tcPr marT="152400" marB="1524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0.1</a:t>
                      </a:r>
                      <a:endParaRPr sz="1400" u="none" cap="none" strike="noStrike"/>
                    </a:p>
                  </a:txBody>
                  <a:tcPr marT="152400" marB="1524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Apples</a:t>
                      </a:r>
                      <a:endParaRPr b="1" sz="1400" u="none" cap="none" strike="noStrike"/>
                    </a:p>
                  </a:txBody>
                  <a:tcPr marT="152400" marB="1524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0.5</a:t>
                      </a:r>
                      <a:endParaRPr sz="1400" u="none" cap="none" strike="noStrike"/>
                    </a:p>
                  </a:txBody>
                  <a:tcPr marT="152400" marB="1524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0.3</a:t>
                      </a:r>
                      <a:endParaRPr sz="1400" u="none" cap="none" strike="noStrike"/>
                    </a:p>
                  </a:txBody>
                  <a:tcPr marT="152400" marB="1524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Oranges</a:t>
                      </a:r>
                      <a:endParaRPr b="1" sz="1400" u="none" cap="none" strike="noStrike"/>
                    </a:p>
                  </a:txBody>
                  <a:tcPr marT="152400" marB="1524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0.2</a:t>
                      </a:r>
                      <a:endParaRPr sz="1400" u="none" cap="none" strike="noStrike"/>
                    </a:p>
                  </a:txBody>
                  <a:tcPr marT="152400" marB="1524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0.6</a:t>
                      </a:r>
                      <a:endParaRPr sz="1400" u="none" cap="none" strike="noStrike"/>
                    </a:p>
                  </a:txBody>
                  <a:tcPr marT="152400" marB="152400" marR="152400" marL="152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Step 2: Choose a distance metric</a:t>
            </a:r>
            <a:br>
              <a:rPr lang="en-US"/>
            </a:br>
            <a:endParaRPr/>
          </a:p>
        </p:txBody>
      </p:sp>
      <p:sp>
        <p:nvSpPr>
          <p:cNvPr id="192" name="Google Shape;192;p23"/>
          <p:cNvSpPr txBox="1"/>
          <p:nvPr>
            <p:ph idx="1" type="body"/>
          </p:nvPr>
        </p:nvSpPr>
        <p:spPr>
          <a:xfrm>
            <a:off x="838200" y="12533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Select a distance metric to quantify the difference between Customer 1 and Customer 2 based on their normalized purchase amounts. A common metric is the Euclidean distance, which is calculated as follows: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Euclidean distance = sqrt(Σ (x_i - y_i)^2)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where x_i and y_i are the normalized purchase amounts for item i for Customer 1 and Customer 2, respectively.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 txBox="1"/>
          <p:nvPr>
            <p:ph idx="1" type="body"/>
          </p:nvPr>
        </p:nvSpPr>
        <p:spPr>
          <a:xfrm>
            <a:off x="838200" y="457650"/>
            <a:ext cx="10515600" cy="59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/>
              <a:t>Step 3: Calculate the Euclidean distance</a:t>
            </a:r>
            <a:endParaRPr b="1" sz="27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700"/>
              <a:t>Applying the formula:</a:t>
            </a:r>
            <a:endParaRPr sz="27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700"/>
              <a:t>Euclidean distance = sqrt((0.8 - 0.6)^2 + (0.2 - 0.4)^2 + (0.3 - 0.1)^2 + (0.5 - 0.3)^2 + (0.2 - 0.6)^2)</a:t>
            </a:r>
            <a:endParaRPr sz="27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700"/>
              <a:t>=0.4+0.4+0.4+0.4+0.8</a:t>
            </a:r>
            <a:endParaRPr sz="27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700"/>
              <a:t>Euclidean distance ≈ 0.73</a:t>
            </a:r>
            <a:endParaRPr sz="27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/>
              <a:t>Step 3: Cluster Initiation</a:t>
            </a:r>
            <a:endParaRPr b="1" sz="27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700"/>
              <a:t>Initially, each customer is considered as a separate cluster.</a:t>
            </a:r>
            <a:endParaRPr sz="27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rPr b="1" lang="en-US" sz="2700"/>
              <a:t>Step 4: Iterative Merging or Splitting</a:t>
            </a:r>
            <a:br>
              <a:rPr lang="en-US" sz="2700"/>
            </a:br>
            <a:r>
              <a:rPr lang="en-US" sz="2700"/>
              <a:t>Using the single linkage criterion, the closest clusters are merged at each iteration. The process is shown below:</a:t>
            </a:r>
            <a:endParaRPr sz="27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2" name="Google Shape;202;p26"/>
          <p:cNvGraphicFramePr/>
          <p:nvPr/>
        </p:nvGraphicFramePr>
        <p:xfrm>
          <a:off x="924363" y="2201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{662D1023-50A8-4CC2-8EBB-6C06AFB22386}</a:tableStyleId>
              </a:tblPr>
              <a:tblGrid>
                <a:gridCol w="1167750"/>
                <a:gridCol w="4261475"/>
                <a:gridCol w="4739950"/>
              </a:tblGrid>
              <a:tr h="624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900" u="none" cap="none" strike="noStrike"/>
                        <a:t>Iteration</a:t>
                      </a:r>
                      <a:endParaRPr b="1" sz="2100" u="none" cap="none" strike="noStrike"/>
                    </a:p>
                  </a:txBody>
                  <a:tcPr marT="23225" marB="23225" marR="46450" marL="46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900" u="none" cap="none" strike="noStrike"/>
                        <a:t>Merged Clusters</a:t>
                      </a:r>
                      <a:endParaRPr b="1" sz="2100" u="none" cap="none" strike="noStrike"/>
                    </a:p>
                  </a:txBody>
                  <a:tcPr marT="23225" marB="23225" marR="46450" marL="46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900" u="none" cap="none" strike="noStrike"/>
                        <a:t>New Clusters</a:t>
                      </a:r>
                      <a:endParaRPr b="1" sz="2100" u="none" cap="none" strike="noStrike"/>
                    </a:p>
                  </a:txBody>
                  <a:tcPr marT="23225" marB="23225" marR="46450" marL="46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75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900" u="none" cap="none" strike="noStrike"/>
                        <a:t>1</a:t>
                      </a:r>
                      <a:endParaRPr b="1" sz="2100" u="none" cap="none" strike="noStrike"/>
                    </a:p>
                  </a:txBody>
                  <a:tcPr marT="77425" marB="77425" marR="77425" marL="7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Customer 1 and Customer 2</a:t>
                      </a:r>
                      <a:endParaRPr sz="2100" u="none" cap="none" strike="noStrike"/>
                    </a:p>
                  </a:txBody>
                  <a:tcPr marT="77425" marB="77425" marR="77425" marL="7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Customer 1,2</a:t>
                      </a:r>
                      <a:endParaRPr sz="2100" u="none" cap="none" strike="noStrike"/>
                    </a:p>
                  </a:txBody>
                  <a:tcPr marT="77425" marB="77425" marR="77425" marL="7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75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900" u="none" cap="none" strike="noStrike"/>
                        <a:t>2</a:t>
                      </a:r>
                      <a:endParaRPr b="1" sz="2100" u="none" cap="none" strike="noStrike"/>
                    </a:p>
                  </a:txBody>
                  <a:tcPr marT="77425" marB="77425" marR="77425" marL="7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Customer 4 and Customer 5</a:t>
                      </a:r>
                      <a:endParaRPr sz="2100" u="none" cap="none" strike="noStrike"/>
                    </a:p>
                  </a:txBody>
                  <a:tcPr marT="77425" marB="77425" marR="77425" marL="7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Customer 4,5</a:t>
                      </a:r>
                      <a:endParaRPr sz="2100" u="none" cap="none" strike="noStrike"/>
                    </a:p>
                  </a:txBody>
                  <a:tcPr marT="77425" marB="77425" marR="77425" marL="7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75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900" u="none" cap="none" strike="noStrike"/>
                        <a:t>3</a:t>
                      </a:r>
                      <a:endParaRPr b="1" sz="2100" u="none" cap="none" strike="noStrike"/>
                    </a:p>
                  </a:txBody>
                  <a:tcPr marT="77425" marB="77425" marR="77425" marL="7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Customer 3 and Customer 6</a:t>
                      </a:r>
                      <a:endParaRPr sz="2100" u="none" cap="none" strike="noStrike"/>
                    </a:p>
                  </a:txBody>
                  <a:tcPr marT="77425" marB="77425" marR="77425" marL="7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Customer 3,6</a:t>
                      </a:r>
                      <a:endParaRPr sz="2100" u="none" cap="none" strike="noStrike"/>
                    </a:p>
                  </a:txBody>
                  <a:tcPr marT="77425" marB="77425" marR="77425" marL="7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75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900" u="none" cap="none" strike="noStrike"/>
                        <a:t>4</a:t>
                      </a:r>
                      <a:endParaRPr b="1" sz="2100" u="none" cap="none" strike="noStrike"/>
                    </a:p>
                  </a:txBody>
                  <a:tcPr marT="77425" marB="77425" marR="77425" marL="7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Customer 7 and Customer 8</a:t>
                      </a:r>
                      <a:endParaRPr sz="2100" u="none" cap="none" strike="noStrike"/>
                    </a:p>
                  </a:txBody>
                  <a:tcPr marT="77425" marB="77425" marR="77425" marL="7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Customer 7,8</a:t>
                      </a:r>
                      <a:endParaRPr sz="2100" u="none" cap="none" strike="noStrike"/>
                    </a:p>
                  </a:txBody>
                  <a:tcPr marT="77425" marB="77425" marR="77425" marL="7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75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900" u="none" cap="none" strike="noStrike"/>
                        <a:t>5</a:t>
                      </a:r>
                      <a:endParaRPr b="1" sz="2100" u="none" cap="none" strike="noStrike"/>
                    </a:p>
                  </a:txBody>
                  <a:tcPr marT="77425" marB="77425" marR="77425" marL="7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Customer 9 and Customer 10</a:t>
                      </a:r>
                      <a:endParaRPr sz="2100" u="none" cap="none" strike="noStrike"/>
                    </a:p>
                  </a:txBody>
                  <a:tcPr marT="77425" marB="77425" marR="77425" marL="7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Customer 9,10</a:t>
                      </a:r>
                      <a:endParaRPr sz="2100" u="none" cap="none" strike="noStrike"/>
                    </a:p>
                  </a:txBody>
                  <a:tcPr marT="77425" marB="77425" marR="77425" marL="7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60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900" u="none" cap="none" strike="noStrike"/>
                        <a:t>6</a:t>
                      </a:r>
                      <a:endParaRPr b="1" sz="2100" u="none" cap="none" strike="noStrike"/>
                    </a:p>
                  </a:txBody>
                  <a:tcPr marT="77425" marB="77425" marR="77425" marL="7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Customer 1,2 and Customer 9,10</a:t>
                      </a:r>
                      <a:endParaRPr sz="2100" u="none" cap="none" strike="noStrike"/>
                    </a:p>
                  </a:txBody>
                  <a:tcPr marT="77425" marB="77425" marR="77425" marL="7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Customer 1,2,9,10</a:t>
                      </a:r>
                      <a:endParaRPr sz="2100" u="none" cap="none" strike="noStrike"/>
                    </a:p>
                  </a:txBody>
                  <a:tcPr marT="77425" marB="77425" marR="77425" marL="7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946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900" u="none" cap="none" strike="noStrike"/>
                        <a:t>7</a:t>
                      </a:r>
                      <a:endParaRPr b="1" sz="2100" u="none" cap="none" strike="noStrike"/>
                    </a:p>
                  </a:txBody>
                  <a:tcPr marT="77425" marB="77425" marR="77425" marL="7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Customer 3,6 and Customer 7,8</a:t>
                      </a:r>
                      <a:endParaRPr sz="2100" u="none" cap="none" strike="noStrike"/>
                    </a:p>
                  </a:txBody>
                  <a:tcPr marT="77425" marB="77425" marR="77425" marL="7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Customer 1,2,9,10, Customer 3,6,7,8</a:t>
                      </a:r>
                      <a:endParaRPr sz="2100" u="none" cap="none" strike="noStrike"/>
                    </a:p>
                  </a:txBody>
                  <a:tcPr marT="77425" marB="77425" marR="77425" marL="7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946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900" u="none" cap="none" strike="noStrike"/>
                        <a:t>8</a:t>
                      </a:r>
                      <a:endParaRPr b="1" sz="2100" u="none" cap="none" strike="noStrike"/>
                    </a:p>
                  </a:txBody>
                  <a:tcPr marT="77425" marB="77425" marR="77425" marL="7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Customer 1,2,9,10 and Customer 3,6,7,8</a:t>
                      </a:r>
                      <a:endParaRPr sz="2100" u="none" cap="none" strike="noStrike"/>
                    </a:p>
                  </a:txBody>
                  <a:tcPr marT="77425" marB="77425" marR="77425" marL="7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All customers</a:t>
                      </a:r>
                      <a:endParaRPr sz="2100" u="none" cap="none" strike="noStrike"/>
                    </a:p>
                  </a:txBody>
                  <a:tcPr marT="77425" marB="77425" marR="77425" marL="77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7"/>
          <p:cNvSpPr txBox="1"/>
          <p:nvPr>
            <p:ph idx="1" type="body"/>
          </p:nvPr>
        </p:nvSpPr>
        <p:spPr>
          <a:xfrm>
            <a:off x="838200" y="366475"/>
            <a:ext cx="10515600" cy="26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Step 5: Dendrogram Generation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The dendrogram is generated to visualize the hierarchical clustering process.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1------------------2------------------3------4----5------6-7--8---9---10</a:t>
            </a:r>
            <a:endParaRPr/>
          </a:p>
        </p:txBody>
      </p:sp>
      <p:sp>
        <p:nvSpPr>
          <p:cNvPr id="208" name="Google Shape;208;p27"/>
          <p:cNvSpPr txBox="1"/>
          <p:nvPr>
            <p:ph idx="1" type="body"/>
          </p:nvPr>
        </p:nvSpPr>
        <p:spPr>
          <a:xfrm>
            <a:off x="838200" y="2792325"/>
            <a:ext cx="10515600" cy="3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Step 6: Cluster Extraction</a:t>
            </a:r>
            <a:endParaRPr b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final clusters are extracted from the dendrogram by cutting the dendrogram at the desired level of granularity. In this case, two clusters are extracted: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Cluster 1: Customers 1, 2, 9, and 10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Cluster 2: Customers 3, 6, 7, and 8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