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Lst>
  <p:sldSz cy="6858000" cx="12192000"/>
  <p:notesSz cx="6858000" cy="9144000"/>
  <p:embeddedFontLst>
    <p:embeddedFont>
      <p:font typeface="Roboto"/>
      <p:regular r:id="rId87"/>
      <p:bold r:id="rId88"/>
      <p:italic r:id="rId89"/>
      <p:boldItalic r:id="rId9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1" roundtripDataSignature="AMtx7mhZc2wQ35l8ea8VW926Pn5Hh9XYA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84" Type="http://schemas.openxmlformats.org/officeDocument/2006/relationships/slide" Target="slides/slide80.xml"/><Relationship Id="rId83" Type="http://schemas.openxmlformats.org/officeDocument/2006/relationships/slide" Target="slides/slide79.xml"/><Relationship Id="rId42" Type="http://schemas.openxmlformats.org/officeDocument/2006/relationships/slide" Target="slides/slide38.xml"/><Relationship Id="rId86" Type="http://schemas.openxmlformats.org/officeDocument/2006/relationships/slide" Target="slides/slide82.xml"/><Relationship Id="rId41" Type="http://schemas.openxmlformats.org/officeDocument/2006/relationships/slide" Target="slides/slide37.xml"/><Relationship Id="rId85" Type="http://schemas.openxmlformats.org/officeDocument/2006/relationships/slide" Target="slides/slide81.xml"/><Relationship Id="rId44" Type="http://schemas.openxmlformats.org/officeDocument/2006/relationships/slide" Target="slides/slide40.xml"/><Relationship Id="rId88" Type="http://schemas.openxmlformats.org/officeDocument/2006/relationships/font" Target="fonts/Roboto-bold.fntdata"/><Relationship Id="rId43" Type="http://schemas.openxmlformats.org/officeDocument/2006/relationships/slide" Target="slides/slide39.xml"/><Relationship Id="rId87" Type="http://schemas.openxmlformats.org/officeDocument/2006/relationships/font" Target="fonts/Roboto-regular.fntdata"/><Relationship Id="rId46" Type="http://schemas.openxmlformats.org/officeDocument/2006/relationships/slide" Target="slides/slide42.xml"/><Relationship Id="rId45" Type="http://schemas.openxmlformats.org/officeDocument/2006/relationships/slide" Target="slides/slide41.xml"/><Relationship Id="rId89" Type="http://schemas.openxmlformats.org/officeDocument/2006/relationships/font" Target="fonts/Roboto-italic.fntdata"/><Relationship Id="rId80" Type="http://schemas.openxmlformats.org/officeDocument/2006/relationships/slide" Target="slides/slide76.xml"/><Relationship Id="rId82" Type="http://schemas.openxmlformats.org/officeDocument/2006/relationships/slide" Target="slides/slide78.xml"/><Relationship Id="rId81" Type="http://schemas.openxmlformats.org/officeDocument/2006/relationships/slide" Target="slides/slide7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slide" Target="slides/slide69.xml"/><Relationship Id="rId72" Type="http://schemas.openxmlformats.org/officeDocument/2006/relationships/slide" Target="slides/slide68.xml"/><Relationship Id="rId31" Type="http://schemas.openxmlformats.org/officeDocument/2006/relationships/slide" Target="slides/slide27.xml"/><Relationship Id="rId75" Type="http://schemas.openxmlformats.org/officeDocument/2006/relationships/slide" Target="slides/slide71.xml"/><Relationship Id="rId30" Type="http://schemas.openxmlformats.org/officeDocument/2006/relationships/slide" Target="slides/slide26.xml"/><Relationship Id="rId74" Type="http://schemas.openxmlformats.org/officeDocument/2006/relationships/slide" Target="slides/slide70.xml"/><Relationship Id="rId33" Type="http://schemas.openxmlformats.org/officeDocument/2006/relationships/slide" Target="slides/slide29.xml"/><Relationship Id="rId77" Type="http://schemas.openxmlformats.org/officeDocument/2006/relationships/slide" Target="slides/slide73.xml"/><Relationship Id="rId32" Type="http://schemas.openxmlformats.org/officeDocument/2006/relationships/slide" Target="slides/slide28.xml"/><Relationship Id="rId76" Type="http://schemas.openxmlformats.org/officeDocument/2006/relationships/slide" Target="slides/slide72.xml"/><Relationship Id="rId35" Type="http://schemas.openxmlformats.org/officeDocument/2006/relationships/slide" Target="slides/slide31.xml"/><Relationship Id="rId79" Type="http://schemas.openxmlformats.org/officeDocument/2006/relationships/slide" Target="slides/slide75.xml"/><Relationship Id="rId34" Type="http://schemas.openxmlformats.org/officeDocument/2006/relationships/slide" Target="slides/slide30.xml"/><Relationship Id="rId78" Type="http://schemas.openxmlformats.org/officeDocument/2006/relationships/slide" Target="slides/slide74.xml"/><Relationship Id="rId71" Type="http://schemas.openxmlformats.org/officeDocument/2006/relationships/slide" Target="slides/slide67.xml"/><Relationship Id="rId70" Type="http://schemas.openxmlformats.org/officeDocument/2006/relationships/slide" Target="slides/slide66.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66" Type="http://schemas.openxmlformats.org/officeDocument/2006/relationships/slide" Target="slides/slide62.xml"/><Relationship Id="rId21" Type="http://schemas.openxmlformats.org/officeDocument/2006/relationships/slide" Target="slides/slide17.xml"/><Relationship Id="rId65" Type="http://schemas.openxmlformats.org/officeDocument/2006/relationships/slide" Target="slides/slide61.xml"/><Relationship Id="rId24" Type="http://schemas.openxmlformats.org/officeDocument/2006/relationships/slide" Target="slides/slide20.xml"/><Relationship Id="rId68" Type="http://schemas.openxmlformats.org/officeDocument/2006/relationships/slide" Target="slides/slide64.xml"/><Relationship Id="rId23" Type="http://schemas.openxmlformats.org/officeDocument/2006/relationships/slide" Target="slides/slide19.xml"/><Relationship Id="rId67" Type="http://schemas.openxmlformats.org/officeDocument/2006/relationships/slide" Target="slides/slide63.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slide" Target="slides/slide65.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91" Type="http://customschemas.google.com/relationships/presentationmetadata" Target="metadata"/><Relationship Id="rId90" Type="http://schemas.openxmlformats.org/officeDocument/2006/relationships/font" Target="fonts/Roboto-boldItalic.fntdata"/><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8368671aa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3a8368671aa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8368671a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3a8368671a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8368671aa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3a8368671aa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8368671aa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a8368671aa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8368671aa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g3a8368671aa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8368671aa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3a8368671aa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e6b17e6d5f_0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2e6b17e6d5f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8368671aa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a8368671aa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8368671aa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g3a8368671aa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e6b17e6d5f_0_1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2e6b17e6d5f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e6b17e6d5f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2e6b17e6d5f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a8368671aa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3a8368671aa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e6b17e6d5f_0_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g2e6b17e6d5f_0_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8368671aa_0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3a8368671aa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2e6b17e6d5f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g2e6b17e6d5f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e6b17e6d5f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2e6b17e6d5f_0_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6b17e6d5f_0_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g2e6b17e6d5f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e6b17e6d5f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g2e6b17e6d5f_0_1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e6b17e6d5f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0" name="Google Shape;240;g2e6b17e6d5f_0_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e6b17e6d5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g2e6b17e6d5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2e6b17e6d5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2e6b17e6d5f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e6b17e6d5f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2e6b17e6d5f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e6b17e6d5f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g2e6b17e6d5f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e6b17e6d5f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2e6b17e6d5f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2e6b17e6d5f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g2e6b17e6d5f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2e6b17e6d5f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g2e6b17e6d5f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e6b17e6d5f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2e6b17e6d5f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e6b17e6d5f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3" name="Google Shape;303;g2e6b17e6d5f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e6b17e6d5f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2e6b17e6d5f_0_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2e6b17e6d5f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2e6b17e6d5f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8368671aa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g3a8368671aa_0_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e6b17e6d5f_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g2e6b17e6d5f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1" name="Google Shape;33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7" name="Google Shape;33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2e5bcb2ce9e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g2e5bcb2ce9e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e5bcb2ce9e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2e5bcb2ce9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2e5bcb2ce9e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g2e5bcb2ce9e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2e5bcb2ce9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g2e5bcb2ce9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0" name="Google Shape;380;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6" name="Google Shape;38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8" name="Google Shape;39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4" name="Google Shape;40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6" name="Google Shape;41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2" name="Google Shape;422;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2e6cec57983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g2e6cec57983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a9c3c840c4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g3a9c3c840c4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0" name="Google Shape;440;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2e6cec57983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6" name="Google Shape;446;g2e6cec57983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3" name="Google Shape;453;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9" name="Google Shape;459;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5" name="Google Shape;465;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e6cec57983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g2e6cec57983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e6cec57983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g2e6cec57983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2e6cec57983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g2e6cec57983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e7a0305c3e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0" name="Google Shape;490;g2e7a0305c3e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e7a0305c3e_1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g2e7a0305c3e_1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1" name="Google Shape;501;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2e6cec57983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3" name="Google Shape;513;g2e6cec57983_0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https://medium.com/@archit.saxena/recurrent-neural-network-rnn-92faf7c01fd4</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2e7a0305c3e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8" name="Google Shape;518;g2e7a0305c3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2e7a0305c3e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4" name="Google Shape;524;g2e7a0305c3e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2e7a0305c3e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0" name="Google Shape;530;g2e7a0305c3e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e7a0305c3e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6" name="Google Shape;536;g2e7a0305c3e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2e7a0305c3e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g2e7a0305c3e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e7a0305c3e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7" name="Google Shape;547;g2e7a0305c3e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e7a0305c3e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3" name="Google Shape;553;g2e7a0305c3e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8" name="Google Shape;558;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64" name="Google Shape;56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0" name="Google Shape;57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8" name="Google Shape;578;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4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4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4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8"/>
          <p:cNvSpPr/>
          <p:nvPr>
            <p:ph idx="2" type="pic"/>
          </p:nvPr>
        </p:nvSpPr>
        <p:spPr>
          <a:xfrm>
            <a:off x="5183188" y="987425"/>
            <a:ext cx="6172200" cy="4873625"/>
          </a:xfrm>
          <a:prstGeom prst="rect">
            <a:avLst/>
          </a:prstGeom>
          <a:noFill/>
          <a:ln>
            <a:noFill/>
          </a:ln>
        </p:spPr>
      </p:sp>
      <p:sp>
        <p:nvSpPr>
          <p:cNvPr id="64" name="Google Shape;64;p4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1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hyperlink" Target="https://ritik12.medium.com/recurrent-neural-network-in-autonomous-vehicles-1274a8ac98d"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1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3.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hyperlink" Target="https://distill.pub/2019/memorization-in-rnns/"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2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2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2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2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 Id="rId3" Type="http://schemas.openxmlformats.org/officeDocument/2006/relationships/image" Target="../media/image2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 Id="rId3" Type="http://schemas.openxmlformats.org/officeDocument/2006/relationships/image" Target="../media/image18.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20.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hyperlink" Target="https://statso.io/next-word-prediction-case-study/" TargetMode="External"/><Relationship Id="rId4" Type="http://schemas.openxmlformats.org/officeDocument/2006/relationships/hyperlink" Target="https://www.datacamp.com/tutorial/tutorial-for-recurrent-neural-network" TargetMode="External"/><Relationship Id="rId9" Type="http://schemas.openxmlformats.org/officeDocument/2006/relationships/hyperlink" Target="https://www.datacamp.com/tutorial/tutorial-for-recurrent-neural-network" TargetMode="External"/><Relationship Id="rId5" Type="http://schemas.openxmlformats.org/officeDocument/2006/relationships/hyperlink" Target="https://www.geeksforgeeks.org/next-word-prediction-with-deep-learning-in-nlp/" TargetMode="External"/><Relationship Id="rId6" Type="http://schemas.openxmlformats.org/officeDocument/2006/relationships/hyperlink" Target="https://medium.com/@adachoudhry26/getting-started-with-ai-building-an-rnn-from-scratch-and-practicing-resilience-ba3c10be6a22" TargetMode="External"/><Relationship Id="rId7" Type="http://schemas.openxmlformats.org/officeDocument/2006/relationships/hyperlink" Target="https://medium.com/@reddyyashu20/rnn-python-code-in-keras-and-pytorch-6ab842a85e15" TargetMode="External"/><Relationship Id="rId8" Type="http://schemas.openxmlformats.org/officeDocument/2006/relationships/hyperlink" Target="https://www.freecodecamp.org/news/the-ultimate-guide-to-recurrent-neural-networks-in-pytho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b="1" lang="en-US"/>
              <a:t>What is Convolutional Neural Network?</a:t>
            </a:r>
            <a:br>
              <a:rPr lang="en-US"/>
            </a:b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b="1" i="1" lang="en-US"/>
              <a:t>Convolutional Neural Networks also known as CNNs or ConvNets, are a type of feed-forward artificial neural network whose connectivity structure is inspired by the organization of the animal visual cortex</a:t>
            </a:r>
            <a:endParaRPr/>
          </a:p>
          <a:p>
            <a:pPr indent="0" lvl="0" marL="0" rtl="0" algn="ctr">
              <a:lnSpc>
                <a:spcPct val="90000"/>
              </a:lnSpc>
              <a:spcBef>
                <a:spcPts val="100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236300" y="1827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CNN</a:t>
            </a:r>
            <a:endParaRPr/>
          </a:p>
        </p:txBody>
      </p:sp>
      <p:sp>
        <p:nvSpPr>
          <p:cNvPr id="91" name="Google Shape;91;p2"/>
          <p:cNvSpPr txBox="1"/>
          <p:nvPr>
            <p:ph idx="1" type="body"/>
          </p:nvPr>
        </p:nvSpPr>
        <p:spPr>
          <a:xfrm>
            <a:off x="236300" y="1508425"/>
            <a:ext cx="11350800" cy="3955200"/>
          </a:xfrm>
          <a:prstGeom prst="rect">
            <a:avLst/>
          </a:prstGeom>
          <a:noFill/>
          <a:ln>
            <a:noFill/>
          </a:ln>
        </p:spPr>
        <p:txBody>
          <a:bodyPr anchorCtr="0" anchor="t" bIns="45700" lIns="91425" spcFirstLastPara="1" rIns="91425" wrap="square" tIns="45700">
            <a:normAutofit lnSpcReduction="20000"/>
          </a:bodyPr>
          <a:lstStyle/>
          <a:p>
            <a:pPr indent="-241934" lvl="0" marL="228600" rtl="0" algn="l">
              <a:lnSpc>
                <a:spcPct val="90000"/>
              </a:lnSpc>
              <a:spcBef>
                <a:spcPts val="0"/>
              </a:spcBef>
              <a:spcAft>
                <a:spcPts val="0"/>
              </a:spcAft>
              <a:buClr>
                <a:schemeClr val="dk1"/>
              </a:buClr>
              <a:buSzPts val="2800"/>
              <a:buChar char="•"/>
            </a:pPr>
            <a:r>
              <a:rPr b="1" i="1" lang="en-US"/>
              <a:t> </a:t>
            </a:r>
            <a:r>
              <a:rPr lang="en-US"/>
              <a:t>Small clusters of cells in the visual cortex are sensitive to certain areas of the visual field. Individual neuronal cells in the brain respond or fire only when certain orientations of edges are present.</a:t>
            </a:r>
            <a:endParaRPr/>
          </a:p>
          <a:p>
            <a:pPr indent="-241934" lvl="0" marL="228600" rtl="0" algn="l">
              <a:lnSpc>
                <a:spcPct val="90000"/>
              </a:lnSpc>
              <a:spcBef>
                <a:spcPts val="1000"/>
              </a:spcBef>
              <a:spcAft>
                <a:spcPts val="0"/>
              </a:spcAft>
              <a:buClr>
                <a:schemeClr val="dk1"/>
              </a:buClr>
              <a:buSzPts val="2800"/>
              <a:buChar char="•"/>
            </a:pPr>
            <a:r>
              <a:rPr lang="en-US"/>
              <a:t> Some neurons activate when shown vertical edges, while others fire when shown horizontal or diagonal edges. </a:t>
            </a:r>
            <a:endParaRPr/>
          </a:p>
          <a:p>
            <a:pPr indent="-241934" lvl="0" marL="228600" rtl="0" algn="l">
              <a:lnSpc>
                <a:spcPct val="90000"/>
              </a:lnSpc>
              <a:spcBef>
                <a:spcPts val="1000"/>
              </a:spcBef>
              <a:spcAft>
                <a:spcPts val="0"/>
              </a:spcAft>
              <a:buClr>
                <a:schemeClr val="dk1"/>
              </a:buClr>
              <a:buSzPts val="2800"/>
              <a:buChar char="•"/>
            </a:pPr>
            <a:r>
              <a:rPr lang="en-US"/>
              <a:t>A convolutional neural network is a type of artificial neural network used in deep learning to evaluate visual information. </a:t>
            </a:r>
            <a:endParaRPr/>
          </a:p>
          <a:p>
            <a:pPr indent="-241934" lvl="0" marL="228600" rtl="0" algn="l">
              <a:lnSpc>
                <a:spcPct val="90000"/>
              </a:lnSpc>
              <a:spcBef>
                <a:spcPts val="1000"/>
              </a:spcBef>
              <a:spcAft>
                <a:spcPts val="0"/>
              </a:spcAft>
              <a:buClr>
                <a:schemeClr val="dk1"/>
              </a:buClr>
              <a:buSzPts val="2800"/>
              <a:buChar char="•"/>
            </a:pPr>
            <a:r>
              <a:rPr lang="en-US"/>
              <a:t>These networks can handle a wide range of tasks involving images, sounds, texts, videos, and other media.</a:t>
            </a:r>
            <a:endParaRPr/>
          </a:p>
          <a:p>
            <a:pPr indent="-241934" lvl="0" marL="228600" rtl="0" algn="l">
              <a:lnSpc>
                <a:spcPct val="90000"/>
              </a:lnSpc>
              <a:spcBef>
                <a:spcPts val="1000"/>
              </a:spcBef>
              <a:spcAft>
                <a:spcPts val="0"/>
              </a:spcAft>
              <a:buClr>
                <a:srgbClr val="FF0000"/>
              </a:buClr>
              <a:buSzPts val="2800"/>
              <a:buChar char="•"/>
            </a:pPr>
            <a:r>
              <a:rPr b="1" lang="en-US">
                <a:solidFill>
                  <a:srgbClr val="FF0000"/>
                </a:solidFill>
              </a:rPr>
              <a:t> Professor Yann LeCunn of Bell Labs created the first successful convolution networks in the late 1990s.</a:t>
            </a:r>
            <a:endParaRPr b="1">
              <a:solidFill>
                <a:srgbClr val="FF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3a8368671aa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5454"/>
              <a:buNone/>
            </a:pPr>
            <a:r>
              <a:rPr lang="en-US"/>
              <a:t>Inspiration Behind CNN and Parallels With The Human Visual System</a:t>
            </a:r>
            <a:endParaRPr/>
          </a:p>
          <a:p>
            <a:pPr indent="0" lvl="0" marL="0" rtl="0" algn="l">
              <a:lnSpc>
                <a:spcPct val="90000"/>
              </a:lnSpc>
              <a:spcBef>
                <a:spcPts val="0"/>
              </a:spcBef>
              <a:spcAft>
                <a:spcPts val="0"/>
              </a:spcAft>
              <a:buSzPct val="45454"/>
              <a:buNone/>
            </a:pPr>
            <a:r>
              <a:t/>
            </a:r>
            <a:endParaRPr/>
          </a:p>
        </p:txBody>
      </p:sp>
      <p:sp>
        <p:nvSpPr>
          <p:cNvPr id="97" name="Google Shape;97;g3a8368671aa_0_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pic>
        <p:nvPicPr>
          <p:cNvPr id="102" name="Google Shape;102;g3a8368671aa_0_0"/>
          <p:cNvPicPr preferRelativeResize="0"/>
          <p:nvPr/>
        </p:nvPicPr>
        <p:blipFill rotWithShape="1">
          <a:blip r:embed="rId3">
            <a:alphaModFix/>
          </a:blip>
          <a:srcRect b="0" l="0" r="0" t="0"/>
          <a:stretch/>
        </p:blipFill>
        <p:spPr>
          <a:xfrm>
            <a:off x="1003650" y="1683250"/>
            <a:ext cx="10097350" cy="5057025"/>
          </a:xfrm>
          <a:prstGeom prst="rect">
            <a:avLst/>
          </a:prstGeom>
          <a:noFill/>
          <a:ln>
            <a:noFill/>
          </a:ln>
        </p:spPr>
      </p:pic>
      <p:sp>
        <p:nvSpPr>
          <p:cNvPr id="103" name="Google Shape;103;g3a8368671aa_0_0"/>
          <p:cNvSpPr txBox="1"/>
          <p:nvPr/>
        </p:nvSpPr>
        <p:spPr>
          <a:xfrm>
            <a:off x="471875" y="207850"/>
            <a:ext cx="11160900" cy="147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Convolutional neural networks were inspired by the layered architecture of the human visual cortex, and below are some key similarities and differences: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a8368671aa_0_6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SzPct val="45454"/>
              <a:buNone/>
            </a:pPr>
            <a:r>
              <a:rPr lang="en-US"/>
              <a:t>areas associated with the primary visual cortex and the layers in a convolutional neural network</a:t>
            </a:r>
            <a:endParaRPr/>
          </a:p>
        </p:txBody>
      </p:sp>
      <p:sp>
        <p:nvSpPr>
          <p:cNvPr id="109" name="Google Shape;109;g3a8368671aa_0_6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1000"/>
              </a:spcBef>
              <a:spcAft>
                <a:spcPts val="0"/>
              </a:spcAft>
              <a:buSzPct val="91836"/>
              <a:buNone/>
            </a:pPr>
            <a:r>
              <a:rPr b="1" lang="en-US"/>
              <a:t>Hierarchical architecture:</a:t>
            </a:r>
            <a:r>
              <a:rPr lang="en-US"/>
              <a:t> Both CNNs and the visual cortex have a hierarchical structure, with simple features extracted in early layers and more complex features built up in deeper layers. This allows increasingly sophisticated representations of visual inputs.</a:t>
            </a:r>
            <a:endParaRPr/>
          </a:p>
          <a:p>
            <a:pPr indent="0" lvl="0" marL="0" rtl="0" algn="l">
              <a:lnSpc>
                <a:spcPct val="90000"/>
              </a:lnSpc>
              <a:spcBef>
                <a:spcPts val="1000"/>
              </a:spcBef>
              <a:spcAft>
                <a:spcPts val="0"/>
              </a:spcAft>
              <a:buSzPct val="91836"/>
              <a:buNone/>
            </a:pPr>
            <a:r>
              <a:rPr b="1" lang="en-US"/>
              <a:t>Local connectivity:</a:t>
            </a:r>
            <a:r>
              <a:rPr lang="en-US"/>
              <a:t> Neurons in the visual cortex only connect to a local region of the input, not the entire visual field. Similarly, the neurons in a CNN layer are only connected to a local region of the input volume through the convolution operation. This local connectivity enables efficiency.</a:t>
            </a:r>
            <a:endParaRPr/>
          </a:p>
          <a:p>
            <a:pPr indent="0" lvl="0" marL="0" rtl="0" algn="l">
              <a:lnSpc>
                <a:spcPct val="90000"/>
              </a:lnSpc>
              <a:spcBef>
                <a:spcPts val="1000"/>
              </a:spcBef>
              <a:spcAft>
                <a:spcPts val="0"/>
              </a:spcAft>
              <a:buSzPct val="91836"/>
              <a:buNone/>
            </a:pPr>
            <a:r>
              <a:rPr b="1" lang="en-US"/>
              <a:t>Translation invariance:</a:t>
            </a:r>
            <a:r>
              <a:rPr lang="en-US"/>
              <a:t> Visual cortex neurons can detect features regardless of their location in the visual field. Pooling layers in a CNN provide a degree of translation invariance by summarizing local features.</a:t>
            </a:r>
            <a:endParaRPr/>
          </a:p>
          <a:p>
            <a:pPr indent="0" lvl="0" marL="0" rtl="0" algn="l">
              <a:lnSpc>
                <a:spcPct val="90000"/>
              </a:lnSpc>
              <a:spcBef>
                <a:spcPts val="1000"/>
              </a:spcBef>
              <a:spcAft>
                <a:spcPts val="0"/>
              </a:spcAft>
              <a:buSzPct val="91836"/>
              <a:buNone/>
            </a:pPr>
            <a:r>
              <a:rPr b="1" lang="en-US"/>
              <a:t>Multiple feature maps:</a:t>
            </a:r>
            <a:r>
              <a:rPr lang="en-US"/>
              <a:t> At each stage of visual processing, there are many different feature maps extracted. CNNs mimic this through multiple filter maps in each convolution layer.</a:t>
            </a:r>
            <a:endParaRPr/>
          </a:p>
          <a:p>
            <a:pPr indent="0" lvl="0" marL="0" rtl="0" algn="l">
              <a:lnSpc>
                <a:spcPct val="90000"/>
              </a:lnSpc>
              <a:spcBef>
                <a:spcPts val="1000"/>
              </a:spcBef>
              <a:spcAft>
                <a:spcPts val="0"/>
              </a:spcAft>
              <a:buSzPct val="91836"/>
              <a:buNone/>
            </a:pPr>
            <a:r>
              <a:rPr b="1" lang="en-US"/>
              <a:t>Non-linearity:</a:t>
            </a:r>
            <a:r>
              <a:rPr lang="en-US"/>
              <a:t> Neurons in the visual cortex exhibit non-linear response properties. CNNs achieve non-linearity through activation functions like ReLU applied after each convolution.</a:t>
            </a:r>
            <a:endParaRPr/>
          </a:p>
          <a:p>
            <a:pPr indent="0" lvl="0" marL="0" rtl="0" algn="l">
              <a:lnSpc>
                <a:spcPct val="90000"/>
              </a:lnSpc>
              <a:spcBef>
                <a:spcPts val="1000"/>
              </a:spcBef>
              <a:spcAft>
                <a:spcPts val="0"/>
              </a:spcAft>
              <a:buSzPct val="91836"/>
              <a:buNone/>
            </a:pPr>
            <a:r>
              <a:rPr lang="en-US"/>
              <a:t>CNNs mimic the human visual system but are simpler, lacking its complex feedback mechanisms and relying on supervised learning rather than unsupervised, driving advances in computer vision despite these differences.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3a8368671aa_0_14"/>
          <p:cNvSpPr txBox="1"/>
          <p:nvPr>
            <p:ph type="title"/>
          </p:nvPr>
        </p:nvSpPr>
        <p:spPr>
          <a:xfrm>
            <a:off x="0" y="0"/>
            <a:ext cx="10515600" cy="10131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What is a Convolutional Neural Network?</a:t>
            </a:r>
            <a:endParaRPr/>
          </a:p>
        </p:txBody>
      </p:sp>
      <p:sp>
        <p:nvSpPr>
          <p:cNvPr id="115" name="Google Shape;115;g3a8368671aa_0_14"/>
          <p:cNvSpPr txBox="1"/>
          <p:nvPr>
            <p:ph idx="1" type="body"/>
          </p:nvPr>
        </p:nvSpPr>
        <p:spPr>
          <a:xfrm>
            <a:off x="38100" y="903650"/>
            <a:ext cx="12115800" cy="59544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1000"/>
              </a:spcBef>
              <a:spcAft>
                <a:spcPts val="0"/>
              </a:spcAft>
              <a:buSzPts val="3273"/>
              <a:buNone/>
            </a:pPr>
            <a:r>
              <a:rPr lang="en-US" sz="1800"/>
              <a:t>In machine learning, a classifier assigns a class label to a data point. For example, an image classifier produces a class label (e.g, bird, plane) for what objects exist within an image. A convolutional neural network, or CNN for short, is a type of classifier, which excels at solving this problem!</a:t>
            </a:r>
            <a:endParaRPr sz="1800"/>
          </a:p>
          <a:p>
            <a:pPr indent="0" lvl="0" marL="0" rtl="0" algn="l">
              <a:lnSpc>
                <a:spcPct val="90000"/>
              </a:lnSpc>
              <a:spcBef>
                <a:spcPts val="1000"/>
              </a:spcBef>
              <a:spcAft>
                <a:spcPts val="0"/>
              </a:spcAft>
              <a:buSzPts val="3273"/>
              <a:buNone/>
            </a:pPr>
            <a:r>
              <a:rPr b="1" lang="en-US" sz="1800"/>
              <a:t>A CNN is a neural network:</a:t>
            </a:r>
            <a:r>
              <a:rPr lang="en-US" sz="1800"/>
              <a:t> an algorithm used to recognize patterns in data. Neural Networks in general are composed of a collection of neurons that are organized in layers, each with their own learnable weights and biases. Let’s break down a CNN into its basic building blocks.</a:t>
            </a:r>
            <a:endParaRPr sz="1800"/>
          </a:p>
          <a:p>
            <a:pPr indent="0" lvl="0" marL="0" rtl="0" algn="l">
              <a:lnSpc>
                <a:spcPct val="90000"/>
              </a:lnSpc>
              <a:spcBef>
                <a:spcPts val="1000"/>
              </a:spcBef>
              <a:spcAft>
                <a:spcPts val="0"/>
              </a:spcAft>
              <a:buSzPts val="3273"/>
              <a:buNone/>
            </a:pPr>
            <a:r>
              <a:rPr b="1" lang="en-US" sz="1800"/>
              <a:t>A tensor can be thought of as an n-dimensional matrix.</a:t>
            </a:r>
            <a:r>
              <a:rPr lang="en-US" sz="1800"/>
              <a:t> In the CNN above, tensors will be 3-dimensional with the exception of the output layer.</a:t>
            </a:r>
            <a:endParaRPr sz="1800"/>
          </a:p>
          <a:p>
            <a:pPr indent="0" lvl="0" marL="0" rtl="0" algn="l">
              <a:lnSpc>
                <a:spcPct val="90000"/>
              </a:lnSpc>
              <a:spcBef>
                <a:spcPts val="1000"/>
              </a:spcBef>
              <a:spcAft>
                <a:spcPts val="0"/>
              </a:spcAft>
              <a:buSzPts val="3273"/>
              <a:buNone/>
            </a:pPr>
            <a:r>
              <a:rPr lang="en-US" sz="1800"/>
              <a:t>A neuron can be thought of as a function that takes in multiple inputs and yields a single output. The outputs of neurons are represented above as the red → blue activation maps.</a:t>
            </a:r>
            <a:endParaRPr sz="1800"/>
          </a:p>
          <a:p>
            <a:pPr indent="0" lvl="0" marL="0" rtl="0" algn="l">
              <a:lnSpc>
                <a:spcPct val="90000"/>
              </a:lnSpc>
              <a:spcBef>
                <a:spcPts val="1000"/>
              </a:spcBef>
              <a:spcAft>
                <a:spcPts val="0"/>
              </a:spcAft>
              <a:buSzPts val="3273"/>
              <a:buNone/>
            </a:pPr>
            <a:r>
              <a:rPr lang="en-US" sz="1800"/>
              <a:t>A layer is simply a collection of neurons with the same operation, including the same hyperparameters.</a:t>
            </a:r>
            <a:endParaRPr sz="1800"/>
          </a:p>
          <a:p>
            <a:pPr indent="0" lvl="0" marL="0" rtl="0" algn="l">
              <a:lnSpc>
                <a:spcPct val="90000"/>
              </a:lnSpc>
              <a:spcBef>
                <a:spcPts val="1000"/>
              </a:spcBef>
              <a:spcAft>
                <a:spcPts val="0"/>
              </a:spcAft>
              <a:buSzPts val="3273"/>
              <a:buNone/>
            </a:pPr>
            <a:r>
              <a:rPr b="1" lang="en-US" sz="1800"/>
              <a:t>Kernel weights and biases, while unique to each neuron,</a:t>
            </a:r>
            <a:r>
              <a:rPr lang="en-US" sz="1800"/>
              <a:t> are tuned during the training phase, and allow the classifier to adapt to the problem and dataset provided. They are encoded in the visualization with a yellow → green diverging colorscale. The specific values can be viewed in the Interactive Formula View by clicking a neuron or by hovering over the kernel/bias in the Convolutional Elastic Explanation View.</a:t>
            </a:r>
            <a:endParaRPr sz="1800"/>
          </a:p>
          <a:p>
            <a:pPr indent="0" lvl="0" marL="0" rtl="0" algn="l">
              <a:lnSpc>
                <a:spcPct val="90000"/>
              </a:lnSpc>
              <a:spcBef>
                <a:spcPts val="1000"/>
              </a:spcBef>
              <a:spcAft>
                <a:spcPts val="0"/>
              </a:spcAft>
              <a:buSzPts val="3273"/>
              <a:buNone/>
            </a:pPr>
            <a:r>
              <a:rPr lang="en-US" sz="1800"/>
              <a:t>A CNN conveys a differentiable score function, which is represented as class scores in the visualization on the output layer.</a:t>
            </a:r>
            <a:endParaRPr sz="1800"/>
          </a:p>
          <a:p>
            <a:pPr indent="0" lvl="0" marL="0" rtl="0" algn="l">
              <a:lnSpc>
                <a:spcPct val="90000"/>
              </a:lnSpc>
              <a:spcBef>
                <a:spcPts val="1000"/>
              </a:spcBef>
              <a:spcAft>
                <a:spcPts val="0"/>
              </a:spcAft>
              <a:buSzPts val="3273"/>
              <a:buNone/>
            </a:pPr>
            <a:r>
              <a:rPr lang="en-US" sz="1800"/>
              <a:t>If you have studied neural networks before, these terms may sound familiar to you. So what makes a CNN different? CNNs utilize a special type of layer, aptly named a convolutional layer, that makes them well-positioned to learn from image and image-like data. Regarding image data, CNNs can be used for many different computer vision tasks, such as image processing, classification, segmentation, and object detection.</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descr="Basics of CNN " id="120" name="Google Shape;120;p3"/>
          <p:cNvPicPr preferRelativeResize="0"/>
          <p:nvPr/>
        </p:nvPicPr>
        <p:blipFill rotWithShape="1">
          <a:blip r:embed="rId3">
            <a:alphaModFix/>
          </a:blip>
          <a:srcRect b="0" l="0" r="0" t="0"/>
          <a:stretch/>
        </p:blipFill>
        <p:spPr>
          <a:xfrm>
            <a:off x="-1" y="1"/>
            <a:ext cx="12192002" cy="5730219"/>
          </a:xfrm>
          <a:prstGeom prst="rect">
            <a:avLst/>
          </a:prstGeom>
          <a:noFill/>
          <a:ln>
            <a:noFill/>
          </a:ln>
        </p:spPr>
      </p:pic>
      <p:sp>
        <p:nvSpPr>
          <p:cNvPr id="121" name="Google Shape;121;p3"/>
          <p:cNvSpPr txBox="1"/>
          <p:nvPr/>
        </p:nvSpPr>
        <p:spPr>
          <a:xfrm>
            <a:off x="2943750" y="5924825"/>
            <a:ext cx="6304500" cy="56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https://poloclub.github.io/cnn-explainer/</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a8368671aa_0_19"/>
          <p:cNvSpPr txBox="1"/>
          <p:nvPr>
            <p:ph type="title"/>
          </p:nvPr>
        </p:nvSpPr>
        <p:spPr>
          <a:xfrm>
            <a:off x="838200" y="365125"/>
            <a:ext cx="68472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What does each layer of the network do?</a:t>
            </a:r>
            <a:endParaRPr/>
          </a:p>
        </p:txBody>
      </p:sp>
      <p:sp>
        <p:nvSpPr>
          <p:cNvPr id="127" name="Google Shape;127;g3a8368671aa_0_19"/>
          <p:cNvSpPr txBox="1"/>
          <p:nvPr>
            <p:ph idx="1" type="body"/>
          </p:nvPr>
        </p:nvSpPr>
        <p:spPr>
          <a:xfrm>
            <a:off x="838200" y="1825625"/>
            <a:ext cx="5900100" cy="43512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1000"/>
              </a:spcBef>
              <a:spcAft>
                <a:spcPts val="0"/>
              </a:spcAft>
              <a:buSzPts val="1800"/>
              <a:buNone/>
            </a:pPr>
            <a:r>
              <a:rPr b="1" lang="en-US"/>
              <a:t>Input Layer</a:t>
            </a:r>
            <a:endParaRPr b="1"/>
          </a:p>
          <a:p>
            <a:pPr indent="0" lvl="0" marL="0" rtl="0" algn="l">
              <a:lnSpc>
                <a:spcPct val="90000"/>
              </a:lnSpc>
              <a:spcBef>
                <a:spcPts val="1000"/>
              </a:spcBef>
              <a:spcAft>
                <a:spcPts val="0"/>
              </a:spcAft>
              <a:buSzPts val="1800"/>
              <a:buNone/>
            </a:pPr>
            <a:r>
              <a:rPr lang="en-US"/>
              <a:t>The input layer (leftmost layer) represents the input image into the CNN. Because we use RGB images as input, the input layer has three channels, corresponding to the red, green, and blue channels, respectively, which are shown in this layer.</a:t>
            </a:r>
            <a:endParaRPr/>
          </a:p>
          <a:p>
            <a:pPr indent="0" lvl="0" marL="0" rtl="0" algn="l">
              <a:lnSpc>
                <a:spcPct val="90000"/>
              </a:lnSpc>
              <a:spcBef>
                <a:spcPts val="1000"/>
              </a:spcBef>
              <a:spcAft>
                <a:spcPts val="0"/>
              </a:spcAft>
              <a:buSzPts val="1800"/>
              <a:buNone/>
            </a:pPr>
            <a:r>
              <a:rPr lang="en-US"/>
              <a:t> Use the color scale when you click on the network details icon icon above to display detailed information (on this layer, and others).</a:t>
            </a:r>
            <a:endParaRPr/>
          </a:p>
        </p:txBody>
      </p:sp>
      <p:pic>
        <p:nvPicPr>
          <p:cNvPr id="128" name="Google Shape;128;g3a8368671aa_0_19"/>
          <p:cNvPicPr preferRelativeResize="0"/>
          <p:nvPr/>
        </p:nvPicPr>
        <p:blipFill rotWithShape="1">
          <a:blip r:embed="rId3">
            <a:alphaModFix/>
          </a:blip>
          <a:srcRect b="0" l="0" r="0" t="0"/>
          <a:stretch/>
        </p:blipFill>
        <p:spPr>
          <a:xfrm>
            <a:off x="7588525" y="1137150"/>
            <a:ext cx="3595575" cy="52695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3a8368671aa_0_2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Convolutional Layers</a:t>
            </a:r>
            <a:endParaRPr/>
          </a:p>
        </p:txBody>
      </p:sp>
      <p:sp>
        <p:nvSpPr>
          <p:cNvPr id="134" name="Google Shape;134;g3a8368671aa_0_2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62500" lnSpcReduction="10000"/>
          </a:bodyPr>
          <a:lstStyle/>
          <a:p>
            <a:pPr indent="0" lvl="0" marL="0" rtl="0" algn="l">
              <a:lnSpc>
                <a:spcPct val="90000"/>
              </a:lnSpc>
              <a:spcBef>
                <a:spcPts val="1000"/>
              </a:spcBef>
              <a:spcAft>
                <a:spcPts val="0"/>
              </a:spcAft>
              <a:buSzPct val="102857"/>
              <a:buNone/>
            </a:pPr>
            <a:r>
              <a:rPr lang="en-US"/>
              <a:t>The convolutional layers are the foundation of CNN, as they contain the learned kernels (weights), which extract features that distinguish different images from one another—this is what we want for classification!</a:t>
            </a:r>
            <a:endParaRPr/>
          </a:p>
          <a:p>
            <a:pPr indent="0" lvl="0" marL="0" rtl="0" algn="l">
              <a:lnSpc>
                <a:spcPct val="90000"/>
              </a:lnSpc>
              <a:spcBef>
                <a:spcPts val="1000"/>
              </a:spcBef>
              <a:spcAft>
                <a:spcPts val="0"/>
              </a:spcAft>
              <a:buSzPct val="102857"/>
              <a:buNone/>
            </a:pPr>
            <a:r>
              <a:rPr lang="en-US"/>
              <a:t> As you interact with the convolutional layer, you will notice links between the previous layers and the convolutional layers. </a:t>
            </a:r>
            <a:endParaRPr/>
          </a:p>
          <a:p>
            <a:pPr indent="0" lvl="0" marL="0" rtl="0" algn="l">
              <a:lnSpc>
                <a:spcPct val="90000"/>
              </a:lnSpc>
              <a:spcBef>
                <a:spcPts val="1000"/>
              </a:spcBef>
              <a:spcAft>
                <a:spcPts val="0"/>
              </a:spcAft>
              <a:buSzPct val="102857"/>
              <a:buNone/>
            </a:pPr>
            <a:r>
              <a:rPr lang="en-US"/>
              <a:t>Each link represents a unique</a:t>
            </a:r>
            <a:r>
              <a:rPr b="1" lang="en-US"/>
              <a:t> kernel</a:t>
            </a:r>
            <a:r>
              <a:rPr lang="en-US"/>
              <a:t>, which is used for the convolution operation to produce the current convolutional neuron’s output or activation map.</a:t>
            </a:r>
            <a:endParaRPr/>
          </a:p>
          <a:p>
            <a:pPr indent="0" lvl="0" marL="0" rtl="0" algn="l">
              <a:lnSpc>
                <a:spcPct val="90000"/>
              </a:lnSpc>
              <a:spcBef>
                <a:spcPts val="1000"/>
              </a:spcBef>
              <a:spcAft>
                <a:spcPts val="0"/>
              </a:spcAft>
              <a:buSzPct val="102857"/>
              <a:buNone/>
            </a:pPr>
            <a:r>
              <a:t/>
            </a:r>
            <a:endParaRPr/>
          </a:p>
          <a:p>
            <a:pPr indent="0" lvl="0" marL="0" rtl="0" algn="l">
              <a:lnSpc>
                <a:spcPct val="90000"/>
              </a:lnSpc>
              <a:spcBef>
                <a:spcPts val="1000"/>
              </a:spcBef>
              <a:spcAft>
                <a:spcPts val="0"/>
              </a:spcAft>
              <a:buSzPct val="102857"/>
              <a:buNone/>
            </a:pPr>
            <a:r>
              <a:rPr lang="en-US"/>
              <a:t>The convolutional neuron performs an elementwise dot product with a unique kernel and the output of the previous layer’s corresponding neuron. This will yield as many intermediate results as there are unique kernels. The convolutional neuron is the result of all of the intermediate results summed together with the learned bias.</a:t>
            </a:r>
            <a:endParaRPr/>
          </a:p>
          <a:p>
            <a:pPr indent="0" lvl="0" marL="0" rtl="0" algn="l">
              <a:lnSpc>
                <a:spcPct val="90000"/>
              </a:lnSpc>
              <a:spcBef>
                <a:spcPts val="1000"/>
              </a:spcBef>
              <a:spcAft>
                <a:spcPts val="0"/>
              </a:spcAft>
              <a:buSzPct val="102857"/>
              <a:buNone/>
            </a:pPr>
            <a:r>
              <a:t/>
            </a:r>
            <a:endParaRPr/>
          </a:p>
          <a:p>
            <a:pPr indent="0" lvl="0" marL="0" rtl="0" algn="l">
              <a:lnSpc>
                <a:spcPct val="90000"/>
              </a:lnSpc>
              <a:spcBef>
                <a:spcPts val="1000"/>
              </a:spcBef>
              <a:spcAft>
                <a:spcPts val="0"/>
              </a:spcAft>
              <a:buSzPct val="102857"/>
              <a:buNone/>
            </a:pPr>
            <a:r>
              <a:rPr lang="en-US"/>
              <a:t>For example, let’s look at the first convolutional layer in the Tiny VGG architecture above. Notice that there are 10 neurons in this layer, but only 3 neurons in the previous layer. In the Tiny VGG architecture, convolutional layers are fully-connected, meaning each neuron is connected to every other neuron in the previous layer. Focusing on the output of the topmost convolutional neuron from the first convolutional layer, we see that there are 3 unique kernels when we hover over the activation map.</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SzPts val="2800"/>
              <a:buFont typeface="Arial"/>
              <a:buChar char="•"/>
            </a:pPr>
            <a:r>
              <a:rPr b="1" i="1" lang="en-US" sz="2800"/>
              <a:t>Convolutional Neural Networks </a:t>
            </a:r>
            <a:endParaRPr/>
          </a:p>
        </p:txBody>
      </p:sp>
      <p:sp>
        <p:nvSpPr>
          <p:cNvPr id="140" name="Google Shape;140;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i="1" lang="en-US"/>
              <a:t>Convolutional Neural Networks </a:t>
            </a:r>
            <a:r>
              <a:rPr lang="en-US"/>
              <a:t>(CNNs) have an input layer, an output layer, numerous hidden layers, and millions of parameters, allowing them to learn complicated </a:t>
            </a:r>
            <a:r>
              <a:rPr lang="en-US">
                <a:solidFill>
                  <a:srgbClr val="FF0000"/>
                </a:solidFill>
              </a:rPr>
              <a:t>objects and patterns. </a:t>
            </a:r>
            <a:endParaRPr>
              <a:solidFill>
                <a:srgbClr val="FF0000"/>
              </a:solidFill>
            </a:endParaRPr>
          </a:p>
          <a:p>
            <a:pPr indent="-228600" lvl="0" marL="228600" rtl="0" algn="l">
              <a:lnSpc>
                <a:spcPct val="90000"/>
              </a:lnSpc>
              <a:spcBef>
                <a:spcPts val="1000"/>
              </a:spcBef>
              <a:spcAft>
                <a:spcPts val="0"/>
              </a:spcAft>
              <a:buClr>
                <a:schemeClr val="dk1"/>
              </a:buClr>
              <a:buSzPts val="2800"/>
              <a:buChar char="•"/>
            </a:pPr>
            <a:r>
              <a:rPr lang="en-US"/>
              <a:t>It uses convolution and pooling processes to sub-sample the given input before applying an activation function, where all of them are hidden layers that are partially connected, with the completely connected layer at the end resulting in the output layer. </a:t>
            </a:r>
            <a:endParaRPr/>
          </a:p>
          <a:p>
            <a:pPr indent="-228600" lvl="0" marL="228600" rtl="0" algn="l">
              <a:lnSpc>
                <a:spcPct val="90000"/>
              </a:lnSpc>
              <a:spcBef>
                <a:spcPts val="1000"/>
              </a:spcBef>
              <a:spcAft>
                <a:spcPts val="0"/>
              </a:spcAft>
              <a:buClr>
                <a:srgbClr val="FF0000"/>
              </a:buClr>
              <a:buSzPts val="2800"/>
              <a:buChar char="•"/>
            </a:pPr>
            <a:r>
              <a:rPr lang="en-US">
                <a:solidFill>
                  <a:srgbClr val="FF0000"/>
                </a:solidFill>
              </a:rPr>
              <a:t>The output shape is similar to the size of the input image.</a:t>
            </a:r>
            <a:endParaRPr>
              <a:solidFill>
                <a:srgbClr val="FF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Process</a:t>
            </a:r>
            <a:endParaRPr/>
          </a:p>
        </p:txBody>
      </p:sp>
      <p:sp>
        <p:nvSpPr>
          <p:cNvPr id="146" name="Google Shape;146;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Convolution is the process of </a:t>
            </a:r>
            <a:r>
              <a:rPr lang="en-US">
                <a:solidFill>
                  <a:srgbClr val="FF0000"/>
                </a:solidFill>
              </a:rPr>
              <a:t>combining two functions to produce the output of the other function.</a:t>
            </a:r>
            <a:endParaRPr/>
          </a:p>
          <a:p>
            <a:pPr indent="-228600" lvl="0" marL="228600" rtl="0" algn="l">
              <a:lnSpc>
                <a:spcPct val="90000"/>
              </a:lnSpc>
              <a:spcBef>
                <a:spcPts val="1000"/>
              </a:spcBef>
              <a:spcAft>
                <a:spcPts val="0"/>
              </a:spcAft>
              <a:buClr>
                <a:srgbClr val="FF0000"/>
              </a:buClr>
              <a:buSzPts val="2800"/>
              <a:buChar char="•"/>
            </a:pPr>
            <a:r>
              <a:rPr lang="en-US">
                <a:solidFill>
                  <a:srgbClr val="FF0000"/>
                </a:solidFill>
              </a:rPr>
              <a:t> The input image is convoluted with the application of filters in CNNs, resulting in a Feature map. </a:t>
            </a:r>
            <a:endParaRPr/>
          </a:p>
          <a:p>
            <a:pPr indent="-228600" lvl="0" marL="228600" rtl="0" algn="l">
              <a:lnSpc>
                <a:spcPct val="90000"/>
              </a:lnSpc>
              <a:spcBef>
                <a:spcPts val="1000"/>
              </a:spcBef>
              <a:spcAft>
                <a:spcPts val="0"/>
              </a:spcAft>
              <a:buClr>
                <a:srgbClr val="2E75B5"/>
              </a:buClr>
              <a:buSzPts val="2800"/>
              <a:buChar char="•"/>
            </a:pPr>
            <a:r>
              <a:rPr lang="en-US">
                <a:solidFill>
                  <a:srgbClr val="2E75B5"/>
                </a:solidFill>
              </a:rPr>
              <a:t>Filters are weights and biases that are randomly generated vectors in the network. </a:t>
            </a:r>
            <a:endParaRPr/>
          </a:p>
          <a:p>
            <a:pPr indent="-228600" lvl="0" marL="228600" rtl="0" algn="l">
              <a:lnSpc>
                <a:spcPct val="90000"/>
              </a:lnSpc>
              <a:spcBef>
                <a:spcPts val="1000"/>
              </a:spcBef>
              <a:spcAft>
                <a:spcPts val="0"/>
              </a:spcAft>
              <a:buClr>
                <a:schemeClr val="dk1"/>
              </a:buClr>
              <a:buSzPts val="2800"/>
              <a:buChar char="•"/>
            </a:pPr>
            <a:r>
              <a:rPr lang="en-US"/>
              <a:t>Instead of having individual weights and biases for each neuron, CNN uses the same weights and biases for all neurons.</a:t>
            </a:r>
            <a:endParaRPr/>
          </a:p>
          <a:p>
            <a:pPr indent="-228600" lvl="0" marL="228600" rtl="0" algn="l">
              <a:lnSpc>
                <a:spcPct val="90000"/>
              </a:lnSpc>
              <a:spcBef>
                <a:spcPts val="1000"/>
              </a:spcBef>
              <a:spcAft>
                <a:spcPts val="0"/>
              </a:spcAft>
              <a:buClr>
                <a:schemeClr val="dk1"/>
              </a:buClr>
              <a:buSzPts val="2800"/>
              <a:buChar char="•"/>
            </a:pPr>
            <a:r>
              <a:rPr lang="en-US"/>
              <a:t> Many filters can be created, each of which catches a different aspect from the input. </a:t>
            </a:r>
            <a:r>
              <a:rPr b="1" lang="en-US">
                <a:solidFill>
                  <a:srgbClr val="FF0000"/>
                </a:solidFill>
              </a:rPr>
              <a:t>Kernels are another name for filters.</a:t>
            </a:r>
            <a:endParaRPr b="1">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Convolutional Layer</a:t>
            </a:r>
            <a:br>
              <a:rPr lang="en-US"/>
            </a:br>
            <a:endParaRPr/>
          </a:p>
        </p:txBody>
      </p:sp>
      <p:sp>
        <p:nvSpPr>
          <p:cNvPr id="152" name="Google Shape;152;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convolutional neural networks, the major building elements are convolutional layers. This layer often contains input vectors, such as an image, filters, such as a feature detector, and output vectors, such as a feature map.</a:t>
            </a:r>
            <a:endParaRPr/>
          </a:p>
          <a:p>
            <a:pPr indent="0" lvl="0" marL="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rgbClr val="FF0000"/>
              </a:buClr>
              <a:buSzPts val="2800"/>
              <a:buChar char="•"/>
            </a:pPr>
            <a:r>
              <a:rPr lang="en-US">
                <a:solidFill>
                  <a:srgbClr val="FF0000"/>
                </a:solidFill>
              </a:rPr>
              <a:t> The image is abstracted to a feature map, also known as an activation map, after passing through a convolutional layer.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i="1" lang="en-US"/>
              <a:t>Feature Map = Input Image x Feature Detector</a:t>
            </a:r>
            <a:br>
              <a:rPr lang="en-US"/>
            </a:br>
            <a:endParaRPr/>
          </a:p>
        </p:txBody>
      </p:sp>
      <p:sp>
        <p:nvSpPr>
          <p:cNvPr id="158" name="Google Shape;158;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input is convolved by convolutional layers, which then pass the output to the next layer. </a:t>
            </a:r>
            <a:endParaRPr/>
          </a:p>
          <a:p>
            <a:pPr indent="-228600" lvl="0" marL="228600" rtl="0" algn="l">
              <a:lnSpc>
                <a:spcPct val="90000"/>
              </a:lnSpc>
              <a:spcBef>
                <a:spcPts val="1000"/>
              </a:spcBef>
              <a:spcAft>
                <a:spcPts val="0"/>
              </a:spcAft>
              <a:buClr>
                <a:srgbClr val="1E4E79"/>
              </a:buClr>
              <a:buSzPct val="100000"/>
              <a:buChar char="•"/>
            </a:pPr>
            <a:r>
              <a:rPr lang="en-US">
                <a:solidFill>
                  <a:srgbClr val="1E4E79"/>
                </a:solidFill>
              </a:rPr>
              <a:t>This is analogous to a neuron’s response to a single stimulus in the visual cortex. Each convolutional neuron only processes data for the receptive field it is assigned to.</a:t>
            </a:r>
            <a:endParaRPr/>
          </a:p>
          <a:p>
            <a:pPr indent="-228600" lvl="0" marL="228600" rtl="0" algn="l">
              <a:lnSpc>
                <a:spcPct val="90000"/>
              </a:lnSpc>
              <a:spcBef>
                <a:spcPts val="1000"/>
              </a:spcBef>
              <a:spcAft>
                <a:spcPts val="0"/>
              </a:spcAft>
              <a:buClr>
                <a:srgbClr val="1E4E79"/>
              </a:buClr>
              <a:buSzPct val="100000"/>
              <a:buChar char="•"/>
            </a:pPr>
            <a:r>
              <a:rPr lang="en-US">
                <a:solidFill>
                  <a:srgbClr val="1E4E79"/>
                </a:solidFill>
              </a:rPr>
              <a:t>A convolution is a grouping function in mathematics</a:t>
            </a:r>
            <a:r>
              <a:rPr lang="en-US"/>
              <a:t>. </a:t>
            </a:r>
            <a:endParaRPr/>
          </a:p>
          <a:p>
            <a:pPr indent="-228600" lvl="0" marL="228600" rtl="0" algn="l">
              <a:lnSpc>
                <a:spcPct val="90000"/>
              </a:lnSpc>
              <a:spcBef>
                <a:spcPts val="1000"/>
              </a:spcBef>
              <a:spcAft>
                <a:spcPts val="0"/>
              </a:spcAft>
              <a:buClr>
                <a:srgbClr val="525252"/>
              </a:buClr>
              <a:buSzPct val="100000"/>
              <a:buChar char="•"/>
            </a:pPr>
            <a:r>
              <a:rPr lang="en-US">
                <a:solidFill>
                  <a:srgbClr val="525252"/>
                </a:solidFill>
              </a:rPr>
              <a:t>Convolution occurs in CNNs when two matrices (rectangular arrays of numbers arranged in columns and rows) are combined to generate a third matrix.</a:t>
            </a:r>
            <a:endParaRPr/>
          </a:p>
          <a:p>
            <a:pPr indent="-228600" lvl="0" marL="228600" rtl="0" algn="l">
              <a:lnSpc>
                <a:spcPct val="90000"/>
              </a:lnSpc>
              <a:spcBef>
                <a:spcPts val="1000"/>
              </a:spcBef>
              <a:spcAft>
                <a:spcPts val="0"/>
              </a:spcAft>
              <a:buClr>
                <a:srgbClr val="7030A0"/>
              </a:buClr>
              <a:buSzPct val="100000"/>
              <a:buChar char="•"/>
            </a:pPr>
            <a:r>
              <a:rPr lang="en-US">
                <a:solidFill>
                  <a:srgbClr val="7030A0"/>
                </a:solidFill>
              </a:rPr>
              <a:t>In the convolutional layers of a CNN, these convolutions are used to filter input data and find information.</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e6b17e6d5f_0_11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Three Feature maps</a:t>
            </a:r>
            <a:endParaRPr/>
          </a:p>
        </p:txBody>
      </p:sp>
      <p:sp>
        <p:nvSpPr>
          <p:cNvPr id="164" name="Google Shape;164;g2e6b17e6d5f_0_11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Those three feature maps are now added up element-wise, resulting in one single feature map for the first filter. </a:t>
            </a:r>
            <a:endParaRPr/>
          </a:p>
          <a:p>
            <a:pPr indent="0" lvl="0" marL="0" rtl="0" algn="l">
              <a:lnSpc>
                <a:spcPct val="90000"/>
              </a:lnSpc>
              <a:spcBef>
                <a:spcPts val="1000"/>
              </a:spcBef>
              <a:spcAft>
                <a:spcPts val="0"/>
              </a:spcAft>
              <a:buSzPts val="1800"/>
              <a:buNone/>
            </a:pPr>
            <a:r>
              <a:rPr lang="en-US"/>
              <a:t>Because we have initalised a second filter, the same process is repeated, but this time with different weights.</a:t>
            </a:r>
            <a:endParaRPr/>
          </a:p>
          <a:p>
            <a:pPr indent="0" lvl="0" marL="0" rtl="0" algn="l">
              <a:lnSpc>
                <a:spcPct val="90000"/>
              </a:lnSpc>
              <a:spcBef>
                <a:spcPts val="1000"/>
              </a:spcBef>
              <a:spcAft>
                <a:spcPts val="0"/>
              </a:spcAft>
              <a:buSzPts val="1800"/>
              <a:buNone/>
            </a:pPr>
            <a:r>
              <a:rPr lang="en-US"/>
              <a:t>This combination enhances the network’s ability to recognize complex patterns that may involve interactions between different color channels. </a:t>
            </a:r>
            <a:endParaRPr/>
          </a:p>
          <a:p>
            <a:pPr indent="0" lvl="0" marL="0" rtl="0" algn="l">
              <a:lnSpc>
                <a:spcPct val="90000"/>
              </a:lnSpc>
              <a:spcBef>
                <a:spcPts val="1000"/>
              </a:spcBef>
              <a:spcAft>
                <a:spcPts val="0"/>
              </a:spcAft>
              <a:buSzPts val="1800"/>
              <a:buNone/>
            </a:pPr>
            <a:r>
              <a:rPr lang="en-US"/>
              <a:t>Each feature map highlights patterns, edges, or textures. The weights of each filter are learned through backpropagation.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a8368671aa_0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70" name="Google Shape;170;g3a8368671aa_0_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SzPts val="1800"/>
              <a:buNone/>
            </a:pPr>
            <a:r>
              <a:rPr lang="en-US"/>
              <a:t>The size of these kernels is a hyper-parameter specified by the designers of the network architecture. </a:t>
            </a:r>
            <a:endParaRPr/>
          </a:p>
          <a:p>
            <a:pPr indent="0" lvl="0" marL="0" rtl="0" algn="l">
              <a:lnSpc>
                <a:spcPct val="90000"/>
              </a:lnSpc>
              <a:spcBef>
                <a:spcPts val="1000"/>
              </a:spcBef>
              <a:spcAft>
                <a:spcPts val="0"/>
              </a:spcAft>
              <a:buSzPts val="1800"/>
              <a:buNone/>
            </a:pPr>
            <a:r>
              <a:rPr lang="en-US"/>
              <a:t>In order to produce the output of the convolutional neuron (activation map), we must perform an elementwise dot product with the output of the previous layer and the unique kernel learned by the network. </a:t>
            </a:r>
            <a:endParaRPr/>
          </a:p>
          <a:p>
            <a:pPr indent="0" lvl="0" marL="0" rtl="0" algn="l">
              <a:lnSpc>
                <a:spcPct val="90000"/>
              </a:lnSpc>
              <a:spcBef>
                <a:spcPts val="1000"/>
              </a:spcBef>
              <a:spcAft>
                <a:spcPts val="0"/>
              </a:spcAft>
              <a:buSzPts val="1800"/>
              <a:buNone/>
            </a:pPr>
            <a:r>
              <a:rPr lang="en-US"/>
              <a:t>In TinyVGG, the dot product operation uses a stride of 1, which means that the kernel is shifted over 1 pixel per dot product, but this is a hyperparameter that the network architecture designer can adjust to better fit their dataset. </a:t>
            </a:r>
            <a:endParaRPr/>
          </a:p>
          <a:p>
            <a:pPr indent="0" lvl="0" marL="0" rtl="0" algn="l">
              <a:lnSpc>
                <a:spcPct val="90000"/>
              </a:lnSpc>
              <a:spcBef>
                <a:spcPts val="1000"/>
              </a:spcBef>
              <a:spcAft>
                <a:spcPts val="0"/>
              </a:spcAft>
              <a:buSzPts val="1800"/>
              <a:buNone/>
            </a:pPr>
            <a:r>
              <a:rPr lang="en-US"/>
              <a:t>We must do this for all 3 kernels, which will yield 3 intermediate results.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a8368671aa_0_3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Understanding Hyperparameters</a:t>
            </a:r>
            <a:endParaRPr/>
          </a:p>
          <a:p>
            <a:pPr indent="0" lvl="0" marL="0" rtl="0" algn="l">
              <a:lnSpc>
                <a:spcPct val="90000"/>
              </a:lnSpc>
              <a:spcBef>
                <a:spcPts val="0"/>
              </a:spcBef>
              <a:spcAft>
                <a:spcPts val="0"/>
              </a:spcAft>
              <a:buSzPts val="1800"/>
              <a:buNone/>
            </a:pPr>
            <a:r>
              <a:t/>
            </a:r>
            <a:endParaRPr/>
          </a:p>
        </p:txBody>
      </p:sp>
      <p:sp>
        <p:nvSpPr>
          <p:cNvPr id="176" name="Google Shape;176;g3a8368671aa_0_3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https://poloclub.github.io/cnn-explainer/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g2e6b17e6d5f_0_11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Padding and Stride</a:t>
            </a:r>
            <a:br>
              <a:rPr lang="en-US"/>
            </a:br>
            <a:endParaRPr/>
          </a:p>
        </p:txBody>
      </p:sp>
      <p:sp>
        <p:nvSpPr>
          <p:cNvPr id="182" name="Google Shape;182;g2e6b17e6d5f_0_116"/>
          <p:cNvSpPr txBox="1"/>
          <p:nvPr>
            <p:ph idx="1" type="body"/>
          </p:nvPr>
        </p:nvSpPr>
        <p:spPr>
          <a:xfrm>
            <a:off x="838200" y="1219200"/>
            <a:ext cx="10515600" cy="2683200"/>
          </a:xfrm>
          <a:prstGeom prst="rect">
            <a:avLst/>
          </a:prstGeom>
          <a:noFill/>
          <a:ln>
            <a:noFill/>
          </a:ln>
        </p:spPr>
        <p:txBody>
          <a:bodyPr anchorCtr="0" anchor="t" bIns="45700" lIns="91425" spcFirstLastPara="1" rIns="91425" wrap="square" tIns="45700">
            <a:normAutofit fontScale="92500" lnSpcReduction="20000"/>
          </a:bodyPr>
          <a:lstStyle/>
          <a:p>
            <a:pPr indent="-217170" lvl="0" marL="228600" rtl="0" algn="l">
              <a:lnSpc>
                <a:spcPct val="90000"/>
              </a:lnSpc>
              <a:spcBef>
                <a:spcPts val="0"/>
              </a:spcBef>
              <a:spcAft>
                <a:spcPts val="0"/>
              </a:spcAft>
              <a:buClr>
                <a:schemeClr val="dk1"/>
              </a:buClr>
              <a:buSzPct val="100000"/>
              <a:buChar char="•"/>
            </a:pPr>
            <a:r>
              <a:rPr lang="en-US" sz="2400"/>
              <a:t>Padding and stride have an impact on how the convolution procedure is carried out. They can be used to increase or decrease the dimensions (height and width) of input/output vectors.</a:t>
            </a:r>
            <a:endParaRPr/>
          </a:p>
          <a:p>
            <a:pPr indent="-217170" lvl="0" marL="228600" rtl="0" algn="l">
              <a:lnSpc>
                <a:spcPct val="90000"/>
              </a:lnSpc>
              <a:spcBef>
                <a:spcPts val="1000"/>
              </a:spcBef>
              <a:spcAft>
                <a:spcPts val="0"/>
              </a:spcAft>
              <a:buClr>
                <a:schemeClr val="dk1"/>
              </a:buClr>
              <a:buSzPct val="100000"/>
              <a:buChar char="•"/>
            </a:pPr>
            <a:r>
              <a:rPr lang="en-US" sz="2400"/>
              <a:t>It is a term used in convolutional neural networks to describe how many pixels are added to an image when it is processed by the CNN kernel. If the padding in a CNN is set to zero, for example, every pixel value-added will have the value zero. If the zero padding is set to one, a one-pixel border with a pixel value of zero will be added to the image.</a:t>
            </a:r>
            <a:endParaRPr/>
          </a:p>
          <a:p>
            <a:pPr indent="-50800" lvl="0" marL="228600" rtl="0" algn="l">
              <a:lnSpc>
                <a:spcPct val="90000"/>
              </a:lnSpc>
              <a:spcBef>
                <a:spcPts val="1000"/>
              </a:spcBef>
              <a:spcAft>
                <a:spcPts val="0"/>
              </a:spcAft>
              <a:buClr>
                <a:schemeClr val="dk1"/>
              </a:buClr>
              <a:buSzPct val="100000"/>
              <a:buNone/>
            </a:pPr>
            <a:r>
              <a:t/>
            </a:r>
            <a:endParaRPr/>
          </a:p>
        </p:txBody>
      </p:sp>
      <p:pic>
        <p:nvPicPr>
          <p:cNvPr id="183" name="Google Shape;183;g2e6b17e6d5f_0_116"/>
          <p:cNvPicPr preferRelativeResize="0"/>
          <p:nvPr/>
        </p:nvPicPr>
        <p:blipFill rotWithShape="1">
          <a:blip r:embed="rId3">
            <a:alphaModFix/>
          </a:blip>
          <a:srcRect b="0" l="0" r="0" t="0"/>
          <a:stretch/>
        </p:blipFill>
        <p:spPr>
          <a:xfrm>
            <a:off x="2965677" y="3329511"/>
            <a:ext cx="5273898" cy="2636949"/>
          </a:xfrm>
          <a:prstGeom prst="rect">
            <a:avLst/>
          </a:prstGeom>
          <a:noFill/>
          <a:ln>
            <a:noFill/>
          </a:ln>
        </p:spPr>
      </p:pic>
      <p:sp>
        <p:nvSpPr>
          <p:cNvPr id="184" name="Google Shape;184;g2e6b17e6d5f_0_116"/>
          <p:cNvSpPr txBox="1"/>
          <p:nvPr/>
        </p:nvSpPr>
        <p:spPr>
          <a:xfrm>
            <a:off x="468500" y="5980825"/>
            <a:ext cx="10805400" cy="54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https://stanford.edu/~shervine/teaching/cs-230/cheatsheet-convolutional-neural-networks</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e6b17e6d5f_0_1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Padding</a:t>
            </a:r>
            <a:endParaRPr/>
          </a:p>
        </p:txBody>
      </p:sp>
      <p:sp>
        <p:nvSpPr>
          <p:cNvPr id="190" name="Google Shape;190;g2e6b17e6d5f_0_122"/>
          <p:cNvSpPr txBox="1"/>
          <p:nvPr>
            <p:ph idx="1" type="body"/>
          </p:nvPr>
        </p:nvSpPr>
        <p:spPr>
          <a:xfrm>
            <a:off x="887475" y="1616300"/>
            <a:ext cx="10515600" cy="19866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000"/>
              <a:buChar char="•"/>
            </a:pPr>
            <a:r>
              <a:rPr lang="en-US" sz="2000"/>
              <a:t>Padding works by increasing the processing region of a convolutional neural network. </a:t>
            </a:r>
            <a:endParaRPr sz="2000"/>
          </a:p>
          <a:p>
            <a:pPr indent="-228600" lvl="0" marL="228600" rtl="0" algn="l">
              <a:lnSpc>
                <a:spcPct val="90000"/>
              </a:lnSpc>
              <a:spcBef>
                <a:spcPts val="1000"/>
              </a:spcBef>
              <a:spcAft>
                <a:spcPts val="0"/>
              </a:spcAft>
              <a:buClr>
                <a:schemeClr val="dk1"/>
              </a:buClr>
              <a:buSzPts val="2000"/>
              <a:buChar char="•"/>
            </a:pPr>
            <a:r>
              <a:rPr lang="en-US" sz="2000"/>
              <a:t>The kernel is a neural network filter that moves through a picture, scanning each pixel and turning the data into a smaller or bigger format.</a:t>
            </a:r>
            <a:endParaRPr/>
          </a:p>
          <a:p>
            <a:pPr indent="-228600" lvl="0" marL="228600" rtl="0" algn="l">
              <a:lnSpc>
                <a:spcPct val="90000"/>
              </a:lnSpc>
              <a:spcBef>
                <a:spcPts val="1000"/>
              </a:spcBef>
              <a:spcAft>
                <a:spcPts val="0"/>
              </a:spcAft>
              <a:buClr>
                <a:schemeClr val="dk1"/>
              </a:buClr>
              <a:buSzPts val="2000"/>
              <a:buChar char="•"/>
            </a:pPr>
            <a:r>
              <a:rPr lang="en-US" sz="2000"/>
              <a:t> Padding is added to the image frame to aid the kernel in processing the image by providing more room for the kernel to cover the image. Adding padding to a CNN-processed image provides for more accurate image analysis.</a:t>
            </a:r>
            <a:endParaRPr sz="2000"/>
          </a:p>
        </p:txBody>
      </p:sp>
      <p:sp>
        <p:nvSpPr>
          <p:cNvPr id="191" name="Google Shape;191;g2e6b17e6d5f_0_122"/>
          <p:cNvSpPr txBox="1"/>
          <p:nvPr/>
        </p:nvSpPr>
        <p:spPr>
          <a:xfrm>
            <a:off x="887475" y="3518700"/>
            <a:ext cx="10625700" cy="27711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Padding is often necessary when the kernel extends beyond the activation map.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Padding conserves data at the borders of activation maps, which leads to better performance, and it can help preserve the input's spatial size, which allows an architecture designer to build deeper, higher performing networks.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There exist many padding techniques, but the most commonly used approach is zero-padding because of its performance, simplicity, and computational efficiency.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The technique involves adding zeros symmetrically around the edges of an input.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This approach is adopted by many high-performing CNNs such as AlexNet.</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3a8368671aa_0_4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Kernel size</a:t>
            </a:r>
            <a:endParaRPr/>
          </a:p>
        </p:txBody>
      </p:sp>
      <p:sp>
        <p:nvSpPr>
          <p:cNvPr id="197" name="Google Shape;197;g3a8368671aa_0_4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1000"/>
              </a:spcBef>
              <a:spcAft>
                <a:spcPts val="0"/>
              </a:spcAft>
              <a:buSzPct val="75630"/>
              <a:buNone/>
            </a:pPr>
            <a:r>
              <a:rPr lang="en-US"/>
              <a:t>Kernel size, often also referred to as filter size, refers to the dimensions of the sliding window over the input. </a:t>
            </a:r>
            <a:endParaRPr/>
          </a:p>
          <a:p>
            <a:pPr indent="0" lvl="0" marL="0" rtl="0" algn="l">
              <a:lnSpc>
                <a:spcPct val="90000"/>
              </a:lnSpc>
              <a:spcBef>
                <a:spcPts val="1000"/>
              </a:spcBef>
              <a:spcAft>
                <a:spcPts val="0"/>
              </a:spcAft>
              <a:buSzPct val="75630"/>
              <a:buNone/>
            </a:pPr>
            <a:r>
              <a:rPr lang="en-US"/>
              <a:t>Choosing this hyperparameter has a massive impact on the image classification task. For example, small kernel sizes are able to extract a much larger amount of information containing highly local features from the input. </a:t>
            </a:r>
            <a:endParaRPr/>
          </a:p>
          <a:p>
            <a:pPr indent="0" lvl="0" marL="0" rtl="0" algn="l">
              <a:lnSpc>
                <a:spcPct val="90000"/>
              </a:lnSpc>
              <a:spcBef>
                <a:spcPts val="1000"/>
              </a:spcBef>
              <a:spcAft>
                <a:spcPts val="0"/>
              </a:spcAft>
              <a:buSzPct val="75630"/>
              <a:buNone/>
            </a:pPr>
            <a:r>
              <a:rPr lang="en-US"/>
              <a:t>As you can see on the visualization above, a smaller kernel size also leads to a smaller reduction in layer dimensions, which allows for a deeper architecture. Conversely, a large kernel size extracts less information, which leads to a faster reduction in layer dimensions, often leading to worse performance. Large kernels are better suited to extract features that are larger.</a:t>
            </a:r>
            <a:endParaRPr/>
          </a:p>
          <a:p>
            <a:pPr indent="0" lvl="0" marL="0" rtl="0" algn="l">
              <a:lnSpc>
                <a:spcPct val="90000"/>
              </a:lnSpc>
              <a:spcBef>
                <a:spcPts val="1000"/>
              </a:spcBef>
              <a:spcAft>
                <a:spcPts val="0"/>
              </a:spcAft>
              <a:buSzPct val="75630"/>
              <a:buNone/>
            </a:pPr>
            <a:r>
              <a:rPr lang="en-US"/>
              <a:t> At the end of the day, choosing an appropriate kernel size will be dependent on your task and dataset, but generally, smaller kernel sizes lead to better performance for the image classification task because an architecture designer is able to stack more and more layers together to learn more and more complex features!</a:t>
            </a:r>
            <a:endParaRPr/>
          </a:p>
        </p:txBody>
      </p:sp>
      <p:sp>
        <p:nvSpPr>
          <p:cNvPr id="198" name="Google Shape;198;g3a8368671aa_0_42"/>
          <p:cNvSpPr txBox="1"/>
          <p:nvPr/>
        </p:nvSpPr>
        <p:spPr>
          <a:xfrm>
            <a:off x="598075" y="5881125"/>
            <a:ext cx="10755900" cy="70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https://medium.com/@abhishekjainindore24/all-about-convolutions-kernels-features-in-cnn-c656616390a1</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g2e6b17e6d5f_0_7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Stride</a:t>
            </a:r>
            <a:endParaRPr/>
          </a:p>
        </p:txBody>
      </p:sp>
      <p:sp>
        <p:nvSpPr>
          <p:cNvPr id="204" name="Google Shape;204;g2e6b17e6d5f_0_7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Stride determines how the filter convolves over the input matrix, i.e. how many pixels shift. When stride is set to 1, the filter moves across one pixel at a time, and when the stride is set to 2, the filter moves across two pixels at a time. The smaller the stride value, the smaller the output, and vice versa.</a:t>
            </a:r>
            <a:endParaRPr/>
          </a:p>
        </p:txBody>
      </p:sp>
      <p:pic>
        <p:nvPicPr>
          <p:cNvPr descr="Padding and Stride | Basics of CNN " id="205" name="Google Shape;205;g2e6b17e6d5f_0_78"/>
          <p:cNvPicPr preferRelativeResize="0"/>
          <p:nvPr/>
        </p:nvPicPr>
        <p:blipFill rotWithShape="1">
          <a:blip r:embed="rId3">
            <a:alphaModFix/>
          </a:blip>
          <a:srcRect b="0" l="0" r="0" t="0"/>
          <a:stretch/>
        </p:blipFill>
        <p:spPr>
          <a:xfrm>
            <a:off x="2231266" y="4050303"/>
            <a:ext cx="7729466" cy="258772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a8368671aa_0_5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Stride</a:t>
            </a:r>
            <a:endParaRPr/>
          </a:p>
        </p:txBody>
      </p:sp>
      <p:sp>
        <p:nvSpPr>
          <p:cNvPr id="211" name="Google Shape;211;g3a8368671aa_0_5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1000"/>
              </a:spcBef>
              <a:spcAft>
                <a:spcPts val="0"/>
              </a:spcAft>
              <a:buSzPct val="82949"/>
              <a:buNone/>
            </a:pPr>
            <a:r>
              <a:rPr lang="en-US"/>
              <a:t>Stride indicates how many pixels the kernel should be shifted over at a time.</a:t>
            </a:r>
            <a:endParaRPr/>
          </a:p>
          <a:p>
            <a:pPr indent="0" lvl="0" marL="0" rtl="0" algn="l">
              <a:lnSpc>
                <a:spcPct val="90000"/>
              </a:lnSpc>
              <a:spcBef>
                <a:spcPts val="1000"/>
              </a:spcBef>
              <a:spcAft>
                <a:spcPts val="0"/>
              </a:spcAft>
              <a:buSzPct val="82949"/>
              <a:buNone/>
            </a:pPr>
            <a:r>
              <a:rPr lang="en-US"/>
              <a:t> For example, as described in the convolutional layer example above, Tiny VGG uses a stride of 1 for its convolutional layers, which means that the dot product is performed on a 3x3 window of the input to yield an output value, then is shifted to the right by one pixel for every subsequent operation. </a:t>
            </a:r>
            <a:endParaRPr/>
          </a:p>
          <a:p>
            <a:pPr indent="0" lvl="0" marL="0" rtl="0" algn="l">
              <a:lnSpc>
                <a:spcPct val="90000"/>
              </a:lnSpc>
              <a:spcBef>
                <a:spcPts val="1000"/>
              </a:spcBef>
              <a:spcAft>
                <a:spcPts val="0"/>
              </a:spcAft>
              <a:buSzPct val="82949"/>
              <a:buNone/>
            </a:pPr>
            <a:r>
              <a:rPr lang="en-US"/>
              <a:t>The impact stride has on a CNN is similar to kernel size. </a:t>
            </a:r>
            <a:endParaRPr/>
          </a:p>
          <a:p>
            <a:pPr indent="0" lvl="0" marL="0" rtl="0" algn="l">
              <a:lnSpc>
                <a:spcPct val="90000"/>
              </a:lnSpc>
              <a:spcBef>
                <a:spcPts val="1000"/>
              </a:spcBef>
              <a:spcAft>
                <a:spcPts val="0"/>
              </a:spcAft>
              <a:buSzPct val="82949"/>
              <a:buNone/>
            </a:pPr>
            <a:r>
              <a:rPr lang="en-US"/>
              <a:t>As stride is decreased, more features are learned because more data is extracted, which also leads to larger output layers.</a:t>
            </a:r>
            <a:endParaRPr/>
          </a:p>
          <a:p>
            <a:pPr indent="0" lvl="0" marL="0" rtl="0" algn="l">
              <a:lnSpc>
                <a:spcPct val="90000"/>
              </a:lnSpc>
              <a:spcBef>
                <a:spcPts val="1000"/>
              </a:spcBef>
              <a:spcAft>
                <a:spcPts val="0"/>
              </a:spcAft>
              <a:buSzPct val="82949"/>
              <a:buNone/>
            </a:pPr>
            <a:r>
              <a:rPr lang="en-US"/>
              <a:t> On the contrary, as stride is increased, this leads to more limited feature extraction and smaller output layer dimensions.</a:t>
            </a:r>
            <a:endParaRPr/>
          </a:p>
          <a:p>
            <a:pPr indent="0" lvl="0" marL="0" rtl="0" algn="l">
              <a:lnSpc>
                <a:spcPct val="90000"/>
              </a:lnSpc>
              <a:spcBef>
                <a:spcPts val="1000"/>
              </a:spcBef>
              <a:spcAft>
                <a:spcPts val="0"/>
              </a:spcAft>
              <a:buSzPct val="82949"/>
              <a:buNone/>
            </a:pPr>
            <a:r>
              <a:rPr lang="en-US"/>
              <a:t> One responsibility of the architecture designer is to ensure that the kernel slides across the input symmetrically when implementing a CNN.</a:t>
            </a:r>
            <a:endParaRPr/>
          </a:p>
          <a:p>
            <a:pPr indent="0" lvl="0" marL="0" rtl="0" algn="l">
              <a:lnSpc>
                <a:spcPct val="90000"/>
              </a:lnSpc>
              <a:spcBef>
                <a:spcPts val="1000"/>
              </a:spcBef>
              <a:spcAft>
                <a:spcPts val="0"/>
              </a:spcAft>
              <a:buSzPct val="82949"/>
              <a:buNone/>
            </a:pPr>
            <a:r>
              <a:rPr lang="en-US"/>
              <a:t> Use the hyperparameter visualization above to alter stride on various input/kernel dimensions to understand this constraint!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2e6b17e6d5f_0_8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Pooling</a:t>
            </a:r>
            <a:br>
              <a:rPr lang="en-US"/>
            </a:br>
            <a:endParaRPr/>
          </a:p>
        </p:txBody>
      </p:sp>
      <p:sp>
        <p:nvSpPr>
          <p:cNvPr id="217" name="Google Shape;217;g2e6b17e6d5f_0_84"/>
          <p:cNvSpPr txBox="1"/>
          <p:nvPr>
            <p:ph idx="1" type="body"/>
          </p:nvPr>
        </p:nvSpPr>
        <p:spPr>
          <a:xfrm>
            <a:off x="838200" y="1786990"/>
            <a:ext cx="10515600" cy="904800"/>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Its purpose is to gradually shrink the representation’s spatial size to reduce the number of parameters and computations in the network. The pooling layer treats each feature map separately.</a:t>
            </a:r>
            <a:endParaRPr/>
          </a:p>
        </p:txBody>
      </p:sp>
      <p:pic>
        <p:nvPicPr>
          <p:cNvPr id="218" name="Google Shape;218;g2e6b17e6d5f_0_84"/>
          <p:cNvPicPr preferRelativeResize="0"/>
          <p:nvPr/>
        </p:nvPicPr>
        <p:blipFill rotWithShape="1">
          <a:blip r:embed="rId3">
            <a:alphaModFix/>
          </a:blip>
          <a:srcRect b="0" l="0" r="0" t="0"/>
          <a:stretch/>
        </p:blipFill>
        <p:spPr>
          <a:xfrm>
            <a:off x="3457575" y="2787988"/>
            <a:ext cx="5276850" cy="38962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2e6b17e6d5f_0_9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SzPts val="2800"/>
              <a:buFont typeface="Arial"/>
              <a:buChar char="•"/>
            </a:pPr>
            <a:r>
              <a:rPr lang="en-US" sz="2800"/>
              <a:t>Methods for pooling:</a:t>
            </a:r>
            <a:endParaRPr sz="2800"/>
          </a:p>
          <a:p>
            <a:pPr indent="0" lvl="0" marL="0" rtl="0" algn="l">
              <a:lnSpc>
                <a:spcPct val="90000"/>
              </a:lnSpc>
              <a:spcBef>
                <a:spcPts val="0"/>
              </a:spcBef>
              <a:spcAft>
                <a:spcPts val="0"/>
              </a:spcAft>
              <a:buClr>
                <a:schemeClr val="dk1"/>
              </a:buClr>
              <a:buSzPts val="4400"/>
              <a:buFont typeface="Calibri"/>
              <a:buNone/>
            </a:pPr>
            <a:r>
              <a:t/>
            </a:r>
            <a:endParaRPr sz="2800"/>
          </a:p>
        </p:txBody>
      </p:sp>
      <p:sp>
        <p:nvSpPr>
          <p:cNvPr id="224" name="Google Shape;224;g2e6b17e6d5f_0_9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1000"/>
              </a:spcBef>
              <a:spcAft>
                <a:spcPts val="0"/>
              </a:spcAft>
              <a:buClr>
                <a:schemeClr val="dk1"/>
              </a:buClr>
              <a:buSzPts val="2800"/>
              <a:buChar char="•"/>
            </a:pPr>
            <a:r>
              <a:rPr b="1" i="1" lang="en-US"/>
              <a:t>Max-pooling</a:t>
            </a:r>
            <a:r>
              <a:rPr lang="en-US"/>
              <a:t>: It chooses the most significant element from the feature map. The feature map’s significant features are stored in the resulting max-pooled layer. It is the most popular method since it produces the best outcomes.</a:t>
            </a:r>
            <a:endParaRPr/>
          </a:p>
          <a:p>
            <a:pPr indent="-228600" lvl="0" marL="228600" rtl="0" algn="l">
              <a:lnSpc>
                <a:spcPct val="90000"/>
              </a:lnSpc>
              <a:spcBef>
                <a:spcPts val="1000"/>
              </a:spcBef>
              <a:spcAft>
                <a:spcPts val="0"/>
              </a:spcAft>
              <a:buClr>
                <a:schemeClr val="dk1"/>
              </a:buClr>
              <a:buSzPts val="2800"/>
              <a:buChar char="•"/>
            </a:pPr>
            <a:r>
              <a:rPr b="1" i="1" lang="en-US"/>
              <a:t>Average pooling</a:t>
            </a:r>
            <a:r>
              <a:rPr lang="en-US"/>
              <a:t>: It entails calculating the average for each region of the feature map.</a:t>
            </a:r>
            <a:endParaRPr/>
          </a:p>
          <a:p>
            <a:pPr indent="-228600" lvl="0" marL="228600" rtl="0" algn="l">
              <a:lnSpc>
                <a:spcPct val="90000"/>
              </a:lnSpc>
              <a:spcBef>
                <a:spcPts val="1000"/>
              </a:spcBef>
              <a:spcAft>
                <a:spcPts val="0"/>
              </a:spcAft>
              <a:buClr>
                <a:schemeClr val="dk1"/>
              </a:buClr>
              <a:buSzPts val="2800"/>
              <a:buChar char="•"/>
            </a:pPr>
            <a:r>
              <a:rPr lang="en-US"/>
              <a:t>Pooling gradually reduces the spatial dimension of the representation to reduce the number of parameters and computations in the network, as well as to prevent overfitting. If there is no pooling, the output has the same resolution as the input.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2e6b17e6d5f_0_9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ReLU</a:t>
            </a:r>
            <a:br>
              <a:rPr lang="en-US"/>
            </a:br>
            <a:endParaRPr/>
          </a:p>
        </p:txBody>
      </p:sp>
      <p:sp>
        <p:nvSpPr>
          <p:cNvPr id="230" name="Google Shape;230;g2e6b17e6d5f_0_95"/>
          <p:cNvSpPr txBox="1"/>
          <p:nvPr>
            <p:ph idx="1" type="body"/>
          </p:nvPr>
        </p:nvSpPr>
        <p:spPr>
          <a:xfrm>
            <a:off x="838200" y="1825625"/>
            <a:ext cx="10515600" cy="1679700"/>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a:t>
            </a:r>
            <a:r>
              <a:rPr b="1" i="1" lang="en-US"/>
              <a:t>rectified linear activation function</a:t>
            </a:r>
            <a:r>
              <a:rPr i="1" lang="en-US"/>
              <a:t>, </a:t>
            </a:r>
            <a:r>
              <a:rPr lang="en-US"/>
              <a:t>or ReLU for short, is a piecewise linear function that, if the input is positive, outputs the input directly; else, it outputs zero. Because a model that utilizes it is quicker to train and generally produces higher performance, it has become the default activation function for many types of neural networks.</a:t>
            </a:r>
            <a:endParaRPr/>
          </a:p>
        </p:txBody>
      </p:sp>
      <p:pic>
        <p:nvPicPr>
          <p:cNvPr descr="ReLu " id="231" name="Google Shape;231;g2e6b17e6d5f_0_95"/>
          <p:cNvPicPr preferRelativeResize="0"/>
          <p:nvPr/>
        </p:nvPicPr>
        <p:blipFill rotWithShape="1">
          <a:blip r:embed="rId3">
            <a:alphaModFix/>
          </a:blip>
          <a:srcRect b="0" l="0" r="0" t="0"/>
          <a:stretch/>
        </p:blipFill>
        <p:spPr>
          <a:xfrm>
            <a:off x="2686050" y="3640137"/>
            <a:ext cx="6248401" cy="254270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2e6b17e6d5f_0_10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SzPts val="2800"/>
              <a:buFont typeface="Arial"/>
              <a:buChar char="•"/>
            </a:pPr>
            <a:r>
              <a:rPr lang="en-US" sz="2800"/>
              <a:t>CNN</a:t>
            </a:r>
            <a:endParaRPr/>
          </a:p>
        </p:txBody>
      </p:sp>
      <p:sp>
        <p:nvSpPr>
          <p:cNvPr id="237" name="Google Shape;237;g2e6b17e6d5f_0_10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2800"/>
              <a:buChar char="•"/>
            </a:pPr>
            <a:r>
              <a:rPr lang="en-US"/>
              <a:t>At the end of CNN, there is a</a:t>
            </a:r>
            <a:r>
              <a:rPr b="1" i="1" lang="en-US"/>
              <a:t> Fully connected</a:t>
            </a:r>
            <a:r>
              <a:rPr lang="en-US"/>
              <a:t> layer of neurons. As in conventional Neural Networks, neurons in a fully connected layer have full connections to all activations in the previous layer and work similarly. </a:t>
            </a:r>
            <a:endParaRPr/>
          </a:p>
          <a:p>
            <a:pPr indent="-228600" lvl="0" marL="228600" rtl="0" algn="l">
              <a:lnSpc>
                <a:spcPct val="90000"/>
              </a:lnSpc>
              <a:spcBef>
                <a:spcPts val="1000"/>
              </a:spcBef>
              <a:spcAft>
                <a:spcPts val="0"/>
              </a:spcAft>
              <a:buClr>
                <a:schemeClr val="dk1"/>
              </a:buClr>
              <a:buSzPts val="2800"/>
              <a:buChar char="•"/>
            </a:pPr>
            <a:r>
              <a:rPr lang="en-US"/>
              <a:t>After training, the feature vector from the fully connected layer is used to classify images into distinct categories. </a:t>
            </a:r>
            <a:endParaRPr/>
          </a:p>
          <a:p>
            <a:pPr indent="-228600" lvl="0" marL="228600" rtl="0" algn="l">
              <a:lnSpc>
                <a:spcPct val="90000"/>
              </a:lnSpc>
              <a:spcBef>
                <a:spcPts val="1000"/>
              </a:spcBef>
              <a:spcAft>
                <a:spcPts val="0"/>
              </a:spcAft>
              <a:buClr>
                <a:schemeClr val="dk1"/>
              </a:buClr>
              <a:buSzPts val="2800"/>
              <a:buChar char="•"/>
            </a:pPr>
            <a:r>
              <a:rPr lang="en-US"/>
              <a:t>Every activation unit in the next layer is coupled to all of the inputs from this layer. </a:t>
            </a:r>
            <a:endParaRPr/>
          </a:p>
          <a:p>
            <a:pPr indent="-228600" lvl="0" marL="228600" rtl="0" algn="l">
              <a:lnSpc>
                <a:spcPct val="90000"/>
              </a:lnSpc>
              <a:spcBef>
                <a:spcPts val="1000"/>
              </a:spcBef>
              <a:spcAft>
                <a:spcPts val="0"/>
              </a:spcAft>
              <a:buClr>
                <a:schemeClr val="dk1"/>
              </a:buClr>
              <a:buSzPts val="2800"/>
              <a:buChar char="•"/>
            </a:pPr>
            <a:r>
              <a:rPr lang="en-US"/>
              <a:t>Overfitting occurs because all of the parameters are occupied in the fully-connected layer. </a:t>
            </a:r>
            <a:endParaRPr/>
          </a:p>
          <a:p>
            <a:pPr indent="-228600" lvl="0" marL="228600" rtl="0" algn="l">
              <a:lnSpc>
                <a:spcPct val="90000"/>
              </a:lnSpc>
              <a:spcBef>
                <a:spcPts val="1000"/>
              </a:spcBef>
              <a:spcAft>
                <a:spcPts val="0"/>
              </a:spcAft>
              <a:buClr>
                <a:schemeClr val="dk1"/>
              </a:buClr>
              <a:buSzPts val="2800"/>
              <a:buChar char="•"/>
            </a:pPr>
            <a:r>
              <a:rPr lang="en-US"/>
              <a:t>Overfitting can be reduced using a variety of strategies, including dropout.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e6b17e6d5f_0_10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SzPts val="2800"/>
              <a:buFont typeface="Arial"/>
              <a:buChar char="•"/>
            </a:pPr>
            <a:r>
              <a:rPr b="1" i="1" lang="en-US" sz="2800"/>
              <a:t>Soft-max</a:t>
            </a:r>
            <a:endParaRPr/>
          </a:p>
        </p:txBody>
      </p:sp>
      <p:sp>
        <p:nvSpPr>
          <p:cNvPr id="243" name="Google Shape;243;g2e6b17e6d5f_0_106"/>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is an activation layer that is typically applied to the network’s last layer, which serves as a classifier. This layer is responsible for categorizing provided input into distinct types. A network’s non-normalized output is mapped to a probability distribution using the softmax function.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descr="Basics of CNN " id="248" name="Google Shape;248;p8"/>
          <p:cNvPicPr preferRelativeResize="0"/>
          <p:nvPr>
            <p:ph idx="1" type="body"/>
          </p:nvPr>
        </p:nvPicPr>
        <p:blipFill rotWithShape="1">
          <a:blip r:embed="rId3">
            <a:alphaModFix/>
          </a:blip>
          <a:srcRect b="0" l="0" r="0" t="0"/>
          <a:stretch/>
        </p:blipFill>
        <p:spPr>
          <a:xfrm>
            <a:off x="2952749" y="395766"/>
            <a:ext cx="6153151" cy="3048409"/>
          </a:xfrm>
          <a:prstGeom prst="rect">
            <a:avLst/>
          </a:prstGeom>
          <a:noFill/>
          <a:ln>
            <a:noFill/>
          </a:ln>
        </p:spPr>
      </p:pic>
      <p:sp>
        <p:nvSpPr>
          <p:cNvPr id="249" name="Google Shape;249;p8"/>
          <p:cNvSpPr txBox="1"/>
          <p:nvPr/>
        </p:nvSpPr>
        <p:spPr>
          <a:xfrm>
            <a:off x="265182" y="3534013"/>
            <a:ext cx="11899540" cy="295465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kernel’s centre element is put above the source pixel. </a:t>
            </a:r>
            <a:endParaRPr b="0" i="0"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After that, the source pixel is replaced with a weighted sum of itself and neighboring pixels.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Parameter sharing and local connectivity are two principles used in CNNs.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All neurons in a feature map share weights, which is known as parameter sharing. </a:t>
            </a:r>
            <a:endParaRPr b="0" i="0" sz="2400" u="none" cap="none" strike="noStrike">
              <a:solidFill>
                <a:schemeClr val="dk1"/>
              </a:solidFill>
              <a:latin typeface="Calibri"/>
              <a:ea typeface="Calibri"/>
              <a:cs typeface="Calibri"/>
              <a:sym typeface="Calibri"/>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Local connection refers to the idea of each neural being connected to only a part of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the input image (as opposed to a neural network in which all neurons are fully connected).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This reduces the number of  parameters in the system and speeds up the calculation.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g2e6b17e6d5f_0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69565"/>
              </a:lnSpc>
              <a:spcBef>
                <a:spcPts val="2700"/>
              </a:spcBef>
              <a:spcAft>
                <a:spcPts val="0"/>
              </a:spcAft>
              <a:buSzPct val="63492"/>
              <a:buNone/>
            </a:pPr>
            <a:r>
              <a:t/>
            </a:r>
            <a:endParaRPr b="1" sz="3150">
              <a:solidFill>
                <a:srgbClr val="242424"/>
              </a:solidFill>
              <a:highlight>
                <a:srgbClr val="FFFFFF"/>
              </a:highlight>
              <a:latin typeface="Arial"/>
              <a:ea typeface="Arial"/>
              <a:cs typeface="Arial"/>
              <a:sym typeface="Arial"/>
            </a:endParaRPr>
          </a:p>
          <a:p>
            <a:pPr indent="0" lvl="0" marL="0" rtl="0" algn="l">
              <a:lnSpc>
                <a:spcPct val="169565"/>
              </a:lnSpc>
              <a:spcBef>
                <a:spcPts val="2700"/>
              </a:spcBef>
              <a:spcAft>
                <a:spcPts val="0"/>
              </a:spcAft>
              <a:buClr>
                <a:schemeClr val="dk1"/>
              </a:buClr>
              <a:buSzPct val="34920"/>
              <a:buFont typeface="Arial"/>
              <a:buNone/>
            </a:pPr>
            <a:r>
              <a:rPr b="1" lang="en-US" sz="3150">
                <a:solidFill>
                  <a:srgbClr val="242424"/>
                </a:solidFill>
                <a:highlight>
                  <a:srgbClr val="FFFFFF"/>
                </a:highlight>
                <a:latin typeface="Arial"/>
                <a:ea typeface="Arial"/>
                <a:cs typeface="Arial"/>
                <a:sym typeface="Arial"/>
              </a:rPr>
              <a:t>Filters/Kernels</a:t>
            </a:r>
            <a:endParaRPr b="1" sz="3150">
              <a:solidFill>
                <a:srgbClr val="242424"/>
              </a:solidFill>
              <a:highlight>
                <a:srgbClr val="FFFFFF"/>
              </a:highlight>
              <a:latin typeface="Arial"/>
              <a:ea typeface="Arial"/>
              <a:cs typeface="Arial"/>
              <a:sym typeface="Arial"/>
            </a:endParaRPr>
          </a:p>
          <a:p>
            <a:pPr indent="0" lvl="0" marL="0" rtl="0" algn="l">
              <a:lnSpc>
                <a:spcPct val="90000"/>
              </a:lnSpc>
              <a:spcBef>
                <a:spcPts val="2400"/>
              </a:spcBef>
              <a:spcAft>
                <a:spcPts val="0"/>
              </a:spcAft>
              <a:buSzPct val="45454"/>
              <a:buNone/>
            </a:pPr>
            <a:r>
              <a:t/>
            </a:r>
            <a:endParaRPr/>
          </a:p>
        </p:txBody>
      </p:sp>
      <p:sp>
        <p:nvSpPr>
          <p:cNvPr id="255" name="Google Shape;255;g2e6b17e6d5f_0_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A filter, or kernel, in a CNN is a small matrix of weights that slides over the input data (such as an image), performs element-wise multiplication with the part of the input it is currently on, and then sums up all the results into a single output pixel. </a:t>
            </a:r>
            <a:endParaRPr/>
          </a:p>
          <a:p>
            <a:pPr indent="0" lvl="0" marL="0" rtl="0" algn="l">
              <a:lnSpc>
                <a:spcPct val="90000"/>
              </a:lnSpc>
              <a:spcBef>
                <a:spcPts val="1000"/>
              </a:spcBef>
              <a:spcAft>
                <a:spcPts val="0"/>
              </a:spcAft>
              <a:buSzPts val="1800"/>
              <a:buNone/>
            </a:pPr>
            <a:r>
              <a:rPr lang="en-US"/>
              <a:t>This process is known as </a:t>
            </a:r>
            <a:r>
              <a:rPr b="1" lang="en-US"/>
              <a:t>convolution.</a:t>
            </a:r>
            <a:endParaRPr b="1"/>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2e6b17e6d5f_0_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Filter works</a:t>
            </a:r>
            <a:endParaRPr/>
          </a:p>
        </p:txBody>
      </p:sp>
      <p:sp>
        <p:nvSpPr>
          <p:cNvPr id="261" name="Google Shape;261;g2e6b17e6d5f_0_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70000"/>
          </a:bodyPr>
          <a:lstStyle/>
          <a:p>
            <a:pPr indent="0" lvl="0" marL="0" rtl="0" algn="l">
              <a:lnSpc>
                <a:spcPct val="90000"/>
              </a:lnSpc>
              <a:spcBef>
                <a:spcPts val="1000"/>
              </a:spcBef>
              <a:spcAft>
                <a:spcPts val="0"/>
              </a:spcAft>
              <a:buSzPct val="171427"/>
              <a:buNone/>
            </a:pPr>
            <a:r>
              <a:rPr lang="en-US" sz="1500">
                <a:solidFill>
                  <a:srgbClr val="242424"/>
                </a:solidFill>
                <a:highlight>
                  <a:srgbClr val="FFFFFF"/>
                </a:highlight>
                <a:latin typeface="Georgia"/>
                <a:ea typeface="Georgia"/>
                <a:cs typeface="Georgia"/>
                <a:sym typeface="Georgia"/>
              </a:rPr>
              <a:t>Filters are at the heart of what makes CNNs work. They are the primary component that helps the model extract useful features from the input data.</a:t>
            </a:r>
            <a:endParaRPr sz="1500">
              <a:solidFill>
                <a:srgbClr val="242424"/>
              </a:solidFill>
              <a:highlight>
                <a:srgbClr val="FFFFFF"/>
              </a:highlight>
              <a:latin typeface="Georgia"/>
              <a:ea typeface="Georgia"/>
              <a:cs typeface="Georgia"/>
              <a:sym typeface="Georgia"/>
            </a:endParaRPr>
          </a:p>
          <a:p>
            <a:pPr indent="-295275" lvl="0" marL="749300" rtl="0" algn="l">
              <a:lnSpc>
                <a:spcPct val="218181"/>
              </a:lnSpc>
              <a:spcBef>
                <a:spcPts val="1400"/>
              </a:spcBef>
              <a:spcAft>
                <a:spcPts val="0"/>
              </a:spcAft>
              <a:buClr>
                <a:srgbClr val="242424"/>
              </a:buClr>
              <a:buSzPct val="100000"/>
              <a:buFont typeface="Georgia"/>
              <a:buAutoNum type="arabicPeriod"/>
            </a:pPr>
            <a:r>
              <a:rPr b="1" lang="en-US" sz="1500">
                <a:solidFill>
                  <a:srgbClr val="242424"/>
                </a:solidFill>
                <a:highlight>
                  <a:srgbClr val="FFFFFF"/>
                </a:highlight>
                <a:latin typeface="Georgia"/>
                <a:ea typeface="Georgia"/>
                <a:cs typeface="Georgia"/>
                <a:sym typeface="Georgia"/>
              </a:rPr>
              <a:t>Size:</a:t>
            </a:r>
            <a:r>
              <a:rPr lang="en-US" sz="1500">
                <a:solidFill>
                  <a:srgbClr val="242424"/>
                </a:solidFill>
                <a:highlight>
                  <a:srgbClr val="FFFFFF"/>
                </a:highlight>
                <a:latin typeface="Georgia"/>
                <a:ea typeface="Georgia"/>
                <a:cs typeface="Georgia"/>
                <a:sym typeface="Georgia"/>
              </a:rPr>
              <a:t> Filters are typically small, square matrices. A filter’s size is a crucial hyperparameter that you must set. Common dimensions include 3x3, 5x5, and 7x7.</a:t>
            </a:r>
            <a:endParaRPr sz="1500">
              <a:solidFill>
                <a:srgbClr val="242424"/>
              </a:solidFill>
              <a:highlight>
                <a:srgbClr val="FFFFFF"/>
              </a:highlight>
              <a:latin typeface="Georgia"/>
              <a:ea typeface="Georgia"/>
              <a:cs typeface="Georgia"/>
              <a:sym typeface="Georgia"/>
            </a:endParaRPr>
          </a:p>
          <a:p>
            <a:pPr indent="-295275" lvl="0" marL="749300" rtl="0" algn="l">
              <a:lnSpc>
                <a:spcPct val="218181"/>
              </a:lnSpc>
              <a:spcBef>
                <a:spcPts val="0"/>
              </a:spcBef>
              <a:spcAft>
                <a:spcPts val="0"/>
              </a:spcAft>
              <a:buClr>
                <a:srgbClr val="242424"/>
              </a:buClr>
              <a:buSzPct val="100000"/>
              <a:buFont typeface="Georgia"/>
              <a:buAutoNum type="arabicPeriod"/>
            </a:pPr>
            <a:r>
              <a:rPr b="1" lang="en-US" sz="1500">
                <a:solidFill>
                  <a:srgbClr val="242424"/>
                </a:solidFill>
                <a:highlight>
                  <a:srgbClr val="FFFFFF"/>
                </a:highlight>
                <a:latin typeface="Georgia"/>
                <a:ea typeface="Georgia"/>
                <a:cs typeface="Georgia"/>
                <a:sym typeface="Georgia"/>
              </a:rPr>
              <a:t>Sliding the Filter:</a:t>
            </a:r>
            <a:r>
              <a:rPr lang="en-US" sz="1500">
                <a:solidFill>
                  <a:srgbClr val="242424"/>
                </a:solidFill>
                <a:highlight>
                  <a:srgbClr val="FFFFFF"/>
                </a:highlight>
                <a:latin typeface="Georgia"/>
                <a:ea typeface="Georgia"/>
                <a:cs typeface="Georgia"/>
                <a:sym typeface="Georgia"/>
              </a:rPr>
              <a:t> The filter slides across the input data, moving by a certain number of pixels each time, defined by the “stride” (which we’ll discuss later). At each position, the filter covers a small portion of the input image.</a:t>
            </a:r>
            <a:endParaRPr sz="1500">
              <a:solidFill>
                <a:srgbClr val="242424"/>
              </a:solidFill>
              <a:highlight>
                <a:srgbClr val="FFFFFF"/>
              </a:highlight>
              <a:latin typeface="Georgia"/>
              <a:ea typeface="Georgia"/>
              <a:cs typeface="Georgia"/>
              <a:sym typeface="Georgia"/>
            </a:endParaRPr>
          </a:p>
          <a:p>
            <a:pPr indent="-295275" lvl="0" marL="749300" rtl="0" algn="l">
              <a:lnSpc>
                <a:spcPct val="218181"/>
              </a:lnSpc>
              <a:spcBef>
                <a:spcPts val="0"/>
              </a:spcBef>
              <a:spcAft>
                <a:spcPts val="0"/>
              </a:spcAft>
              <a:buClr>
                <a:srgbClr val="242424"/>
              </a:buClr>
              <a:buSzPct val="100000"/>
              <a:buFont typeface="Georgia"/>
              <a:buAutoNum type="arabicPeriod"/>
            </a:pPr>
            <a:r>
              <a:rPr b="1" lang="en-US" sz="1500">
                <a:solidFill>
                  <a:srgbClr val="242424"/>
                </a:solidFill>
                <a:highlight>
                  <a:srgbClr val="FFFFFF"/>
                </a:highlight>
                <a:latin typeface="Georgia"/>
                <a:ea typeface="Georgia"/>
                <a:cs typeface="Georgia"/>
                <a:sym typeface="Georgia"/>
              </a:rPr>
              <a:t>Convolution Operation:</a:t>
            </a:r>
            <a:r>
              <a:rPr lang="en-US" sz="1500">
                <a:solidFill>
                  <a:srgbClr val="242424"/>
                </a:solidFill>
                <a:highlight>
                  <a:srgbClr val="FFFFFF"/>
                </a:highlight>
                <a:latin typeface="Georgia"/>
                <a:ea typeface="Georgia"/>
                <a:cs typeface="Georgia"/>
                <a:sym typeface="Georgia"/>
              </a:rPr>
              <a:t> At each position, the filter performs an operation on the part of the image it’s currently on. This operation involves element-wise multiplication of the filter’s weights and the pixel values in the image, followed by summing these results. This produces a single value that represents that specific location on the output feature map.</a:t>
            </a:r>
            <a:endParaRPr sz="1500">
              <a:solidFill>
                <a:srgbClr val="242424"/>
              </a:solidFill>
              <a:highlight>
                <a:srgbClr val="FFFFFF"/>
              </a:highlight>
              <a:latin typeface="Georgia"/>
              <a:ea typeface="Georgia"/>
              <a:cs typeface="Georgia"/>
              <a:sym typeface="Georgia"/>
            </a:endParaRPr>
          </a:p>
          <a:p>
            <a:pPr indent="-295275" lvl="0" marL="749300" rtl="0" algn="l">
              <a:lnSpc>
                <a:spcPct val="218181"/>
              </a:lnSpc>
              <a:spcBef>
                <a:spcPts val="0"/>
              </a:spcBef>
              <a:spcAft>
                <a:spcPts val="0"/>
              </a:spcAft>
              <a:buClr>
                <a:srgbClr val="242424"/>
              </a:buClr>
              <a:buSzPct val="100000"/>
              <a:buFont typeface="Georgia"/>
              <a:buAutoNum type="arabicPeriod"/>
            </a:pPr>
            <a:r>
              <a:rPr b="1" lang="en-US" sz="1500">
                <a:solidFill>
                  <a:srgbClr val="242424"/>
                </a:solidFill>
                <a:highlight>
                  <a:srgbClr val="FFFFFF"/>
                </a:highlight>
                <a:latin typeface="Georgia"/>
                <a:ea typeface="Georgia"/>
                <a:cs typeface="Georgia"/>
                <a:sym typeface="Georgia"/>
              </a:rPr>
              <a:t>Learning:</a:t>
            </a:r>
            <a:r>
              <a:rPr lang="en-US" sz="1500">
                <a:solidFill>
                  <a:srgbClr val="242424"/>
                </a:solidFill>
                <a:highlight>
                  <a:srgbClr val="FFFFFF"/>
                </a:highlight>
                <a:latin typeface="Georgia"/>
                <a:ea typeface="Georgia"/>
                <a:cs typeface="Georgia"/>
                <a:sym typeface="Georgia"/>
              </a:rPr>
              <a:t> During training, the CNN learns the best values for the filter weights to achieve the task at hand (e.g., classifying images, detecting objects, etc.). This is done through backpropagation and optimization algorithms, just like any other weights in a neural network.</a:t>
            </a:r>
            <a:endParaRPr sz="1500">
              <a:solidFill>
                <a:srgbClr val="242424"/>
              </a:solidFill>
              <a:highlight>
                <a:srgbClr val="FFFFFF"/>
              </a:highlight>
              <a:latin typeface="Georgia"/>
              <a:ea typeface="Georgia"/>
              <a:cs typeface="Georgia"/>
              <a:sym typeface="Georgia"/>
            </a:endParaRPr>
          </a:p>
          <a:p>
            <a:pPr indent="-295275" lvl="0" marL="749300" rtl="0" algn="l">
              <a:lnSpc>
                <a:spcPct val="218181"/>
              </a:lnSpc>
              <a:spcBef>
                <a:spcPts val="0"/>
              </a:spcBef>
              <a:spcAft>
                <a:spcPts val="0"/>
              </a:spcAft>
              <a:buClr>
                <a:srgbClr val="242424"/>
              </a:buClr>
              <a:buSzPct val="100000"/>
              <a:buFont typeface="Georgia"/>
              <a:buAutoNum type="arabicPeriod"/>
            </a:pPr>
            <a:r>
              <a:rPr b="1" lang="en-US" sz="1500">
                <a:solidFill>
                  <a:srgbClr val="242424"/>
                </a:solidFill>
                <a:highlight>
                  <a:srgbClr val="FFFFFF"/>
                </a:highlight>
                <a:latin typeface="Georgia"/>
                <a:ea typeface="Georgia"/>
                <a:cs typeface="Georgia"/>
                <a:sym typeface="Georgia"/>
              </a:rPr>
              <a:t>Feature Extraction:</a:t>
            </a:r>
            <a:r>
              <a:rPr lang="en-US" sz="1500">
                <a:solidFill>
                  <a:srgbClr val="242424"/>
                </a:solidFill>
                <a:highlight>
                  <a:srgbClr val="FFFFFF"/>
                </a:highlight>
                <a:latin typeface="Georgia"/>
                <a:ea typeface="Georgia"/>
                <a:cs typeface="Georgia"/>
                <a:sym typeface="Georgia"/>
              </a:rPr>
              <a:t> Filters are responsible for feature extraction in CNNs. For example, some filters might become specialized to detect horizontal edges in an image, others might detect vertical edges, colors, textures, etc. As the model becomes deeper, the filters can recognize more complex patterns.</a:t>
            </a:r>
            <a:endParaRPr sz="1500">
              <a:solidFill>
                <a:srgbClr val="242424"/>
              </a:solidFill>
              <a:highlight>
                <a:srgbClr val="FFFFFF"/>
              </a:highlight>
              <a:latin typeface="Georgia"/>
              <a:ea typeface="Georgia"/>
              <a:cs typeface="Georgia"/>
              <a:sym typeface="Georgia"/>
            </a:endParaRPr>
          </a:p>
          <a:p>
            <a:pPr indent="0" lvl="0" marL="0" rtl="0" algn="l">
              <a:lnSpc>
                <a:spcPct val="90000"/>
              </a:lnSpc>
              <a:spcBef>
                <a:spcPts val="1000"/>
              </a:spcBef>
              <a:spcAft>
                <a:spcPts val="0"/>
              </a:spcAft>
              <a:buSzPct val="171427"/>
              <a:buNone/>
            </a:pPr>
            <a:r>
              <a:t/>
            </a:r>
            <a:endParaRPr sz="1500">
              <a:solidFill>
                <a:srgbClr val="242424"/>
              </a:solidFill>
              <a:highlight>
                <a:srgbClr val="FFFFFF"/>
              </a:highlight>
              <a:latin typeface="Georgia"/>
              <a:ea typeface="Georgia"/>
              <a:cs typeface="Georgia"/>
              <a:sym typeface="Georgia"/>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2e6b17e6d5f_0_1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b="1" lang="en-US" sz="2800"/>
              <a:t>Convolution process</a:t>
            </a:r>
            <a:endParaRPr/>
          </a:p>
        </p:txBody>
      </p:sp>
      <p:sp>
        <p:nvSpPr>
          <p:cNvPr id="267" name="Google Shape;267;g2e6b17e6d5f_0_14"/>
          <p:cNvSpPr txBox="1"/>
          <p:nvPr>
            <p:ph idx="1" type="body"/>
          </p:nvPr>
        </p:nvSpPr>
        <p:spPr>
          <a:xfrm>
            <a:off x="838200" y="1825625"/>
            <a:ext cx="10515600" cy="743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1500">
                <a:solidFill>
                  <a:srgbClr val="D9D6D6"/>
                </a:solidFill>
                <a:highlight>
                  <a:schemeClr val="dk1"/>
                </a:highlight>
                <a:latin typeface="Georgia"/>
                <a:ea typeface="Georgia"/>
                <a:cs typeface="Georgia"/>
                <a:sym typeface="Georgia"/>
              </a:rPr>
              <a:t>For example, in image processing, filters might be designed to detect edges, corners, or textures. In deep learning, the weights of these filters are learned automatically through training on large datasets.</a:t>
            </a:r>
            <a:endParaRPr/>
          </a:p>
        </p:txBody>
      </p:sp>
      <p:pic>
        <p:nvPicPr>
          <p:cNvPr id="268" name="Google Shape;268;g2e6b17e6d5f_0_14"/>
          <p:cNvPicPr preferRelativeResize="0"/>
          <p:nvPr/>
        </p:nvPicPr>
        <p:blipFill rotWithShape="1">
          <a:blip r:embed="rId3">
            <a:alphaModFix/>
          </a:blip>
          <a:srcRect b="0" l="0" r="0" t="0"/>
          <a:stretch/>
        </p:blipFill>
        <p:spPr>
          <a:xfrm>
            <a:off x="2501300" y="2569025"/>
            <a:ext cx="6858000" cy="28765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g2e6b17e6d5f_0_2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explanation of image convolution operation</a:t>
            </a:r>
            <a:endParaRPr/>
          </a:p>
        </p:txBody>
      </p:sp>
      <p:sp>
        <p:nvSpPr>
          <p:cNvPr id="274" name="Google Shape;274;g2e6b17e6d5f_0_2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70000"/>
              </a:lnSpc>
              <a:spcBef>
                <a:spcPts val="1000"/>
              </a:spcBef>
              <a:spcAft>
                <a:spcPts val="0"/>
              </a:spcAft>
              <a:buSzPts val="1800"/>
              <a:buNone/>
            </a:pPr>
            <a:r>
              <a:rPr lang="en-US" sz="2400"/>
              <a:t>Figure 1 illustrates the convolutional operation. We have one input matrix of shape (1,5,5), which could be a very small black and white image for example.</a:t>
            </a:r>
            <a:endParaRPr sz="2400"/>
          </a:p>
          <a:p>
            <a:pPr indent="0" lvl="0" marL="0" rtl="0" algn="l">
              <a:lnSpc>
                <a:spcPct val="70000"/>
              </a:lnSpc>
              <a:spcBef>
                <a:spcPts val="1000"/>
              </a:spcBef>
              <a:spcAft>
                <a:spcPts val="0"/>
              </a:spcAft>
              <a:buSzPts val="1800"/>
              <a:buNone/>
            </a:pPr>
            <a:r>
              <a:rPr lang="en-US" sz="2400"/>
              <a:t> The pixel values of an image are the features, because each pixel value represents the intensity of light at a given location.</a:t>
            </a:r>
            <a:endParaRPr sz="2400"/>
          </a:p>
          <a:p>
            <a:pPr indent="0" lvl="0" marL="0" rtl="0" algn="l">
              <a:lnSpc>
                <a:spcPct val="70000"/>
              </a:lnSpc>
              <a:spcBef>
                <a:spcPts val="1000"/>
              </a:spcBef>
              <a:spcAft>
                <a:spcPts val="0"/>
              </a:spcAft>
              <a:buSzPts val="1800"/>
              <a:buNone/>
            </a:pPr>
            <a:r>
              <a:rPr lang="en-US" sz="2400"/>
              <a:t> We want to learn the relationship between those features in an image in order to detect objects, faces etc.</a:t>
            </a:r>
            <a:endParaRPr sz="2400"/>
          </a:p>
          <a:p>
            <a:pPr indent="0" lvl="0" marL="0" rtl="0" algn="l">
              <a:lnSpc>
                <a:spcPct val="70000"/>
              </a:lnSpc>
              <a:spcBef>
                <a:spcPts val="1000"/>
              </a:spcBef>
              <a:spcAft>
                <a:spcPts val="0"/>
              </a:spcAft>
              <a:buSzPts val="1800"/>
              <a:buNone/>
            </a:pPr>
            <a:r>
              <a:rPr lang="en-US" sz="2400"/>
              <a:t> In order to do that, we apply kernels, which are small weight matrices, in this case of size (3,3) to the input.</a:t>
            </a:r>
            <a:endParaRPr sz="2400"/>
          </a:p>
          <a:p>
            <a:pPr indent="0" lvl="0" marL="0" rtl="0" algn="l">
              <a:lnSpc>
                <a:spcPct val="70000"/>
              </a:lnSpc>
              <a:spcBef>
                <a:spcPts val="1000"/>
              </a:spcBef>
              <a:spcAft>
                <a:spcPts val="0"/>
              </a:spcAft>
              <a:buSzPts val="1800"/>
              <a:buNone/>
            </a:pPr>
            <a:r>
              <a:rPr lang="en-US" sz="2400"/>
              <a:t> We start in the top left corner and perform the dot product between the overlapping input section and the kernel. </a:t>
            </a:r>
            <a:endParaRPr sz="2400"/>
          </a:p>
          <a:p>
            <a:pPr indent="0" lvl="0" marL="0" rtl="0" algn="l">
              <a:lnSpc>
                <a:spcPct val="70000"/>
              </a:lnSpc>
              <a:spcBef>
                <a:spcPts val="1000"/>
              </a:spcBef>
              <a:spcAft>
                <a:spcPts val="0"/>
              </a:spcAft>
              <a:buSzPts val="1800"/>
              <a:buNone/>
            </a:pPr>
            <a:r>
              <a:rPr lang="en-US" sz="2400"/>
              <a:t>In this case: 9•0 + 4•2 + 1•1 + 1•4 + 1•1 + 1•0 + 1•1 + 2•0 + 1•1 = 16.</a:t>
            </a:r>
            <a:endParaRPr sz="2400"/>
          </a:p>
          <a:p>
            <a:pPr indent="0" lvl="0" marL="0" rtl="0" algn="l">
              <a:lnSpc>
                <a:spcPct val="70000"/>
              </a:lnSpc>
              <a:spcBef>
                <a:spcPts val="1000"/>
              </a:spcBef>
              <a:spcAft>
                <a:spcPts val="0"/>
              </a:spcAft>
              <a:buSzPts val="1800"/>
              <a:buNone/>
            </a:pPr>
            <a:r>
              <a:rPr lang="en-US" sz="2400"/>
              <a:t> Now, we are done with the first 3x3 pixel values and we move the kernel one to the right and start again, resulting in a value of 30. </a:t>
            </a:r>
            <a:endParaRPr sz="2400"/>
          </a:p>
          <a:p>
            <a:pPr indent="0" lvl="0" marL="0" rtl="0" algn="l">
              <a:lnSpc>
                <a:spcPct val="70000"/>
              </a:lnSpc>
              <a:spcBef>
                <a:spcPts val="1000"/>
              </a:spcBef>
              <a:spcAft>
                <a:spcPts val="0"/>
              </a:spcAft>
              <a:buSzPts val="1800"/>
              <a:buNone/>
            </a:pPr>
            <a:r>
              <a:rPr lang="en-US" sz="2400"/>
              <a:t>We repeat the whole operation until the kernel covered every pixel of the input image.</a:t>
            </a:r>
            <a:endParaRPr sz="24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2e6b17e6d5f_0_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Feature map</a:t>
            </a:r>
            <a:endParaRPr/>
          </a:p>
        </p:txBody>
      </p:sp>
      <p:sp>
        <p:nvSpPr>
          <p:cNvPr id="280" name="Google Shape;280;g2e6b17e6d5f_0_2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The output matrix is called </a:t>
            </a:r>
            <a:r>
              <a:rPr b="1" lang="en-US"/>
              <a:t>feature map.</a:t>
            </a:r>
            <a:endParaRPr b="1"/>
          </a:p>
          <a:p>
            <a:pPr indent="0" lvl="0" marL="0" rtl="0" algn="l">
              <a:lnSpc>
                <a:spcPct val="90000"/>
              </a:lnSpc>
              <a:spcBef>
                <a:spcPts val="1000"/>
              </a:spcBef>
              <a:spcAft>
                <a:spcPts val="0"/>
              </a:spcAft>
              <a:buSzPts val="1800"/>
              <a:buNone/>
            </a:pPr>
            <a:r>
              <a:rPr lang="en-US"/>
              <a:t>Feature maps are not directly interpretable by humans, but they serve as a way for the network to capture and encode the presence of specific features in the input data. </a:t>
            </a:r>
            <a:endParaRPr/>
          </a:p>
          <a:p>
            <a:pPr indent="0" lvl="0" marL="0" rtl="0" algn="l">
              <a:lnSpc>
                <a:spcPct val="90000"/>
              </a:lnSpc>
              <a:spcBef>
                <a:spcPts val="1000"/>
              </a:spcBef>
              <a:spcAft>
                <a:spcPts val="0"/>
              </a:spcAft>
              <a:buSzPts val="1800"/>
              <a:buNone/>
            </a:pPr>
            <a:r>
              <a:rPr lang="en-US"/>
              <a:t>As the network learns from data during training, it adapts its filters to recognize features that are relevant to the task at hand, such as classifying objects in images.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g2e6b17e6d5f_0_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Convolutional operation on coloured RGB images</a:t>
            </a:r>
            <a:endParaRPr/>
          </a:p>
        </p:txBody>
      </p:sp>
      <p:sp>
        <p:nvSpPr>
          <p:cNvPr id="286" name="Google Shape;286;g2e6b17e6d5f_0_3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An coloured Image in RGB format has the shape (width, height, colour channels), which is sometimes represented in a different order: (colour channels, width, height).</a:t>
            </a:r>
            <a:endParaRPr/>
          </a:p>
          <a:p>
            <a:pPr indent="0" lvl="0" marL="0" rtl="0" algn="l">
              <a:lnSpc>
                <a:spcPct val="90000"/>
              </a:lnSpc>
              <a:spcBef>
                <a:spcPts val="1000"/>
              </a:spcBef>
              <a:spcAft>
                <a:spcPts val="0"/>
              </a:spcAft>
              <a:buSzPts val="1800"/>
              <a:buNone/>
            </a:pPr>
            <a:r>
              <a:rPr lang="en-US"/>
              <a:t> Thus, the input image now comes with three colour matrices. </a:t>
            </a:r>
            <a:endParaRPr/>
          </a:p>
          <a:p>
            <a:pPr indent="0" lvl="0" marL="0" rtl="0" algn="l">
              <a:lnSpc>
                <a:spcPct val="90000"/>
              </a:lnSpc>
              <a:spcBef>
                <a:spcPts val="1000"/>
              </a:spcBef>
              <a:spcAft>
                <a:spcPts val="0"/>
              </a:spcAft>
              <a:buSzPts val="1800"/>
              <a:buNone/>
            </a:pPr>
            <a:r>
              <a:rPr lang="en-US"/>
              <a:t>The following section explains how the kernel operation is performed in the case of RGB images.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g2e6b17e6d5f_0_3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Example</a:t>
            </a:r>
            <a:endParaRPr/>
          </a:p>
        </p:txBody>
      </p:sp>
      <p:sp>
        <p:nvSpPr>
          <p:cNvPr id="292" name="Google Shape;292;g2e6b17e6d5f_0_39"/>
          <p:cNvSpPr txBox="1"/>
          <p:nvPr>
            <p:ph idx="1" type="body"/>
          </p:nvPr>
        </p:nvSpPr>
        <p:spPr>
          <a:xfrm>
            <a:off x="838200" y="1825625"/>
            <a:ext cx="10515600" cy="9114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Imagine we apply one convolutional layer with 2 filters of size (3,3) on a coloured input image with 5x5 pixels.</a:t>
            </a:r>
            <a:endParaRPr/>
          </a:p>
        </p:txBody>
      </p:sp>
      <p:pic>
        <p:nvPicPr>
          <p:cNvPr id="293" name="Google Shape;293;g2e6b17e6d5f_0_39"/>
          <p:cNvPicPr preferRelativeResize="0"/>
          <p:nvPr/>
        </p:nvPicPr>
        <p:blipFill rotWithShape="1">
          <a:blip r:embed="rId3">
            <a:alphaModFix/>
          </a:blip>
          <a:srcRect b="0" l="0" r="0" t="0"/>
          <a:stretch/>
        </p:blipFill>
        <p:spPr>
          <a:xfrm>
            <a:off x="2899800" y="2784575"/>
            <a:ext cx="5896237" cy="38161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2e6b17e6d5f_0_45"/>
          <p:cNvSpPr txBox="1"/>
          <p:nvPr>
            <p:ph type="title"/>
          </p:nvPr>
        </p:nvSpPr>
        <p:spPr>
          <a:xfrm>
            <a:off x="838200" y="482375"/>
            <a:ext cx="9941700" cy="1208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Input channel and weight matrices</a:t>
            </a:r>
            <a:endParaRPr/>
          </a:p>
        </p:txBody>
      </p:sp>
      <p:sp>
        <p:nvSpPr>
          <p:cNvPr id="299" name="Google Shape;299;g2e6b17e6d5f_0_4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SzPts val="1800"/>
              <a:buNone/>
            </a:pPr>
            <a:r>
              <a:rPr lang="en-US"/>
              <a:t>The illustration above demonstrates the process of applying 2 filters/kernels to one image, resulting in 2 feature maps.</a:t>
            </a:r>
            <a:endParaRPr/>
          </a:p>
          <a:p>
            <a:pPr indent="0" lvl="0" marL="0" rtl="0" algn="l">
              <a:lnSpc>
                <a:spcPct val="90000"/>
              </a:lnSpc>
              <a:spcBef>
                <a:spcPts val="1000"/>
              </a:spcBef>
              <a:spcAft>
                <a:spcPts val="0"/>
              </a:spcAft>
              <a:buSzPts val="1800"/>
              <a:buNone/>
            </a:pPr>
            <a:r>
              <a:rPr lang="en-US"/>
              <a:t>First, each filter is initialized with a random weight matrix for each input channel.</a:t>
            </a:r>
            <a:endParaRPr/>
          </a:p>
          <a:p>
            <a:pPr indent="0" lvl="0" marL="0" rtl="0" algn="l">
              <a:lnSpc>
                <a:spcPct val="90000"/>
              </a:lnSpc>
              <a:spcBef>
                <a:spcPts val="1000"/>
              </a:spcBef>
              <a:spcAft>
                <a:spcPts val="0"/>
              </a:spcAft>
              <a:buSzPts val="1800"/>
              <a:buNone/>
            </a:pPr>
            <a:r>
              <a:rPr lang="en-US"/>
              <a:t> In our case, the input image </a:t>
            </a:r>
            <a:r>
              <a:rPr lang="en-US">
                <a:solidFill>
                  <a:srgbClr val="FF0000"/>
                </a:solidFill>
              </a:rPr>
              <a:t>has 3 input channels (Red, Green, Blue),</a:t>
            </a:r>
            <a:r>
              <a:rPr lang="en-US"/>
              <a:t> thus each filter </a:t>
            </a:r>
            <a:r>
              <a:rPr lang="en-US">
                <a:solidFill>
                  <a:srgbClr val="FF9900"/>
                </a:solidFill>
              </a:rPr>
              <a:t>comes with three weight matrices.</a:t>
            </a:r>
            <a:endParaRPr>
              <a:solidFill>
                <a:srgbClr val="FF9900"/>
              </a:solidFill>
            </a:endParaRPr>
          </a:p>
          <a:p>
            <a:pPr indent="0" lvl="0" marL="0" rtl="0" algn="l">
              <a:lnSpc>
                <a:spcPct val="90000"/>
              </a:lnSpc>
              <a:spcBef>
                <a:spcPts val="1000"/>
              </a:spcBef>
              <a:spcAft>
                <a:spcPts val="0"/>
              </a:spcAft>
              <a:buSzPts val="1800"/>
              <a:buNone/>
            </a:pPr>
            <a:r>
              <a:rPr lang="en-US">
                <a:solidFill>
                  <a:srgbClr val="3C78D8"/>
                </a:solidFill>
              </a:rPr>
              <a:t> During the operation, all </a:t>
            </a:r>
            <a:r>
              <a:rPr b="1" lang="en-US">
                <a:solidFill>
                  <a:srgbClr val="3C78D8"/>
                </a:solidFill>
              </a:rPr>
              <a:t>three weight matrices</a:t>
            </a:r>
            <a:r>
              <a:rPr lang="en-US">
                <a:solidFill>
                  <a:srgbClr val="3C78D8"/>
                </a:solidFill>
              </a:rPr>
              <a:t>, </a:t>
            </a:r>
            <a:r>
              <a:rPr lang="en-US">
                <a:solidFill>
                  <a:srgbClr val="FF0000"/>
                </a:solidFill>
              </a:rPr>
              <a:t>of each filter</a:t>
            </a:r>
            <a:r>
              <a:rPr lang="en-US">
                <a:solidFill>
                  <a:srgbClr val="3C78D8"/>
                </a:solidFill>
              </a:rPr>
              <a:t>, are applied to all three corresponding color channels. </a:t>
            </a:r>
            <a:endParaRPr>
              <a:solidFill>
                <a:srgbClr val="3C78D8"/>
              </a:solidFill>
            </a:endParaRPr>
          </a:p>
          <a:p>
            <a:pPr indent="0" lvl="0" marL="0" rtl="0" algn="l">
              <a:lnSpc>
                <a:spcPct val="90000"/>
              </a:lnSpc>
              <a:spcBef>
                <a:spcPts val="1000"/>
              </a:spcBef>
              <a:spcAft>
                <a:spcPts val="0"/>
              </a:spcAft>
              <a:buSzPts val="1800"/>
              <a:buNone/>
            </a:pPr>
            <a:r>
              <a:rPr lang="en-US"/>
              <a:t>This results in three new matrices of size 3x3, called feature maps. </a:t>
            </a:r>
            <a:endParaRPr/>
          </a:p>
          <a:p>
            <a:pPr indent="0" lvl="0" marL="0" rtl="0" algn="l">
              <a:lnSpc>
                <a:spcPct val="90000"/>
              </a:lnSpc>
              <a:spcBef>
                <a:spcPts val="1000"/>
              </a:spcBef>
              <a:spcAft>
                <a:spcPts val="0"/>
              </a:spcAft>
              <a:buSzPts val="1800"/>
              <a:buNone/>
            </a:pPr>
            <a:r>
              <a:rPr lang="en-US"/>
              <a:t>The new size of each feature map is calculated through:</a:t>
            </a:r>
            <a:endParaRPr/>
          </a:p>
        </p:txBody>
      </p:sp>
      <p:pic>
        <p:nvPicPr>
          <p:cNvPr id="300" name="Google Shape;300;g2e6b17e6d5f_0_45"/>
          <p:cNvPicPr preferRelativeResize="0"/>
          <p:nvPr/>
        </p:nvPicPr>
        <p:blipFill rotWithShape="1">
          <a:blip r:embed="rId3">
            <a:alphaModFix/>
          </a:blip>
          <a:srcRect b="0" l="0" r="0" t="0"/>
          <a:stretch/>
        </p:blipFill>
        <p:spPr>
          <a:xfrm>
            <a:off x="9697239" y="5536775"/>
            <a:ext cx="2389936" cy="12084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2e6b17e6d5f_0_5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sz="2800"/>
              <a:t>Same Opertion in Pytorch:</a:t>
            </a:r>
            <a:endParaRPr sz="2800"/>
          </a:p>
          <a:p>
            <a:pPr indent="0" lvl="0" marL="0" rtl="0" algn="l">
              <a:lnSpc>
                <a:spcPct val="90000"/>
              </a:lnSpc>
              <a:spcBef>
                <a:spcPts val="0"/>
              </a:spcBef>
              <a:spcAft>
                <a:spcPts val="0"/>
              </a:spcAft>
              <a:buSzPts val="1800"/>
              <a:buNone/>
            </a:pPr>
            <a:r>
              <a:t/>
            </a:r>
            <a:endParaRPr/>
          </a:p>
        </p:txBody>
      </p:sp>
      <p:sp>
        <p:nvSpPr>
          <p:cNvPr id="306" name="Google Shape;306;g2e6b17e6d5f_0_5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nn.Conv2d(input_channels=3, output_channels=2, kernel_size=3, stride=1, padding=0)</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pic>
        <p:nvPicPr>
          <p:cNvPr id="311" name="Google Shape;311;g2e6b17e6d5f_0_63"/>
          <p:cNvPicPr preferRelativeResize="0"/>
          <p:nvPr/>
        </p:nvPicPr>
        <p:blipFill rotWithShape="1">
          <a:blip r:embed="rId3">
            <a:alphaModFix/>
          </a:blip>
          <a:srcRect b="0" l="0" r="0" t="0"/>
          <a:stretch/>
        </p:blipFill>
        <p:spPr>
          <a:xfrm>
            <a:off x="1066200" y="571875"/>
            <a:ext cx="8992125" cy="545772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2e6b17e6d5f_0_6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Understanding the Data Forward-Pass</a:t>
            </a:r>
            <a:endParaRPr/>
          </a:p>
          <a:p>
            <a:pPr indent="0" lvl="0" marL="0" rtl="0" algn="l">
              <a:lnSpc>
                <a:spcPct val="90000"/>
              </a:lnSpc>
              <a:spcBef>
                <a:spcPts val="0"/>
              </a:spcBef>
              <a:spcAft>
                <a:spcPts val="0"/>
              </a:spcAft>
              <a:buSzPts val="1800"/>
              <a:buNone/>
            </a:pPr>
            <a:r>
              <a:t/>
            </a:r>
            <a:endParaRPr/>
          </a:p>
        </p:txBody>
      </p:sp>
      <p:sp>
        <p:nvSpPr>
          <p:cNvPr id="317" name="Google Shape;317;g2e6b17e6d5f_0_6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SzPts val="1800"/>
              <a:buAutoNum type="arabicPeriod"/>
            </a:pPr>
            <a:r>
              <a:rPr lang="en-US"/>
              <a:t>Convolutional Layer (2 Kernels, Kernel-size of 3, ReLU activation)</a:t>
            </a:r>
            <a:endParaRPr/>
          </a:p>
          <a:p>
            <a:pPr indent="-342900" lvl="0" marL="457200" rtl="0" algn="l">
              <a:lnSpc>
                <a:spcPct val="90000"/>
              </a:lnSpc>
              <a:spcBef>
                <a:spcPts val="0"/>
              </a:spcBef>
              <a:spcAft>
                <a:spcPts val="0"/>
              </a:spcAft>
              <a:buSzPts val="1800"/>
              <a:buAutoNum type="arabicPeriod"/>
            </a:pPr>
            <a:r>
              <a:rPr lang="en-US"/>
              <a:t>Max Pooling Layer</a:t>
            </a:r>
            <a:endParaRPr/>
          </a:p>
          <a:p>
            <a:pPr indent="-342900" lvl="0" marL="457200" rtl="0" algn="l">
              <a:lnSpc>
                <a:spcPct val="90000"/>
              </a:lnSpc>
              <a:spcBef>
                <a:spcPts val="0"/>
              </a:spcBef>
              <a:spcAft>
                <a:spcPts val="0"/>
              </a:spcAft>
              <a:buSzPts val="1800"/>
              <a:buAutoNum type="arabicPeriod"/>
            </a:pPr>
            <a:r>
              <a:rPr lang="en-US"/>
              <a:t>Dropout Layer</a:t>
            </a:r>
            <a:endParaRPr/>
          </a:p>
          <a:p>
            <a:pPr indent="0" lvl="0" marL="0" rtl="0" algn="l">
              <a:lnSpc>
                <a:spcPct val="90000"/>
              </a:lnSpc>
              <a:spcBef>
                <a:spcPts val="1000"/>
              </a:spcBef>
              <a:spcAft>
                <a:spcPts val="0"/>
              </a:spcAft>
              <a:buSzPts val="1800"/>
              <a:buNone/>
            </a:pPr>
            <a:r>
              <a:rPr lang="en-US"/>
              <a:t>—------------------------------------------</a:t>
            </a:r>
            <a:endParaRPr/>
          </a:p>
          <a:p>
            <a:pPr indent="-355600" lvl="0" marL="457200" rtl="0" algn="l">
              <a:lnSpc>
                <a:spcPct val="90000"/>
              </a:lnSpc>
              <a:spcBef>
                <a:spcPts val="1000"/>
              </a:spcBef>
              <a:spcAft>
                <a:spcPts val="0"/>
              </a:spcAft>
              <a:buSzPts val="2000"/>
              <a:buAutoNum type="arabicPeriod"/>
            </a:pPr>
            <a:r>
              <a:rPr lang="en-US" sz="2000"/>
              <a:t>The illustration below demonstrates how the pixel values of a black and white input image of size (5,5) are transformed through these layers.</a:t>
            </a:r>
            <a:endParaRPr sz="2000"/>
          </a:p>
          <a:p>
            <a:pPr indent="-355600" lvl="0" marL="457200" rtl="0" algn="l">
              <a:lnSpc>
                <a:spcPct val="90000"/>
              </a:lnSpc>
              <a:spcBef>
                <a:spcPts val="0"/>
              </a:spcBef>
              <a:spcAft>
                <a:spcPts val="0"/>
              </a:spcAft>
              <a:buSzPts val="2000"/>
              <a:buAutoNum type="arabicPeriod"/>
            </a:pPr>
            <a:r>
              <a:rPr lang="en-US" sz="2000"/>
              <a:t> Initially, both weight matrices (depicted in blue) of the kernels are randomly initialized and applied to the input image. </a:t>
            </a:r>
            <a:endParaRPr sz="2000"/>
          </a:p>
          <a:p>
            <a:pPr indent="-355600" lvl="0" marL="457200" rtl="0" algn="l">
              <a:lnSpc>
                <a:spcPct val="90000"/>
              </a:lnSpc>
              <a:spcBef>
                <a:spcPts val="0"/>
              </a:spcBef>
              <a:spcAft>
                <a:spcPts val="0"/>
              </a:spcAft>
              <a:buSzPts val="2000"/>
              <a:buAutoNum type="arabicPeriod"/>
            </a:pPr>
            <a:r>
              <a:rPr lang="en-US" sz="2000"/>
              <a:t>This results in two feature maps, each of size (3,3). </a:t>
            </a:r>
            <a:endParaRPr sz="2000"/>
          </a:p>
          <a:p>
            <a:pPr indent="-355600" lvl="0" marL="457200" rtl="0" algn="l">
              <a:lnSpc>
                <a:spcPct val="90000"/>
              </a:lnSpc>
              <a:spcBef>
                <a:spcPts val="0"/>
              </a:spcBef>
              <a:spcAft>
                <a:spcPts val="0"/>
              </a:spcAft>
              <a:buSzPts val="2000"/>
              <a:buAutoNum type="arabicPeriod"/>
            </a:pPr>
            <a:r>
              <a:rPr lang="en-US" sz="2000"/>
              <a:t>The Max Pooling layer then reduces the size of the feature maps to a matrix of (2,2). </a:t>
            </a:r>
            <a:endParaRPr sz="2000"/>
          </a:p>
          <a:p>
            <a:pPr indent="-355600" lvl="0" marL="457200" rtl="0" algn="l">
              <a:lnSpc>
                <a:spcPct val="90000"/>
              </a:lnSpc>
              <a:spcBef>
                <a:spcPts val="0"/>
              </a:spcBef>
              <a:spcAft>
                <a:spcPts val="0"/>
              </a:spcAft>
              <a:buSzPts val="2000"/>
              <a:buAutoNum type="arabicPeriod"/>
            </a:pPr>
            <a:r>
              <a:rPr lang="en-US" sz="2000"/>
              <a:t>Finally, the Dropout layer randomly sets each value with a specified probability to zero. </a:t>
            </a:r>
            <a:endParaRPr sz="2000"/>
          </a:p>
          <a:p>
            <a:pPr indent="-355600" lvl="0" marL="457200" rtl="0" algn="l">
              <a:lnSpc>
                <a:spcPct val="90000"/>
              </a:lnSpc>
              <a:spcBef>
                <a:spcPts val="0"/>
              </a:spcBef>
              <a:spcAft>
                <a:spcPts val="0"/>
              </a:spcAft>
              <a:buSzPts val="2000"/>
              <a:buAutoNum type="arabicPeriod"/>
            </a:pPr>
            <a:r>
              <a:rPr lang="en-US" sz="2000"/>
              <a:t>In this case, the dropout rate is 50%. To proceed with a fully connected layer, we must flatten the matrices and concatenate them.</a:t>
            </a:r>
            <a:endParaRPr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g3a8368671aa_0_5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Flatten Layer</a:t>
            </a:r>
            <a:endParaRPr/>
          </a:p>
        </p:txBody>
      </p:sp>
      <p:sp>
        <p:nvSpPr>
          <p:cNvPr id="323" name="Google Shape;323;g3a8368671aa_0_5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This layer converts a three-dimensional layer in the network into a one-dimensional vector to fit the input of a fully-connected layer for classification. </a:t>
            </a:r>
            <a:endParaRPr/>
          </a:p>
          <a:p>
            <a:pPr indent="0" lvl="0" marL="0" rtl="0" algn="l">
              <a:lnSpc>
                <a:spcPct val="90000"/>
              </a:lnSpc>
              <a:spcBef>
                <a:spcPts val="1000"/>
              </a:spcBef>
              <a:spcAft>
                <a:spcPts val="0"/>
              </a:spcAft>
              <a:buSzPts val="1800"/>
              <a:buNone/>
            </a:pPr>
            <a:r>
              <a:rPr lang="en-US"/>
              <a:t>For example, a 5x5x2 tensor would be converted into a vector of size 50. The previous convolutional layers of the network extracted the features from the input image, but now it is time to classify the features. </a:t>
            </a:r>
            <a:endParaRPr/>
          </a:p>
          <a:p>
            <a:pPr indent="0" lvl="0" marL="0" rtl="0" algn="l">
              <a:lnSpc>
                <a:spcPct val="90000"/>
              </a:lnSpc>
              <a:spcBef>
                <a:spcPts val="1000"/>
              </a:spcBef>
              <a:spcAft>
                <a:spcPts val="0"/>
              </a:spcAft>
              <a:buSzPts val="1800"/>
              <a:buNone/>
            </a:pPr>
            <a:r>
              <a:rPr lang="en-US"/>
              <a:t>We use the softmax function to classify these features, which requires a 1-dimensional input. This is why the flatten layer is necessary. This layer can be viewed by clicking any output class.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id="328" name="Google Shape;328;g2e6b17e6d5f_0_74"/>
          <p:cNvPicPr preferRelativeResize="0"/>
          <p:nvPr/>
        </p:nvPicPr>
        <p:blipFill rotWithShape="1">
          <a:blip r:embed="rId3">
            <a:alphaModFix/>
          </a:blip>
          <a:srcRect b="0" l="0" r="0" t="0"/>
          <a:stretch/>
        </p:blipFill>
        <p:spPr>
          <a:xfrm>
            <a:off x="1106650" y="823525"/>
            <a:ext cx="10477500" cy="497205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34" name="Google Shape;334;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lang="en-US"/>
              <a:t>from tensorflow.keras.models import Sequential</a:t>
            </a:r>
            <a:endParaRPr/>
          </a:p>
          <a:p>
            <a:pPr indent="-228600" lvl="0" marL="228600" rtl="0" algn="l">
              <a:lnSpc>
                <a:spcPct val="90000"/>
              </a:lnSpc>
              <a:spcBef>
                <a:spcPts val="1000"/>
              </a:spcBef>
              <a:spcAft>
                <a:spcPts val="0"/>
              </a:spcAft>
              <a:buClr>
                <a:schemeClr val="dk1"/>
              </a:buClr>
              <a:buSzPct val="100000"/>
              <a:buChar char="•"/>
            </a:pPr>
            <a:r>
              <a:rPr lang="en-US"/>
              <a:t>from tensorflow.keras.layers import Conv2D, MaxPooling2D, Flatten, Dense</a:t>
            </a:r>
            <a:endParaRPr/>
          </a:p>
          <a:p>
            <a:pPr indent="-90804"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Load and pre-process data</a:t>
            </a:r>
            <a:endParaRPr/>
          </a:p>
          <a:p>
            <a:pPr indent="-228600" lvl="0" marL="228600" rtl="0" algn="l">
              <a:lnSpc>
                <a:spcPct val="90000"/>
              </a:lnSpc>
              <a:spcBef>
                <a:spcPts val="1000"/>
              </a:spcBef>
              <a:spcAft>
                <a:spcPts val="0"/>
              </a:spcAft>
              <a:buClr>
                <a:schemeClr val="dk1"/>
              </a:buClr>
              <a:buSzPct val="100000"/>
              <a:buChar char="•"/>
            </a:pPr>
            <a:r>
              <a:rPr lang="en-US"/>
              <a:t># ...</a:t>
            </a:r>
            <a:endParaRPr/>
          </a:p>
          <a:p>
            <a:pPr indent="-90804"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Define the CNN model</a:t>
            </a:r>
            <a:endParaRPr/>
          </a:p>
          <a:p>
            <a:pPr indent="-228600" lvl="0" marL="228600" rtl="0" algn="l">
              <a:lnSpc>
                <a:spcPct val="90000"/>
              </a:lnSpc>
              <a:spcBef>
                <a:spcPts val="1000"/>
              </a:spcBef>
              <a:spcAft>
                <a:spcPts val="0"/>
              </a:spcAft>
              <a:buClr>
                <a:schemeClr val="dk1"/>
              </a:buClr>
              <a:buSzPct val="100000"/>
              <a:buChar char="•"/>
            </a:pPr>
            <a:r>
              <a:rPr lang="en-US"/>
              <a:t>model = Sequential()</a:t>
            </a:r>
            <a:endParaRPr/>
          </a:p>
          <a:p>
            <a:pPr indent="-90804"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Convolutional layer with 32 filters and kernel size 3x3</a:t>
            </a:r>
            <a:endParaRPr/>
          </a:p>
          <a:p>
            <a:pPr indent="-228600" lvl="0" marL="228600" rtl="0" algn="l">
              <a:lnSpc>
                <a:spcPct val="90000"/>
              </a:lnSpc>
              <a:spcBef>
                <a:spcPts val="1000"/>
              </a:spcBef>
              <a:spcAft>
                <a:spcPts val="0"/>
              </a:spcAft>
              <a:buClr>
                <a:schemeClr val="dk1"/>
              </a:buClr>
              <a:buSzPct val="100000"/>
              <a:buChar char="•"/>
            </a:pPr>
            <a:r>
              <a:rPr lang="en-US"/>
              <a:t>model.add(Conv2D(32, (3, 3), activation="relu", input_shape=(image_height, image_width, channels)))</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40" name="Google Shape;340;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 Max pooling layer with pool size 2x2</a:t>
            </a:r>
            <a:endParaRPr/>
          </a:p>
          <a:p>
            <a:pPr indent="-228600" lvl="0" marL="228600" rtl="0" algn="l">
              <a:lnSpc>
                <a:spcPct val="90000"/>
              </a:lnSpc>
              <a:spcBef>
                <a:spcPts val="1000"/>
              </a:spcBef>
              <a:spcAft>
                <a:spcPts val="0"/>
              </a:spcAft>
              <a:buClr>
                <a:schemeClr val="dk1"/>
              </a:buClr>
              <a:buSzPct val="100000"/>
              <a:buChar char="•"/>
            </a:pPr>
            <a:r>
              <a:rPr lang="en-US"/>
              <a:t>model.add(MaxPooling2D(pool_size=(2, 2)))</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Add another convolutional layer with 64 filters and kernel size 3x3</a:t>
            </a:r>
            <a:endParaRPr/>
          </a:p>
          <a:p>
            <a:pPr indent="-228600" lvl="0" marL="228600" rtl="0" algn="l">
              <a:lnSpc>
                <a:spcPct val="90000"/>
              </a:lnSpc>
              <a:spcBef>
                <a:spcPts val="1000"/>
              </a:spcBef>
              <a:spcAft>
                <a:spcPts val="0"/>
              </a:spcAft>
              <a:buClr>
                <a:schemeClr val="dk1"/>
              </a:buClr>
              <a:buSzPct val="100000"/>
              <a:buChar char="•"/>
            </a:pPr>
            <a:r>
              <a:rPr lang="en-US"/>
              <a:t>model.add(Conv2D(64, (3, 3), activation="relu"))</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Max pooling again</a:t>
            </a:r>
            <a:endParaRPr/>
          </a:p>
          <a:p>
            <a:pPr indent="-228600" lvl="0" marL="228600" rtl="0" algn="l">
              <a:lnSpc>
                <a:spcPct val="90000"/>
              </a:lnSpc>
              <a:spcBef>
                <a:spcPts val="1000"/>
              </a:spcBef>
              <a:spcAft>
                <a:spcPts val="0"/>
              </a:spcAft>
              <a:buClr>
                <a:schemeClr val="dk1"/>
              </a:buClr>
              <a:buSzPct val="100000"/>
              <a:buChar char="•"/>
            </a:pPr>
            <a:r>
              <a:rPr lang="en-US"/>
              <a:t>model.add(MaxPooling2D(pool_size=(2, 2)))</a:t>
            </a:r>
            <a:endParaRPr/>
          </a:p>
          <a:p>
            <a:pPr indent="-7747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Flatten extracted features</a:t>
            </a:r>
            <a:endParaRPr/>
          </a:p>
          <a:p>
            <a:pPr indent="-228600" lvl="0" marL="228600" rtl="0" algn="l">
              <a:lnSpc>
                <a:spcPct val="90000"/>
              </a:lnSpc>
              <a:spcBef>
                <a:spcPts val="1000"/>
              </a:spcBef>
              <a:spcAft>
                <a:spcPts val="0"/>
              </a:spcAft>
              <a:buClr>
                <a:schemeClr val="dk1"/>
              </a:buClr>
              <a:buSzPct val="100000"/>
              <a:buChar char="•"/>
            </a:pPr>
            <a:r>
              <a:rPr lang="en-US"/>
              <a:t>model.add(Flatten())</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46" name="Google Shape;346;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 Dense layer with 128 neurons</a:t>
            </a:r>
            <a:endParaRPr/>
          </a:p>
          <a:p>
            <a:pPr indent="-228600" lvl="0" marL="228600" rtl="0" algn="l">
              <a:lnSpc>
                <a:spcPct val="90000"/>
              </a:lnSpc>
              <a:spcBef>
                <a:spcPts val="1000"/>
              </a:spcBef>
              <a:spcAft>
                <a:spcPts val="0"/>
              </a:spcAft>
              <a:buClr>
                <a:schemeClr val="dk1"/>
              </a:buClr>
              <a:buSzPct val="100000"/>
              <a:buChar char="•"/>
            </a:pPr>
            <a:r>
              <a:rPr lang="en-US"/>
              <a:t>model.add(Dense(128, activation="relu"))</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Output layer with 10 neurons for 10 classes</a:t>
            </a:r>
            <a:endParaRPr/>
          </a:p>
          <a:p>
            <a:pPr indent="-228600" lvl="0" marL="228600" rtl="0" algn="l">
              <a:lnSpc>
                <a:spcPct val="90000"/>
              </a:lnSpc>
              <a:spcBef>
                <a:spcPts val="1000"/>
              </a:spcBef>
              <a:spcAft>
                <a:spcPts val="0"/>
              </a:spcAft>
              <a:buClr>
                <a:schemeClr val="dk1"/>
              </a:buClr>
              <a:buSzPct val="100000"/>
              <a:buChar char="•"/>
            </a:pPr>
            <a:r>
              <a:rPr lang="en-US"/>
              <a:t>model.add(Dense(10, activation="softmax"))</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Compile the model</a:t>
            </a:r>
            <a:endParaRPr/>
          </a:p>
          <a:p>
            <a:pPr indent="-228600" lvl="0" marL="228600" rtl="0" algn="l">
              <a:lnSpc>
                <a:spcPct val="90000"/>
              </a:lnSpc>
              <a:spcBef>
                <a:spcPts val="1000"/>
              </a:spcBef>
              <a:spcAft>
                <a:spcPts val="0"/>
              </a:spcAft>
              <a:buClr>
                <a:schemeClr val="dk1"/>
              </a:buClr>
              <a:buSzPct val="100000"/>
              <a:buChar char="•"/>
            </a:pPr>
            <a:r>
              <a:rPr lang="en-US"/>
              <a:t>model.compile(loss="categorical_crossentropy", optimizer="adam", metrics=["accuracy"])</a:t>
            </a:r>
            <a:endParaRPr/>
          </a:p>
          <a:p>
            <a:pPr indent="-10414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 Train the model</a:t>
            </a:r>
            <a:endParaRPr/>
          </a:p>
          <a:p>
            <a:pPr indent="-228600" lvl="0" marL="228600" rtl="0" algn="l">
              <a:lnSpc>
                <a:spcPct val="90000"/>
              </a:lnSpc>
              <a:spcBef>
                <a:spcPts val="1000"/>
              </a:spcBef>
              <a:spcAft>
                <a:spcPts val="0"/>
              </a:spcAft>
              <a:buClr>
                <a:schemeClr val="dk1"/>
              </a:buClr>
              <a:buSzPct val="100000"/>
              <a:buChar char="•"/>
            </a:pPr>
            <a:r>
              <a:rPr lang="en-US"/>
              <a:t>model.fit(train_images, train_labels, epochs=10, validation_data=(val_images, val_labels))</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352" name="Google Shape;352;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 Evaluate model performance on test data</a:t>
            </a:r>
            <a:endParaRPr/>
          </a:p>
          <a:p>
            <a:pPr indent="-228600" lvl="0" marL="228600" rtl="0" algn="l">
              <a:lnSpc>
                <a:spcPct val="90000"/>
              </a:lnSpc>
              <a:spcBef>
                <a:spcPts val="1000"/>
              </a:spcBef>
              <a:spcAft>
                <a:spcPts val="0"/>
              </a:spcAft>
              <a:buClr>
                <a:schemeClr val="dk1"/>
              </a:buClr>
              <a:buSzPts val="2800"/>
              <a:buChar char="•"/>
            </a:pPr>
            <a:r>
              <a:rPr lang="en-US"/>
              <a:t>loss, accuracy = model.evaluate(test_images, test_labels)</a:t>
            </a:r>
            <a:endParaRPr/>
          </a:p>
          <a:p>
            <a:pPr indent="-228600" lvl="0" marL="228600" rtl="0" algn="l">
              <a:lnSpc>
                <a:spcPct val="90000"/>
              </a:lnSpc>
              <a:spcBef>
                <a:spcPts val="1000"/>
              </a:spcBef>
              <a:spcAft>
                <a:spcPts val="0"/>
              </a:spcAft>
              <a:buClr>
                <a:schemeClr val="dk1"/>
              </a:buClr>
              <a:buSzPts val="2800"/>
              <a:buChar char="•"/>
            </a:pPr>
            <a:r>
              <a:rPr lang="en-US"/>
              <a:t>print("Test loss:", loss)</a:t>
            </a:r>
            <a:endParaRPr/>
          </a:p>
          <a:p>
            <a:pPr indent="-228600" lvl="0" marL="228600" rtl="0" algn="l">
              <a:lnSpc>
                <a:spcPct val="90000"/>
              </a:lnSpc>
              <a:spcBef>
                <a:spcPts val="1000"/>
              </a:spcBef>
              <a:spcAft>
                <a:spcPts val="0"/>
              </a:spcAft>
              <a:buClr>
                <a:schemeClr val="dk1"/>
              </a:buClr>
              <a:buSzPts val="2800"/>
              <a:buChar char="•"/>
            </a:pPr>
            <a:r>
              <a:rPr lang="en-US"/>
              <a:t>print("Test accuracy:", accuracy)</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g2e5bcb2ce9e_0_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CNN example of ANN program</a:t>
            </a:r>
            <a:endParaRPr/>
          </a:p>
        </p:txBody>
      </p:sp>
      <p:sp>
        <p:nvSpPr>
          <p:cNvPr id="358" name="Google Shape;358;g2e5bcb2ce9e_0_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1000"/>
              </a:spcBef>
              <a:spcAft>
                <a:spcPts val="0"/>
              </a:spcAft>
              <a:buSzPct val="91836"/>
              <a:buNone/>
            </a:pPr>
            <a:r>
              <a:rPr lang="en-US"/>
              <a:t>import tensorflow as tf</a:t>
            </a:r>
            <a:endParaRPr/>
          </a:p>
          <a:p>
            <a:pPr indent="0" lvl="0" marL="0" rtl="0" algn="l">
              <a:lnSpc>
                <a:spcPct val="90000"/>
              </a:lnSpc>
              <a:spcBef>
                <a:spcPts val="1000"/>
              </a:spcBef>
              <a:spcAft>
                <a:spcPts val="0"/>
              </a:spcAft>
              <a:buSzPct val="91836"/>
              <a:buNone/>
            </a:pPr>
            <a:r>
              <a:rPr lang="en-US"/>
              <a:t>from tensorflow.keras.datasets import mnist</a:t>
            </a:r>
            <a:endParaRPr/>
          </a:p>
          <a:p>
            <a:pPr indent="0" lvl="0" marL="0" rtl="0" algn="l">
              <a:lnSpc>
                <a:spcPct val="90000"/>
              </a:lnSpc>
              <a:spcBef>
                <a:spcPts val="1000"/>
              </a:spcBef>
              <a:spcAft>
                <a:spcPts val="0"/>
              </a:spcAft>
              <a:buSzPct val="91836"/>
              <a:buNone/>
            </a:pPr>
            <a:r>
              <a:rPr lang="en-US"/>
              <a:t>from tensorflow.keras.models import Sequential</a:t>
            </a:r>
            <a:endParaRPr/>
          </a:p>
          <a:p>
            <a:pPr indent="0" lvl="0" marL="0" rtl="0" algn="l">
              <a:lnSpc>
                <a:spcPct val="90000"/>
              </a:lnSpc>
              <a:spcBef>
                <a:spcPts val="1000"/>
              </a:spcBef>
              <a:spcAft>
                <a:spcPts val="0"/>
              </a:spcAft>
              <a:buSzPct val="91836"/>
              <a:buNone/>
            </a:pPr>
            <a:r>
              <a:rPr lang="en-US"/>
              <a:t>from tensorflow.keras.layers import Conv2D, MaxPooling2D, Flatten, Dense</a:t>
            </a:r>
            <a:endParaRPr/>
          </a:p>
          <a:p>
            <a:pPr indent="0" lvl="0" marL="0" rtl="0" algn="l">
              <a:lnSpc>
                <a:spcPct val="90000"/>
              </a:lnSpc>
              <a:spcBef>
                <a:spcPts val="1000"/>
              </a:spcBef>
              <a:spcAft>
                <a:spcPts val="0"/>
              </a:spcAft>
              <a:buSzPct val="91836"/>
              <a:buNone/>
            </a:pPr>
            <a:r>
              <a:t/>
            </a:r>
            <a:endParaRPr/>
          </a:p>
          <a:p>
            <a:pPr indent="0" lvl="0" marL="0" rtl="0" algn="l">
              <a:lnSpc>
                <a:spcPct val="90000"/>
              </a:lnSpc>
              <a:spcBef>
                <a:spcPts val="1000"/>
              </a:spcBef>
              <a:spcAft>
                <a:spcPts val="0"/>
              </a:spcAft>
              <a:buSzPct val="91836"/>
              <a:buNone/>
            </a:pPr>
            <a:r>
              <a:rPr lang="en-US"/>
              <a:t># Load MNIST dataset</a:t>
            </a:r>
            <a:endParaRPr/>
          </a:p>
          <a:p>
            <a:pPr indent="0" lvl="0" marL="0" rtl="0" algn="l">
              <a:lnSpc>
                <a:spcPct val="90000"/>
              </a:lnSpc>
              <a:spcBef>
                <a:spcPts val="1000"/>
              </a:spcBef>
              <a:spcAft>
                <a:spcPts val="0"/>
              </a:spcAft>
              <a:buSzPct val="91836"/>
              <a:buNone/>
            </a:pPr>
            <a:r>
              <a:rPr lang="en-US"/>
              <a:t>(x_train, y_train), (x_test, y_test) = mnist.load_data()</a:t>
            </a:r>
            <a:endParaRPr/>
          </a:p>
          <a:p>
            <a:pPr indent="0" lvl="0" marL="0" rtl="0" algn="l">
              <a:lnSpc>
                <a:spcPct val="90000"/>
              </a:lnSpc>
              <a:spcBef>
                <a:spcPts val="1000"/>
              </a:spcBef>
              <a:spcAft>
                <a:spcPts val="0"/>
              </a:spcAft>
              <a:buSzPct val="91836"/>
              <a:buNone/>
            </a:pPr>
            <a:r>
              <a:t/>
            </a:r>
            <a:endParaRPr/>
          </a:p>
          <a:p>
            <a:pPr indent="0" lvl="0" marL="0" rtl="0" algn="l">
              <a:lnSpc>
                <a:spcPct val="90000"/>
              </a:lnSpc>
              <a:spcBef>
                <a:spcPts val="1000"/>
              </a:spcBef>
              <a:spcAft>
                <a:spcPts val="0"/>
              </a:spcAft>
              <a:buSzPct val="91836"/>
              <a:buNone/>
            </a:pPr>
            <a:r>
              <a:rPr lang="en-US"/>
              <a:t># Preprocess data (normalize)</a:t>
            </a:r>
            <a:endParaRPr/>
          </a:p>
          <a:p>
            <a:pPr indent="0" lvl="0" marL="0" rtl="0" algn="l">
              <a:lnSpc>
                <a:spcPct val="90000"/>
              </a:lnSpc>
              <a:spcBef>
                <a:spcPts val="1000"/>
              </a:spcBef>
              <a:spcAft>
                <a:spcPts val="0"/>
              </a:spcAft>
              <a:buSzPct val="91836"/>
              <a:buNone/>
            </a:pPr>
            <a:r>
              <a:rPr lang="en-US"/>
              <a:t>x_train = x_train.astype('float32') / 255.0</a:t>
            </a:r>
            <a:endParaRPr/>
          </a:p>
          <a:p>
            <a:pPr indent="0" lvl="0" marL="0" rtl="0" algn="l">
              <a:lnSpc>
                <a:spcPct val="90000"/>
              </a:lnSpc>
              <a:spcBef>
                <a:spcPts val="1000"/>
              </a:spcBef>
              <a:spcAft>
                <a:spcPts val="0"/>
              </a:spcAft>
              <a:buSzPct val="91836"/>
              <a:buNone/>
            </a:pPr>
            <a:r>
              <a:rPr lang="en-US"/>
              <a:t>x_test = x_test.astype('float32') / 255.0</a:t>
            </a:r>
            <a:endParaRPr/>
          </a:p>
          <a:p>
            <a:pPr indent="0" lvl="0" marL="0" rtl="0" algn="l">
              <a:lnSpc>
                <a:spcPct val="90000"/>
              </a:lnSpc>
              <a:spcBef>
                <a:spcPts val="1000"/>
              </a:spcBef>
              <a:spcAft>
                <a:spcPts val="0"/>
              </a:spcAft>
              <a:buSzPct val="91836"/>
              <a:buNone/>
            </a:pPr>
            <a:r>
              <a:t/>
            </a:r>
            <a:endParaRPr/>
          </a:p>
          <a:p>
            <a:pPr indent="0" lvl="0" marL="0" rtl="0" algn="l">
              <a:lnSpc>
                <a:spcPct val="90000"/>
              </a:lnSpc>
              <a:spcBef>
                <a:spcPts val="1000"/>
              </a:spcBef>
              <a:spcAft>
                <a:spcPts val="0"/>
              </a:spcAft>
              <a:buSzPct val="91836"/>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2e5bcb2ce9e_0_2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64" name="Google Shape;364;g2e5bcb2ce9e_0_2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90000"/>
              </a:lnSpc>
              <a:spcBef>
                <a:spcPts val="1000"/>
              </a:spcBef>
              <a:spcAft>
                <a:spcPts val="0"/>
              </a:spcAft>
              <a:buClr>
                <a:schemeClr val="dk1"/>
              </a:buClr>
              <a:buSzPct val="39285"/>
              <a:buFont typeface="Arial"/>
              <a:buNone/>
            </a:pPr>
            <a:r>
              <a:rPr lang="en-US"/>
              <a:t># Reshape to include channels (required for CNN)</a:t>
            </a:r>
            <a:endParaRPr/>
          </a:p>
          <a:p>
            <a:pPr indent="0" lvl="0" marL="0" rtl="0" algn="l">
              <a:lnSpc>
                <a:spcPct val="90000"/>
              </a:lnSpc>
              <a:spcBef>
                <a:spcPts val="1000"/>
              </a:spcBef>
              <a:spcAft>
                <a:spcPts val="0"/>
              </a:spcAft>
              <a:buClr>
                <a:schemeClr val="dk1"/>
              </a:buClr>
              <a:buSzPct val="39285"/>
              <a:buFont typeface="Arial"/>
              <a:buNone/>
            </a:pPr>
            <a:r>
              <a:rPr lang="en-US"/>
              <a:t>x_train = x_train.reshape(x_train.shape[0], 28, 28, 1)</a:t>
            </a:r>
            <a:endParaRPr/>
          </a:p>
          <a:p>
            <a:pPr indent="0" lvl="0" marL="0" rtl="0" algn="l">
              <a:lnSpc>
                <a:spcPct val="90000"/>
              </a:lnSpc>
              <a:spcBef>
                <a:spcPts val="1000"/>
              </a:spcBef>
              <a:spcAft>
                <a:spcPts val="0"/>
              </a:spcAft>
              <a:buClr>
                <a:schemeClr val="dk1"/>
              </a:buClr>
              <a:buSzPct val="39285"/>
              <a:buFont typeface="Arial"/>
              <a:buNone/>
            </a:pPr>
            <a:r>
              <a:rPr lang="en-US"/>
              <a:t>x_test = x_test.reshape(x_test.shape[0], 28, 28, 1)</a:t>
            </a:r>
            <a:endParaRPr/>
          </a:p>
          <a:p>
            <a:pPr indent="0" lvl="0" marL="0" rtl="0" algn="l">
              <a:lnSpc>
                <a:spcPct val="90000"/>
              </a:lnSpc>
              <a:spcBef>
                <a:spcPts val="1000"/>
              </a:spcBef>
              <a:spcAft>
                <a:spcPts val="0"/>
              </a:spcAft>
              <a:buClr>
                <a:schemeClr val="dk1"/>
              </a:buClr>
              <a:buSzPct val="39285"/>
              <a:buFont typeface="Arial"/>
              <a:buNone/>
            </a:pPr>
            <a:r>
              <a:t/>
            </a:r>
            <a:endParaRPr/>
          </a:p>
          <a:p>
            <a:pPr indent="0" lvl="0" marL="0" rtl="0" algn="l">
              <a:lnSpc>
                <a:spcPct val="90000"/>
              </a:lnSpc>
              <a:spcBef>
                <a:spcPts val="1000"/>
              </a:spcBef>
              <a:spcAft>
                <a:spcPts val="0"/>
              </a:spcAft>
              <a:buClr>
                <a:schemeClr val="dk1"/>
              </a:buClr>
              <a:buSzPct val="39285"/>
              <a:buFont typeface="Arial"/>
              <a:buNone/>
            </a:pPr>
            <a:r>
              <a:rPr lang="en-US"/>
              <a:t># One-hot encode labels</a:t>
            </a:r>
            <a:endParaRPr/>
          </a:p>
          <a:p>
            <a:pPr indent="0" lvl="0" marL="0" rtl="0" algn="l">
              <a:lnSpc>
                <a:spcPct val="90000"/>
              </a:lnSpc>
              <a:spcBef>
                <a:spcPts val="1000"/>
              </a:spcBef>
              <a:spcAft>
                <a:spcPts val="0"/>
              </a:spcAft>
              <a:buClr>
                <a:schemeClr val="dk1"/>
              </a:buClr>
              <a:buSzPct val="39285"/>
              <a:buFont typeface="Arial"/>
              <a:buNone/>
            </a:pPr>
            <a:r>
              <a:rPr lang="en-US"/>
              <a:t>y_train = tf.keras.utils.to_categorical(y_train, 10)</a:t>
            </a:r>
            <a:endParaRPr/>
          </a:p>
          <a:p>
            <a:pPr indent="0" lvl="0" marL="0" rtl="0" algn="l">
              <a:lnSpc>
                <a:spcPct val="90000"/>
              </a:lnSpc>
              <a:spcBef>
                <a:spcPts val="1000"/>
              </a:spcBef>
              <a:spcAft>
                <a:spcPts val="0"/>
              </a:spcAft>
              <a:buClr>
                <a:schemeClr val="dk1"/>
              </a:buClr>
              <a:buSzPct val="39285"/>
              <a:buFont typeface="Arial"/>
              <a:buNone/>
            </a:pPr>
            <a:r>
              <a:rPr lang="en-US"/>
              <a:t>y_test = tf.keras.utils.to_categorical(y_test, 10)</a:t>
            </a:r>
            <a:endParaRPr/>
          </a:p>
          <a:p>
            <a:pPr indent="0" lvl="0" marL="0" rtl="0" algn="l">
              <a:lnSpc>
                <a:spcPct val="90000"/>
              </a:lnSpc>
              <a:spcBef>
                <a:spcPts val="1000"/>
              </a:spcBef>
              <a:spcAft>
                <a:spcPts val="0"/>
              </a:spcAft>
              <a:buClr>
                <a:schemeClr val="dk1"/>
              </a:buClr>
              <a:buSzPct val="39285"/>
              <a:buFont typeface="Arial"/>
              <a:buNone/>
            </a:pPr>
            <a:r>
              <a:t/>
            </a:r>
            <a:endParaRPr/>
          </a:p>
          <a:p>
            <a:pPr indent="0" lvl="0" marL="0" rtl="0" algn="l">
              <a:lnSpc>
                <a:spcPct val="90000"/>
              </a:lnSpc>
              <a:spcBef>
                <a:spcPts val="1000"/>
              </a:spcBef>
              <a:spcAft>
                <a:spcPts val="0"/>
              </a:spcAft>
              <a:buClr>
                <a:schemeClr val="dk1"/>
              </a:buClr>
              <a:buSzPct val="39285"/>
              <a:buFont typeface="Arial"/>
              <a:buNone/>
            </a:pPr>
            <a:r>
              <a:rPr lang="en-US"/>
              <a:t># Define and train CNN model</a:t>
            </a:r>
            <a:endParaRPr/>
          </a:p>
          <a:p>
            <a:pPr indent="0" lvl="0" marL="0" rtl="0" algn="l">
              <a:lnSpc>
                <a:spcPct val="90000"/>
              </a:lnSpc>
              <a:spcBef>
                <a:spcPts val="1000"/>
              </a:spcBef>
              <a:spcAft>
                <a:spcPts val="0"/>
              </a:spcAft>
              <a:buClr>
                <a:schemeClr val="dk1"/>
              </a:buClr>
              <a:buSzPct val="39285"/>
              <a:buFont typeface="Arial"/>
              <a:buNone/>
            </a:pPr>
            <a:r>
              <a:rPr lang="en-US"/>
              <a:t>model = Sequential([</a:t>
            </a:r>
            <a:endParaRPr/>
          </a:p>
          <a:p>
            <a:pPr indent="0" lvl="0" marL="0" rtl="0" algn="l">
              <a:lnSpc>
                <a:spcPct val="90000"/>
              </a:lnSpc>
              <a:spcBef>
                <a:spcPts val="1000"/>
              </a:spcBef>
              <a:spcAft>
                <a:spcPts val="0"/>
              </a:spcAft>
              <a:buClr>
                <a:schemeClr val="dk1"/>
              </a:buClr>
              <a:buSzPct val="39285"/>
              <a:buFont typeface="Arial"/>
              <a:buNone/>
            </a:pPr>
            <a:r>
              <a:rPr lang="en-US"/>
              <a:t> </a:t>
            </a:r>
            <a:r>
              <a:rPr b="1" lang="en-US"/>
              <a:t>   Conv2D(32, kernel_size=(3, 3), activation='relu', input_shape=(28, 28, 1)),  # Convolutional layer</a:t>
            </a:r>
            <a:endParaRPr b="1"/>
          </a:p>
          <a:p>
            <a:pPr indent="0" lvl="0" marL="0" rtl="0" algn="l">
              <a:lnSpc>
                <a:spcPct val="90000"/>
              </a:lnSpc>
              <a:spcBef>
                <a:spcPts val="1000"/>
              </a:spcBef>
              <a:spcAft>
                <a:spcPts val="0"/>
              </a:spcAft>
              <a:buClr>
                <a:schemeClr val="dk1"/>
              </a:buClr>
              <a:buSzPct val="39285"/>
              <a:buFont typeface="Arial"/>
              <a:buNone/>
            </a:pPr>
            <a:r>
              <a:rPr b="1" lang="en-US"/>
              <a:t>    MaxPooling2D((2, 2)),  # Pooling layer to reduce dimensionality</a:t>
            </a:r>
            <a:endParaRPr b="1"/>
          </a:p>
          <a:p>
            <a:pPr indent="0" lvl="0" marL="0" rtl="0" algn="l">
              <a:lnSpc>
                <a:spcPct val="90000"/>
              </a:lnSpc>
              <a:spcBef>
                <a:spcPts val="1000"/>
              </a:spcBef>
              <a:spcAft>
                <a:spcPts val="0"/>
              </a:spcAft>
              <a:buClr>
                <a:schemeClr val="dk1"/>
              </a:buClr>
              <a:buSzPct val="39285"/>
              <a:buFont typeface="Arial"/>
              <a:buNone/>
            </a:pPr>
            <a:r>
              <a:rPr lang="en-US"/>
              <a:t>    Flatten(),</a:t>
            </a:r>
            <a:endParaRPr/>
          </a:p>
          <a:p>
            <a:pPr indent="0" lvl="0" marL="0" rtl="0" algn="l">
              <a:lnSpc>
                <a:spcPct val="90000"/>
              </a:lnSpc>
              <a:spcBef>
                <a:spcPts val="1000"/>
              </a:spcBef>
              <a:spcAft>
                <a:spcPts val="0"/>
              </a:spcAft>
              <a:buClr>
                <a:schemeClr val="dk1"/>
              </a:buClr>
              <a:buSzPct val="39285"/>
              <a:buFont typeface="Arial"/>
              <a:buNone/>
            </a:pPr>
            <a:r>
              <a:rPr lang="en-US"/>
              <a:t>    Dense(128, activation='relu'),  # Hidden layer</a:t>
            </a:r>
            <a:endParaRPr/>
          </a:p>
          <a:p>
            <a:pPr indent="0" lvl="0" marL="0" rtl="0" algn="l">
              <a:lnSpc>
                <a:spcPct val="90000"/>
              </a:lnSpc>
              <a:spcBef>
                <a:spcPts val="1000"/>
              </a:spcBef>
              <a:spcAft>
                <a:spcPts val="0"/>
              </a:spcAft>
              <a:buClr>
                <a:schemeClr val="dk1"/>
              </a:buClr>
              <a:buSzPct val="39285"/>
              <a:buFont typeface="Arial"/>
              <a:buNone/>
            </a:pPr>
            <a:r>
              <a:rPr lang="en-US"/>
              <a:t>    Dense(10, activation='softmax')  # Output layer</a:t>
            </a:r>
            <a:endParaRPr/>
          </a:p>
          <a:p>
            <a:pPr indent="0" lvl="0" marL="0" rtl="0" algn="l">
              <a:lnSpc>
                <a:spcPct val="90000"/>
              </a:lnSpc>
              <a:spcBef>
                <a:spcPts val="1000"/>
              </a:spcBef>
              <a:spcAft>
                <a:spcPts val="0"/>
              </a:spcAft>
              <a:buClr>
                <a:schemeClr val="dk1"/>
              </a:buClr>
              <a:buSzPct val="39285"/>
              <a:buFont typeface="Arial"/>
              <a:buNone/>
            </a:pPr>
            <a:r>
              <a:rPr lang="en-US"/>
              <a:t>])</a:t>
            </a:r>
            <a:endParaRPr/>
          </a:p>
          <a:p>
            <a:pPr indent="0" lvl="0" marL="0" rtl="0" algn="l">
              <a:lnSpc>
                <a:spcPct val="90000"/>
              </a:lnSpc>
              <a:spcBef>
                <a:spcPts val="1000"/>
              </a:spcBef>
              <a:spcAft>
                <a:spcPts val="0"/>
              </a:spcAft>
              <a:buSzPct val="160714"/>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2e5bcb2ce9e_0_3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70" name="Google Shape;370;g2e5bcb2ce9e_0_3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Clr>
                <a:schemeClr val="dk1"/>
              </a:buClr>
              <a:buSzPts val="1100"/>
              <a:buFont typeface="Arial"/>
              <a:buNone/>
            </a:pPr>
            <a:r>
              <a:rPr lang="en-US"/>
              <a:t>model.compile(optimizer='adam', loss='categorical_crossentropy', metrics=['accuracy'])</a:t>
            </a:r>
            <a:endParaRPr/>
          </a:p>
          <a:p>
            <a:pPr indent="0" lvl="0" marL="0" rtl="0" algn="l">
              <a:lnSpc>
                <a:spcPct val="90000"/>
              </a:lnSpc>
              <a:spcBef>
                <a:spcPts val="1000"/>
              </a:spcBef>
              <a:spcAft>
                <a:spcPts val="0"/>
              </a:spcAft>
              <a:buClr>
                <a:schemeClr val="dk1"/>
              </a:buClr>
              <a:buSzPts val="1100"/>
              <a:buFont typeface="Arial"/>
              <a:buNone/>
            </a:pPr>
            <a:r>
              <a:rPr lang="en-US"/>
              <a:t>model.fit(x_train, y_train, epochs=10, batch_size=32, validation_data=(x_test, y_test))</a:t>
            </a:r>
            <a:endParaRPr/>
          </a:p>
          <a:p>
            <a:pPr indent="0" lvl="0" marL="0" rtl="0" algn="l">
              <a:lnSpc>
                <a:spcPct val="90000"/>
              </a:lnSpc>
              <a:spcBef>
                <a:spcPts val="1000"/>
              </a:spcBef>
              <a:spcAft>
                <a:spcPts val="0"/>
              </a:spcAft>
              <a:buClr>
                <a:schemeClr val="dk1"/>
              </a:buClr>
              <a:buSzPts val="1100"/>
              <a:buFont typeface="Arial"/>
              <a:buNone/>
            </a:pPr>
            <a:r>
              <a:t/>
            </a:r>
            <a:endParaRPr/>
          </a:p>
          <a:p>
            <a:pPr indent="0" lvl="0" marL="0" rtl="0" algn="l">
              <a:lnSpc>
                <a:spcPct val="90000"/>
              </a:lnSpc>
              <a:spcBef>
                <a:spcPts val="1000"/>
              </a:spcBef>
              <a:spcAft>
                <a:spcPts val="0"/>
              </a:spcAft>
              <a:buClr>
                <a:schemeClr val="dk1"/>
              </a:buClr>
              <a:buSzPts val="1100"/>
              <a:buFont typeface="Arial"/>
              <a:buNone/>
            </a:pPr>
            <a:r>
              <a:rPr lang="en-US"/>
              <a:t># Evaluate model performance</a:t>
            </a:r>
            <a:endParaRPr/>
          </a:p>
          <a:p>
            <a:pPr indent="0" lvl="0" marL="0" rtl="0" algn="l">
              <a:lnSpc>
                <a:spcPct val="90000"/>
              </a:lnSpc>
              <a:spcBef>
                <a:spcPts val="1000"/>
              </a:spcBef>
              <a:spcAft>
                <a:spcPts val="0"/>
              </a:spcAft>
              <a:buClr>
                <a:schemeClr val="dk1"/>
              </a:buClr>
              <a:buSzPts val="1100"/>
              <a:buFont typeface="Arial"/>
              <a:buNone/>
            </a:pPr>
            <a:r>
              <a:rPr lang="en-US"/>
              <a:t>test_loss, test_acc = model.evaluate(x_test, y_test)</a:t>
            </a:r>
            <a:endParaRPr/>
          </a:p>
          <a:p>
            <a:pPr indent="0" lvl="0" marL="0" rtl="0" algn="l">
              <a:lnSpc>
                <a:spcPct val="90000"/>
              </a:lnSpc>
              <a:spcBef>
                <a:spcPts val="1000"/>
              </a:spcBef>
              <a:spcAft>
                <a:spcPts val="0"/>
              </a:spcAft>
              <a:buClr>
                <a:schemeClr val="dk1"/>
              </a:buClr>
              <a:buSzPts val="1100"/>
              <a:buFont typeface="Arial"/>
              <a:buNone/>
            </a:pPr>
            <a:r>
              <a:rPr lang="en-US"/>
              <a:t>print('Test accuracy:', test_acc)</a:t>
            </a:r>
            <a:endParaRPr/>
          </a:p>
          <a:p>
            <a:pPr indent="0" lvl="0" marL="0" rtl="0" algn="l">
              <a:lnSpc>
                <a:spcPct val="90000"/>
              </a:lnSpc>
              <a:spcBef>
                <a:spcPts val="1000"/>
              </a:spcBef>
              <a:spcAft>
                <a:spcPts val="0"/>
              </a:spcAft>
              <a:buSzPts val="180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2e5bcb2ce9e_0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376" name="Google Shape;376;g2e5bcb2ce9e_0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377" name="Google Shape;377;g2e5bcb2ce9e_0_0"/>
          <p:cNvPicPr preferRelativeResize="0"/>
          <p:nvPr/>
        </p:nvPicPr>
        <p:blipFill rotWithShape="1">
          <a:blip r:embed="rId3">
            <a:alphaModFix/>
          </a:blip>
          <a:srcRect b="0" l="0" r="0" t="0"/>
          <a:stretch/>
        </p:blipFill>
        <p:spPr>
          <a:xfrm>
            <a:off x="2125125" y="2339200"/>
            <a:ext cx="7840700" cy="332405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1"/>
          <p:cNvSpPr txBox="1"/>
          <p:nvPr>
            <p:ph type="title"/>
          </p:nvPr>
        </p:nvSpPr>
        <p:spPr>
          <a:xfrm>
            <a:off x="838200" y="365125"/>
            <a:ext cx="10515600" cy="1325563"/>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solidFill>
                  <a:schemeClr val="dk1"/>
                </a:solidFill>
                <a:latin typeface="Calibri"/>
                <a:ea typeface="Calibri"/>
                <a:cs typeface="Calibri"/>
                <a:sym typeface="Calibri"/>
              </a:rPr>
              <a:t>What are recurrent neural networks?</a:t>
            </a:r>
            <a:endParaRPr/>
          </a:p>
        </p:txBody>
      </p:sp>
      <p:sp>
        <p:nvSpPr>
          <p:cNvPr id="383" name="Google Shape;383;p21"/>
          <p:cNvSpPr txBox="1"/>
          <p:nvPr>
            <p:ph idx="1" type="body"/>
          </p:nvPr>
        </p:nvSpPr>
        <p:spPr>
          <a:xfrm>
            <a:off x="838200" y="1825625"/>
            <a:ext cx="10515600" cy="4351338"/>
          </a:xfrm>
          <a:prstGeom prst="rect">
            <a:avLst/>
          </a:prstGeom>
          <a:solidFill>
            <a:schemeClr val="lt1"/>
          </a:solidFill>
          <a:ln cap="flat" cmpd="sng" w="12700">
            <a:solidFill>
              <a:schemeClr val="accent3"/>
            </a:solidFill>
            <a:prstDash val="solid"/>
            <a:miter lim="800000"/>
            <a:headEnd len="sm" w="sm" type="none"/>
            <a:tailEnd len="sm" w="sm" type="none"/>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A recurrent neural network (RNN) is a type of artificial neural network which uses sequential data or time series data. </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Calibri"/>
                <a:ea typeface="Calibri"/>
                <a:cs typeface="Calibri"/>
                <a:sym typeface="Calibri"/>
              </a:rPr>
              <a:t>These deep learning algorithms are commonly used for ordinal or temporal problems, such as language translation, natural language processing (nlp), speech recognition, and image captioning; they are incorporated into popular applications such as Siri, voice search, and Google Translate.</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Calibri"/>
                <a:ea typeface="Calibri"/>
                <a:cs typeface="Calibri"/>
                <a:sym typeface="Calibri"/>
              </a:rPr>
              <a:t> Like feedforward and convolutional neural networks (CNNs), recurrent neural networks utilize training data to learn.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RNN…</a:t>
            </a:r>
            <a:endParaRPr/>
          </a:p>
        </p:txBody>
      </p:sp>
      <p:sp>
        <p:nvSpPr>
          <p:cNvPr id="389" name="Google Shape;389;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15265" lvl="0" marL="228600" rtl="0" algn="l">
              <a:lnSpc>
                <a:spcPct val="90000"/>
              </a:lnSpc>
              <a:spcBef>
                <a:spcPts val="0"/>
              </a:spcBef>
              <a:spcAft>
                <a:spcPts val="0"/>
              </a:spcAft>
              <a:buClr>
                <a:schemeClr val="dk1"/>
              </a:buClr>
              <a:buSzPct val="100000"/>
              <a:buChar char="•"/>
            </a:pPr>
            <a:r>
              <a:rPr b="1" lang="en-US"/>
              <a:t>A single-time step of the input is provided to the network.</a:t>
            </a:r>
            <a:endParaRPr b="1"/>
          </a:p>
          <a:p>
            <a:pPr indent="-215265" lvl="0" marL="228600" rtl="0" algn="l">
              <a:lnSpc>
                <a:spcPct val="90000"/>
              </a:lnSpc>
              <a:spcBef>
                <a:spcPts val="1000"/>
              </a:spcBef>
              <a:spcAft>
                <a:spcPts val="0"/>
              </a:spcAft>
              <a:buClr>
                <a:schemeClr val="dk1"/>
              </a:buClr>
              <a:buSzPct val="100000"/>
              <a:buChar char="•"/>
            </a:pPr>
            <a:r>
              <a:rPr lang="en-US"/>
              <a:t>Then calculate its </a:t>
            </a:r>
            <a:r>
              <a:rPr b="1" lang="en-US"/>
              <a:t>current state</a:t>
            </a:r>
            <a:r>
              <a:rPr lang="en-US"/>
              <a:t> using a </a:t>
            </a:r>
            <a:r>
              <a:rPr b="1" lang="en-US"/>
              <a:t>set of current input</a:t>
            </a:r>
            <a:r>
              <a:rPr lang="en-US"/>
              <a:t> and the previous state.</a:t>
            </a:r>
            <a:endParaRPr/>
          </a:p>
          <a:p>
            <a:pPr indent="-215265" lvl="0" marL="228600" rtl="0" algn="l">
              <a:lnSpc>
                <a:spcPct val="90000"/>
              </a:lnSpc>
              <a:spcBef>
                <a:spcPts val="1000"/>
              </a:spcBef>
              <a:spcAft>
                <a:spcPts val="0"/>
              </a:spcAft>
              <a:buClr>
                <a:schemeClr val="dk1"/>
              </a:buClr>
              <a:buSzPct val="100000"/>
              <a:buChar char="•"/>
            </a:pPr>
            <a:r>
              <a:rPr lang="en-US"/>
              <a:t>The current ht becomes </a:t>
            </a:r>
            <a:r>
              <a:rPr b="1" lang="en-US"/>
              <a:t>ht-1 </a:t>
            </a:r>
            <a:r>
              <a:rPr lang="en-US"/>
              <a:t>for the next time step.</a:t>
            </a:r>
            <a:endParaRPr/>
          </a:p>
          <a:p>
            <a:pPr indent="-215265" lvl="0" marL="228600" rtl="0" algn="l">
              <a:lnSpc>
                <a:spcPct val="90000"/>
              </a:lnSpc>
              <a:spcBef>
                <a:spcPts val="1000"/>
              </a:spcBef>
              <a:spcAft>
                <a:spcPts val="0"/>
              </a:spcAft>
              <a:buClr>
                <a:schemeClr val="dk1"/>
              </a:buClr>
              <a:buSzPct val="100000"/>
              <a:buChar char="•"/>
            </a:pPr>
            <a:r>
              <a:rPr lang="en-US"/>
              <a:t>One can go as many time steps according to the problem and join the information from all the </a:t>
            </a:r>
            <a:r>
              <a:rPr b="1" lang="en-US"/>
              <a:t>previous states.</a:t>
            </a:r>
            <a:endParaRPr b="1"/>
          </a:p>
          <a:p>
            <a:pPr indent="-215265" lvl="0" marL="228600" rtl="0" algn="l">
              <a:lnSpc>
                <a:spcPct val="90000"/>
              </a:lnSpc>
              <a:spcBef>
                <a:spcPts val="1000"/>
              </a:spcBef>
              <a:spcAft>
                <a:spcPts val="0"/>
              </a:spcAft>
              <a:buClr>
                <a:schemeClr val="dk1"/>
              </a:buClr>
              <a:buSzPct val="100000"/>
              <a:buChar char="•"/>
            </a:pPr>
            <a:r>
              <a:rPr lang="en-US"/>
              <a:t>Once all the time steps are completed the final current state is used to calculate the output.</a:t>
            </a:r>
            <a:endParaRPr/>
          </a:p>
          <a:p>
            <a:pPr indent="-215265" lvl="0" marL="228600" rtl="0" algn="l">
              <a:lnSpc>
                <a:spcPct val="90000"/>
              </a:lnSpc>
              <a:spcBef>
                <a:spcPts val="1000"/>
              </a:spcBef>
              <a:spcAft>
                <a:spcPts val="0"/>
              </a:spcAft>
              <a:buClr>
                <a:schemeClr val="dk1"/>
              </a:buClr>
              <a:buSzPct val="100000"/>
              <a:buChar char="•"/>
            </a:pPr>
            <a:r>
              <a:rPr lang="en-US"/>
              <a:t>The output is then compared to the actual output i.e the target output and the </a:t>
            </a:r>
            <a:r>
              <a:rPr b="1" lang="en-US"/>
              <a:t>error is generated.</a:t>
            </a:r>
            <a:endParaRPr b="1"/>
          </a:p>
          <a:p>
            <a:pPr indent="-215265" lvl="0" marL="228600" rtl="0" algn="l">
              <a:lnSpc>
                <a:spcPct val="90000"/>
              </a:lnSpc>
              <a:spcBef>
                <a:spcPts val="1000"/>
              </a:spcBef>
              <a:spcAft>
                <a:spcPts val="0"/>
              </a:spcAft>
              <a:buClr>
                <a:schemeClr val="dk1"/>
              </a:buClr>
              <a:buSzPct val="100000"/>
              <a:buChar char="•"/>
            </a:pPr>
            <a:r>
              <a:rPr lang="en-US"/>
              <a:t>The error is then </a:t>
            </a:r>
            <a:r>
              <a:rPr b="1" lang="en-US"/>
              <a:t>back-propagated</a:t>
            </a:r>
            <a:r>
              <a:rPr lang="en-US"/>
              <a:t> to the network to update the weights and hence the network (RNN) is trained using Backpropagation through time.</a:t>
            </a:r>
            <a:endParaRPr/>
          </a:p>
          <a:p>
            <a:pPr indent="-77470" lvl="0" marL="228600" rtl="0" algn="l">
              <a:lnSpc>
                <a:spcPct val="90000"/>
              </a:lnSpc>
              <a:spcBef>
                <a:spcPts val="1000"/>
              </a:spcBef>
              <a:spcAft>
                <a:spcPts val="0"/>
              </a:spcAft>
              <a:buClr>
                <a:schemeClr val="dk1"/>
              </a:buClr>
              <a:buSzPct val="100000"/>
              <a:buNone/>
            </a:pPr>
            <a:r>
              <a:t/>
            </a:r>
            <a:endParaRPr/>
          </a:p>
          <a:p>
            <a:pPr indent="-77470" lvl="0" marL="228600" rtl="0" algn="l">
              <a:lnSpc>
                <a:spcPct val="90000"/>
              </a:lnSpc>
              <a:spcBef>
                <a:spcPts val="1000"/>
              </a:spcBef>
              <a:spcAft>
                <a:spcPts val="0"/>
              </a:spcAft>
              <a:buClr>
                <a:schemeClr val="dk1"/>
              </a:buClr>
              <a:buSzPct val="100000"/>
              <a:buNone/>
            </a:pPr>
            <a:r>
              <a:rPr lang="en-US"/>
              <a:t>https://medium.com/analytics-vidhya/backpropagation-for-dummies-e069410fa585</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More about RNN.</a:t>
            </a:r>
            <a:endParaRPr/>
          </a:p>
        </p:txBody>
      </p:sp>
      <p:sp>
        <p:nvSpPr>
          <p:cNvPr id="395" name="Google Shape;395;p23"/>
          <p:cNvSpPr txBox="1"/>
          <p:nvPr>
            <p:ph idx="1" type="body"/>
          </p:nvPr>
        </p:nvSpPr>
        <p:spPr>
          <a:xfrm>
            <a:off x="838200" y="1825625"/>
            <a:ext cx="10515600" cy="4351338"/>
          </a:xfrm>
          <a:prstGeom prst="rect">
            <a:avLst/>
          </a:prstGeom>
          <a:solidFill>
            <a:schemeClr val="lt1"/>
          </a:solidFill>
          <a:ln cap="flat" cmpd="sng" w="12700">
            <a:solidFill>
              <a:schemeClr val="accent2"/>
            </a:solidFill>
            <a:prstDash val="solid"/>
            <a:miter lim="800000"/>
            <a:headEnd len="sm" w="sm" type="none"/>
            <a:tailEnd len="sm" w="sm" type="none"/>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solidFill>
                  <a:schemeClr val="dk1"/>
                </a:solidFill>
                <a:latin typeface="Calibri"/>
                <a:ea typeface="Calibri"/>
                <a:cs typeface="Calibri"/>
                <a:sym typeface="Calibri"/>
              </a:rPr>
              <a:t>They are distinguished by their “memory” as they take information from prior inputs to influence the current input and output. </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Calibri"/>
                <a:ea typeface="Calibri"/>
                <a:cs typeface="Calibri"/>
                <a:sym typeface="Calibri"/>
              </a:rPr>
              <a:t>While traditional deep neural networks assume that inputs and outputs are independent of each other, the output of recurrent neural networks depend on the prior elements within the sequence.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solidFill>
                  <a:schemeClr val="dk1"/>
                </a:solidFill>
                <a:latin typeface="Calibri"/>
                <a:ea typeface="Calibri"/>
                <a:cs typeface="Calibri"/>
                <a:sym typeface="Calibri"/>
              </a:rPr>
              <a:t>While future events would also be helpful in determining the output of a given sequence, unidirectional recurrent neural networks cannot account for these events in their predictions.</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descr="Recurrent Neural Network Vs Feedforward Neural Network" id="400" name="Google Shape;400;p24"/>
          <p:cNvPicPr preferRelativeResize="0"/>
          <p:nvPr/>
        </p:nvPicPr>
        <p:blipFill rotWithShape="1">
          <a:blip r:embed="rId3">
            <a:alphaModFix/>
          </a:blip>
          <a:srcRect b="0" l="0" r="0" t="0"/>
          <a:stretch/>
        </p:blipFill>
        <p:spPr>
          <a:xfrm>
            <a:off x="1907101" y="691814"/>
            <a:ext cx="7259894" cy="3712761"/>
          </a:xfrm>
          <a:prstGeom prst="rect">
            <a:avLst/>
          </a:prstGeom>
          <a:noFill/>
          <a:ln>
            <a:noFill/>
          </a:ln>
        </p:spPr>
      </p:pic>
      <p:sp>
        <p:nvSpPr>
          <p:cNvPr id="401" name="Google Shape;401;p24"/>
          <p:cNvSpPr txBox="1"/>
          <p:nvPr/>
        </p:nvSpPr>
        <p:spPr>
          <a:xfrm>
            <a:off x="476518" y="4623515"/>
            <a:ext cx="11391003" cy="2031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Feed-forward neural networks are poor predictions of what will happen next because they have no memory of the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information they receive. Because it simply analyses the current input, a feed-forward network has no idea of temporal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order. Apart from its training, it has no memory of what transpired in the past.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The information is in an RNN cycle via a loop. Before making a judgment, it evaluates the current input as well as what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it has learned from past inputs. A recurrent neural network, on the other hand, may recall due to internal memory.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It produces output, copies it, and then returns it to the network.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6000"/>
              <a:buFont typeface="Calibri"/>
              <a:buNone/>
            </a:pPr>
            <a:r>
              <a:rPr lang="en-US"/>
              <a:t>How does Recurrent Neural Networks work?</a:t>
            </a:r>
            <a:br>
              <a:rPr lang="en-US"/>
            </a:br>
            <a:endParaRPr/>
          </a:p>
        </p:txBody>
      </p:sp>
      <p:sp>
        <p:nvSpPr>
          <p:cNvPr id="407" name="Google Shape;407;p2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u="sng">
                <a:solidFill>
                  <a:schemeClr val="hlink"/>
                </a:solidFill>
                <a:hlinkClick r:id="rId3"/>
              </a:rPr>
              <a:t>Gif file ….</a:t>
            </a:r>
            <a:endParaRPr/>
          </a:p>
          <a:p>
            <a:pPr indent="0" lvl="0" marL="0" rtl="0" algn="l">
              <a:lnSpc>
                <a:spcPct val="90000"/>
              </a:lnSpc>
              <a:spcBef>
                <a:spcPts val="0"/>
              </a:spcBef>
              <a:spcAft>
                <a:spcPts val="0"/>
              </a:spcAft>
              <a:buClr>
                <a:schemeClr val="dk1"/>
              </a:buClr>
              <a:buSzPts val="4400"/>
              <a:buFont typeface="Calibri"/>
              <a:buNone/>
            </a:pPr>
            <a:r>
              <a:t/>
            </a:r>
            <a:endParaRPr/>
          </a:p>
        </p:txBody>
      </p:sp>
      <p:sp>
        <p:nvSpPr>
          <p:cNvPr id="413" name="Google Shape;413;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The input layer </a:t>
            </a:r>
            <a:r>
              <a:rPr b="1" lang="en-US"/>
              <a:t>x </a:t>
            </a:r>
            <a:r>
              <a:rPr lang="en-US"/>
              <a:t>receives and processes the neural network’s input before passing it on to the middle layer.</a:t>
            </a:r>
            <a:endParaRPr/>
          </a:p>
          <a:p>
            <a:pPr indent="-228600" lvl="0" marL="228600" rtl="0" algn="l">
              <a:lnSpc>
                <a:spcPct val="90000"/>
              </a:lnSpc>
              <a:spcBef>
                <a:spcPts val="1000"/>
              </a:spcBef>
              <a:spcAft>
                <a:spcPts val="0"/>
              </a:spcAft>
              <a:buClr>
                <a:schemeClr val="dk1"/>
              </a:buClr>
              <a:buSzPct val="100000"/>
              <a:buChar char="•"/>
            </a:pPr>
            <a:r>
              <a:rPr lang="en-US"/>
              <a:t>Multiple hidden layers can be found in the middle layer </a:t>
            </a:r>
            <a:r>
              <a:rPr b="1" lang="en-US"/>
              <a:t>h</a:t>
            </a:r>
            <a:r>
              <a:rPr lang="en-US"/>
              <a:t>, each with its own activation functions, weights, and biases. You can utilize a recurrent neural network if the various parameters of different hidden layers are not impacted by the preceding layer, i.e. There is no memory in the neural network.</a:t>
            </a:r>
            <a:endParaRPr/>
          </a:p>
          <a:p>
            <a:pPr indent="-228600" lvl="0" marL="228600" rtl="0" algn="l">
              <a:lnSpc>
                <a:spcPct val="90000"/>
              </a:lnSpc>
              <a:spcBef>
                <a:spcPts val="1000"/>
              </a:spcBef>
              <a:spcAft>
                <a:spcPts val="0"/>
              </a:spcAft>
              <a:buClr>
                <a:schemeClr val="dk1"/>
              </a:buClr>
              <a:buSzPct val="100000"/>
              <a:buChar char="•"/>
            </a:pPr>
            <a:r>
              <a:rPr lang="en-US"/>
              <a:t>The different activation functions, weights, and biases will be standardized by the Recurrent Neural Network, ensuring that each hidden layer has the same characteristics. Rather than constructing numerous hidden layers, it will create only one and loop over it as many times as necessary.</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19" name="Google Shape;419;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Another distinguishing characteristic </a:t>
            </a:r>
            <a:r>
              <a:rPr b="1" lang="en-US"/>
              <a:t>of recurrent networks is that they share parameters across each layer of the network.</a:t>
            </a:r>
            <a:endParaRPr/>
          </a:p>
          <a:p>
            <a:pPr indent="-50800" lvl="0" marL="228600" rtl="0" algn="l">
              <a:lnSpc>
                <a:spcPct val="90000"/>
              </a:lnSpc>
              <a:spcBef>
                <a:spcPts val="1000"/>
              </a:spcBef>
              <a:spcAft>
                <a:spcPts val="0"/>
              </a:spcAft>
              <a:buClr>
                <a:schemeClr val="dk1"/>
              </a:buClr>
              <a:buSzPts val="2800"/>
              <a:buNone/>
            </a:pPr>
            <a:r>
              <a:t/>
            </a:r>
            <a:endParaRPr b="1"/>
          </a:p>
          <a:p>
            <a:pPr indent="-228600" lvl="0" marL="228600" rtl="0" algn="l">
              <a:lnSpc>
                <a:spcPct val="90000"/>
              </a:lnSpc>
              <a:spcBef>
                <a:spcPts val="1000"/>
              </a:spcBef>
              <a:spcAft>
                <a:spcPts val="0"/>
              </a:spcAft>
              <a:buClr>
                <a:schemeClr val="dk1"/>
              </a:buClr>
              <a:buSzPts val="2800"/>
              <a:buChar char="•"/>
            </a:pPr>
            <a:r>
              <a:rPr b="1" lang="en-US"/>
              <a:t> </a:t>
            </a:r>
            <a:r>
              <a:rPr lang="en-US"/>
              <a:t>While feedforward networks have different weights across each node, recurrent neural networks share the same weight parameter within each layer of the network.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That said, these weights are still adjusted in the through the processes of backpropagation and gradient descent to facilitate reinforcement learning.</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pic>
        <p:nvPicPr>
          <p:cNvPr id="424" name="Google Shape;424;p28"/>
          <p:cNvPicPr preferRelativeResize="0"/>
          <p:nvPr/>
        </p:nvPicPr>
        <p:blipFill rotWithShape="1">
          <a:blip r:embed="rId3">
            <a:alphaModFix/>
          </a:blip>
          <a:srcRect b="0" l="0" r="0" t="0"/>
          <a:stretch/>
        </p:blipFill>
        <p:spPr>
          <a:xfrm>
            <a:off x="953792" y="875765"/>
            <a:ext cx="9910138" cy="4211391"/>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g2e6cec57983_0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why RNN?</a:t>
            </a:r>
            <a:endParaRPr/>
          </a:p>
        </p:txBody>
      </p:sp>
      <p:sp>
        <p:nvSpPr>
          <p:cNvPr id="430" name="Google Shape;430;g2e6cec57983_0_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sz="1500">
                <a:solidFill>
                  <a:srgbClr val="242424"/>
                </a:solidFill>
                <a:highlight>
                  <a:srgbClr val="FFFFFF"/>
                </a:highlight>
                <a:latin typeface="Georgia"/>
                <a:ea typeface="Georgia"/>
                <a:cs typeface="Georgia"/>
                <a:sym typeface="Georgia"/>
              </a:rPr>
              <a:t>This means that the output of the previous layer is fed into the next layer for making predictions, repeating the same structure, </a:t>
            </a:r>
            <a:r>
              <a:rPr i="1" lang="en-US" sz="1500">
                <a:solidFill>
                  <a:srgbClr val="242424"/>
                </a:solidFill>
                <a:highlight>
                  <a:srgbClr val="FFFFFF"/>
                </a:highlight>
                <a:latin typeface="Georgia"/>
                <a:ea typeface="Georgia"/>
                <a:cs typeface="Georgia"/>
                <a:sym typeface="Georgia"/>
              </a:rPr>
              <a:t>hence the name ‘Recurrent’ Neural Network.</a:t>
            </a:r>
            <a:endParaRPr/>
          </a:p>
        </p:txBody>
      </p:sp>
      <p:pic>
        <p:nvPicPr>
          <p:cNvPr id="431" name="Google Shape;431;g2e6cec57983_0_1"/>
          <p:cNvPicPr preferRelativeResize="0"/>
          <p:nvPr/>
        </p:nvPicPr>
        <p:blipFill rotWithShape="1">
          <a:blip r:embed="rId3">
            <a:alphaModFix/>
          </a:blip>
          <a:srcRect b="0" l="0" r="0" t="0"/>
          <a:stretch/>
        </p:blipFill>
        <p:spPr>
          <a:xfrm>
            <a:off x="2506575" y="3473625"/>
            <a:ext cx="6858000" cy="207645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g3a9c3c840c4_2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437" name="Google Shape;437;g3a9c3c840c4_2_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u="sng">
                <a:solidFill>
                  <a:schemeClr val="hlink"/>
                </a:solidFill>
                <a:hlinkClick r:id="rId3"/>
              </a:rPr>
              <a:t>https://distill.pub/2019/memorization-in-rnns/</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rPr lang="en-US"/>
              <a:t>https://wandb.ai/authors/rnn-viz/reports/Under-the-Hood-of-Recurrent-Neural-Networks--VmlldzoyNTQ4MjY</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43" name="Google Shape;443;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left side of the above diagram shows a notation of an RNN and on the right side an RNN being </a:t>
            </a:r>
            <a:r>
              <a:rPr i="1" lang="en-US"/>
              <a:t>unrolled</a:t>
            </a:r>
            <a:r>
              <a:rPr lang="en-US"/>
              <a:t> (or unfolded) into a full network. By unrolling we mean that we write out the network for the complete sequence.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For example, if the sequence we care about is a sentence of 3 words, the network would be unrolled into a 3-layer neural network, one layer for each word.</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2e6cec57983_0_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Simple RNN Block</a:t>
            </a:r>
            <a:endParaRPr/>
          </a:p>
        </p:txBody>
      </p:sp>
      <p:sp>
        <p:nvSpPr>
          <p:cNvPr id="449" name="Google Shape;449;g2e6cec57983_0_8"/>
          <p:cNvSpPr txBox="1"/>
          <p:nvPr>
            <p:ph idx="1" type="body"/>
          </p:nvPr>
        </p:nvSpPr>
        <p:spPr>
          <a:xfrm>
            <a:off x="838200" y="1825625"/>
            <a:ext cx="10515600" cy="2612700"/>
          </a:xfrm>
          <a:prstGeom prst="rect">
            <a:avLst/>
          </a:prstGeom>
          <a:noFill/>
          <a:ln>
            <a:noFill/>
          </a:ln>
        </p:spPr>
        <p:txBody>
          <a:bodyPr anchorCtr="0" anchor="t" bIns="45700" lIns="91425" spcFirstLastPara="1" rIns="91425" wrap="square" tIns="45700">
            <a:normAutofit fontScale="92500" lnSpcReduction="20000"/>
          </a:bodyPr>
          <a:lstStyle/>
          <a:p>
            <a:pPr indent="-316768" lvl="0" marL="749300" rtl="0" algn="l">
              <a:lnSpc>
                <a:spcPct val="218181"/>
              </a:lnSpc>
              <a:spcBef>
                <a:spcPts val="3200"/>
              </a:spcBef>
              <a:spcAft>
                <a:spcPts val="0"/>
              </a:spcAft>
              <a:buClr>
                <a:srgbClr val="242424"/>
              </a:buClr>
              <a:buSzPct val="100000"/>
              <a:buFont typeface="Georgia"/>
              <a:buChar char="●"/>
            </a:pPr>
            <a:r>
              <a:rPr b="1" lang="en-US" sz="1500">
                <a:solidFill>
                  <a:srgbClr val="242424"/>
                </a:solidFill>
                <a:highlight>
                  <a:srgbClr val="FFFFFF"/>
                </a:highlight>
                <a:latin typeface="Georgia"/>
                <a:ea typeface="Georgia"/>
                <a:cs typeface="Georgia"/>
                <a:sym typeface="Georgia"/>
              </a:rPr>
              <a:t>X</a:t>
            </a:r>
            <a:r>
              <a:rPr lang="en-US" sz="1500">
                <a:solidFill>
                  <a:srgbClr val="242424"/>
                </a:solidFill>
                <a:highlight>
                  <a:srgbClr val="FFFFFF"/>
                </a:highlight>
                <a:latin typeface="Georgia"/>
                <a:ea typeface="Georgia"/>
                <a:cs typeface="Georgia"/>
                <a:sym typeface="Georgia"/>
              </a:rPr>
              <a:t>: Input. Eg, a word or any other type of sequential data</a:t>
            </a:r>
            <a:endParaRPr sz="1500">
              <a:solidFill>
                <a:srgbClr val="242424"/>
              </a:solidFill>
              <a:highlight>
                <a:srgbClr val="FFFFFF"/>
              </a:highlight>
              <a:latin typeface="Georgia"/>
              <a:ea typeface="Georgia"/>
              <a:cs typeface="Georgia"/>
              <a:sym typeface="Georgia"/>
            </a:endParaRPr>
          </a:p>
          <a:p>
            <a:pPr indent="-316768" lvl="0" marL="749300" rtl="0" algn="l">
              <a:lnSpc>
                <a:spcPct val="218181"/>
              </a:lnSpc>
              <a:spcBef>
                <a:spcPts val="0"/>
              </a:spcBef>
              <a:spcAft>
                <a:spcPts val="0"/>
              </a:spcAft>
              <a:buClr>
                <a:srgbClr val="242424"/>
              </a:buClr>
              <a:buSzPct val="100000"/>
              <a:buFont typeface="Georgia"/>
              <a:buChar char="●"/>
            </a:pPr>
            <a:r>
              <a:rPr b="1" lang="en-US" sz="1500">
                <a:solidFill>
                  <a:srgbClr val="242424"/>
                </a:solidFill>
                <a:highlight>
                  <a:srgbClr val="FFFFFF"/>
                </a:highlight>
                <a:latin typeface="Georgia"/>
                <a:ea typeface="Georgia"/>
                <a:cs typeface="Georgia"/>
                <a:sym typeface="Georgia"/>
              </a:rPr>
              <a:t>O</a:t>
            </a:r>
            <a:r>
              <a:rPr lang="en-US" sz="1500">
                <a:solidFill>
                  <a:srgbClr val="242424"/>
                </a:solidFill>
                <a:highlight>
                  <a:srgbClr val="FFFFFF"/>
                </a:highlight>
                <a:latin typeface="Georgia"/>
                <a:ea typeface="Georgia"/>
                <a:cs typeface="Georgia"/>
                <a:sym typeface="Georgia"/>
              </a:rPr>
              <a:t>: Output. The next word or sequence is an output from the network.</a:t>
            </a:r>
            <a:endParaRPr sz="1500">
              <a:solidFill>
                <a:srgbClr val="242424"/>
              </a:solidFill>
              <a:highlight>
                <a:srgbClr val="FFFFFF"/>
              </a:highlight>
              <a:latin typeface="Georgia"/>
              <a:ea typeface="Georgia"/>
              <a:cs typeface="Georgia"/>
              <a:sym typeface="Georgia"/>
            </a:endParaRPr>
          </a:p>
          <a:p>
            <a:pPr indent="-316768" lvl="0" marL="749300" rtl="0" algn="l">
              <a:lnSpc>
                <a:spcPct val="218181"/>
              </a:lnSpc>
              <a:spcBef>
                <a:spcPts val="0"/>
              </a:spcBef>
              <a:spcAft>
                <a:spcPts val="0"/>
              </a:spcAft>
              <a:buClr>
                <a:srgbClr val="242424"/>
              </a:buClr>
              <a:buSzPct val="100000"/>
              <a:buFont typeface="Georgia"/>
              <a:buChar char="●"/>
            </a:pPr>
            <a:r>
              <a:rPr b="1" lang="en-US" sz="1500">
                <a:solidFill>
                  <a:srgbClr val="242424"/>
                </a:solidFill>
                <a:highlight>
                  <a:srgbClr val="FFFFFF"/>
                </a:highlight>
                <a:latin typeface="Georgia"/>
                <a:ea typeface="Georgia"/>
                <a:cs typeface="Georgia"/>
                <a:sym typeface="Georgia"/>
              </a:rPr>
              <a:t>h(t): </a:t>
            </a:r>
            <a:r>
              <a:rPr lang="en-US" sz="1500">
                <a:solidFill>
                  <a:srgbClr val="242424"/>
                </a:solidFill>
                <a:highlight>
                  <a:srgbClr val="FFFFFF"/>
                </a:highlight>
                <a:latin typeface="Georgia"/>
                <a:ea typeface="Georgia"/>
                <a:cs typeface="Georgia"/>
                <a:sym typeface="Georgia"/>
              </a:rPr>
              <a:t>Represents a hidden state at time </a:t>
            </a:r>
            <a:r>
              <a:rPr i="1" lang="en-US" sz="1500">
                <a:solidFill>
                  <a:srgbClr val="242424"/>
                </a:solidFill>
                <a:highlight>
                  <a:srgbClr val="FFFFFF"/>
                </a:highlight>
                <a:latin typeface="Georgia"/>
                <a:ea typeface="Georgia"/>
                <a:cs typeface="Georgia"/>
                <a:sym typeface="Georgia"/>
              </a:rPr>
              <a:t>t</a:t>
            </a:r>
            <a:r>
              <a:rPr lang="en-US" sz="1500">
                <a:solidFill>
                  <a:srgbClr val="242424"/>
                </a:solidFill>
                <a:highlight>
                  <a:srgbClr val="FFFFFF"/>
                </a:highlight>
                <a:latin typeface="Georgia"/>
                <a:ea typeface="Georgia"/>
                <a:cs typeface="Georgia"/>
                <a:sym typeface="Georgia"/>
              </a:rPr>
              <a:t> and acts as the “memory” of the network.</a:t>
            </a:r>
            <a:endParaRPr sz="1500">
              <a:solidFill>
                <a:srgbClr val="242424"/>
              </a:solidFill>
              <a:highlight>
                <a:srgbClr val="FFFFFF"/>
              </a:highlight>
              <a:latin typeface="Georgia"/>
              <a:ea typeface="Georgia"/>
              <a:cs typeface="Georgia"/>
              <a:sym typeface="Georgia"/>
            </a:endParaRPr>
          </a:p>
          <a:p>
            <a:pPr indent="-316768" lvl="0" marL="749300" rtl="0" algn="l">
              <a:lnSpc>
                <a:spcPct val="218181"/>
              </a:lnSpc>
              <a:spcBef>
                <a:spcPts val="0"/>
              </a:spcBef>
              <a:spcAft>
                <a:spcPts val="0"/>
              </a:spcAft>
              <a:buClr>
                <a:srgbClr val="242424"/>
              </a:buClr>
              <a:buSzPct val="100000"/>
              <a:buFont typeface="Georgia"/>
              <a:buChar char="●"/>
            </a:pPr>
            <a:r>
              <a:rPr b="1" lang="en-US" sz="1500">
                <a:solidFill>
                  <a:srgbClr val="242424"/>
                </a:solidFill>
                <a:highlight>
                  <a:srgbClr val="FFFFFF"/>
                </a:highlight>
                <a:latin typeface="Georgia"/>
                <a:ea typeface="Georgia"/>
                <a:cs typeface="Georgia"/>
                <a:sym typeface="Georgia"/>
              </a:rPr>
              <a:t>V: </a:t>
            </a:r>
            <a:r>
              <a:rPr lang="en-US" sz="1500">
                <a:solidFill>
                  <a:srgbClr val="242424"/>
                </a:solidFill>
                <a:highlight>
                  <a:srgbClr val="FFFFFF"/>
                </a:highlight>
                <a:latin typeface="Georgia"/>
                <a:ea typeface="Georgia"/>
                <a:cs typeface="Georgia"/>
                <a:sym typeface="Georgia"/>
              </a:rPr>
              <a:t>Represents the communication from one time-step to the other.</a:t>
            </a:r>
            <a:endParaRPr sz="1500">
              <a:solidFill>
                <a:srgbClr val="242424"/>
              </a:solidFill>
              <a:highlight>
                <a:srgbClr val="FFFFFF"/>
              </a:highlight>
              <a:latin typeface="Georgia"/>
              <a:ea typeface="Georgia"/>
              <a:cs typeface="Georgia"/>
              <a:sym typeface="Georgia"/>
            </a:endParaRPr>
          </a:p>
          <a:p>
            <a:pPr indent="-316792" lvl="0" marL="457200" rtl="0" algn="l">
              <a:lnSpc>
                <a:spcPct val="218181"/>
              </a:lnSpc>
              <a:spcBef>
                <a:spcPts val="0"/>
              </a:spcBef>
              <a:spcAft>
                <a:spcPts val="0"/>
              </a:spcAft>
              <a:buClr>
                <a:srgbClr val="242424"/>
              </a:buClr>
              <a:buSzPct val="136363"/>
              <a:buFont typeface="Roboto"/>
              <a:buChar char="●"/>
            </a:pPr>
            <a:r>
              <a:t/>
            </a:r>
            <a:endParaRPr sz="1100">
              <a:highlight>
                <a:srgbClr val="FFFFFF"/>
              </a:highlight>
              <a:latin typeface="Roboto"/>
              <a:ea typeface="Roboto"/>
              <a:cs typeface="Roboto"/>
              <a:sym typeface="Roboto"/>
            </a:endParaRPr>
          </a:p>
          <a:p>
            <a:pPr indent="0" lvl="0" marL="0" rtl="0" algn="l">
              <a:lnSpc>
                <a:spcPct val="90000"/>
              </a:lnSpc>
              <a:spcBef>
                <a:spcPts val="1000"/>
              </a:spcBef>
              <a:spcAft>
                <a:spcPts val="0"/>
              </a:spcAft>
              <a:buSzPct val="69498"/>
              <a:buNone/>
            </a:pPr>
            <a:r>
              <a:t/>
            </a:r>
            <a:endParaRPr/>
          </a:p>
        </p:txBody>
      </p:sp>
      <p:pic>
        <p:nvPicPr>
          <p:cNvPr id="450" name="Google Shape;450;g2e6cec57983_0_8"/>
          <p:cNvPicPr preferRelativeResize="0"/>
          <p:nvPr/>
        </p:nvPicPr>
        <p:blipFill rotWithShape="1">
          <a:blip r:embed="rId3">
            <a:alphaModFix/>
          </a:blip>
          <a:srcRect b="0" l="0" r="0" t="0"/>
          <a:stretch/>
        </p:blipFill>
        <p:spPr>
          <a:xfrm>
            <a:off x="1673116" y="3868825"/>
            <a:ext cx="7805084" cy="26127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Understanding of RNN Block </a:t>
            </a:r>
            <a:endParaRPr/>
          </a:p>
        </p:txBody>
      </p:sp>
      <p:sp>
        <p:nvSpPr>
          <p:cNvPr id="456" name="Google Shape;456;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b="1" lang="en-US"/>
              <a:t>Input: </a:t>
            </a:r>
            <a:r>
              <a:rPr lang="en-US"/>
              <a:t>x(t)​ is taken as the input to the network at time step t. For example, x1,could be a one-hot vector corresponding to a word of a sentence.</a:t>
            </a:r>
            <a:endParaRPr/>
          </a:p>
          <a:p>
            <a:pPr indent="-11747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b="1" lang="en-US"/>
              <a:t>Hidden state:</a:t>
            </a:r>
            <a:r>
              <a:rPr lang="en-US"/>
              <a:t> h(t)​ represents a hidden state at time t and acts as “memory” of the network. h(t)​ is calculated based on the current input and the previous time step’s hidden state: </a:t>
            </a:r>
            <a:endParaRPr/>
          </a:p>
          <a:p>
            <a:pPr indent="-228600" lvl="0" marL="228600" rtl="0" algn="l">
              <a:lnSpc>
                <a:spcPct val="90000"/>
              </a:lnSpc>
              <a:spcBef>
                <a:spcPts val="1000"/>
              </a:spcBef>
              <a:spcAft>
                <a:spcPts val="0"/>
              </a:spcAft>
              <a:buClr>
                <a:schemeClr val="dk1"/>
              </a:buClr>
              <a:buSzPct val="100000"/>
              <a:buChar char="•"/>
            </a:pPr>
            <a:r>
              <a:rPr lang="en-US"/>
              <a:t>h(t)​ = f(U x(t)​ + W h(t−1)​). The function f is taken to be a non-linear transformation such as tanh, ReLU.</a:t>
            </a:r>
            <a:endParaRPr/>
          </a:p>
          <a:p>
            <a:pPr indent="-11747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b="1" lang="en-US"/>
              <a:t>Weights:</a:t>
            </a:r>
            <a:r>
              <a:rPr lang="en-US"/>
              <a:t> The RNN has input to hidden connections parameterized by a weight matrix U, hidden-to-hidden recurrent connections parameterized by a weight matrix W, and hidden-to-output connections parameterized </a:t>
            </a:r>
            <a:r>
              <a:rPr b="1" lang="en-US"/>
              <a:t>by a weight matrix V and all these weights (U,V,W) are shared across time.</a:t>
            </a:r>
            <a:endParaRPr b="1"/>
          </a:p>
          <a:p>
            <a:pPr indent="-11747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b="1" lang="en-US"/>
              <a:t>Output</a:t>
            </a:r>
            <a:r>
              <a:rPr lang="en-US"/>
              <a:t>: </a:t>
            </a:r>
            <a:r>
              <a:rPr i="1" lang="en-US"/>
              <a:t>o(t)</a:t>
            </a:r>
            <a:r>
              <a:rPr lang="en-US"/>
              <a:t>​ illustrates the output of the network. In the figure I just put an arrow after </a:t>
            </a:r>
            <a:r>
              <a:rPr i="1" lang="en-US"/>
              <a:t>o(t) </a:t>
            </a:r>
            <a:r>
              <a:rPr lang="en-US"/>
              <a:t>which is also often subjected to non-linearity, especially when the network contains further layers downstream.</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Common Activation Functions</a:t>
            </a:r>
            <a:br>
              <a:rPr lang="en-US"/>
            </a:br>
            <a:endParaRPr/>
          </a:p>
        </p:txBody>
      </p:sp>
      <p:pic>
        <p:nvPicPr>
          <p:cNvPr id="462" name="Google Shape;462;p30"/>
          <p:cNvPicPr preferRelativeResize="0"/>
          <p:nvPr>
            <p:ph idx="1" type="body"/>
          </p:nvPr>
        </p:nvPicPr>
        <p:blipFill rotWithShape="1">
          <a:blip r:embed="rId3">
            <a:alphaModFix/>
          </a:blip>
          <a:srcRect b="0" l="0" r="0" t="0"/>
          <a:stretch/>
        </p:blipFill>
        <p:spPr>
          <a:xfrm>
            <a:off x="1800225" y="2463006"/>
            <a:ext cx="8591550" cy="30765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Forward Pass</a:t>
            </a:r>
            <a:br>
              <a:rPr lang="en-US"/>
            </a:br>
            <a:endParaRPr/>
          </a:p>
        </p:txBody>
      </p:sp>
      <p:sp>
        <p:nvSpPr>
          <p:cNvPr id="468" name="Google Shape;468;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US"/>
              <a:t>The ﬁgure does not specify the choice of activation function for the hidden units. Before we proceed we make few assumptions: </a:t>
            </a:r>
            <a:endParaRPr/>
          </a:p>
          <a:p>
            <a:pPr indent="-228600" lvl="0" marL="228600" rtl="0" algn="l">
              <a:lnSpc>
                <a:spcPct val="90000"/>
              </a:lnSpc>
              <a:spcBef>
                <a:spcPts val="1000"/>
              </a:spcBef>
              <a:spcAft>
                <a:spcPts val="0"/>
              </a:spcAft>
              <a:buClr>
                <a:schemeClr val="dk1"/>
              </a:buClr>
              <a:buSzPct val="100000"/>
              <a:buChar char="•"/>
            </a:pPr>
            <a:r>
              <a:rPr lang="en-US"/>
              <a:t>1) we assume the hyperbolic tangent activation function for hidden layer. </a:t>
            </a:r>
            <a:endParaRPr/>
          </a:p>
          <a:p>
            <a:pPr indent="-228600" lvl="0" marL="228600" rtl="0" algn="l">
              <a:lnSpc>
                <a:spcPct val="90000"/>
              </a:lnSpc>
              <a:spcBef>
                <a:spcPts val="1000"/>
              </a:spcBef>
              <a:spcAft>
                <a:spcPts val="0"/>
              </a:spcAft>
              <a:buClr>
                <a:schemeClr val="dk1"/>
              </a:buClr>
              <a:buSzPct val="100000"/>
              <a:buChar char="•"/>
            </a:pPr>
            <a:r>
              <a:rPr lang="en-US"/>
              <a:t>2) We assume that the output is discrete, as if the RNN is used to predict words or characters. </a:t>
            </a:r>
            <a:endParaRPr/>
          </a:p>
          <a:p>
            <a:pPr indent="-228600" lvl="0" marL="228600" rtl="0" algn="l">
              <a:lnSpc>
                <a:spcPct val="90000"/>
              </a:lnSpc>
              <a:spcBef>
                <a:spcPts val="1000"/>
              </a:spcBef>
              <a:spcAft>
                <a:spcPts val="0"/>
              </a:spcAft>
              <a:buClr>
                <a:schemeClr val="dk1"/>
              </a:buClr>
              <a:buSzPct val="100000"/>
              <a:buChar char="•"/>
            </a:pPr>
            <a:r>
              <a:rPr lang="en-US"/>
              <a:t>A natural way to represent discrete variables is to regard the output o as giving the un-normalized log probabilities of each possible value of the discrete variable. </a:t>
            </a:r>
            <a:endParaRPr/>
          </a:p>
          <a:p>
            <a:pPr indent="-228600" lvl="0" marL="228600" rtl="0" algn="l">
              <a:lnSpc>
                <a:spcPct val="90000"/>
              </a:lnSpc>
              <a:spcBef>
                <a:spcPts val="1000"/>
              </a:spcBef>
              <a:spcAft>
                <a:spcPts val="0"/>
              </a:spcAft>
              <a:buClr>
                <a:schemeClr val="dk1"/>
              </a:buClr>
              <a:buSzPct val="100000"/>
              <a:buChar char="•"/>
            </a:pPr>
            <a:r>
              <a:rPr lang="en-US"/>
              <a:t>We can then apply the softmax operation as a post-processing step to obtain a vector ŷ of normalized probabilities over the output.</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g2e6cec57983_0_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Forward Pass</a:t>
            </a:r>
            <a:endParaRPr/>
          </a:p>
          <a:p>
            <a:pPr indent="0" lvl="0" marL="0" rtl="0" algn="l">
              <a:lnSpc>
                <a:spcPct val="90000"/>
              </a:lnSpc>
              <a:spcBef>
                <a:spcPts val="0"/>
              </a:spcBef>
              <a:spcAft>
                <a:spcPts val="0"/>
              </a:spcAft>
              <a:buSzPts val="1800"/>
              <a:buNone/>
            </a:pPr>
            <a:r>
              <a:t/>
            </a:r>
            <a:endParaRPr/>
          </a:p>
        </p:txBody>
      </p:sp>
      <p:sp>
        <p:nvSpPr>
          <p:cNvPr id="474" name="Google Shape;474;g2e6cec57983_0_15"/>
          <p:cNvSpPr txBox="1"/>
          <p:nvPr>
            <p:ph idx="1" type="body"/>
          </p:nvPr>
        </p:nvSpPr>
        <p:spPr>
          <a:xfrm>
            <a:off x="4342625" y="393000"/>
            <a:ext cx="7011300" cy="60720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1800"/>
              <a:t>The first equation defines the activation state at a given time step  t, denoted by a  t.</a:t>
            </a:r>
            <a:r>
              <a:rPr lang="en-US" sz="1800"/>
              <a:t> It  represents a linear  combination of the current input x t ​  , the previous hidden state h t−1    and a bias vector b. We can rewrite this equation in a more compact form as at​=[xt​ ht−1​]T[U V]+b, where [U V] is a concatenation of the weight matrices U and V.</a:t>
            </a:r>
            <a:endParaRPr sz="1800"/>
          </a:p>
          <a:p>
            <a:pPr indent="0" lvl="0" marL="0" rtl="0" algn="l">
              <a:lnSpc>
                <a:spcPct val="90000"/>
              </a:lnSpc>
              <a:spcBef>
                <a:spcPts val="1000"/>
              </a:spcBef>
              <a:spcAft>
                <a:spcPts val="0"/>
              </a:spcAft>
              <a:buSzPts val="1800"/>
              <a:buNone/>
            </a:pPr>
            <a:r>
              <a:rPr b="1" lang="en-US" sz="1800"/>
              <a:t>The second equation defines the hidden state at the current time step t</a:t>
            </a:r>
            <a:r>
              <a:rPr lang="en-US" sz="1800"/>
              <a:t>, denoted by ht . It  is  obtained by applying an activation function f to the activation state at  . Common activation functions used in RNNs include the sigmoid function and the hyperbolic tangent function.</a:t>
            </a:r>
            <a:endParaRPr sz="1800"/>
          </a:p>
          <a:p>
            <a:pPr indent="0" lvl="0" marL="0" rtl="0" algn="l">
              <a:lnSpc>
                <a:spcPct val="90000"/>
              </a:lnSpc>
              <a:spcBef>
                <a:spcPts val="1000"/>
              </a:spcBef>
              <a:spcAft>
                <a:spcPts val="0"/>
              </a:spcAft>
              <a:buSzPts val="1100"/>
              <a:buNone/>
            </a:pPr>
            <a:r>
              <a:rPr b="1" lang="en-US" sz="1800"/>
              <a:t>The third equation defines the output of the RNN at the current time</a:t>
            </a:r>
            <a:r>
              <a:rPr lang="en-US" sz="1800"/>
              <a:t> step t, denoted by ot​. It's a linear combination of the current hidden state ht​ and another weight matrix W combined with a bias vector.</a:t>
            </a:r>
            <a:endParaRPr sz="1800"/>
          </a:p>
          <a:p>
            <a:pPr indent="0" lvl="0" marL="0" rtl="0" algn="l">
              <a:lnSpc>
                <a:spcPct val="90000"/>
              </a:lnSpc>
              <a:spcBef>
                <a:spcPts val="1000"/>
              </a:spcBef>
              <a:spcAft>
                <a:spcPts val="0"/>
              </a:spcAft>
              <a:buClr>
                <a:schemeClr val="dk1"/>
              </a:buClr>
              <a:buSzPts val="1100"/>
              <a:buFont typeface="Arial"/>
              <a:buNone/>
            </a:pPr>
            <a:r>
              <a:rPr b="1" lang="en-US" sz="1800"/>
              <a:t>The final equation shows the output of the softmax function</a:t>
            </a:r>
            <a:r>
              <a:rPr lang="en-US" sz="1800"/>
              <a:t>, denoted by yt​^​, which takes the output ot​ as input. The softmax function squishes the elements of the output vector ot​ between 0 and 1 and makes them sum up to 1, effectively converting it into a probability distribution. This is particularly useful for classification problems.</a:t>
            </a:r>
            <a:endParaRPr sz="1800"/>
          </a:p>
          <a:p>
            <a:pPr indent="0" lvl="0" marL="0" rtl="0" algn="l">
              <a:lnSpc>
                <a:spcPct val="90000"/>
              </a:lnSpc>
              <a:spcBef>
                <a:spcPts val="1000"/>
              </a:spcBef>
              <a:spcAft>
                <a:spcPts val="0"/>
              </a:spcAft>
              <a:buSzPts val="1800"/>
              <a:buNone/>
            </a:pPr>
            <a:r>
              <a:t/>
            </a:r>
            <a:endParaRPr sz="1800"/>
          </a:p>
        </p:txBody>
      </p:sp>
      <p:pic>
        <p:nvPicPr>
          <p:cNvPr id="475" name="Google Shape;475;g2e6cec57983_0_15"/>
          <p:cNvPicPr preferRelativeResize="0"/>
          <p:nvPr/>
        </p:nvPicPr>
        <p:blipFill rotWithShape="1">
          <a:blip r:embed="rId3">
            <a:alphaModFix/>
          </a:blip>
          <a:srcRect b="0" l="0" r="0" t="0"/>
          <a:stretch/>
        </p:blipFill>
        <p:spPr>
          <a:xfrm>
            <a:off x="539300" y="1825625"/>
            <a:ext cx="3803325" cy="18430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2e6cec57983_0_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Activation Function</a:t>
            </a:r>
            <a:endParaRPr/>
          </a:p>
        </p:txBody>
      </p:sp>
      <p:sp>
        <p:nvSpPr>
          <p:cNvPr id="481" name="Google Shape;481;g2e6cec57983_0_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where f is an activation function. Eg -&gt; f = tanh -&gt; h(t)=tanh(aₜ)</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rPr b="1" lang="en-US"/>
              <a:t>h(t)</a:t>
            </a:r>
            <a:r>
              <a:rPr lang="en-US"/>
              <a:t>​ is calculated based on the </a:t>
            </a:r>
            <a:r>
              <a:rPr b="1" lang="en-US"/>
              <a:t>current input</a:t>
            </a:r>
            <a:r>
              <a:rPr lang="en-US"/>
              <a:t> and the </a:t>
            </a:r>
            <a:r>
              <a:rPr b="1" lang="en-US"/>
              <a:t>previous time step’s hidden state h(t-1). </a:t>
            </a:r>
            <a:endParaRPr b="1"/>
          </a:p>
          <a:p>
            <a:pPr indent="0" lvl="0" marL="0" rtl="0" algn="l">
              <a:lnSpc>
                <a:spcPct val="90000"/>
              </a:lnSpc>
              <a:spcBef>
                <a:spcPts val="1000"/>
              </a:spcBef>
              <a:spcAft>
                <a:spcPts val="0"/>
              </a:spcAft>
              <a:buSzPts val="1800"/>
              <a:buNone/>
            </a:pPr>
            <a:r>
              <a:rPr lang="en-US"/>
              <a:t>The function f is taken to be a non-linear transformation such as tanh, ReLU. </a:t>
            </a:r>
            <a:endParaRPr/>
          </a:p>
          <a:p>
            <a:pPr indent="0" lvl="0" marL="0" rtl="0" algn="l">
              <a:lnSpc>
                <a:spcPct val="90000"/>
              </a:lnSpc>
              <a:spcBef>
                <a:spcPts val="1000"/>
              </a:spcBef>
              <a:spcAft>
                <a:spcPts val="0"/>
              </a:spcAft>
              <a:buSzPts val="1800"/>
              <a:buNone/>
            </a:pPr>
            <a:r>
              <a:rPr b="1" lang="en-US"/>
              <a:t>U</a:t>
            </a:r>
            <a:r>
              <a:rPr lang="en-US"/>
              <a:t> is the input weight vector corresponding to the input X and </a:t>
            </a:r>
            <a:endParaRPr/>
          </a:p>
          <a:p>
            <a:pPr indent="0" lvl="0" marL="0" rtl="0" algn="l">
              <a:lnSpc>
                <a:spcPct val="90000"/>
              </a:lnSpc>
              <a:spcBef>
                <a:spcPts val="1000"/>
              </a:spcBef>
              <a:spcAft>
                <a:spcPts val="0"/>
              </a:spcAft>
              <a:buSzPts val="1800"/>
              <a:buNone/>
            </a:pPr>
            <a:r>
              <a:rPr b="1" lang="en-US"/>
              <a:t>V</a:t>
            </a:r>
            <a:r>
              <a:rPr lang="en-US"/>
              <a:t> is the weight vector corresponding to the memory.</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g2e6cec57983_0_2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Vanishing Gradient issue</a:t>
            </a:r>
            <a:endParaRPr/>
          </a:p>
        </p:txBody>
      </p:sp>
      <p:sp>
        <p:nvSpPr>
          <p:cNvPr id="487" name="Google Shape;487;g2e6cec57983_0_2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In backpropagation, we calculate the gradient and then pass it to the network. </a:t>
            </a:r>
            <a:endParaRPr/>
          </a:p>
          <a:p>
            <a:pPr indent="0" lvl="0" marL="0" rtl="0" algn="l">
              <a:lnSpc>
                <a:spcPct val="90000"/>
              </a:lnSpc>
              <a:spcBef>
                <a:spcPts val="1000"/>
              </a:spcBef>
              <a:spcAft>
                <a:spcPts val="0"/>
              </a:spcAft>
              <a:buSzPts val="1800"/>
              <a:buNone/>
            </a:pPr>
            <a:r>
              <a:rPr lang="en-US"/>
              <a:t>But the gradient of the time step t depends on all of the timesteps after that i.e. t+1, t+2, … </a:t>
            </a:r>
            <a:endParaRPr/>
          </a:p>
          <a:p>
            <a:pPr indent="0" lvl="0" marL="0" rtl="0" algn="l">
              <a:lnSpc>
                <a:spcPct val="90000"/>
              </a:lnSpc>
              <a:spcBef>
                <a:spcPts val="1000"/>
              </a:spcBef>
              <a:spcAft>
                <a:spcPts val="0"/>
              </a:spcAft>
              <a:buSzPts val="1800"/>
              <a:buNone/>
            </a:pPr>
            <a:r>
              <a:rPr lang="en-US"/>
              <a:t>So, when the sequence length is large, then the gradient starts to vanish. </a:t>
            </a:r>
            <a:endParaRPr/>
          </a:p>
          <a:p>
            <a:pPr indent="0" lvl="0" marL="0" rtl="0" algn="l">
              <a:lnSpc>
                <a:spcPct val="90000"/>
              </a:lnSpc>
              <a:spcBef>
                <a:spcPts val="1000"/>
              </a:spcBef>
              <a:spcAft>
                <a:spcPts val="0"/>
              </a:spcAft>
              <a:buSzPts val="1800"/>
              <a:buNone/>
            </a:pPr>
            <a:r>
              <a:rPr lang="en-US"/>
              <a:t>This causes the problem of vanishing gradient and the RNN can’t remember the long sequences.</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g2e7a0305c3e_1_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What Is The Vanishing Gradient Problem?</a:t>
            </a:r>
            <a:endParaRPr/>
          </a:p>
          <a:p>
            <a:pPr indent="0" lvl="0" marL="0" rtl="0" algn="l">
              <a:lnSpc>
                <a:spcPct val="90000"/>
              </a:lnSpc>
              <a:spcBef>
                <a:spcPts val="0"/>
              </a:spcBef>
              <a:spcAft>
                <a:spcPts val="0"/>
              </a:spcAft>
              <a:buSzPts val="1800"/>
              <a:buNone/>
            </a:pPr>
            <a:r>
              <a:t/>
            </a:r>
            <a:endParaRPr/>
          </a:p>
        </p:txBody>
      </p:sp>
      <p:sp>
        <p:nvSpPr>
          <p:cNvPr id="493" name="Google Shape;493;g2e7a0305c3e_1_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The vanishing gradient problem was discovered by Sepp Hochreiter, a German computer scientist who has had an influential role in the development of recurrent neural networks in deep learning.</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rPr lang="en-US"/>
              <a:t>Now let’s explore the vanishing gradient problem in detail. As its name implies, the vanishing gradient problem is related to deep learning gradient descent algorithms. Recall that a gradient descent algorithm looks something like this: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pic>
        <p:nvPicPr>
          <p:cNvPr id="498" name="Google Shape;498;g2e7a0305c3e_1_10"/>
          <p:cNvPicPr preferRelativeResize="0"/>
          <p:nvPr/>
        </p:nvPicPr>
        <p:blipFill rotWithShape="1">
          <a:blip r:embed="rId3">
            <a:alphaModFix/>
          </a:blip>
          <a:srcRect b="0" l="0" r="0" t="0"/>
          <a:stretch/>
        </p:blipFill>
        <p:spPr>
          <a:xfrm>
            <a:off x="1648600" y="1394675"/>
            <a:ext cx="8709625" cy="418392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Backward Pass</a:t>
            </a:r>
            <a:br>
              <a:rPr b="1" lang="en-US"/>
            </a:br>
            <a:endParaRPr/>
          </a:p>
        </p:txBody>
      </p:sp>
      <p:sp>
        <p:nvSpPr>
          <p:cNvPr id="504" name="Google Shape;504;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The gradient computation involves performing a forward propagation pass moving left to right through the graph shown above followed by a backward propagation pass moving right to left through the graph. </a:t>
            </a:r>
            <a:endParaRPr/>
          </a:p>
          <a:p>
            <a:pPr indent="-228600" lvl="0" marL="228600" rtl="0" algn="l">
              <a:lnSpc>
                <a:spcPct val="90000"/>
              </a:lnSpc>
              <a:spcBef>
                <a:spcPts val="1000"/>
              </a:spcBef>
              <a:spcAft>
                <a:spcPts val="0"/>
              </a:spcAft>
              <a:buClr>
                <a:schemeClr val="dk1"/>
              </a:buClr>
              <a:buSzPct val="100000"/>
              <a:buChar char="•"/>
            </a:pPr>
            <a:r>
              <a:rPr lang="en-US"/>
              <a:t>The runtime is O(τ) and cannot be reduced by parallelization because the forward propagation graph is inherently sequential; each time step may be computed only after the previous one.</a:t>
            </a:r>
            <a:endParaRPr/>
          </a:p>
          <a:p>
            <a:pPr indent="-228600" lvl="0" marL="228600" rtl="0" algn="l">
              <a:lnSpc>
                <a:spcPct val="90000"/>
              </a:lnSpc>
              <a:spcBef>
                <a:spcPts val="1000"/>
              </a:spcBef>
              <a:spcAft>
                <a:spcPts val="0"/>
              </a:spcAft>
              <a:buClr>
                <a:schemeClr val="dk1"/>
              </a:buClr>
              <a:buSzPct val="100000"/>
              <a:buChar char="•"/>
            </a:pPr>
            <a:r>
              <a:rPr lang="en-US"/>
              <a:t> States computed in the forward pass must be stored until they are reused during the backward pass, so the memory cost is also O(τ). </a:t>
            </a:r>
            <a:endParaRPr/>
          </a:p>
          <a:p>
            <a:pPr indent="-228600" lvl="0" marL="228600" rtl="0" algn="l">
              <a:lnSpc>
                <a:spcPct val="90000"/>
              </a:lnSpc>
              <a:spcBef>
                <a:spcPts val="1000"/>
              </a:spcBef>
              <a:spcAft>
                <a:spcPts val="0"/>
              </a:spcAft>
              <a:buClr>
                <a:schemeClr val="dk1"/>
              </a:buClr>
              <a:buSzPct val="100000"/>
              <a:buChar char="•"/>
            </a:pPr>
            <a:r>
              <a:rPr lang="en-US"/>
              <a:t>The back-propagation algorithm applied to the unrolled graph with O(τ) cost is called back-propagation through time (BPTT). </a:t>
            </a:r>
            <a:endParaRPr/>
          </a:p>
          <a:p>
            <a:pPr indent="-228600" lvl="0" marL="228600" rtl="0" algn="l">
              <a:lnSpc>
                <a:spcPct val="90000"/>
              </a:lnSpc>
              <a:spcBef>
                <a:spcPts val="1000"/>
              </a:spcBef>
              <a:spcAft>
                <a:spcPts val="0"/>
              </a:spcAft>
              <a:buClr>
                <a:schemeClr val="dk1"/>
              </a:buClr>
              <a:buSzPct val="100000"/>
              <a:buChar char="•"/>
            </a:pPr>
            <a:r>
              <a:rPr lang="en-US"/>
              <a:t>Because the parameters are shared by all time steps in the network, the gradient at each output depends not only on the calculations of the current time step, but also the previous time steps.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RNN</a:t>
            </a:r>
            <a:endParaRPr/>
          </a:p>
        </p:txBody>
      </p:sp>
      <p:sp>
        <p:nvSpPr>
          <p:cNvPr id="510" name="Google Shape;510;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b="1" lang="en-US"/>
              <a:t>One To One: </a:t>
            </a:r>
            <a:r>
              <a:rPr lang="en-US"/>
              <a:t>There is only one pair here. A one-to-one architecture is used in traditional neural networks.</a:t>
            </a:r>
            <a:endParaRPr/>
          </a:p>
          <a:p>
            <a:pPr indent="-228600" lvl="0" marL="228600" rtl="0" algn="l">
              <a:lnSpc>
                <a:spcPct val="90000"/>
              </a:lnSpc>
              <a:spcBef>
                <a:spcPts val="1000"/>
              </a:spcBef>
              <a:spcAft>
                <a:spcPts val="0"/>
              </a:spcAft>
              <a:buClr>
                <a:schemeClr val="dk1"/>
              </a:buClr>
              <a:buSzPct val="100000"/>
              <a:buChar char="•"/>
            </a:pPr>
            <a:r>
              <a:rPr b="1" lang="en-US"/>
              <a:t>One To Many: </a:t>
            </a:r>
            <a:r>
              <a:rPr lang="en-US"/>
              <a:t>A single input in a one-to-many network might result in numerous outputs. One too many networks are used in the production of music, for example.</a:t>
            </a:r>
            <a:endParaRPr/>
          </a:p>
          <a:p>
            <a:pPr indent="-228600" lvl="0" marL="228600" rtl="0" algn="l">
              <a:lnSpc>
                <a:spcPct val="90000"/>
              </a:lnSpc>
              <a:spcBef>
                <a:spcPts val="1000"/>
              </a:spcBef>
              <a:spcAft>
                <a:spcPts val="0"/>
              </a:spcAft>
              <a:buClr>
                <a:schemeClr val="dk1"/>
              </a:buClr>
              <a:buSzPct val="100000"/>
              <a:buChar char="•"/>
            </a:pPr>
            <a:r>
              <a:rPr b="1" lang="en-US"/>
              <a:t>Many To One:  </a:t>
            </a:r>
            <a:r>
              <a:rPr lang="en-US"/>
              <a:t>In this scenario, a single output is produced by combining many inputs from distinct time steps. Sentiment analysis and emotion identification use such networks, in which the class label is determined by a sequence of words.</a:t>
            </a:r>
            <a:endParaRPr/>
          </a:p>
          <a:p>
            <a:pPr indent="-228600" lvl="0" marL="228600" rtl="0" algn="l">
              <a:lnSpc>
                <a:spcPct val="90000"/>
              </a:lnSpc>
              <a:spcBef>
                <a:spcPts val="1000"/>
              </a:spcBef>
              <a:spcAft>
                <a:spcPts val="0"/>
              </a:spcAft>
              <a:buClr>
                <a:schemeClr val="dk1"/>
              </a:buClr>
              <a:buSzPct val="100000"/>
              <a:buChar char="•"/>
            </a:pPr>
            <a:r>
              <a:rPr b="1" lang="en-US"/>
              <a:t>Many To Many: </a:t>
            </a:r>
            <a:r>
              <a:rPr lang="en-US"/>
              <a:t>For many to many, there are numerous options. Two inputs yield three outputs. Machine translation systems, such as English to French or vice versa translation systems, use many to many networks.</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pic>
        <p:nvPicPr>
          <p:cNvPr id="515" name="Google Shape;515;g2e6cec57983_0_33"/>
          <p:cNvPicPr preferRelativeResize="0"/>
          <p:nvPr/>
        </p:nvPicPr>
        <p:blipFill rotWithShape="1">
          <a:blip r:embed="rId3">
            <a:alphaModFix/>
          </a:blip>
          <a:srcRect b="0" l="0" r="0" t="0"/>
          <a:stretch/>
        </p:blipFill>
        <p:spPr>
          <a:xfrm>
            <a:off x="220300" y="856469"/>
            <a:ext cx="11919274" cy="3691656"/>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2e7a0305c3e_0_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Key Differences Between CNN and RNN</a:t>
            </a:r>
            <a:endParaRPr/>
          </a:p>
          <a:p>
            <a:pPr indent="0" lvl="0" marL="0" rtl="0" algn="l">
              <a:lnSpc>
                <a:spcPct val="90000"/>
              </a:lnSpc>
              <a:spcBef>
                <a:spcPts val="0"/>
              </a:spcBef>
              <a:spcAft>
                <a:spcPts val="0"/>
              </a:spcAft>
              <a:buSzPts val="1800"/>
              <a:buNone/>
            </a:pPr>
            <a:r>
              <a:t/>
            </a:r>
            <a:endParaRPr/>
          </a:p>
        </p:txBody>
      </p:sp>
      <p:sp>
        <p:nvSpPr>
          <p:cNvPr id="521" name="Google Shape;521;g2e7a0305c3e_0_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SzPts val="1800"/>
              <a:buNone/>
            </a:pPr>
            <a:r>
              <a:rPr lang="en-US"/>
              <a:t>CNN is applicable for sparse data like images. RNN is applicable for time series and sequential data.</a:t>
            </a:r>
            <a:endParaRPr/>
          </a:p>
          <a:p>
            <a:pPr indent="0" lvl="0" marL="0" rtl="0" algn="l">
              <a:lnSpc>
                <a:spcPct val="90000"/>
              </a:lnSpc>
              <a:spcBef>
                <a:spcPts val="1000"/>
              </a:spcBef>
              <a:spcAft>
                <a:spcPts val="0"/>
              </a:spcAft>
              <a:buSzPts val="1800"/>
              <a:buNone/>
            </a:pPr>
            <a:r>
              <a:rPr lang="en-US"/>
              <a:t>While training the model, CNN uses a simple backpropagation and RNN uses backpropagation through time to calculate the loss.</a:t>
            </a:r>
            <a:endParaRPr/>
          </a:p>
          <a:p>
            <a:pPr indent="0" lvl="0" marL="0" rtl="0" algn="l">
              <a:lnSpc>
                <a:spcPct val="90000"/>
              </a:lnSpc>
              <a:spcBef>
                <a:spcPts val="1000"/>
              </a:spcBef>
              <a:spcAft>
                <a:spcPts val="0"/>
              </a:spcAft>
              <a:buSzPts val="1800"/>
              <a:buNone/>
            </a:pPr>
            <a:r>
              <a:rPr lang="en-US"/>
              <a:t>RNN can have no restriction in length of inputs and outputs, but CNN has finite inputs and finite outputs.</a:t>
            </a:r>
            <a:endParaRPr/>
          </a:p>
          <a:p>
            <a:pPr indent="0" lvl="0" marL="0" rtl="0" algn="l">
              <a:lnSpc>
                <a:spcPct val="90000"/>
              </a:lnSpc>
              <a:spcBef>
                <a:spcPts val="1000"/>
              </a:spcBef>
              <a:spcAft>
                <a:spcPts val="0"/>
              </a:spcAft>
              <a:buSzPts val="1800"/>
              <a:buNone/>
            </a:pPr>
            <a:r>
              <a:rPr lang="en-US"/>
              <a:t>CNN has a feedforward network and RNN works on loops to handle sequential data.</a:t>
            </a:r>
            <a:endParaRPr/>
          </a:p>
          <a:p>
            <a:pPr indent="0" lvl="0" marL="0" rtl="0" algn="l">
              <a:lnSpc>
                <a:spcPct val="90000"/>
              </a:lnSpc>
              <a:spcBef>
                <a:spcPts val="1000"/>
              </a:spcBef>
              <a:spcAft>
                <a:spcPts val="0"/>
              </a:spcAft>
              <a:buSzPts val="1800"/>
              <a:buNone/>
            </a:pPr>
            <a:r>
              <a:rPr lang="en-US"/>
              <a:t>CNN can also be used for video and image processing. RNN is primarily used for speech and text analysis.</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2e7a0305c3e_0_1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Limitations of RNN</a:t>
            </a:r>
            <a:endParaRPr/>
          </a:p>
          <a:p>
            <a:pPr indent="0" lvl="0" marL="0" rtl="0" algn="l">
              <a:lnSpc>
                <a:spcPct val="90000"/>
              </a:lnSpc>
              <a:spcBef>
                <a:spcPts val="0"/>
              </a:spcBef>
              <a:spcAft>
                <a:spcPts val="0"/>
              </a:spcAft>
              <a:buSzPts val="1800"/>
              <a:buNone/>
            </a:pPr>
            <a:r>
              <a:t/>
            </a:r>
            <a:endParaRPr/>
          </a:p>
        </p:txBody>
      </p:sp>
      <p:sp>
        <p:nvSpPr>
          <p:cNvPr id="527" name="Google Shape;527;g2e7a0305c3e_0_1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Simple RNN models usually run into two major issues. These issues are related to </a:t>
            </a:r>
            <a:r>
              <a:rPr b="1" lang="en-US"/>
              <a:t>gradient</a:t>
            </a:r>
            <a:r>
              <a:rPr lang="en-US"/>
              <a:t>, which is the slope of the loss function along with the error function.</a:t>
            </a:r>
            <a:endParaRPr/>
          </a:p>
          <a:p>
            <a:pPr indent="0" lvl="0" marL="0" rtl="0" algn="l">
              <a:lnSpc>
                <a:spcPct val="90000"/>
              </a:lnSpc>
              <a:spcBef>
                <a:spcPts val="1000"/>
              </a:spcBef>
              <a:spcAft>
                <a:spcPts val="0"/>
              </a:spcAft>
              <a:buSzPts val="1800"/>
              <a:buNone/>
            </a:pPr>
            <a:r>
              <a:rPr b="1" lang="en-US"/>
              <a:t>Vanishing Gradient </a:t>
            </a:r>
            <a:r>
              <a:rPr lang="en-US"/>
              <a:t>problem occurs when the gradient becomes so small that updating parameters becomes insignificant; eventually the algorithm stops learning.</a:t>
            </a:r>
            <a:endParaRPr/>
          </a:p>
          <a:p>
            <a:pPr indent="0" lvl="0" marL="0" rtl="0" algn="l">
              <a:lnSpc>
                <a:spcPct val="90000"/>
              </a:lnSpc>
              <a:spcBef>
                <a:spcPts val="1000"/>
              </a:spcBef>
              <a:spcAft>
                <a:spcPts val="0"/>
              </a:spcAft>
              <a:buSzPts val="1800"/>
              <a:buNone/>
            </a:pPr>
            <a:r>
              <a:rPr b="1" lang="en-US"/>
              <a:t>Exploding Gradient </a:t>
            </a:r>
            <a:r>
              <a:rPr lang="en-US"/>
              <a:t>problem occurs when the gradient becomes too large, which makes the model unstable. In this case, larger error gradients accumulate, and the model weights become too large. This issue can cause longer training times and poor model performance.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2e7a0305c3e_0_1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RNN Advanced Architectures</a:t>
            </a:r>
            <a:endParaRPr/>
          </a:p>
          <a:p>
            <a:pPr indent="0" lvl="0" marL="0" rtl="0" algn="l">
              <a:lnSpc>
                <a:spcPct val="90000"/>
              </a:lnSpc>
              <a:spcBef>
                <a:spcPts val="0"/>
              </a:spcBef>
              <a:spcAft>
                <a:spcPts val="0"/>
              </a:spcAft>
              <a:buSzPts val="1800"/>
              <a:buNone/>
            </a:pPr>
            <a:r>
              <a:t/>
            </a:r>
            <a:endParaRPr/>
          </a:p>
        </p:txBody>
      </p:sp>
      <p:sp>
        <p:nvSpPr>
          <p:cNvPr id="533" name="Google Shape;533;g2e7a0305c3e_0_1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The simple RNN repeating modules have a basic structure with a single tanh layer. RNN simple structure suffers from short memory, where it struggles to retain previous time step information in larger sequential data. </a:t>
            </a:r>
            <a:endParaRPr/>
          </a:p>
          <a:p>
            <a:pPr indent="0" lvl="0" marL="0" rtl="0" algn="l">
              <a:lnSpc>
                <a:spcPct val="90000"/>
              </a:lnSpc>
              <a:spcBef>
                <a:spcPts val="1000"/>
              </a:spcBef>
              <a:spcAft>
                <a:spcPts val="0"/>
              </a:spcAft>
              <a:buSzPts val="1800"/>
              <a:buNone/>
            </a:pPr>
            <a:r>
              <a:rPr lang="en-US"/>
              <a:t>These problems can easily be solved by </a:t>
            </a:r>
            <a:r>
              <a:rPr b="1" lang="en-US"/>
              <a:t>long short term memory (LSTM)</a:t>
            </a:r>
            <a:r>
              <a:rPr lang="en-US"/>
              <a:t> and </a:t>
            </a:r>
            <a:r>
              <a:rPr b="1" lang="en-US"/>
              <a:t>gated recurrent unit (GRU)</a:t>
            </a:r>
            <a:r>
              <a:rPr lang="en-US"/>
              <a:t>, as they are capable of remembering long periods of information.</a:t>
            </a:r>
            <a:endParaRPr/>
          </a:p>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g2e7a0305c3e_0_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Long Short Term Memory (LSTM)</a:t>
            </a:r>
            <a:endParaRPr/>
          </a:p>
          <a:p>
            <a:pPr indent="0" lvl="0" marL="0" rtl="0" algn="l">
              <a:lnSpc>
                <a:spcPct val="90000"/>
              </a:lnSpc>
              <a:spcBef>
                <a:spcPts val="0"/>
              </a:spcBef>
              <a:spcAft>
                <a:spcPts val="0"/>
              </a:spcAft>
              <a:buSzPts val="1800"/>
              <a:buNone/>
            </a:pPr>
            <a:r>
              <a:t/>
            </a:r>
            <a:endParaRPr/>
          </a:p>
        </p:txBody>
      </p:sp>
      <p:sp>
        <p:nvSpPr>
          <p:cNvPr id="539" name="Google Shape;539;g2e7a0305c3e_0_2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1000"/>
              </a:spcBef>
              <a:spcAft>
                <a:spcPts val="0"/>
              </a:spcAft>
              <a:buSzPts val="1800"/>
              <a:buNone/>
            </a:pPr>
            <a:r>
              <a:rPr lang="en-US"/>
              <a:t>The Long Short Term Memory (LSTM) is the advanced type of RNN, which was designed to prevent both decaying and exploding gradient problems.</a:t>
            </a:r>
            <a:endParaRPr/>
          </a:p>
          <a:p>
            <a:pPr indent="0" lvl="0" marL="0" rtl="0" algn="l">
              <a:lnSpc>
                <a:spcPct val="90000"/>
              </a:lnSpc>
              <a:spcBef>
                <a:spcPts val="1000"/>
              </a:spcBef>
              <a:spcAft>
                <a:spcPts val="0"/>
              </a:spcAft>
              <a:buSzPts val="1800"/>
              <a:buNone/>
            </a:pPr>
            <a:r>
              <a:rPr lang="en-US"/>
              <a:t> Just like RNN, LSTM has repeating modules, but the structure is different. </a:t>
            </a:r>
            <a:endParaRPr/>
          </a:p>
          <a:p>
            <a:pPr indent="0" lvl="0" marL="0" rtl="0" algn="l">
              <a:lnSpc>
                <a:spcPct val="90000"/>
              </a:lnSpc>
              <a:spcBef>
                <a:spcPts val="1000"/>
              </a:spcBef>
              <a:spcAft>
                <a:spcPts val="0"/>
              </a:spcAft>
              <a:buSzPts val="1800"/>
              <a:buNone/>
            </a:pPr>
            <a:r>
              <a:rPr lang="en-US"/>
              <a:t>Instead of having a single layer of tanh, LSTM has four interacting layers that communicate with each other.</a:t>
            </a:r>
            <a:endParaRPr/>
          </a:p>
          <a:p>
            <a:pPr indent="0" lvl="0" marL="0" rtl="0" algn="l">
              <a:lnSpc>
                <a:spcPct val="90000"/>
              </a:lnSpc>
              <a:spcBef>
                <a:spcPts val="1000"/>
              </a:spcBef>
              <a:spcAft>
                <a:spcPts val="0"/>
              </a:spcAft>
              <a:buSzPts val="1800"/>
              <a:buNone/>
            </a:pPr>
            <a:r>
              <a:rPr lang="en-US"/>
              <a:t>This four-layered structure helps LSTM retain long-term memory and can be used in several sequential problems including machine translation, speech synthesis, speech recognition, and handwriting recognition</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pic>
        <p:nvPicPr>
          <p:cNvPr id="544" name="Google Shape;544;g2e7a0305c3e_0_35"/>
          <p:cNvPicPr preferRelativeResize="0"/>
          <p:nvPr/>
        </p:nvPicPr>
        <p:blipFill rotWithShape="1">
          <a:blip r:embed="rId3">
            <a:alphaModFix/>
          </a:blip>
          <a:srcRect b="0" l="0" r="0" t="0"/>
          <a:stretch/>
        </p:blipFill>
        <p:spPr>
          <a:xfrm>
            <a:off x="1421225" y="152400"/>
            <a:ext cx="8733231" cy="65532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g2e7a0305c3e_0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Gated Recurrent Unit (GRU)</a:t>
            </a:r>
            <a:endParaRPr/>
          </a:p>
          <a:p>
            <a:pPr indent="0" lvl="0" marL="0" rtl="0" algn="l">
              <a:lnSpc>
                <a:spcPct val="90000"/>
              </a:lnSpc>
              <a:spcBef>
                <a:spcPts val="0"/>
              </a:spcBef>
              <a:spcAft>
                <a:spcPts val="0"/>
              </a:spcAft>
              <a:buSzPts val="1800"/>
              <a:buNone/>
            </a:pPr>
            <a:r>
              <a:t/>
            </a:r>
            <a:endParaRPr/>
          </a:p>
        </p:txBody>
      </p:sp>
      <p:sp>
        <p:nvSpPr>
          <p:cNvPr id="550" name="Google Shape;550;g2e7a0305c3e_0_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1000"/>
              </a:spcBef>
              <a:spcAft>
                <a:spcPts val="0"/>
              </a:spcAft>
              <a:buSzPct val="69498"/>
              <a:buNone/>
            </a:pPr>
            <a:r>
              <a:rPr lang="en-US"/>
              <a:t>The gated recurrent unit (GRU) is a variation of LSTM as both have design similarities, and in some cases, they produce similar results. GRU uses an update gate and reset gate to solve the vanishing gradient problem.</a:t>
            </a:r>
            <a:endParaRPr/>
          </a:p>
          <a:p>
            <a:pPr indent="0" lvl="0" marL="0" rtl="0" algn="l">
              <a:lnSpc>
                <a:spcPct val="90000"/>
              </a:lnSpc>
              <a:spcBef>
                <a:spcPts val="1000"/>
              </a:spcBef>
              <a:spcAft>
                <a:spcPts val="0"/>
              </a:spcAft>
              <a:buSzPct val="69498"/>
              <a:buNone/>
            </a:pPr>
            <a:r>
              <a:rPr lang="en-US"/>
              <a:t> These gates decide what information is important and pass it to the output. The gates can be trained to store information from long ago, without vanishing over time or removing irrelevant information.</a:t>
            </a:r>
            <a:endParaRPr/>
          </a:p>
          <a:p>
            <a:pPr indent="0" lvl="0" marL="0" rtl="0" algn="l">
              <a:lnSpc>
                <a:spcPct val="90000"/>
              </a:lnSpc>
              <a:spcBef>
                <a:spcPts val="1000"/>
              </a:spcBef>
              <a:spcAft>
                <a:spcPts val="0"/>
              </a:spcAft>
              <a:buSzPct val="69498"/>
              <a:buNone/>
            </a:pPr>
            <a:r>
              <a:t/>
            </a:r>
            <a:endParaRPr/>
          </a:p>
          <a:p>
            <a:pPr indent="0" lvl="0" marL="0" rtl="0" algn="l">
              <a:lnSpc>
                <a:spcPct val="90000"/>
              </a:lnSpc>
              <a:spcBef>
                <a:spcPts val="1000"/>
              </a:spcBef>
              <a:spcAft>
                <a:spcPts val="0"/>
              </a:spcAft>
              <a:buSzPct val="69498"/>
              <a:buNone/>
            </a:pPr>
            <a:r>
              <a:rPr lang="en-US"/>
              <a:t>Unlike LSTM, GRU does not have cell state Ct. </a:t>
            </a:r>
            <a:endParaRPr/>
          </a:p>
          <a:p>
            <a:pPr indent="0" lvl="0" marL="0" rtl="0" algn="l">
              <a:lnSpc>
                <a:spcPct val="90000"/>
              </a:lnSpc>
              <a:spcBef>
                <a:spcPts val="1000"/>
              </a:spcBef>
              <a:spcAft>
                <a:spcPts val="0"/>
              </a:spcAft>
              <a:buSzPct val="69498"/>
              <a:buNone/>
            </a:pPr>
            <a:r>
              <a:rPr lang="en-US"/>
              <a:t>It only has a hidden state ht, and due to the simple architecture, GRU has a lower training time compared to LSTM models.</a:t>
            </a:r>
            <a:endParaRPr/>
          </a:p>
          <a:p>
            <a:pPr indent="0" lvl="0" marL="0" rtl="0" algn="l">
              <a:lnSpc>
                <a:spcPct val="90000"/>
              </a:lnSpc>
              <a:spcBef>
                <a:spcPts val="1000"/>
              </a:spcBef>
              <a:spcAft>
                <a:spcPts val="0"/>
              </a:spcAft>
              <a:buSzPct val="69498"/>
              <a:buNone/>
            </a:pPr>
            <a:r>
              <a:rPr lang="en-US"/>
              <a:t> The GRU architecture is easy to understand as it takes input xt and the hidden state from the previous timestamp ht-1 and outputs the new hidden state ht.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g2e7a0305c3e_0_40"/>
          <p:cNvPicPr preferRelativeResize="0"/>
          <p:nvPr/>
        </p:nvPicPr>
        <p:blipFill rotWithShape="1">
          <a:blip r:embed="rId3">
            <a:alphaModFix/>
          </a:blip>
          <a:srcRect b="0" l="0" r="0" t="0"/>
          <a:stretch/>
        </p:blipFill>
        <p:spPr>
          <a:xfrm>
            <a:off x="1729388" y="225800"/>
            <a:ext cx="8733231" cy="6553200"/>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Implementation</a:t>
            </a:r>
            <a:br>
              <a:rPr b="1" lang="en-US"/>
            </a:br>
            <a:endParaRPr/>
          </a:p>
        </p:txBody>
      </p:sp>
      <p:sp>
        <p:nvSpPr>
          <p:cNvPr id="561" name="Google Shape;561;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General steps to follow:</a:t>
            </a:r>
            <a:endParaRPr/>
          </a:p>
          <a:p>
            <a:pPr indent="-228600" lvl="0" marL="228600" rtl="0" algn="l">
              <a:lnSpc>
                <a:spcPct val="90000"/>
              </a:lnSpc>
              <a:spcBef>
                <a:spcPts val="1000"/>
              </a:spcBef>
              <a:spcAft>
                <a:spcPts val="0"/>
              </a:spcAft>
              <a:buClr>
                <a:schemeClr val="dk1"/>
              </a:buClr>
              <a:buSzPts val="2800"/>
              <a:buChar char="•"/>
            </a:pPr>
            <a:r>
              <a:rPr lang="en-US"/>
              <a:t>Initialize weight matrices </a:t>
            </a:r>
            <a:r>
              <a:rPr i="1" lang="en-US"/>
              <a:t>U, V, W </a:t>
            </a:r>
            <a:r>
              <a:rPr lang="en-US"/>
              <a:t>from random distribution</a:t>
            </a:r>
            <a:r>
              <a:rPr i="1" lang="en-US"/>
              <a:t> </a:t>
            </a:r>
            <a:r>
              <a:rPr lang="en-US"/>
              <a:t>and bias b, c with zeros</a:t>
            </a:r>
            <a:endParaRPr/>
          </a:p>
          <a:p>
            <a:pPr indent="-228600" lvl="0" marL="228600" rtl="0" algn="l">
              <a:lnSpc>
                <a:spcPct val="90000"/>
              </a:lnSpc>
              <a:spcBef>
                <a:spcPts val="1000"/>
              </a:spcBef>
              <a:spcAft>
                <a:spcPts val="0"/>
              </a:spcAft>
              <a:buClr>
                <a:schemeClr val="dk1"/>
              </a:buClr>
              <a:buSzPts val="2800"/>
              <a:buChar char="•"/>
            </a:pPr>
            <a:r>
              <a:rPr lang="en-US"/>
              <a:t>Forward propagation to compute predictions</a:t>
            </a:r>
            <a:endParaRPr/>
          </a:p>
          <a:p>
            <a:pPr indent="-228600" lvl="0" marL="228600" rtl="0" algn="l">
              <a:lnSpc>
                <a:spcPct val="90000"/>
              </a:lnSpc>
              <a:spcBef>
                <a:spcPts val="1000"/>
              </a:spcBef>
              <a:spcAft>
                <a:spcPts val="0"/>
              </a:spcAft>
              <a:buClr>
                <a:schemeClr val="dk1"/>
              </a:buClr>
              <a:buSzPts val="2800"/>
              <a:buChar char="•"/>
            </a:pPr>
            <a:r>
              <a:rPr lang="en-US"/>
              <a:t>Compute the loss</a:t>
            </a:r>
            <a:endParaRPr/>
          </a:p>
          <a:p>
            <a:pPr indent="-228600" lvl="0" marL="228600" rtl="0" algn="l">
              <a:lnSpc>
                <a:spcPct val="90000"/>
              </a:lnSpc>
              <a:spcBef>
                <a:spcPts val="1000"/>
              </a:spcBef>
              <a:spcAft>
                <a:spcPts val="0"/>
              </a:spcAft>
              <a:buClr>
                <a:schemeClr val="dk1"/>
              </a:buClr>
              <a:buSzPts val="2800"/>
              <a:buChar char="•"/>
            </a:pPr>
            <a:r>
              <a:rPr lang="en-US"/>
              <a:t>Back-propagation to compute gradients</a:t>
            </a:r>
            <a:endParaRPr/>
          </a:p>
          <a:p>
            <a:pPr indent="-228600" lvl="0" marL="228600" rtl="0" algn="l">
              <a:lnSpc>
                <a:spcPct val="90000"/>
              </a:lnSpc>
              <a:spcBef>
                <a:spcPts val="1000"/>
              </a:spcBef>
              <a:spcAft>
                <a:spcPts val="0"/>
              </a:spcAft>
              <a:buClr>
                <a:schemeClr val="dk1"/>
              </a:buClr>
              <a:buSzPts val="2800"/>
              <a:buChar char="•"/>
            </a:pPr>
            <a:r>
              <a:rPr lang="en-US"/>
              <a:t>Update weights based on gradients</a:t>
            </a:r>
            <a:endParaRPr/>
          </a:p>
          <a:p>
            <a:pPr indent="-228600" lvl="0" marL="228600" rtl="0" algn="l">
              <a:lnSpc>
                <a:spcPct val="90000"/>
              </a:lnSpc>
              <a:spcBef>
                <a:spcPts val="1000"/>
              </a:spcBef>
              <a:spcAft>
                <a:spcPts val="0"/>
              </a:spcAft>
              <a:buClr>
                <a:schemeClr val="dk1"/>
              </a:buClr>
              <a:buSzPts val="2800"/>
              <a:buChar char="•"/>
            </a:pPr>
            <a:r>
              <a:rPr lang="en-US"/>
              <a:t>Repeat steps 2–5</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Advantages and disadvantages of RNN</a:t>
            </a:r>
            <a:br>
              <a:rPr lang="en-US"/>
            </a:br>
            <a:endParaRPr/>
          </a:p>
        </p:txBody>
      </p:sp>
      <p:sp>
        <p:nvSpPr>
          <p:cNvPr id="567" name="Google Shape;567;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b="1" lang="en-US"/>
              <a:t>Advantages of RNNs:</a:t>
            </a:r>
            <a:endParaRPr/>
          </a:p>
          <a:p>
            <a:pPr indent="-228600" lvl="0" marL="228600" rtl="0" algn="l">
              <a:lnSpc>
                <a:spcPct val="90000"/>
              </a:lnSpc>
              <a:spcBef>
                <a:spcPts val="1000"/>
              </a:spcBef>
              <a:spcAft>
                <a:spcPts val="0"/>
              </a:spcAft>
              <a:buClr>
                <a:schemeClr val="dk1"/>
              </a:buClr>
              <a:buSzPct val="100000"/>
              <a:buChar char="•"/>
            </a:pPr>
            <a:r>
              <a:rPr lang="en-US"/>
              <a:t>Handle sequential data effectively, including text, speech, and time series.</a:t>
            </a:r>
            <a:endParaRPr/>
          </a:p>
          <a:p>
            <a:pPr indent="-228600" lvl="0" marL="228600" rtl="0" algn="l">
              <a:lnSpc>
                <a:spcPct val="90000"/>
              </a:lnSpc>
              <a:spcBef>
                <a:spcPts val="1000"/>
              </a:spcBef>
              <a:spcAft>
                <a:spcPts val="0"/>
              </a:spcAft>
              <a:buClr>
                <a:schemeClr val="dk1"/>
              </a:buClr>
              <a:buSzPct val="100000"/>
              <a:buChar char="•"/>
            </a:pPr>
            <a:r>
              <a:rPr lang="en-US"/>
              <a:t>Process inputs of any length, unlike feedforward neural networks.</a:t>
            </a:r>
            <a:endParaRPr/>
          </a:p>
          <a:p>
            <a:pPr indent="-228600" lvl="0" marL="228600" rtl="0" algn="l">
              <a:lnSpc>
                <a:spcPct val="90000"/>
              </a:lnSpc>
              <a:spcBef>
                <a:spcPts val="1000"/>
              </a:spcBef>
              <a:spcAft>
                <a:spcPts val="0"/>
              </a:spcAft>
              <a:buClr>
                <a:schemeClr val="dk1"/>
              </a:buClr>
              <a:buSzPct val="100000"/>
              <a:buChar char="•"/>
            </a:pPr>
            <a:r>
              <a:rPr lang="en-US"/>
              <a:t>Share weights across time steps, enhancing training efficiency.</a:t>
            </a:r>
            <a:endParaRPr/>
          </a:p>
          <a:p>
            <a:pPr indent="-228600" lvl="0" marL="228600" rtl="0" algn="l">
              <a:lnSpc>
                <a:spcPct val="90000"/>
              </a:lnSpc>
              <a:spcBef>
                <a:spcPts val="1000"/>
              </a:spcBef>
              <a:spcAft>
                <a:spcPts val="0"/>
              </a:spcAft>
              <a:buClr>
                <a:schemeClr val="dk1"/>
              </a:buClr>
              <a:buSzPct val="100000"/>
              <a:buChar char="•"/>
            </a:pPr>
            <a:r>
              <a:rPr b="1" lang="en-US"/>
              <a:t>Disadvantages of RNNs:</a:t>
            </a:r>
            <a:endParaRPr/>
          </a:p>
          <a:p>
            <a:pPr indent="-228600" lvl="0" marL="228600" rtl="0" algn="l">
              <a:lnSpc>
                <a:spcPct val="90000"/>
              </a:lnSpc>
              <a:spcBef>
                <a:spcPts val="1000"/>
              </a:spcBef>
              <a:spcAft>
                <a:spcPts val="0"/>
              </a:spcAft>
              <a:buClr>
                <a:schemeClr val="dk1"/>
              </a:buClr>
              <a:buSzPct val="100000"/>
              <a:buChar char="•"/>
            </a:pPr>
            <a:r>
              <a:rPr lang="en-US"/>
              <a:t>Prone to vanishing and exploding gradient problems, hindering learning.</a:t>
            </a:r>
            <a:endParaRPr/>
          </a:p>
          <a:p>
            <a:pPr indent="-228600" lvl="0" marL="228600" rtl="0" algn="l">
              <a:lnSpc>
                <a:spcPct val="90000"/>
              </a:lnSpc>
              <a:spcBef>
                <a:spcPts val="1000"/>
              </a:spcBef>
              <a:spcAft>
                <a:spcPts val="0"/>
              </a:spcAft>
              <a:buClr>
                <a:schemeClr val="dk1"/>
              </a:buClr>
              <a:buSzPct val="100000"/>
              <a:buChar char="•"/>
            </a:pPr>
            <a:r>
              <a:rPr lang="en-US"/>
              <a:t>Training can be challenging, especially for long sequences.</a:t>
            </a:r>
            <a:endParaRPr/>
          </a:p>
          <a:p>
            <a:pPr indent="-228600" lvl="0" marL="228600" rtl="0" algn="l">
              <a:lnSpc>
                <a:spcPct val="90000"/>
              </a:lnSpc>
              <a:spcBef>
                <a:spcPts val="1000"/>
              </a:spcBef>
              <a:spcAft>
                <a:spcPts val="0"/>
              </a:spcAft>
              <a:buClr>
                <a:schemeClr val="dk1"/>
              </a:buClr>
              <a:buSzPct val="100000"/>
              <a:buChar char="•"/>
            </a:pPr>
            <a:r>
              <a:rPr lang="en-US"/>
              <a:t>Computationally slower than other neural network architectures.</a:t>
            </a:r>
            <a:endParaRPr/>
          </a:p>
          <a:p>
            <a:pPr indent="-228600" lvl="0" marL="228600" rtl="0" algn="l">
              <a:lnSpc>
                <a:spcPct val="90000"/>
              </a:lnSpc>
              <a:spcBef>
                <a:spcPts val="1000"/>
              </a:spcBef>
              <a:spcAft>
                <a:spcPts val="0"/>
              </a:spcAft>
              <a:buClr>
                <a:schemeClr val="dk1"/>
              </a:buClr>
              <a:buSzPct val="100000"/>
              <a:buChar char="•"/>
            </a:pPr>
            <a:r>
              <a:rPr b="1" lang="en-US"/>
              <a:t>Recurrent Neural Network Vs Feedforwar</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Step 1: Initialize</a:t>
            </a:r>
            <a:br>
              <a:rPr b="1" lang="en-US"/>
            </a:br>
            <a:endParaRPr/>
          </a:p>
        </p:txBody>
      </p:sp>
      <p:sp>
        <p:nvSpPr>
          <p:cNvPr id="573" name="Google Shape;573;p37"/>
          <p:cNvSpPr txBox="1"/>
          <p:nvPr>
            <p:ph idx="1" type="body"/>
          </p:nvPr>
        </p:nvSpPr>
        <p:spPr>
          <a:xfrm>
            <a:off x="838200" y="1825625"/>
            <a:ext cx="10515600" cy="2385767"/>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To start with the implementation of the basic RNN cell, we first define the dimensions of the various parameters U,V,W,b,c.</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Dimensions:Let’s assume we pick a vocabulary size vocab_size= 8000 and a hidden layer size hidden_size=100. Then we have:</a:t>
            </a:r>
            <a:endParaRPr/>
          </a:p>
        </p:txBody>
      </p:sp>
      <p:pic>
        <p:nvPicPr>
          <p:cNvPr id="574" name="Google Shape;574;p37"/>
          <p:cNvPicPr preferRelativeResize="0"/>
          <p:nvPr/>
        </p:nvPicPr>
        <p:blipFill rotWithShape="1">
          <a:blip r:embed="rId3">
            <a:alphaModFix/>
          </a:blip>
          <a:srcRect b="0" l="0" r="0" t="0"/>
          <a:stretch/>
        </p:blipFill>
        <p:spPr>
          <a:xfrm>
            <a:off x="2553035" y="4458035"/>
            <a:ext cx="1915934" cy="1915934"/>
          </a:xfrm>
          <a:prstGeom prst="rect">
            <a:avLst/>
          </a:prstGeom>
          <a:noFill/>
          <a:ln>
            <a:noFill/>
          </a:ln>
        </p:spPr>
      </p:pic>
      <p:sp>
        <p:nvSpPr>
          <p:cNvPr id="575" name="Google Shape;575;p37"/>
          <p:cNvSpPr txBox="1"/>
          <p:nvPr/>
        </p:nvSpPr>
        <p:spPr>
          <a:xfrm>
            <a:off x="6839800" y="5048518"/>
            <a:ext cx="5026825"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Vocabulary size can be the number of unique chars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for a char based model or number of unique words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 for a word based model.</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38"/>
          <p:cNvSpPr txBox="1"/>
          <p:nvPr>
            <p:ph type="title"/>
          </p:nvPr>
        </p:nvSpPr>
        <p:spPr>
          <a:xfrm>
            <a:off x="473400" y="0"/>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References</a:t>
            </a:r>
            <a:endParaRPr/>
          </a:p>
        </p:txBody>
      </p:sp>
      <p:sp>
        <p:nvSpPr>
          <p:cNvPr id="581" name="Google Shape;581;p38"/>
          <p:cNvSpPr txBox="1"/>
          <p:nvPr>
            <p:ph idx="1" type="body"/>
          </p:nvPr>
        </p:nvSpPr>
        <p:spPr>
          <a:xfrm>
            <a:off x="315050" y="1406125"/>
            <a:ext cx="11673300" cy="5451900"/>
          </a:xfrm>
          <a:prstGeom prst="rect">
            <a:avLst/>
          </a:prstGeom>
          <a:noFill/>
          <a:ln>
            <a:noFill/>
          </a:ln>
        </p:spPr>
        <p:txBody>
          <a:bodyPr anchorCtr="0" anchor="t" bIns="45700" lIns="91425" spcFirstLastPara="1" rIns="91425" wrap="square" tIns="45700">
            <a:noAutofit/>
          </a:bodyPr>
          <a:lstStyle/>
          <a:p>
            <a:pPr indent="-209550" lvl="0" marL="228600" rtl="0" algn="l">
              <a:lnSpc>
                <a:spcPct val="90000"/>
              </a:lnSpc>
              <a:spcBef>
                <a:spcPts val="0"/>
              </a:spcBef>
              <a:spcAft>
                <a:spcPts val="0"/>
              </a:spcAft>
              <a:buClr>
                <a:schemeClr val="dk1"/>
              </a:buClr>
              <a:buSzPts val="2500"/>
              <a:buChar char="•"/>
            </a:pPr>
            <a:r>
              <a:rPr lang="en-US" sz="2500" u="sng">
                <a:solidFill>
                  <a:schemeClr val="hlink"/>
                </a:solidFill>
                <a:hlinkClick r:id="rId3"/>
              </a:rPr>
              <a:t>https://statso.io/next-word-prediction-case-study/</a:t>
            </a:r>
            <a:endParaRPr sz="2500"/>
          </a:p>
          <a:p>
            <a:pPr indent="-209551" lvl="0" marL="228600" rtl="0" algn="l">
              <a:lnSpc>
                <a:spcPct val="90000"/>
              </a:lnSpc>
              <a:spcBef>
                <a:spcPts val="0"/>
              </a:spcBef>
              <a:spcAft>
                <a:spcPts val="0"/>
              </a:spcAft>
              <a:buSzPts val="2500"/>
              <a:buChar char="•"/>
            </a:pPr>
            <a:r>
              <a:rPr lang="en-US" sz="2500" u="sng">
                <a:solidFill>
                  <a:schemeClr val="hlink"/>
                </a:solidFill>
                <a:hlinkClick r:id="rId4"/>
              </a:rPr>
              <a:t>https://www.datacamp.com/tutorial/tutorial-for-recurrent-neural-network</a:t>
            </a:r>
            <a:endParaRPr sz="2500"/>
          </a:p>
          <a:p>
            <a:pPr indent="-209550" lvl="0" marL="228600" rtl="0" algn="l">
              <a:lnSpc>
                <a:spcPct val="90000"/>
              </a:lnSpc>
              <a:spcBef>
                <a:spcPts val="1000"/>
              </a:spcBef>
              <a:spcAft>
                <a:spcPts val="0"/>
              </a:spcAft>
              <a:buClr>
                <a:schemeClr val="dk1"/>
              </a:buClr>
              <a:buSzPts val="2500"/>
              <a:buChar char="•"/>
            </a:pPr>
            <a:r>
              <a:rPr lang="en-US" sz="2500" u="sng">
                <a:solidFill>
                  <a:schemeClr val="hlink"/>
                </a:solidFill>
                <a:hlinkClick r:id="rId5"/>
              </a:rPr>
              <a:t>https://www.geeksforgeeks.org/next-word-prediction-with-deep-learning-in-nlp/</a:t>
            </a:r>
            <a:endParaRPr sz="2500"/>
          </a:p>
          <a:p>
            <a:pPr indent="-273050" lvl="0" marL="228600" rtl="0" algn="ctr">
              <a:lnSpc>
                <a:spcPct val="90000"/>
              </a:lnSpc>
              <a:spcBef>
                <a:spcPts val="1000"/>
              </a:spcBef>
              <a:spcAft>
                <a:spcPts val="0"/>
              </a:spcAft>
              <a:buSzPts val="2500"/>
              <a:buChar char="•"/>
            </a:pPr>
            <a:r>
              <a:rPr lang="en-US" sz="2500"/>
              <a:t>https://www.superdatascience.com/blogs/the-ultimate-guide-to-convolutional-neural-networks-cnn</a:t>
            </a:r>
            <a:endParaRPr sz="2500"/>
          </a:p>
          <a:p>
            <a:pPr indent="0" lvl="0" marL="228600" rtl="0" algn="ctr">
              <a:lnSpc>
                <a:spcPct val="90000"/>
              </a:lnSpc>
              <a:spcBef>
                <a:spcPts val="1000"/>
              </a:spcBef>
              <a:spcAft>
                <a:spcPts val="0"/>
              </a:spcAft>
              <a:buSzPts val="1800"/>
              <a:buNone/>
            </a:pPr>
            <a:r>
              <a:rPr lang="en-US" sz="2500" u="sng">
                <a:solidFill>
                  <a:schemeClr val="hlink"/>
                </a:solidFill>
                <a:hlinkClick r:id="rId6"/>
              </a:rPr>
              <a:t>https://medium.com/@adachoudhry26/getting-started-with-ai-building-an-rnn-from-scratch-and-practicing-resilience-ba3c10be6a22</a:t>
            </a:r>
            <a:endParaRPr sz="2500"/>
          </a:p>
          <a:p>
            <a:pPr indent="0" lvl="0" marL="228600" rtl="0" algn="ctr">
              <a:lnSpc>
                <a:spcPct val="90000"/>
              </a:lnSpc>
              <a:spcBef>
                <a:spcPts val="1000"/>
              </a:spcBef>
              <a:spcAft>
                <a:spcPts val="0"/>
              </a:spcAft>
              <a:buSzPts val="1800"/>
              <a:buNone/>
            </a:pPr>
            <a:r>
              <a:rPr lang="en-US" sz="2500" u="sng">
                <a:solidFill>
                  <a:schemeClr val="hlink"/>
                </a:solidFill>
                <a:hlinkClick r:id="rId7"/>
              </a:rPr>
              <a:t>https://medium.com/@reddyyashu20/rnn-python-code-in-keras-and-pytorch-6ab842a85e15</a:t>
            </a:r>
            <a:endParaRPr sz="2500"/>
          </a:p>
          <a:p>
            <a:pPr indent="0" lvl="0" marL="228600" rtl="0" algn="ctr">
              <a:lnSpc>
                <a:spcPct val="90000"/>
              </a:lnSpc>
              <a:spcBef>
                <a:spcPts val="1000"/>
              </a:spcBef>
              <a:spcAft>
                <a:spcPts val="0"/>
              </a:spcAft>
              <a:buSzPts val="1800"/>
              <a:buNone/>
            </a:pPr>
            <a:r>
              <a:rPr lang="en-US" sz="2500"/>
              <a:t>https://www.analyticsvidhya.com/blog/2019/01/fundamentals-deep-learning-recurrent-neural-networks-scratch-python/</a:t>
            </a:r>
            <a:endParaRPr sz="2500"/>
          </a:p>
          <a:p>
            <a:pPr indent="0" lvl="0" marL="228600" rtl="0" algn="ctr">
              <a:lnSpc>
                <a:spcPct val="90000"/>
              </a:lnSpc>
              <a:spcBef>
                <a:spcPts val="1000"/>
              </a:spcBef>
              <a:spcAft>
                <a:spcPts val="0"/>
              </a:spcAft>
              <a:buSzPts val="1800"/>
              <a:buNone/>
            </a:pPr>
            <a:r>
              <a:rPr lang="en-US" sz="2500" u="sng">
                <a:solidFill>
                  <a:schemeClr val="hlink"/>
                </a:solidFill>
                <a:hlinkClick r:id="rId8"/>
              </a:rPr>
              <a:t>https://www.freecodecamp.org/news/the-ultimate-guide-to-recurrent-neural-networks-in-python/</a:t>
            </a:r>
            <a:endParaRPr sz="2500"/>
          </a:p>
          <a:p>
            <a:pPr indent="0" lvl="0" marL="228600" rtl="0" algn="ctr">
              <a:lnSpc>
                <a:spcPct val="90000"/>
              </a:lnSpc>
              <a:spcBef>
                <a:spcPts val="1000"/>
              </a:spcBef>
              <a:spcAft>
                <a:spcPts val="0"/>
              </a:spcAft>
              <a:buSzPts val="1800"/>
              <a:buNone/>
            </a:pPr>
            <a:r>
              <a:t/>
            </a:r>
            <a:endParaRPr sz="2500"/>
          </a:p>
          <a:p>
            <a:pPr indent="0" lvl="0" marL="0" rtl="0" algn="l">
              <a:spcBef>
                <a:spcPts val="1000"/>
              </a:spcBef>
              <a:spcAft>
                <a:spcPts val="0"/>
              </a:spcAft>
              <a:buClr>
                <a:schemeClr val="dk1"/>
              </a:buClr>
              <a:buSzPts val="1800"/>
              <a:buFont typeface="Arial"/>
              <a:buNone/>
            </a:pPr>
            <a:r>
              <a:rPr lang="en-US" sz="2500" u="sng">
                <a:solidFill>
                  <a:schemeClr val="hlink"/>
                </a:solidFill>
                <a:hlinkClick r:id="rId9"/>
              </a:rPr>
              <a:t>https://www.datacamp.com/tutorial/tutorial-for-recurrent-neural-network</a:t>
            </a:r>
            <a:endParaRPr sz="2500"/>
          </a:p>
          <a:p>
            <a:pPr indent="0" lvl="0" marL="0" rtl="0" algn="l">
              <a:spcBef>
                <a:spcPts val="1000"/>
              </a:spcBef>
              <a:spcAft>
                <a:spcPts val="0"/>
              </a:spcAft>
              <a:buSzPts val="1800"/>
              <a:buNone/>
            </a:pPr>
            <a:r>
              <a:rPr lang="en-US" sz="2500"/>
              <a:t>https://keras.io/examples/vision/video_classification/</a:t>
            </a:r>
            <a:endParaRPr sz="25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2023-12-12T04:25:46Z</dcterms:created>
  <dc:creator>Radhe</dc:creator>
</cp:coreProperties>
</file>