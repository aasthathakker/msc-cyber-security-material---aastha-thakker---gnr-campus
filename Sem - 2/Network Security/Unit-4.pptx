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 id="2147483660" r:id="rId2"/>
  </p:sldMasterIdLst>
  <p:notesMasterIdLst>
    <p:notesMasterId r:id="rId26"/>
  </p:notesMasterIdLst>
  <p:sldIdLst>
    <p:sldId id="256" r:id="rId3"/>
    <p:sldId id="267" r:id="rId4"/>
    <p:sldId id="275" r:id="rId5"/>
    <p:sldId id="268" r:id="rId6"/>
    <p:sldId id="269" r:id="rId7"/>
    <p:sldId id="271" r:id="rId8"/>
    <p:sldId id="272" r:id="rId9"/>
    <p:sldId id="273" r:id="rId10"/>
    <p:sldId id="276" r:id="rId11"/>
    <p:sldId id="277" r:id="rId12"/>
    <p:sldId id="278" r:id="rId13"/>
    <p:sldId id="279" r:id="rId14"/>
    <p:sldId id="274" r:id="rId15"/>
    <p:sldId id="270" r:id="rId16"/>
    <p:sldId id="257" r:id="rId17"/>
    <p:sldId id="258" r:id="rId18"/>
    <p:sldId id="259" r:id="rId19"/>
    <p:sldId id="260" r:id="rId20"/>
    <p:sldId id="261" r:id="rId21"/>
    <p:sldId id="262" r:id="rId22"/>
    <p:sldId id="263" r:id="rId23"/>
    <p:sldId id="264" r:id="rId24"/>
    <p:sldId id="265" r:id="rId25"/>
  </p:sldIdLst>
  <p:sldSz cx="14630400" cy="8229600"/>
  <p:notesSz cx="8229600" cy="14630400"/>
  <p:embeddedFontLst>
    <p:embeddedFont>
      <p:font typeface="Nunito" pitchFamily="2" charset="0"/>
      <p:regular r:id="rId27"/>
      <p:bold r:id="rId28"/>
      <p:italic r:id="rId29"/>
      <p:boldItalic r:id="rId30"/>
    </p:embeddedFont>
    <p:embeddedFont>
      <p:font typeface="Red Hat Text" panose="020B0604020202020204" charset="0"/>
      <p:regular r:id="rId31"/>
    </p:embeddedFont>
    <p:embeddedFont>
      <p:font typeface="Roboto Light" panose="02000000000000000000" pitchFamily="2" charset="0"/>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5033" autoAdjust="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6.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2.fntdata"/><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5.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theme" Target="theme/theme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677324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A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A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A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A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A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A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A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A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A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A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8C443-A307-4899-93B0-E1635330D379}"/>
              </a:ext>
            </a:extLst>
          </p:cNvPr>
          <p:cNvSpPr>
            <a:spLocks noGrp="1"/>
          </p:cNvSpPr>
          <p:nvPr>
            <p:ph type="ctrTitle"/>
          </p:nvPr>
        </p:nvSpPr>
        <p:spPr>
          <a:xfrm>
            <a:off x="1828800" y="1346836"/>
            <a:ext cx="10972800" cy="2865120"/>
          </a:xfrm>
        </p:spPr>
        <p:txBody>
          <a:bodyPr anchor="b"/>
          <a:lstStyle>
            <a:lvl1pPr algn="ctr">
              <a:defRPr sz="7200"/>
            </a:lvl1pPr>
          </a:lstStyle>
          <a:p>
            <a:r>
              <a:rPr lang="en-US"/>
              <a:t>Click to edit Master title style</a:t>
            </a:r>
          </a:p>
        </p:txBody>
      </p:sp>
      <p:sp>
        <p:nvSpPr>
          <p:cNvPr id="3" name="Subtitle 2">
            <a:extLst>
              <a:ext uri="{FF2B5EF4-FFF2-40B4-BE49-F238E27FC236}">
                <a16:creationId xmlns:a16="http://schemas.microsoft.com/office/drawing/2014/main" id="{5BD24C8E-5CF5-44BF-B310-8094F6CCACC5}"/>
              </a:ext>
            </a:extLst>
          </p:cNvPr>
          <p:cNvSpPr>
            <a:spLocks noGrp="1"/>
          </p:cNvSpPr>
          <p:nvPr>
            <p:ph type="subTitle" idx="1"/>
          </p:nvPr>
        </p:nvSpPr>
        <p:spPr>
          <a:xfrm>
            <a:off x="1828800" y="4322446"/>
            <a:ext cx="109728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p>
        </p:txBody>
      </p:sp>
      <p:sp>
        <p:nvSpPr>
          <p:cNvPr id="4" name="Date Placeholder 3">
            <a:extLst>
              <a:ext uri="{FF2B5EF4-FFF2-40B4-BE49-F238E27FC236}">
                <a16:creationId xmlns:a16="http://schemas.microsoft.com/office/drawing/2014/main" id="{54F00271-7F58-4614-8697-52231A68419B}"/>
              </a:ext>
            </a:extLst>
          </p:cNvPr>
          <p:cNvSpPr>
            <a:spLocks noGrp="1"/>
          </p:cNvSpPr>
          <p:nvPr>
            <p:ph type="dt" sz="half" idx="10"/>
          </p:nvPr>
        </p:nvSpPr>
        <p:spPr/>
        <p:txBody>
          <a:bodyPr/>
          <a:lstStyle/>
          <a:p>
            <a:fld id="{CDBEAE30-2E49-4A49-BAA1-76FA9EE97131}" type="datetimeFigureOut">
              <a:rPr lang="en-US" smtClean="0"/>
              <a:t>4/23/2026</a:t>
            </a:fld>
            <a:endParaRPr lang="en-US"/>
          </a:p>
        </p:txBody>
      </p:sp>
      <p:sp>
        <p:nvSpPr>
          <p:cNvPr id="5" name="Footer Placeholder 4">
            <a:extLst>
              <a:ext uri="{FF2B5EF4-FFF2-40B4-BE49-F238E27FC236}">
                <a16:creationId xmlns:a16="http://schemas.microsoft.com/office/drawing/2014/main" id="{53109706-9A4B-42D5-B54D-ED5B8DA1BA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DF1A50-25AA-43EA-B91B-D0555F2B2BCF}"/>
              </a:ext>
            </a:extLst>
          </p:cNvPr>
          <p:cNvSpPr>
            <a:spLocks noGrp="1"/>
          </p:cNvSpPr>
          <p:nvPr>
            <p:ph type="sldNum" sz="quarter" idx="12"/>
          </p:nvPr>
        </p:nvSpPr>
        <p:spPr/>
        <p:txBody>
          <a:bodyPr/>
          <a:lstStyle/>
          <a:p>
            <a:fld id="{067B7B30-2766-424B-9087-5D55EB0B7DF8}" type="slidenum">
              <a:rPr lang="en-US" smtClean="0"/>
              <a:t>‹#›</a:t>
            </a:fld>
            <a:endParaRPr lang="en-US"/>
          </a:p>
        </p:txBody>
      </p:sp>
    </p:spTree>
    <p:extLst>
      <p:ext uri="{BB962C8B-B14F-4D97-AF65-F5344CB8AC3E}">
        <p14:creationId xmlns:p14="http://schemas.microsoft.com/office/powerpoint/2010/main" val="14092489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6BBE2-0CBD-4768-9EB3-582F3C834A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3F53F3-09F5-4A88-9B65-CABCE7560DA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3FD15B-7554-4932-BABE-120F6AAC55AE}"/>
              </a:ext>
            </a:extLst>
          </p:cNvPr>
          <p:cNvSpPr>
            <a:spLocks noGrp="1"/>
          </p:cNvSpPr>
          <p:nvPr>
            <p:ph type="dt" sz="half" idx="10"/>
          </p:nvPr>
        </p:nvSpPr>
        <p:spPr/>
        <p:txBody>
          <a:bodyPr/>
          <a:lstStyle/>
          <a:p>
            <a:fld id="{CDBEAE30-2E49-4A49-BAA1-76FA9EE97131}" type="datetimeFigureOut">
              <a:rPr lang="en-US" smtClean="0"/>
              <a:t>4/23/2026</a:t>
            </a:fld>
            <a:endParaRPr lang="en-US"/>
          </a:p>
        </p:txBody>
      </p:sp>
      <p:sp>
        <p:nvSpPr>
          <p:cNvPr id="5" name="Footer Placeholder 4">
            <a:extLst>
              <a:ext uri="{FF2B5EF4-FFF2-40B4-BE49-F238E27FC236}">
                <a16:creationId xmlns:a16="http://schemas.microsoft.com/office/drawing/2014/main" id="{B93F491E-1D6C-4280-A16E-E299A94531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3A269D-9765-45DE-A9D4-8F8E59900D65}"/>
              </a:ext>
            </a:extLst>
          </p:cNvPr>
          <p:cNvSpPr>
            <a:spLocks noGrp="1"/>
          </p:cNvSpPr>
          <p:nvPr>
            <p:ph type="sldNum" sz="quarter" idx="12"/>
          </p:nvPr>
        </p:nvSpPr>
        <p:spPr/>
        <p:txBody>
          <a:bodyPr/>
          <a:lstStyle/>
          <a:p>
            <a:fld id="{067B7B30-2766-424B-9087-5D55EB0B7DF8}" type="slidenum">
              <a:rPr lang="en-US" smtClean="0"/>
              <a:t>‹#›</a:t>
            </a:fld>
            <a:endParaRPr lang="en-US"/>
          </a:p>
        </p:txBody>
      </p:sp>
    </p:spTree>
    <p:extLst>
      <p:ext uri="{BB962C8B-B14F-4D97-AF65-F5344CB8AC3E}">
        <p14:creationId xmlns:p14="http://schemas.microsoft.com/office/powerpoint/2010/main" val="13836605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E907B-AE3E-4B73-A9A1-1D253C8975E0}"/>
              </a:ext>
            </a:extLst>
          </p:cNvPr>
          <p:cNvSpPr>
            <a:spLocks noGrp="1"/>
          </p:cNvSpPr>
          <p:nvPr>
            <p:ph type="title"/>
          </p:nvPr>
        </p:nvSpPr>
        <p:spPr>
          <a:xfrm>
            <a:off x="998220" y="2051686"/>
            <a:ext cx="12618720" cy="3423284"/>
          </a:xfrm>
        </p:spPr>
        <p:txBody>
          <a:bodyPr anchor="b"/>
          <a:lstStyle>
            <a:lvl1pPr>
              <a:defRPr sz="7200"/>
            </a:lvl1pPr>
          </a:lstStyle>
          <a:p>
            <a:r>
              <a:rPr lang="en-US"/>
              <a:t>Click to edit Master title style</a:t>
            </a:r>
          </a:p>
        </p:txBody>
      </p:sp>
      <p:sp>
        <p:nvSpPr>
          <p:cNvPr id="3" name="Text Placeholder 2">
            <a:extLst>
              <a:ext uri="{FF2B5EF4-FFF2-40B4-BE49-F238E27FC236}">
                <a16:creationId xmlns:a16="http://schemas.microsoft.com/office/drawing/2014/main" id="{1458EDC7-C398-4D27-A5ED-22D00F90D2FF}"/>
              </a:ext>
            </a:extLst>
          </p:cNvPr>
          <p:cNvSpPr>
            <a:spLocks noGrp="1"/>
          </p:cNvSpPr>
          <p:nvPr>
            <p:ph type="body" idx="1"/>
          </p:nvPr>
        </p:nvSpPr>
        <p:spPr>
          <a:xfrm>
            <a:off x="998220" y="5507356"/>
            <a:ext cx="12618720" cy="1800224"/>
          </a:xfrm>
        </p:spPr>
        <p:txBody>
          <a:bodyPr/>
          <a:lstStyle>
            <a:lvl1pPr marL="0" indent="0">
              <a:buNone/>
              <a:defRPr sz="2880">
                <a:solidFill>
                  <a:schemeClr val="tx1">
                    <a:tint val="75000"/>
                  </a:schemeClr>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90037362-F48B-4DAA-886E-487F8DF7D200}"/>
              </a:ext>
            </a:extLst>
          </p:cNvPr>
          <p:cNvSpPr>
            <a:spLocks noGrp="1"/>
          </p:cNvSpPr>
          <p:nvPr>
            <p:ph type="dt" sz="half" idx="10"/>
          </p:nvPr>
        </p:nvSpPr>
        <p:spPr/>
        <p:txBody>
          <a:bodyPr/>
          <a:lstStyle/>
          <a:p>
            <a:fld id="{CDBEAE30-2E49-4A49-BAA1-76FA9EE97131}" type="datetimeFigureOut">
              <a:rPr lang="en-US" smtClean="0"/>
              <a:t>4/23/2026</a:t>
            </a:fld>
            <a:endParaRPr lang="en-US"/>
          </a:p>
        </p:txBody>
      </p:sp>
      <p:sp>
        <p:nvSpPr>
          <p:cNvPr id="5" name="Footer Placeholder 4">
            <a:extLst>
              <a:ext uri="{FF2B5EF4-FFF2-40B4-BE49-F238E27FC236}">
                <a16:creationId xmlns:a16="http://schemas.microsoft.com/office/drawing/2014/main" id="{231D094A-9AE4-486A-98B7-EEB331BEA8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A25B13-567F-4CC4-92CA-252BEE6A56F0}"/>
              </a:ext>
            </a:extLst>
          </p:cNvPr>
          <p:cNvSpPr>
            <a:spLocks noGrp="1"/>
          </p:cNvSpPr>
          <p:nvPr>
            <p:ph type="sldNum" sz="quarter" idx="12"/>
          </p:nvPr>
        </p:nvSpPr>
        <p:spPr/>
        <p:txBody>
          <a:bodyPr/>
          <a:lstStyle/>
          <a:p>
            <a:fld id="{067B7B30-2766-424B-9087-5D55EB0B7DF8}" type="slidenum">
              <a:rPr lang="en-US" smtClean="0"/>
              <a:t>‹#›</a:t>
            </a:fld>
            <a:endParaRPr lang="en-US"/>
          </a:p>
        </p:txBody>
      </p:sp>
    </p:spTree>
    <p:extLst>
      <p:ext uri="{BB962C8B-B14F-4D97-AF65-F5344CB8AC3E}">
        <p14:creationId xmlns:p14="http://schemas.microsoft.com/office/powerpoint/2010/main" val="36810872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C5CEE-A9CC-4862-8C54-E0BF67740E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1CB3337-2B1C-4BA5-976F-12DF96493890}"/>
              </a:ext>
            </a:extLst>
          </p:cNvPr>
          <p:cNvSpPr>
            <a:spLocks noGrp="1"/>
          </p:cNvSpPr>
          <p:nvPr>
            <p:ph sz="half" idx="1"/>
          </p:nvPr>
        </p:nvSpPr>
        <p:spPr>
          <a:xfrm>
            <a:off x="1005840" y="2190750"/>
            <a:ext cx="6217920" cy="522160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377DB14-D2CE-4D72-B68D-8515BCCEC398}"/>
              </a:ext>
            </a:extLst>
          </p:cNvPr>
          <p:cNvSpPr>
            <a:spLocks noGrp="1"/>
          </p:cNvSpPr>
          <p:nvPr>
            <p:ph sz="half" idx="2"/>
          </p:nvPr>
        </p:nvSpPr>
        <p:spPr>
          <a:xfrm>
            <a:off x="7406640" y="2190750"/>
            <a:ext cx="6217920" cy="522160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844DBC4-018D-4C67-B3F2-CE384455B2AF}"/>
              </a:ext>
            </a:extLst>
          </p:cNvPr>
          <p:cNvSpPr>
            <a:spLocks noGrp="1"/>
          </p:cNvSpPr>
          <p:nvPr>
            <p:ph type="dt" sz="half" idx="10"/>
          </p:nvPr>
        </p:nvSpPr>
        <p:spPr/>
        <p:txBody>
          <a:bodyPr/>
          <a:lstStyle/>
          <a:p>
            <a:fld id="{CDBEAE30-2E49-4A49-BAA1-76FA9EE97131}" type="datetimeFigureOut">
              <a:rPr lang="en-US" smtClean="0"/>
              <a:t>4/23/2026</a:t>
            </a:fld>
            <a:endParaRPr lang="en-US"/>
          </a:p>
        </p:txBody>
      </p:sp>
      <p:sp>
        <p:nvSpPr>
          <p:cNvPr id="6" name="Footer Placeholder 5">
            <a:extLst>
              <a:ext uri="{FF2B5EF4-FFF2-40B4-BE49-F238E27FC236}">
                <a16:creationId xmlns:a16="http://schemas.microsoft.com/office/drawing/2014/main" id="{F30EE6B4-CF0E-4956-A440-39993A35BC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BF61EB-6FC7-4E0D-8DEE-22859D74932B}"/>
              </a:ext>
            </a:extLst>
          </p:cNvPr>
          <p:cNvSpPr>
            <a:spLocks noGrp="1"/>
          </p:cNvSpPr>
          <p:nvPr>
            <p:ph type="sldNum" sz="quarter" idx="12"/>
          </p:nvPr>
        </p:nvSpPr>
        <p:spPr/>
        <p:txBody>
          <a:bodyPr/>
          <a:lstStyle/>
          <a:p>
            <a:fld id="{067B7B30-2766-424B-9087-5D55EB0B7DF8}" type="slidenum">
              <a:rPr lang="en-US" smtClean="0"/>
              <a:t>‹#›</a:t>
            </a:fld>
            <a:endParaRPr lang="en-US"/>
          </a:p>
        </p:txBody>
      </p:sp>
    </p:spTree>
    <p:extLst>
      <p:ext uri="{BB962C8B-B14F-4D97-AF65-F5344CB8AC3E}">
        <p14:creationId xmlns:p14="http://schemas.microsoft.com/office/powerpoint/2010/main" val="20958862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0847A-D76B-4262-A230-925D716B4632}"/>
              </a:ext>
            </a:extLst>
          </p:cNvPr>
          <p:cNvSpPr>
            <a:spLocks noGrp="1"/>
          </p:cNvSpPr>
          <p:nvPr>
            <p:ph type="title"/>
          </p:nvPr>
        </p:nvSpPr>
        <p:spPr>
          <a:xfrm>
            <a:off x="1007746" y="438150"/>
            <a:ext cx="12618720" cy="1590676"/>
          </a:xfrm>
        </p:spPr>
        <p:txBody>
          <a:bodyPr/>
          <a:lstStyle/>
          <a:p>
            <a:r>
              <a:rPr lang="en-US"/>
              <a:t>Click to edit Master title style</a:t>
            </a:r>
          </a:p>
        </p:txBody>
      </p:sp>
      <p:sp>
        <p:nvSpPr>
          <p:cNvPr id="3" name="Text Placeholder 2">
            <a:extLst>
              <a:ext uri="{FF2B5EF4-FFF2-40B4-BE49-F238E27FC236}">
                <a16:creationId xmlns:a16="http://schemas.microsoft.com/office/drawing/2014/main" id="{1369E69B-793C-4DA4-80BF-CF47169067B0}"/>
              </a:ext>
            </a:extLst>
          </p:cNvPr>
          <p:cNvSpPr>
            <a:spLocks noGrp="1"/>
          </p:cNvSpPr>
          <p:nvPr>
            <p:ph type="body" idx="1"/>
          </p:nvPr>
        </p:nvSpPr>
        <p:spPr>
          <a:xfrm>
            <a:off x="1007746" y="2017396"/>
            <a:ext cx="6189344"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Edit Master text styles</a:t>
            </a:r>
          </a:p>
        </p:txBody>
      </p:sp>
      <p:sp>
        <p:nvSpPr>
          <p:cNvPr id="4" name="Content Placeholder 3">
            <a:extLst>
              <a:ext uri="{FF2B5EF4-FFF2-40B4-BE49-F238E27FC236}">
                <a16:creationId xmlns:a16="http://schemas.microsoft.com/office/drawing/2014/main" id="{0108C535-235F-4A6D-9F2A-6C197A3A5A3C}"/>
              </a:ext>
            </a:extLst>
          </p:cNvPr>
          <p:cNvSpPr>
            <a:spLocks noGrp="1"/>
          </p:cNvSpPr>
          <p:nvPr>
            <p:ph sz="half" idx="2"/>
          </p:nvPr>
        </p:nvSpPr>
        <p:spPr>
          <a:xfrm>
            <a:off x="1007746" y="3006090"/>
            <a:ext cx="6189344" cy="442150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AA2E7C3-649A-4173-860B-506D909B8830}"/>
              </a:ext>
            </a:extLst>
          </p:cNvPr>
          <p:cNvSpPr>
            <a:spLocks noGrp="1"/>
          </p:cNvSpPr>
          <p:nvPr>
            <p:ph type="body" sz="quarter" idx="3"/>
          </p:nvPr>
        </p:nvSpPr>
        <p:spPr>
          <a:xfrm>
            <a:off x="7406640" y="2017396"/>
            <a:ext cx="6219826"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Edit Master text styles</a:t>
            </a:r>
          </a:p>
        </p:txBody>
      </p:sp>
      <p:sp>
        <p:nvSpPr>
          <p:cNvPr id="6" name="Content Placeholder 5">
            <a:extLst>
              <a:ext uri="{FF2B5EF4-FFF2-40B4-BE49-F238E27FC236}">
                <a16:creationId xmlns:a16="http://schemas.microsoft.com/office/drawing/2014/main" id="{8EEB3A15-D687-44A2-B263-AFAFD7537D00}"/>
              </a:ext>
            </a:extLst>
          </p:cNvPr>
          <p:cNvSpPr>
            <a:spLocks noGrp="1"/>
          </p:cNvSpPr>
          <p:nvPr>
            <p:ph sz="quarter" idx="4"/>
          </p:nvPr>
        </p:nvSpPr>
        <p:spPr>
          <a:xfrm>
            <a:off x="7406640" y="3006090"/>
            <a:ext cx="6219826" cy="442150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049D589-8E87-4FF6-B67F-3D2A7382274C}"/>
              </a:ext>
            </a:extLst>
          </p:cNvPr>
          <p:cNvSpPr>
            <a:spLocks noGrp="1"/>
          </p:cNvSpPr>
          <p:nvPr>
            <p:ph type="dt" sz="half" idx="10"/>
          </p:nvPr>
        </p:nvSpPr>
        <p:spPr/>
        <p:txBody>
          <a:bodyPr/>
          <a:lstStyle/>
          <a:p>
            <a:fld id="{CDBEAE30-2E49-4A49-BAA1-76FA9EE97131}" type="datetimeFigureOut">
              <a:rPr lang="en-US" smtClean="0"/>
              <a:t>4/23/2026</a:t>
            </a:fld>
            <a:endParaRPr lang="en-US"/>
          </a:p>
        </p:txBody>
      </p:sp>
      <p:sp>
        <p:nvSpPr>
          <p:cNvPr id="8" name="Footer Placeholder 7">
            <a:extLst>
              <a:ext uri="{FF2B5EF4-FFF2-40B4-BE49-F238E27FC236}">
                <a16:creationId xmlns:a16="http://schemas.microsoft.com/office/drawing/2014/main" id="{569793D7-5487-4FC6-BB1A-7D3FC879448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2009B2A-3124-4C00-B1DB-F9051AFD23BF}"/>
              </a:ext>
            </a:extLst>
          </p:cNvPr>
          <p:cNvSpPr>
            <a:spLocks noGrp="1"/>
          </p:cNvSpPr>
          <p:nvPr>
            <p:ph type="sldNum" sz="quarter" idx="12"/>
          </p:nvPr>
        </p:nvSpPr>
        <p:spPr/>
        <p:txBody>
          <a:bodyPr/>
          <a:lstStyle/>
          <a:p>
            <a:fld id="{067B7B30-2766-424B-9087-5D55EB0B7DF8}" type="slidenum">
              <a:rPr lang="en-US" smtClean="0"/>
              <a:t>‹#›</a:t>
            </a:fld>
            <a:endParaRPr lang="en-US"/>
          </a:p>
        </p:txBody>
      </p:sp>
    </p:spTree>
    <p:extLst>
      <p:ext uri="{BB962C8B-B14F-4D97-AF65-F5344CB8AC3E}">
        <p14:creationId xmlns:p14="http://schemas.microsoft.com/office/powerpoint/2010/main" val="28571897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2103A-0A2A-4FC6-AAE5-F3358A69375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96B0BD3-E553-49CD-9B3B-5E665DF99683}"/>
              </a:ext>
            </a:extLst>
          </p:cNvPr>
          <p:cNvSpPr>
            <a:spLocks noGrp="1"/>
          </p:cNvSpPr>
          <p:nvPr>
            <p:ph type="dt" sz="half" idx="10"/>
          </p:nvPr>
        </p:nvSpPr>
        <p:spPr/>
        <p:txBody>
          <a:bodyPr/>
          <a:lstStyle/>
          <a:p>
            <a:fld id="{CDBEAE30-2E49-4A49-BAA1-76FA9EE97131}" type="datetimeFigureOut">
              <a:rPr lang="en-US" smtClean="0"/>
              <a:t>4/23/2026</a:t>
            </a:fld>
            <a:endParaRPr lang="en-US"/>
          </a:p>
        </p:txBody>
      </p:sp>
      <p:sp>
        <p:nvSpPr>
          <p:cNvPr id="4" name="Footer Placeholder 3">
            <a:extLst>
              <a:ext uri="{FF2B5EF4-FFF2-40B4-BE49-F238E27FC236}">
                <a16:creationId xmlns:a16="http://schemas.microsoft.com/office/drawing/2014/main" id="{1FDC31A0-7C82-45BA-A352-3968C1458AB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FEA508C-8560-45CD-BE6A-139A0C329643}"/>
              </a:ext>
            </a:extLst>
          </p:cNvPr>
          <p:cNvSpPr>
            <a:spLocks noGrp="1"/>
          </p:cNvSpPr>
          <p:nvPr>
            <p:ph type="sldNum" sz="quarter" idx="12"/>
          </p:nvPr>
        </p:nvSpPr>
        <p:spPr/>
        <p:txBody>
          <a:bodyPr/>
          <a:lstStyle/>
          <a:p>
            <a:fld id="{067B7B30-2766-424B-9087-5D55EB0B7DF8}" type="slidenum">
              <a:rPr lang="en-US" smtClean="0"/>
              <a:t>‹#›</a:t>
            </a:fld>
            <a:endParaRPr lang="en-US"/>
          </a:p>
        </p:txBody>
      </p:sp>
    </p:spTree>
    <p:extLst>
      <p:ext uri="{BB962C8B-B14F-4D97-AF65-F5344CB8AC3E}">
        <p14:creationId xmlns:p14="http://schemas.microsoft.com/office/powerpoint/2010/main" val="34542511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7475D5E-B5F8-4AFE-8307-F780110616FA}"/>
              </a:ext>
            </a:extLst>
          </p:cNvPr>
          <p:cNvSpPr>
            <a:spLocks noGrp="1"/>
          </p:cNvSpPr>
          <p:nvPr>
            <p:ph type="dt" sz="half" idx="10"/>
          </p:nvPr>
        </p:nvSpPr>
        <p:spPr/>
        <p:txBody>
          <a:bodyPr/>
          <a:lstStyle/>
          <a:p>
            <a:fld id="{CDBEAE30-2E49-4A49-BAA1-76FA9EE97131}" type="datetimeFigureOut">
              <a:rPr lang="en-US" smtClean="0"/>
              <a:t>4/23/2026</a:t>
            </a:fld>
            <a:endParaRPr lang="en-US"/>
          </a:p>
        </p:txBody>
      </p:sp>
      <p:sp>
        <p:nvSpPr>
          <p:cNvPr id="3" name="Footer Placeholder 2">
            <a:extLst>
              <a:ext uri="{FF2B5EF4-FFF2-40B4-BE49-F238E27FC236}">
                <a16:creationId xmlns:a16="http://schemas.microsoft.com/office/drawing/2014/main" id="{0422D5E8-709C-4468-87F0-7AA585ADEDA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FF40485-8D34-43EA-8585-821DD3F71FC7}"/>
              </a:ext>
            </a:extLst>
          </p:cNvPr>
          <p:cNvSpPr>
            <a:spLocks noGrp="1"/>
          </p:cNvSpPr>
          <p:nvPr>
            <p:ph type="sldNum" sz="quarter" idx="12"/>
          </p:nvPr>
        </p:nvSpPr>
        <p:spPr/>
        <p:txBody>
          <a:bodyPr/>
          <a:lstStyle/>
          <a:p>
            <a:fld id="{067B7B30-2766-424B-9087-5D55EB0B7DF8}" type="slidenum">
              <a:rPr lang="en-US" smtClean="0"/>
              <a:t>‹#›</a:t>
            </a:fld>
            <a:endParaRPr lang="en-US"/>
          </a:p>
        </p:txBody>
      </p:sp>
    </p:spTree>
    <p:extLst>
      <p:ext uri="{BB962C8B-B14F-4D97-AF65-F5344CB8AC3E}">
        <p14:creationId xmlns:p14="http://schemas.microsoft.com/office/powerpoint/2010/main" val="8760265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6213D-7907-4BC9-A33E-47721213EEFA}"/>
              </a:ext>
            </a:extLst>
          </p:cNvPr>
          <p:cNvSpPr>
            <a:spLocks noGrp="1"/>
          </p:cNvSpPr>
          <p:nvPr>
            <p:ph type="title"/>
          </p:nvPr>
        </p:nvSpPr>
        <p:spPr>
          <a:xfrm>
            <a:off x="1007746" y="548640"/>
            <a:ext cx="4718684" cy="1920240"/>
          </a:xfrm>
        </p:spPr>
        <p:txBody>
          <a:bodyPr anchor="b"/>
          <a:lstStyle>
            <a:lvl1pPr>
              <a:defRPr sz="3840"/>
            </a:lvl1pPr>
          </a:lstStyle>
          <a:p>
            <a:r>
              <a:rPr lang="en-US"/>
              <a:t>Click to edit Master title style</a:t>
            </a:r>
          </a:p>
        </p:txBody>
      </p:sp>
      <p:sp>
        <p:nvSpPr>
          <p:cNvPr id="3" name="Content Placeholder 2">
            <a:extLst>
              <a:ext uri="{FF2B5EF4-FFF2-40B4-BE49-F238E27FC236}">
                <a16:creationId xmlns:a16="http://schemas.microsoft.com/office/drawing/2014/main" id="{1B8266EC-3834-40E8-874B-9F54E25C65ED}"/>
              </a:ext>
            </a:extLst>
          </p:cNvPr>
          <p:cNvSpPr>
            <a:spLocks noGrp="1"/>
          </p:cNvSpPr>
          <p:nvPr>
            <p:ph idx="1"/>
          </p:nvPr>
        </p:nvSpPr>
        <p:spPr>
          <a:xfrm>
            <a:off x="6219826" y="1184911"/>
            <a:ext cx="7406640" cy="5848350"/>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CA6307C-8749-45C2-8314-D2FDE2BD2240}"/>
              </a:ext>
            </a:extLst>
          </p:cNvPr>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Edit Master text styles</a:t>
            </a:r>
          </a:p>
        </p:txBody>
      </p:sp>
      <p:sp>
        <p:nvSpPr>
          <p:cNvPr id="5" name="Date Placeholder 4">
            <a:extLst>
              <a:ext uri="{FF2B5EF4-FFF2-40B4-BE49-F238E27FC236}">
                <a16:creationId xmlns:a16="http://schemas.microsoft.com/office/drawing/2014/main" id="{65FC312B-9F15-4D79-A474-C384C41E1097}"/>
              </a:ext>
            </a:extLst>
          </p:cNvPr>
          <p:cNvSpPr>
            <a:spLocks noGrp="1"/>
          </p:cNvSpPr>
          <p:nvPr>
            <p:ph type="dt" sz="half" idx="10"/>
          </p:nvPr>
        </p:nvSpPr>
        <p:spPr/>
        <p:txBody>
          <a:bodyPr/>
          <a:lstStyle/>
          <a:p>
            <a:fld id="{CDBEAE30-2E49-4A49-BAA1-76FA9EE97131}" type="datetimeFigureOut">
              <a:rPr lang="en-US" smtClean="0"/>
              <a:t>4/23/2026</a:t>
            </a:fld>
            <a:endParaRPr lang="en-US"/>
          </a:p>
        </p:txBody>
      </p:sp>
      <p:sp>
        <p:nvSpPr>
          <p:cNvPr id="6" name="Footer Placeholder 5">
            <a:extLst>
              <a:ext uri="{FF2B5EF4-FFF2-40B4-BE49-F238E27FC236}">
                <a16:creationId xmlns:a16="http://schemas.microsoft.com/office/drawing/2014/main" id="{BEE8E5CB-FD82-4D1E-A65A-8EBD8F93CD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77F2A3-63FA-477F-A606-D654E34A9F2B}"/>
              </a:ext>
            </a:extLst>
          </p:cNvPr>
          <p:cNvSpPr>
            <a:spLocks noGrp="1"/>
          </p:cNvSpPr>
          <p:nvPr>
            <p:ph type="sldNum" sz="quarter" idx="12"/>
          </p:nvPr>
        </p:nvSpPr>
        <p:spPr/>
        <p:txBody>
          <a:bodyPr/>
          <a:lstStyle/>
          <a:p>
            <a:fld id="{067B7B30-2766-424B-9087-5D55EB0B7DF8}" type="slidenum">
              <a:rPr lang="en-US" smtClean="0"/>
              <a:t>‹#›</a:t>
            </a:fld>
            <a:endParaRPr lang="en-US"/>
          </a:p>
        </p:txBody>
      </p:sp>
    </p:spTree>
    <p:extLst>
      <p:ext uri="{BB962C8B-B14F-4D97-AF65-F5344CB8AC3E}">
        <p14:creationId xmlns:p14="http://schemas.microsoft.com/office/powerpoint/2010/main" val="12876082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8950B-59A2-46D0-B22A-E8FBA1063048}"/>
              </a:ext>
            </a:extLst>
          </p:cNvPr>
          <p:cNvSpPr>
            <a:spLocks noGrp="1"/>
          </p:cNvSpPr>
          <p:nvPr>
            <p:ph type="title"/>
          </p:nvPr>
        </p:nvSpPr>
        <p:spPr>
          <a:xfrm>
            <a:off x="1007746" y="548640"/>
            <a:ext cx="4718684" cy="1920240"/>
          </a:xfrm>
        </p:spPr>
        <p:txBody>
          <a:bodyPr anchor="b"/>
          <a:lstStyle>
            <a:lvl1pPr>
              <a:defRPr sz="3840"/>
            </a:lvl1pPr>
          </a:lstStyle>
          <a:p>
            <a:r>
              <a:rPr lang="en-US"/>
              <a:t>Click to edit Master title style</a:t>
            </a:r>
          </a:p>
        </p:txBody>
      </p:sp>
      <p:sp>
        <p:nvSpPr>
          <p:cNvPr id="3" name="Picture Placeholder 2">
            <a:extLst>
              <a:ext uri="{FF2B5EF4-FFF2-40B4-BE49-F238E27FC236}">
                <a16:creationId xmlns:a16="http://schemas.microsoft.com/office/drawing/2014/main" id="{AD3F07A3-92D1-4B0B-81BB-8E60C253A07A}"/>
              </a:ext>
            </a:extLst>
          </p:cNvPr>
          <p:cNvSpPr>
            <a:spLocks noGrp="1"/>
          </p:cNvSpPr>
          <p:nvPr>
            <p:ph type="pic" idx="1"/>
          </p:nvPr>
        </p:nvSpPr>
        <p:spPr>
          <a:xfrm>
            <a:off x="6219826" y="1184911"/>
            <a:ext cx="7406640" cy="5848350"/>
          </a:xfrm>
        </p:spPr>
        <p:txBody>
          <a:bodyPr/>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endParaRPr lang="en-US"/>
          </a:p>
        </p:txBody>
      </p:sp>
      <p:sp>
        <p:nvSpPr>
          <p:cNvPr id="4" name="Text Placeholder 3">
            <a:extLst>
              <a:ext uri="{FF2B5EF4-FFF2-40B4-BE49-F238E27FC236}">
                <a16:creationId xmlns:a16="http://schemas.microsoft.com/office/drawing/2014/main" id="{FAA3272A-9314-46C1-B77B-2BC76E243DAA}"/>
              </a:ext>
            </a:extLst>
          </p:cNvPr>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Edit Master text styles</a:t>
            </a:r>
          </a:p>
        </p:txBody>
      </p:sp>
      <p:sp>
        <p:nvSpPr>
          <p:cNvPr id="5" name="Date Placeholder 4">
            <a:extLst>
              <a:ext uri="{FF2B5EF4-FFF2-40B4-BE49-F238E27FC236}">
                <a16:creationId xmlns:a16="http://schemas.microsoft.com/office/drawing/2014/main" id="{C0081BF4-54CF-46CE-A6FD-C0F6EACEA6D6}"/>
              </a:ext>
            </a:extLst>
          </p:cNvPr>
          <p:cNvSpPr>
            <a:spLocks noGrp="1"/>
          </p:cNvSpPr>
          <p:nvPr>
            <p:ph type="dt" sz="half" idx="10"/>
          </p:nvPr>
        </p:nvSpPr>
        <p:spPr/>
        <p:txBody>
          <a:bodyPr/>
          <a:lstStyle/>
          <a:p>
            <a:fld id="{CDBEAE30-2E49-4A49-BAA1-76FA9EE97131}" type="datetimeFigureOut">
              <a:rPr lang="en-US" smtClean="0"/>
              <a:t>4/23/2026</a:t>
            </a:fld>
            <a:endParaRPr lang="en-US"/>
          </a:p>
        </p:txBody>
      </p:sp>
      <p:sp>
        <p:nvSpPr>
          <p:cNvPr id="6" name="Footer Placeholder 5">
            <a:extLst>
              <a:ext uri="{FF2B5EF4-FFF2-40B4-BE49-F238E27FC236}">
                <a16:creationId xmlns:a16="http://schemas.microsoft.com/office/drawing/2014/main" id="{9B37A116-2218-424D-A9E3-950553101B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27AD8AB-9120-4DC0-81CF-9C5E7FA55414}"/>
              </a:ext>
            </a:extLst>
          </p:cNvPr>
          <p:cNvSpPr>
            <a:spLocks noGrp="1"/>
          </p:cNvSpPr>
          <p:nvPr>
            <p:ph type="sldNum" sz="quarter" idx="12"/>
          </p:nvPr>
        </p:nvSpPr>
        <p:spPr/>
        <p:txBody>
          <a:bodyPr/>
          <a:lstStyle/>
          <a:p>
            <a:fld id="{067B7B30-2766-424B-9087-5D55EB0B7DF8}" type="slidenum">
              <a:rPr lang="en-US" smtClean="0"/>
              <a:t>‹#›</a:t>
            </a:fld>
            <a:endParaRPr lang="en-US"/>
          </a:p>
        </p:txBody>
      </p:sp>
    </p:spTree>
    <p:extLst>
      <p:ext uri="{BB962C8B-B14F-4D97-AF65-F5344CB8AC3E}">
        <p14:creationId xmlns:p14="http://schemas.microsoft.com/office/powerpoint/2010/main" val="114230139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CF012-6FB1-4307-A940-6AA792A424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2B20034-2A36-41D8-B186-725051FABCC3}"/>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06F551-C29A-499E-8F1F-41F59AB9167A}"/>
              </a:ext>
            </a:extLst>
          </p:cNvPr>
          <p:cNvSpPr>
            <a:spLocks noGrp="1"/>
          </p:cNvSpPr>
          <p:nvPr>
            <p:ph type="dt" sz="half" idx="10"/>
          </p:nvPr>
        </p:nvSpPr>
        <p:spPr/>
        <p:txBody>
          <a:bodyPr/>
          <a:lstStyle/>
          <a:p>
            <a:fld id="{CDBEAE30-2E49-4A49-BAA1-76FA9EE97131}" type="datetimeFigureOut">
              <a:rPr lang="en-US" smtClean="0"/>
              <a:t>4/23/2026</a:t>
            </a:fld>
            <a:endParaRPr lang="en-US"/>
          </a:p>
        </p:txBody>
      </p:sp>
      <p:sp>
        <p:nvSpPr>
          <p:cNvPr id="5" name="Footer Placeholder 4">
            <a:extLst>
              <a:ext uri="{FF2B5EF4-FFF2-40B4-BE49-F238E27FC236}">
                <a16:creationId xmlns:a16="http://schemas.microsoft.com/office/drawing/2014/main" id="{7962DAA8-4FE9-4B3F-9B32-892F7B8F4C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A52ABE-F388-4266-A142-A6ED6B4510EE}"/>
              </a:ext>
            </a:extLst>
          </p:cNvPr>
          <p:cNvSpPr>
            <a:spLocks noGrp="1"/>
          </p:cNvSpPr>
          <p:nvPr>
            <p:ph type="sldNum" sz="quarter" idx="12"/>
          </p:nvPr>
        </p:nvSpPr>
        <p:spPr/>
        <p:txBody>
          <a:bodyPr/>
          <a:lstStyle/>
          <a:p>
            <a:fld id="{067B7B30-2766-424B-9087-5D55EB0B7DF8}" type="slidenum">
              <a:rPr lang="en-US" smtClean="0"/>
              <a:t>‹#›</a:t>
            </a:fld>
            <a:endParaRPr lang="en-US"/>
          </a:p>
        </p:txBody>
      </p:sp>
    </p:spTree>
    <p:extLst>
      <p:ext uri="{BB962C8B-B14F-4D97-AF65-F5344CB8AC3E}">
        <p14:creationId xmlns:p14="http://schemas.microsoft.com/office/powerpoint/2010/main" val="38020531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44D3779-9688-47D4-8227-D39F2FE3E0F1}"/>
              </a:ext>
            </a:extLst>
          </p:cNvPr>
          <p:cNvSpPr>
            <a:spLocks noGrp="1"/>
          </p:cNvSpPr>
          <p:nvPr>
            <p:ph type="title" orient="vert"/>
          </p:nvPr>
        </p:nvSpPr>
        <p:spPr>
          <a:xfrm>
            <a:off x="10469880" y="438150"/>
            <a:ext cx="3154680" cy="6974206"/>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EBE0EF9-9099-4A57-A581-E69ADE788904}"/>
              </a:ext>
            </a:extLst>
          </p:cNvPr>
          <p:cNvSpPr>
            <a:spLocks noGrp="1"/>
          </p:cNvSpPr>
          <p:nvPr>
            <p:ph type="body" orient="vert" idx="1"/>
          </p:nvPr>
        </p:nvSpPr>
        <p:spPr>
          <a:xfrm>
            <a:off x="1005840" y="438150"/>
            <a:ext cx="9281160" cy="6974206"/>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D84E93-24AA-42C2-809A-95E9A9A5ED75}"/>
              </a:ext>
            </a:extLst>
          </p:cNvPr>
          <p:cNvSpPr>
            <a:spLocks noGrp="1"/>
          </p:cNvSpPr>
          <p:nvPr>
            <p:ph type="dt" sz="half" idx="10"/>
          </p:nvPr>
        </p:nvSpPr>
        <p:spPr/>
        <p:txBody>
          <a:bodyPr/>
          <a:lstStyle/>
          <a:p>
            <a:fld id="{CDBEAE30-2E49-4A49-BAA1-76FA9EE97131}" type="datetimeFigureOut">
              <a:rPr lang="en-US" smtClean="0"/>
              <a:t>4/23/2026</a:t>
            </a:fld>
            <a:endParaRPr lang="en-US"/>
          </a:p>
        </p:txBody>
      </p:sp>
      <p:sp>
        <p:nvSpPr>
          <p:cNvPr id="5" name="Footer Placeholder 4">
            <a:extLst>
              <a:ext uri="{FF2B5EF4-FFF2-40B4-BE49-F238E27FC236}">
                <a16:creationId xmlns:a16="http://schemas.microsoft.com/office/drawing/2014/main" id="{EC171367-C610-492F-922F-D51459897F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212A7A-11BE-4B5E-94EE-DF03735B5E22}"/>
              </a:ext>
            </a:extLst>
          </p:cNvPr>
          <p:cNvSpPr>
            <a:spLocks noGrp="1"/>
          </p:cNvSpPr>
          <p:nvPr>
            <p:ph type="sldNum" sz="quarter" idx="12"/>
          </p:nvPr>
        </p:nvSpPr>
        <p:spPr/>
        <p:txBody>
          <a:bodyPr/>
          <a:lstStyle/>
          <a:p>
            <a:fld id="{067B7B30-2766-424B-9087-5D55EB0B7DF8}" type="slidenum">
              <a:rPr lang="en-US" smtClean="0"/>
              <a:t>‹#›</a:t>
            </a:fld>
            <a:endParaRPr lang="en-US"/>
          </a:p>
        </p:txBody>
      </p:sp>
    </p:spTree>
    <p:extLst>
      <p:ext uri="{BB962C8B-B14F-4D97-AF65-F5344CB8AC3E}">
        <p14:creationId xmlns:p14="http://schemas.microsoft.com/office/powerpoint/2010/main" val="25402569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82BE59-1282-4E29-830A-84E680CD89E4}"/>
              </a:ext>
            </a:extLst>
          </p:cNvPr>
          <p:cNvSpPr>
            <a:spLocks noGrp="1"/>
          </p:cNvSpPr>
          <p:nvPr>
            <p:ph type="title"/>
          </p:nvPr>
        </p:nvSpPr>
        <p:spPr>
          <a:xfrm>
            <a:off x="1005840" y="438150"/>
            <a:ext cx="12618720" cy="159067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2CAE74B-F290-4223-A2F5-ED6199E78076}"/>
              </a:ext>
            </a:extLst>
          </p:cNvPr>
          <p:cNvSpPr>
            <a:spLocks noGrp="1"/>
          </p:cNvSpPr>
          <p:nvPr>
            <p:ph type="body" idx="1"/>
          </p:nvPr>
        </p:nvSpPr>
        <p:spPr>
          <a:xfrm>
            <a:off x="1005840" y="2190750"/>
            <a:ext cx="12618720" cy="522160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FFCF61-2963-484F-A8DC-F990CA682DF2}"/>
              </a:ext>
            </a:extLst>
          </p:cNvPr>
          <p:cNvSpPr>
            <a:spLocks noGrp="1"/>
          </p:cNvSpPr>
          <p:nvPr>
            <p:ph type="dt" sz="half" idx="2"/>
          </p:nvPr>
        </p:nvSpPr>
        <p:spPr>
          <a:xfrm>
            <a:off x="1005840" y="7627621"/>
            <a:ext cx="3291840" cy="438150"/>
          </a:xfrm>
          <a:prstGeom prst="rect">
            <a:avLst/>
          </a:prstGeom>
        </p:spPr>
        <p:txBody>
          <a:bodyPr vert="horz" lIns="91440" tIns="45720" rIns="91440" bIns="45720" rtlCol="0" anchor="ctr"/>
          <a:lstStyle>
            <a:lvl1pPr algn="l">
              <a:defRPr sz="1440">
                <a:solidFill>
                  <a:schemeClr val="tx1">
                    <a:tint val="75000"/>
                  </a:schemeClr>
                </a:solidFill>
              </a:defRPr>
            </a:lvl1pPr>
          </a:lstStyle>
          <a:p>
            <a:fld id="{CDBEAE30-2E49-4A49-BAA1-76FA9EE97131}" type="datetimeFigureOut">
              <a:rPr lang="en-US" smtClean="0"/>
              <a:t>4/23/2026</a:t>
            </a:fld>
            <a:endParaRPr lang="en-US"/>
          </a:p>
        </p:txBody>
      </p:sp>
      <p:sp>
        <p:nvSpPr>
          <p:cNvPr id="5" name="Footer Placeholder 4">
            <a:extLst>
              <a:ext uri="{FF2B5EF4-FFF2-40B4-BE49-F238E27FC236}">
                <a16:creationId xmlns:a16="http://schemas.microsoft.com/office/drawing/2014/main" id="{F5A50B91-6051-420F-888C-3597B80FF702}"/>
              </a:ext>
            </a:extLst>
          </p:cNvPr>
          <p:cNvSpPr>
            <a:spLocks noGrp="1"/>
          </p:cNvSpPr>
          <p:nvPr>
            <p:ph type="ftr" sz="quarter" idx="3"/>
          </p:nvPr>
        </p:nvSpPr>
        <p:spPr>
          <a:xfrm>
            <a:off x="4846320" y="7627621"/>
            <a:ext cx="4937760" cy="438150"/>
          </a:xfrm>
          <a:prstGeom prst="rect">
            <a:avLst/>
          </a:prstGeom>
        </p:spPr>
        <p:txBody>
          <a:bodyPr vert="horz" lIns="91440" tIns="45720" rIns="91440" bIns="45720" rtlCol="0" anchor="ctr"/>
          <a:lstStyle>
            <a:lvl1pPr algn="ctr">
              <a:defRPr sz="144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44327AF-BA90-4EB5-8CD6-22974FFD5A2F}"/>
              </a:ext>
            </a:extLst>
          </p:cNvPr>
          <p:cNvSpPr>
            <a:spLocks noGrp="1"/>
          </p:cNvSpPr>
          <p:nvPr>
            <p:ph type="sldNum" sz="quarter" idx="4"/>
          </p:nvPr>
        </p:nvSpPr>
        <p:spPr>
          <a:xfrm>
            <a:off x="10332720" y="7627621"/>
            <a:ext cx="3291840" cy="438150"/>
          </a:xfrm>
          <a:prstGeom prst="rect">
            <a:avLst/>
          </a:prstGeom>
        </p:spPr>
        <p:txBody>
          <a:bodyPr vert="horz" lIns="91440" tIns="45720" rIns="91440" bIns="45720" rtlCol="0" anchor="ctr"/>
          <a:lstStyle>
            <a:lvl1pPr algn="r">
              <a:defRPr sz="1440">
                <a:solidFill>
                  <a:schemeClr val="tx1">
                    <a:tint val="75000"/>
                  </a:schemeClr>
                </a:solidFill>
              </a:defRPr>
            </a:lvl1pPr>
          </a:lstStyle>
          <a:p>
            <a:fld id="{067B7B30-2766-424B-9087-5D55EB0B7DF8}" type="slidenum">
              <a:rPr lang="en-US" smtClean="0"/>
              <a:t>‹#›</a:t>
            </a:fld>
            <a:endParaRPr lang="en-US"/>
          </a:p>
        </p:txBody>
      </p:sp>
    </p:spTree>
    <p:extLst>
      <p:ext uri="{BB962C8B-B14F-4D97-AF65-F5344CB8AC3E}">
        <p14:creationId xmlns:p14="http://schemas.microsoft.com/office/powerpoint/2010/main" val="42897671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hyperlink" Target="https://www.techtarget.com/searchsecurity/definition/Hash-based-Message-Authentication-Code-HMAC" TargetMode="Externa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hyperlink" Target="https://www.geeksforgeeks.org/difference-between-authentication-and-authorization/" TargetMode="External"/><Relationship Id="rId2" Type="http://schemas.openxmlformats.org/officeDocument/2006/relationships/hyperlink" Target="https://www.geeksforgeeks.org/what-is-data-privacy/" TargetMode="Externa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hyperlink" Target="https://www.geeksforgeeks.org/elgamal-encryption-algorithm/" TargetMode="External"/><Relationship Id="rId2" Type="http://schemas.openxmlformats.org/officeDocument/2006/relationships/hyperlink" Target="https://www.geeksforgeeks.org/types-of-wireless-security-encryption/" TargetMode="External"/><Relationship Id="rId1" Type="http://schemas.openxmlformats.org/officeDocument/2006/relationships/slideLayout" Target="../slideLayouts/slideLayout13.xml"/><Relationship Id="rId4" Type="http://schemas.openxmlformats.org/officeDocument/2006/relationships/hyperlink" Target="https://www.geeksforgeeks.org/capture-handshake-address-with-airodump-ng-and-aireplay-ng/" TargetMode="External"/></Relationships>
</file>

<file path=ppt/slides/_rels/slide11.xml.rels><?xml version="1.0" encoding="UTF-8" standalone="yes"?>
<Relationships xmlns="http://schemas.openxmlformats.org/package/2006/relationships"><Relationship Id="rId2" Type="http://schemas.openxmlformats.org/officeDocument/2006/relationships/hyperlink" Target="https://www.geeksforgeeks.org/digital-subscriber-line-dsl/" TargetMode="Externa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showMasterSp="0">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24124" y="2465189"/>
            <a:ext cx="7468553" cy="1408033"/>
          </a:xfrm>
          <a:prstGeom prst="rect">
            <a:avLst/>
          </a:prstGeom>
          <a:noFill/>
          <a:ln/>
        </p:spPr>
        <p:txBody>
          <a:bodyPr wrap="square" lIns="0" tIns="0" rIns="0" bIns="0" rtlCol="0" anchor="t"/>
          <a:lstStyle/>
          <a:p>
            <a:pPr marL="0" indent="0">
              <a:lnSpc>
                <a:spcPts val="5500"/>
              </a:lnSpc>
              <a:buNone/>
            </a:pPr>
            <a:r>
              <a:rPr lang="en-US" sz="4400" dirty="0">
                <a:solidFill>
                  <a:srgbClr val="1F1E1E"/>
                </a:solidFill>
                <a:latin typeface="Red Hat Text" pitchFamily="34" charset="0"/>
                <a:ea typeface="Red Hat Text" pitchFamily="34" charset="-122"/>
                <a:cs typeface="Red Hat Text" pitchFamily="34" charset="-120"/>
              </a:rPr>
              <a:t>Wireless Network Security: Best Practices and Protocols</a:t>
            </a:r>
            <a:endParaRPr lang="en-US" sz="4400" dirty="0"/>
          </a:p>
        </p:txBody>
      </p:sp>
      <p:sp>
        <p:nvSpPr>
          <p:cNvPr id="4" name="Text 1"/>
          <p:cNvSpPr/>
          <p:nvPr/>
        </p:nvSpPr>
        <p:spPr>
          <a:xfrm>
            <a:off x="6324124" y="4232196"/>
            <a:ext cx="7468553" cy="1532096"/>
          </a:xfrm>
          <a:prstGeom prst="rect">
            <a:avLst/>
          </a:prstGeom>
          <a:noFill/>
          <a:ln/>
        </p:spPr>
        <p:txBody>
          <a:bodyPr wrap="square" lIns="0" tIns="0" rIns="0" bIns="0" rtlCol="0" anchor="t"/>
          <a:lstStyle/>
          <a:p>
            <a:pPr marL="0" indent="0">
              <a:lnSpc>
                <a:spcPts val="3000"/>
              </a:lnSpc>
              <a:buNone/>
            </a:pPr>
            <a:r>
              <a:rPr lang="en-US" sz="1850" dirty="0">
                <a:solidFill>
                  <a:srgbClr val="3B3535"/>
                </a:solidFill>
                <a:latin typeface="Roboto Light" pitchFamily="34" charset="0"/>
                <a:ea typeface="Roboto Light" pitchFamily="34" charset="-122"/>
                <a:cs typeface="Roboto Light" pitchFamily="34" charset="-120"/>
              </a:rPr>
              <a:t>Explore the essential 802.11 protocols, authentication methods, and encryption standards that form the foundation of robust wireless network security. Dive into the vulnerabilities, attacks, and countermeasures to safeguard your wireless infrastructure.</a:t>
            </a:r>
            <a:endParaRPr lang="en-US" sz="1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E1D1DCC-D6B9-4A3E-BC77-65CC0C36E99F}"/>
              </a:ext>
            </a:extLst>
          </p:cNvPr>
          <p:cNvPicPr>
            <a:picLocks noChangeAspect="1"/>
          </p:cNvPicPr>
          <p:nvPr/>
        </p:nvPicPr>
        <p:blipFill>
          <a:blip r:embed="rId2"/>
          <a:stretch>
            <a:fillRect/>
          </a:stretch>
        </p:blipFill>
        <p:spPr>
          <a:xfrm>
            <a:off x="6353846" y="5244945"/>
            <a:ext cx="7604348" cy="2833351"/>
          </a:xfrm>
          <a:prstGeom prst="rect">
            <a:avLst/>
          </a:prstGeom>
        </p:spPr>
      </p:pic>
      <p:pic>
        <p:nvPicPr>
          <p:cNvPr id="8" name="Picture 7">
            <a:extLst>
              <a:ext uri="{FF2B5EF4-FFF2-40B4-BE49-F238E27FC236}">
                <a16:creationId xmlns:a16="http://schemas.microsoft.com/office/drawing/2014/main" id="{320E966F-C4DD-46ED-8E25-86D11019F0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3398" y="151305"/>
            <a:ext cx="6221200" cy="6326346"/>
          </a:xfrm>
          <a:prstGeom prst="rect">
            <a:avLst/>
          </a:prstGeom>
        </p:spPr>
      </p:pic>
      <p:sp>
        <p:nvSpPr>
          <p:cNvPr id="9" name="Freeform: Shape 8">
            <a:extLst>
              <a:ext uri="{FF2B5EF4-FFF2-40B4-BE49-F238E27FC236}">
                <a16:creationId xmlns:a16="http://schemas.microsoft.com/office/drawing/2014/main" id="{74206C48-A5B9-4BA0-BBF4-F6D999DA7E25}"/>
              </a:ext>
            </a:extLst>
          </p:cNvPr>
          <p:cNvSpPr/>
          <p:nvPr/>
        </p:nvSpPr>
        <p:spPr>
          <a:xfrm>
            <a:off x="3548861" y="6415629"/>
            <a:ext cx="3519204" cy="982967"/>
          </a:xfrm>
          <a:custGeom>
            <a:avLst/>
            <a:gdLst>
              <a:gd name="connsiteX0" fmla="*/ 0 w 2932670"/>
              <a:gd name="connsiteY0" fmla="*/ 0 h 819139"/>
              <a:gd name="connsiteX1" fmla="*/ 551935 w 2932670"/>
              <a:gd name="connsiteY1" fmla="*/ 749643 h 819139"/>
              <a:gd name="connsiteX2" fmla="*/ 2932670 w 2932670"/>
              <a:gd name="connsiteY2" fmla="*/ 741405 h 819139"/>
            </a:gdLst>
            <a:ahLst/>
            <a:cxnLst>
              <a:cxn ang="0">
                <a:pos x="connsiteX0" y="connsiteY0"/>
              </a:cxn>
              <a:cxn ang="0">
                <a:pos x="connsiteX1" y="connsiteY1"/>
              </a:cxn>
              <a:cxn ang="0">
                <a:pos x="connsiteX2" y="connsiteY2"/>
              </a:cxn>
            </a:cxnLst>
            <a:rect l="l" t="t" r="r" b="b"/>
            <a:pathLst>
              <a:path w="2932670" h="819139">
                <a:moveTo>
                  <a:pt x="0" y="0"/>
                </a:moveTo>
                <a:cubicBezTo>
                  <a:pt x="31578" y="313038"/>
                  <a:pt x="63157" y="626076"/>
                  <a:pt x="551935" y="749643"/>
                </a:cubicBezTo>
                <a:cubicBezTo>
                  <a:pt x="1040713" y="873210"/>
                  <a:pt x="1986691" y="807307"/>
                  <a:pt x="2932670" y="741405"/>
                </a:cubicBezTo>
              </a:path>
            </a:pathLst>
          </a:custGeom>
        </p:spPr>
        <p:style>
          <a:lnRef idx="3">
            <a:schemeClr val="accent4"/>
          </a:lnRef>
          <a:fillRef idx="0">
            <a:schemeClr val="accent4"/>
          </a:fillRef>
          <a:effectRef idx="2">
            <a:schemeClr val="accent4"/>
          </a:effectRef>
          <a:fontRef idx="minor">
            <a:schemeClr val="tx1"/>
          </a:fontRef>
        </p:style>
        <p:txBody>
          <a:bodyPr rtlCol="0" anchor="ctr"/>
          <a:lstStyle/>
          <a:p>
            <a:pPr algn="ctr" defTabSz="1097280"/>
            <a:endParaRPr lang="en-US" sz="2160">
              <a:solidFill>
                <a:prstClr val="black"/>
              </a:solidFill>
              <a:latin typeface="Calibri" panose="020F0502020204030204"/>
            </a:endParaRPr>
          </a:p>
        </p:txBody>
      </p:sp>
      <p:pic>
        <p:nvPicPr>
          <p:cNvPr id="12" name="Picture 11">
            <a:extLst>
              <a:ext uri="{FF2B5EF4-FFF2-40B4-BE49-F238E27FC236}">
                <a16:creationId xmlns:a16="http://schemas.microsoft.com/office/drawing/2014/main" id="{1CB610BB-1A86-4094-AF7D-50925A30D19F}"/>
              </a:ext>
            </a:extLst>
          </p:cNvPr>
          <p:cNvPicPr>
            <a:picLocks noChangeAspect="1"/>
          </p:cNvPicPr>
          <p:nvPr/>
        </p:nvPicPr>
        <p:blipFill rotWithShape="1">
          <a:blip r:embed="rId4"/>
          <a:srcRect l="26968"/>
          <a:stretch/>
        </p:blipFill>
        <p:spPr>
          <a:xfrm>
            <a:off x="6425512" y="4209815"/>
            <a:ext cx="2431811" cy="1182952"/>
          </a:xfrm>
          <a:prstGeom prst="rect">
            <a:avLst/>
          </a:prstGeom>
        </p:spPr>
      </p:pic>
      <p:sp>
        <p:nvSpPr>
          <p:cNvPr id="13" name="Rectangle 12">
            <a:extLst>
              <a:ext uri="{FF2B5EF4-FFF2-40B4-BE49-F238E27FC236}">
                <a16:creationId xmlns:a16="http://schemas.microsoft.com/office/drawing/2014/main" id="{4395FB8E-6EB6-4651-9C3C-76EE3A5B329B}"/>
              </a:ext>
            </a:extLst>
          </p:cNvPr>
          <p:cNvSpPr/>
          <p:nvPr/>
        </p:nvSpPr>
        <p:spPr>
          <a:xfrm>
            <a:off x="6947210" y="376922"/>
            <a:ext cx="7511304" cy="3693319"/>
          </a:xfrm>
          <a:prstGeom prst="rect">
            <a:avLst/>
          </a:prstGeom>
        </p:spPr>
        <p:txBody>
          <a:bodyPr wrap="square">
            <a:spAutoFit/>
          </a:bodyPr>
          <a:lstStyle/>
          <a:p>
            <a:pPr defTabSz="1097280"/>
            <a:r>
              <a:rPr lang="en-US" dirty="0">
                <a:solidFill>
                  <a:srgbClr val="000000"/>
                </a:solidFill>
                <a:latin typeface="Arial" panose="020B0604020202020204" pitchFamily="34" charset="0"/>
              </a:rPr>
              <a:t>IEEE 802.11 is a set of protocols and standards for executing WLAN (wireless local area network) computer communication in the 5, 3.6, and 2.4 GHz frequency bands.</a:t>
            </a:r>
          </a:p>
          <a:p>
            <a:pPr defTabSz="1097280"/>
            <a:r>
              <a:rPr lang="en-US" dirty="0">
                <a:solidFill>
                  <a:srgbClr val="000000"/>
                </a:solidFill>
                <a:latin typeface="Arial" panose="020B0604020202020204" pitchFamily="34" charset="0"/>
              </a:rPr>
              <a:t>They're made and maintained by the IEEE 802 or the IEEE LAN/MAN Standards Committee. IEEE 802.11-2007 is the latest base version of this standard. What's more, the 802.11 family is composed of a volume of airborne modulation methods that utilize identical and basic protocol.</a:t>
            </a:r>
          </a:p>
          <a:p>
            <a:pPr defTabSz="1097280"/>
            <a:r>
              <a:rPr lang="en-US" dirty="0">
                <a:solidFill>
                  <a:srgbClr val="000000"/>
                </a:solidFill>
                <a:latin typeface="Arial" panose="020B0604020202020204" pitchFamily="34" charset="0"/>
              </a:rPr>
              <a:t>The most ubiquitous and widely used versions of this standard are the 802.11g and 802.11b protocols, which were improvements to the earliest standard.</a:t>
            </a:r>
          </a:p>
          <a:p>
            <a:pPr defTabSz="1097280"/>
            <a:r>
              <a:rPr lang="en-US" dirty="0">
                <a:solidFill>
                  <a:srgbClr val="000000"/>
                </a:solidFill>
                <a:latin typeface="Arial" panose="020B0604020202020204" pitchFamily="34" charset="0"/>
              </a:rPr>
              <a:t>Meanwhile, the first wireless networking standard is the aforementioned 802.11-1997 as well. Regardless the most widely accepted one was the 802.11b, which was then followed by 802.11g and 802.11n.</a:t>
            </a:r>
          </a:p>
        </p:txBody>
      </p:sp>
    </p:spTree>
    <p:extLst>
      <p:ext uri="{BB962C8B-B14F-4D97-AF65-F5344CB8AC3E}">
        <p14:creationId xmlns:p14="http://schemas.microsoft.com/office/powerpoint/2010/main" val="19132974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BC3EC7A-4E5D-470B-BD58-1C608EE77ED7}"/>
              </a:ext>
            </a:extLst>
          </p:cNvPr>
          <p:cNvPicPr>
            <a:picLocks noGrp="1" noChangeAspect="1"/>
          </p:cNvPicPr>
          <p:nvPr>
            <p:ph idx="1"/>
          </p:nvPr>
        </p:nvPicPr>
        <p:blipFill>
          <a:blip r:embed="rId2"/>
          <a:stretch>
            <a:fillRect/>
          </a:stretch>
        </p:blipFill>
        <p:spPr>
          <a:xfrm>
            <a:off x="9649141" y="0"/>
            <a:ext cx="4981259" cy="2286000"/>
          </a:xfrm>
          <a:prstGeom prst="rect">
            <a:avLst/>
          </a:prstGeom>
        </p:spPr>
      </p:pic>
      <p:sp>
        <p:nvSpPr>
          <p:cNvPr id="6" name="Rectangle 5">
            <a:extLst>
              <a:ext uri="{FF2B5EF4-FFF2-40B4-BE49-F238E27FC236}">
                <a16:creationId xmlns:a16="http://schemas.microsoft.com/office/drawing/2014/main" id="{0AA80A12-06AD-4FDA-962C-A3A5E934AD13}"/>
              </a:ext>
            </a:extLst>
          </p:cNvPr>
          <p:cNvSpPr/>
          <p:nvPr/>
        </p:nvSpPr>
        <p:spPr>
          <a:xfrm>
            <a:off x="66907" y="658297"/>
            <a:ext cx="13682546" cy="7571303"/>
          </a:xfrm>
          <a:prstGeom prst="rect">
            <a:avLst/>
          </a:prstGeom>
        </p:spPr>
        <p:txBody>
          <a:bodyPr wrap="square">
            <a:spAutoFit/>
          </a:bodyPr>
          <a:lstStyle/>
          <a:p>
            <a:pPr fontAlgn="base"/>
            <a:r>
              <a:rPr lang="en-US" b="1" dirty="0">
                <a:solidFill>
                  <a:srgbClr val="273239"/>
                </a:solidFill>
                <a:latin typeface="Nunito"/>
              </a:rPr>
              <a:t>Frame Control</a:t>
            </a:r>
          </a:p>
          <a:p>
            <a:pPr algn="just" fontAlgn="base"/>
            <a:r>
              <a:rPr lang="en-US" dirty="0">
                <a:solidFill>
                  <a:srgbClr val="273239"/>
                </a:solidFill>
                <a:latin typeface="Nunito"/>
              </a:rPr>
              <a:t>It is 2 bytes long and defines type of frame and control information. </a:t>
            </a:r>
          </a:p>
          <a:p>
            <a:pPr algn="just" fontAlgn="base"/>
            <a:r>
              <a:rPr lang="en-US" b="1" dirty="0">
                <a:solidFill>
                  <a:srgbClr val="273239"/>
                </a:solidFill>
                <a:latin typeface="Nunito"/>
              </a:rPr>
              <a:t>	Version: </a:t>
            </a:r>
            <a:r>
              <a:rPr lang="en-US" dirty="0">
                <a:solidFill>
                  <a:srgbClr val="273239"/>
                </a:solidFill>
                <a:latin typeface="Nunito"/>
              </a:rPr>
              <a:t>Indicates the current protocol version.</a:t>
            </a:r>
          </a:p>
          <a:p>
            <a:pPr lvl="1" fontAlgn="base">
              <a:buFont typeface="Arial" panose="020B0604020202020204" pitchFamily="34" charset="0"/>
              <a:buChar char="•"/>
            </a:pPr>
            <a:r>
              <a:rPr lang="en-US" b="1" dirty="0">
                <a:solidFill>
                  <a:srgbClr val="273239"/>
                </a:solidFill>
                <a:latin typeface="Nunito"/>
              </a:rPr>
              <a:t>Type</a:t>
            </a:r>
            <a:r>
              <a:rPr lang="en-US" dirty="0">
                <a:solidFill>
                  <a:srgbClr val="273239"/>
                </a:solidFill>
                <a:latin typeface="Nunito"/>
              </a:rPr>
              <a:t>: Determines the function of frame i.e. management(00), control(01) or data(10).</a:t>
            </a:r>
          </a:p>
          <a:p>
            <a:pPr lvl="1" fontAlgn="base">
              <a:buFont typeface="Arial" panose="020B0604020202020204" pitchFamily="34" charset="0"/>
              <a:buChar char="•"/>
            </a:pPr>
            <a:r>
              <a:rPr lang="en-US" b="1" dirty="0">
                <a:solidFill>
                  <a:srgbClr val="273239"/>
                </a:solidFill>
                <a:latin typeface="Nunito"/>
              </a:rPr>
              <a:t>Subtype</a:t>
            </a:r>
            <a:r>
              <a:rPr lang="en-US" dirty="0">
                <a:solidFill>
                  <a:srgbClr val="273239"/>
                </a:solidFill>
                <a:latin typeface="Nunito"/>
              </a:rPr>
              <a:t>: Indicates subtype of frame like 0000 for association request, 1000 for beacon.</a:t>
            </a:r>
          </a:p>
          <a:p>
            <a:pPr lvl="1" fontAlgn="base">
              <a:buFont typeface="Arial" panose="020B0604020202020204" pitchFamily="34" charset="0"/>
              <a:buChar char="•"/>
            </a:pPr>
            <a:r>
              <a:rPr lang="en-US" b="1" dirty="0">
                <a:solidFill>
                  <a:srgbClr val="273239"/>
                </a:solidFill>
                <a:latin typeface="Nunito"/>
              </a:rPr>
              <a:t>To DS</a:t>
            </a:r>
            <a:r>
              <a:rPr lang="en-US" dirty="0">
                <a:solidFill>
                  <a:srgbClr val="273239"/>
                </a:solidFill>
                <a:latin typeface="Nunito"/>
              </a:rPr>
              <a:t>: When set indicates that the destination frame is for DS(distribution system).</a:t>
            </a:r>
          </a:p>
          <a:p>
            <a:pPr lvl="1" fontAlgn="base">
              <a:buFont typeface="Arial" panose="020B0604020202020204" pitchFamily="34" charset="0"/>
              <a:buChar char="•"/>
            </a:pPr>
            <a:r>
              <a:rPr lang="en-US" b="1" dirty="0">
                <a:solidFill>
                  <a:srgbClr val="273239"/>
                </a:solidFill>
                <a:latin typeface="Nunito"/>
              </a:rPr>
              <a:t>From DS: </a:t>
            </a:r>
            <a:r>
              <a:rPr lang="en-US" dirty="0">
                <a:solidFill>
                  <a:srgbClr val="273239"/>
                </a:solidFill>
                <a:latin typeface="Nunito"/>
              </a:rPr>
              <a:t>When set indicates frame coming from DS.</a:t>
            </a:r>
          </a:p>
          <a:p>
            <a:pPr lvl="1" fontAlgn="base">
              <a:buFont typeface="Arial" panose="020B0604020202020204" pitchFamily="34" charset="0"/>
              <a:buChar char="•"/>
            </a:pPr>
            <a:r>
              <a:rPr lang="en-US" b="1" dirty="0">
                <a:solidFill>
                  <a:srgbClr val="273239"/>
                </a:solidFill>
                <a:latin typeface="Nunito"/>
              </a:rPr>
              <a:t>More frag (More fragments)</a:t>
            </a:r>
            <a:r>
              <a:rPr lang="en-US" dirty="0">
                <a:solidFill>
                  <a:srgbClr val="273239"/>
                </a:solidFill>
                <a:latin typeface="Nunito"/>
              </a:rPr>
              <a:t>: When set to 1 means frame is followed by other fragments.</a:t>
            </a:r>
          </a:p>
          <a:p>
            <a:pPr lvl="1" fontAlgn="base">
              <a:buFont typeface="Arial" panose="020B0604020202020204" pitchFamily="34" charset="0"/>
              <a:buChar char="•"/>
            </a:pPr>
            <a:r>
              <a:rPr lang="en-US" b="1" dirty="0">
                <a:solidFill>
                  <a:srgbClr val="273239"/>
                </a:solidFill>
                <a:latin typeface="Nunito"/>
              </a:rPr>
              <a:t>Retry: I</a:t>
            </a:r>
            <a:r>
              <a:rPr lang="en-US" dirty="0">
                <a:solidFill>
                  <a:srgbClr val="273239"/>
                </a:solidFill>
                <a:latin typeface="Nunito"/>
              </a:rPr>
              <a:t>f the current frame is a re-transmission of an earlier frame, this bit is set to 1.</a:t>
            </a:r>
          </a:p>
          <a:p>
            <a:pPr lvl="1" fontAlgn="base">
              <a:buFont typeface="Arial" panose="020B0604020202020204" pitchFamily="34" charset="0"/>
              <a:buChar char="•"/>
            </a:pPr>
            <a:r>
              <a:rPr lang="en-US" b="1" dirty="0">
                <a:solidFill>
                  <a:srgbClr val="273239"/>
                </a:solidFill>
                <a:latin typeface="Nunito"/>
              </a:rPr>
              <a:t>Power </a:t>
            </a:r>
            <a:r>
              <a:rPr lang="en-US" b="1" dirty="0" err="1">
                <a:solidFill>
                  <a:srgbClr val="273239"/>
                </a:solidFill>
                <a:latin typeface="Nunito"/>
              </a:rPr>
              <a:t>Mgmt</a:t>
            </a:r>
            <a:r>
              <a:rPr lang="en-US" b="1" dirty="0">
                <a:solidFill>
                  <a:srgbClr val="273239"/>
                </a:solidFill>
                <a:latin typeface="Nunito"/>
              </a:rPr>
              <a:t> (Power Management): </a:t>
            </a:r>
            <a:r>
              <a:rPr lang="en-US" dirty="0">
                <a:solidFill>
                  <a:srgbClr val="273239"/>
                </a:solidFill>
                <a:latin typeface="Nunito"/>
              </a:rPr>
              <a:t>It indicates the mode of a station after successful transmission of a frame. Set to '1' field indicates that the station goes into power-save mode. If the field is set to 0, the station stays active.</a:t>
            </a:r>
          </a:p>
          <a:p>
            <a:pPr lvl="1" fontAlgn="base">
              <a:buFont typeface="Arial" panose="020B0604020202020204" pitchFamily="34" charset="0"/>
              <a:buChar char="•"/>
            </a:pPr>
            <a:r>
              <a:rPr lang="en-US" b="1" dirty="0">
                <a:solidFill>
                  <a:srgbClr val="273239"/>
                </a:solidFill>
                <a:latin typeface="Nunito"/>
              </a:rPr>
              <a:t>More data: </a:t>
            </a:r>
            <a:r>
              <a:rPr lang="en-US" dirty="0">
                <a:solidFill>
                  <a:srgbClr val="273239"/>
                </a:solidFill>
                <a:latin typeface="Nunito"/>
              </a:rPr>
              <a:t>It is used to indicate to the receiver that a sender has more data to send than the current frame.</a:t>
            </a:r>
          </a:p>
          <a:p>
            <a:pPr lvl="1" fontAlgn="base">
              <a:buFont typeface="Arial" panose="020B0604020202020204" pitchFamily="34" charset="0"/>
              <a:buChar char="•"/>
            </a:pPr>
            <a:r>
              <a:rPr lang="en-US" b="1" dirty="0">
                <a:solidFill>
                  <a:srgbClr val="273239"/>
                </a:solidFill>
                <a:latin typeface="Nunito"/>
              </a:rPr>
              <a:t>WEP</a:t>
            </a:r>
            <a:r>
              <a:rPr lang="en-US" dirty="0">
                <a:solidFill>
                  <a:srgbClr val="273239"/>
                </a:solidFill>
                <a:latin typeface="Nunito"/>
              </a:rPr>
              <a:t>: It indicates that the standard security mechanism of 802.11 is applied.</a:t>
            </a:r>
          </a:p>
          <a:p>
            <a:pPr lvl="1" fontAlgn="base">
              <a:buFont typeface="Arial" panose="020B0604020202020204" pitchFamily="34" charset="0"/>
              <a:buChar char="•"/>
            </a:pPr>
            <a:r>
              <a:rPr lang="en-US" b="1" dirty="0">
                <a:solidFill>
                  <a:srgbClr val="273239"/>
                </a:solidFill>
                <a:latin typeface="Nunito"/>
              </a:rPr>
              <a:t>Order: </a:t>
            </a:r>
            <a:r>
              <a:rPr lang="en-US" dirty="0">
                <a:solidFill>
                  <a:srgbClr val="273239"/>
                </a:solidFill>
                <a:latin typeface="Nunito"/>
              </a:rPr>
              <a:t>If this bit is set to 1 the received frames must be processed in strict order.</a:t>
            </a:r>
          </a:p>
          <a:p>
            <a:pPr fontAlgn="base"/>
            <a:endParaRPr lang="en-US" b="1" dirty="0">
              <a:solidFill>
                <a:srgbClr val="273239"/>
              </a:solidFill>
              <a:latin typeface="Nunito"/>
            </a:endParaRPr>
          </a:p>
          <a:p>
            <a:pPr fontAlgn="base"/>
            <a:r>
              <a:rPr lang="en-US" b="1" dirty="0">
                <a:solidFill>
                  <a:srgbClr val="273239"/>
                </a:solidFill>
                <a:latin typeface="Nunito"/>
              </a:rPr>
              <a:t>Duration / ID: </a:t>
            </a:r>
            <a:r>
              <a:rPr lang="en-US" dirty="0">
                <a:solidFill>
                  <a:srgbClr val="273239"/>
                </a:solidFill>
                <a:latin typeface="Nunito"/>
              </a:rPr>
              <a:t>It contains the value indicating the period of time in which the medium is occupied (in µs).</a:t>
            </a:r>
          </a:p>
          <a:p>
            <a:pPr fontAlgn="base"/>
            <a:endParaRPr lang="en-US" b="1" dirty="0">
              <a:solidFill>
                <a:srgbClr val="273239"/>
              </a:solidFill>
              <a:latin typeface="Nunito"/>
            </a:endParaRPr>
          </a:p>
          <a:p>
            <a:pPr fontAlgn="base"/>
            <a:r>
              <a:rPr lang="en-US" b="1" dirty="0">
                <a:solidFill>
                  <a:srgbClr val="273239"/>
                </a:solidFill>
                <a:latin typeface="Nunito"/>
              </a:rPr>
              <a:t>Address 1 to 4: </a:t>
            </a:r>
            <a:r>
              <a:rPr lang="en-US" dirty="0">
                <a:solidFill>
                  <a:srgbClr val="273239"/>
                </a:solidFill>
                <a:latin typeface="Nunito"/>
              </a:rPr>
              <a:t>These fields contain standard IEEE 802 MAC addresses (48 bit each). The meaning of each address is defined by DS bits in the frame control field.</a:t>
            </a:r>
          </a:p>
          <a:p>
            <a:pPr fontAlgn="base"/>
            <a:endParaRPr lang="en-US" b="1" dirty="0">
              <a:solidFill>
                <a:srgbClr val="273239"/>
              </a:solidFill>
              <a:latin typeface="Nunito"/>
            </a:endParaRPr>
          </a:p>
          <a:p>
            <a:pPr fontAlgn="base"/>
            <a:r>
              <a:rPr lang="en-US" b="1" dirty="0">
                <a:solidFill>
                  <a:srgbClr val="273239"/>
                </a:solidFill>
                <a:latin typeface="Nunito"/>
              </a:rPr>
              <a:t>SC (Sequence Control): </a:t>
            </a:r>
            <a:r>
              <a:rPr lang="en-US" dirty="0">
                <a:solidFill>
                  <a:srgbClr val="273239"/>
                </a:solidFill>
                <a:latin typeface="Nunito"/>
              </a:rPr>
              <a:t>It consists of 2 sub-fields i.e. sequence number (12 bits) and fragment number (4 bits). Sequence number is used to filter duplicate frames.</a:t>
            </a:r>
          </a:p>
          <a:p>
            <a:pPr fontAlgn="base"/>
            <a:endParaRPr lang="en-US" b="1" dirty="0">
              <a:solidFill>
                <a:srgbClr val="273239"/>
              </a:solidFill>
              <a:latin typeface="Nunito"/>
            </a:endParaRPr>
          </a:p>
          <a:p>
            <a:pPr fontAlgn="base"/>
            <a:r>
              <a:rPr lang="en-US" b="1" dirty="0">
                <a:solidFill>
                  <a:srgbClr val="273239"/>
                </a:solidFill>
                <a:latin typeface="Nunito"/>
              </a:rPr>
              <a:t>Data: </a:t>
            </a:r>
            <a:r>
              <a:rPr lang="en-US" dirty="0">
                <a:solidFill>
                  <a:srgbClr val="273239"/>
                </a:solidFill>
                <a:latin typeface="Nunito"/>
              </a:rPr>
              <a:t>It is a variable length field which contains information specific to individual frames which is transferred transparently from a sender to the receiver.</a:t>
            </a:r>
          </a:p>
          <a:p>
            <a:pPr fontAlgn="base"/>
            <a:endParaRPr lang="en-US" b="1" dirty="0">
              <a:solidFill>
                <a:srgbClr val="273239"/>
              </a:solidFill>
              <a:latin typeface="Nunito"/>
            </a:endParaRPr>
          </a:p>
          <a:p>
            <a:pPr fontAlgn="base"/>
            <a:r>
              <a:rPr lang="en-US" b="1" dirty="0">
                <a:solidFill>
                  <a:srgbClr val="273239"/>
                </a:solidFill>
                <a:latin typeface="Nunito"/>
              </a:rPr>
              <a:t>CRC (Cyclic Redundancy Check): </a:t>
            </a:r>
            <a:r>
              <a:rPr lang="en-US" dirty="0">
                <a:solidFill>
                  <a:srgbClr val="273239"/>
                </a:solidFill>
                <a:latin typeface="Nunito"/>
              </a:rPr>
              <a:t>It contains 32 bit CRC error detection sequence to ensure error free frame.</a:t>
            </a:r>
            <a:endParaRPr lang="en-US" b="0" i="0" dirty="0">
              <a:solidFill>
                <a:srgbClr val="273239"/>
              </a:solidFill>
              <a:effectLst/>
              <a:latin typeface="Nunito"/>
            </a:endParaRPr>
          </a:p>
        </p:txBody>
      </p:sp>
    </p:spTree>
    <p:extLst>
      <p:ext uri="{BB962C8B-B14F-4D97-AF65-F5344CB8AC3E}">
        <p14:creationId xmlns:p14="http://schemas.microsoft.com/office/powerpoint/2010/main" val="13884944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7609F6-AAD2-4C51-B736-0417D554FBFE}"/>
              </a:ext>
            </a:extLst>
          </p:cNvPr>
          <p:cNvSpPr>
            <a:spLocks noGrp="1"/>
          </p:cNvSpPr>
          <p:nvPr>
            <p:ph idx="1"/>
          </p:nvPr>
        </p:nvSpPr>
        <p:spPr>
          <a:xfrm>
            <a:off x="423747" y="555637"/>
            <a:ext cx="6757638" cy="5939074"/>
          </a:xfrm>
        </p:spPr>
        <p:txBody>
          <a:bodyPr>
            <a:normAutofit fontScale="92500" lnSpcReduction="10000"/>
          </a:bodyPr>
          <a:lstStyle/>
          <a:p>
            <a:pPr marL="0" indent="0">
              <a:buNone/>
            </a:pPr>
            <a:r>
              <a:rPr lang="en-US" sz="2800" b="1" dirty="0"/>
              <a:t>802.11 Protocols</a:t>
            </a:r>
          </a:p>
          <a:p>
            <a:pPr algn="just" fontAlgn="base"/>
            <a:r>
              <a:rPr lang="en-US" sz="2800" dirty="0"/>
              <a:t>Wi-Fi stands for Wireless Fidelity, and it is developed by an organization called IEEE (Institute of Electrical and Electronics Engineers) they set standards for the Wi-Fi system.</a:t>
            </a:r>
          </a:p>
          <a:p>
            <a:pPr algn="just" fontAlgn="base"/>
            <a:r>
              <a:rPr lang="en-US" sz="2800" dirty="0"/>
              <a:t>Each Wi-Fi network standard has two parameters :</a:t>
            </a:r>
          </a:p>
          <a:p>
            <a:pPr algn="just" fontAlgn="base"/>
            <a:r>
              <a:rPr lang="en-US" sz="2800" b="1" dirty="0"/>
              <a:t>Speed: </a:t>
            </a:r>
            <a:r>
              <a:rPr lang="en-US" sz="2800" dirty="0"/>
              <a:t> </a:t>
            </a:r>
            <a:br>
              <a:rPr lang="en-US" sz="2800" dirty="0"/>
            </a:br>
            <a:r>
              <a:rPr lang="en-US" sz="2800" dirty="0"/>
              <a:t>This is the data transfer rate of the network measured in Mbps (1 megabit per second).</a:t>
            </a:r>
          </a:p>
          <a:p>
            <a:pPr algn="just" fontAlgn="base"/>
            <a:r>
              <a:rPr lang="en-US" sz="2800" b="1" dirty="0"/>
              <a:t>Frequency: </a:t>
            </a:r>
            <a:r>
              <a:rPr lang="en-US" sz="2800" dirty="0"/>
              <a:t> </a:t>
            </a:r>
            <a:br>
              <a:rPr lang="en-US" sz="2800" dirty="0"/>
            </a:br>
            <a:r>
              <a:rPr lang="en-US" sz="2800" dirty="0"/>
              <a:t>On what radio frequency, the network is carried on. Two bands of frequency for Wi-Fi are 2.4 GHz and 5 GHz. In short, it is the frequency of radio wave that carries data.</a:t>
            </a:r>
          </a:p>
          <a:p>
            <a:endParaRPr lang="en-US" sz="2800" dirty="0"/>
          </a:p>
        </p:txBody>
      </p:sp>
      <p:sp>
        <p:nvSpPr>
          <p:cNvPr id="4" name="Rectangle 3">
            <a:extLst>
              <a:ext uri="{FF2B5EF4-FFF2-40B4-BE49-F238E27FC236}">
                <a16:creationId xmlns:a16="http://schemas.microsoft.com/office/drawing/2014/main" id="{057D9360-8413-4F84-9EA6-E68FD766F5CD}"/>
              </a:ext>
            </a:extLst>
          </p:cNvPr>
          <p:cNvSpPr/>
          <p:nvPr/>
        </p:nvSpPr>
        <p:spPr>
          <a:xfrm>
            <a:off x="1065152" y="6494711"/>
            <a:ext cx="7315200" cy="1089529"/>
          </a:xfrm>
          <a:prstGeom prst="rect">
            <a:avLst/>
          </a:prstGeom>
        </p:spPr>
        <p:txBody>
          <a:bodyPr>
            <a:spAutoFit/>
          </a:bodyPr>
          <a:lstStyle/>
          <a:p>
            <a:pPr defTabSz="1097280" fontAlgn="base"/>
            <a:r>
              <a:rPr lang="en-US" sz="2160" b="1" dirty="0">
                <a:solidFill>
                  <a:prstClr val="black"/>
                </a:solidFill>
                <a:latin typeface="urw-din"/>
              </a:rPr>
              <a:t>IEEE 802.11 –</a:t>
            </a:r>
            <a:endParaRPr lang="en-US" sz="2160" dirty="0">
              <a:solidFill>
                <a:prstClr val="black"/>
              </a:solidFill>
              <a:latin typeface="urw-din"/>
            </a:endParaRPr>
          </a:p>
          <a:p>
            <a:pPr defTabSz="1097280" fontAlgn="base">
              <a:buFont typeface="+mj-lt"/>
              <a:buAutoNum type="arabicPeriod"/>
            </a:pPr>
            <a:r>
              <a:rPr lang="en-US" sz="2160" dirty="0">
                <a:solidFill>
                  <a:prstClr val="black"/>
                </a:solidFill>
                <a:latin typeface="urw-din"/>
              </a:rPr>
              <a:t>It was developed in 1997.</a:t>
            </a:r>
          </a:p>
          <a:p>
            <a:pPr defTabSz="1097280" fontAlgn="base">
              <a:buFont typeface="+mj-lt"/>
              <a:buAutoNum type="arabicPeriod"/>
            </a:pPr>
            <a:r>
              <a:rPr lang="en-US" sz="2160" dirty="0">
                <a:solidFill>
                  <a:prstClr val="black"/>
                </a:solidFill>
                <a:latin typeface="urw-din"/>
              </a:rPr>
              <a:t>Speed is about 2 Mbps (2 megabits per second)</a:t>
            </a:r>
          </a:p>
        </p:txBody>
      </p:sp>
      <p:graphicFrame>
        <p:nvGraphicFramePr>
          <p:cNvPr id="5" name="Table 4">
            <a:extLst>
              <a:ext uri="{FF2B5EF4-FFF2-40B4-BE49-F238E27FC236}">
                <a16:creationId xmlns:a16="http://schemas.microsoft.com/office/drawing/2014/main" id="{1FB4283D-0C38-43C7-8119-1AB6A6C175FE}"/>
              </a:ext>
            </a:extLst>
          </p:cNvPr>
          <p:cNvGraphicFramePr>
            <a:graphicFrameLocks noGrp="1"/>
          </p:cNvGraphicFramePr>
          <p:nvPr>
            <p:extLst>
              <p:ext uri="{D42A27DB-BD31-4B8C-83A1-F6EECF244321}">
                <p14:modId xmlns:p14="http://schemas.microsoft.com/office/powerpoint/2010/main" val="3405567715"/>
              </p:ext>
            </p:extLst>
          </p:nvPr>
        </p:nvGraphicFramePr>
        <p:xfrm>
          <a:off x="7548756" y="268525"/>
          <a:ext cx="6421793" cy="5738234"/>
        </p:xfrm>
        <a:graphic>
          <a:graphicData uri="http://schemas.openxmlformats.org/drawingml/2006/table">
            <a:tbl>
              <a:tblPr>
                <a:tableStyleId>{5940675A-B579-460E-94D1-54222C63F5DA}</a:tableStyleId>
              </a:tblPr>
              <a:tblGrid>
                <a:gridCol w="1704588">
                  <a:extLst>
                    <a:ext uri="{9D8B030D-6E8A-4147-A177-3AD203B41FA5}">
                      <a16:colId xmlns:a16="http://schemas.microsoft.com/office/drawing/2014/main" val="3060913007"/>
                    </a:ext>
                  </a:extLst>
                </a:gridCol>
                <a:gridCol w="1544719">
                  <a:extLst>
                    <a:ext uri="{9D8B030D-6E8A-4147-A177-3AD203B41FA5}">
                      <a16:colId xmlns:a16="http://schemas.microsoft.com/office/drawing/2014/main" val="1220998247"/>
                    </a:ext>
                  </a:extLst>
                </a:gridCol>
                <a:gridCol w="1486584">
                  <a:extLst>
                    <a:ext uri="{9D8B030D-6E8A-4147-A177-3AD203B41FA5}">
                      <a16:colId xmlns:a16="http://schemas.microsoft.com/office/drawing/2014/main" val="886200873"/>
                    </a:ext>
                  </a:extLst>
                </a:gridCol>
                <a:gridCol w="1685902">
                  <a:extLst>
                    <a:ext uri="{9D8B030D-6E8A-4147-A177-3AD203B41FA5}">
                      <a16:colId xmlns:a16="http://schemas.microsoft.com/office/drawing/2014/main" val="1669073662"/>
                    </a:ext>
                  </a:extLst>
                </a:gridCol>
              </a:tblGrid>
              <a:tr h="1134430">
                <a:tc>
                  <a:txBody>
                    <a:bodyPr/>
                    <a:lstStyle/>
                    <a:p>
                      <a:pPr algn="ctr" fontAlgn="base"/>
                      <a:r>
                        <a:rPr lang="en-US" sz="1800" b="1" dirty="0">
                          <a:effectLst/>
                        </a:rPr>
                        <a:t>Version</a:t>
                      </a:r>
                    </a:p>
                  </a:txBody>
                  <a:tcPr marT="128016" marB="128016" anchor="ctr"/>
                </a:tc>
                <a:tc>
                  <a:txBody>
                    <a:bodyPr/>
                    <a:lstStyle/>
                    <a:p>
                      <a:pPr algn="ctr" fontAlgn="base"/>
                      <a:r>
                        <a:rPr lang="en-US" sz="1800" b="1" dirty="0">
                          <a:effectLst/>
                        </a:rPr>
                        <a:t>Introduced in</a:t>
                      </a:r>
                    </a:p>
                  </a:txBody>
                  <a:tcPr marT="128016" marB="128016" anchor="ctr"/>
                </a:tc>
                <a:tc>
                  <a:txBody>
                    <a:bodyPr/>
                    <a:lstStyle/>
                    <a:p>
                      <a:pPr algn="ctr" fontAlgn="base"/>
                      <a:r>
                        <a:rPr lang="en-US" sz="1800" b="1" dirty="0">
                          <a:effectLst/>
                        </a:rPr>
                        <a:t>Frequency band used</a:t>
                      </a:r>
                    </a:p>
                  </a:txBody>
                  <a:tcPr marT="128016" marB="128016" anchor="ctr"/>
                </a:tc>
                <a:tc>
                  <a:txBody>
                    <a:bodyPr/>
                    <a:lstStyle/>
                    <a:p>
                      <a:pPr algn="ctr" fontAlgn="base"/>
                      <a:r>
                        <a:rPr lang="en-US" sz="1800" b="1" dirty="0">
                          <a:effectLst/>
                        </a:rPr>
                        <a:t>Maximum speed provided</a:t>
                      </a:r>
                    </a:p>
                  </a:txBody>
                  <a:tcPr marT="128016" marB="128016" anchor="ctr"/>
                </a:tc>
                <a:extLst>
                  <a:ext uri="{0D108BD9-81ED-4DB2-BD59-A6C34878D82A}">
                    <a16:rowId xmlns:a16="http://schemas.microsoft.com/office/drawing/2014/main" val="1692839777"/>
                  </a:ext>
                </a:extLst>
              </a:tr>
              <a:tr h="583736">
                <a:tc>
                  <a:txBody>
                    <a:bodyPr/>
                    <a:lstStyle/>
                    <a:p>
                      <a:pPr algn="ctr" fontAlgn="base"/>
                      <a:r>
                        <a:rPr lang="en-US" sz="1800">
                          <a:effectLst/>
                        </a:rPr>
                        <a:t>IEEE 802.11a</a:t>
                      </a:r>
                      <a:endParaRPr lang="en-US" sz="1800" b="0">
                        <a:effectLst/>
                      </a:endParaRPr>
                    </a:p>
                  </a:txBody>
                  <a:tcPr marT="128016" marB="128016" anchor="ctr"/>
                </a:tc>
                <a:tc>
                  <a:txBody>
                    <a:bodyPr/>
                    <a:lstStyle/>
                    <a:p>
                      <a:pPr algn="ctr" fontAlgn="base"/>
                      <a:r>
                        <a:rPr lang="en-US" sz="1800" dirty="0">
                          <a:effectLst/>
                        </a:rPr>
                        <a:t>1999</a:t>
                      </a:r>
                      <a:endParaRPr lang="en-US" sz="1800" b="0" dirty="0">
                        <a:effectLst/>
                      </a:endParaRPr>
                    </a:p>
                  </a:txBody>
                  <a:tcPr marT="128016" marB="128016" anchor="ctr"/>
                </a:tc>
                <a:tc>
                  <a:txBody>
                    <a:bodyPr/>
                    <a:lstStyle/>
                    <a:p>
                      <a:pPr algn="ctr" fontAlgn="base"/>
                      <a:r>
                        <a:rPr lang="en-US" sz="1800">
                          <a:effectLst/>
                        </a:rPr>
                        <a:t>5 GHz</a:t>
                      </a:r>
                      <a:endParaRPr lang="en-US" sz="1800" b="0">
                        <a:effectLst/>
                      </a:endParaRPr>
                    </a:p>
                  </a:txBody>
                  <a:tcPr marT="128016" marB="128016" anchor="ctr"/>
                </a:tc>
                <a:tc>
                  <a:txBody>
                    <a:bodyPr/>
                    <a:lstStyle/>
                    <a:p>
                      <a:pPr algn="ctr" fontAlgn="base"/>
                      <a:r>
                        <a:rPr lang="en-US" sz="1800">
                          <a:effectLst/>
                        </a:rPr>
                        <a:t>54 Mbps</a:t>
                      </a:r>
                      <a:endParaRPr lang="en-US" sz="1800" b="0">
                        <a:effectLst/>
                      </a:endParaRPr>
                    </a:p>
                  </a:txBody>
                  <a:tcPr marT="128016" marB="128016" anchor="ctr"/>
                </a:tc>
                <a:extLst>
                  <a:ext uri="{0D108BD9-81ED-4DB2-BD59-A6C34878D82A}">
                    <a16:rowId xmlns:a16="http://schemas.microsoft.com/office/drawing/2014/main" val="2494774935"/>
                  </a:ext>
                </a:extLst>
              </a:tr>
              <a:tr h="583736">
                <a:tc>
                  <a:txBody>
                    <a:bodyPr/>
                    <a:lstStyle/>
                    <a:p>
                      <a:pPr algn="ctr" fontAlgn="base"/>
                      <a:r>
                        <a:rPr lang="en-US" sz="1800">
                          <a:effectLst/>
                        </a:rPr>
                        <a:t>IEEE 802.11b</a:t>
                      </a:r>
                      <a:endParaRPr lang="en-US" sz="1800" b="0">
                        <a:effectLst/>
                      </a:endParaRPr>
                    </a:p>
                  </a:txBody>
                  <a:tcPr marT="128016" marB="128016" anchor="ctr"/>
                </a:tc>
                <a:tc>
                  <a:txBody>
                    <a:bodyPr/>
                    <a:lstStyle/>
                    <a:p>
                      <a:pPr algn="ctr" fontAlgn="base"/>
                      <a:r>
                        <a:rPr lang="en-US" sz="1800" dirty="0">
                          <a:effectLst/>
                        </a:rPr>
                        <a:t>1999</a:t>
                      </a:r>
                      <a:endParaRPr lang="en-US" sz="1800" b="0" dirty="0">
                        <a:effectLst/>
                      </a:endParaRPr>
                    </a:p>
                  </a:txBody>
                  <a:tcPr marT="128016" marB="128016" anchor="ctr"/>
                </a:tc>
                <a:tc>
                  <a:txBody>
                    <a:bodyPr/>
                    <a:lstStyle/>
                    <a:p>
                      <a:pPr algn="ctr" fontAlgn="base"/>
                      <a:r>
                        <a:rPr lang="en-US" sz="1800">
                          <a:effectLst/>
                        </a:rPr>
                        <a:t>2.4 GHz</a:t>
                      </a:r>
                      <a:endParaRPr lang="en-US" sz="1800" b="0">
                        <a:effectLst/>
                      </a:endParaRPr>
                    </a:p>
                  </a:txBody>
                  <a:tcPr marT="128016" marB="128016" anchor="ctr"/>
                </a:tc>
                <a:tc>
                  <a:txBody>
                    <a:bodyPr/>
                    <a:lstStyle/>
                    <a:p>
                      <a:pPr algn="ctr" fontAlgn="base"/>
                      <a:r>
                        <a:rPr lang="en-US" sz="1800">
                          <a:effectLst/>
                        </a:rPr>
                        <a:t>11 Mbps</a:t>
                      </a:r>
                      <a:endParaRPr lang="en-US" sz="1800" b="0">
                        <a:effectLst/>
                      </a:endParaRPr>
                    </a:p>
                  </a:txBody>
                  <a:tcPr marT="128016" marB="128016" anchor="ctr"/>
                </a:tc>
                <a:extLst>
                  <a:ext uri="{0D108BD9-81ED-4DB2-BD59-A6C34878D82A}">
                    <a16:rowId xmlns:a16="http://schemas.microsoft.com/office/drawing/2014/main" val="4206745524"/>
                  </a:ext>
                </a:extLst>
              </a:tr>
              <a:tr h="583736">
                <a:tc>
                  <a:txBody>
                    <a:bodyPr/>
                    <a:lstStyle/>
                    <a:p>
                      <a:pPr algn="ctr" fontAlgn="base"/>
                      <a:r>
                        <a:rPr lang="en-US" sz="1800" dirty="0">
                          <a:effectLst/>
                        </a:rPr>
                        <a:t>IEEE 802.11g</a:t>
                      </a:r>
                      <a:endParaRPr lang="en-US" sz="1800" b="0" dirty="0">
                        <a:effectLst/>
                      </a:endParaRPr>
                    </a:p>
                  </a:txBody>
                  <a:tcPr marT="128016" marB="128016" anchor="ctr"/>
                </a:tc>
                <a:tc>
                  <a:txBody>
                    <a:bodyPr/>
                    <a:lstStyle/>
                    <a:p>
                      <a:pPr algn="ctr" fontAlgn="base"/>
                      <a:r>
                        <a:rPr lang="en-US" sz="1800" dirty="0">
                          <a:effectLst/>
                        </a:rPr>
                        <a:t>2003</a:t>
                      </a:r>
                      <a:endParaRPr lang="en-US" sz="1800" b="0" dirty="0">
                        <a:effectLst/>
                      </a:endParaRPr>
                    </a:p>
                  </a:txBody>
                  <a:tcPr marT="128016" marB="128016" anchor="ctr"/>
                </a:tc>
                <a:tc>
                  <a:txBody>
                    <a:bodyPr/>
                    <a:lstStyle/>
                    <a:p>
                      <a:pPr algn="ctr" fontAlgn="base"/>
                      <a:r>
                        <a:rPr lang="en-US" sz="1800" dirty="0">
                          <a:effectLst/>
                        </a:rPr>
                        <a:t>2.4 GHz</a:t>
                      </a:r>
                      <a:endParaRPr lang="en-US" sz="1800" b="0" dirty="0">
                        <a:effectLst/>
                      </a:endParaRPr>
                    </a:p>
                  </a:txBody>
                  <a:tcPr marT="128016" marB="128016" anchor="ctr"/>
                </a:tc>
                <a:tc>
                  <a:txBody>
                    <a:bodyPr/>
                    <a:lstStyle/>
                    <a:p>
                      <a:pPr algn="ctr" fontAlgn="base"/>
                      <a:r>
                        <a:rPr lang="en-US" sz="1800">
                          <a:effectLst/>
                        </a:rPr>
                        <a:t>54 Mbps</a:t>
                      </a:r>
                      <a:endParaRPr lang="en-US" sz="1800" b="0">
                        <a:effectLst/>
                      </a:endParaRPr>
                    </a:p>
                  </a:txBody>
                  <a:tcPr marT="128016" marB="128016" anchor="ctr"/>
                </a:tc>
                <a:extLst>
                  <a:ext uri="{0D108BD9-81ED-4DB2-BD59-A6C34878D82A}">
                    <a16:rowId xmlns:a16="http://schemas.microsoft.com/office/drawing/2014/main" val="206756056"/>
                  </a:ext>
                </a:extLst>
              </a:tr>
              <a:tr h="1134430">
                <a:tc>
                  <a:txBody>
                    <a:bodyPr/>
                    <a:lstStyle/>
                    <a:p>
                      <a:pPr algn="ctr" fontAlgn="base"/>
                      <a:r>
                        <a:rPr lang="en-US" sz="1800">
                          <a:effectLst/>
                        </a:rPr>
                        <a:t>IEEE 802.11n</a:t>
                      </a:r>
                      <a:endParaRPr lang="en-US" sz="1800" b="0">
                        <a:effectLst/>
                      </a:endParaRPr>
                    </a:p>
                  </a:txBody>
                  <a:tcPr marT="128016" marB="128016" anchor="ctr"/>
                </a:tc>
                <a:tc>
                  <a:txBody>
                    <a:bodyPr/>
                    <a:lstStyle/>
                    <a:p>
                      <a:pPr algn="ctr" fontAlgn="base"/>
                      <a:r>
                        <a:rPr lang="en-US" sz="1800" dirty="0">
                          <a:effectLst/>
                        </a:rPr>
                        <a:t>2009</a:t>
                      </a:r>
                      <a:endParaRPr lang="en-US" sz="1800" b="0" dirty="0">
                        <a:effectLst/>
                      </a:endParaRPr>
                    </a:p>
                  </a:txBody>
                  <a:tcPr marT="128016" marB="128016" anchor="ctr"/>
                </a:tc>
                <a:tc>
                  <a:txBody>
                    <a:bodyPr/>
                    <a:lstStyle/>
                    <a:p>
                      <a:pPr algn="ctr" fontAlgn="base"/>
                      <a:r>
                        <a:rPr lang="en-US" sz="1800" dirty="0">
                          <a:effectLst/>
                        </a:rPr>
                        <a:t>Both 2.4 GHz and 5 GHz</a:t>
                      </a:r>
                      <a:endParaRPr lang="en-US" sz="1800" b="0" dirty="0">
                        <a:effectLst/>
                      </a:endParaRPr>
                    </a:p>
                  </a:txBody>
                  <a:tcPr marT="128016" marB="128016" anchor="ctr"/>
                </a:tc>
                <a:tc>
                  <a:txBody>
                    <a:bodyPr/>
                    <a:lstStyle/>
                    <a:p>
                      <a:pPr algn="ctr" fontAlgn="base"/>
                      <a:r>
                        <a:rPr lang="en-US" sz="1800" dirty="0">
                          <a:effectLst/>
                        </a:rPr>
                        <a:t>600 Mbps</a:t>
                      </a:r>
                      <a:endParaRPr lang="en-US" sz="1800" b="0" dirty="0">
                        <a:effectLst/>
                      </a:endParaRPr>
                    </a:p>
                  </a:txBody>
                  <a:tcPr marT="128016" marB="128016" anchor="ctr"/>
                </a:tc>
                <a:extLst>
                  <a:ext uri="{0D108BD9-81ED-4DB2-BD59-A6C34878D82A}">
                    <a16:rowId xmlns:a16="http://schemas.microsoft.com/office/drawing/2014/main" val="2415378913"/>
                  </a:ext>
                </a:extLst>
              </a:tr>
              <a:tr h="583736">
                <a:tc>
                  <a:txBody>
                    <a:bodyPr/>
                    <a:lstStyle/>
                    <a:p>
                      <a:pPr algn="ctr" fontAlgn="base"/>
                      <a:r>
                        <a:rPr lang="en-US" sz="1800">
                          <a:effectLst/>
                        </a:rPr>
                        <a:t>IEEE 802.11ac</a:t>
                      </a:r>
                      <a:endParaRPr lang="en-US" sz="1800" b="0">
                        <a:effectLst/>
                      </a:endParaRPr>
                    </a:p>
                  </a:txBody>
                  <a:tcPr marT="128016" marB="128016" anchor="ctr"/>
                </a:tc>
                <a:tc>
                  <a:txBody>
                    <a:bodyPr/>
                    <a:lstStyle/>
                    <a:p>
                      <a:pPr algn="ctr" fontAlgn="base"/>
                      <a:r>
                        <a:rPr lang="en-US" sz="1800">
                          <a:effectLst/>
                        </a:rPr>
                        <a:t> 2013 </a:t>
                      </a:r>
                      <a:endParaRPr lang="en-US" sz="1800" b="0">
                        <a:effectLst/>
                      </a:endParaRPr>
                    </a:p>
                  </a:txBody>
                  <a:tcPr marT="128016" marB="128016" anchor="ctr"/>
                </a:tc>
                <a:tc>
                  <a:txBody>
                    <a:bodyPr/>
                    <a:lstStyle/>
                    <a:p>
                      <a:pPr algn="ctr" fontAlgn="base"/>
                      <a:r>
                        <a:rPr lang="en-US" sz="1800">
                          <a:effectLst/>
                        </a:rPr>
                        <a:t>5 GHz</a:t>
                      </a:r>
                      <a:endParaRPr lang="en-US" sz="1800" b="0">
                        <a:effectLst/>
                      </a:endParaRPr>
                    </a:p>
                  </a:txBody>
                  <a:tcPr marT="128016" marB="128016" anchor="ctr"/>
                </a:tc>
                <a:tc>
                  <a:txBody>
                    <a:bodyPr/>
                    <a:lstStyle/>
                    <a:p>
                      <a:pPr algn="ctr" fontAlgn="base"/>
                      <a:r>
                        <a:rPr lang="en-US" sz="1800" dirty="0">
                          <a:effectLst/>
                        </a:rPr>
                        <a:t>1.3 Gbps</a:t>
                      </a:r>
                      <a:endParaRPr lang="en-US" sz="1800" b="0" dirty="0">
                        <a:effectLst/>
                      </a:endParaRPr>
                    </a:p>
                  </a:txBody>
                  <a:tcPr marT="128016" marB="128016" anchor="ctr"/>
                </a:tc>
                <a:extLst>
                  <a:ext uri="{0D108BD9-81ED-4DB2-BD59-A6C34878D82A}">
                    <a16:rowId xmlns:a16="http://schemas.microsoft.com/office/drawing/2014/main" val="572324786"/>
                  </a:ext>
                </a:extLst>
              </a:tr>
              <a:tr h="1134430">
                <a:tc>
                  <a:txBody>
                    <a:bodyPr/>
                    <a:lstStyle/>
                    <a:p>
                      <a:pPr algn="ctr" fontAlgn="base"/>
                      <a:r>
                        <a:rPr lang="en-US" sz="1800">
                          <a:effectLst/>
                        </a:rPr>
                        <a:t>IEEE 802.11ax</a:t>
                      </a:r>
                      <a:endParaRPr lang="en-US" sz="1800" b="0">
                        <a:effectLst/>
                      </a:endParaRPr>
                    </a:p>
                  </a:txBody>
                  <a:tcPr marT="128016" marB="128016" anchor="ctr"/>
                </a:tc>
                <a:tc>
                  <a:txBody>
                    <a:bodyPr/>
                    <a:lstStyle/>
                    <a:p>
                      <a:pPr algn="ctr" fontAlgn="base"/>
                      <a:r>
                        <a:rPr lang="en-US" sz="1800">
                          <a:effectLst/>
                        </a:rPr>
                        <a:t>2019</a:t>
                      </a:r>
                      <a:endParaRPr lang="en-US" sz="1800" b="0">
                        <a:effectLst/>
                      </a:endParaRPr>
                    </a:p>
                  </a:txBody>
                  <a:tcPr marT="128016" marB="128016" anchor="ctr"/>
                </a:tc>
                <a:tc>
                  <a:txBody>
                    <a:bodyPr/>
                    <a:lstStyle/>
                    <a:p>
                      <a:pPr algn="ctr" fontAlgn="base"/>
                      <a:r>
                        <a:rPr lang="en-US" sz="1800">
                          <a:effectLst/>
                        </a:rPr>
                        <a:t>Both 2.4 GHz and 5 GHz</a:t>
                      </a:r>
                      <a:endParaRPr lang="en-US" sz="1800" b="0">
                        <a:effectLst/>
                      </a:endParaRPr>
                    </a:p>
                  </a:txBody>
                  <a:tcPr marT="128016" marB="128016" anchor="ctr"/>
                </a:tc>
                <a:tc>
                  <a:txBody>
                    <a:bodyPr/>
                    <a:lstStyle/>
                    <a:p>
                      <a:pPr algn="ctr" fontAlgn="base"/>
                      <a:r>
                        <a:rPr lang="en-US" sz="1800" dirty="0">
                          <a:effectLst/>
                        </a:rPr>
                        <a:t>Up to 10 Gbps</a:t>
                      </a:r>
                      <a:endParaRPr lang="en-US" sz="1800" b="0" dirty="0">
                        <a:effectLst/>
                      </a:endParaRPr>
                    </a:p>
                  </a:txBody>
                  <a:tcPr marT="128016" marB="128016" anchor="ctr"/>
                </a:tc>
                <a:extLst>
                  <a:ext uri="{0D108BD9-81ED-4DB2-BD59-A6C34878D82A}">
                    <a16:rowId xmlns:a16="http://schemas.microsoft.com/office/drawing/2014/main" val="287911340"/>
                  </a:ext>
                </a:extLst>
              </a:tr>
            </a:tbl>
          </a:graphicData>
        </a:graphic>
      </p:graphicFrame>
    </p:spTree>
    <p:extLst>
      <p:ext uri="{BB962C8B-B14F-4D97-AF65-F5344CB8AC3E}">
        <p14:creationId xmlns:p14="http://schemas.microsoft.com/office/powerpoint/2010/main" val="33643298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72E50-749A-4301-B89B-1CA3DF53A43F}"/>
              </a:ext>
            </a:extLst>
          </p:cNvPr>
          <p:cNvSpPr>
            <a:spLocks noGrp="1"/>
          </p:cNvSpPr>
          <p:nvPr>
            <p:ph type="title"/>
          </p:nvPr>
        </p:nvSpPr>
        <p:spPr/>
        <p:txBody>
          <a:bodyPr/>
          <a:lstStyle/>
          <a:p>
            <a:r>
              <a:rPr lang="en-US" dirty="0"/>
              <a:t>WAP Security issues</a:t>
            </a:r>
          </a:p>
        </p:txBody>
      </p:sp>
      <p:sp>
        <p:nvSpPr>
          <p:cNvPr id="3" name="Content Placeholder 2">
            <a:extLst>
              <a:ext uri="{FF2B5EF4-FFF2-40B4-BE49-F238E27FC236}">
                <a16:creationId xmlns:a16="http://schemas.microsoft.com/office/drawing/2014/main" id="{2591298D-3034-4E70-8CA0-7701B0181B98}"/>
              </a:ext>
            </a:extLst>
          </p:cNvPr>
          <p:cNvSpPr>
            <a:spLocks noGrp="1"/>
          </p:cNvSpPr>
          <p:nvPr>
            <p:ph idx="1"/>
          </p:nvPr>
        </p:nvSpPr>
        <p:spPr>
          <a:xfrm>
            <a:off x="1005840" y="1677792"/>
            <a:ext cx="9457913" cy="5893884"/>
          </a:xfrm>
        </p:spPr>
        <p:txBody>
          <a:bodyPr>
            <a:normAutofit lnSpcReduction="10000"/>
          </a:bodyPr>
          <a:lstStyle/>
          <a:p>
            <a:pPr algn="just"/>
            <a:r>
              <a:rPr lang="en-US" sz="2800" dirty="0"/>
              <a:t>Wireless access points are easy to install. As a result, many individuals within companies have taken it upon themselves to set up an authorized access point, without informing the network administrator. Typically, these access points are not protected, which means they can be used by an attacker just as they can by a valid user.</a:t>
            </a:r>
          </a:p>
          <a:p>
            <a:pPr algn="just"/>
            <a:r>
              <a:rPr lang="en-US" sz="2800" dirty="0"/>
              <a:t>Rogue access points can also be used to lure valid users away from their corporate network. If an attacker can set up an access point with a stronger signal than the valid one, the target’s computer automatically connects to the attacker’s AP.</a:t>
            </a:r>
          </a:p>
          <a:p>
            <a:pPr algn="just"/>
            <a:r>
              <a:rPr lang="en-US" sz="2800" dirty="0"/>
              <a:t>When a computer connects to an access point, it generally stores the details of that connection locally. The next time the computer is turned on, the wireless network card immediately looks for the connection and re-establishes the connection – without user intervention.</a:t>
            </a:r>
          </a:p>
        </p:txBody>
      </p:sp>
      <p:pic>
        <p:nvPicPr>
          <p:cNvPr id="4" name="Picture 3">
            <a:extLst>
              <a:ext uri="{FF2B5EF4-FFF2-40B4-BE49-F238E27FC236}">
                <a16:creationId xmlns:a16="http://schemas.microsoft.com/office/drawing/2014/main" id="{139D5829-7768-E695-B14C-B0C9E42500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2202" y="2190750"/>
            <a:ext cx="2622358" cy="3273547"/>
          </a:xfrm>
          <a:prstGeom prst="rect">
            <a:avLst/>
          </a:prstGeom>
        </p:spPr>
      </p:pic>
    </p:spTree>
    <p:extLst>
      <p:ext uri="{BB962C8B-B14F-4D97-AF65-F5344CB8AC3E}">
        <p14:creationId xmlns:p14="http://schemas.microsoft.com/office/powerpoint/2010/main" val="35107016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151C7-8961-4F4B-AC94-615617C70B4B}"/>
              </a:ext>
            </a:extLst>
          </p:cNvPr>
          <p:cNvSpPr>
            <a:spLocks noGrp="1"/>
          </p:cNvSpPr>
          <p:nvPr>
            <p:ph type="title"/>
          </p:nvPr>
        </p:nvSpPr>
        <p:spPr/>
        <p:txBody>
          <a:bodyPr/>
          <a:lstStyle/>
          <a:p>
            <a:r>
              <a:rPr lang="en-US" dirty="0"/>
              <a:t>WLAN Authentication and Encryption</a:t>
            </a:r>
          </a:p>
        </p:txBody>
      </p:sp>
      <p:sp>
        <p:nvSpPr>
          <p:cNvPr id="3" name="Content Placeholder 2">
            <a:extLst>
              <a:ext uri="{FF2B5EF4-FFF2-40B4-BE49-F238E27FC236}">
                <a16:creationId xmlns:a16="http://schemas.microsoft.com/office/drawing/2014/main" id="{A91D0764-16FB-4BB0-A180-DAA610FC68ED}"/>
              </a:ext>
            </a:extLst>
          </p:cNvPr>
          <p:cNvSpPr>
            <a:spLocks noGrp="1"/>
          </p:cNvSpPr>
          <p:nvPr>
            <p:ph idx="1"/>
          </p:nvPr>
        </p:nvSpPr>
        <p:spPr/>
        <p:txBody>
          <a:bodyPr/>
          <a:lstStyle/>
          <a:p>
            <a:pPr marL="0" indent="0">
              <a:buNone/>
            </a:pPr>
            <a:r>
              <a:rPr lang="en-US" dirty="0"/>
              <a:t>WLAN Encryption Methods</a:t>
            </a:r>
          </a:p>
          <a:p>
            <a:pPr marL="0" indent="0">
              <a:buNone/>
            </a:pPr>
            <a:r>
              <a:rPr lang="en-US" dirty="0"/>
              <a:t>Wired Equivalent Privacy (WEP)</a:t>
            </a:r>
          </a:p>
          <a:p>
            <a:pPr marL="0" indent="0">
              <a:buNone/>
            </a:pPr>
            <a:r>
              <a:rPr lang="en-US" dirty="0"/>
              <a:t>Wi-Fi Protected Access (WPA)</a:t>
            </a:r>
          </a:p>
          <a:p>
            <a:pPr marL="0" indent="0">
              <a:buNone/>
            </a:pPr>
            <a:r>
              <a:rPr lang="en-US" dirty="0"/>
              <a:t>Wi-Fi Protected Access 2 (WPA2)</a:t>
            </a:r>
          </a:p>
          <a:p>
            <a:endParaRPr lang="en-US" dirty="0"/>
          </a:p>
        </p:txBody>
      </p:sp>
    </p:spTree>
    <p:extLst>
      <p:ext uri="{BB962C8B-B14F-4D97-AF65-F5344CB8AC3E}">
        <p14:creationId xmlns:p14="http://schemas.microsoft.com/office/powerpoint/2010/main" val="13146218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983AF4-45AD-4FAE-87B0-F83A0A13F22A}"/>
              </a:ext>
            </a:extLst>
          </p:cNvPr>
          <p:cNvSpPr>
            <a:spLocks noGrp="1"/>
          </p:cNvSpPr>
          <p:nvPr>
            <p:ph idx="1"/>
          </p:nvPr>
        </p:nvSpPr>
        <p:spPr>
          <a:xfrm>
            <a:off x="551111" y="332293"/>
            <a:ext cx="12618720" cy="7546375"/>
          </a:xfrm>
        </p:spPr>
        <p:txBody>
          <a:bodyPr>
            <a:normAutofit/>
          </a:bodyPr>
          <a:lstStyle/>
          <a:p>
            <a:pPr marL="0" indent="0">
              <a:buNone/>
            </a:pPr>
            <a:r>
              <a:rPr lang="en-US" sz="2400" b="1" dirty="0"/>
              <a:t>Wired Equivalent Privacy (WEP)</a:t>
            </a:r>
          </a:p>
          <a:p>
            <a:pPr marL="0" indent="0">
              <a:buNone/>
            </a:pPr>
            <a:r>
              <a:rPr lang="en-US" sz="2160" dirty="0"/>
              <a:t>Features of WEP</a:t>
            </a:r>
          </a:p>
          <a:p>
            <a:r>
              <a:rPr lang="en-US" sz="2160" dirty="0"/>
              <a:t>WEP was introduced as a part of the IEEE 802.11 standard in 1997.</a:t>
            </a:r>
          </a:p>
          <a:p>
            <a:r>
              <a:rPr lang="en-US" sz="2160" dirty="0"/>
              <a:t>It was available for 802.11a and 802.11b devices.</a:t>
            </a:r>
          </a:p>
          <a:p>
            <a:r>
              <a:rPr lang="en-US" sz="2160" dirty="0"/>
              <a:t>WEP uses encryption of data to make it unrecognizable to eavesdroppers.</a:t>
            </a:r>
          </a:p>
          <a:p>
            <a:r>
              <a:rPr lang="en-US" sz="2160" dirty="0"/>
              <a:t>It uses RC4, a stream cipher, for encryption and CRC-32 checksum for confidentiality and integrity</a:t>
            </a:r>
          </a:p>
          <a:p>
            <a:r>
              <a:rPr lang="en-US" sz="2160" dirty="0"/>
              <a:t>The two widely used standards were WEP-40 and WEP-104.</a:t>
            </a:r>
          </a:p>
          <a:p>
            <a:r>
              <a:rPr lang="en-US" sz="2160" dirty="0"/>
              <a:t>In WEP-40, a 40 bit WEP key is concatenated with a 24 bit initialization vector, to generate a 64 bit RC4 key.</a:t>
            </a:r>
          </a:p>
          <a:p>
            <a:r>
              <a:rPr lang="en-US" sz="2160" dirty="0"/>
              <a:t>In WEP-104, a 104 bit WEP key is concatenated with the 24 bit initialization vector, to generate a 128 bit RC4 key.</a:t>
            </a:r>
          </a:p>
          <a:p>
            <a:r>
              <a:rPr lang="en-US" sz="2160" dirty="0"/>
              <a:t>WEP operates at the data link and physical layer.</a:t>
            </a:r>
          </a:p>
          <a:p>
            <a:r>
              <a:rPr lang="en-US" sz="2160" dirty="0"/>
              <a:t>It incorporates two authentication methods:</a:t>
            </a:r>
          </a:p>
          <a:p>
            <a:pPr lvl="1"/>
            <a:r>
              <a:rPr lang="en-US" sz="1920" dirty="0"/>
              <a:t>Open System authentication</a:t>
            </a:r>
          </a:p>
          <a:p>
            <a:pPr lvl="1"/>
            <a:r>
              <a:rPr lang="en-US" sz="1920" dirty="0"/>
              <a:t>Shared Key authentication</a:t>
            </a:r>
          </a:p>
        </p:txBody>
      </p:sp>
    </p:spTree>
    <p:extLst>
      <p:ext uri="{BB962C8B-B14F-4D97-AF65-F5344CB8AC3E}">
        <p14:creationId xmlns:p14="http://schemas.microsoft.com/office/powerpoint/2010/main" val="14921602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D3982-067E-4C49-B027-F749669932A4}"/>
              </a:ext>
            </a:extLst>
          </p:cNvPr>
          <p:cNvSpPr>
            <a:spLocks noGrp="1"/>
          </p:cNvSpPr>
          <p:nvPr>
            <p:ph type="title"/>
          </p:nvPr>
        </p:nvSpPr>
        <p:spPr/>
        <p:txBody>
          <a:bodyPr/>
          <a:lstStyle/>
          <a:p>
            <a:r>
              <a:rPr lang="en-US" dirty="0"/>
              <a:t>Wi-Fi Protected Access (WPA)</a:t>
            </a:r>
          </a:p>
        </p:txBody>
      </p:sp>
      <p:sp>
        <p:nvSpPr>
          <p:cNvPr id="3" name="Content Placeholder 2">
            <a:extLst>
              <a:ext uri="{FF2B5EF4-FFF2-40B4-BE49-F238E27FC236}">
                <a16:creationId xmlns:a16="http://schemas.microsoft.com/office/drawing/2014/main" id="{558D66BA-C753-4510-9452-B597BE61208E}"/>
              </a:ext>
            </a:extLst>
          </p:cNvPr>
          <p:cNvSpPr>
            <a:spLocks noGrp="1"/>
          </p:cNvSpPr>
          <p:nvPr>
            <p:ph idx="1"/>
          </p:nvPr>
        </p:nvSpPr>
        <p:spPr/>
        <p:txBody>
          <a:bodyPr>
            <a:normAutofit/>
          </a:bodyPr>
          <a:lstStyle/>
          <a:p>
            <a:r>
              <a:rPr lang="en-US" sz="2160" dirty="0"/>
              <a:t>WPA was initially released in 2003. The Wi-Fi Alliance defined WPA as a response to serious weaknesses found in the WEP protocol. </a:t>
            </a:r>
          </a:p>
          <a:p>
            <a:r>
              <a:rPr lang="en-US" sz="2160" dirty="0"/>
              <a:t>New updates and features of WPA3 include:</a:t>
            </a:r>
          </a:p>
          <a:p>
            <a:r>
              <a:rPr lang="en-US" sz="2160" dirty="0"/>
              <a:t>256-bit Galois/Counter Mode Protocol encryption (GCMP-256);</a:t>
            </a:r>
          </a:p>
          <a:p>
            <a:r>
              <a:rPr lang="en-US" sz="2160" dirty="0"/>
              <a:t>384-bit Hashed Message Authentication Mode (</a:t>
            </a:r>
            <a:r>
              <a:rPr lang="en-US" sz="2160" u="sng" dirty="0">
                <a:hlinkClick r:id="rId2"/>
              </a:rPr>
              <a:t>HMAC</a:t>
            </a:r>
            <a:r>
              <a:rPr lang="en-US" sz="2160" dirty="0"/>
              <a:t>);</a:t>
            </a:r>
          </a:p>
          <a:p>
            <a:r>
              <a:rPr lang="en-US" sz="2160" dirty="0"/>
              <a:t>256-bit Broadcast/Multicast Integrity Protocol (BIP-GMAC-256);</a:t>
            </a:r>
          </a:p>
          <a:p>
            <a:r>
              <a:rPr lang="en-US" sz="2160" dirty="0"/>
              <a:t>an equivalent 192-bit cryptographic strength (in WPA3-EAP enterprise mode);</a:t>
            </a:r>
          </a:p>
          <a:p>
            <a:endParaRPr lang="en-US" sz="2160" dirty="0"/>
          </a:p>
        </p:txBody>
      </p:sp>
    </p:spTree>
    <p:extLst>
      <p:ext uri="{BB962C8B-B14F-4D97-AF65-F5344CB8AC3E}">
        <p14:creationId xmlns:p14="http://schemas.microsoft.com/office/powerpoint/2010/main" val="40154611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79BACB9A-5B70-4020-8958-FCB1CBA9E3EE}"/>
              </a:ext>
            </a:extLst>
          </p:cNvPr>
          <p:cNvGraphicFramePr>
            <a:graphicFrameLocks noGrp="1"/>
          </p:cNvGraphicFramePr>
          <p:nvPr>
            <p:ph idx="1"/>
            <p:extLst>
              <p:ext uri="{D42A27DB-BD31-4B8C-83A1-F6EECF244321}">
                <p14:modId xmlns:p14="http://schemas.microsoft.com/office/powerpoint/2010/main" val="3581374714"/>
              </p:ext>
            </p:extLst>
          </p:nvPr>
        </p:nvGraphicFramePr>
        <p:xfrm>
          <a:off x="635620" y="640207"/>
          <a:ext cx="13380194" cy="7548950"/>
        </p:xfrm>
        <a:graphic>
          <a:graphicData uri="http://schemas.openxmlformats.org/drawingml/2006/table">
            <a:tbl>
              <a:tblPr/>
              <a:tblGrid>
                <a:gridCol w="6690097">
                  <a:extLst>
                    <a:ext uri="{9D8B030D-6E8A-4147-A177-3AD203B41FA5}">
                      <a16:colId xmlns:a16="http://schemas.microsoft.com/office/drawing/2014/main" val="2076977103"/>
                    </a:ext>
                  </a:extLst>
                </a:gridCol>
                <a:gridCol w="6690097">
                  <a:extLst>
                    <a:ext uri="{9D8B030D-6E8A-4147-A177-3AD203B41FA5}">
                      <a16:colId xmlns:a16="http://schemas.microsoft.com/office/drawing/2014/main" val="395281313"/>
                    </a:ext>
                  </a:extLst>
                </a:gridCol>
              </a:tblGrid>
              <a:tr h="487669">
                <a:tc>
                  <a:txBody>
                    <a:bodyPr/>
                    <a:lstStyle/>
                    <a:p>
                      <a:pPr algn="ctr" fontAlgn="base"/>
                      <a:r>
                        <a:rPr lang="en-CA" sz="1800" b="1" dirty="0">
                          <a:effectLst/>
                        </a:rPr>
                        <a:t>WEP</a:t>
                      </a:r>
                    </a:p>
                  </a:txBody>
                  <a:tcPr marL="38100" marR="38100" marT="76200" marB="7620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CA" sz="1800" b="1">
                          <a:effectLst/>
                        </a:rPr>
                        <a:t>WPA</a:t>
                      </a:r>
                    </a:p>
                  </a:txBody>
                  <a:tcPr marL="76200" marR="76200" marT="76200" marB="7620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050140705"/>
                  </a:ext>
                </a:extLst>
              </a:tr>
              <a:tr h="538467">
                <a:tc>
                  <a:txBody>
                    <a:bodyPr/>
                    <a:lstStyle/>
                    <a:p>
                      <a:pPr algn="ctr" fontAlgn="ctr"/>
                      <a:r>
                        <a:rPr lang="en-US" sz="1800" b="0" dirty="0">
                          <a:effectLst/>
                        </a:rPr>
                        <a:t>WEP stands for Wired Equivalent Privacy.</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800" b="0">
                          <a:effectLst/>
                        </a:rPr>
                        <a:t>WPA stands for Wi-Fi Protected Access.</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228844752"/>
                  </a:ext>
                </a:extLst>
              </a:tr>
              <a:tr h="792461">
                <a:tc>
                  <a:txBody>
                    <a:bodyPr/>
                    <a:lstStyle/>
                    <a:p>
                      <a:pPr algn="ctr" fontAlgn="ctr"/>
                      <a:r>
                        <a:rPr lang="en-US" sz="1800" b="0" dirty="0">
                          <a:effectLst/>
                        </a:rPr>
                        <a:t>It is a security protocol for wireless networks which provides data confidentiality comparable to a traditional wired network.</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800" b="0">
                          <a:effectLst/>
                        </a:rPr>
                        <a:t>It is a security protocol which is used in securing wireless networks and designed to replace the WEP protocol.</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584851429"/>
                  </a:ext>
                </a:extLst>
              </a:tr>
              <a:tr h="721557">
                <a:tc>
                  <a:txBody>
                    <a:bodyPr/>
                    <a:lstStyle/>
                    <a:p>
                      <a:pPr algn="ctr" fontAlgn="ctr"/>
                      <a:r>
                        <a:rPr lang="en-US" sz="1800" b="0" dirty="0">
                          <a:effectLst/>
                        </a:rPr>
                        <a:t>Introduced in 1999 means before WPA.</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800" b="0" dirty="0">
                          <a:effectLst/>
                        </a:rPr>
                        <a:t>Developed by the Wi-Fi Alliance in 2003 means after WEP.</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756240779"/>
                  </a:ext>
                </a:extLst>
              </a:tr>
              <a:tr h="538467">
                <a:tc>
                  <a:txBody>
                    <a:bodyPr/>
                    <a:lstStyle/>
                    <a:p>
                      <a:pPr algn="ctr" fontAlgn="ctr"/>
                      <a:r>
                        <a:rPr lang="en-US" sz="1800" b="0" dirty="0">
                          <a:effectLst/>
                        </a:rPr>
                        <a:t>It provides wireless security through the use of an encryption key.</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800" b="0">
                          <a:effectLst/>
                        </a:rPr>
                        <a:t>It provides wireless security through the use of a password.</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877974824"/>
                  </a:ext>
                </a:extLst>
              </a:tr>
              <a:tr h="792461">
                <a:tc>
                  <a:txBody>
                    <a:bodyPr/>
                    <a:lstStyle/>
                    <a:p>
                      <a:pPr algn="ctr" fontAlgn="ctr"/>
                      <a:r>
                        <a:rPr lang="en-US" sz="1800" b="0" u="sng" dirty="0">
                          <a:effectLst/>
                          <a:hlinkClick r:id="rId2"/>
                        </a:rPr>
                        <a:t>Data Privacy</a:t>
                      </a:r>
                      <a:r>
                        <a:rPr lang="en-US" sz="1800" b="0" dirty="0">
                          <a:effectLst/>
                        </a:rPr>
                        <a:t> (Encryption) method is </a:t>
                      </a:r>
                      <a:r>
                        <a:rPr lang="en-US" sz="1800" b="0" dirty="0" err="1">
                          <a:effectLst/>
                        </a:rPr>
                        <a:t>Rivest</a:t>
                      </a:r>
                      <a:r>
                        <a:rPr lang="en-US" sz="1800" b="0" dirty="0">
                          <a:effectLst/>
                        </a:rPr>
                        <a:t> Cipher 4 (RC4).</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800" b="0">
                          <a:effectLst/>
                        </a:rPr>
                        <a:t>Data Privacy (Encryption) method is Rivest Cipher 4 (RC4) and Temporal Key Integrity Protocol (TKIP).</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4177914265"/>
                  </a:ext>
                </a:extLst>
              </a:tr>
              <a:tr h="721557">
                <a:tc>
                  <a:txBody>
                    <a:bodyPr/>
                    <a:lstStyle/>
                    <a:p>
                      <a:pPr algn="ctr" fontAlgn="ctr"/>
                      <a:r>
                        <a:rPr lang="en-US" sz="1800" b="0" dirty="0">
                          <a:effectLst/>
                        </a:rPr>
                        <a:t>Authentication method in WEP is Open system authentication or shared key authentication.</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800" b="0" u="sng">
                          <a:effectLst/>
                          <a:hlinkClick r:id="rId3"/>
                        </a:rPr>
                        <a:t>Authentication</a:t>
                      </a:r>
                      <a:r>
                        <a:rPr lang="en-US" sz="1800" b="0">
                          <a:effectLst/>
                        </a:rPr>
                        <a:t> method in WPA is WPA-PSK and WPA-Enterprise.</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514541607"/>
                  </a:ext>
                </a:extLst>
              </a:tr>
              <a:tr h="538467">
                <a:tc>
                  <a:txBody>
                    <a:bodyPr/>
                    <a:lstStyle/>
                    <a:p>
                      <a:pPr algn="ctr" fontAlgn="ctr"/>
                      <a:r>
                        <a:rPr lang="en-US" sz="1800" b="0" dirty="0">
                          <a:effectLst/>
                        </a:rPr>
                        <a:t>Data integrity is provided through CRC 32.</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800" b="0" dirty="0">
                          <a:effectLst/>
                        </a:rPr>
                        <a:t>Data integrity is provided through Message integrity code.</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600810945"/>
                  </a:ext>
                </a:extLst>
              </a:tr>
              <a:tr h="538467">
                <a:tc>
                  <a:txBody>
                    <a:bodyPr/>
                    <a:lstStyle/>
                    <a:p>
                      <a:pPr algn="ctr" fontAlgn="ctr"/>
                      <a:r>
                        <a:rPr lang="en-US" sz="1800" b="0" dirty="0">
                          <a:effectLst/>
                        </a:rPr>
                        <a:t>It uses 40 bit key and 24-bit random number.</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800" b="0" dirty="0">
                          <a:effectLst/>
                        </a:rPr>
                        <a:t>WPA key is 256 bit key.</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864323519"/>
                  </a:ext>
                </a:extLst>
              </a:tr>
              <a:tr h="538467">
                <a:tc>
                  <a:txBody>
                    <a:bodyPr/>
                    <a:lstStyle/>
                    <a:p>
                      <a:pPr algn="ctr" fontAlgn="ctr"/>
                      <a:r>
                        <a:rPr lang="en-US" sz="1800" b="0">
                          <a:effectLst/>
                        </a:rPr>
                        <a:t>Key management is not provided in WEP.</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800" b="0" dirty="0">
                          <a:effectLst/>
                        </a:rPr>
                        <a:t>Key management is provided through 4 way handshaking mechanism.</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935151575"/>
                  </a:ext>
                </a:extLst>
              </a:tr>
              <a:tr h="538467">
                <a:tc>
                  <a:txBody>
                    <a:bodyPr/>
                    <a:lstStyle/>
                    <a:p>
                      <a:pPr algn="ctr" fontAlgn="ctr"/>
                      <a:r>
                        <a:rPr lang="en-US" sz="1800" b="0">
                          <a:effectLst/>
                        </a:rPr>
                        <a:t>In WEP no protection against reply attacks.</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800" b="0" dirty="0">
                          <a:effectLst/>
                        </a:rPr>
                        <a:t>In WPA sequence counter is implemented for reply protection.</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980309296"/>
                  </a:ext>
                </a:extLst>
              </a:tr>
              <a:tr h="721557">
                <a:tc>
                  <a:txBody>
                    <a:bodyPr/>
                    <a:lstStyle/>
                    <a:p>
                      <a:pPr algn="ctr" fontAlgn="ctr"/>
                      <a:r>
                        <a:rPr lang="en-US" sz="1800" b="0">
                          <a:effectLst/>
                        </a:rPr>
                        <a:t>It is possible to deploy on current hardware infrastructure.</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800" b="0" dirty="0">
                          <a:effectLst/>
                        </a:rPr>
                        <a:t>It is possible to deploy on both previous and current hardware infrastructure.</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619926887"/>
                  </a:ext>
                </a:extLst>
              </a:tr>
            </a:tbl>
          </a:graphicData>
        </a:graphic>
      </p:graphicFrame>
      <p:sp>
        <p:nvSpPr>
          <p:cNvPr id="5" name="Rectangle 1">
            <a:extLst>
              <a:ext uri="{FF2B5EF4-FFF2-40B4-BE49-F238E27FC236}">
                <a16:creationId xmlns:a16="http://schemas.microsoft.com/office/drawing/2014/main" id="{F4511345-FD39-460F-9503-C8D2BB8370F7}"/>
              </a:ext>
            </a:extLst>
          </p:cNvPr>
          <p:cNvSpPr>
            <a:spLocks noChangeArrowheads="1"/>
          </p:cNvSpPr>
          <p:nvPr/>
        </p:nvSpPr>
        <p:spPr bwMode="auto">
          <a:xfrm>
            <a:off x="838572" y="193459"/>
            <a:ext cx="7770169" cy="5539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273239"/>
                </a:solidFill>
                <a:effectLst/>
                <a:latin typeface="Nunito"/>
              </a:rPr>
              <a:t>Difference between WEP and WPA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350672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F9BA408-D041-4669-93C8-4FED5DA7778B}"/>
              </a:ext>
            </a:extLst>
          </p:cNvPr>
          <p:cNvSpPr/>
          <p:nvPr/>
        </p:nvSpPr>
        <p:spPr>
          <a:xfrm>
            <a:off x="310266" y="221426"/>
            <a:ext cx="14009868" cy="7863691"/>
          </a:xfrm>
          <a:prstGeom prst="rect">
            <a:avLst/>
          </a:prstGeom>
        </p:spPr>
        <p:txBody>
          <a:bodyPr wrap="square">
            <a:spAutoFit/>
          </a:bodyPr>
          <a:lstStyle/>
          <a:p>
            <a:pPr fontAlgn="base"/>
            <a:r>
              <a:rPr lang="en-US" sz="2200" b="1" dirty="0">
                <a:solidFill>
                  <a:srgbClr val="273239"/>
                </a:solidFill>
                <a:latin typeface="Nunito"/>
              </a:rPr>
              <a:t>What is WPA2?</a:t>
            </a:r>
          </a:p>
          <a:p>
            <a:pPr algn="just" fontAlgn="base"/>
            <a:r>
              <a:rPr lang="en-US" sz="2200" dirty="0">
                <a:solidFill>
                  <a:srgbClr val="273239"/>
                </a:solidFill>
                <a:latin typeface="Nunito"/>
              </a:rPr>
              <a:t>WPA2 has been a pivotal aspect of </a:t>
            </a:r>
            <a:r>
              <a:rPr lang="en-US" sz="2200" u="sng" dirty="0">
                <a:solidFill>
                  <a:srgbClr val="273239"/>
                </a:solidFill>
                <a:latin typeface="Nunito"/>
                <a:hlinkClick r:id="rId2"/>
              </a:rPr>
              <a:t>Wi-Fi security </a:t>
            </a:r>
            <a:r>
              <a:rPr lang="en-US" sz="2200" dirty="0">
                <a:solidFill>
                  <a:srgbClr val="273239"/>
                </a:solidFill>
                <a:latin typeface="Nunito"/>
              </a:rPr>
              <a:t>for many years, offering strong encryption and authentication methods to protect wireless networks. It relies on the Advanced Encryption Standard (AES) for secure data transmission and utilizes a specific handshake process to establish trusted connections between devices and access points. Despite its effectiveness, WPA2 has experienced vulnerabilities such as the KRACK exploit, highlighting the necessity for a more resilient security protocol.</a:t>
            </a:r>
          </a:p>
          <a:p>
            <a:pPr fontAlgn="base"/>
            <a:endParaRPr lang="en-US" sz="1200" b="1" dirty="0">
              <a:solidFill>
                <a:srgbClr val="273239"/>
              </a:solidFill>
              <a:latin typeface="Nunito"/>
            </a:endParaRPr>
          </a:p>
          <a:p>
            <a:pPr fontAlgn="base"/>
            <a:r>
              <a:rPr lang="en-US" sz="2200" b="1" dirty="0">
                <a:solidFill>
                  <a:srgbClr val="273239"/>
                </a:solidFill>
                <a:latin typeface="Nunito"/>
              </a:rPr>
              <a:t>Features of WPA2</a:t>
            </a:r>
          </a:p>
          <a:p>
            <a:pPr fontAlgn="base"/>
            <a:r>
              <a:rPr lang="en-US" sz="2200" b="1" dirty="0">
                <a:solidFill>
                  <a:srgbClr val="273239"/>
                </a:solidFill>
                <a:latin typeface="Nunito"/>
              </a:rPr>
              <a:t>1. Advanced Encryption Standard (AES): H</a:t>
            </a:r>
            <a:r>
              <a:rPr lang="en-US" sz="2200" dirty="0">
                <a:solidFill>
                  <a:srgbClr val="273239"/>
                </a:solidFill>
                <a:latin typeface="Nunito"/>
              </a:rPr>
              <a:t>ighly secure </a:t>
            </a:r>
            <a:r>
              <a:rPr lang="en-US" sz="2200" u="sng" dirty="0">
                <a:solidFill>
                  <a:srgbClr val="273239"/>
                </a:solidFill>
                <a:latin typeface="Nunito"/>
                <a:hlinkClick r:id="rId3"/>
              </a:rPr>
              <a:t>encryption algorithm</a:t>
            </a:r>
            <a:r>
              <a:rPr lang="en-US" sz="2200" dirty="0">
                <a:solidFill>
                  <a:srgbClr val="273239"/>
                </a:solidFill>
                <a:latin typeface="Nunito"/>
              </a:rPr>
              <a:t>, to ensure robust protection for data transmitted across wireless networks.</a:t>
            </a:r>
          </a:p>
          <a:p>
            <a:pPr fontAlgn="base"/>
            <a:endParaRPr lang="en-US" sz="900" b="1" dirty="0">
              <a:solidFill>
                <a:srgbClr val="273239"/>
              </a:solidFill>
              <a:latin typeface="Nunito"/>
            </a:endParaRPr>
          </a:p>
          <a:p>
            <a:pPr fontAlgn="base"/>
            <a:r>
              <a:rPr lang="en-US" sz="2200" b="1" dirty="0">
                <a:solidFill>
                  <a:srgbClr val="273239"/>
                </a:solidFill>
                <a:latin typeface="Nunito"/>
              </a:rPr>
              <a:t>2. 4-Way Handshake Authentication: </a:t>
            </a:r>
            <a:r>
              <a:rPr lang="en-US" sz="2200" dirty="0">
                <a:solidFill>
                  <a:srgbClr val="273239"/>
                </a:solidFill>
                <a:latin typeface="Nunito"/>
              </a:rPr>
              <a:t>establishing trusted connections between devices and access points.</a:t>
            </a:r>
          </a:p>
          <a:p>
            <a:pPr fontAlgn="base"/>
            <a:endParaRPr lang="en-US" sz="900" b="1" dirty="0">
              <a:solidFill>
                <a:srgbClr val="273239"/>
              </a:solidFill>
              <a:latin typeface="Nunito"/>
            </a:endParaRPr>
          </a:p>
          <a:p>
            <a:pPr fontAlgn="base"/>
            <a:r>
              <a:rPr lang="en-US" sz="2200" b="1" dirty="0">
                <a:solidFill>
                  <a:srgbClr val="273239"/>
                </a:solidFill>
                <a:latin typeface="Nunito"/>
              </a:rPr>
              <a:t>3. Widely Supported Compatibility: </a:t>
            </a:r>
            <a:r>
              <a:rPr lang="en-US" sz="2200" dirty="0">
                <a:solidFill>
                  <a:srgbClr val="273239"/>
                </a:solidFill>
                <a:latin typeface="Nunito"/>
              </a:rPr>
              <a:t>WPA2 is widely supported across various devices and networks, with existing hardware and software often compatible without requiring extensive updates.</a:t>
            </a:r>
          </a:p>
          <a:p>
            <a:pPr fontAlgn="base"/>
            <a:endParaRPr lang="en-US" sz="800" b="1" dirty="0">
              <a:solidFill>
                <a:srgbClr val="273239"/>
              </a:solidFill>
              <a:latin typeface="Nunito"/>
            </a:endParaRPr>
          </a:p>
          <a:p>
            <a:pPr fontAlgn="base"/>
            <a:r>
              <a:rPr lang="en-US" sz="2200" b="1" dirty="0">
                <a:solidFill>
                  <a:srgbClr val="273239"/>
                </a:solidFill>
                <a:latin typeface="Nunito"/>
              </a:rPr>
              <a:t>4. Established Protocol: </a:t>
            </a:r>
            <a:r>
              <a:rPr lang="en-US" sz="2200" dirty="0">
                <a:solidFill>
                  <a:srgbClr val="273239"/>
                </a:solidFill>
                <a:latin typeface="Nunito"/>
              </a:rPr>
              <a:t>WPA2 (Wi-Fi Protected Access 2), a well-known protocol extensively used in networks globally, has consistently provided reliable security for wireless connections.</a:t>
            </a:r>
          </a:p>
          <a:p>
            <a:pPr fontAlgn="base"/>
            <a:endParaRPr lang="en-US" sz="800" b="1" dirty="0">
              <a:solidFill>
                <a:srgbClr val="273239"/>
              </a:solidFill>
              <a:latin typeface="Nunito"/>
            </a:endParaRPr>
          </a:p>
          <a:p>
            <a:pPr fontAlgn="base"/>
            <a:r>
              <a:rPr lang="en-US" sz="2200" b="1" dirty="0">
                <a:solidFill>
                  <a:srgbClr val="273239"/>
                </a:solidFill>
                <a:latin typeface="Nunito"/>
              </a:rPr>
              <a:t>5. Resistance to Brute Force Attacks:  </a:t>
            </a:r>
            <a:r>
              <a:rPr lang="en-US" sz="2200" dirty="0">
                <a:solidFill>
                  <a:srgbClr val="273239"/>
                </a:solidFill>
                <a:latin typeface="Nunito"/>
              </a:rPr>
              <a:t>WPA2 incorporates mechanisms to resist brute force attacks by limiting the number of login attempts and employing techniques such as key derivation functions to make password cracking more difficult.</a:t>
            </a:r>
          </a:p>
          <a:p>
            <a:pPr fontAlgn="base"/>
            <a:endParaRPr lang="en-US" sz="800" b="1" dirty="0">
              <a:solidFill>
                <a:srgbClr val="273239"/>
              </a:solidFill>
              <a:latin typeface="Nunito"/>
            </a:endParaRPr>
          </a:p>
          <a:p>
            <a:pPr fontAlgn="base"/>
            <a:r>
              <a:rPr lang="en-US" sz="2200" b="1" dirty="0">
                <a:solidFill>
                  <a:srgbClr val="273239"/>
                </a:solidFill>
                <a:latin typeface="Nunito"/>
              </a:rPr>
              <a:t>6. Robust Key Management: </a:t>
            </a:r>
            <a:r>
              <a:rPr lang="en-US" sz="2200" dirty="0">
                <a:solidFill>
                  <a:srgbClr val="273239"/>
                </a:solidFill>
                <a:latin typeface="Nunito"/>
              </a:rPr>
              <a:t>WPA2 has strong ways to manage ke­ys. It has the </a:t>
            </a:r>
            <a:r>
              <a:rPr lang="en-US" sz="2200" u="sng" dirty="0">
                <a:solidFill>
                  <a:srgbClr val="273239"/>
                </a:solidFill>
                <a:latin typeface="Nunito"/>
                <a:hlinkClick r:id="rId4"/>
              </a:rPr>
              <a:t>pairwise transient ke­y </a:t>
            </a:r>
            <a:r>
              <a:rPr lang="en-US" sz="2200" dirty="0">
                <a:solidFill>
                  <a:srgbClr val="273239"/>
                </a:solidFill>
                <a:latin typeface="Nunito"/>
              </a:rPr>
              <a:t>(PTK) and group temporal key (GTK) to make ke­ys for encoding and checking safely. This make­s the network more se­cure.</a:t>
            </a:r>
          </a:p>
        </p:txBody>
      </p:sp>
    </p:spTree>
    <p:extLst>
      <p:ext uri="{BB962C8B-B14F-4D97-AF65-F5344CB8AC3E}">
        <p14:creationId xmlns:p14="http://schemas.microsoft.com/office/powerpoint/2010/main" val="16446579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B8BA88-EB25-4671-A0E6-04F4FA44FD4F}"/>
              </a:ext>
            </a:extLst>
          </p:cNvPr>
          <p:cNvSpPr>
            <a:spLocks noGrp="1"/>
          </p:cNvSpPr>
          <p:nvPr>
            <p:ph idx="1"/>
          </p:nvPr>
        </p:nvSpPr>
        <p:spPr>
          <a:xfrm>
            <a:off x="287570" y="184317"/>
            <a:ext cx="14153259" cy="7788805"/>
          </a:xfrm>
        </p:spPr>
        <p:txBody>
          <a:bodyPr>
            <a:noAutofit/>
          </a:bodyPr>
          <a:lstStyle/>
          <a:p>
            <a:pPr marL="0" indent="0" fontAlgn="base">
              <a:buNone/>
            </a:pPr>
            <a:r>
              <a:rPr lang="en-US" sz="2200" b="1" dirty="0">
                <a:solidFill>
                  <a:srgbClr val="273239"/>
                </a:solidFill>
                <a:latin typeface="Nunito"/>
              </a:rPr>
              <a:t>What is WPA3?</a:t>
            </a:r>
          </a:p>
          <a:p>
            <a:pPr algn="just" fontAlgn="base"/>
            <a:r>
              <a:rPr lang="en-US" sz="2200" dirty="0">
                <a:solidFill>
                  <a:srgbClr val="273239"/>
                </a:solidFill>
                <a:latin typeface="Nunito"/>
              </a:rPr>
              <a:t>It boosts Wi-Fi security with personalized data encryption and advanced authentication through techniques like </a:t>
            </a:r>
            <a:r>
              <a:rPr lang="en-US" sz="2200" u="sng" dirty="0">
                <a:solidFill>
                  <a:srgbClr val="273239"/>
                </a:solidFill>
                <a:latin typeface="Nunito"/>
                <a:hlinkClick r:id="rId2"/>
              </a:rPr>
              <a:t>Simultaneous Authentication of Equals </a:t>
            </a:r>
            <a:r>
              <a:rPr lang="en-US" sz="2200" dirty="0">
                <a:solidFill>
                  <a:srgbClr val="273239"/>
                </a:solidFill>
                <a:latin typeface="Nunito"/>
              </a:rPr>
              <a:t>(SAE). Additionally, it introduces Wi-Fi Easy Connect to securely link devices with restricted displays, thereby bolstering network security further.</a:t>
            </a:r>
          </a:p>
          <a:p>
            <a:pPr marL="0" indent="0" fontAlgn="base">
              <a:buNone/>
            </a:pPr>
            <a:r>
              <a:rPr lang="en-US" sz="2200" b="1" dirty="0">
                <a:solidFill>
                  <a:srgbClr val="273239"/>
                </a:solidFill>
                <a:latin typeface="Nunito"/>
              </a:rPr>
              <a:t>Features of WPA3</a:t>
            </a:r>
          </a:p>
          <a:p>
            <a:pPr fontAlgn="base"/>
            <a:r>
              <a:rPr lang="en-US" sz="2200" b="1" dirty="0">
                <a:solidFill>
                  <a:srgbClr val="273239"/>
                </a:solidFill>
                <a:latin typeface="Nunito"/>
              </a:rPr>
              <a:t>Individualized Data Encryption: </a:t>
            </a:r>
            <a:r>
              <a:rPr lang="en-US" sz="2200" dirty="0">
                <a:solidFill>
                  <a:srgbClr val="273239"/>
                </a:solidFill>
                <a:latin typeface="Nunito"/>
              </a:rPr>
              <a:t>WPA3 uses spe­cial encryption for information that keeps it safe­ and private. Each tool and connection gets its own unique­ key to lock up data. This stops hackers from ge­tting your personal information.</a:t>
            </a:r>
          </a:p>
          <a:p>
            <a:pPr fontAlgn="base"/>
            <a:r>
              <a:rPr lang="en-US" sz="2200" b="1" dirty="0">
                <a:solidFill>
                  <a:srgbClr val="273239"/>
                </a:solidFill>
                <a:latin typeface="Nunito"/>
              </a:rPr>
              <a:t>Simultaneous Authentication of Equals (SAE): </a:t>
            </a:r>
            <a:r>
              <a:rPr lang="en-US" sz="2200" dirty="0">
                <a:solidFill>
                  <a:srgbClr val="273239"/>
                </a:solidFill>
                <a:latin typeface="Nunito"/>
              </a:rPr>
              <a:t>WPA3 utilizes SAE, a stronger authentication method compared to the 4-way handshake used in WPA2, adding an extra layer of security against unauthorized access.</a:t>
            </a:r>
          </a:p>
          <a:p>
            <a:pPr fontAlgn="base"/>
            <a:r>
              <a:rPr lang="en-US" sz="2200" b="1" dirty="0">
                <a:solidFill>
                  <a:srgbClr val="273239"/>
                </a:solidFill>
                <a:latin typeface="Nunito"/>
              </a:rPr>
              <a:t>Enhanced Resistance to Modern Attacks: </a:t>
            </a:r>
            <a:r>
              <a:rPr lang="en-US" sz="2200" dirty="0">
                <a:solidFill>
                  <a:srgbClr val="273239"/>
                </a:solidFill>
                <a:latin typeface="Nunito"/>
              </a:rPr>
              <a:t>WPA3 gives be­tter security from current dange­rs and weaknesses, e­specially those that were­ very well exploite­d in WPA2, like the KRACK attack.</a:t>
            </a:r>
          </a:p>
          <a:p>
            <a:pPr fontAlgn="base"/>
            <a:r>
              <a:rPr lang="en-US" sz="2200" b="1" dirty="0">
                <a:solidFill>
                  <a:srgbClr val="273239"/>
                </a:solidFill>
                <a:latin typeface="Nunito"/>
              </a:rPr>
              <a:t>Wi-Fi Easy Connect: </a:t>
            </a:r>
            <a:r>
              <a:rPr lang="en-US" sz="2200" dirty="0">
                <a:solidFill>
                  <a:srgbClr val="273239"/>
                </a:solidFill>
                <a:latin typeface="Nunito"/>
              </a:rPr>
              <a:t>In the ne­w WPA3, there is Wi-Fi Easy Connect. This make­s it easy for people to link de­vices with small screens. Pe­ople can set up safe links with Wi-Fi Easy Conne­ct without making security weak.</a:t>
            </a:r>
          </a:p>
          <a:p>
            <a:pPr fontAlgn="base"/>
            <a:r>
              <a:rPr lang="en-US" sz="2200" b="1" dirty="0">
                <a:solidFill>
                  <a:srgbClr val="273239"/>
                </a:solidFill>
                <a:latin typeface="Nunito"/>
              </a:rPr>
              <a:t>Forward Secrecy: </a:t>
            </a:r>
            <a:r>
              <a:rPr lang="en-US" sz="2200" dirty="0">
                <a:solidFill>
                  <a:srgbClr val="273239"/>
                </a:solidFill>
                <a:latin typeface="Nunito"/>
              </a:rPr>
              <a:t>WPA3 implements forward secrecy, ensuring that even if a hacker captures and later cracks the encryption key, they cannot decrypt past network traffic. Each session key is unique, preventing retroactive decryption of captured data.</a:t>
            </a:r>
          </a:p>
          <a:p>
            <a:pPr fontAlgn="base"/>
            <a:r>
              <a:rPr lang="en-US" sz="2200" b="1" dirty="0">
                <a:solidFill>
                  <a:srgbClr val="273239"/>
                </a:solidFill>
                <a:latin typeface="Nunito"/>
              </a:rPr>
              <a:t>Protection Against Dictionary Attacks: </a:t>
            </a:r>
            <a:r>
              <a:rPr lang="en-US" sz="2200" dirty="0">
                <a:solidFill>
                  <a:srgbClr val="273239"/>
                </a:solidFill>
                <a:latin typeface="Nunito"/>
              </a:rPr>
              <a:t>WPA3 strengthens protection against dictionary attacks by introducing a new mechanism that detects and blocks repeated failed authentication attempts, making it significantly harder for attackers to guess passwords or passphrases through automated methods</a:t>
            </a:r>
          </a:p>
          <a:p>
            <a:endParaRPr lang="en-CA" sz="2200" dirty="0"/>
          </a:p>
        </p:txBody>
      </p:sp>
    </p:spTree>
    <p:extLst>
      <p:ext uri="{BB962C8B-B14F-4D97-AF65-F5344CB8AC3E}">
        <p14:creationId xmlns:p14="http://schemas.microsoft.com/office/powerpoint/2010/main" val="21754961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517DCB11-3D32-45FD-8FE6-0DF02047B2B1}"/>
              </a:ext>
            </a:extLst>
          </p:cNvPr>
          <p:cNvGraphicFramePr>
            <a:graphicFrameLocks noGrp="1"/>
          </p:cNvGraphicFramePr>
          <p:nvPr>
            <p:ph idx="1"/>
            <p:extLst>
              <p:ext uri="{D42A27DB-BD31-4B8C-83A1-F6EECF244321}">
                <p14:modId xmlns:p14="http://schemas.microsoft.com/office/powerpoint/2010/main" val="705914542"/>
              </p:ext>
            </p:extLst>
          </p:nvPr>
        </p:nvGraphicFramePr>
        <p:xfrm>
          <a:off x="780564" y="1112520"/>
          <a:ext cx="13069272" cy="6004560"/>
        </p:xfrm>
        <a:graphic>
          <a:graphicData uri="http://schemas.openxmlformats.org/drawingml/2006/table">
            <a:tbl>
              <a:tblPr/>
              <a:tblGrid>
                <a:gridCol w="3219576">
                  <a:extLst>
                    <a:ext uri="{9D8B030D-6E8A-4147-A177-3AD203B41FA5}">
                      <a16:colId xmlns:a16="http://schemas.microsoft.com/office/drawing/2014/main" val="2864724745"/>
                    </a:ext>
                  </a:extLst>
                </a:gridCol>
                <a:gridCol w="5493272">
                  <a:extLst>
                    <a:ext uri="{9D8B030D-6E8A-4147-A177-3AD203B41FA5}">
                      <a16:colId xmlns:a16="http://schemas.microsoft.com/office/drawing/2014/main" val="926352017"/>
                    </a:ext>
                  </a:extLst>
                </a:gridCol>
                <a:gridCol w="4356424">
                  <a:extLst>
                    <a:ext uri="{9D8B030D-6E8A-4147-A177-3AD203B41FA5}">
                      <a16:colId xmlns:a16="http://schemas.microsoft.com/office/drawing/2014/main" val="894145607"/>
                    </a:ext>
                  </a:extLst>
                </a:gridCol>
              </a:tblGrid>
              <a:tr h="365760">
                <a:tc>
                  <a:txBody>
                    <a:bodyPr/>
                    <a:lstStyle/>
                    <a:p>
                      <a:pPr algn="ctr" rtl="0" fontAlgn="base"/>
                      <a:r>
                        <a:rPr lang="en-CA" sz="2000" b="1">
                          <a:effectLst/>
                        </a:rPr>
                        <a:t>Features</a:t>
                      </a:r>
                    </a:p>
                  </a:txBody>
                  <a:tcPr marL="38100" marR="38100" marT="76200" marB="7620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CA" sz="2000" b="1">
                          <a:effectLst/>
                        </a:rPr>
                        <a:t>WPA3</a:t>
                      </a:r>
                    </a:p>
                  </a:txBody>
                  <a:tcPr marL="76200" marR="76200" marT="76200" marB="7620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CA" sz="2000" b="1">
                          <a:effectLst/>
                        </a:rPr>
                        <a:t>WPA2</a:t>
                      </a:r>
                    </a:p>
                  </a:txBody>
                  <a:tcPr marL="76200" marR="76200" marT="76200" marB="7620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832694339"/>
                  </a:ext>
                </a:extLst>
              </a:tr>
              <a:tr h="594360">
                <a:tc>
                  <a:txBody>
                    <a:bodyPr/>
                    <a:lstStyle/>
                    <a:p>
                      <a:pPr algn="ctr" rtl="0" fontAlgn="base"/>
                      <a:r>
                        <a:rPr lang="en-CA" sz="2000" b="1">
                          <a:effectLst/>
                        </a:rPr>
                        <a:t>Encryption</a:t>
                      </a:r>
                      <a:endParaRPr lang="en-CA" sz="2000" b="0">
                        <a:effectLst/>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2000" b="0">
                          <a:effectLst/>
                        </a:rPr>
                        <a:t>Implements individualized data encryption for heightened security.</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2000" b="0" dirty="0">
                          <a:effectLst/>
                        </a:rPr>
                        <a:t>Relies on the robust Advanced Encryption Standard (AES) for encryption.</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868890439"/>
                  </a:ext>
                </a:extLst>
              </a:tr>
              <a:tr h="594360">
                <a:tc>
                  <a:txBody>
                    <a:bodyPr/>
                    <a:lstStyle/>
                    <a:p>
                      <a:pPr algn="ctr" rtl="0" fontAlgn="base"/>
                      <a:r>
                        <a:rPr lang="en-CA" sz="2000" b="1">
                          <a:effectLst/>
                        </a:rPr>
                        <a:t>Authentication</a:t>
                      </a:r>
                      <a:endParaRPr lang="en-CA" sz="2000" b="0">
                        <a:effectLst/>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2000" b="0">
                          <a:effectLst/>
                        </a:rPr>
                        <a:t>Utilizes Simultaneous Authentication of Equals (SAE) for stronger authentication.</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2000" b="0">
                          <a:effectLst/>
                        </a:rPr>
                        <a:t>Uses the 4-way handshake method to authenticate devices and access points.</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798367083"/>
                  </a:ext>
                </a:extLst>
              </a:tr>
              <a:tr h="594360">
                <a:tc>
                  <a:txBody>
                    <a:bodyPr/>
                    <a:lstStyle/>
                    <a:p>
                      <a:pPr algn="ctr" rtl="0" fontAlgn="base"/>
                      <a:r>
                        <a:rPr lang="en-CA" sz="2000" b="1">
                          <a:effectLst/>
                        </a:rPr>
                        <a:t>Security</a:t>
                      </a:r>
                      <a:endParaRPr lang="en-CA" sz="2000" b="0">
                        <a:effectLst/>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2000" b="0" dirty="0">
                          <a:effectLst/>
                        </a:rPr>
                        <a:t>Offers enhanced resistance to modern attacks and vulnerabilities.</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2000" b="0" dirty="0">
                          <a:effectLst/>
                        </a:rPr>
                        <a:t>Vulnerable to exploits like KRACK, requiring additional precautions.</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65308177"/>
                  </a:ext>
                </a:extLst>
              </a:tr>
              <a:tr h="594360">
                <a:tc>
                  <a:txBody>
                    <a:bodyPr/>
                    <a:lstStyle/>
                    <a:p>
                      <a:pPr algn="ctr" rtl="0" fontAlgn="base"/>
                      <a:r>
                        <a:rPr lang="en-CA" sz="2000" b="1">
                          <a:effectLst/>
                        </a:rPr>
                        <a:t>Provisioning</a:t>
                      </a:r>
                      <a:endParaRPr lang="en-CA" sz="2000" b="0">
                        <a:effectLst/>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2000" b="0">
                          <a:effectLst/>
                        </a:rPr>
                        <a:t>Method Introduces Wi-Fi Easy Connect for secure device provisioning.</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2000" b="0">
                          <a:effectLst/>
                        </a:rPr>
                        <a:t>Relies on traditional methods, often involving a pre-shared key.</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798791435"/>
                  </a:ext>
                </a:extLst>
              </a:tr>
              <a:tr h="594360">
                <a:tc>
                  <a:txBody>
                    <a:bodyPr/>
                    <a:lstStyle/>
                    <a:p>
                      <a:pPr algn="ctr" rtl="0" fontAlgn="base"/>
                      <a:r>
                        <a:rPr lang="en-CA" sz="2000" b="1">
                          <a:effectLst/>
                        </a:rPr>
                        <a:t>Compatibility</a:t>
                      </a:r>
                      <a:endParaRPr lang="en-CA" sz="2000" b="0">
                        <a:effectLst/>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2000" b="0">
                          <a:effectLst/>
                        </a:rPr>
                        <a:t>Requires updates in hardware and software for full implementation.</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2000" b="0">
                          <a:effectLst/>
                        </a:rPr>
                        <a:t>Widely supported across devices, potentially needing firmware updates for full support.</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457861093"/>
                  </a:ext>
                </a:extLst>
              </a:tr>
              <a:tr h="594360">
                <a:tc>
                  <a:txBody>
                    <a:bodyPr/>
                    <a:lstStyle/>
                    <a:p>
                      <a:pPr algn="ctr" rtl="0" fontAlgn="base"/>
                      <a:r>
                        <a:rPr lang="en-CA" sz="2000" b="1">
                          <a:effectLst/>
                        </a:rPr>
                        <a:t>Implementation</a:t>
                      </a:r>
                      <a:endParaRPr lang="en-CA" sz="2000" b="0">
                        <a:effectLst/>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2000" b="0">
                          <a:effectLst/>
                        </a:rPr>
                        <a:t>Still in the adoption phase, with gradual integration into devices and networks.</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2000" b="0" dirty="0">
                          <a:effectLst/>
                        </a:rPr>
                        <a:t>Established protocol, already widely deployed across networks worldwide.</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798708842"/>
                  </a:ext>
                </a:extLst>
              </a:tr>
            </a:tbl>
          </a:graphicData>
        </a:graphic>
      </p:graphicFrame>
      <p:sp>
        <p:nvSpPr>
          <p:cNvPr id="5" name="Rectangle 1">
            <a:extLst>
              <a:ext uri="{FF2B5EF4-FFF2-40B4-BE49-F238E27FC236}">
                <a16:creationId xmlns:a16="http://schemas.microsoft.com/office/drawing/2014/main" id="{09329890-DAE2-4036-AD59-5228AC0D0CC5}"/>
              </a:ext>
            </a:extLst>
          </p:cNvPr>
          <p:cNvSpPr>
            <a:spLocks noChangeArrowheads="1"/>
          </p:cNvSpPr>
          <p:nvPr/>
        </p:nvSpPr>
        <p:spPr bwMode="auto">
          <a:xfrm>
            <a:off x="866625" y="1590088"/>
            <a:ext cx="14516810"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999894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ttps://cdn.ttgtmedia.com/rms/onlineimages/networking-wireless_security_cheat_sheet-f.png">
            <a:extLst>
              <a:ext uri="{FF2B5EF4-FFF2-40B4-BE49-F238E27FC236}">
                <a16:creationId xmlns:a16="http://schemas.microsoft.com/office/drawing/2014/main" id="{5D6F0A9F-4DF3-4683-B837-9A14522A85EA}"/>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4396" t="6853" r="4698" b="7267"/>
          <a:stretch/>
        </p:blipFill>
        <p:spPr bwMode="auto">
          <a:xfrm>
            <a:off x="634701" y="586291"/>
            <a:ext cx="13339483" cy="705701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EDAD259-F9A3-D5F1-E031-502CD447F05C}"/>
              </a:ext>
            </a:extLst>
          </p:cNvPr>
          <p:cNvSpPr txBox="1"/>
          <p:nvPr/>
        </p:nvSpPr>
        <p:spPr>
          <a:xfrm>
            <a:off x="387275" y="7767935"/>
            <a:ext cx="8853544" cy="369332"/>
          </a:xfrm>
          <a:prstGeom prst="rect">
            <a:avLst/>
          </a:prstGeom>
          <a:noFill/>
        </p:spPr>
        <p:txBody>
          <a:bodyPr wrap="square">
            <a:spAutoFit/>
          </a:bodyPr>
          <a:lstStyle/>
          <a:p>
            <a:r>
              <a:rPr lang="en-US" b="0" i="0" dirty="0">
                <a:effectLst/>
                <a:latin typeface="Google Sans"/>
              </a:rPr>
              <a:t> Counter Mode with Cipher Block Chaining Message Authentication Code Protocol.</a:t>
            </a:r>
            <a:endParaRPr lang="en-IN" dirty="0"/>
          </a:p>
        </p:txBody>
      </p:sp>
      <p:sp>
        <p:nvSpPr>
          <p:cNvPr id="6" name="TextBox 5">
            <a:extLst>
              <a:ext uri="{FF2B5EF4-FFF2-40B4-BE49-F238E27FC236}">
                <a16:creationId xmlns:a16="http://schemas.microsoft.com/office/drawing/2014/main" id="{731C66CD-BB5F-64CC-7F5E-12B2CDA63269}"/>
              </a:ext>
            </a:extLst>
          </p:cNvPr>
          <p:cNvSpPr txBox="1"/>
          <p:nvPr/>
        </p:nvSpPr>
        <p:spPr>
          <a:xfrm>
            <a:off x="8681421" y="7767935"/>
            <a:ext cx="5292763" cy="369332"/>
          </a:xfrm>
          <a:prstGeom prst="rect">
            <a:avLst/>
          </a:prstGeom>
          <a:noFill/>
        </p:spPr>
        <p:txBody>
          <a:bodyPr wrap="square">
            <a:spAutoFit/>
          </a:bodyPr>
          <a:lstStyle/>
          <a:p>
            <a:r>
              <a:rPr lang="en-IN" b="0" i="0" dirty="0">
                <a:effectLst/>
                <a:latin typeface="Google Sans"/>
              </a:rPr>
              <a:t>Extensible Authentication Protocol</a:t>
            </a:r>
            <a:endParaRPr lang="en-IN" dirty="0"/>
          </a:p>
        </p:txBody>
      </p:sp>
    </p:spTree>
    <p:extLst>
      <p:ext uri="{BB962C8B-B14F-4D97-AF65-F5344CB8AC3E}">
        <p14:creationId xmlns:p14="http://schemas.microsoft.com/office/powerpoint/2010/main" val="29878101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51986-B3D0-4184-BA26-7090F8092DF9}"/>
              </a:ext>
            </a:extLst>
          </p:cNvPr>
          <p:cNvSpPr>
            <a:spLocks noGrp="1"/>
          </p:cNvSpPr>
          <p:nvPr>
            <p:ph type="title"/>
          </p:nvPr>
        </p:nvSpPr>
        <p:spPr>
          <a:xfrm>
            <a:off x="1005840" y="109440"/>
            <a:ext cx="12618720" cy="1066892"/>
          </a:xfrm>
        </p:spPr>
        <p:txBody>
          <a:bodyPr/>
          <a:lstStyle/>
          <a:p>
            <a:r>
              <a:rPr lang="fr-FR" dirty="0"/>
              <a:t>Difference - Promiscuous vs. Monitor Mode</a:t>
            </a:r>
            <a:endParaRPr lang="en-US" dirty="0"/>
          </a:p>
        </p:txBody>
      </p:sp>
      <p:sp>
        <p:nvSpPr>
          <p:cNvPr id="3" name="Content Placeholder 2">
            <a:extLst>
              <a:ext uri="{FF2B5EF4-FFF2-40B4-BE49-F238E27FC236}">
                <a16:creationId xmlns:a16="http://schemas.microsoft.com/office/drawing/2014/main" id="{E2C392B6-DEFB-44BA-8E86-2DCC2DA2BFBC}"/>
              </a:ext>
            </a:extLst>
          </p:cNvPr>
          <p:cNvSpPr>
            <a:spLocks noGrp="1"/>
          </p:cNvSpPr>
          <p:nvPr>
            <p:ph idx="1"/>
          </p:nvPr>
        </p:nvSpPr>
        <p:spPr>
          <a:xfrm>
            <a:off x="691374" y="1145945"/>
            <a:ext cx="13011243" cy="3091255"/>
          </a:xfrm>
        </p:spPr>
        <p:txBody>
          <a:bodyPr>
            <a:normAutofit/>
          </a:bodyPr>
          <a:lstStyle/>
          <a:p>
            <a:r>
              <a:rPr lang="en-US" sz="1920" dirty="0"/>
              <a:t>Monitor mode (RFMON) enables a wireless NIC to capture packets without associating with an access point or ad-hoc network. This is desirable in that you can choose to "monitor" a specific channel, and you never need to transmit any packets.</a:t>
            </a:r>
          </a:p>
          <a:p>
            <a:r>
              <a:rPr lang="en-US" sz="1920" dirty="0"/>
              <a:t>Promiscuous mode allows you to view all wireless packets on a network to which you have associated. The need to associate means that you must have some means of authenticating yourself with an access point. In promiscuous mode, you will not see packets until you have associated. </a:t>
            </a:r>
          </a:p>
          <a:p>
            <a:r>
              <a:rPr lang="en-US" sz="1920" dirty="0"/>
              <a:t>In monitor mode the SSID filter mentioned above is disabled and all packets of all SSIDs from the currently selected channel are captured.</a:t>
            </a:r>
            <a:br>
              <a:rPr lang="en-US" sz="1920" dirty="0"/>
            </a:br>
            <a:br>
              <a:rPr lang="en-US" sz="1920" dirty="0"/>
            </a:br>
            <a:r>
              <a:rPr lang="en-US" sz="1920" dirty="0"/>
              <a:t>Even in promiscuous mode, an 802.11 adapter will only supply packets to the host of the SSID the adapter has joined. Although it can receive, at the radio level, packets on other SSIDs, it will not forward them to the host.</a:t>
            </a:r>
          </a:p>
        </p:txBody>
      </p:sp>
      <p:sp>
        <p:nvSpPr>
          <p:cNvPr id="4" name="TextBox 3">
            <a:extLst>
              <a:ext uri="{FF2B5EF4-FFF2-40B4-BE49-F238E27FC236}">
                <a16:creationId xmlns:a16="http://schemas.microsoft.com/office/drawing/2014/main" id="{ED7A3D04-2BFB-CACF-037E-2827F622909E}"/>
              </a:ext>
            </a:extLst>
          </p:cNvPr>
          <p:cNvSpPr txBox="1"/>
          <p:nvPr/>
        </p:nvSpPr>
        <p:spPr>
          <a:xfrm>
            <a:off x="1005840" y="4793021"/>
            <a:ext cx="5766886" cy="2266005"/>
          </a:xfrm>
          <a:prstGeom prst="rect">
            <a:avLst/>
          </a:prstGeom>
          <a:noFill/>
        </p:spPr>
        <p:txBody>
          <a:bodyPr wrap="square">
            <a:spAutoFit/>
          </a:bodyPr>
          <a:lstStyle/>
          <a:p>
            <a:pPr algn="l">
              <a:lnSpc>
                <a:spcPts val="1950"/>
              </a:lnSpc>
              <a:spcBef>
                <a:spcPts val="1500"/>
              </a:spcBef>
              <a:spcAft>
                <a:spcPts val="750"/>
              </a:spcAft>
            </a:pPr>
            <a:r>
              <a:rPr lang="en-US" b="0" i="0" dirty="0">
                <a:effectLst/>
                <a:latin typeface="Google Sans"/>
              </a:rPr>
              <a:t>Key points to remember:</a:t>
            </a:r>
          </a:p>
          <a:p>
            <a:pPr algn="l">
              <a:lnSpc>
                <a:spcPts val="1650"/>
              </a:lnSpc>
              <a:spcBef>
                <a:spcPts val="750"/>
              </a:spcBef>
              <a:spcAft>
                <a:spcPts val="600"/>
              </a:spcAft>
            </a:pPr>
            <a:r>
              <a:rPr lang="en-US" b="1" i="0" dirty="0">
                <a:effectLst/>
                <a:latin typeface="Google Sans"/>
              </a:rPr>
              <a:t>Promiscuous Mode:</a:t>
            </a:r>
            <a:endParaRPr lang="en-US" b="0" i="0" dirty="0">
              <a:effectLst/>
              <a:latin typeface="Google Sans"/>
            </a:endParaRPr>
          </a:p>
          <a:p>
            <a:pPr algn="just">
              <a:lnSpc>
                <a:spcPts val="1650"/>
              </a:lnSpc>
              <a:spcBef>
                <a:spcPts val="600"/>
              </a:spcBef>
              <a:spcAft>
                <a:spcPts val="600"/>
              </a:spcAft>
              <a:buFont typeface="Arial" panose="020B0604020202020204" pitchFamily="34" charset="0"/>
              <a:buChar char="•"/>
            </a:pPr>
            <a:r>
              <a:rPr lang="en-US" b="0" i="0" dirty="0">
                <a:effectLst/>
                <a:latin typeface="Google Sans"/>
              </a:rPr>
              <a:t> Captures all traffic on the network you're connected to.</a:t>
            </a:r>
          </a:p>
          <a:p>
            <a:pPr algn="just">
              <a:lnSpc>
                <a:spcPts val="1650"/>
              </a:lnSpc>
              <a:spcBef>
                <a:spcPts val="600"/>
              </a:spcBef>
              <a:spcAft>
                <a:spcPts val="600"/>
              </a:spcAft>
              <a:buFont typeface="Arial" panose="020B0604020202020204" pitchFamily="34" charset="0"/>
              <a:buChar char="•"/>
            </a:pPr>
            <a:r>
              <a:rPr lang="en-US" b="0" i="0" dirty="0">
                <a:effectLst/>
                <a:latin typeface="Google Sans"/>
              </a:rPr>
              <a:t> Needs to be associated with an access point</a:t>
            </a:r>
          </a:p>
          <a:p>
            <a:pPr algn="just">
              <a:lnSpc>
                <a:spcPts val="1650"/>
              </a:lnSpc>
              <a:spcBef>
                <a:spcPts val="600"/>
              </a:spcBef>
              <a:spcAft>
                <a:spcPts val="600"/>
              </a:spcAft>
              <a:buFont typeface="Arial" panose="020B0604020202020204" pitchFamily="34" charset="0"/>
              <a:buChar char="•"/>
            </a:pPr>
            <a:r>
              <a:rPr lang="en-US" b="0" i="0" dirty="0">
                <a:effectLst/>
                <a:latin typeface="Google Sans"/>
              </a:rPr>
              <a:t> Useful for analyzing traffic on your own network.</a:t>
            </a:r>
          </a:p>
          <a:p>
            <a:pPr algn="just">
              <a:lnSpc>
                <a:spcPts val="1650"/>
              </a:lnSpc>
              <a:spcBef>
                <a:spcPts val="600"/>
              </a:spcBef>
              <a:spcAft>
                <a:spcPts val="1500"/>
              </a:spcAft>
              <a:buFont typeface="Arial" panose="020B0604020202020204" pitchFamily="34" charset="0"/>
              <a:buChar char="•"/>
            </a:pPr>
            <a:r>
              <a:rPr lang="en-US" b="0" i="0" dirty="0">
                <a:effectLst/>
                <a:latin typeface="Google Sans"/>
              </a:rPr>
              <a:t> Can be used on both wired and wireless networks.</a:t>
            </a:r>
          </a:p>
        </p:txBody>
      </p:sp>
      <p:sp>
        <p:nvSpPr>
          <p:cNvPr id="5" name="TextBox 4">
            <a:extLst>
              <a:ext uri="{FF2B5EF4-FFF2-40B4-BE49-F238E27FC236}">
                <a16:creationId xmlns:a16="http://schemas.microsoft.com/office/drawing/2014/main" id="{BBE3B5AA-4670-A523-9040-0A79D25EC356}"/>
              </a:ext>
            </a:extLst>
          </p:cNvPr>
          <p:cNvSpPr txBox="1"/>
          <p:nvPr/>
        </p:nvSpPr>
        <p:spPr>
          <a:xfrm>
            <a:off x="7857676" y="4881770"/>
            <a:ext cx="5077739" cy="1983876"/>
          </a:xfrm>
          <a:prstGeom prst="rect">
            <a:avLst/>
          </a:prstGeom>
          <a:noFill/>
        </p:spPr>
        <p:txBody>
          <a:bodyPr wrap="square">
            <a:spAutoFit/>
          </a:bodyPr>
          <a:lstStyle/>
          <a:p>
            <a:pPr marL="0" marR="0" lvl="0" indent="0" algn="l" defTabSz="914400" rtl="0" eaLnBrk="1" fontAlgn="auto" latinLnBrk="0" hangingPunct="1">
              <a:lnSpc>
                <a:spcPts val="1650"/>
              </a:lnSpc>
              <a:spcBef>
                <a:spcPts val="750"/>
              </a:spcBef>
              <a:spcAft>
                <a:spcPts val="150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Google Sans"/>
                <a:ea typeface="+mn-ea"/>
                <a:cs typeface="+mn-cs"/>
              </a:rPr>
              <a:t>Monitor Mode:</a:t>
            </a:r>
            <a:endParaRPr kumimoji="0" lang="en-US" sz="1800" b="0" i="0" u="none" strike="noStrike" kern="1200" cap="none" spc="0" normalizeH="0" baseline="0" noProof="0" dirty="0">
              <a:ln>
                <a:noFill/>
              </a:ln>
              <a:solidFill>
                <a:prstClr val="black"/>
              </a:solidFill>
              <a:effectLst/>
              <a:uLnTx/>
              <a:uFillTx/>
              <a:latin typeface="Google Sans"/>
              <a:ea typeface="+mn-ea"/>
              <a:cs typeface="+mn-cs"/>
            </a:endParaRPr>
          </a:p>
          <a:p>
            <a:pPr marL="0" marR="0" lvl="0" indent="0" algn="just" defTabSz="914400" rtl="0" eaLnBrk="1" fontAlgn="auto" latinLnBrk="0" hangingPunct="1">
              <a:lnSpc>
                <a:spcPts val="1650"/>
              </a:lnSpc>
              <a:spcBef>
                <a:spcPts val="600"/>
              </a:spcBef>
              <a:spcAft>
                <a:spcPts val="6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Google Sans"/>
                <a:ea typeface="+mn-ea"/>
                <a:cs typeface="+mn-cs"/>
              </a:rPr>
              <a:t> Captures traffic from any network within range, regardless of connection.</a:t>
            </a:r>
          </a:p>
          <a:p>
            <a:pPr marL="0" marR="0" lvl="0" indent="0" algn="just" defTabSz="914400" rtl="0" eaLnBrk="1" fontAlgn="auto" latinLnBrk="0" hangingPunct="1">
              <a:lnSpc>
                <a:spcPts val="1650"/>
              </a:lnSpc>
              <a:spcBef>
                <a:spcPts val="600"/>
              </a:spcBef>
              <a:spcAft>
                <a:spcPts val="6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Google Sans"/>
                <a:ea typeface="+mn-ea"/>
                <a:cs typeface="+mn-cs"/>
              </a:rPr>
              <a:t> Does not require association with an access point.</a:t>
            </a:r>
          </a:p>
          <a:p>
            <a:pPr marL="0" marR="0" lvl="0" indent="0" algn="just" defTabSz="914400" rtl="0" eaLnBrk="1" fontAlgn="auto" latinLnBrk="0" hangingPunct="1">
              <a:lnSpc>
                <a:spcPts val="1650"/>
              </a:lnSpc>
              <a:spcBef>
                <a:spcPts val="600"/>
              </a:spcBef>
              <a:spcAft>
                <a:spcPts val="15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Google Sans"/>
                <a:ea typeface="+mn-ea"/>
                <a:cs typeface="+mn-cs"/>
              </a:rPr>
              <a:t> Primarily used for wireless network analysis and penetration testing. </a:t>
            </a:r>
          </a:p>
        </p:txBody>
      </p:sp>
    </p:spTree>
    <p:extLst>
      <p:ext uri="{BB962C8B-B14F-4D97-AF65-F5344CB8AC3E}">
        <p14:creationId xmlns:p14="http://schemas.microsoft.com/office/powerpoint/2010/main" val="4345882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71141" y="618292"/>
            <a:ext cx="7574518" cy="1318736"/>
          </a:xfrm>
          <a:prstGeom prst="rect">
            <a:avLst/>
          </a:prstGeom>
          <a:noFill/>
          <a:ln/>
        </p:spPr>
        <p:txBody>
          <a:bodyPr wrap="square" lIns="0" tIns="0" rIns="0" bIns="0" rtlCol="0" anchor="t"/>
          <a:lstStyle/>
          <a:p>
            <a:pPr marL="0" indent="0">
              <a:lnSpc>
                <a:spcPts val="5150"/>
              </a:lnSpc>
              <a:buNone/>
            </a:pPr>
            <a:r>
              <a:rPr lang="en-US" sz="4150" dirty="0">
                <a:solidFill>
                  <a:srgbClr val="1F1E1E"/>
                </a:solidFill>
                <a:latin typeface="Red Hat Text" pitchFamily="34" charset="0"/>
                <a:ea typeface="Red Hat Text" pitchFamily="34" charset="-122"/>
                <a:cs typeface="Red Hat Text" pitchFamily="34" charset="-120"/>
              </a:rPr>
              <a:t>Overview of 802.11 Protocols and Standards</a:t>
            </a:r>
            <a:endParaRPr lang="en-US" sz="4150" dirty="0"/>
          </a:p>
        </p:txBody>
      </p:sp>
      <p:sp>
        <p:nvSpPr>
          <p:cNvPr id="4" name="Shape 1"/>
          <p:cNvSpPr/>
          <p:nvPr/>
        </p:nvSpPr>
        <p:spPr>
          <a:xfrm>
            <a:off x="6592133" y="2273260"/>
            <a:ext cx="30480" cy="5337929"/>
          </a:xfrm>
          <a:prstGeom prst="roundRect">
            <a:avLst>
              <a:gd name="adj" fmla="val 110347"/>
            </a:avLst>
          </a:prstGeom>
          <a:solidFill>
            <a:srgbClr val="D9CECE"/>
          </a:solidFill>
          <a:ln/>
        </p:spPr>
      </p:sp>
      <p:sp>
        <p:nvSpPr>
          <p:cNvPr id="5" name="Shape 2"/>
          <p:cNvSpPr/>
          <p:nvPr/>
        </p:nvSpPr>
        <p:spPr>
          <a:xfrm>
            <a:off x="6829127" y="2762369"/>
            <a:ext cx="784741" cy="30480"/>
          </a:xfrm>
          <a:prstGeom prst="roundRect">
            <a:avLst>
              <a:gd name="adj" fmla="val 110347"/>
            </a:avLst>
          </a:prstGeom>
          <a:solidFill>
            <a:srgbClr val="D9CECE"/>
          </a:solidFill>
          <a:ln/>
        </p:spPr>
      </p:sp>
      <p:sp>
        <p:nvSpPr>
          <p:cNvPr id="6" name="Shape 3"/>
          <p:cNvSpPr/>
          <p:nvPr/>
        </p:nvSpPr>
        <p:spPr>
          <a:xfrm>
            <a:off x="6355140" y="2525435"/>
            <a:ext cx="504468" cy="504468"/>
          </a:xfrm>
          <a:prstGeom prst="roundRect">
            <a:avLst>
              <a:gd name="adj" fmla="val 6667"/>
            </a:avLst>
          </a:prstGeom>
          <a:solidFill>
            <a:srgbClr val="F3E8E8"/>
          </a:solidFill>
          <a:ln/>
        </p:spPr>
      </p:sp>
      <p:sp>
        <p:nvSpPr>
          <p:cNvPr id="7" name="Text 4"/>
          <p:cNvSpPr/>
          <p:nvPr/>
        </p:nvSpPr>
        <p:spPr>
          <a:xfrm>
            <a:off x="6558736" y="2619375"/>
            <a:ext cx="97274" cy="316587"/>
          </a:xfrm>
          <a:prstGeom prst="rect">
            <a:avLst/>
          </a:prstGeom>
          <a:noFill/>
          <a:ln/>
        </p:spPr>
        <p:txBody>
          <a:bodyPr wrap="none" lIns="0" tIns="0" rIns="0" bIns="0" rtlCol="0" anchor="t"/>
          <a:lstStyle/>
          <a:p>
            <a:pPr marL="0" indent="0" algn="ctr">
              <a:lnSpc>
                <a:spcPts val="2450"/>
              </a:lnSpc>
              <a:buNone/>
            </a:pPr>
            <a:r>
              <a:rPr lang="en-US" sz="2450" dirty="0">
                <a:solidFill>
                  <a:srgbClr val="3B3535"/>
                </a:solidFill>
                <a:latin typeface="Red Hat Text" pitchFamily="34" charset="0"/>
                <a:ea typeface="Red Hat Text" pitchFamily="34" charset="-122"/>
                <a:cs typeface="Red Hat Text" pitchFamily="34" charset="-120"/>
              </a:rPr>
              <a:t>1</a:t>
            </a:r>
            <a:endParaRPr lang="en-US" sz="2450" dirty="0"/>
          </a:p>
        </p:txBody>
      </p:sp>
      <p:sp>
        <p:nvSpPr>
          <p:cNvPr id="8" name="Text 5"/>
          <p:cNvSpPr/>
          <p:nvPr/>
        </p:nvSpPr>
        <p:spPr>
          <a:xfrm>
            <a:off x="7840504" y="2497455"/>
            <a:ext cx="2637830" cy="329803"/>
          </a:xfrm>
          <a:prstGeom prst="rect">
            <a:avLst/>
          </a:prstGeom>
          <a:noFill/>
          <a:ln/>
        </p:spPr>
        <p:txBody>
          <a:bodyPr wrap="none" lIns="0" tIns="0" rIns="0" bIns="0" rtlCol="0" anchor="t"/>
          <a:lstStyle/>
          <a:p>
            <a:pPr marL="0" indent="0" algn="l">
              <a:lnSpc>
                <a:spcPts val="2550"/>
              </a:lnSpc>
              <a:buNone/>
            </a:pPr>
            <a:r>
              <a:rPr lang="en-US" sz="2050" dirty="0">
                <a:solidFill>
                  <a:srgbClr val="3B3535"/>
                </a:solidFill>
                <a:latin typeface="Red Hat Text" pitchFamily="34" charset="0"/>
                <a:ea typeface="Red Hat Text" pitchFamily="34" charset="-122"/>
                <a:cs typeface="Red Hat Text" pitchFamily="34" charset="-120"/>
              </a:rPr>
              <a:t>802.11a/b/g</a:t>
            </a:r>
            <a:endParaRPr lang="en-US" sz="2050" dirty="0"/>
          </a:p>
        </p:txBody>
      </p:sp>
      <p:sp>
        <p:nvSpPr>
          <p:cNvPr id="9" name="Text 6"/>
          <p:cNvSpPr/>
          <p:nvPr/>
        </p:nvSpPr>
        <p:spPr>
          <a:xfrm>
            <a:off x="7840504" y="2961680"/>
            <a:ext cx="6005155" cy="717233"/>
          </a:xfrm>
          <a:prstGeom prst="rect">
            <a:avLst/>
          </a:prstGeom>
          <a:noFill/>
          <a:ln/>
        </p:spPr>
        <p:txBody>
          <a:bodyPr wrap="square" lIns="0" tIns="0" rIns="0" bIns="0" rtlCol="0" anchor="t"/>
          <a:lstStyle/>
          <a:p>
            <a:pPr marL="0" indent="0" algn="l">
              <a:lnSpc>
                <a:spcPts val="2800"/>
              </a:lnSpc>
              <a:buNone/>
            </a:pPr>
            <a:r>
              <a:rPr lang="en-US" sz="1750" dirty="0">
                <a:solidFill>
                  <a:srgbClr val="3B3535"/>
                </a:solidFill>
                <a:latin typeface="Roboto Light" pitchFamily="34" charset="0"/>
                <a:ea typeface="Roboto Light" pitchFamily="34" charset="-122"/>
                <a:cs typeface="Roboto Light" pitchFamily="34" charset="-120"/>
              </a:rPr>
              <a:t>Legacy wireless protocols with varying speeds and frequencies.</a:t>
            </a:r>
            <a:endParaRPr lang="en-US" sz="1750" dirty="0"/>
          </a:p>
        </p:txBody>
      </p:sp>
      <p:sp>
        <p:nvSpPr>
          <p:cNvPr id="10" name="Shape 7"/>
          <p:cNvSpPr/>
          <p:nvPr/>
        </p:nvSpPr>
        <p:spPr>
          <a:xfrm>
            <a:off x="6829127" y="4616410"/>
            <a:ext cx="784741" cy="30480"/>
          </a:xfrm>
          <a:prstGeom prst="roundRect">
            <a:avLst>
              <a:gd name="adj" fmla="val 110347"/>
            </a:avLst>
          </a:prstGeom>
          <a:solidFill>
            <a:srgbClr val="D9CECE"/>
          </a:solidFill>
          <a:ln/>
        </p:spPr>
      </p:sp>
      <p:sp>
        <p:nvSpPr>
          <p:cNvPr id="11" name="Shape 8"/>
          <p:cNvSpPr/>
          <p:nvPr/>
        </p:nvSpPr>
        <p:spPr>
          <a:xfrm>
            <a:off x="6355140" y="4379476"/>
            <a:ext cx="504468" cy="504468"/>
          </a:xfrm>
          <a:prstGeom prst="roundRect">
            <a:avLst>
              <a:gd name="adj" fmla="val 6667"/>
            </a:avLst>
          </a:prstGeom>
          <a:solidFill>
            <a:srgbClr val="F3E8E8"/>
          </a:solidFill>
          <a:ln/>
        </p:spPr>
      </p:sp>
      <p:sp>
        <p:nvSpPr>
          <p:cNvPr id="12" name="Text 9"/>
          <p:cNvSpPr/>
          <p:nvPr/>
        </p:nvSpPr>
        <p:spPr>
          <a:xfrm>
            <a:off x="6520636" y="4473416"/>
            <a:ext cx="173474" cy="316587"/>
          </a:xfrm>
          <a:prstGeom prst="rect">
            <a:avLst/>
          </a:prstGeom>
          <a:noFill/>
          <a:ln/>
        </p:spPr>
        <p:txBody>
          <a:bodyPr wrap="none" lIns="0" tIns="0" rIns="0" bIns="0" rtlCol="0" anchor="t"/>
          <a:lstStyle/>
          <a:p>
            <a:pPr marL="0" indent="0" algn="ctr">
              <a:lnSpc>
                <a:spcPts val="2450"/>
              </a:lnSpc>
              <a:buNone/>
            </a:pPr>
            <a:r>
              <a:rPr lang="en-US" sz="2450" dirty="0">
                <a:solidFill>
                  <a:srgbClr val="3B3535"/>
                </a:solidFill>
                <a:latin typeface="Red Hat Text" pitchFamily="34" charset="0"/>
                <a:ea typeface="Red Hat Text" pitchFamily="34" charset="-122"/>
                <a:cs typeface="Red Hat Text" pitchFamily="34" charset="-120"/>
              </a:rPr>
              <a:t>2</a:t>
            </a:r>
            <a:endParaRPr lang="en-US" sz="2450" dirty="0"/>
          </a:p>
        </p:txBody>
      </p:sp>
      <p:sp>
        <p:nvSpPr>
          <p:cNvPr id="13" name="Text 10"/>
          <p:cNvSpPr/>
          <p:nvPr/>
        </p:nvSpPr>
        <p:spPr>
          <a:xfrm>
            <a:off x="7840504" y="4351496"/>
            <a:ext cx="2637830" cy="329803"/>
          </a:xfrm>
          <a:prstGeom prst="rect">
            <a:avLst/>
          </a:prstGeom>
          <a:noFill/>
          <a:ln/>
        </p:spPr>
        <p:txBody>
          <a:bodyPr wrap="none" lIns="0" tIns="0" rIns="0" bIns="0" rtlCol="0" anchor="t"/>
          <a:lstStyle/>
          <a:p>
            <a:pPr marL="0" indent="0" algn="l">
              <a:lnSpc>
                <a:spcPts val="2550"/>
              </a:lnSpc>
              <a:buNone/>
            </a:pPr>
            <a:r>
              <a:rPr lang="en-US" sz="2050" dirty="0">
                <a:solidFill>
                  <a:srgbClr val="3B3535"/>
                </a:solidFill>
                <a:latin typeface="Red Hat Text" pitchFamily="34" charset="0"/>
                <a:ea typeface="Red Hat Text" pitchFamily="34" charset="-122"/>
                <a:cs typeface="Red Hat Text" pitchFamily="34" charset="-120"/>
              </a:rPr>
              <a:t>802.11n</a:t>
            </a:r>
            <a:endParaRPr lang="en-US" sz="2050" dirty="0"/>
          </a:p>
        </p:txBody>
      </p:sp>
      <p:sp>
        <p:nvSpPr>
          <p:cNvPr id="14" name="Text 11"/>
          <p:cNvSpPr/>
          <p:nvPr/>
        </p:nvSpPr>
        <p:spPr>
          <a:xfrm>
            <a:off x="7840504" y="4815721"/>
            <a:ext cx="6005155" cy="717233"/>
          </a:xfrm>
          <a:prstGeom prst="rect">
            <a:avLst/>
          </a:prstGeom>
          <a:noFill/>
          <a:ln/>
        </p:spPr>
        <p:txBody>
          <a:bodyPr wrap="square" lIns="0" tIns="0" rIns="0" bIns="0" rtlCol="0" anchor="t"/>
          <a:lstStyle/>
          <a:p>
            <a:pPr marL="0" indent="0" algn="l">
              <a:lnSpc>
                <a:spcPts val="2800"/>
              </a:lnSpc>
              <a:buNone/>
            </a:pPr>
            <a:r>
              <a:rPr lang="en-US" sz="1750" dirty="0">
                <a:solidFill>
                  <a:srgbClr val="3B3535"/>
                </a:solidFill>
                <a:latin typeface="Roboto Light" pitchFamily="34" charset="0"/>
                <a:ea typeface="Roboto Light" pitchFamily="34" charset="-122"/>
                <a:cs typeface="Roboto Light" pitchFamily="34" charset="-120"/>
              </a:rPr>
              <a:t>Introduced MIMO technology for increased throughput and range.</a:t>
            </a:r>
            <a:endParaRPr lang="en-US" sz="1750" dirty="0"/>
          </a:p>
        </p:txBody>
      </p:sp>
      <p:sp>
        <p:nvSpPr>
          <p:cNvPr id="15" name="Shape 12"/>
          <p:cNvSpPr/>
          <p:nvPr/>
        </p:nvSpPr>
        <p:spPr>
          <a:xfrm>
            <a:off x="6829127" y="6470452"/>
            <a:ext cx="784741" cy="30480"/>
          </a:xfrm>
          <a:prstGeom prst="roundRect">
            <a:avLst>
              <a:gd name="adj" fmla="val 110347"/>
            </a:avLst>
          </a:prstGeom>
          <a:solidFill>
            <a:srgbClr val="D9CECE"/>
          </a:solidFill>
          <a:ln/>
        </p:spPr>
      </p:sp>
      <p:sp>
        <p:nvSpPr>
          <p:cNvPr id="16" name="Shape 13"/>
          <p:cNvSpPr/>
          <p:nvPr/>
        </p:nvSpPr>
        <p:spPr>
          <a:xfrm>
            <a:off x="6355140" y="6233517"/>
            <a:ext cx="504468" cy="504468"/>
          </a:xfrm>
          <a:prstGeom prst="roundRect">
            <a:avLst>
              <a:gd name="adj" fmla="val 6667"/>
            </a:avLst>
          </a:prstGeom>
          <a:solidFill>
            <a:srgbClr val="F3E8E8"/>
          </a:solidFill>
          <a:ln/>
        </p:spPr>
      </p:sp>
      <p:sp>
        <p:nvSpPr>
          <p:cNvPr id="17" name="Text 14"/>
          <p:cNvSpPr/>
          <p:nvPr/>
        </p:nvSpPr>
        <p:spPr>
          <a:xfrm>
            <a:off x="6514564" y="6327458"/>
            <a:ext cx="185499" cy="316587"/>
          </a:xfrm>
          <a:prstGeom prst="rect">
            <a:avLst/>
          </a:prstGeom>
          <a:noFill/>
          <a:ln/>
        </p:spPr>
        <p:txBody>
          <a:bodyPr wrap="none" lIns="0" tIns="0" rIns="0" bIns="0" rtlCol="0" anchor="t"/>
          <a:lstStyle/>
          <a:p>
            <a:pPr marL="0" indent="0" algn="ctr">
              <a:lnSpc>
                <a:spcPts val="2450"/>
              </a:lnSpc>
              <a:buNone/>
            </a:pPr>
            <a:r>
              <a:rPr lang="en-US" sz="2450" dirty="0">
                <a:solidFill>
                  <a:srgbClr val="3B3535"/>
                </a:solidFill>
                <a:latin typeface="Red Hat Text" pitchFamily="34" charset="0"/>
                <a:ea typeface="Red Hat Text" pitchFamily="34" charset="-122"/>
                <a:cs typeface="Red Hat Text" pitchFamily="34" charset="-120"/>
              </a:rPr>
              <a:t>3</a:t>
            </a:r>
            <a:endParaRPr lang="en-US" sz="2450" dirty="0"/>
          </a:p>
        </p:txBody>
      </p:sp>
      <p:sp>
        <p:nvSpPr>
          <p:cNvPr id="18" name="Text 15"/>
          <p:cNvSpPr/>
          <p:nvPr/>
        </p:nvSpPr>
        <p:spPr>
          <a:xfrm>
            <a:off x="7840504" y="6205538"/>
            <a:ext cx="2637830" cy="329803"/>
          </a:xfrm>
          <a:prstGeom prst="rect">
            <a:avLst/>
          </a:prstGeom>
          <a:noFill/>
          <a:ln/>
        </p:spPr>
        <p:txBody>
          <a:bodyPr wrap="none" lIns="0" tIns="0" rIns="0" bIns="0" rtlCol="0" anchor="t"/>
          <a:lstStyle/>
          <a:p>
            <a:pPr marL="0" indent="0" algn="l">
              <a:lnSpc>
                <a:spcPts val="2550"/>
              </a:lnSpc>
              <a:buNone/>
            </a:pPr>
            <a:r>
              <a:rPr lang="en-US" sz="2050" dirty="0">
                <a:solidFill>
                  <a:srgbClr val="3B3535"/>
                </a:solidFill>
                <a:latin typeface="Red Hat Text" pitchFamily="34" charset="0"/>
                <a:ea typeface="Red Hat Text" pitchFamily="34" charset="-122"/>
                <a:cs typeface="Red Hat Text" pitchFamily="34" charset="-120"/>
              </a:rPr>
              <a:t>802.11ac/ax</a:t>
            </a:r>
            <a:endParaRPr lang="en-US" sz="2050" dirty="0"/>
          </a:p>
        </p:txBody>
      </p:sp>
      <p:sp>
        <p:nvSpPr>
          <p:cNvPr id="19" name="Text 16"/>
          <p:cNvSpPr/>
          <p:nvPr/>
        </p:nvSpPr>
        <p:spPr>
          <a:xfrm>
            <a:off x="7840504" y="6669762"/>
            <a:ext cx="6005155" cy="717233"/>
          </a:xfrm>
          <a:prstGeom prst="rect">
            <a:avLst/>
          </a:prstGeom>
          <a:noFill/>
          <a:ln/>
        </p:spPr>
        <p:txBody>
          <a:bodyPr wrap="square" lIns="0" tIns="0" rIns="0" bIns="0" rtlCol="0" anchor="t"/>
          <a:lstStyle/>
          <a:p>
            <a:pPr marL="0" indent="0" algn="l">
              <a:lnSpc>
                <a:spcPts val="2800"/>
              </a:lnSpc>
              <a:buNone/>
            </a:pPr>
            <a:r>
              <a:rPr lang="en-US" sz="1750" dirty="0">
                <a:solidFill>
                  <a:srgbClr val="3B3535"/>
                </a:solidFill>
                <a:latin typeface="Roboto Light" pitchFamily="34" charset="0"/>
                <a:ea typeface="Roboto Light" pitchFamily="34" charset="-122"/>
                <a:cs typeface="Roboto Light" pitchFamily="34" charset="-120"/>
              </a:rPr>
              <a:t>Modern protocols delivering gigabit-level wireless connectivity.</a:t>
            </a:r>
            <a:endParaRPr lang="en-US" sz="1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name="Slide 3">
    <p:spTree>
      <p:nvGrpSpPr>
        <p:cNvPr id="1" name=""/>
        <p:cNvGrpSpPr/>
        <p:nvPr/>
      </p:nvGrpSpPr>
      <p:grpSpPr>
        <a:xfrm>
          <a:off x="0" y="0"/>
          <a:ext cx="0" cy="0"/>
          <a:chOff x="0" y="0"/>
          <a:chExt cx="0" cy="0"/>
        </a:xfrm>
      </p:grpSpPr>
      <p:sp>
        <p:nvSpPr>
          <p:cNvPr id="2" name="Text 0"/>
          <p:cNvSpPr/>
          <p:nvPr/>
        </p:nvSpPr>
        <p:spPr>
          <a:xfrm>
            <a:off x="837724" y="1882497"/>
            <a:ext cx="12954952" cy="1408033"/>
          </a:xfrm>
          <a:prstGeom prst="rect">
            <a:avLst/>
          </a:prstGeom>
          <a:noFill/>
          <a:ln/>
        </p:spPr>
        <p:txBody>
          <a:bodyPr wrap="square" lIns="0" tIns="0" rIns="0" bIns="0" rtlCol="0" anchor="t"/>
          <a:lstStyle/>
          <a:p>
            <a:pPr marL="0" indent="0">
              <a:lnSpc>
                <a:spcPts val="5500"/>
              </a:lnSpc>
              <a:buNone/>
            </a:pPr>
            <a:r>
              <a:rPr lang="en-US" sz="4400" dirty="0">
                <a:solidFill>
                  <a:srgbClr val="1F1E1E"/>
                </a:solidFill>
                <a:latin typeface="Red Hat Text" pitchFamily="34" charset="0"/>
                <a:ea typeface="Red Hat Text" pitchFamily="34" charset="-122"/>
                <a:cs typeface="Red Hat Text" pitchFamily="34" charset="-120"/>
              </a:rPr>
              <a:t>Understanding WAP and WLAN Authentication Methods</a:t>
            </a:r>
            <a:endParaRPr lang="en-US" sz="4400" dirty="0"/>
          </a:p>
        </p:txBody>
      </p:sp>
      <p:sp>
        <p:nvSpPr>
          <p:cNvPr id="3" name="Text 1"/>
          <p:cNvSpPr/>
          <p:nvPr/>
        </p:nvSpPr>
        <p:spPr>
          <a:xfrm>
            <a:off x="837724" y="3888819"/>
            <a:ext cx="3595449" cy="351949"/>
          </a:xfrm>
          <a:prstGeom prst="rect">
            <a:avLst/>
          </a:prstGeom>
          <a:noFill/>
          <a:ln/>
        </p:spPr>
        <p:txBody>
          <a:bodyPr wrap="none" lIns="0" tIns="0" rIns="0" bIns="0" rtlCol="0" anchor="t"/>
          <a:lstStyle/>
          <a:p>
            <a:pPr marL="0" indent="0">
              <a:lnSpc>
                <a:spcPts val="2750"/>
              </a:lnSpc>
              <a:buNone/>
            </a:pPr>
            <a:r>
              <a:rPr lang="en-US" sz="2200" dirty="0">
                <a:solidFill>
                  <a:srgbClr val="1F1E1E"/>
                </a:solidFill>
                <a:latin typeface="Red Hat Text" pitchFamily="34" charset="0"/>
                <a:ea typeface="Red Hat Text" pitchFamily="34" charset="-122"/>
                <a:cs typeface="Red Hat Text" pitchFamily="34" charset="-120"/>
              </a:rPr>
              <a:t>WAP (Wireless Access Point)</a:t>
            </a:r>
            <a:endParaRPr lang="en-US" sz="2200" dirty="0"/>
          </a:p>
        </p:txBody>
      </p:sp>
      <p:sp>
        <p:nvSpPr>
          <p:cNvPr id="4" name="Text 2"/>
          <p:cNvSpPr/>
          <p:nvPr/>
        </p:nvSpPr>
        <p:spPr>
          <a:xfrm>
            <a:off x="837724" y="4480084"/>
            <a:ext cx="3928586" cy="766048"/>
          </a:xfrm>
          <a:prstGeom prst="rect">
            <a:avLst/>
          </a:prstGeom>
          <a:noFill/>
          <a:ln/>
        </p:spPr>
        <p:txBody>
          <a:bodyPr wrap="square" lIns="0" tIns="0" rIns="0" bIns="0" rtlCol="0" anchor="t"/>
          <a:lstStyle/>
          <a:p>
            <a:pPr marL="0" indent="0">
              <a:lnSpc>
                <a:spcPts val="3000"/>
              </a:lnSpc>
              <a:buNone/>
            </a:pPr>
            <a:r>
              <a:rPr lang="en-US" sz="1850" dirty="0">
                <a:solidFill>
                  <a:srgbClr val="3B3535"/>
                </a:solidFill>
                <a:latin typeface="Roboto Light" pitchFamily="34" charset="0"/>
                <a:ea typeface="Roboto Light" pitchFamily="34" charset="-122"/>
                <a:cs typeface="Roboto Light" pitchFamily="34" charset="-120"/>
              </a:rPr>
              <a:t>Provides wireless connectivity to client devices within a network.</a:t>
            </a:r>
            <a:endParaRPr lang="en-US" sz="1850" dirty="0"/>
          </a:p>
        </p:txBody>
      </p:sp>
      <p:sp>
        <p:nvSpPr>
          <p:cNvPr id="5" name="Text 3"/>
          <p:cNvSpPr/>
          <p:nvPr/>
        </p:nvSpPr>
        <p:spPr>
          <a:xfrm>
            <a:off x="5357813" y="3888819"/>
            <a:ext cx="3026331" cy="351949"/>
          </a:xfrm>
          <a:prstGeom prst="rect">
            <a:avLst/>
          </a:prstGeom>
          <a:noFill/>
          <a:ln/>
        </p:spPr>
        <p:txBody>
          <a:bodyPr wrap="none" lIns="0" tIns="0" rIns="0" bIns="0" rtlCol="0" anchor="t"/>
          <a:lstStyle/>
          <a:p>
            <a:pPr marL="0" indent="0">
              <a:lnSpc>
                <a:spcPts val="2750"/>
              </a:lnSpc>
              <a:buNone/>
            </a:pPr>
            <a:r>
              <a:rPr lang="en-US" sz="2200" dirty="0">
                <a:solidFill>
                  <a:srgbClr val="1F1E1E"/>
                </a:solidFill>
                <a:latin typeface="Red Hat Text" pitchFamily="34" charset="0"/>
                <a:ea typeface="Red Hat Text" pitchFamily="34" charset="-122"/>
                <a:cs typeface="Red Hat Text" pitchFamily="34" charset="-120"/>
              </a:rPr>
              <a:t>Authentication Methods</a:t>
            </a:r>
            <a:endParaRPr lang="en-US" sz="2200" dirty="0"/>
          </a:p>
        </p:txBody>
      </p:sp>
      <p:sp>
        <p:nvSpPr>
          <p:cNvPr id="6" name="Text 4"/>
          <p:cNvSpPr/>
          <p:nvPr/>
        </p:nvSpPr>
        <p:spPr>
          <a:xfrm>
            <a:off x="5357813" y="4480084"/>
            <a:ext cx="3928586"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3B3535"/>
                </a:solidFill>
                <a:latin typeface="Roboto Light" pitchFamily="34" charset="0"/>
                <a:ea typeface="Roboto Light" pitchFamily="34" charset="-122"/>
                <a:cs typeface="Roboto Light" pitchFamily="34" charset="-120"/>
              </a:rPr>
              <a:t>Open System</a:t>
            </a:r>
            <a:endParaRPr lang="en-US" sz="1850" dirty="0"/>
          </a:p>
        </p:txBody>
      </p:sp>
      <p:sp>
        <p:nvSpPr>
          <p:cNvPr id="7" name="Text 5"/>
          <p:cNvSpPr/>
          <p:nvPr/>
        </p:nvSpPr>
        <p:spPr>
          <a:xfrm>
            <a:off x="5357813" y="4946809"/>
            <a:ext cx="3928586"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3B3535"/>
                </a:solidFill>
                <a:latin typeface="Roboto Light" pitchFamily="34" charset="0"/>
                <a:ea typeface="Roboto Light" pitchFamily="34" charset="-122"/>
                <a:cs typeface="Roboto Light" pitchFamily="34" charset="-120"/>
              </a:rPr>
              <a:t>Shared Key</a:t>
            </a:r>
            <a:endParaRPr lang="en-US" sz="1850" dirty="0"/>
          </a:p>
        </p:txBody>
      </p:sp>
      <p:sp>
        <p:nvSpPr>
          <p:cNvPr id="8" name="Text 6"/>
          <p:cNvSpPr/>
          <p:nvPr/>
        </p:nvSpPr>
        <p:spPr>
          <a:xfrm>
            <a:off x="5357813" y="5413534"/>
            <a:ext cx="3928586"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3B3535"/>
                </a:solidFill>
                <a:latin typeface="Roboto Light" pitchFamily="34" charset="0"/>
                <a:ea typeface="Roboto Light" pitchFamily="34" charset="-122"/>
                <a:cs typeface="Roboto Light" pitchFamily="34" charset="-120"/>
              </a:rPr>
              <a:t>802.1X</a:t>
            </a:r>
            <a:endParaRPr lang="en-US" sz="1850" dirty="0"/>
          </a:p>
        </p:txBody>
      </p:sp>
      <p:sp>
        <p:nvSpPr>
          <p:cNvPr id="9" name="Text 7"/>
          <p:cNvSpPr/>
          <p:nvPr/>
        </p:nvSpPr>
        <p:spPr>
          <a:xfrm>
            <a:off x="5357813" y="5880259"/>
            <a:ext cx="3928586"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3B3535"/>
                </a:solidFill>
                <a:latin typeface="Roboto Light" pitchFamily="34" charset="0"/>
                <a:ea typeface="Roboto Light" pitchFamily="34" charset="-122"/>
                <a:cs typeface="Roboto Light" pitchFamily="34" charset="-120"/>
              </a:rPr>
              <a:t>PSK (Pre-Shared Key)</a:t>
            </a:r>
            <a:endParaRPr lang="en-US" sz="1850" dirty="0"/>
          </a:p>
        </p:txBody>
      </p:sp>
      <p:sp>
        <p:nvSpPr>
          <p:cNvPr id="10" name="Text 8"/>
          <p:cNvSpPr/>
          <p:nvPr/>
        </p:nvSpPr>
        <p:spPr>
          <a:xfrm>
            <a:off x="9877901" y="3888819"/>
            <a:ext cx="2816185" cy="351949"/>
          </a:xfrm>
          <a:prstGeom prst="rect">
            <a:avLst/>
          </a:prstGeom>
          <a:noFill/>
          <a:ln/>
        </p:spPr>
        <p:txBody>
          <a:bodyPr wrap="none" lIns="0" tIns="0" rIns="0" bIns="0" rtlCol="0" anchor="t"/>
          <a:lstStyle/>
          <a:p>
            <a:pPr marL="0" indent="0">
              <a:lnSpc>
                <a:spcPts val="2750"/>
              </a:lnSpc>
              <a:buNone/>
            </a:pPr>
            <a:r>
              <a:rPr lang="en-US" sz="2200" dirty="0">
                <a:solidFill>
                  <a:srgbClr val="1F1E1E"/>
                </a:solidFill>
                <a:latin typeface="Red Hat Text" pitchFamily="34" charset="0"/>
                <a:ea typeface="Red Hat Text" pitchFamily="34" charset="-122"/>
                <a:cs typeface="Red Hat Text" pitchFamily="34" charset="-120"/>
              </a:rPr>
              <a:t>WLAN (Wireless LAN)</a:t>
            </a:r>
            <a:endParaRPr lang="en-US" sz="2200" dirty="0"/>
          </a:p>
        </p:txBody>
      </p:sp>
      <p:sp>
        <p:nvSpPr>
          <p:cNvPr id="11" name="Text 9"/>
          <p:cNvSpPr/>
          <p:nvPr/>
        </p:nvSpPr>
        <p:spPr>
          <a:xfrm>
            <a:off x="9877901" y="4480084"/>
            <a:ext cx="3928586" cy="766048"/>
          </a:xfrm>
          <a:prstGeom prst="rect">
            <a:avLst/>
          </a:prstGeom>
          <a:noFill/>
          <a:ln/>
        </p:spPr>
        <p:txBody>
          <a:bodyPr wrap="square" lIns="0" tIns="0" rIns="0" bIns="0" rtlCol="0" anchor="t"/>
          <a:lstStyle/>
          <a:p>
            <a:pPr marL="0" indent="0">
              <a:lnSpc>
                <a:spcPts val="3000"/>
              </a:lnSpc>
              <a:buNone/>
            </a:pPr>
            <a:r>
              <a:rPr lang="en-US" sz="1850" dirty="0">
                <a:solidFill>
                  <a:srgbClr val="3B3535"/>
                </a:solidFill>
                <a:latin typeface="Roboto Light" pitchFamily="34" charset="0"/>
                <a:ea typeface="Roboto Light" pitchFamily="34" charset="-122"/>
                <a:cs typeface="Roboto Light" pitchFamily="34" charset="-120"/>
              </a:rPr>
              <a:t>The wireless network infrastructure that connects clients to resources.</a:t>
            </a:r>
            <a:endParaRPr lang="en-US" sz="1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24122" y="682942"/>
            <a:ext cx="7468553" cy="1408033"/>
          </a:xfrm>
          <a:prstGeom prst="rect">
            <a:avLst/>
          </a:prstGeom>
          <a:noFill/>
          <a:ln/>
        </p:spPr>
        <p:txBody>
          <a:bodyPr wrap="square" lIns="0" tIns="0" rIns="0" bIns="0" rtlCol="0" anchor="t"/>
          <a:lstStyle/>
          <a:p>
            <a:pPr marL="0" indent="0">
              <a:lnSpc>
                <a:spcPts val="5500"/>
              </a:lnSpc>
              <a:buNone/>
            </a:pPr>
            <a:r>
              <a:rPr lang="en-US" sz="4400" dirty="0">
                <a:solidFill>
                  <a:srgbClr val="1F1E1E"/>
                </a:solidFill>
                <a:latin typeface="Red Hat Text" pitchFamily="34" charset="0"/>
                <a:ea typeface="Red Hat Text" pitchFamily="34" charset="-122"/>
                <a:cs typeface="Red Hat Text" pitchFamily="34" charset="-120"/>
              </a:rPr>
              <a:t>Encryption Protocols: WEP, WPA, and WPA2</a:t>
            </a:r>
            <a:endParaRPr lang="en-US" sz="4400" dirty="0"/>
          </a:p>
        </p:txBody>
      </p:sp>
      <p:sp>
        <p:nvSpPr>
          <p:cNvPr id="4" name="Shape 1"/>
          <p:cNvSpPr/>
          <p:nvPr/>
        </p:nvSpPr>
        <p:spPr>
          <a:xfrm>
            <a:off x="6324124" y="2357894"/>
            <a:ext cx="3614618" cy="2092166"/>
          </a:xfrm>
          <a:prstGeom prst="roundRect">
            <a:avLst>
              <a:gd name="adj" fmla="val 1716"/>
            </a:avLst>
          </a:prstGeom>
          <a:solidFill>
            <a:srgbClr val="F3E8E8"/>
          </a:solidFill>
          <a:ln/>
        </p:spPr>
      </p:sp>
      <p:sp>
        <p:nvSpPr>
          <p:cNvPr id="5" name="Text 2"/>
          <p:cNvSpPr/>
          <p:nvPr/>
        </p:nvSpPr>
        <p:spPr>
          <a:xfrm>
            <a:off x="6563439" y="2597209"/>
            <a:ext cx="3135987" cy="703898"/>
          </a:xfrm>
          <a:prstGeom prst="rect">
            <a:avLst/>
          </a:prstGeom>
          <a:noFill/>
          <a:ln/>
        </p:spPr>
        <p:txBody>
          <a:bodyPr wrap="square" lIns="0" tIns="0" rIns="0" bIns="0" rtlCol="0" anchor="t"/>
          <a:lstStyle/>
          <a:p>
            <a:pPr marL="0" indent="0">
              <a:lnSpc>
                <a:spcPts val="2750"/>
              </a:lnSpc>
              <a:buNone/>
            </a:pPr>
            <a:r>
              <a:rPr lang="en-US" sz="2200" dirty="0">
                <a:solidFill>
                  <a:srgbClr val="3B3535"/>
                </a:solidFill>
                <a:latin typeface="Red Hat Text" pitchFamily="34" charset="0"/>
                <a:ea typeface="Red Hat Text" pitchFamily="34" charset="-122"/>
                <a:cs typeface="Red Hat Text" pitchFamily="34" charset="-120"/>
              </a:rPr>
              <a:t>WEP (Wired Equivalent Privacy)</a:t>
            </a:r>
            <a:endParaRPr lang="en-US" sz="2200" dirty="0"/>
          </a:p>
        </p:txBody>
      </p:sp>
      <p:sp>
        <p:nvSpPr>
          <p:cNvPr id="6" name="Text 3"/>
          <p:cNvSpPr/>
          <p:nvPr/>
        </p:nvSpPr>
        <p:spPr>
          <a:xfrm>
            <a:off x="6563439" y="3444696"/>
            <a:ext cx="3135987" cy="766048"/>
          </a:xfrm>
          <a:prstGeom prst="rect">
            <a:avLst/>
          </a:prstGeom>
          <a:noFill/>
          <a:ln/>
        </p:spPr>
        <p:txBody>
          <a:bodyPr wrap="square" lIns="0" tIns="0" rIns="0" bIns="0" rtlCol="0" anchor="t"/>
          <a:lstStyle/>
          <a:p>
            <a:pPr marL="0" indent="0">
              <a:lnSpc>
                <a:spcPts val="3000"/>
              </a:lnSpc>
              <a:buNone/>
            </a:pPr>
            <a:r>
              <a:rPr lang="en-US" sz="1850" dirty="0">
                <a:solidFill>
                  <a:srgbClr val="3B3535"/>
                </a:solidFill>
                <a:latin typeface="Roboto Light" pitchFamily="34" charset="0"/>
                <a:ea typeface="Roboto Light" pitchFamily="34" charset="-122"/>
                <a:cs typeface="Roboto Light" pitchFamily="34" charset="-120"/>
              </a:rPr>
              <a:t>Legacy encryption protocol with known vulnerabilities.</a:t>
            </a:r>
            <a:endParaRPr lang="en-US" sz="1850" dirty="0"/>
          </a:p>
        </p:txBody>
      </p:sp>
      <p:sp>
        <p:nvSpPr>
          <p:cNvPr id="7" name="Shape 4"/>
          <p:cNvSpPr/>
          <p:nvPr/>
        </p:nvSpPr>
        <p:spPr>
          <a:xfrm>
            <a:off x="10058399" y="2357894"/>
            <a:ext cx="3614618" cy="2092166"/>
          </a:xfrm>
          <a:prstGeom prst="roundRect">
            <a:avLst>
              <a:gd name="adj" fmla="val 1716"/>
            </a:avLst>
          </a:prstGeom>
          <a:solidFill>
            <a:srgbClr val="F3E8E8"/>
          </a:solidFill>
          <a:ln/>
        </p:spPr>
      </p:sp>
      <p:sp>
        <p:nvSpPr>
          <p:cNvPr id="8" name="Text 5"/>
          <p:cNvSpPr/>
          <p:nvPr/>
        </p:nvSpPr>
        <p:spPr>
          <a:xfrm>
            <a:off x="10417373" y="2597209"/>
            <a:ext cx="3135987" cy="703898"/>
          </a:xfrm>
          <a:prstGeom prst="rect">
            <a:avLst/>
          </a:prstGeom>
          <a:noFill/>
          <a:ln/>
        </p:spPr>
        <p:txBody>
          <a:bodyPr wrap="square" lIns="0" tIns="0" rIns="0" bIns="0" rtlCol="0" anchor="t"/>
          <a:lstStyle/>
          <a:p>
            <a:pPr marL="0" indent="0">
              <a:lnSpc>
                <a:spcPts val="2750"/>
              </a:lnSpc>
              <a:buNone/>
            </a:pPr>
            <a:r>
              <a:rPr lang="en-US" sz="2200" dirty="0">
                <a:solidFill>
                  <a:srgbClr val="3B3535"/>
                </a:solidFill>
                <a:latin typeface="Red Hat Text" pitchFamily="34" charset="0"/>
                <a:ea typeface="Red Hat Text" pitchFamily="34" charset="-122"/>
                <a:cs typeface="Red Hat Text" pitchFamily="34" charset="-120"/>
              </a:rPr>
              <a:t>WPA (Wi-Fi Protected Access)</a:t>
            </a:r>
            <a:endParaRPr lang="en-US" sz="2200" dirty="0"/>
          </a:p>
        </p:txBody>
      </p:sp>
      <p:sp>
        <p:nvSpPr>
          <p:cNvPr id="9" name="Text 6"/>
          <p:cNvSpPr/>
          <p:nvPr/>
        </p:nvSpPr>
        <p:spPr>
          <a:xfrm>
            <a:off x="10417373" y="3444696"/>
            <a:ext cx="3135987" cy="766048"/>
          </a:xfrm>
          <a:prstGeom prst="rect">
            <a:avLst/>
          </a:prstGeom>
          <a:noFill/>
          <a:ln/>
        </p:spPr>
        <p:txBody>
          <a:bodyPr wrap="square" lIns="0" tIns="0" rIns="0" bIns="0" rtlCol="0" anchor="t"/>
          <a:lstStyle/>
          <a:p>
            <a:pPr marL="0" indent="0">
              <a:lnSpc>
                <a:spcPts val="3000"/>
              </a:lnSpc>
              <a:buNone/>
            </a:pPr>
            <a:r>
              <a:rPr lang="en-US" sz="1850" dirty="0">
                <a:solidFill>
                  <a:srgbClr val="3B3535"/>
                </a:solidFill>
                <a:latin typeface="Roboto Light" pitchFamily="34" charset="0"/>
                <a:ea typeface="Roboto Light" pitchFamily="34" charset="-122"/>
                <a:cs typeface="Roboto Light" pitchFamily="34" charset="-120"/>
              </a:rPr>
              <a:t>Improved encryption and authentication over WEP.</a:t>
            </a:r>
            <a:endParaRPr lang="en-US" sz="1850" dirty="0"/>
          </a:p>
        </p:txBody>
      </p:sp>
      <p:sp>
        <p:nvSpPr>
          <p:cNvPr id="10" name="Shape 7"/>
          <p:cNvSpPr/>
          <p:nvPr/>
        </p:nvSpPr>
        <p:spPr>
          <a:xfrm>
            <a:off x="6324124" y="4689376"/>
            <a:ext cx="7468553" cy="1357193"/>
          </a:xfrm>
          <a:prstGeom prst="roundRect">
            <a:avLst>
              <a:gd name="adj" fmla="val 2646"/>
            </a:avLst>
          </a:prstGeom>
          <a:solidFill>
            <a:srgbClr val="F3E8E8"/>
          </a:solidFill>
          <a:ln/>
        </p:spPr>
      </p:sp>
      <p:sp>
        <p:nvSpPr>
          <p:cNvPr id="11" name="Text 8"/>
          <p:cNvSpPr/>
          <p:nvPr/>
        </p:nvSpPr>
        <p:spPr>
          <a:xfrm>
            <a:off x="6563439" y="4928691"/>
            <a:ext cx="4197548" cy="351949"/>
          </a:xfrm>
          <a:prstGeom prst="rect">
            <a:avLst/>
          </a:prstGeom>
          <a:noFill/>
          <a:ln/>
        </p:spPr>
        <p:txBody>
          <a:bodyPr wrap="none" lIns="0" tIns="0" rIns="0" bIns="0" rtlCol="0" anchor="t"/>
          <a:lstStyle/>
          <a:p>
            <a:pPr marL="0" indent="0">
              <a:lnSpc>
                <a:spcPts val="2750"/>
              </a:lnSpc>
              <a:buNone/>
            </a:pPr>
            <a:r>
              <a:rPr lang="en-US" sz="2200" dirty="0">
                <a:solidFill>
                  <a:srgbClr val="3B3535"/>
                </a:solidFill>
                <a:latin typeface="Red Hat Text" pitchFamily="34" charset="0"/>
                <a:ea typeface="Red Hat Text" pitchFamily="34" charset="-122"/>
                <a:cs typeface="Red Hat Text" pitchFamily="34" charset="-120"/>
              </a:rPr>
              <a:t>WPA2 (Wi-Fi Protected Access 2)</a:t>
            </a:r>
            <a:endParaRPr lang="en-US" sz="2200" dirty="0"/>
          </a:p>
        </p:txBody>
      </p:sp>
      <p:sp>
        <p:nvSpPr>
          <p:cNvPr id="12" name="Text 9"/>
          <p:cNvSpPr/>
          <p:nvPr/>
        </p:nvSpPr>
        <p:spPr>
          <a:xfrm>
            <a:off x="6563439" y="5424229"/>
            <a:ext cx="6989921" cy="383024"/>
          </a:xfrm>
          <a:prstGeom prst="rect">
            <a:avLst/>
          </a:prstGeom>
          <a:noFill/>
          <a:ln/>
        </p:spPr>
        <p:txBody>
          <a:bodyPr wrap="none" lIns="0" tIns="0" rIns="0" bIns="0" rtlCol="0" anchor="t"/>
          <a:lstStyle/>
          <a:p>
            <a:pPr marL="0" indent="0">
              <a:lnSpc>
                <a:spcPts val="3000"/>
              </a:lnSpc>
              <a:buNone/>
            </a:pPr>
            <a:r>
              <a:rPr lang="en-US" sz="1850" dirty="0">
                <a:solidFill>
                  <a:srgbClr val="3B3535"/>
                </a:solidFill>
                <a:latin typeface="Roboto Light" pitchFamily="34" charset="0"/>
                <a:ea typeface="Roboto Light" pitchFamily="34" charset="-122"/>
                <a:cs typeface="Roboto Light" pitchFamily="34" charset="-120"/>
              </a:rPr>
              <a:t>Current industry standard for wireless encryption and security.</a:t>
            </a:r>
            <a:endParaRPr lang="en-US" sz="1850" dirty="0"/>
          </a:p>
        </p:txBody>
      </p:sp>
      <p:sp>
        <p:nvSpPr>
          <p:cNvPr id="14" name="TextBox 13">
            <a:extLst>
              <a:ext uri="{FF2B5EF4-FFF2-40B4-BE49-F238E27FC236}">
                <a16:creationId xmlns:a16="http://schemas.microsoft.com/office/drawing/2014/main" id="{747313CC-595A-3E67-6E09-9EDCBDF743F5}"/>
              </a:ext>
            </a:extLst>
          </p:cNvPr>
          <p:cNvSpPr txBox="1"/>
          <p:nvPr/>
        </p:nvSpPr>
        <p:spPr>
          <a:xfrm>
            <a:off x="6324124" y="6360131"/>
            <a:ext cx="3024271" cy="1477328"/>
          </a:xfrm>
          <a:prstGeom prst="rect">
            <a:avLst/>
          </a:prstGeom>
          <a:noFill/>
        </p:spPr>
        <p:txBody>
          <a:bodyPr wrap="square">
            <a:spAutoFit/>
          </a:bodyPr>
          <a:lstStyle/>
          <a:p>
            <a:r>
              <a:rPr lang="en-US" dirty="0"/>
              <a:t>KRACK attack</a:t>
            </a:r>
          </a:p>
          <a:p>
            <a:endParaRPr lang="en-US" dirty="0"/>
          </a:p>
          <a:p>
            <a:pPr algn="just"/>
            <a:r>
              <a:rPr lang="en-US" dirty="0"/>
              <a:t>Affects WPA2 and exploits the four-way handshake process to intercept data.</a:t>
            </a:r>
            <a:endParaRPr lang="en-IN" dirty="0"/>
          </a:p>
        </p:txBody>
      </p:sp>
      <p:sp>
        <p:nvSpPr>
          <p:cNvPr id="16" name="TextBox 15">
            <a:extLst>
              <a:ext uri="{FF2B5EF4-FFF2-40B4-BE49-F238E27FC236}">
                <a16:creationId xmlns:a16="http://schemas.microsoft.com/office/drawing/2014/main" id="{D4609E66-4E40-6292-014A-3742D31C3753}"/>
              </a:ext>
            </a:extLst>
          </p:cNvPr>
          <p:cNvSpPr txBox="1"/>
          <p:nvPr/>
        </p:nvSpPr>
        <p:spPr>
          <a:xfrm>
            <a:off x="445804" y="7093692"/>
            <a:ext cx="4594792" cy="534762"/>
          </a:xfrm>
          <a:prstGeom prst="rect">
            <a:avLst/>
          </a:prstGeom>
          <a:noFill/>
        </p:spPr>
        <p:txBody>
          <a:bodyPr wrap="square">
            <a:spAutoFit/>
          </a:bodyPr>
          <a:lstStyle/>
          <a:p>
            <a:pPr algn="l">
              <a:lnSpc>
                <a:spcPts val="1650"/>
              </a:lnSpc>
            </a:pPr>
            <a:r>
              <a:rPr lang="en-US" i="0" dirty="0">
                <a:effectLst/>
                <a:latin typeface="Google Sans"/>
              </a:rPr>
              <a:t>Beck-Tews attack</a:t>
            </a:r>
          </a:p>
          <a:p>
            <a:pPr algn="l">
              <a:lnSpc>
                <a:spcPts val="1650"/>
              </a:lnSpc>
            </a:pPr>
            <a:r>
              <a:rPr lang="en-US" b="0" i="0" dirty="0">
                <a:effectLst/>
                <a:latin typeface="Google Sans"/>
              </a:rPr>
              <a:t>Targets WPA's TKIP encryption. </a:t>
            </a:r>
          </a:p>
        </p:txBody>
      </p:sp>
      <p:sp>
        <p:nvSpPr>
          <p:cNvPr id="18" name="TextBox 17">
            <a:extLst>
              <a:ext uri="{FF2B5EF4-FFF2-40B4-BE49-F238E27FC236}">
                <a16:creationId xmlns:a16="http://schemas.microsoft.com/office/drawing/2014/main" id="{C03D449E-0B7A-E784-37FE-9EE3DEE68A19}"/>
              </a:ext>
            </a:extLst>
          </p:cNvPr>
          <p:cNvSpPr txBox="1"/>
          <p:nvPr/>
        </p:nvSpPr>
        <p:spPr>
          <a:xfrm>
            <a:off x="9451903" y="6360131"/>
            <a:ext cx="5066926" cy="1376659"/>
          </a:xfrm>
          <a:prstGeom prst="rect">
            <a:avLst/>
          </a:prstGeom>
          <a:noFill/>
        </p:spPr>
        <p:txBody>
          <a:bodyPr wrap="square">
            <a:spAutoFit/>
          </a:bodyPr>
          <a:lstStyle/>
          <a:p>
            <a:pPr algn="l">
              <a:lnSpc>
                <a:spcPts val="1650"/>
              </a:lnSpc>
              <a:spcBef>
                <a:spcPts val="750"/>
              </a:spcBef>
              <a:spcAft>
                <a:spcPts val="600"/>
              </a:spcAft>
            </a:pPr>
            <a:r>
              <a:rPr lang="en-US" i="0" dirty="0">
                <a:effectLst/>
                <a:latin typeface="Google Sans"/>
              </a:rPr>
              <a:t>Session key negotiation</a:t>
            </a:r>
          </a:p>
          <a:p>
            <a:pPr algn="just" fontAlgn="ctr">
              <a:lnSpc>
                <a:spcPts val="1650"/>
              </a:lnSpc>
              <a:spcBef>
                <a:spcPts val="750"/>
              </a:spcBef>
              <a:spcAft>
                <a:spcPts val="600"/>
              </a:spcAft>
            </a:pPr>
            <a:r>
              <a:rPr lang="en-US" b="0" i="0" dirty="0">
                <a:effectLst/>
                <a:latin typeface="Google Sans"/>
              </a:rPr>
              <a:t>WPA and WPA2 have multiple vulnerabilities that affect session key negotiation. lead to attacks like arbitrary packet decryption and injection, and TCP connection hijacking.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37724" y="845820"/>
            <a:ext cx="7468553" cy="2112050"/>
          </a:xfrm>
          <a:prstGeom prst="rect">
            <a:avLst/>
          </a:prstGeom>
          <a:noFill/>
          <a:ln/>
        </p:spPr>
        <p:txBody>
          <a:bodyPr wrap="square" lIns="0" tIns="0" rIns="0" bIns="0" rtlCol="0" anchor="t"/>
          <a:lstStyle/>
          <a:p>
            <a:pPr marL="0" indent="0">
              <a:lnSpc>
                <a:spcPts val="5500"/>
              </a:lnSpc>
              <a:buNone/>
            </a:pPr>
            <a:r>
              <a:rPr lang="en-US" sz="4400" dirty="0">
                <a:solidFill>
                  <a:srgbClr val="1F1E1E"/>
                </a:solidFill>
                <a:latin typeface="Red Hat Text" pitchFamily="34" charset="0"/>
                <a:ea typeface="Red Hat Text" pitchFamily="34" charset="-122"/>
                <a:cs typeface="Red Hat Text" pitchFamily="34" charset="-120"/>
              </a:rPr>
              <a:t>Vulnerabilities and Weaknesses in Encryption Protocols</a:t>
            </a:r>
            <a:endParaRPr lang="en-US" sz="4400" dirty="0"/>
          </a:p>
        </p:txBody>
      </p:sp>
      <p:sp>
        <p:nvSpPr>
          <p:cNvPr id="4" name="Shape 1"/>
          <p:cNvSpPr/>
          <p:nvPr/>
        </p:nvSpPr>
        <p:spPr>
          <a:xfrm>
            <a:off x="837724" y="3586043"/>
            <a:ext cx="538520" cy="538520"/>
          </a:xfrm>
          <a:prstGeom prst="roundRect">
            <a:avLst>
              <a:gd name="adj" fmla="val 6668"/>
            </a:avLst>
          </a:prstGeom>
          <a:solidFill>
            <a:srgbClr val="F3E8E8"/>
          </a:solidFill>
          <a:ln/>
        </p:spPr>
      </p:sp>
      <p:sp>
        <p:nvSpPr>
          <p:cNvPr id="5" name="Text 2"/>
          <p:cNvSpPr/>
          <p:nvPr/>
        </p:nvSpPr>
        <p:spPr>
          <a:xfrm>
            <a:off x="1055013" y="3686294"/>
            <a:ext cx="103823" cy="337899"/>
          </a:xfrm>
          <a:prstGeom prst="rect">
            <a:avLst/>
          </a:prstGeom>
          <a:noFill/>
          <a:ln/>
        </p:spPr>
        <p:txBody>
          <a:bodyPr wrap="none" lIns="0" tIns="0" rIns="0" bIns="0" rtlCol="0" anchor="t"/>
          <a:lstStyle/>
          <a:p>
            <a:pPr marL="0" indent="0" algn="ctr">
              <a:lnSpc>
                <a:spcPts val="2650"/>
              </a:lnSpc>
              <a:buNone/>
            </a:pPr>
            <a:r>
              <a:rPr lang="en-US" sz="2650" dirty="0">
                <a:solidFill>
                  <a:srgbClr val="3B3535"/>
                </a:solidFill>
                <a:latin typeface="Red Hat Text" pitchFamily="34" charset="0"/>
                <a:ea typeface="Red Hat Text" pitchFamily="34" charset="-122"/>
                <a:cs typeface="Red Hat Text" pitchFamily="34" charset="-120"/>
              </a:rPr>
              <a:t>1</a:t>
            </a:r>
            <a:endParaRPr lang="en-US" sz="2650" dirty="0"/>
          </a:p>
        </p:txBody>
      </p:sp>
      <p:sp>
        <p:nvSpPr>
          <p:cNvPr id="6" name="Text 3"/>
          <p:cNvSpPr/>
          <p:nvPr/>
        </p:nvSpPr>
        <p:spPr>
          <a:xfrm>
            <a:off x="1615559" y="3586043"/>
            <a:ext cx="2816185" cy="351949"/>
          </a:xfrm>
          <a:prstGeom prst="rect">
            <a:avLst/>
          </a:prstGeom>
          <a:noFill/>
          <a:ln/>
        </p:spPr>
        <p:txBody>
          <a:bodyPr wrap="none" lIns="0" tIns="0" rIns="0" bIns="0" rtlCol="0" anchor="t"/>
          <a:lstStyle/>
          <a:p>
            <a:pPr marL="0" indent="0">
              <a:lnSpc>
                <a:spcPts val="2750"/>
              </a:lnSpc>
              <a:buNone/>
            </a:pPr>
            <a:r>
              <a:rPr lang="en-US" sz="2200" dirty="0">
                <a:solidFill>
                  <a:srgbClr val="3B3535"/>
                </a:solidFill>
                <a:latin typeface="Red Hat Text" pitchFamily="34" charset="0"/>
                <a:ea typeface="Red Hat Text" pitchFamily="34" charset="-122"/>
                <a:cs typeface="Red Hat Text" pitchFamily="34" charset="-120"/>
              </a:rPr>
              <a:t>WEP Weaknesses</a:t>
            </a:r>
            <a:endParaRPr lang="en-US" sz="2200" dirty="0"/>
          </a:p>
        </p:txBody>
      </p:sp>
      <p:sp>
        <p:nvSpPr>
          <p:cNvPr id="7" name="Text 4"/>
          <p:cNvSpPr/>
          <p:nvPr/>
        </p:nvSpPr>
        <p:spPr>
          <a:xfrm>
            <a:off x="1615559" y="4081582"/>
            <a:ext cx="2836783" cy="1532096"/>
          </a:xfrm>
          <a:prstGeom prst="rect">
            <a:avLst/>
          </a:prstGeom>
          <a:noFill/>
          <a:ln/>
        </p:spPr>
        <p:txBody>
          <a:bodyPr wrap="square" lIns="0" tIns="0" rIns="0" bIns="0" rtlCol="0" anchor="t"/>
          <a:lstStyle/>
          <a:p>
            <a:pPr marL="0" indent="0">
              <a:lnSpc>
                <a:spcPts val="3000"/>
              </a:lnSpc>
              <a:buNone/>
            </a:pPr>
            <a:r>
              <a:rPr lang="en-US" sz="1850" dirty="0">
                <a:solidFill>
                  <a:srgbClr val="3B3535"/>
                </a:solidFill>
                <a:latin typeface="Roboto Light" pitchFamily="34" charset="0"/>
                <a:ea typeface="Roboto Light" pitchFamily="34" charset="-122"/>
                <a:cs typeface="Roboto Light" pitchFamily="34" charset="-120"/>
              </a:rPr>
              <a:t>Static encryption keys, IV (Initialization Vector) reuse, and lack of encryption integrity.</a:t>
            </a:r>
            <a:endParaRPr lang="en-US" sz="1850" dirty="0"/>
          </a:p>
        </p:txBody>
      </p:sp>
      <p:sp>
        <p:nvSpPr>
          <p:cNvPr id="8" name="Shape 5"/>
          <p:cNvSpPr/>
          <p:nvPr/>
        </p:nvSpPr>
        <p:spPr>
          <a:xfrm>
            <a:off x="4691658" y="3586043"/>
            <a:ext cx="538520" cy="538520"/>
          </a:xfrm>
          <a:prstGeom prst="roundRect">
            <a:avLst>
              <a:gd name="adj" fmla="val 6668"/>
            </a:avLst>
          </a:prstGeom>
          <a:solidFill>
            <a:srgbClr val="F3E8E8"/>
          </a:solidFill>
          <a:ln/>
        </p:spPr>
      </p:sp>
      <p:sp>
        <p:nvSpPr>
          <p:cNvPr id="9" name="Text 6"/>
          <p:cNvSpPr/>
          <p:nvPr/>
        </p:nvSpPr>
        <p:spPr>
          <a:xfrm>
            <a:off x="4868228" y="3686294"/>
            <a:ext cx="185261" cy="337899"/>
          </a:xfrm>
          <a:prstGeom prst="rect">
            <a:avLst/>
          </a:prstGeom>
          <a:noFill/>
          <a:ln/>
        </p:spPr>
        <p:txBody>
          <a:bodyPr wrap="none" lIns="0" tIns="0" rIns="0" bIns="0" rtlCol="0" anchor="t"/>
          <a:lstStyle/>
          <a:p>
            <a:pPr marL="0" indent="0" algn="ctr">
              <a:lnSpc>
                <a:spcPts val="2650"/>
              </a:lnSpc>
              <a:buNone/>
            </a:pPr>
            <a:r>
              <a:rPr lang="en-US" sz="2650" dirty="0">
                <a:solidFill>
                  <a:srgbClr val="3B3535"/>
                </a:solidFill>
                <a:latin typeface="Red Hat Text" pitchFamily="34" charset="0"/>
                <a:ea typeface="Red Hat Text" pitchFamily="34" charset="-122"/>
                <a:cs typeface="Red Hat Text" pitchFamily="34" charset="-120"/>
              </a:rPr>
              <a:t>2</a:t>
            </a:r>
            <a:endParaRPr lang="en-US" sz="2650" dirty="0"/>
          </a:p>
        </p:txBody>
      </p:sp>
      <p:sp>
        <p:nvSpPr>
          <p:cNvPr id="10" name="Text 7"/>
          <p:cNvSpPr/>
          <p:nvPr/>
        </p:nvSpPr>
        <p:spPr>
          <a:xfrm>
            <a:off x="5469493" y="3586043"/>
            <a:ext cx="2816185" cy="351949"/>
          </a:xfrm>
          <a:prstGeom prst="rect">
            <a:avLst/>
          </a:prstGeom>
          <a:noFill/>
          <a:ln/>
        </p:spPr>
        <p:txBody>
          <a:bodyPr wrap="none" lIns="0" tIns="0" rIns="0" bIns="0" rtlCol="0" anchor="t"/>
          <a:lstStyle/>
          <a:p>
            <a:pPr marL="0" indent="0">
              <a:lnSpc>
                <a:spcPts val="2750"/>
              </a:lnSpc>
              <a:buNone/>
            </a:pPr>
            <a:r>
              <a:rPr lang="en-US" sz="2200" dirty="0">
                <a:solidFill>
                  <a:srgbClr val="3B3535"/>
                </a:solidFill>
                <a:latin typeface="Red Hat Text" pitchFamily="34" charset="0"/>
                <a:ea typeface="Red Hat Text" pitchFamily="34" charset="-122"/>
                <a:cs typeface="Red Hat Text" pitchFamily="34" charset="-120"/>
              </a:rPr>
              <a:t>WPA Vulnerabilities</a:t>
            </a:r>
            <a:endParaRPr lang="en-US" sz="2200" dirty="0"/>
          </a:p>
        </p:txBody>
      </p:sp>
      <p:sp>
        <p:nvSpPr>
          <p:cNvPr id="11" name="Text 8"/>
          <p:cNvSpPr/>
          <p:nvPr/>
        </p:nvSpPr>
        <p:spPr>
          <a:xfrm>
            <a:off x="5469493" y="4081582"/>
            <a:ext cx="2836783" cy="1149072"/>
          </a:xfrm>
          <a:prstGeom prst="rect">
            <a:avLst/>
          </a:prstGeom>
          <a:noFill/>
          <a:ln/>
        </p:spPr>
        <p:txBody>
          <a:bodyPr wrap="square" lIns="0" tIns="0" rIns="0" bIns="0" rtlCol="0" anchor="t"/>
          <a:lstStyle/>
          <a:p>
            <a:pPr marL="0" indent="0">
              <a:lnSpc>
                <a:spcPts val="3000"/>
              </a:lnSpc>
              <a:buNone/>
            </a:pPr>
            <a:r>
              <a:rPr lang="en-US" sz="1850" dirty="0">
                <a:solidFill>
                  <a:srgbClr val="3B3535"/>
                </a:solidFill>
                <a:latin typeface="Roboto Light" pitchFamily="34" charset="0"/>
                <a:ea typeface="Roboto Light" pitchFamily="34" charset="-122"/>
                <a:cs typeface="Roboto Light" pitchFamily="34" charset="-120"/>
              </a:rPr>
              <a:t>Potential for brute-force attacks on pre-shared keys (PSK).</a:t>
            </a:r>
            <a:endParaRPr lang="en-US" sz="1850" dirty="0"/>
          </a:p>
        </p:txBody>
      </p:sp>
      <p:sp>
        <p:nvSpPr>
          <p:cNvPr id="12" name="Shape 9"/>
          <p:cNvSpPr/>
          <p:nvPr/>
        </p:nvSpPr>
        <p:spPr>
          <a:xfrm>
            <a:off x="837724" y="6122194"/>
            <a:ext cx="538520" cy="538520"/>
          </a:xfrm>
          <a:prstGeom prst="roundRect">
            <a:avLst>
              <a:gd name="adj" fmla="val 6668"/>
            </a:avLst>
          </a:prstGeom>
          <a:solidFill>
            <a:srgbClr val="F3E8E8"/>
          </a:solidFill>
          <a:ln/>
        </p:spPr>
      </p:sp>
      <p:sp>
        <p:nvSpPr>
          <p:cNvPr id="13" name="Text 10"/>
          <p:cNvSpPr/>
          <p:nvPr/>
        </p:nvSpPr>
        <p:spPr>
          <a:xfrm>
            <a:off x="1007864" y="6222444"/>
            <a:ext cx="198120" cy="337899"/>
          </a:xfrm>
          <a:prstGeom prst="rect">
            <a:avLst/>
          </a:prstGeom>
          <a:noFill/>
          <a:ln/>
        </p:spPr>
        <p:txBody>
          <a:bodyPr wrap="none" lIns="0" tIns="0" rIns="0" bIns="0" rtlCol="0" anchor="t"/>
          <a:lstStyle/>
          <a:p>
            <a:pPr marL="0" indent="0" algn="ctr">
              <a:lnSpc>
                <a:spcPts val="2650"/>
              </a:lnSpc>
              <a:buNone/>
            </a:pPr>
            <a:r>
              <a:rPr lang="en-US" sz="2650" dirty="0">
                <a:solidFill>
                  <a:srgbClr val="3B3535"/>
                </a:solidFill>
                <a:latin typeface="Red Hat Text" pitchFamily="34" charset="0"/>
                <a:ea typeface="Red Hat Text" pitchFamily="34" charset="-122"/>
                <a:cs typeface="Red Hat Text" pitchFamily="34" charset="-120"/>
              </a:rPr>
              <a:t>3</a:t>
            </a:r>
            <a:endParaRPr lang="en-US" sz="2650" dirty="0"/>
          </a:p>
        </p:txBody>
      </p:sp>
      <p:sp>
        <p:nvSpPr>
          <p:cNvPr id="14" name="Text 11"/>
          <p:cNvSpPr/>
          <p:nvPr/>
        </p:nvSpPr>
        <p:spPr>
          <a:xfrm>
            <a:off x="1615559" y="6122194"/>
            <a:ext cx="2816185" cy="351949"/>
          </a:xfrm>
          <a:prstGeom prst="rect">
            <a:avLst/>
          </a:prstGeom>
          <a:noFill/>
          <a:ln/>
        </p:spPr>
        <p:txBody>
          <a:bodyPr wrap="none" lIns="0" tIns="0" rIns="0" bIns="0" rtlCol="0" anchor="t"/>
          <a:lstStyle/>
          <a:p>
            <a:pPr marL="0" indent="0">
              <a:lnSpc>
                <a:spcPts val="2750"/>
              </a:lnSpc>
              <a:buNone/>
            </a:pPr>
            <a:r>
              <a:rPr lang="en-US" sz="2200" dirty="0">
                <a:solidFill>
                  <a:srgbClr val="3B3535"/>
                </a:solidFill>
                <a:latin typeface="Red Hat Text" pitchFamily="34" charset="0"/>
                <a:ea typeface="Red Hat Text" pitchFamily="34" charset="-122"/>
                <a:cs typeface="Red Hat Text" pitchFamily="34" charset="-120"/>
              </a:rPr>
              <a:t>WPA2 Limitations</a:t>
            </a:r>
            <a:endParaRPr lang="en-US" sz="2200" dirty="0"/>
          </a:p>
        </p:txBody>
      </p:sp>
      <p:sp>
        <p:nvSpPr>
          <p:cNvPr id="15" name="Text 12"/>
          <p:cNvSpPr/>
          <p:nvPr/>
        </p:nvSpPr>
        <p:spPr>
          <a:xfrm>
            <a:off x="1615559" y="6617732"/>
            <a:ext cx="6690717" cy="766048"/>
          </a:xfrm>
          <a:prstGeom prst="rect">
            <a:avLst/>
          </a:prstGeom>
          <a:noFill/>
          <a:ln/>
        </p:spPr>
        <p:txBody>
          <a:bodyPr wrap="square" lIns="0" tIns="0" rIns="0" bIns="0" rtlCol="0" anchor="t"/>
          <a:lstStyle/>
          <a:p>
            <a:pPr marL="0" indent="0">
              <a:lnSpc>
                <a:spcPts val="3000"/>
              </a:lnSpc>
              <a:buNone/>
            </a:pPr>
            <a:r>
              <a:rPr lang="en-US" sz="1850" dirty="0">
                <a:solidFill>
                  <a:srgbClr val="3B3535"/>
                </a:solidFill>
                <a:latin typeface="Roboto Light" pitchFamily="34" charset="0"/>
                <a:ea typeface="Roboto Light" pitchFamily="34" charset="-122"/>
                <a:cs typeface="Roboto Light" pitchFamily="34" charset="-120"/>
              </a:rPr>
              <a:t>KRACK (Key Reinstallation Attacks) vulnerability discovered in 2017.</a:t>
            </a:r>
            <a:endParaRPr lang="en-US" sz="1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name="Slide 6">
    <p:spTree>
      <p:nvGrpSpPr>
        <p:cNvPr id="1" name=""/>
        <p:cNvGrpSpPr/>
        <p:nvPr/>
      </p:nvGrpSpPr>
      <p:grpSpPr>
        <a:xfrm>
          <a:off x="0" y="0"/>
          <a:ext cx="0" cy="0"/>
          <a:chOff x="0" y="0"/>
          <a:chExt cx="0" cy="0"/>
        </a:xfrm>
      </p:grpSpPr>
      <p:sp>
        <p:nvSpPr>
          <p:cNvPr id="2" name="Text 0"/>
          <p:cNvSpPr/>
          <p:nvPr/>
        </p:nvSpPr>
        <p:spPr>
          <a:xfrm>
            <a:off x="837724" y="2485787"/>
            <a:ext cx="12216765" cy="704017"/>
          </a:xfrm>
          <a:prstGeom prst="rect">
            <a:avLst/>
          </a:prstGeom>
          <a:noFill/>
          <a:ln/>
        </p:spPr>
        <p:txBody>
          <a:bodyPr wrap="none" lIns="0" tIns="0" rIns="0" bIns="0" rtlCol="0" anchor="t"/>
          <a:lstStyle/>
          <a:p>
            <a:pPr marL="0" indent="0">
              <a:lnSpc>
                <a:spcPts val="5500"/>
              </a:lnSpc>
              <a:buNone/>
            </a:pPr>
            <a:r>
              <a:rPr lang="en-US" sz="4400" dirty="0">
                <a:solidFill>
                  <a:srgbClr val="1F1E1E"/>
                </a:solidFill>
                <a:latin typeface="Red Hat Text" pitchFamily="34" charset="0"/>
                <a:ea typeface="Red Hat Text" pitchFamily="34" charset="-122"/>
                <a:cs typeface="Red Hat Text" pitchFamily="34" charset="-120"/>
              </a:rPr>
              <a:t>WLAN-Based Attacks: Types and Characteristics</a:t>
            </a:r>
            <a:endParaRPr lang="en-US" sz="4400" dirty="0"/>
          </a:p>
        </p:txBody>
      </p:sp>
      <p:sp>
        <p:nvSpPr>
          <p:cNvPr id="3" name="Text 1"/>
          <p:cNvSpPr/>
          <p:nvPr/>
        </p:nvSpPr>
        <p:spPr>
          <a:xfrm>
            <a:off x="837724" y="3788093"/>
            <a:ext cx="2816185" cy="351949"/>
          </a:xfrm>
          <a:prstGeom prst="rect">
            <a:avLst/>
          </a:prstGeom>
          <a:noFill/>
          <a:ln/>
        </p:spPr>
        <p:txBody>
          <a:bodyPr wrap="none" lIns="0" tIns="0" rIns="0" bIns="0" rtlCol="0" anchor="t"/>
          <a:lstStyle/>
          <a:p>
            <a:pPr marL="0" indent="0">
              <a:lnSpc>
                <a:spcPts val="2750"/>
              </a:lnSpc>
              <a:buNone/>
            </a:pPr>
            <a:r>
              <a:rPr lang="en-US" sz="2200" dirty="0">
                <a:solidFill>
                  <a:srgbClr val="1F1E1E"/>
                </a:solidFill>
                <a:latin typeface="Red Hat Text" pitchFamily="34" charset="0"/>
                <a:ea typeface="Red Hat Text" pitchFamily="34" charset="-122"/>
                <a:cs typeface="Red Hat Text" pitchFamily="34" charset="-120"/>
              </a:rPr>
              <a:t>Rogue Access Point</a:t>
            </a:r>
            <a:endParaRPr lang="en-US" sz="2200" dirty="0"/>
          </a:p>
        </p:txBody>
      </p:sp>
      <p:sp>
        <p:nvSpPr>
          <p:cNvPr id="4" name="Text 2"/>
          <p:cNvSpPr/>
          <p:nvPr/>
        </p:nvSpPr>
        <p:spPr>
          <a:xfrm>
            <a:off x="837724" y="4379357"/>
            <a:ext cx="3928586" cy="766048"/>
          </a:xfrm>
          <a:prstGeom prst="rect">
            <a:avLst/>
          </a:prstGeom>
          <a:noFill/>
          <a:ln/>
        </p:spPr>
        <p:txBody>
          <a:bodyPr wrap="square" lIns="0" tIns="0" rIns="0" bIns="0" rtlCol="0" anchor="t"/>
          <a:lstStyle/>
          <a:p>
            <a:pPr marL="0" indent="0">
              <a:lnSpc>
                <a:spcPts val="3000"/>
              </a:lnSpc>
              <a:buNone/>
            </a:pPr>
            <a:r>
              <a:rPr lang="en-US" sz="1850" dirty="0">
                <a:solidFill>
                  <a:srgbClr val="3B3535"/>
                </a:solidFill>
                <a:latin typeface="Roboto Light" pitchFamily="34" charset="0"/>
                <a:ea typeface="Roboto Light" pitchFamily="34" charset="-122"/>
                <a:cs typeface="Roboto Light" pitchFamily="34" charset="-120"/>
              </a:rPr>
              <a:t>Unauthorized WAP used to intercept network traffic.</a:t>
            </a:r>
            <a:endParaRPr lang="en-US" sz="1850" dirty="0"/>
          </a:p>
        </p:txBody>
      </p:sp>
      <p:sp>
        <p:nvSpPr>
          <p:cNvPr id="5" name="Text 3"/>
          <p:cNvSpPr/>
          <p:nvPr/>
        </p:nvSpPr>
        <p:spPr>
          <a:xfrm>
            <a:off x="5357813" y="3788093"/>
            <a:ext cx="2952869" cy="351949"/>
          </a:xfrm>
          <a:prstGeom prst="rect">
            <a:avLst/>
          </a:prstGeom>
          <a:noFill/>
          <a:ln/>
        </p:spPr>
        <p:txBody>
          <a:bodyPr wrap="none" lIns="0" tIns="0" rIns="0" bIns="0" rtlCol="0" anchor="t"/>
          <a:lstStyle/>
          <a:p>
            <a:pPr marL="0" indent="0">
              <a:lnSpc>
                <a:spcPts val="2750"/>
              </a:lnSpc>
              <a:buNone/>
            </a:pPr>
            <a:r>
              <a:rPr lang="en-US" sz="2200" dirty="0">
                <a:solidFill>
                  <a:srgbClr val="1F1E1E"/>
                </a:solidFill>
                <a:latin typeface="Red Hat Text" pitchFamily="34" charset="0"/>
                <a:ea typeface="Red Hat Text" pitchFamily="34" charset="-122"/>
                <a:cs typeface="Red Hat Text" pitchFamily="34" charset="-120"/>
              </a:rPr>
              <a:t>Denial of Service (DoS)</a:t>
            </a:r>
            <a:endParaRPr lang="en-US" sz="2200" dirty="0"/>
          </a:p>
        </p:txBody>
      </p:sp>
      <p:sp>
        <p:nvSpPr>
          <p:cNvPr id="6" name="Text 4"/>
          <p:cNvSpPr/>
          <p:nvPr/>
        </p:nvSpPr>
        <p:spPr>
          <a:xfrm>
            <a:off x="5357813" y="4379357"/>
            <a:ext cx="3928586" cy="766048"/>
          </a:xfrm>
          <a:prstGeom prst="rect">
            <a:avLst/>
          </a:prstGeom>
          <a:noFill/>
          <a:ln/>
        </p:spPr>
        <p:txBody>
          <a:bodyPr wrap="square" lIns="0" tIns="0" rIns="0" bIns="0" rtlCol="0" anchor="t"/>
          <a:lstStyle/>
          <a:p>
            <a:pPr marL="0" indent="0">
              <a:lnSpc>
                <a:spcPts val="3000"/>
              </a:lnSpc>
              <a:buNone/>
            </a:pPr>
            <a:r>
              <a:rPr lang="en-US" sz="1850" dirty="0">
                <a:solidFill>
                  <a:srgbClr val="3B3535"/>
                </a:solidFill>
                <a:latin typeface="Roboto Light" pitchFamily="34" charset="0"/>
                <a:ea typeface="Roboto Light" pitchFamily="34" charset="-122"/>
                <a:cs typeface="Roboto Light" pitchFamily="34" charset="-120"/>
              </a:rPr>
              <a:t>Disrupting WLAN availability through jamming or flooding attacks.</a:t>
            </a:r>
            <a:endParaRPr lang="en-US" sz="1850" dirty="0"/>
          </a:p>
        </p:txBody>
      </p:sp>
      <p:sp>
        <p:nvSpPr>
          <p:cNvPr id="7" name="Text 5"/>
          <p:cNvSpPr/>
          <p:nvPr/>
        </p:nvSpPr>
        <p:spPr>
          <a:xfrm>
            <a:off x="9877901" y="3788093"/>
            <a:ext cx="2816185" cy="351949"/>
          </a:xfrm>
          <a:prstGeom prst="rect">
            <a:avLst/>
          </a:prstGeom>
          <a:noFill/>
          <a:ln/>
        </p:spPr>
        <p:txBody>
          <a:bodyPr wrap="none" lIns="0" tIns="0" rIns="0" bIns="0" rtlCol="0" anchor="t"/>
          <a:lstStyle/>
          <a:p>
            <a:pPr marL="0" indent="0">
              <a:lnSpc>
                <a:spcPts val="2750"/>
              </a:lnSpc>
              <a:buNone/>
            </a:pPr>
            <a:r>
              <a:rPr lang="en-US" sz="2200" dirty="0">
                <a:solidFill>
                  <a:srgbClr val="1F1E1E"/>
                </a:solidFill>
                <a:latin typeface="Red Hat Text" pitchFamily="34" charset="0"/>
                <a:ea typeface="Red Hat Text" pitchFamily="34" charset="-122"/>
                <a:cs typeface="Red Hat Text" pitchFamily="34" charset="-120"/>
              </a:rPr>
              <a:t>Man-in-the-Middle</a:t>
            </a:r>
            <a:endParaRPr lang="en-US" sz="2200" dirty="0"/>
          </a:p>
        </p:txBody>
      </p:sp>
      <p:sp>
        <p:nvSpPr>
          <p:cNvPr id="8" name="Text 6"/>
          <p:cNvSpPr/>
          <p:nvPr/>
        </p:nvSpPr>
        <p:spPr>
          <a:xfrm>
            <a:off x="9877901" y="4379357"/>
            <a:ext cx="3928586" cy="1149072"/>
          </a:xfrm>
          <a:prstGeom prst="rect">
            <a:avLst/>
          </a:prstGeom>
          <a:noFill/>
          <a:ln/>
        </p:spPr>
        <p:txBody>
          <a:bodyPr wrap="square" lIns="0" tIns="0" rIns="0" bIns="0" rtlCol="0" anchor="t"/>
          <a:lstStyle/>
          <a:p>
            <a:pPr marL="0" indent="0">
              <a:lnSpc>
                <a:spcPts val="3000"/>
              </a:lnSpc>
              <a:buNone/>
            </a:pPr>
            <a:r>
              <a:rPr lang="en-US" sz="1850" dirty="0">
                <a:solidFill>
                  <a:srgbClr val="3B3535"/>
                </a:solidFill>
                <a:latin typeface="Roboto Light" pitchFamily="34" charset="0"/>
                <a:ea typeface="Roboto Light" pitchFamily="34" charset="-122"/>
                <a:cs typeface="Roboto Light" pitchFamily="34" charset="-120"/>
              </a:rPr>
              <a:t>Intercepting and modifying communication between clients and WAP.</a:t>
            </a:r>
            <a:endParaRPr lang="en-US" sz="1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73165" y="976670"/>
            <a:ext cx="7570470" cy="1322308"/>
          </a:xfrm>
          <a:prstGeom prst="rect">
            <a:avLst/>
          </a:prstGeom>
          <a:noFill/>
          <a:ln/>
        </p:spPr>
        <p:txBody>
          <a:bodyPr wrap="square" lIns="0" tIns="0" rIns="0" bIns="0" rtlCol="0" anchor="t"/>
          <a:lstStyle/>
          <a:p>
            <a:pPr marL="0" indent="0">
              <a:lnSpc>
                <a:spcPts val="5200"/>
              </a:lnSpc>
              <a:buNone/>
            </a:pPr>
            <a:r>
              <a:rPr lang="en-US" sz="4150" dirty="0">
                <a:solidFill>
                  <a:srgbClr val="1F1E1E"/>
                </a:solidFill>
                <a:latin typeface="Red Hat Text" pitchFamily="34" charset="0"/>
                <a:ea typeface="Red Hat Text" pitchFamily="34" charset="-122"/>
                <a:cs typeface="Red Hat Text" pitchFamily="34" charset="-120"/>
              </a:rPr>
              <a:t>Countermeasures Against WLAN Attacks</a:t>
            </a:r>
            <a:endParaRPr lang="en-US" sz="4150" dirty="0"/>
          </a:p>
        </p:txBody>
      </p:sp>
      <p:pic>
        <p:nvPicPr>
          <p:cNvPr id="4" name="Image 1" descr="preencoded.png"/>
          <p:cNvPicPr>
            <a:picLocks noChangeAspect="1"/>
          </p:cNvPicPr>
          <p:nvPr/>
        </p:nvPicPr>
        <p:blipFill>
          <a:blip r:embed="rId4"/>
          <a:stretch>
            <a:fillRect/>
          </a:stretch>
        </p:blipFill>
        <p:spPr>
          <a:xfrm>
            <a:off x="6273165" y="2636163"/>
            <a:ext cx="561975" cy="561975"/>
          </a:xfrm>
          <a:prstGeom prst="rect">
            <a:avLst/>
          </a:prstGeom>
        </p:spPr>
      </p:pic>
      <p:sp>
        <p:nvSpPr>
          <p:cNvPr id="5" name="Text 1"/>
          <p:cNvSpPr/>
          <p:nvPr/>
        </p:nvSpPr>
        <p:spPr>
          <a:xfrm>
            <a:off x="6273165" y="3422928"/>
            <a:ext cx="2644735" cy="330517"/>
          </a:xfrm>
          <a:prstGeom prst="rect">
            <a:avLst/>
          </a:prstGeom>
          <a:noFill/>
          <a:ln/>
        </p:spPr>
        <p:txBody>
          <a:bodyPr wrap="none" lIns="0" tIns="0" rIns="0" bIns="0" rtlCol="0" anchor="t"/>
          <a:lstStyle/>
          <a:p>
            <a:pPr marL="0" indent="0" algn="l">
              <a:lnSpc>
                <a:spcPts val="2600"/>
              </a:lnSpc>
              <a:buNone/>
            </a:pPr>
            <a:r>
              <a:rPr lang="en-US" sz="2050" dirty="0">
                <a:solidFill>
                  <a:srgbClr val="3B3535"/>
                </a:solidFill>
                <a:latin typeface="Red Hat Text" pitchFamily="34" charset="0"/>
                <a:ea typeface="Red Hat Text" pitchFamily="34" charset="-122"/>
                <a:cs typeface="Red Hat Text" pitchFamily="34" charset="-120"/>
              </a:rPr>
              <a:t>Firewall</a:t>
            </a:r>
            <a:endParaRPr lang="en-US" sz="2050" dirty="0"/>
          </a:p>
        </p:txBody>
      </p:sp>
      <p:sp>
        <p:nvSpPr>
          <p:cNvPr id="6" name="Text 2"/>
          <p:cNvSpPr/>
          <p:nvPr/>
        </p:nvSpPr>
        <p:spPr>
          <a:xfrm>
            <a:off x="6273165" y="3888224"/>
            <a:ext cx="3616643" cy="719138"/>
          </a:xfrm>
          <a:prstGeom prst="rect">
            <a:avLst/>
          </a:prstGeom>
          <a:noFill/>
          <a:ln/>
        </p:spPr>
        <p:txBody>
          <a:bodyPr wrap="square" lIns="0" tIns="0" rIns="0" bIns="0" rtlCol="0" anchor="t"/>
          <a:lstStyle/>
          <a:p>
            <a:pPr marL="0" indent="0" algn="l">
              <a:lnSpc>
                <a:spcPts val="2800"/>
              </a:lnSpc>
              <a:buNone/>
            </a:pPr>
            <a:r>
              <a:rPr lang="en-US" sz="1750" dirty="0">
                <a:solidFill>
                  <a:srgbClr val="3B3535"/>
                </a:solidFill>
                <a:latin typeface="Roboto Light" pitchFamily="34" charset="0"/>
                <a:ea typeface="Roboto Light" pitchFamily="34" charset="-122"/>
                <a:cs typeface="Roboto Light" pitchFamily="34" charset="-120"/>
              </a:rPr>
              <a:t>Implement robust firewall policies to monitor and control network traffic.</a:t>
            </a:r>
            <a:endParaRPr lang="en-US" sz="1750" dirty="0"/>
          </a:p>
        </p:txBody>
      </p:sp>
      <p:pic>
        <p:nvPicPr>
          <p:cNvPr id="7" name="Image 2" descr="preencoded.png"/>
          <p:cNvPicPr>
            <a:picLocks noChangeAspect="1"/>
          </p:cNvPicPr>
          <p:nvPr/>
        </p:nvPicPr>
        <p:blipFill>
          <a:blip r:embed="rId5"/>
          <a:stretch>
            <a:fillRect/>
          </a:stretch>
        </p:blipFill>
        <p:spPr>
          <a:xfrm>
            <a:off x="10226993" y="2636163"/>
            <a:ext cx="561975" cy="561975"/>
          </a:xfrm>
          <a:prstGeom prst="rect">
            <a:avLst/>
          </a:prstGeom>
        </p:spPr>
      </p:pic>
      <p:sp>
        <p:nvSpPr>
          <p:cNvPr id="8" name="Text 3"/>
          <p:cNvSpPr/>
          <p:nvPr/>
        </p:nvSpPr>
        <p:spPr>
          <a:xfrm>
            <a:off x="10226993" y="3422928"/>
            <a:ext cx="2644735" cy="330517"/>
          </a:xfrm>
          <a:prstGeom prst="rect">
            <a:avLst/>
          </a:prstGeom>
          <a:noFill/>
          <a:ln/>
        </p:spPr>
        <p:txBody>
          <a:bodyPr wrap="none" lIns="0" tIns="0" rIns="0" bIns="0" rtlCol="0" anchor="t"/>
          <a:lstStyle/>
          <a:p>
            <a:pPr marL="0" indent="0" algn="l">
              <a:lnSpc>
                <a:spcPts val="2600"/>
              </a:lnSpc>
              <a:buNone/>
            </a:pPr>
            <a:r>
              <a:rPr lang="en-US" sz="2050" dirty="0">
                <a:solidFill>
                  <a:srgbClr val="3B3535"/>
                </a:solidFill>
                <a:latin typeface="Red Hat Text" pitchFamily="34" charset="0"/>
                <a:ea typeface="Red Hat Text" pitchFamily="34" charset="-122"/>
                <a:cs typeface="Red Hat Text" pitchFamily="34" charset="-120"/>
              </a:rPr>
              <a:t>Encryption</a:t>
            </a:r>
            <a:endParaRPr lang="en-US" sz="2050" dirty="0"/>
          </a:p>
        </p:txBody>
      </p:sp>
      <p:sp>
        <p:nvSpPr>
          <p:cNvPr id="9" name="Text 4"/>
          <p:cNvSpPr/>
          <p:nvPr/>
        </p:nvSpPr>
        <p:spPr>
          <a:xfrm>
            <a:off x="10226993" y="3888224"/>
            <a:ext cx="3616643" cy="719138"/>
          </a:xfrm>
          <a:prstGeom prst="rect">
            <a:avLst/>
          </a:prstGeom>
          <a:noFill/>
          <a:ln/>
        </p:spPr>
        <p:txBody>
          <a:bodyPr wrap="square" lIns="0" tIns="0" rIns="0" bIns="0" rtlCol="0" anchor="t"/>
          <a:lstStyle/>
          <a:p>
            <a:pPr marL="0" indent="0" algn="l">
              <a:lnSpc>
                <a:spcPts val="2800"/>
              </a:lnSpc>
              <a:buNone/>
            </a:pPr>
            <a:r>
              <a:rPr lang="en-US" sz="1750" dirty="0">
                <a:solidFill>
                  <a:srgbClr val="3B3535"/>
                </a:solidFill>
                <a:latin typeface="Roboto Light" pitchFamily="34" charset="0"/>
                <a:ea typeface="Roboto Light" pitchFamily="34" charset="-122"/>
                <a:cs typeface="Roboto Light" pitchFamily="34" charset="-120"/>
              </a:rPr>
              <a:t>Deploy the latest WPA2 or WPA3 encryption standards.</a:t>
            </a:r>
            <a:endParaRPr lang="en-US" sz="1750" dirty="0"/>
          </a:p>
        </p:txBody>
      </p:sp>
      <p:pic>
        <p:nvPicPr>
          <p:cNvPr id="10" name="Image 3" descr="preencoded.png"/>
          <p:cNvPicPr>
            <a:picLocks noChangeAspect="1"/>
          </p:cNvPicPr>
          <p:nvPr/>
        </p:nvPicPr>
        <p:blipFill>
          <a:blip r:embed="rId6"/>
          <a:stretch>
            <a:fillRect/>
          </a:stretch>
        </p:blipFill>
        <p:spPr>
          <a:xfrm>
            <a:off x="6273165" y="5281732"/>
            <a:ext cx="561975" cy="561975"/>
          </a:xfrm>
          <a:prstGeom prst="rect">
            <a:avLst/>
          </a:prstGeom>
        </p:spPr>
      </p:pic>
      <p:sp>
        <p:nvSpPr>
          <p:cNvPr id="11" name="Text 5"/>
          <p:cNvSpPr/>
          <p:nvPr/>
        </p:nvSpPr>
        <p:spPr>
          <a:xfrm>
            <a:off x="6273165" y="6068497"/>
            <a:ext cx="2644735" cy="330517"/>
          </a:xfrm>
          <a:prstGeom prst="rect">
            <a:avLst/>
          </a:prstGeom>
          <a:noFill/>
          <a:ln/>
        </p:spPr>
        <p:txBody>
          <a:bodyPr wrap="none" lIns="0" tIns="0" rIns="0" bIns="0" rtlCol="0" anchor="t"/>
          <a:lstStyle/>
          <a:p>
            <a:pPr marL="0" indent="0" algn="l">
              <a:lnSpc>
                <a:spcPts val="2600"/>
              </a:lnSpc>
              <a:buNone/>
            </a:pPr>
            <a:r>
              <a:rPr lang="en-US" sz="2050" dirty="0">
                <a:solidFill>
                  <a:srgbClr val="3B3535"/>
                </a:solidFill>
                <a:latin typeface="Red Hat Text" pitchFamily="34" charset="0"/>
                <a:ea typeface="Red Hat Text" pitchFamily="34" charset="-122"/>
                <a:cs typeface="Red Hat Text" pitchFamily="34" charset="-120"/>
              </a:rPr>
              <a:t>Access Control</a:t>
            </a:r>
            <a:endParaRPr lang="en-US" sz="2050" dirty="0"/>
          </a:p>
        </p:txBody>
      </p:sp>
      <p:sp>
        <p:nvSpPr>
          <p:cNvPr id="12" name="Text 6"/>
          <p:cNvSpPr/>
          <p:nvPr/>
        </p:nvSpPr>
        <p:spPr>
          <a:xfrm>
            <a:off x="6273165" y="6533793"/>
            <a:ext cx="3616643" cy="719138"/>
          </a:xfrm>
          <a:prstGeom prst="rect">
            <a:avLst/>
          </a:prstGeom>
          <a:noFill/>
          <a:ln/>
        </p:spPr>
        <p:txBody>
          <a:bodyPr wrap="square" lIns="0" tIns="0" rIns="0" bIns="0" rtlCol="0" anchor="t"/>
          <a:lstStyle/>
          <a:p>
            <a:pPr marL="0" indent="0" algn="l">
              <a:lnSpc>
                <a:spcPts val="2800"/>
              </a:lnSpc>
              <a:buNone/>
            </a:pPr>
            <a:r>
              <a:rPr lang="en-US" sz="1750" dirty="0">
                <a:solidFill>
                  <a:srgbClr val="3B3535"/>
                </a:solidFill>
                <a:latin typeface="Roboto Light" pitchFamily="34" charset="0"/>
                <a:ea typeface="Roboto Light" pitchFamily="34" charset="-122"/>
                <a:cs typeface="Roboto Light" pitchFamily="34" charset="-120"/>
              </a:rPr>
              <a:t>Enforce strict access control and authentication mechanisms.</a:t>
            </a:r>
            <a:endParaRPr lang="en-US" sz="1750" dirty="0"/>
          </a:p>
        </p:txBody>
      </p:sp>
      <p:pic>
        <p:nvPicPr>
          <p:cNvPr id="13" name="Image 4" descr="preencoded.png"/>
          <p:cNvPicPr>
            <a:picLocks noChangeAspect="1"/>
          </p:cNvPicPr>
          <p:nvPr/>
        </p:nvPicPr>
        <p:blipFill>
          <a:blip r:embed="rId7"/>
          <a:stretch>
            <a:fillRect/>
          </a:stretch>
        </p:blipFill>
        <p:spPr>
          <a:xfrm>
            <a:off x="10226993" y="5281732"/>
            <a:ext cx="561975" cy="561975"/>
          </a:xfrm>
          <a:prstGeom prst="rect">
            <a:avLst/>
          </a:prstGeom>
        </p:spPr>
      </p:pic>
      <p:sp>
        <p:nvSpPr>
          <p:cNvPr id="14" name="Text 7"/>
          <p:cNvSpPr/>
          <p:nvPr/>
        </p:nvSpPr>
        <p:spPr>
          <a:xfrm>
            <a:off x="10226993" y="6068497"/>
            <a:ext cx="2644735" cy="330517"/>
          </a:xfrm>
          <a:prstGeom prst="rect">
            <a:avLst/>
          </a:prstGeom>
          <a:noFill/>
          <a:ln/>
        </p:spPr>
        <p:txBody>
          <a:bodyPr wrap="none" lIns="0" tIns="0" rIns="0" bIns="0" rtlCol="0" anchor="t"/>
          <a:lstStyle/>
          <a:p>
            <a:pPr marL="0" indent="0" algn="l">
              <a:lnSpc>
                <a:spcPts val="2600"/>
              </a:lnSpc>
              <a:buNone/>
            </a:pPr>
            <a:r>
              <a:rPr lang="en-US" sz="2050" dirty="0">
                <a:solidFill>
                  <a:srgbClr val="3B3535"/>
                </a:solidFill>
                <a:latin typeface="Red Hat Text" pitchFamily="34" charset="0"/>
                <a:ea typeface="Red Hat Text" pitchFamily="34" charset="-122"/>
                <a:cs typeface="Red Hat Text" pitchFamily="34" charset="-120"/>
              </a:rPr>
              <a:t>Monitoring</a:t>
            </a:r>
            <a:endParaRPr lang="en-US" sz="2050" dirty="0"/>
          </a:p>
        </p:txBody>
      </p:sp>
      <p:sp>
        <p:nvSpPr>
          <p:cNvPr id="15" name="Text 8"/>
          <p:cNvSpPr/>
          <p:nvPr/>
        </p:nvSpPr>
        <p:spPr>
          <a:xfrm>
            <a:off x="10226993" y="6533793"/>
            <a:ext cx="3616643" cy="719138"/>
          </a:xfrm>
          <a:prstGeom prst="rect">
            <a:avLst/>
          </a:prstGeom>
          <a:noFill/>
          <a:ln/>
        </p:spPr>
        <p:txBody>
          <a:bodyPr wrap="square" lIns="0" tIns="0" rIns="0" bIns="0" rtlCol="0" anchor="t"/>
          <a:lstStyle/>
          <a:p>
            <a:pPr marL="0" indent="0" algn="l">
              <a:lnSpc>
                <a:spcPts val="2800"/>
              </a:lnSpc>
              <a:buNone/>
            </a:pPr>
            <a:r>
              <a:rPr lang="en-US" sz="1750" dirty="0">
                <a:solidFill>
                  <a:srgbClr val="3B3535"/>
                </a:solidFill>
                <a:latin typeface="Roboto Light" pitchFamily="34" charset="0"/>
                <a:ea typeface="Roboto Light" pitchFamily="34" charset="-122"/>
                <a:cs typeface="Roboto Light" pitchFamily="34" charset="-120"/>
              </a:rPr>
              <a:t>Continuously monitor the WLAN for suspicious activities and intrusions.</a:t>
            </a:r>
            <a:endParaRPr lang="en-US" sz="17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37724" y="895231"/>
            <a:ext cx="7468553" cy="1408033"/>
          </a:xfrm>
          <a:prstGeom prst="rect">
            <a:avLst/>
          </a:prstGeom>
          <a:noFill/>
          <a:ln/>
        </p:spPr>
        <p:txBody>
          <a:bodyPr wrap="square" lIns="0" tIns="0" rIns="0" bIns="0" rtlCol="0" anchor="t"/>
          <a:lstStyle/>
          <a:p>
            <a:pPr marL="0" indent="0">
              <a:lnSpc>
                <a:spcPts val="5500"/>
              </a:lnSpc>
              <a:buNone/>
            </a:pPr>
            <a:r>
              <a:rPr lang="en-US" sz="4400" dirty="0">
                <a:solidFill>
                  <a:srgbClr val="1F1E1E"/>
                </a:solidFill>
                <a:latin typeface="Red Hat Text" pitchFamily="34" charset="0"/>
                <a:ea typeface="Red Hat Text" pitchFamily="34" charset="-122"/>
                <a:cs typeface="Red Hat Text" pitchFamily="34" charset="-120"/>
              </a:rPr>
              <a:t>Penetration Testing Tools for WLAN Security Assessment</a:t>
            </a:r>
            <a:endParaRPr lang="en-US" sz="4400" dirty="0"/>
          </a:p>
        </p:txBody>
      </p:sp>
      <p:sp>
        <p:nvSpPr>
          <p:cNvPr id="4" name="Shape 1"/>
          <p:cNvSpPr/>
          <p:nvPr/>
        </p:nvSpPr>
        <p:spPr>
          <a:xfrm>
            <a:off x="837724" y="2662238"/>
            <a:ext cx="7468553" cy="4672132"/>
          </a:xfrm>
          <a:prstGeom prst="roundRect">
            <a:avLst>
              <a:gd name="adj" fmla="val 769"/>
            </a:avLst>
          </a:prstGeom>
          <a:noFill/>
          <a:ln w="7620">
            <a:solidFill>
              <a:srgbClr val="000000">
                <a:alpha val="8000"/>
              </a:srgbClr>
            </a:solidFill>
            <a:prstDash val="solid"/>
          </a:ln>
        </p:spPr>
      </p:sp>
      <p:sp>
        <p:nvSpPr>
          <p:cNvPr id="5" name="Shape 2"/>
          <p:cNvSpPr/>
          <p:nvPr/>
        </p:nvSpPr>
        <p:spPr>
          <a:xfrm>
            <a:off x="845344" y="2669857"/>
            <a:ext cx="7453312" cy="1068467"/>
          </a:xfrm>
          <a:prstGeom prst="rect">
            <a:avLst/>
          </a:prstGeom>
          <a:solidFill>
            <a:srgbClr val="FFFFFF">
              <a:alpha val="4000"/>
            </a:srgbClr>
          </a:solidFill>
          <a:ln/>
        </p:spPr>
      </p:sp>
      <p:sp>
        <p:nvSpPr>
          <p:cNvPr id="6" name="Text 3"/>
          <p:cNvSpPr/>
          <p:nvPr/>
        </p:nvSpPr>
        <p:spPr>
          <a:xfrm>
            <a:off x="1084659" y="2821067"/>
            <a:ext cx="3244215" cy="383024"/>
          </a:xfrm>
          <a:prstGeom prst="rect">
            <a:avLst/>
          </a:prstGeom>
          <a:noFill/>
          <a:ln/>
        </p:spPr>
        <p:txBody>
          <a:bodyPr wrap="none" lIns="0" tIns="0" rIns="0" bIns="0" rtlCol="0" anchor="t"/>
          <a:lstStyle/>
          <a:p>
            <a:pPr marL="0" indent="0">
              <a:lnSpc>
                <a:spcPts val="3000"/>
              </a:lnSpc>
              <a:buNone/>
            </a:pPr>
            <a:r>
              <a:rPr lang="en-US" sz="1850" dirty="0">
                <a:solidFill>
                  <a:srgbClr val="3B3535"/>
                </a:solidFill>
                <a:latin typeface="Roboto Light" pitchFamily="34" charset="0"/>
                <a:ea typeface="Roboto Light" pitchFamily="34" charset="-122"/>
                <a:cs typeface="Roboto Light" pitchFamily="34" charset="-120"/>
              </a:rPr>
              <a:t>Aircrack-ng</a:t>
            </a:r>
            <a:endParaRPr lang="en-US" sz="1850" dirty="0"/>
          </a:p>
        </p:txBody>
      </p:sp>
      <p:sp>
        <p:nvSpPr>
          <p:cNvPr id="7" name="Text 4"/>
          <p:cNvSpPr/>
          <p:nvPr/>
        </p:nvSpPr>
        <p:spPr>
          <a:xfrm>
            <a:off x="4815126" y="2821067"/>
            <a:ext cx="3244215" cy="766048"/>
          </a:xfrm>
          <a:prstGeom prst="rect">
            <a:avLst/>
          </a:prstGeom>
          <a:noFill/>
          <a:ln/>
        </p:spPr>
        <p:txBody>
          <a:bodyPr wrap="square" lIns="0" tIns="0" rIns="0" bIns="0" rtlCol="0" anchor="t"/>
          <a:lstStyle/>
          <a:p>
            <a:pPr marL="0" indent="0">
              <a:lnSpc>
                <a:spcPts val="3000"/>
              </a:lnSpc>
              <a:buNone/>
            </a:pPr>
            <a:r>
              <a:rPr lang="en-US" sz="1850" dirty="0">
                <a:solidFill>
                  <a:srgbClr val="3B3535"/>
                </a:solidFill>
                <a:latin typeface="Roboto Light" pitchFamily="34" charset="0"/>
                <a:ea typeface="Roboto Light" pitchFamily="34" charset="-122"/>
                <a:cs typeface="Roboto Light" pitchFamily="34" charset="-120"/>
              </a:rPr>
              <a:t>Wireless network security auditing and cracking tool</a:t>
            </a:r>
            <a:endParaRPr lang="en-US" sz="1850" dirty="0"/>
          </a:p>
        </p:txBody>
      </p:sp>
      <p:sp>
        <p:nvSpPr>
          <p:cNvPr id="8" name="Shape 5"/>
          <p:cNvSpPr/>
          <p:nvPr/>
        </p:nvSpPr>
        <p:spPr>
          <a:xfrm>
            <a:off x="845344" y="3738324"/>
            <a:ext cx="7453312" cy="1068467"/>
          </a:xfrm>
          <a:prstGeom prst="rect">
            <a:avLst/>
          </a:prstGeom>
          <a:solidFill>
            <a:srgbClr val="000000">
              <a:alpha val="4000"/>
            </a:srgbClr>
          </a:solidFill>
          <a:ln/>
        </p:spPr>
      </p:sp>
      <p:sp>
        <p:nvSpPr>
          <p:cNvPr id="9" name="Text 6"/>
          <p:cNvSpPr/>
          <p:nvPr/>
        </p:nvSpPr>
        <p:spPr>
          <a:xfrm>
            <a:off x="1084659" y="3889534"/>
            <a:ext cx="3244215" cy="383024"/>
          </a:xfrm>
          <a:prstGeom prst="rect">
            <a:avLst/>
          </a:prstGeom>
          <a:noFill/>
          <a:ln/>
        </p:spPr>
        <p:txBody>
          <a:bodyPr wrap="none" lIns="0" tIns="0" rIns="0" bIns="0" rtlCol="0" anchor="t"/>
          <a:lstStyle/>
          <a:p>
            <a:pPr marL="0" indent="0">
              <a:lnSpc>
                <a:spcPts val="3000"/>
              </a:lnSpc>
              <a:buNone/>
            </a:pPr>
            <a:r>
              <a:rPr lang="en-US" sz="1850" dirty="0">
                <a:solidFill>
                  <a:srgbClr val="3B3535"/>
                </a:solidFill>
                <a:latin typeface="Roboto Light" pitchFamily="34" charset="0"/>
                <a:ea typeface="Roboto Light" pitchFamily="34" charset="-122"/>
                <a:cs typeface="Roboto Light" pitchFamily="34" charset="-120"/>
              </a:rPr>
              <a:t>Kismet</a:t>
            </a:r>
            <a:endParaRPr lang="en-US" sz="1850" dirty="0"/>
          </a:p>
        </p:txBody>
      </p:sp>
      <p:sp>
        <p:nvSpPr>
          <p:cNvPr id="10" name="Text 7"/>
          <p:cNvSpPr/>
          <p:nvPr/>
        </p:nvSpPr>
        <p:spPr>
          <a:xfrm>
            <a:off x="4815126" y="3889534"/>
            <a:ext cx="3244215" cy="766048"/>
          </a:xfrm>
          <a:prstGeom prst="rect">
            <a:avLst/>
          </a:prstGeom>
          <a:noFill/>
          <a:ln/>
        </p:spPr>
        <p:txBody>
          <a:bodyPr wrap="square" lIns="0" tIns="0" rIns="0" bIns="0" rtlCol="0" anchor="t"/>
          <a:lstStyle/>
          <a:p>
            <a:pPr marL="0" indent="0">
              <a:lnSpc>
                <a:spcPts val="3000"/>
              </a:lnSpc>
              <a:buNone/>
            </a:pPr>
            <a:r>
              <a:rPr lang="en-US" sz="1850" dirty="0">
                <a:solidFill>
                  <a:srgbClr val="3B3535"/>
                </a:solidFill>
                <a:latin typeface="Roboto Light" pitchFamily="34" charset="0"/>
                <a:ea typeface="Roboto Light" pitchFamily="34" charset="-122"/>
                <a:cs typeface="Roboto Light" pitchFamily="34" charset="-120"/>
              </a:rPr>
              <a:t>Wireless network detection, mapping, and monitoring tool</a:t>
            </a:r>
            <a:endParaRPr lang="en-US" sz="1850" dirty="0"/>
          </a:p>
        </p:txBody>
      </p:sp>
      <p:sp>
        <p:nvSpPr>
          <p:cNvPr id="11" name="Shape 8"/>
          <p:cNvSpPr/>
          <p:nvPr/>
        </p:nvSpPr>
        <p:spPr>
          <a:xfrm>
            <a:off x="845344" y="4806791"/>
            <a:ext cx="7453312" cy="1451491"/>
          </a:xfrm>
          <a:prstGeom prst="rect">
            <a:avLst/>
          </a:prstGeom>
          <a:solidFill>
            <a:srgbClr val="FFFFFF">
              <a:alpha val="4000"/>
            </a:srgbClr>
          </a:solidFill>
          <a:ln/>
        </p:spPr>
      </p:sp>
      <p:sp>
        <p:nvSpPr>
          <p:cNvPr id="12" name="Text 9"/>
          <p:cNvSpPr/>
          <p:nvPr/>
        </p:nvSpPr>
        <p:spPr>
          <a:xfrm>
            <a:off x="1084659" y="4958001"/>
            <a:ext cx="3244215" cy="383024"/>
          </a:xfrm>
          <a:prstGeom prst="rect">
            <a:avLst/>
          </a:prstGeom>
          <a:noFill/>
          <a:ln/>
        </p:spPr>
        <p:txBody>
          <a:bodyPr wrap="none" lIns="0" tIns="0" rIns="0" bIns="0" rtlCol="0" anchor="t"/>
          <a:lstStyle/>
          <a:p>
            <a:pPr marL="0" indent="0">
              <a:lnSpc>
                <a:spcPts val="3000"/>
              </a:lnSpc>
              <a:buNone/>
            </a:pPr>
            <a:r>
              <a:rPr lang="en-US" sz="1850" dirty="0">
                <a:solidFill>
                  <a:srgbClr val="3B3535"/>
                </a:solidFill>
                <a:latin typeface="Roboto Light" pitchFamily="34" charset="0"/>
                <a:ea typeface="Roboto Light" pitchFamily="34" charset="-122"/>
                <a:cs typeface="Roboto Light" pitchFamily="34" charset="-120"/>
              </a:rPr>
              <a:t>Wireshark</a:t>
            </a:r>
            <a:endParaRPr lang="en-US" sz="1850" dirty="0"/>
          </a:p>
        </p:txBody>
      </p:sp>
      <p:sp>
        <p:nvSpPr>
          <p:cNvPr id="13" name="Text 10"/>
          <p:cNvSpPr/>
          <p:nvPr/>
        </p:nvSpPr>
        <p:spPr>
          <a:xfrm>
            <a:off x="4815126" y="4958001"/>
            <a:ext cx="3244215" cy="1149072"/>
          </a:xfrm>
          <a:prstGeom prst="rect">
            <a:avLst/>
          </a:prstGeom>
          <a:noFill/>
          <a:ln/>
        </p:spPr>
        <p:txBody>
          <a:bodyPr wrap="square" lIns="0" tIns="0" rIns="0" bIns="0" rtlCol="0" anchor="t"/>
          <a:lstStyle/>
          <a:p>
            <a:pPr marL="0" indent="0">
              <a:lnSpc>
                <a:spcPts val="3000"/>
              </a:lnSpc>
              <a:buNone/>
            </a:pPr>
            <a:r>
              <a:rPr lang="en-US" sz="1850" dirty="0">
                <a:solidFill>
                  <a:srgbClr val="3B3535"/>
                </a:solidFill>
                <a:latin typeface="Roboto Light" pitchFamily="34" charset="0"/>
                <a:ea typeface="Roboto Light" pitchFamily="34" charset="-122"/>
                <a:cs typeface="Roboto Light" pitchFamily="34" charset="-120"/>
              </a:rPr>
              <a:t>Packet capture and analysis tool for network troubleshooting</a:t>
            </a:r>
            <a:endParaRPr lang="en-US" sz="1850" dirty="0"/>
          </a:p>
        </p:txBody>
      </p:sp>
      <p:sp>
        <p:nvSpPr>
          <p:cNvPr id="14" name="Shape 11"/>
          <p:cNvSpPr/>
          <p:nvPr/>
        </p:nvSpPr>
        <p:spPr>
          <a:xfrm>
            <a:off x="845344" y="6258282"/>
            <a:ext cx="7453312" cy="1068467"/>
          </a:xfrm>
          <a:prstGeom prst="rect">
            <a:avLst/>
          </a:prstGeom>
          <a:solidFill>
            <a:srgbClr val="000000">
              <a:alpha val="4000"/>
            </a:srgbClr>
          </a:solidFill>
          <a:ln/>
        </p:spPr>
      </p:sp>
      <p:sp>
        <p:nvSpPr>
          <p:cNvPr id="15" name="Text 12"/>
          <p:cNvSpPr/>
          <p:nvPr/>
        </p:nvSpPr>
        <p:spPr>
          <a:xfrm>
            <a:off x="1084659" y="6409492"/>
            <a:ext cx="3244215" cy="383024"/>
          </a:xfrm>
          <a:prstGeom prst="rect">
            <a:avLst/>
          </a:prstGeom>
          <a:noFill/>
          <a:ln/>
        </p:spPr>
        <p:txBody>
          <a:bodyPr wrap="none" lIns="0" tIns="0" rIns="0" bIns="0" rtlCol="0" anchor="t"/>
          <a:lstStyle/>
          <a:p>
            <a:pPr marL="0" indent="0">
              <a:lnSpc>
                <a:spcPts val="3000"/>
              </a:lnSpc>
              <a:buNone/>
            </a:pPr>
            <a:r>
              <a:rPr lang="en-US" sz="1850" dirty="0">
                <a:solidFill>
                  <a:srgbClr val="3B3535"/>
                </a:solidFill>
                <a:latin typeface="Roboto Light" pitchFamily="34" charset="0"/>
                <a:ea typeface="Roboto Light" pitchFamily="34" charset="-122"/>
                <a:cs typeface="Roboto Light" pitchFamily="34" charset="-120"/>
              </a:rPr>
              <a:t>Metasploit</a:t>
            </a:r>
            <a:endParaRPr lang="en-US" sz="1850" dirty="0"/>
          </a:p>
        </p:txBody>
      </p:sp>
      <p:sp>
        <p:nvSpPr>
          <p:cNvPr id="16" name="Text 13"/>
          <p:cNvSpPr/>
          <p:nvPr/>
        </p:nvSpPr>
        <p:spPr>
          <a:xfrm>
            <a:off x="4815126" y="6409492"/>
            <a:ext cx="3244215" cy="766048"/>
          </a:xfrm>
          <a:prstGeom prst="rect">
            <a:avLst/>
          </a:prstGeom>
          <a:noFill/>
          <a:ln/>
        </p:spPr>
        <p:txBody>
          <a:bodyPr wrap="square" lIns="0" tIns="0" rIns="0" bIns="0" rtlCol="0" anchor="t"/>
          <a:lstStyle/>
          <a:p>
            <a:pPr marL="0" indent="0">
              <a:lnSpc>
                <a:spcPts val="3000"/>
              </a:lnSpc>
              <a:buNone/>
            </a:pPr>
            <a:r>
              <a:rPr lang="en-US" sz="1850" dirty="0">
                <a:solidFill>
                  <a:srgbClr val="3B3535"/>
                </a:solidFill>
                <a:latin typeface="Roboto Light" pitchFamily="34" charset="0"/>
                <a:ea typeface="Roboto Light" pitchFamily="34" charset="-122"/>
                <a:cs typeface="Roboto Light" pitchFamily="34" charset="-120"/>
              </a:rPr>
              <a:t>Comprehensive penetration testing framework</a:t>
            </a:r>
            <a:endParaRPr lang="en-US" sz="1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1889760"/>
          </a:xfrm>
          <a:prstGeom prst="rect">
            <a:avLst/>
          </a:prstGeom>
        </p:spPr>
      </p:pic>
      <p:sp>
        <p:nvSpPr>
          <p:cNvPr id="3" name="Text 0"/>
          <p:cNvSpPr/>
          <p:nvPr/>
        </p:nvSpPr>
        <p:spPr>
          <a:xfrm>
            <a:off x="529114" y="2305526"/>
            <a:ext cx="7398782" cy="444698"/>
          </a:xfrm>
          <a:prstGeom prst="rect">
            <a:avLst/>
          </a:prstGeom>
          <a:noFill/>
          <a:ln/>
        </p:spPr>
        <p:txBody>
          <a:bodyPr wrap="none" lIns="0" tIns="0" rIns="0" bIns="0" rtlCol="0" anchor="t"/>
          <a:lstStyle/>
          <a:p>
            <a:pPr marL="0" indent="0">
              <a:lnSpc>
                <a:spcPts val="3500"/>
              </a:lnSpc>
              <a:buNone/>
            </a:pPr>
            <a:r>
              <a:rPr lang="en-US" sz="2800" dirty="0">
                <a:solidFill>
                  <a:srgbClr val="1F1E1E"/>
                </a:solidFill>
                <a:latin typeface="Red Hat Text" pitchFamily="34" charset="0"/>
                <a:ea typeface="Red Hat Text" pitchFamily="34" charset="-122"/>
                <a:cs typeface="Red Hat Text" pitchFamily="34" charset="-120"/>
              </a:rPr>
              <a:t>Best Practices for Secure WLAN Configuration</a:t>
            </a:r>
            <a:endParaRPr lang="en-US" sz="2800" dirty="0"/>
          </a:p>
        </p:txBody>
      </p:sp>
      <p:pic>
        <p:nvPicPr>
          <p:cNvPr id="4" name="Image 1" descr="preencoded.png"/>
          <p:cNvPicPr>
            <a:picLocks noChangeAspect="1"/>
          </p:cNvPicPr>
          <p:nvPr/>
        </p:nvPicPr>
        <p:blipFill>
          <a:blip r:embed="rId4"/>
          <a:stretch>
            <a:fillRect/>
          </a:stretch>
        </p:blipFill>
        <p:spPr>
          <a:xfrm>
            <a:off x="529114" y="2976920"/>
            <a:ext cx="755928" cy="1209437"/>
          </a:xfrm>
          <a:prstGeom prst="rect">
            <a:avLst/>
          </a:prstGeom>
        </p:spPr>
      </p:pic>
      <p:sp>
        <p:nvSpPr>
          <p:cNvPr id="5" name="Text 1"/>
          <p:cNvSpPr/>
          <p:nvPr/>
        </p:nvSpPr>
        <p:spPr>
          <a:xfrm>
            <a:off x="1511737" y="3128010"/>
            <a:ext cx="1778675" cy="222290"/>
          </a:xfrm>
          <a:prstGeom prst="rect">
            <a:avLst/>
          </a:prstGeom>
          <a:noFill/>
          <a:ln/>
        </p:spPr>
        <p:txBody>
          <a:bodyPr wrap="none" lIns="0" tIns="0" rIns="0" bIns="0" rtlCol="0" anchor="t"/>
          <a:lstStyle/>
          <a:p>
            <a:pPr marL="0" indent="0" algn="l">
              <a:lnSpc>
                <a:spcPts val="1750"/>
              </a:lnSpc>
              <a:buNone/>
            </a:pPr>
            <a:r>
              <a:rPr lang="en-US" sz="2400" dirty="0">
                <a:solidFill>
                  <a:srgbClr val="3B3535"/>
                </a:solidFill>
                <a:latin typeface="Red Hat Text" pitchFamily="34" charset="0"/>
                <a:ea typeface="Red Hat Text" pitchFamily="34" charset="-122"/>
                <a:cs typeface="Red Hat Text" pitchFamily="34" charset="-120"/>
              </a:rPr>
              <a:t>Use WPA2 or WPA3</a:t>
            </a:r>
            <a:endParaRPr lang="en-US" sz="2400" dirty="0"/>
          </a:p>
        </p:txBody>
      </p:sp>
      <p:sp>
        <p:nvSpPr>
          <p:cNvPr id="6" name="Text 2"/>
          <p:cNvSpPr/>
          <p:nvPr/>
        </p:nvSpPr>
        <p:spPr>
          <a:xfrm>
            <a:off x="1511737" y="3440906"/>
            <a:ext cx="12589550" cy="241935"/>
          </a:xfrm>
          <a:prstGeom prst="rect">
            <a:avLst/>
          </a:prstGeom>
          <a:noFill/>
          <a:ln/>
        </p:spPr>
        <p:txBody>
          <a:bodyPr wrap="none" lIns="0" tIns="0" rIns="0" bIns="0" rtlCol="0" anchor="t"/>
          <a:lstStyle/>
          <a:p>
            <a:pPr marL="0" indent="0" algn="l">
              <a:lnSpc>
                <a:spcPts val="1900"/>
              </a:lnSpc>
              <a:buNone/>
            </a:pPr>
            <a:r>
              <a:rPr lang="en-US" dirty="0">
                <a:solidFill>
                  <a:srgbClr val="3B3535"/>
                </a:solidFill>
                <a:latin typeface="Roboto Light" pitchFamily="34" charset="0"/>
                <a:ea typeface="Roboto Light" pitchFamily="34" charset="-122"/>
                <a:cs typeface="Roboto Light" pitchFamily="34" charset="-120"/>
              </a:rPr>
              <a:t>Implement the latest encryption protocols for maximum security.</a:t>
            </a:r>
            <a:endParaRPr lang="en-US" dirty="0"/>
          </a:p>
        </p:txBody>
      </p:sp>
      <p:pic>
        <p:nvPicPr>
          <p:cNvPr id="7" name="Image 2" descr="preencoded.png"/>
          <p:cNvPicPr>
            <a:picLocks noChangeAspect="1"/>
          </p:cNvPicPr>
          <p:nvPr/>
        </p:nvPicPr>
        <p:blipFill>
          <a:blip r:embed="rId5"/>
          <a:stretch>
            <a:fillRect/>
          </a:stretch>
        </p:blipFill>
        <p:spPr>
          <a:xfrm>
            <a:off x="529114" y="4186357"/>
            <a:ext cx="755928" cy="1209437"/>
          </a:xfrm>
          <a:prstGeom prst="rect">
            <a:avLst/>
          </a:prstGeom>
        </p:spPr>
      </p:pic>
      <p:sp>
        <p:nvSpPr>
          <p:cNvPr id="8" name="Text 3"/>
          <p:cNvSpPr/>
          <p:nvPr/>
        </p:nvSpPr>
        <p:spPr>
          <a:xfrm>
            <a:off x="1511737" y="4337447"/>
            <a:ext cx="1997035" cy="222290"/>
          </a:xfrm>
          <a:prstGeom prst="rect">
            <a:avLst/>
          </a:prstGeom>
          <a:noFill/>
          <a:ln/>
        </p:spPr>
        <p:txBody>
          <a:bodyPr wrap="none" lIns="0" tIns="0" rIns="0" bIns="0" rtlCol="0" anchor="t"/>
          <a:lstStyle/>
          <a:p>
            <a:pPr marL="0" indent="0" algn="l">
              <a:lnSpc>
                <a:spcPts val="1750"/>
              </a:lnSpc>
              <a:buNone/>
            </a:pPr>
            <a:r>
              <a:rPr lang="en-US" sz="2400" dirty="0">
                <a:solidFill>
                  <a:srgbClr val="3B3535"/>
                </a:solidFill>
                <a:latin typeface="Red Hat Text" pitchFamily="34" charset="0"/>
                <a:ea typeface="Red Hat Text" pitchFamily="34" charset="-122"/>
                <a:cs typeface="Red Hat Text" pitchFamily="34" charset="-120"/>
              </a:rPr>
              <a:t>Disable Legacy Protocols</a:t>
            </a:r>
            <a:endParaRPr lang="en-US" sz="2400" dirty="0"/>
          </a:p>
        </p:txBody>
      </p:sp>
      <p:sp>
        <p:nvSpPr>
          <p:cNvPr id="9" name="Text 4"/>
          <p:cNvSpPr/>
          <p:nvPr/>
        </p:nvSpPr>
        <p:spPr>
          <a:xfrm>
            <a:off x="1511737" y="4650343"/>
            <a:ext cx="12589550" cy="241935"/>
          </a:xfrm>
          <a:prstGeom prst="rect">
            <a:avLst/>
          </a:prstGeom>
          <a:noFill/>
          <a:ln/>
        </p:spPr>
        <p:txBody>
          <a:bodyPr wrap="none" lIns="0" tIns="0" rIns="0" bIns="0" rtlCol="0" anchor="t"/>
          <a:lstStyle/>
          <a:p>
            <a:pPr marL="0" indent="0" algn="l">
              <a:lnSpc>
                <a:spcPts val="1900"/>
              </a:lnSpc>
              <a:buNone/>
            </a:pPr>
            <a:r>
              <a:rPr lang="en-US" dirty="0">
                <a:solidFill>
                  <a:srgbClr val="3B3535"/>
                </a:solidFill>
                <a:latin typeface="Roboto Light" pitchFamily="34" charset="0"/>
                <a:ea typeface="Roboto Light" pitchFamily="34" charset="-122"/>
                <a:cs typeface="Roboto Light" pitchFamily="34" charset="-120"/>
              </a:rPr>
              <a:t>Disable support for outdated and vulnerable protocols like WEP.</a:t>
            </a:r>
            <a:endParaRPr lang="en-US" dirty="0"/>
          </a:p>
        </p:txBody>
      </p:sp>
      <p:pic>
        <p:nvPicPr>
          <p:cNvPr id="10" name="Image 3" descr="preencoded.png"/>
          <p:cNvPicPr>
            <a:picLocks noChangeAspect="1"/>
          </p:cNvPicPr>
          <p:nvPr/>
        </p:nvPicPr>
        <p:blipFill>
          <a:blip r:embed="rId6"/>
          <a:stretch>
            <a:fillRect/>
          </a:stretch>
        </p:blipFill>
        <p:spPr>
          <a:xfrm>
            <a:off x="529114" y="5395793"/>
            <a:ext cx="755928" cy="1209437"/>
          </a:xfrm>
          <a:prstGeom prst="rect">
            <a:avLst/>
          </a:prstGeom>
        </p:spPr>
      </p:pic>
      <p:sp>
        <p:nvSpPr>
          <p:cNvPr id="11" name="Text 5"/>
          <p:cNvSpPr/>
          <p:nvPr/>
        </p:nvSpPr>
        <p:spPr>
          <a:xfrm>
            <a:off x="1511737" y="5546884"/>
            <a:ext cx="1944053" cy="222290"/>
          </a:xfrm>
          <a:prstGeom prst="rect">
            <a:avLst/>
          </a:prstGeom>
          <a:noFill/>
          <a:ln/>
        </p:spPr>
        <p:txBody>
          <a:bodyPr wrap="none" lIns="0" tIns="0" rIns="0" bIns="0" rtlCol="0" anchor="t"/>
          <a:lstStyle/>
          <a:p>
            <a:pPr marL="0" indent="0" algn="l">
              <a:lnSpc>
                <a:spcPts val="1750"/>
              </a:lnSpc>
              <a:buNone/>
            </a:pPr>
            <a:r>
              <a:rPr lang="en-US" sz="2400" dirty="0">
                <a:solidFill>
                  <a:srgbClr val="3B3535"/>
                </a:solidFill>
                <a:latin typeface="Red Hat Text" pitchFamily="34" charset="0"/>
                <a:ea typeface="Red Hat Text" pitchFamily="34" charset="-122"/>
                <a:cs typeface="Red Hat Text" pitchFamily="34" charset="-120"/>
              </a:rPr>
              <a:t>Manage Access Controls</a:t>
            </a:r>
            <a:endParaRPr lang="en-US" sz="2400" dirty="0"/>
          </a:p>
        </p:txBody>
      </p:sp>
      <p:sp>
        <p:nvSpPr>
          <p:cNvPr id="12" name="Text 6"/>
          <p:cNvSpPr/>
          <p:nvPr/>
        </p:nvSpPr>
        <p:spPr>
          <a:xfrm>
            <a:off x="1511737" y="5859780"/>
            <a:ext cx="12589550" cy="241935"/>
          </a:xfrm>
          <a:prstGeom prst="rect">
            <a:avLst/>
          </a:prstGeom>
          <a:noFill/>
          <a:ln/>
        </p:spPr>
        <p:txBody>
          <a:bodyPr wrap="none" lIns="0" tIns="0" rIns="0" bIns="0" rtlCol="0" anchor="t"/>
          <a:lstStyle/>
          <a:p>
            <a:pPr marL="0" indent="0" algn="l">
              <a:lnSpc>
                <a:spcPts val="1900"/>
              </a:lnSpc>
              <a:buNone/>
            </a:pPr>
            <a:r>
              <a:rPr lang="en-US" dirty="0">
                <a:solidFill>
                  <a:srgbClr val="3B3535"/>
                </a:solidFill>
                <a:latin typeface="Roboto Light" pitchFamily="34" charset="0"/>
                <a:ea typeface="Roboto Light" pitchFamily="34" charset="-122"/>
                <a:cs typeface="Roboto Light" pitchFamily="34" charset="-120"/>
              </a:rPr>
              <a:t>Enforce strong authentication and authorization mechanisms.</a:t>
            </a:r>
            <a:endParaRPr lang="en-US" dirty="0"/>
          </a:p>
        </p:txBody>
      </p:sp>
      <p:pic>
        <p:nvPicPr>
          <p:cNvPr id="13" name="Image 4" descr="preencoded.png"/>
          <p:cNvPicPr>
            <a:picLocks noChangeAspect="1"/>
          </p:cNvPicPr>
          <p:nvPr/>
        </p:nvPicPr>
        <p:blipFill>
          <a:blip r:embed="rId7"/>
          <a:stretch>
            <a:fillRect/>
          </a:stretch>
        </p:blipFill>
        <p:spPr>
          <a:xfrm>
            <a:off x="529114" y="6605230"/>
            <a:ext cx="755928" cy="1209437"/>
          </a:xfrm>
          <a:prstGeom prst="rect">
            <a:avLst/>
          </a:prstGeom>
        </p:spPr>
      </p:pic>
      <p:sp>
        <p:nvSpPr>
          <p:cNvPr id="14" name="Text 7"/>
          <p:cNvSpPr/>
          <p:nvPr/>
        </p:nvSpPr>
        <p:spPr>
          <a:xfrm>
            <a:off x="1511737" y="6756321"/>
            <a:ext cx="2135981" cy="222290"/>
          </a:xfrm>
          <a:prstGeom prst="rect">
            <a:avLst/>
          </a:prstGeom>
          <a:noFill/>
          <a:ln/>
        </p:spPr>
        <p:txBody>
          <a:bodyPr wrap="none" lIns="0" tIns="0" rIns="0" bIns="0" rtlCol="0" anchor="t"/>
          <a:lstStyle/>
          <a:p>
            <a:pPr marL="0" indent="0" algn="l">
              <a:lnSpc>
                <a:spcPts val="1750"/>
              </a:lnSpc>
              <a:buNone/>
            </a:pPr>
            <a:r>
              <a:rPr lang="en-US" sz="2400" dirty="0">
                <a:solidFill>
                  <a:srgbClr val="3B3535"/>
                </a:solidFill>
                <a:latin typeface="Red Hat Text" pitchFamily="34" charset="0"/>
                <a:ea typeface="Red Hat Text" pitchFamily="34" charset="-122"/>
                <a:cs typeface="Red Hat Text" pitchFamily="34" charset="-120"/>
              </a:rPr>
              <a:t>Regularly Update Firmware</a:t>
            </a:r>
            <a:endParaRPr lang="en-US" sz="2400" dirty="0"/>
          </a:p>
        </p:txBody>
      </p:sp>
      <p:sp>
        <p:nvSpPr>
          <p:cNvPr id="15" name="Text 8"/>
          <p:cNvSpPr/>
          <p:nvPr/>
        </p:nvSpPr>
        <p:spPr>
          <a:xfrm>
            <a:off x="1511737" y="7069217"/>
            <a:ext cx="12589550" cy="241935"/>
          </a:xfrm>
          <a:prstGeom prst="rect">
            <a:avLst/>
          </a:prstGeom>
          <a:noFill/>
          <a:ln/>
        </p:spPr>
        <p:txBody>
          <a:bodyPr wrap="none" lIns="0" tIns="0" rIns="0" bIns="0" rtlCol="0" anchor="t"/>
          <a:lstStyle/>
          <a:p>
            <a:pPr marL="0" indent="0" algn="l">
              <a:lnSpc>
                <a:spcPts val="1900"/>
              </a:lnSpc>
              <a:buNone/>
            </a:pPr>
            <a:r>
              <a:rPr lang="en-US" dirty="0">
                <a:solidFill>
                  <a:srgbClr val="3B3535"/>
                </a:solidFill>
                <a:latin typeface="Roboto Light" pitchFamily="34" charset="0"/>
                <a:ea typeface="Roboto Light" pitchFamily="34" charset="-122"/>
                <a:cs typeface="Roboto Light" pitchFamily="34" charset="-120"/>
              </a:rPr>
              <a:t>Keep wireless devices and access points up-to-date with security patches.</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37724" y="1021794"/>
            <a:ext cx="7468553" cy="1408033"/>
          </a:xfrm>
          <a:prstGeom prst="rect">
            <a:avLst/>
          </a:prstGeom>
          <a:noFill/>
          <a:ln/>
        </p:spPr>
        <p:txBody>
          <a:bodyPr wrap="square" lIns="0" tIns="0" rIns="0" bIns="0" rtlCol="0" anchor="t"/>
          <a:lstStyle/>
          <a:p>
            <a:pPr marL="0" indent="0">
              <a:lnSpc>
                <a:spcPts val="5500"/>
              </a:lnSpc>
              <a:buNone/>
            </a:pPr>
            <a:r>
              <a:rPr lang="en-US" sz="4400" dirty="0">
                <a:solidFill>
                  <a:srgbClr val="1F1E1E"/>
                </a:solidFill>
                <a:latin typeface="Red Hat Text" pitchFamily="34" charset="0"/>
                <a:ea typeface="Red Hat Text" pitchFamily="34" charset="-122"/>
                <a:cs typeface="Red Hat Text" pitchFamily="34" charset="-120"/>
              </a:rPr>
              <a:t>Conclusion and Key Takeaways</a:t>
            </a:r>
            <a:endParaRPr lang="en-US" sz="4400" dirty="0"/>
          </a:p>
        </p:txBody>
      </p:sp>
      <p:sp>
        <p:nvSpPr>
          <p:cNvPr id="4" name="Shape 1"/>
          <p:cNvSpPr/>
          <p:nvPr/>
        </p:nvSpPr>
        <p:spPr>
          <a:xfrm>
            <a:off x="837724" y="3058001"/>
            <a:ext cx="538520" cy="538520"/>
          </a:xfrm>
          <a:prstGeom prst="roundRect">
            <a:avLst>
              <a:gd name="adj" fmla="val 6668"/>
            </a:avLst>
          </a:prstGeom>
          <a:solidFill>
            <a:srgbClr val="F3E8E8"/>
          </a:solidFill>
          <a:ln/>
        </p:spPr>
      </p:sp>
      <p:sp>
        <p:nvSpPr>
          <p:cNvPr id="5" name="Text 2"/>
          <p:cNvSpPr/>
          <p:nvPr/>
        </p:nvSpPr>
        <p:spPr>
          <a:xfrm>
            <a:off x="1055013" y="3158252"/>
            <a:ext cx="103823" cy="337899"/>
          </a:xfrm>
          <a:prstGeom prst="rect">
            <a:avLst/>
          </a:prstGeom>
          <a:noFill/>
          <a:ln/>
        </p:spPr>
        <p:txBody>
          <a:bodyPr wrap="none" lIns="0" tIns="0" rIns="0" bIns="0" rtlCol="0" anchor="t"/>
          <a:lstStyle/>
          <a:p>
            <a:pPr marL="0" indent="0" algn="ctr">
              <a:lnSpc>
                <a:spcPts val="2650"/>
              </a:lnSpc>
              <a:buNone/>
            </a:pPr>
            <a:r>
              <a:rPr lang="en-US" sz="2650" dirty="0">
                <a:solidFill>
                  <a:srgbClr val="3B3535"/>
                </a:solidFill>
                <a:latin typeface="Red Hat Text" pitchFamily="34" charset="0"/>
                <a:ea typeface="Red Hat Text" pitchFamily="34" charset="-122"/>
                <a:cs typeface="Red Hat Text" pitchFamily="34" charset="-120"/>
              </a:rPr>
              <a:t>1</a:t>
            </a:r>
            <a:endParaRPr lang="en-US" sz="2650" dirty="0"/>
          </a:p>
        </p:txBody>
      </p:sp>
      <p:sp>
        <p:nvSpPr>
          <p:cNvPr id="6" name="Text 3"/>
          <p:cNvSpPr/>
          <p:nvPr/>
        </p:nvSpPr>
        <p:spPr>
          <a:xfrm>
            <a:off x="1615559" y="3058001"/>
            <a:ext cx="2816185" cy="351949"/>
          </a:xfrm>
          <a:prstGeom prst="rect">
            <a:avLst/>
          </a:prstGeom>
          <a:noFill/>
          <a:ln/>
        </p:spPr>
        <p:txBody>
          <a:bodyPr wrap="none" lIns="0" tIns="0" rIns="0" bIns="0" rtlCol="0" anchor="t"/>
          <a:lstStyle/>
          <a:p>
            <a:pPr marL="0" indent="0">
              <a:lnSpc>
                <a:spcPts val="2750"/>
              </a:lnSpc>
              <a:buNone/>
            </a:pPr>
            <a:r>
              <a:rPr lang="en-US" sz="2200" dirty="0">
                <a:solidFill>
                  <a:srgbClr val="3B3535"/>
                </a:solidFill>
                <a:latin typeface="Red Hat Text" pitchFamily="34" charset="0"/>
                <a:ea typeface="Red Hat Text" pitchFamily="34" charset="-122"/>
                <a:cs typeface="Red Hat Text" pitchFamily="34" charset="-120"/>
              </a:rPr>
              <a:t>Evolving Protocols</a:t>
            </a:r>
            <a:endParaRPr lang="en-US" sz="2200" dirty="0"/>
          </a:p>
        </p:txBody>
      </p:sp>
      <p:sp>
        <p:nvSpPr>
          <p:cNvPr id="7" name="Text 4"/>
          <p:cNvSpPr/>
          <p:nvPr/>
        </p:nvSpPr>
        <p:spPr>
          <a:xfrm>
            <a:off x="1615559" y="3553539"/>
            <a:ext cx="2836783" cy="1532096"/>
          </a:xfrm>
          <a:prstGeom prst="rect">
            <a:avLst/>
          </a:prstGeom>
          <a:noFill/>
          <a:ln/>
        </p:spPr>
        <p:txBody>
          <a:bodyPr wrap="square" lIns="0" tIns="0" rIns="0" bIns="0" rtlCol="0" anchor="t"/>
          <a:lstStyle/>
          <a:p>
            <a:pPr marL="0" indent="0">
              <a:lnSpc>
                <a:spcPts val="3000"/>
              </a:lnSpc>
              <a:buNone/>
            </a:pPr>
            <a:r>
              <a:rPr lang="en-US" sz="1850" dirty="0">
                <a:solidFill>
                  <a:srgbClr val="3B3535"/>
                </a:solidFill>
                <a:latin typeface="Roboto Light" pitchFamily="34" charset="0"/>
                <a:ea typeface="Roboto Light" pitchFamily="34" charset="-122"/>
                <a:cs typeface="Roboto Light" pitchFamily="34" charset="-120"/>
              </a:rPr>
              <a:t>Staying current with the latest 802.11 standards is crucial for robust wireless security.</a:t>
            </a:r>
            <a:endParaRPr lang="en-US" sz="1850" dirty="0"/>
          </a:p>
        </p:txBody>
      </p:sp>
      <p:sp>
        <p:nvSpPr>
          <p:cNvPr id="8" name="Shape 5"/>
          <p:cNvSpPr/>
          <p:nvPr/>
        </p:nvSpPr>
        <p:spPr>
          <a:xfrm>
            <a:off x="4691658" y="3058001"/>
            <a:ext cx="538520" cy="538520"/>
          </a:xfrm>
          <a:prstGeom prst="roundRect">
            <a:avLst>
              <a:gd name="adj" fmla="val 6668"/>
            </a:avLst>
          </a:prstGeom>
          <a:solidFill>
            <a:srgbClr val="F3E8E8"/>
          </a:solidFill>
          <a:ln/>
        </p:spPr>
      </p:sp>
      <p:sp>
        <p:nvSpPr>
          <p:cNvPr id="9" name="Text 6"/>
          <p:cNvSpPr/>
          <p:nvPr/>
        </p:nvSpPr>
        <p:spPr>
          <a:xfrm>
            <a:off x="4868228" y="3158252"/>
            <a:ext cx="185261" cy="337899"/>
          </a:xfrm>
          <a:prstGeom prst="rect">
            <a:avLst/>
          </a:prstGeom>
          <a:noFill/>
          <a:ln/>
        </p:spPr>
        <p:txBody>
          <a:bodyPr wrap="none" lIns="0" tIns="0" rIns="0" bIns="0" rtlCol="0" anchor="t"/>
          <a:lstStyle/>
          <a:p>
            <a:pPr marL="0" indent="0" algn="ctr">
              <a:lnSpc>
                <a:spcPts val="2650"/>
              </a:lnSpc>
              <a:buNone/>
            </a:pPr>
            <a:r>
              <a:rPr lang="en-US" sz="2650" dirty="0">
                <a:solidFill>
                  <a:srgbClr val="3B3535"/>
                </a:solidFill>
                <a:latin typeface="Red Hat Text" pitchFamily="34" charset="0"/>
                <a:ea typeface="Red Hat Text" pitchFamily="34" charset="-122"/>
                <a:cs typeface="Red Hat Text" pitchFamily="34" charset="-120"/>
              </a:rPr>
              <a:t>2</a:t>
            </a:r>
            <a:endParaRPr lang="en-US" sz="2650" dirty="0"/>
          </a:p>
        </p:txBody>
      </p:sp>
      <p:sp>
        <p:nvSpPr>
          <p:cNvPr id="10" name="Text 7"/>
          <p:cNvSpPr/>
          <p:nvPr/>
        </p:nvSpPr>
        <p:spPr>
          <a:xfrm>
            <a:off x="5469493" y="3058001"/>
            <a:ext cx="2836783" cy="703898"/>
          </a:xfrm>
          <a:prstGeom prst="rect">
            <a:avLst/>
          </a:prstGeom>
          <a:noFill/>
          <a:ln/>
        </p:spPr>
        <p:txBody>
          <a:bodyPr wrap="square" lIns="0" tIns="0" rIns="0" bIns="0" rtlCol="0" anchor="t"/>
          <a:lstStyle/>
          <a:p>
            <a:pPr marL="0" indent="0">
              <a:lnSpc>
                <a:spcPts val="2750"/>
              </a:lnSpc>
              <a:buNone/>
            </a:pPr>
            <a:r>
              <a:rPr lang="en-US" sz="2200" dirty="0">
                <a:solidFill>
                  <a:srgbClr val="3B3535"/>
                </a:solidFill>
                <a:latin typeface="Red Hat Text" pitchFamily="34" charset="0"/>
                <a:ea typeface="Red Hat Text" pitchFamily="34" charset="-122"/>
                <a:cs typeface="Red Hat Text" pitchFamily="34" charset="-120"/>
              </a:rPr>
              <a:t>Vulnerability Awareness</a:t>
            </a:r>
            <a:endParaRPr lang="en-US" sz="2200" dirty="0"/>
          </a:p>
        </p:txBody>
      </p:sp>
      <p:sp>
        <p:nvSpPr>
          <p:cNvPr id="11" name="Text 8"/>
          <p:cNvSpPr/>
          <p:nvPr/>
        </p:nvSpPr>
        <p:spPr>
          <a:xfrm>
            <a:off x="5469493" y="3905488"/>
            <a:ext cx="2836783" cy="1532096"/>
          </a:xfrm>
          <a:prstGeom prst="rect">
            <a:avLst/>
          </a:prstGeom>
          <a:noFill/>
          <a:ln/>
        </p:spPr>
        <p:txBody>
          <a:bodyPr wrap="square" lIns="0" tIns="0" rIns="0" bIns="0" rtlCol="0" anchor="t"/>
          <a:lstStyle/>
          <a:p>
            <a:pPr marL="0" indent="0">
              <a:lnSpc>
                <a:spcPts val="3000"/>
              </a:lnSpc>
              <a:buNone/>
            </a:pPr>
            <a:r>
              <a:rPr lang="en-US" sz="1850" dirty="0">
                <a:solidFill>
                  <a:srgbClr val="3B3535"/>
                </a:solidFill>
                <a:latin typeface="Roboto Light" pitchFamily="34" charset="0"/>
                <a:ea typeface="Roboto Light" pitchFamily="34" charset="-122"/>
                <a:cs typeface="Roboto Light" pitchFamily="34" charset="-120"/>
              </a:rPr>
              <a:t>Understanding encryption protocol weaknesses and WLAN attack vectors is essential.</a:t>
            </a:r>
            <a:endParaRPr lang="en-US" sz="1850" dirty="0"/>
          </a:p>
        </p:txBody>
      </p:sp>
      <p:sp>
        <p:nvSpPr>
          <p:cNvPr id="12" name="Shape 9"/>
          <p:cNvSpPr/>
          <p:nvPr/>
        </p:nvSpPr>
        <p:spPr>
          <a:xfrm>
            <a:off x="837724" y="5946100"/>
            <a:ext cx="538520" cy="538520"/>
          </a:xfrm>
          <a:prstGeom prst="roundRect">
            <a:avLst>
              <a:gd name="adj" fmla="val 6668"/>
            </a:avLst>
          </a:prstGeom>
          <a:solidFill>
            <a:srgbClr val="F3E8E8"/>
          </a:solidFill>
          <a:ln/>
        </p:spPr>
      </p:sp>
      <p:sp>
        <p:nvSpPr>
          <p:cNvPr id="13" name="Text 10"/>
          <p:cNvSpPr/>
          <p:nvPr/>
        </p:nvSpPr>
        <p:spPr>
          <a:xfrm>
            <a:off x="1007864" y="6046351"/>
            <a:ext cx="198120" cy="337899"/>
          </a:xfrm>
          <a:prstGeom prst="rect">
            <a:avLst/>
          </a:prstGeom>
          <a:noFill/>
          <a:ln/>
        </p:spPr>
        <p:txBody>
          <a:bodyPr wrap="none" lIns="0" tIns="0" rIns="0" bIns="0" rtlCol="0" anchor="t"/>
          <a:lstStyle/>
          <a:p>
            <a:pPr marL="0" indent="0" algn="ctr">
              <a:lnSpc>
                <a:spcPts val="2650"/>
              </a:lnSpc>
              <a:buNone/>
            </a:pPr>
            <a:r>
              <a:rPr lang="en-US" sz="2650" dirty="0">
                <a:solidFill>
                  <a:srgbClr val="3B3535"/>
                </a:solidFill>
                <a:latin typeface="Red Hat Text" pitchFamily="34" charset="0"/>
                <a:ea typeface="Red Hat Text" pitchFamily="34" charset="-122"/>
                <a:cs typeface="Red Hat Text" pitchFamily="34" charset="-120"/>
              </a:rPr>
              <a:t>3</a:t>
            </a:r>
            <a:endParaRPr lang="en-US" sz="2650" dirty="0"/>
          </a:p>
        </p:txBody>
      </p:sp>
      <p:sp>
        <p:nvSpPr>
          <p:cNvPr id="14" name="Text 11"/>
          <p:cNvSpPr/>
          <p:nvPr/>
        </p:nvSpPr>
        <p:spPr>
          <a:xfrm>
            <a:off x="1615559" y="5946100"/>
            <a:ext cx="2816185" cy="351949"/>
          </a:xfrm>
          <a:prstGeom prst="rect">
            <a:avLst/>
          </a:prstGeom>
          <a:noFill/>
          <a:ln/>
        </p:spPr>
        <p:txBody>
          <a:bodyPr wrap="none" lIns="0" tIns="0" rIns="0" bIns="0" rtlCol="0" anchor="t"/>
          <a:lstStyle/>
          <a:p>
            <a:pPr marL="0" indent="0">
              <a:lnSpc>
                <a:spcPts val="2750"/>
              </a:lnSpc>
              <a:buNone/>
            </a:pPr>
            <a:r>
              <a:rPr lang="en-US" sz="2200" dirty="0">
                <a:solidFill>
                  <a:srgbClr val="3B3535"/>
                </a:solidFill>
                <a:latin typeface="Red Hat Text" pitchFamily="34" charset="0"/>
                <a:ea typeface="Red Hat Text" pitchFamily="34" charset="-122"/>
                <a:cs typeface="Red Hat Text" pitchFamily="34" charset="-120"/>
              </a:rPr>
              <a:t>Proactive Measures</a:t>
            </a:r>
            <a:endParaRPr lang="en-US" sz="2200" dirty="0"/>
          </a:p>
        </p:txBody>
      </p:sp>
      <p:sp>
        <p:nvSpPr>
          <p:cNvPr id="15" name="Text 12"/>
          <p:cNvSpPr/>
          <p:nvPr/>
        </p:nvSpPr>
        <p:spPr>
          <a:xfrm>
            <a:off x="1615559" y="6441638"/>
            <a:ext cx="6690717" cy="766048"/>
          </a:xfrm>
          <a:prstGeom prst="rect">
            <a:avLst/>
          </a:prstGeom>
          <a:noFill/>
          <a:ln/>
        </p:spPr>
        <p:txBody>
          <a:bodyPr wrap="square" lIns="0" tIns="0" rIns="0" bIns="0" rtlCol="0" anchor="t"/>
          <a:lstStyle/>
          <a:p>
            <a:pPr marL="0" indent="0">
              <a:lnSpc>
                <a:spcPts val="3000"/>
              </a:lnSpc>
              <a:buNone/>
            </a:pPr>
            <a:r>
              <a:rPr lang="en-US" sz="1850" dirty="0">
                <a:solidFill>
                  <a:srgbClr val="3B3535"/>
                </a:solidFill>
                <a:latin typeface="Roboto Light" pitchFamily="34" charset="0"/>
                <a:ea typeface="Roboto Light" pitchFamily="34" charset="-122"/>
                <a:cs typeface="Roboto Light" pitchFamily="34" charset="-120"/>
              </a:rPr>
              <a:t>Implementing best practices and utilizing security tools can effectively mitigate risks.</a:t>
            </a:r>
            <a:endParaRPr lang="en-US" sz="1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925</TotalTime>
  <Words>2887</Words>
  <Application>Microsoft Office PowerPoint</Application>
  <PresentationFormat>Custom</PresentationFormat>
  <Paragraphs>279</Paragraphs>
  <Slides>23</Slides>
  <Notes>10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23</vt:i4>
      </vt:variant>
    </vt:vector>
  </HeadingPairs>
  <TitlesOfParts>
    <vt:vector size="33" baseType="lpstr">
      <vt:lpstr>Google Sans</vt:lpstr>
      <vt:lpstr>Roboto Light</vt:lpstr>
      <vt:lpstr>Arial</vt:lpstr>
      <vt:lpstr>Red Hat Text</vt:lpstr>
      <vt:lpstr>Calibri Light</vt:lpstr>
      <vt:lpstr>Nunito</vt:lpstr>
      <vt:lpstr>Calibri</vt:lpstr>
      <vt:lpstr>urw-din</vt:lpstr>
      <vt:lpstr>Office Theme</vt:lpstr>
      <vt:lpstr>1_Office Theme</vt:lpstr>
      <vt:lpstr>PowerPoint Presentation</vt:lpstr>
      <vt:lpstr>PowerPoint Presentation</vt:lpstr>
      <vt:lpstr>PowerPoint Presentation</vt:lpstr>
      <vt:lpstr>PowerPoint Presentation</vt:lpstr>
      <vt:lpstr>WAP Security issues</vt:lpstr>
      <vt:lpstr>WLAN Authentication and Encryption</vt:lpstr>
      <vt:lpstr>PowerPoint Presentation</vt:lpstr>
      <vt:lpstr>Wi-Fi Protected Access (WPA)</vt:lpstr>
      <vt:lpstr>PowerPoint Presentation</vt:lpstr>
      <vt:lpstr>PowerPoint Presentation</vt:lpstr>
      <vt:lpstr>PowerPoint Presentation</vt:lpstr>
      <vt:lpstr>PowerPoint Presentation</vt:lpstr>
      <vt:lpstr>PowerPoint Presentation</vt:lpstr>
      <vt:lpstr>Difference - Promiscuous vs. Monitor Mode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Aastha Thakker</cp:lastModifiedBy>
  <cp:revision>15</cp:revision>
  <dcterms:created xsi:type="dcterms:W3CDTF">2024-11-20T04:17:24Z</dcterms:created>
  <dcterms:modified xsi:type="dcterms:W3CDTF">2026-04-23T18:59:44Z</dcterms:modified>
</cp:coreProperties>
</file>