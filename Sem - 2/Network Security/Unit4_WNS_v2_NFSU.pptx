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2EED3-00E0-4E9F-94F8-45DBCD02101B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C474F-9FC1-48F7-8867-B5A6A95EFD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847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RSN: Robust Security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C474F-9FC1-48F7-8867-B5A6A95EFD29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92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RSN: Robust Security Network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C474F-9FC1-48F7-8867-B5A6A95EFD2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309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9636" y="1362201"/>
            <a:ext cx="3944620" cy="3313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E9ED4"/>
                </a:solidFill>
                <a:latin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51959" y="1212341"/>
            <a:ext cx="3910329" cy="3248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0E9ED4"/>
                </a:solidFill>
                <a:latin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57200" cy="5143500"/>
          </a:xfrm>
          <a:custGeom>
            <a:avLst/>
            <a:gdLst/>
            <a:ahLst/>
            <a:cxnLst/>
            <a:rect l="l" t="t" r="r" b="b"/>
            <a:pathLst>
              <a:path w="457200" h="5143500">
                <a:moveTo>
                  <a:pt x="4572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" y="5143500"/>
                </a:lnTo>
                <a:lnTo>
                  <a:pt x="4572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457200" cy="5143500"/>
          </a:xfrm>
          <a:custGeom>
            <a:avLst/>
            <a:gdLst/>
            <a:ahLst/>
            <a:cxnLst/>
            <a:rect l="l" t="t" r="r" b="b"/>
            <a:pathLst>
              <a:path w="457200" h="5143500">
                <a:moveTo>
                  <a:pt x="0" y="5143500"/>
                </a:moveTo>
                <a:lnTo>
                  <a:pt x="457200" y="5143500"/>
                </a:lnTo>
                <a:lnTo>
                  <a:pt x="4572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ln w="127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94664" y="1378330"/>
            <a:ext cx="1230630" cy="918844"/>
          </a:xfrm>
          <a:custGeom>
            <a:avLst/>
            <a:gdLst/>
            <a:ahLst/>
            <a:cxnLst/>
            <a:rect l="l" t="t" r="r" b="b"/>
            <a:pathLst>
              <a:path w="12306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2306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230630" h="918844">
                <a:moveTo>
                  <a:pt x="1230020" y="223139"/>
                </a:moveTo>
                <a:lnTo>
                  <a:pt x="1039647" y="223139"/>
                </a:lnTo>
                <a:lnTo>
                  <a:pt x="1039647" y="906145"/>
                </a:lnTo>
                <a:lnTo>
                  <a:pt x="1230020" y="906145"/>
                </a:lnTo>
                <a:lnTo>
                  <a:pt x="1230020" y="223139"/>
                </a:lnTo>
                <a:close/>
              </a:path>
              <a:path w="1230630" h="918844">
                <a:moveTo>
                  <a:pt x="1230020" y="10922"/>
                </a:moveTo>
                <a:lnTo>
                  <a:pt x="1058062" y="10922"/>
                </a:lnTo>
                <a:lnTo>
                  <a:pt x="1043580" y="28948"/>
                </a:lnTo>
                <a:lnTo>
                  <a:pt x="1028122" y="46259"/>
                </a:lnTo>
                <a:lnTo>
                  <a:pt x="994181" y="78740"/>
                </a:lnTo>
                <a:lnTo>
                  <a:pt x="955494" y="107854"/>
                </a:lnTo>
                <a:lnTo>
                  <a:pt x="910996" y="132969"/>
                </a:lnTo>
                <a:lnTo>
                  <a:pt x="859736" y="153812"/>
                </a:lnTo>
                <a:lnTo>
                  <a:pt x="800760" y="169799"/>
                </a:lnTo>
                <a:lnTo>
                  <a:pt x="800760" y="337693"/>
                </a:lnTo>
                <a:lnTo>
                  <a:pt x="858672" y="326739"/>
                </a:lnTo>
                <a:lnTo>
                  <a:pt x="908202" y="311404"/>
                </a:lnTo>
                <a:lnTo>
                  <a:pt x="950414" y="292655"/>
                </a:lnTo>
                <a:lnTo>
                  <a:pt x="986053" y="271145"/>
                </a:lnTo>
                <a:lnTo>
                  <a:pt x="1028362" y="235569"/>
                </a:lnTo>
                <a:lnTo>
                  <a:pt x="1039647" y="223139"/>
                </a:lnTo>
                <a:lnTo>
                  <a:pt x="1230020" y="223139"/>
                </a:lnTo>
                <a:lnTo>
                  <a:pt x="1230020" y="10922"/>
                </a:lnTo>
                <a:close/>
              </a:path>
            </a:pathLst>
          </a:custGeom>
          <a:solidFill>
            <a:srgbClr val="155F82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81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779" y="-5384"/>
            <a:ext cx="8099425" cy="942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045" y="1322705"/>
            <a:ext cx="8540750" cy="2420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0479" y="0"/>
            <a:ext cx="5303520" cy="5143500"/>
          </a:xfrm>
          <a:custGeom>
            <a:avLst/>
            <a:gdLst/>
            <a:ahLst/>
            <a:cxnLst/>
            <a:rect l="l" t="t" r="r" b="b"/>
            <a:pathLst>
              <a:path w="5303520" h="5143500">
                <a:moveTo>
                  <a:pt x="0" y="5143500"/>
                </a:moveTo>
                <a:lnTo>
                  <a:pt x="5303520" y="5143500"/>
                </a:lnTo>
                <a:lnTo>
                  <a:pt x="530352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3853179" cy="5156200"/>
            <a:chOff x="-6350" y="-6350"/>
            <a:chExt cx="3853179" cy="51562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657600" cy="5143500"/>
            </a:xfrm>
            <a:custGeom>
              <a:avLst/>
              <a:gdLst/>
              <a:ahLst/>
              <a:cxnLst/>
              <a:rect l="l" t="t" r="r" b="b"/>
              <a:pathLst>
                <a:path w="3657600" h="5143500">
                  <a:moveTo>
                    <a:pt x="36576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657600" y="514350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657600" cy="5143500"/>
            </a:xfrm>
            <a:custGeom>
              <a:avLst/>
              <a:gdLst/>
              <a:ahLst/>
              <a:cxnLst/>
              <a:rect l="l" t="t" r="r" b="b"/>
              <a:pathLst>
                <a:path w="3657600" h="5143500">
                  <a:moveTo>
                    <a:pt x="0" y="5143500"/>
                  </a:moveTo>
                  <a:lnTo>
                    <a:pt x="3657600" y="5143500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79" h="5143500">
                  <a:moveTo>
                    <a:pt x="18287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79" y="514350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60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79" h="5143500">
                  <a:moveTo>
                    <a:pt x="0" y="5143500"/>
                  </a:moveTo>
                  <a:lnTo>
                    <a:pt x="182879" y="514350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83" y="106679"/>
              <a:ext cx="2615945" cy="21328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1901" y="1900885"/>
            <a:ext cx="2806065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endParaRPr sz="1150" dirty="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7970" y="2233929"/>
            <a:ext cx="3121660" cy="58419"/>
            <a:chOff x="267970" y="2233929"/>
            <a:chExt cx="3121660" cy="58419"/>
          </a:xfrm>
        </p:grpSpPr>
        <p:sp>
          <p:nvSpPr>
            <p:cNvPr id="11" name="object 11"/>
            <p:cNvSpPr/>
            <p:nvPr/>
          </p:nvSpPr>
          <p:spPr>
            <a:xfrm>
              <a:off x="274320" y="2240279"/>
              <a:ext cx="3108960" cy="45720"/>
            </a:xfrm>
            <a:custGeom>
              <a:avLst/>
              <a:gdLst/>
              <a:ahLst/>
              <a:cxnLst/>
              <a:rect l="l" t="t" r="r" b="b"/>
              <a:pathLst>
                <a:path w="3108960" h="45719">
                  <a:moveTo>
                    <a:pt x="310896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3108960" y="45719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2240279"/>
              <a:ext cx="3108960" cy="45720"/>
            </a:xfrm>
            <a:custGeom>
              <a:avLst/>
              <a:gdLst/>
              <a:ahLst/>
              <a:cxnLst/>
              <a:rect l="l" t="t" r="r" b="b"/>
              <a:pathLst>
                <a:path w="3108960" h="45719">
                  <a:moveTo>
                    <a:pt x="0" y="45719"/>
                  </a:moveTo>
                  <a:lnTo>
                    <a:pt x="3108960" y="45719"/>
                  </a:lnTo>
                  <a:lnTo>
                    <a:pt x="310896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057015" y="481329"/>
            <a:ext cx="1207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9005" algn="l"/>
              </a:tabLst>
            </a:pPr>
            <a:r>
              <a:rPr sz="1600" dirty="0">
                <a:solidFill>
                  <a:srgbClr val="E97031"/>
                </a:solidFill>
              </a:rPr>
              <a:t>U</a:t>
            </a:r>
            <a:r>
              <a:rPr sz="1600" spc="50" dirty="0">
                <a:solidFill>
                  <a:srgbClr val="E97031"/>
                </a:solidFill>
              </a:rPr>
              <a:t> </a:t>
            </a:r>
            <a:r>
              <a:rPr sz="1600" dirty="0">
                <a:solidFill>
                  <a:srgbClr val="E97031"/>
                </a:solidFill>
              </a:rPr>
              <a:t>N</a:t>
            </a:r>
            <a:r>
              <a:rPr sz="1600" spc="140" dirty="0">
                <a:solidFill>
                  <a:srgbClr val="E97031"/>
                </a:solidFill>
              </a:rPr>
              <a:t> </a:t>
            </a:r>
            <a:r>
              <a:rPr sz="1600" spc="-350" dirty="0">
                <a:solidFill>
                  <a:srgbClr val="E97031"/>
                </a:solidFill>
              </a:rPr>
              <a:t>I</a:t>
            </a:r>
            <a:r>
              <a:rPr sz="1600" spc="229" dirty="0">
                <a:solidFill>
                  <a:srgbClr val="E97031"/>
                </a:solidFill>
              </a:rPr>
              <a:t> </a:t>
            </a:r>
            <a:r>
              <a:rPr sz="1600" spc="-50" dirty="0">
                <a:solidFill>
                  <a:srgbClr val="E97031"/>
                </a:solidFill>
              </a:rPr>
              <a:t>T</a:t>
            </a:r>
            <a:r>
              <a:rPr sz="1600" dirty="0">
                <a:solidFill>
                  <a:srgbClr val="E97031"/>
                </a:solidFill>
              </a:rPr>
              <a:t>	</a:t>
            </a:r>
            <a:r>
              <a:rPr sz="1600" spc="-350" dirty="0">
                <a:solidFill>
                  <a:srgbClr val="E97031"/>
                </a:solidFill>
              </a:rPr>
              <a:t>I</a:t>
            </a:r>
            <a:r>
              <a:rPr sz="1600" spc="229" dirty="0">
                <a:solidFill>
                  <a:srgbClr val="E97031"/>
                </a:solidFill>
              </a:rPr>
              <a:t> </a:t>
            </a:r>
            <a:r>
              <a:rPr sz="1600" spc="-75" dirty="0">
                <a:solidFill>
                  <a:srgbClr val="E97031"/>
                </a:solidFill>
              </a:rPr>
              <a:t>V</a:t>
            </a:r>
            <a:endParaRPr sz="1600"/>
          </a:p>
        </p:txBody>
      </p:sp>
      <p:sp>
        <p:nvSpPr>
          <p:cNvPr id="15" name="object 15"/>
          <p:cNvSpPr txBox="1"/>
          <p:nvPr/>
        </p:nvSpPr>
        <p:spPr>
          <a:xfrm>
            <a:off x="4057015" y="947369"/>
            <a:ext cx="4675505" cy="379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b="1" spc="-320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4800" b="1" spc="-4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1" spc="-490" dirty="0">
                <a:solidFill>
                  <a:srgbClr val="FFFFFF"/>
                </a:solidFill>
                <a:latin typeface="Tahoma"/>
                <a:cs typeface="Tahoma"/>
              </a:rPr>
              <a:t>Network </a:t>
            </a:r>
            <a:r>
              <a:rPr sz="4800" b="1" spc="-4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endParaRPr sz="4800">
              <a:latin typeface="Tahoma"/>
              <a:cs typeface="Tahoma"/>
            </a:endParaRPr>
          </a:p>
          <a:p>
            <a:pPr marL="208279" indent="-195580">
              <a:lnSpc>
                <a:spcPct val="100000"/>
              </a:lnSpc>
              <a:spcBef>
                <a:spcPts val="332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IEEE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802.11</a:t>
            </a:r>
            <a:r>
              <a:rPr sz="1250" spc="-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Protocols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MAC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Structure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9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WAP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12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Monitor</a:t>
            </a:r>
            <a:r>
              <a:rPr sz="1250" spc="-9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Promiscuous</a:t>
            </a:r>
            <a:r>
              <a:rPr sz="1250" spc="-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Mode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Sniffing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Wireless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Packets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WLAN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Authentication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9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WEP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WPA</a:t>
            </a:r>
            <a:r>
              <a:rPr sz="1250" spc="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WPA2</a:t>
            </a:r>
            <a:r>
              <a:rPr sz="1250" spc="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Flaws</a:t>
            </a:r>
            <a:r>
              <a:rPr sz="1250" spc="2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2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WLAN-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Based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Attacks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Countermeasures</a:t>
            </a:r>
            <a:r>
              <a:rPr sz="1250" spc="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9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WLAN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Pen-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Testing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Tools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Bluetooth</a:t>
            </a:r>
            <a:r>
              <a:rPr sz="1250" spc="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ZigBee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RFID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NFC</a:t>
            </a:r>
            <a:r>
              <a:rPr sz="1250" spc="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95" dirty="0">
                <a:solidFill>
                  <a:srgbClr val="89ABBE"/>
                </a:solidFill>
                <a:latin typeface="Segoe UI Symbol"/>
                <a:cs typeface="Segoe UI Symbol"/>
              </a:rPr>
              <a:t>Z-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Wave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Cellular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Unit</a:t>
            </a:r>
            <a:r>
              <a:rPr spc="-265" dirty="0"/>
              <a:t> </a:t>
            </a:r>
            <a:r>
              <a:rPr spc="-455" dirty="0"/>
              <a:t>IV</a:t>
            </a:r>
            <a:r>
              <a:rPr spc="-28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215" dirty="0"/>
              <a:t>Course</a:t>
            </a:r>
            <a:r>
              <a:rPr spc="-275" dirty="0"/>
              <a:t> </a:t>
            </a:r>
            <a:r>
              <a:rPr spc="-325" dirty="0"/>
              <a:t>Map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971" y="1034796"/>
            <a:ext cx="4377055" cy="1377950"/>
            <a:chOff x="156971" y="1034796"/>
            <a:chExt cx="4377055" cy="13779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034796"/>
              <a:ext cx="4376928" cy="13776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2335" y="1143000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143000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8686" y="1115695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155F82"/>
                </a:solidFill>
                <a:latin typeface="Tahoma"/>
                <a:cs typeface="Tahoma"/>
              </a:rPr>
              <a:t>01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spc="55" dirty="0">
                <a:solidFill>
                  <a:srgbClr val="E8E8E8"/>
                </a:solidFill>
                <a:latin typeface="Segoe UI Symbol"/>
                <a:cs typeface="Segoe UI Symbol"/>
              </a:rPr>
              <a:t>IEEE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Protocols</a:t>
            </a:r>
            <a:r>
              <a:rPr sz="1800" spc="-1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8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Structure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91811" y="1034796"/>
            <a:ext cx="4377055" cy="1377950"/>
            <a:chOff x="4591811" y="1034796"/>
            <a:chExt cx="4377055" cy="13779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1034796"/>
              <a:ext cx="4376928" cy="13776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37175" y="1143000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54879" y="1143000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487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5487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699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43526" y="1115695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ts val="4220"/>
              </a:lnSpc>
              <a:spcBef>
                <a:spcPts val="100"/>
              </a:spcBef>
            </a:pPr>
            <a:r>
              <a:rPr sz="3600" b="1" spc="-395" dirty="0">
                <a:solidFill>
                  <a:srgbClr val="0E9ED4"/>
                </a:solidFill>
                <a:latin typeface="Tahoma"/>
                <a:cs typeface="Tahoma"/>
              </a:rPr>
              <a:t>02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ts val="2060"/>
              </a:lnSpc>
            </a:pP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WAP</a:t>
            </a:r>
            <a:r>
              <a:rPr sz="1800" spc="-1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800" spc="1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7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800" spc="-1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800" spc="1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4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endParaRPr sz="18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Sniffing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6971" y="2278379"/>
            <a:ext cx="4377055" cy="1377950"/>
            <a:chOff x="156971" y="2278379"/>
            <a:chExt cx="4377055" cy="13779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278379"/>
              <a:ext cx="4376928" cy="13776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02335" y="2386583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39" y="2386583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3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8686" y="2359532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E97031"/>
                </a:solidFill>
                <a:latin typeface="Tahoma"/>
                <a:cs typeface="Tahoma"/>
              </a:rPr>
              <a:t>03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(WEP/WPA/WPA2/WPA3)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91811" y="2278379"/>
            <a:ext cx="4377055" cy="1377950"/>
            <a:chOff x="4591811" y="2278379"/>
            <a:chExt cx="4377055" cy="137795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2278379"/>
              <a:ext cx="4376928" cy="13776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37175" y="2386583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4879" y="2386583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5487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5487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43526" y="2133980"/>
            <a:ext cx="4032885" cy="1186815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875"/>
              </a:spcBef>
            </a:pPr>
            <a:r>
              <a:rPr sz="3600" b="1" spc="-395" dirty="0">
                <a:solidFill>
                  <a:srgbClr val="C0392B"/>
                </a:solidFill>
                <a:latin typeface="Tahoma"/>
                <a:cs typeface="Tahoma"/>
              </a:rPr>
              <a:t>04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ct val="100000"/>
              </a:lnSpc>
              <a:spcBef>
                <a:spcPts val="890"/>
              </a:spcBef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Flaws</a:t>
            </a:r>
            <a:r>
              <a:rPr sz="18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6971" y="3521989"/>
            <a:ext cx="4377055" cy="1377950"/>
            <a:chOff x="156971" y="3521989"/>
            <a:chExt cx="4377055" cy="137795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521989"/>
              <a:ext cx="4376928" cy="137769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2335" y="3630167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7"/>
                  </a:moveTo>
                  <a:lnTo>
                    <a:pt x="4032504" y="1115567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0039" y="3630167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7"/>
                  </a:moveTo>
                  <a:lnTo>
                    <a:pt x="4114800" y="1115567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003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7"/>
                  </a:lnTo>
                  <a:lnTo>
                    <a:pt x="82296" y="111556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003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7"/>
                  </a:moveTo>
                  <a:lnTo>
                    <a:pt x="82296" y="111556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08686" y="3603447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186B23"/>
                </a:solidFill>
                <a:latin typeface="Tahoma"/>
                <a:cs typeface="Tahoma"/>
              </a:rPr>
              <a:t>05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Countermeasures</a:t>
            </a:r>
            <a:r>
              <a:rPr sz="18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Pen-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Testing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Tools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91811" y="3521989"/>
            <a:ext cx="4377055" cy="1377950"/>
            <a:chOff x="4591811" y="3521989"/>
            <a:chExt cx="4377055" cy="137795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3521989"/>
              <a:ext cx="4376928" cy="137769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837175" y="3630167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7"/>
                  </a:moveTo>
                  <a:lnTo>
                    <a:pt x="4032504" y="1115567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54879" y="3630167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7"/>
                  </a:moveTo>
                  <a:lnTo>
                    <a:pt x="4114800" y="1115567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5487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7"/>
                  </a:lnTo>
                  <a:lnTo>
                    <a:pt x="82296" y="111556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5487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7"/>
                  </a:moveTo>
                  <a:lnTo>
                    <a:pt x="82296" y="111556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699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843526" y="3603447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ts val="4220"/>
              </a:lnSpc>
              <a:spcBef>
                <a:spcPts val="100"/>
              </a:spcBef>
            </a:pPr>
            <a:r>
              <a:rPr sz="3600" b="1" spc="-395" dirty="0">
                <a:solidFill>
                  <a:srgbClr val="EFC040"/>
                </a:solidFill>
                <a:latin typeface="Tahoma"/>
                <a:cs typeface="Tahoma"/>
              </a:rPr>
              <a:t>06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ts val="2060"/>
              </a:lnSpc>
            </a:pPr>
            <a:r>
              <a:rPr sz="180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Wireless:</a:t>
            </a:r>
            <a:r>
              <a:rPr sz="18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5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8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5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8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5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endParaRPr sz="18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RFID</a:t>
            </a:r>
            <a:r>
              <a:rPr sz="18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8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50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380" y="2664333"/>
            <a:ext cx="8049259" cy="172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2940">
              <a:lnSpc>
                <a:spcPct val="100000"/>
              </a:lnSpc>
              <a:spcBef>
                <a:spcPts val="100"/>
              </a:spcBef>
            </a:pPr>
            <a:r>
              <a:rPr sz="3800" spc="-405" dirty="0"/>
              <a:t>IEEE</a:t>
            </a:r>
            <a:r>
              <a:rPr sz="3800" spc="-380" dirty="0"/>
              <a:t> </a:t>
            </a:r>
            <a:r>
              <a:rPr sz="3800" spc="-360" dirty="0"/>
              <a:t>802.11</a:t>
            </a:r>
            <a:r>
              <a:rPr sz="3800" spc="-390" dirty="0"/>
              <a:t> </a:t>
            </a:r>
            <a:r>
              <a:rPr sz="3800" spc="-275" dirty="0"/>
              <a:t>Protocols </a:t>
            </a:r>
            <a:r>
              <a:rPr sz="3800" spc="525" dirty="0"/>
              <a:t>s</a:t>
            </a:r>
            <a:r>
              <a:rPr sz="3800" spc="-375" dirty="0"/>
              <a:t> </a:t>
            </a:r>
            <a:r>
              <a:rPr sz="3800" spc="-245" dirty="0"/>
              <a:t>MAC</a:t>
            </a:r>
            <a:r>
              <a:rPr sz="3800" spc="-375" dirty="0"/>
              <a:t> Frame</a:t>
            </a:r>
            <a:r>
              <a:rPr sz="3800" spc="-390" dirty="0"/>
              <a:t> </a:t>
            </a:r>
            <a:r>
              <a:rPr sz="3800" spc="-330" dirty="0"/>
              <a:t>Structure</a:t>
            </a:r>
            <a:endParaRPr sz="3800"/>
          </a:p>
          <a:p>
            <a:pPr marL="12700" marR="5080">
              <a:lnSpc>
                <a:spcPct val="100699"/>
              </a:lnSpc>
              <a:spcBef>
                <a:spcPts val="635"/>
              </a:spcBef>
            </a:pP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Standards</a:t>
            </a:r>
            <a:r>
              <a:rPr sz="1500" b="0" spc="-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evolution</a:t>
            </a:r>
            <a:r>
              <a:rPr sz="1500" b="0" spc="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500" b="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layout</a:t>
            </a:r>
            <a:r>
              <a:rPr sz="1500" b="0" spc="1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500" b="0" spc="-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Control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ToDS/FromDS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Management</a:t>
            </a:r>
            <a:r>
              <a:rPr sz="1500" b="0" spc="-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subtypes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40" dirty="0">
                <a:solidFill>
                  <a:srgbClr val="89ABBE"/>
                </a:solidFill>
                <a:latin typeface="Segoe UI Symbol"/>
                <a:cs typeface="Segoe UI Symbol"/>
              </a:rPr>
              <a:t>•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Beacon</a:t>
            </a:r>
            <a:r>
              <a:rPr sz="1500" b="0" spc="1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Authentication</a:t>
            </a:r>
            <a:r>
              <a:rPr sz="1500" b="0" spc="-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</a:t>
            </a:r>
            <a:r>
              <a:rPr sz="1500" b="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RTS/CTS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5918"/>
            <a:ext cx="57169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IEEE</a:t>
            </a:r>
            <a:r>
              <a:rPr spc="-305" dirty="0"/>
              <a:t> </a:t>
            </a:r>
            <a:r>
              <a:rPr spc="-285" dirty="0"/>
              <a:t>802.11</a:t>
            </a:r>
            <a:r>
              <a:rPr spc="-26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54" dirty="0"/>
              <a:t>Standards</a:t>
            </a:r>
            <a:r>
              <a:rPr spc="-290" dirty="0"/>
              <a:t> </a:t>
            </a:r>
            <a:r>
              <a:rPr spc="-270" dirty="0"/>
              <a:t>Evolution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3347" y="761237"/>
          <a:ext cx="8503915" cy="2515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Standard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Year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Band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4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Max</a:t>
                      </a:r>
                      <a:r>
                        <a:rPr sz="13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Speed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Security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300" b="1" spc="-7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Technology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(original)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1997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introduced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DSSS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FHSS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54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802.11b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11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DSSS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802.11g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2003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54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→</a:t>
                      </a:r>
                      <a:r>
                        <a:rPr sz="1300" spc="-1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(2003)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600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WPA2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mandatory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MIMO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802.11ac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2013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9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1.3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WPA2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MU-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MIMO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256-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QAM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802.11ax</a:t>
                      </a:r>
                      <a:r>
                        <a:rPr sz="1300" b="1" spc="4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(Wi-</a:t>
                      </a:r>
                      <a:r>
                        <a:rPr sz="1300" b="1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Fi</a:t>
                      </a:r>
                      <a:r>
                        <a:rPr sz="1300" b="1" spc="3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6)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201G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2.4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10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5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10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6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GHz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G.6</a:t>
                      </a:r>
                      <a:r>
                        <a:rPr sz="1300" b="1" spc="-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Gbps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6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WPA3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mandatory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b="1" spc="-5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OFDMA</a:t>
                      </a:r>
                      <a:r>
                        <a:rPr sz="1300" b="1" spc="-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·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1024-</a:t>
                      </a:r>
                      <a:r>
                        <a:rPr sz="1300" b="1" spc="-10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QAM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·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BSS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Color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23" y="3221761"/>
            <a:ext cx="8766048" cy="150418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04800" y="3310128"/>
            <a:ext cx="8515985" cy="1262380"/>
            <a:chOff x="304800" y="3310128"/>
            <a:chExt cx="8515985" cy="1262380"/>
          </a:xfrm>
        </p:grpSpPr>
        <p:sp>
          <p:nvSpPr>
            <p:cNvPr id="12" name="object 12"/>
            <p:cNvSpPr/>
            <p:nvPr/>
          </p:nvSpPr>
          <p:spPr>
            <a:xfrm>
              <a:off x="316522" y="3331426"/>
              <a:ext cx="8503920" cy="1240790"/>
            </a:xfrm>
            <a:custGeom>
              <a:avLst/>
              <a:gdLst/>
              <a:ahLst/>
              <a:cxnLst/>
              <a:rect l="l" t="t" r="r" b="b"/>
              <a:pathLst>
                <a:path w="8503920" h="1240789">
                  <a:moveTo>
                    <a:pt x="8503920" y="0"/>
                  </a:moveTo>
                  <a:lnTo>
                    <a:pt x="0" y="0"/>
                  </a:lnTo>
                  <a:lnTo>
                    <a:pt x="0" y="1240574"/>
                  </a:lnTo>
                  <a:lnTo>
                    <a:pt x="8503920" y="1240574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3310128"/>
              <a:ext cx="364997" cy="37414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16522" y="3331425"/>
            <a:ext cx="8503920" cy="1240790"/>
          </a:xfrm>
          <a:prstGeom prst="rect">
            <a:avLst/>
          </a:prstGeom>
          <a:ln w="12700">
            <a:solidFill>
              <a:srgbClr val="186B23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16865">
              <a:lnSpc>
                <a:spcPts val="1625"/>
              </a:lnSpc>
              <a:spcBef>
                <a:spcPts val="229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400">
              <a:latin typeface="Yu Gothic UI"/>
              <a:cs typeface="Yu Gothic UI"/>
            </a:endParaRPr>
          </a:p>
          <a:p>
            <a:pPr marL="94615">
              <a:lnSpc>
                <a:spcPts val="1625"/>
              </a:lnSpc>
            </a:pP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audit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scenario: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40" dirty="0">
                <a:solidFill>
                  <a:srgbClr val="E8E8E8"/>
                </a:solidFill>
                <a:latin typeface="Segoe UI Symbol"/>
                <a:cs typeface="Segoe UI Symbol"/>
              </a:rPr>
              <a:t>building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legacy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802.11g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AP.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protocols</a:t>
            </a:r>
            <a:r>
              <a:rPr sz="14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limited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to?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4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400">
              <a:latin typeface="Segoe UI Symbol"/>
              <a:cs typeface="Segoe UI Symbol"/>
            </a:endParaRPr>
          </a:p>
          <a:p>
            <a:pPr marL="94615">
              <a:lnSpc>
                <a:spcPct val="100000"/>
              </a:lnSpc>
            </a:pP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equipment</a:t>
            </a:r>
            <a:r>
              <a:rPr sz="14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support</a:t>
            </a:r>
            <a:r>
              <a:rPr sz="14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WPA3?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4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frequency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bands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become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available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endParaRPr sz="1400">
              <a:latin typeface="Segoe UI Symbol"/>
              <a:cs typeface="Segoe UI Symbol"/>
            </a:endParaRPr>
          </a:p>
          <a:p>
            <a:pPr marL="94615">
              <a:lnSpc>
                <a:spcPct val="100000"/>
              </a:lnSpc>
            </a:pP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upgrade</a:t>
            </a:r>
            <a:r>
              <a:rPr sz="14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802.11ax?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61086"/>
            <a:ext cx="6481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802.11</a:t>
            </a:r>
            <a:r>
              <a:rPr spc="-254" dirty="0"/>
              <a:t> </a:t>
            </a:r>
            <a:r>
              <a:rPr spc="-195" dirty="0"/>
              <a:t>MAC</a:t>
            </a:r>
            <a:r>
              <a:rPr spc="-295" dirty="0"/>
              <a:t> Frame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5" dirty="0"/>
              <a:t> </a:t>
            </a:r>
            <a:r>
              <a:rPr spc="-125" dirty="0"/>
              <a:t>All</a:t>
            </a:r>
            <a:r>
              <a:rPr spc="-310" dirty="0"/>
              <a:t> </a:t>
            </a:r>
            <a:r>
              <a:rPr spc="-195" dirty="0"/>
              <a:t>Fields</a:t>
            </a:r>
            <a:r>
              <a:rPr spc="-275" dirty="0"/>
              <a:t> </a:t>
            </a:r>
            <a:r>
              <a:rPr spc="-260" dirty="0"/>
              <a:t>in</a:t>
            </a:r>
            <a:r>
              <a:rPr spc="-285" dirty="0"/>
              <a:t> </a:t>
            </a:r>
            <a:r>
              <a:rPr spc="-275" dirty="0"/>
              <a:t>Order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49681" y="650494"/>
            <a:ext cx="1092200" cy="972819"/>
            <a:chOff x="249681" y="650494"/>
            <a:chExt cx="1092200" cy="972819"/>
          </a:xfrm>
        </p:grpSpPr>
        <p:sp>
          <p:nvSpPr>
            <p:cNvPr id="10" name="object 10"/>
            <p:cNvSpPr/>
            <p:nvPr/>
          </p:nvSpPr>
          <p:spPr>
            <a:xfrm>
              <a:off x="256031" y="656844"/>
              <a:ext cx="1079500" cy="960119"/>
            </a:xfrm>
            <a:custGeom>
              <a:avLst/>
              <a:gdLst/>
              <a:ahLst/>
              <a:cxnLst/>
              <a:rect l="l" t="t" r="r" b="b"/>
              <a:pathLst>
                <a:path w="1079500" h="960119">
                  <a:moveTo>
                    <a:pt x="1078992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078992" y="960119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1" y="656844"/>
              <a:ext cx="1079500" cy="960119"/>
            </a:xfrm>
            <a:custGeom>
              <a:avLst/>
              <a:gdLst/>
              <a:ahLst/>
              <a:cxnLst/>
              <a:rect l="l" t="t" r="r" b="b"/>
              <a:pathLst>
                <a:path w="1079500" h="960119">
                  <a:moveTo>
                    <a:pt x="0" y="960119"/>
                  </a:moveTo>
                  <a:lnTo>
                    <a:pt x="1078992" y="960119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1121" y="749553"/>
            <a:ext cx="5086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Frame Control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997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28674" y="650494"/>
            <a:ext cx="881380" cy="972819"/>
            <a:chOff x="1328674" y="650494"/>
            <a:chExt cx="881380" cy="972819"/>
          </a:xfrm>
        </p:grpSpPr>
        <p:sp>
          <p:nvSpPr>
            <p:cNvPr id="15" name="object 15"/>
            <p:cNvSpPr/>
            <p:nvPr/>
          </p:nvSpPr>
          <p:spPr>
            <a:xfrm>
              <a:off x="1335024" y="656844"/>
              <a:ext cx="868680" cy="960119"/>
            </a:xfrm>
            <a:custGeom>
              <a:avLst/>
              <a:gdLst/>
              <a:ahLst/>
              <a:cxnLst/>
              <a:rect l="l" t="t" r="r" b="b"/>
              <a:pathLst>
                <a:path w="868680" h="960119">
                  <a:moveTo>
                    <a:pt x="868680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868680" y="960119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35024" y="656844"/>
              <a:ext cx="868680" cy="960119"/>
            </a:xfrm>
            <a:custGeom>
              <a:avLst/>
              <a:gdLst/>
              <a:ahLst/>
              <a:cxnLst/>
              <a:rect l="l" t="t" r="r" b="b"/>
              <a:pathLst>
                <a:path w="868680" h="960119">
                  <a:moveTo>
                    <a:pt x="0" y="960119"/>
                  </a:moveTo>
                  <a:lnTo>
                    <a:pt x="868680" y="960119"/>
                  </a:lnTo>
                  <a:lnTo>
                    <a:pt x="868680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76502" y="749553"/>
            <a:ext cx="58483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Duration</a:t>
            </a:r>
            <a:endParaRPr sz="1100">
              <a:latin typeface="Yu Gothic UI"/>
              <a:cs typeface="Yu Gothic UI"/>
            </a:endParaRPr>
          </a:p>
          <a:p>
            <a:pPr marL="1270" algn="ctr">
              <a:lnSpc>
                <a:spcPct val="100000"/>
              </a:lnSpc>
            </a:pP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/ID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7001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97354" y="650494"/>
            <a:ext cx="1219835" cy="972819"/>
            <a:chOff x="2197354" y="650494"/>
            <a:chExt cx="1219835" cy="972819"/>
          </a:xfrm>
        </p:grpSpPr>
        <p:sp>
          <p:nvSpPr>
            <p:cNvPr id="20" name="object 20"/>
            <p:cNvSpPr/>
            <p:nvPr/>
          </p:nvSpPr>
          <p:spPr>
            <a:xfrm>
              <a:off x="2203704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03704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81198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95" dirty="0">
                <a:solidFill>
                  <a:srgbClr val="FFFFFF"/>
                </a:solidFill>
                <a:latin typeface="Yu Gothic UI"/>
                <a:cs typeface="Yu Gothic UI"/>
              </a:rPr>
              <a:t>1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(DA</a:t>
            </a:r>
            <a:r>
              <a:rPr sz="1100" b="1" spc="-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/</a:t>
            </a:r>
            <a:r>
              <a:rPr sz="1100" b="1" spc="-7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RA)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522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04361" y="650494"/>
            <a:ext cx="1219835" cy="972819"/>
            <a:chOff x="3404361" y="650494"/>
            <a:chExt cx="1219835" cy="972819"/>
          </a:xfrm>
        </p:grpSpPr>
        <p:sp>
          <p:nvSpPr>
            <p:cNvPr id="25" name="object 25"/>
            <p:cNvSpPr/>
            <p:nvPr/>
          </p:nvSpPr>
          <p:spPr>
            <a:xfrm>
              <a:off x="3410711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10711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88460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2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(SA</a:t>
            </a:r>
            <a:r>
              <a:rPr sz="1100" b="1" spc="-7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/</a:t>
            </a:r>
            <a:r>
              <a:rPr sz="1100" b="1" spc="-7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TA)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12489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11370" y="650494"/>
            <a:ext cx="1219835" cy="972819"/>
            <a:chOff x="4611370" y="650494"/>
            <a:chExt cx="1219835" cy="972819"/>
          </a:xfrm>
        </p:grpSpPr>
        <p:sp>
          <p:nvSpPr>
            <p:cNvPr id="30" name="object 30"/>
            <p:cNvSpPr/>
            <p:nvPr/>
          </p:nvSpPr>
          <p:spPr>
            <a:xfrm>
              <a:off x="4617720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17720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95469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3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(varies)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949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18378" y="650494"/>
            <a:ext cx="835660" cy="972819"/>
            <a:chOff x="5818378" y="650494"/>
            <a:chExt cx="835660" cy="972819"/>
          </a:xfrm>
        </p:grpSpPr>
        <p:sp>
          <p:nvSpPr>
            <p:cNvPr id="35" name="object 35"/>
            <p:cNvSpPr/>
            <p:nvPr/>
          </p:nvSpPr>
          <p:spPr>
            <a:xfrm>
              <a:off x="5824728" y="656844"/>
              <a:ext cx="822960" cy="960119"/>
            </a:xfrm>
            <a:custGeom>
              <a:avLst/>
              <a:gdLst/>
              <a:ahLst/>
              <a:cxnLst/>
              <a:rect l="l" t="t" r="r" b="b"/>
              <a:pathLst>
                <a:path w="822959" h="960119">
                  <a:moveTo>
                    <a:pt x="822959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822959" y="960119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24728" y="656844"/>
              <a:ext cx="822960" cy="960119"/>
            </a:xfrm>
            <a:custGeom>
              <a:avLst/>
              <a:gdLst/>
              <a:ahLst/>
              <a:cxnLst/>
              <a:rect l="l" t="t" r="r" b="b"/>
              <a:pathLst>
                <a:path w="822959" h="960119">
                  <a:moveTo>
                    <a:pt x="0" y="960119"/>
                  </a:moveTo>
                  <a:lnTo>
                    <a:pt x="822959" y="960119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82461" y="749553"/>
            <a:ext cx="5086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Seq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Control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34861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641338" y="650494"/>
            <a:ext cx="927100" cy="972819"/>
            <a:chOff x="6641338" y="650494"/>
            <a:chExt cx="927100" cy="972819"/>
          </a:xfrm>
        </p:grpSpPr>
        <p:sp>
          <p:nvSpPr>
            <p:cNvPr id="40" name="object 40"/>
            <p:cNvSpPr/>
            <p:nvPr/>
          </p:nvSpPr>
          <p:spPr>
            <a:xfrm>
              <a:off x="6647688" y="656844"/>
              <a:ext cx="914400" cy="960119"/>
            </a:xfrm>
            <a:custGeom>
              <a:avLst/>
              <a:gdLst/>
              <a:ahLst/>
              <a:cxnLst/>
              <a:rect l="l" t="t" r="r" b="b"/>
              <a:pathLst>
                <a:path w="914400" h="960119">
                  <a:moveTo>
                    <a:pt x="914400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914400" y="96011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47688" y="656844"/>
              <a:ext cx="914400" cy="960119"/>
            </a:xfrm>
            <a:custGeom>
              <a:avLst/>
              <a:gdLst/>
              <a:ahLst/>
              <a:cxnLst/>
              <a:rect l="l" t="t" r="r" b="b"/>
              <a:pathLst>
                <a:path w="914400" h="960119">
                  <a:moveTo>
                    <a:pt x="0" y="960119"/>
                  </a:moveTo>
                  <a:lnTo>
                    <a:pt x="914400" y="96011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44969" y="749553"/>
            <a:ext cx="72199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44780">
              <a:lnSpc>
                <a:spcPct val="100000"/>
              </a:lnSpc>
              <a:spcBef>
                <a:spcPts val="105"/>
              </a:spcBef>
            </a:pP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Addr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 4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(WDS</a:t>
            </a:r>
            <a:r>
              <a:rPr sz="1100" b="1" spc="-8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only)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0252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555738" y="650494"/>
            <a:ext cx="1000760" cy="972819"/>
            <a:chOff x="7555738" y="650494"/>
            <a:chExt cx="1000760" cy="972819"/>
          </a:xfrm>
        </p:grpSpPr>
        <p:sp>
          <p:nvSpPr>
            <p:cNvPr id="45" name="object 45"/>
            <p:cNvSpPr/>
            <p:nvPr/>
          </p:nvSpPr>
          <p:spPr>
            <a:xfrm>
              <a:off x="7562088" y="656844"/>
              <a:ext cx="988060" cy="960119"/>
            </a:xfrm>
            <a:custGeom>
              <a:avLst/>
              <a:gdLst/>
              <a:ahLst/>
              <a:cxnLst/>
              <a:rect l="l" t="t" r="r" b="b"/>
              <a:pathLst>
                <a:path w="988059" h="960119">
                  <a:moveTo>
                    <a:pt x="987551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987551" y="960119"/>
                  </a:lnTo>
                  <a:lnTo>
                    <a:pt x="987551" y="0"/>
                  </a:lnTo>
                  <a:close/>
                </a:path>
              </a:pathLst>
            </a:custGeom>
            <a:solidFill>
              <a:srgbClr val="1F4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62088" y="656844"/>
              <a:ext cx="988060" cy="960119"/>
            </a:xfrm>
            <a:custGeom>
              <a:avLst/>
              <a:gdLst/>
              <a:ahLst/>
              <a:cxnLst/>
              <a:rect l="l" t="t" r="r" b="b"/>
              <a:pathLst>
                <a:path w="988059" h="960119">
                  <a:moveTo>
                    <a:pt x="0" y="960119"/>
                  </a:moveTo>
                  <a:lnTo>
                    <a:pt x="987551" y="960119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840218" y="749553"/>
            <a:ext cx="4324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Frame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Body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0781" y="1294638"/>
            <a:ext cx="5530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solidFill>
                  <a:srgbClr val="EFC040"/>
                </a:solidFill>
                <a:latin typeface="Segoe UI Symbol"/>
                <a:cs typeface="Segoe UI Symbol"/>
              </a:rPr>
              <a:t>0–7951</a:t>
            </a:r>
            <a:r>
              <a:rPr sz="1050" spc="-30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543290" y="650494"/>
            <a:ext cx="543560" cy="972819"/>
            <a:chOff x="8543290" y="650494"/>
            <a:chExt cx="543560" cy="972819"/>
          </a:xfrm>
        </p:grpSpPr>
        <p:sp>
          <p:nvSpPr>
            <p:cNvPr id="50" name="object 50"/>
            <p:cNvSpPr/>
            <p:nvPr/>
          </p:nvSpPr>
          <p:spPr>
            <a:xfrm>
              <a:off x="8549640" y="656844"/>
              <a:ext cx="530860" cy="960119"/>
            </a:xfrm>
            <a:custGeom>
              <a:avLst/>
              <a:gdLst/>
              <a:ahLst/>
              <a:cxnLst/>
              <a:rect l="l" t="t" r="r" b="b"/>
              <a:pathLst>
                <a:path w="530859" h="960119">
                  <a:moveTo>
                    <a:pt x="530351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530351" y="960119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49640" y="656844"/>
              <a:ext cx="530860" cy="960119"/>
            </a:xfrm>
            <a:custGeom>
              <a:avLst/>
              <a:gdLst/>
              <a:ahLst/>
              <a:cxnLst/>
              <a:rect l="l" t="t" r="r" b="b"/>
              <a:pathLst>
                <a:path w="530859" h="960119">
                  <a:moveTo>
                    <a:pt x="0" y="960119"/>
                  </a:moveTo>
                  <a:lnTo>
                    <a:pt x="530351" y="960119"/>
                  </a:lnTo>
                  <a:lnTo>
                    <a:pt x="530351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673845" y="833374"/>
            <a:ext cx="2832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30" dirty="0">
                <a:solidFill>
                  <a:srgbClr val="FFFFFF"/>
                </a:solidFill>
                <a:latin typeface="Yu Gothic UI"/>
                <a:cs typeface="Yu Gothic UI"/>
              </a:rPr>
              <a:t>FCS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13469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4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3331" y="1742058"/>
            <a:ext cx="4177665" cy="27679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Frame</a:t>
            </a:r>
            <a:r>
              <a:rPr sz="120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Control</a:t>
            </a:r>
            <a:r>
              <a:rPr sz="120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7785">
              <a:lnSpc>
                <a:spcPct val="100800"/>
              </a:lnSpc>
              <a:spcBef>
                <a:spcPts val="40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Most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complex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field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16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defining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type,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subtype,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9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flags.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next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slide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level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breakdown.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Duration/ID</a:t>
            </a:r>
            <a:r>
              <a:rPr sz="1200" b="1" spc="-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0165">
              <a:lnSpc>
                <a:spcPct val="100800"/>
              </a:lnSpc>
              <a:spcBef>
                <a:spcPts val="409"/>
              </a:spcBef>
            </a:pP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NAV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(Network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Allocation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Vector)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microseconds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tells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other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long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medium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will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occupied.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290"/>
              </a:lnSpc>
              <a:spcBef>
                <a:spcPts val="7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Address</a:t>
            </a:r>
            <a:r>
              <a:rPr sz="12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1–3</a:t>
            </a:r>
            <a:r>
              <a:rPr sz="1200" b="1" spc="-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35" dirty="0">
                <a:solidFill>
                  <a:srgbClr val="0E9ED4"/>
                </a:solidFill>
                <a:latin typeface="Yu Gothic UI"/>
                <a:cs typeface="Yu Gothic UI"/>
              </a:rPr>
              <a:t>(6B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each):</a:t>
            </a:r>
            <a:endParaRPr sz="1200">
              <a:latin typeface="Yu Gothic UI"/>
              <a:cs typeface="Yu Gothic UI"/>
            </a:endParaRPr>
          </a:p>
          <a:p>
            <a:pPr marL="12700">
              <a:lnSpc>
                <a:spcPts val="129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IEEE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802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addresses.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Meaning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(DA/SA/BSSID/RA/TA)</a:t>
            </a:r>
            <a:endParaRPr sz="1200">
              <a:latin typeface="Segoe UI Symbol"/>
              <a:cs typeface="Segoe UI Symbol"/>
            </a:endParaRPr>
          </a:p>
          <a:p>
            <a:pPr marL="12700" marR="92710">
              <a:lnSpc>
                <a:spcPts val="1460"/>
              </a:lnSpc>
              <a:spcBef>
                <a:spcPts val="3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depends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ToDS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FromDS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slide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7.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385"/>
              </a:lnSpc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Sequence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Control</a:t>
            </a:r>
            <a:r>
              <a:rPr sz="1200" b="1" spc="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409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Fragment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bits)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Sequence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(12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bits).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duplicate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reassemble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fragments.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51375" y="1742058"/>
            <a:ext cx="4190365" cy="207263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Address</a:t>
            </a:r>
            <a:r>
              <a:rPr sz="120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4</a:t>
            </a:r>
            <a:r>
              <a:rPr sz="1200" b="1" spc="-3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(6B):</a:t>
            </a:r>
            <a:endParaRPr sz="1200">
              <a:latin typeface="Yu Gothic UI"/>
              <a:cs typeface="Yu Gothic UI"/>
            </a:endParaRPr>
          </a:p>
          <a:p>
            <a:pPr marL="12700" marR="111125">
              <a:lnSpc>
                <a:spcPct val="100800"/>
              </a:lnSpc>
              <a:spcBef>
                <a:spcPts val="405"/>
              </a:spcBef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ToDS=1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FromDS=1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(WDS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bridge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mesh).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Carries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Source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AP-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to-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transmissions.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Frame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0E9ED4"/>
                </a:solidFill>
                <a:latin typeface="Yu Gothic UI"/>
                <a:cs typeface="Yu Gothic UI"/>
              </a:rPr>
              <a:t>Body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(variable):</a:t>
            </a:r>
            <a:endParaRPr sz="1200">
              <a:latin typeface="Yu Gothic UI"/>
              <a:cs typeface="Yu Gothic UI"/>
            </a:endParaRPr>
          </a:p>
          <a:p>
            <a:pPr marL="12700" marR="125095">
              <a:lnSpc>
                <a:spcPct val="100800"/>
              </a:lnSpc>
              <a:spcBef>
                <a:spcPts val="409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Payload: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7,951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frames;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2,346 bytes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data.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WPA2/WPA3.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60" dirty="0">
                <a:solidFill>
                  <a:srgbClr val="0E9ED4"/>
                </a:solidFill>
                <a:latin typeface="Yu Gothic UI"/>
                <a:cs typeface="Yu Gothic UI"/>
              </a:rPr>
              <a:t>FCS</a:t>
            </a:r>
            <a:r>
              <a:rPr sz="120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(4B):</a:t>
            </a:r>
            <a:endParaRPr sz="12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transmission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errors.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NOT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mechanism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easily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forged.</a:t>
            </a:r>
            <a:endParaRPr sz="1200">
              <a:latin typeface="Segoe UI Symbol"/>
              <a:cs typeface="Segoe UI Symbo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" y="4488184"/>
            <a:ext cx="8894064" cy="655314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56031" y="4597406"/>
            <a:ext cx="8632190" cy="475615"/>
          </a:xfrm>
          <a:prstGeom prst="rect">
            <a:avLst/>
          </a:prstGeom>
          <a:solidFill>
            <a:srgbClr val="2A1F00"/>
          </a:solidFill>
          <a:ln w="12700">
            <a:solidFill>
              <a:srgbClr val="EFC04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37160">
              <a:lnSpc>
                <a:spcPts val="1555"/>
              </a:lnSpc>
              <a:spcBef>
                <a:spcPts val="50"/>
              </a:spcBef>
            </a:pPr>
            <a:r>
              <a:rPr sz="1300" dirty="0">
                <a:solidFill>
                  <a:srgbClr val="EFC040"/>
                </a:solidFill>
                <a:latin typeface="Segoe UI Symbol"/>
                <a:cs typeface="Segoe UI Symbol"/>
              </a:rPr>
              <a:t>★</a:t>
            </a:r>
            <a:r>
              <a:rPr sz="1300" spc="220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QoS</a:t>
            </a:r>
            <a:r>
              <a:rPr sz="13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Control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(2B)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present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in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802.11e/WMM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frames</a:t>
            </a:r>
            <a:r>
              <a:rPr sz="1300" b="1" spc="22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|</a:t>
            </a:r>
            <a:r>
              <a:rPr sz="1300" b="1" spc="204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EFC040"/>
                </a:solidFill>
                <a:latin typeface="Yu Gothic UI"/>
                <a:cs typeface="Yu Gothic UI"/>
              </a:rPr>
              <a:t>HT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Control</a:t>
            </a:r>
            <a:r>
              <a:rPr sz="1300" b="1" spc="-7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(4B)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in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802.11n/ac/ax</a:t>
            </a:r>
            <a:r>
              <a:rPr sz="1300" b="1" spc="2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|</a:t>
            </a:r>
            <a:r>
              <a:rPr sz="1300" b="1" spc="22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EFC040"/>
                </a:solidFill>
                <a:latin typeface="Yu Gothic UI"/>
                <a:cs typeface="Yu Gothic UI"/>
              </a:rPr>
              <a:t>Maximum</a:t>
            </a:r>
            <a:r>
              <a:rPr sz="1300" b="1" spc="-1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60" dirty="0">
                <a:solidFill>
                  <a:srgbClr val="EFC040"/>
                </a:solidFill>
                <a:latin typeface="Yu Gothic UI"/>
                <a:cs typeface="Yu Gothic UI"/>
              </a:rPr>
              <a:t>MAC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header</a:t>
            </a:r>
            <a:endParaRPr sz="1300">
              <a:latin typeface="Yu Gothic UI"/>
              <a:cs typeface="Yu Gothic UI"/>
            </a:endParaRPr>
          </a:p>
          <a:p>
            <a:pPr marL="137160">
              <a:lnSpc>
                <a:spcPts val="1555"/>
              </a:lnSpc>
            </a:pPr>
            <a:r>
              <a:rPr sz="1300" b="1" spc="-225" dirty="0">
                <a:solidFill>
                  <a:srgbClr val="EFC040"/>
                </a:solidFill>
                <a:latin typeface="Yu Gothic UI"/>
                <a:cs typeface="Yu Gothic UI"/>
              </a:rPr>
              <a:t>=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EFC040"/>
                </a:solidFill>
                <a:latin typeface="Yu Gothic UI"/>
                <a:cs typeface="Yu Gothic UI"/>
              </a:rPr>
              <a:t>36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bytes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FC040"/>
                </a:solidFill>
                <a:latin typeface="Yu Gothic UI"/>
                <a:cs typeface="Yu Gothic UI"/>
              </a:rPr>
              <a:t>before</a:t>
            </a:r>
            <a:r>
              <a:rPr sz="13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payload</a:t>
            </a:r>
            <a:endParaRPr sz="13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1827" y="39009"/>
            <a:ext cx="6611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Frame</a:t>
            </a:r>
            <a:r>
              <a:rPr spc="-270" dirty="0"/>
              <a:t> </a:t>
            </a:r>
            <a:r>
              <a:rPr spc="-225" dirty="0"/>
              <a:t>Control</a:t>
            </a:r>
            <a:r>
              <a:rPr spc="-270" dirty="0"/>
              <a:t> </a:t>
            </a:r>
            <a:r>
              <a:rPr spc="-204" dirty="0"/>
              <a:t>Field</a:t>
            </a:r>
            <a:r>
              <a:rPr spc="-260" dirty="0"/>
              <a:t> </a:t>
            </a:r>
            <a:r>
              <a:rPr dirty="0"/>
              <a:t>—</a:t>
            </a:r>
            <a:r>
              <a:rPr spc="-275" dirty="0"/>
              <a:t> </a:t>
            </a:r>
            <a:r>
              <a:rPr spc="-280" dirty="0"/>
              <a:t>16-</a:t>
            </a:r>
            <a:r>
              <a:rPr spc="-250" dirty="0"/>
              <a:t>Bit </a:t>
            </a:r>
            <a:r>
              <a:rPr spc="-325" dirty="0"/>
              <a:t>Breakdown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49681" y="650494"/>
            <a:ext cx="927100" cy="854075"/>
            <a:chOff x="249681" y="650494"/>
            <a:chExt cx="927100" cy="854075"/>
          </a:xfrm>
        </p:grpSpPr>
        <p:sp>
          <p:nvSpPr>
            <p:cNvPr id="10" name="object 10"/>
            <p:cNvSpPr/>
            <p:nvPr/>
          </p:nvSpPr>
          <p:spPr>
            <a:xfrm>
              <a:off x="256031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2A5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1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9396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0–1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445" y="1013205"/>
            <a:ext cx="4921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080" indent="-26034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Protocol Version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4082" y="650494"/>
            <a:ext cx="927100" cy="854075"/>
            <a:chOff x="1164082" y="650494"/>
            <a:chExt cx="927100" cy="854075"/>
          </a:xfrm>
        </p:grpSpPr>
        <p:sp>
          <p:nvSpPr>
            <p:cNvPr id="15" name="object 15"/>
            <p:cNvSpPr/>
            <p:nvPr/>
          </p:nvSpPr>
          <p:spPr>
            <a:xfrm>
              <a:off x="11704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04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24127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2–3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1727" y="1013205"/>
            <a:ext cx="5137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Type </a:t>
            </a:r>
            <a:r>
              <a:rPr sz="1000" spc="-30" dirty="0">
                <a:solidFill>
                  <a:srgbClr val="FFFFFF"/>
                </a:solidFill>
                <a:latin typeface="Segoe UI Symbol"/>
                <a:cs typeface="Segoe UI Symbol"/>
              </a:rPr>
              <a:t>00/01/10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78482" y="650494"/>
            <a:ext cx="927100" cy="854075"/>
            <a:chOff x="2078482" y="650494"/>
            <a:chExt cx="927100" cy="854075"/>
          </a:xfrm>
        </p:grpSpPr>
        <p:sp>
          <p:nvSpPr>
            <p:cNvPr id="20" name="object 20"/>
            <p:cNvSpPr/>
            <p:nvPr/>
          </p:nvSpPr>
          <p:spPr>
            <a:xfrm>
              <a:off x="20848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48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38526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4–7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4414" y="1013205"/>
            <a:ext cx="475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Subtype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(4</a:t>
            </a:r>
            <a:r>
              <a:rPr sz="1000" spc="-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bits)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92882" y="650494"/>
            <a:ext cx="671195" cy="854075"/>
            <a:chOff x="2992882" y="650494"/>
            <a:chExt cx="671195" cy="854075"/>
          </a:xfrm>
        </p:grpSpPr>
        <p:sp>
          <p:nvSpPr>
            <p:cNvPr id="25" name="object 25"/>
            <p:cNvSpPr/>
            <p:nvPr/>
          </p:nvSpPr>
          <p:spPr>
            <a:xfrm>
              <a:off x="2999232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658368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58368" y="841248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99232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0" y="841248"/>
                  </a:moveTo>
                  <a:lnTo>
                    <a:pt x="658368" y="841248"/>
                  </a:lnTo>
                  <a:lnTo>
                    <a:pt x="658368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284346" y="699896"/>
            <a:ext cx="9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EFC040"/>
                </a:solidFill>
                <a:latin typeface="Yu Gothic UI"/>
                <a:cs typeface="Yu Gothic UI"/>
              </a:rPr>
              <a:t>8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37102" y="1013205"/>
            <a:ext cx="184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To DS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51250" y="650494"/>
            <a:ext cx="671195" cy="854075"/>
            <a:chOff x="3651250" y="650494"/>
            <a:chExt cx="671195" cy="854075"/>
          </a:xfrm>
        </p:grpSpPr>
        <p:sp>
          <p:nvSpPr>
            <p:cNvPr id="30" name="object 30"/>
            <p:cNvSpPr/>
            <p:nvPr/>
          </p:nvSpPr>
          <p:spPr>
            <a:xfrm>
              <a:off x="3657600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658368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58368" y="841248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7600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0" y="841248"/>
                  </a:moveTo>
                  <a:lnTo>
                    <a:pt x="658368" y="841248"/>
                  </a:lnTo>
                  <a:lnTo>
                    <a:pt x="658368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42715" y="699896"/>
            <a:ext cx="9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110" dirty="0">
                <a:solidFill>
                  <a:srgbClr val="EFC040"/>
                </a:solidFill>
                <a:latin typeface="Yu Gothic UI"/>
                <a:cs typeface="Yu Gothic UI"/>
              </a:rPr>
              <a:t>G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29939" y="1013205"/>
            <a:ext cx="3130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From </a:t>
            </a: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DS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309617" y="650494"/>
            <a:ext cx="698500" cy="854075"/>
            <a:chOff x="4309617" y="650494"/>
            <a:chExt cx="698500" cy="854075"/>
          </a:xfrm>
        </p:grpSpPr>
        <p:sp>
          <p:nvSpPr>
            <p:cNvPr id="35" name="object 35"/>
            <p:cNvSpPr/>
            <p:nvPr/>
          </p:nvSpPr>
          <p:spPr>
            <a:xfrm>
              <a:off x="431596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1596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8342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10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06848" y="1013205"/>
            <a:ext cx="306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FFFFFF"/>
                </a:solidFill>
                <a:latin typeface="Segoe UI Symbol"/>
                <a:cs typeface="Segoe UI Symbol"/>
              </a:rPr>
              <a:t>More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Frag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95417" y="650494"/>
            <a:ext cx="652780" cy="854075"/>
            <a:chOff x="4995417" y="650494"/>
            <a:chExt cx="652780" cy="854075"/>
          </a:xfrm>
        </p:grpSpPr>
        <p:sp>
          <p:nvSpPr>
            <p:cNvPr id="40" name="object 40"/>
            <p:cNvSpPr/>
            <p:nvPr/>
          </p:nvSpPr>
          <p:spPr>
            <a:xfrm>
              <a:off x="5001767" y="656844"/>
              <a:ext cx="640080" cy="841375"/>
            </a:xfrm>
            <a:custGeom>
              <a:avLst/>
              <a:gdLst/>
              <a:ahLst/>
              <a:cxnLst/>
              <a:rect l="l" t="t" r="r" b="b"/>
              <a:pathLst>
                <a:path w="640079" h="841375">
                  <a:moveTo>
                    <a:pt x="640079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40079" y="84124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01767" y="656844"/>
              <a:ext cx="640080" cy="841375"/>
            </a:xfrm>
            <a:custGeom>
              <a:avLst/>
              <a:gdLst/>
              <a:ahLst/>
              <a:cxnLst/>
              <a:rect l="l" t="t" r="r" b="b"/>
              <a:pathLst>
                <a:path w="640079" h="841375">
                  <a:moveTo>
                    <a:pt x="0" y="841248"/>
                  </a:moveTo>
                  <a:lnTo>
                    <a:pt x="640079" y="841248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244846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85" dirty="0">
                <a:solidFill>
                  <a:srgbClr val="EFC040"/>
                </a:solidFill>
                <a:latin typeface="Yu Gothic UI"/>
                <a:cs typeface="Yu Gothic UI"/>
              </a:rPr>
              <a:t>11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7121" y="1089405"/>
            <a:ext cx="309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Retry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35497" y="650494"/>
            <a:ext cx="698500" cy="854075"/>
            <a:chOff x="5635497" y="650494"/>
            <a:chExt cx="698500" cy="854075"/>
          </a:xfrm>
        </p:grpSpPr>
        <p:sp>
          <p:nvSpPr>
            <p:cNvPr id="45" name="object 45"/>
            <p:cNvSpPr/>
            <p:nvPr/>
          </p:nvSpPr>
          <p:spPr>
            <a:xfrm>
              <a:off x="56418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18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90930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12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01105" y="1013205"/>
            <a:ext cx="3695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solidFill>
                  <a:srgbClr val="FFFFFF"/>
                </a:solidFill>
                <a:latin typeface="Segoe UI Symbol"/>
                <a:cs typeface="Segoe UI Symbol"/>
              </a:rPr>
              <a:t>Power </a:t>
            </a:r>
            <a:r>
              <a:rPr sz="1000" spc="-45" dirty="0">
                <a:solidFill>
                  <a:srgbClr val="FFFFFF"/>
                </a:solidFill>
                <a:latin typeface="Segoe UI Symbol"/>
                <a:cs typeface="Segoe UI Symbol"/>
              </a:rPr>
              <a:t>Mgmt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321297" y="650494"/>
            <a:ext cx="698500" cy="854075"/>
            <a:chOff x="6321297" y="650494"/>
            <a:chExt cx="698500" cy="854075"/>
          </a:xfrm>
        </p:grpSpPr>
        <p:sp>
          <p:nvSpPr>
            <p:cNvPr id="50" name="object 50"/>
            <p:cNvSpPr/>
            <p:nvPr/>
          </p:nvSpPr>
          <p:spPr>
            <a:xfrm>
              <a:off x="63276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276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59510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13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18909" y="1013205"/>
            <a:ext cx="306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FFFFFF"/>
                </a:solidFill>
                <a:latin typeface="Segoe UI Symbol"/>
                <a:cs typeface="Segoe UI Symbol"/>
              </a:rPr>
              <a:t>More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Data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07097" y="650494"/>
            <a:ext cx="881380" cy="854075"/>
            <a:chOff x="7007097" y="650494"/>
            <a:chExt cx="881380" cy="854075"/>
          </a:xfrm>
        </p:grpSpPr>
        <p:sp>
          <p:nvSpPr>
            <p:cNvPr id="55" name="object 55"/>
            <p:cNvSpPr/>
            <p:nvPr/>
          </p:nvSpPr>
          <p:spPr>
            <a:xfrm>
              <a:off x="7013447" y="656844"/>
              <a:ext cx="868680" cy="841375"/>
            </a:xfrm>
            <a:custGeom>
              <a:avLst/>
              <a:gdLst/>
              <a:ahLst/>
              <a:cxnLst/>
              <a:rect l="l" t="t" r="r" b="b"/>
              <a:pathLst>
                <a:path w="868679" h="841375">
                  <a:moveTo>
                    <a:pt x="868679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68679" y="841248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13447" y="656844"/>
              <a:ext cx="868680" cy="841375"/>
            </a:xfrm>
            <a:custGeom>
              <a:avLst/>
              <a:gdLst/>
              <a:ahLst/>
              <a:cxnLst/>
              <a:rect l="l" t="t" r="r" b="b"/>
              <a:pathLst>
                <a:path w="868679" h="841375">
                  <a:moveTo>
                    <a:pt x="0" y="841248"/>
                  </a:moveTo>
                  <a:lnTo>
                    <a:pt x="868679" y="841248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371080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14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65340" y="1013205"/>
            <a:ext cx="565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Protected Frame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875778" y="650494"/>
            <a:ext cx="762635" cy="854075"/>
            <a:chOff x="7875778" y="650494"/>
            <a:chExt cx="762635" cy="854075"/>
          </a:xfrm>
        </p:grpSpPr>
        <p:sp>
          <p:nvSpPr>
            <p:cNvPr id="60" name="object 60"/>
            <p:cNvSpPr/>
            <p:nvPr/>
          </p:nvSpPr>
          <p:spPr>
            <a:xfrm>
              <a:off x="7882128" y="656844"/>
              <a:ext cx="749935" cy="841375"/>
            </a:xfrm>
            <a:custGeom>
              <a:avLst/>
              <a:gdLst/>
              <a:ahLst/>
              <a:cxnLst/>
              <a:rect l="l" t="t" r="r" b="b"/>
              <a:pathLst>
                <a:path w="749934" h="841375">
                  <a:moveTo>
                    <a:pt x="749807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749807" y="841248"/>
                  </a:lnTo>
                  <a:lnTo>
                    <a:pt x="749807" y="0"/>
                  </a:lnTo>
                  <a:close/>
                </a:path>
              </a:pathLst>
            </a:custGeom>
            <a:solidFill>
              <a:srgbClr val="495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82128" y="656844"/>
              <a:ext cx="749935" cy="841375"/>
            </a:xfrm>
            <a:custGeom>
              <a:avLst/>
              <a:gdLst/>
              <a:ahLst/>
              <a:cxnLst/>
              <a:rect l="l" t="t" r="r" b="b"/>
              <a:pathLst>
                <a:path w="749934" h="841375">
                  <a:moveTo>
                    <a:pt x="0" y="841248"/>
                  </a:moveTo>
                  <a:lnTo>
                    <a:pt x="749807" y="841248"/>
                  </a:lnTo>
                  <a:lnTo>
                    <a:pt x="749807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180578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15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70850" y="1013205"/>
            <a:ext cx="374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Order</a:t>
            </a:r>
            <a:endParaRPr sz="1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00" spc="-35" dirty="0">
                <a:solidFill>
                  <a:srgbClr val="FFFFFF"/>
                </a:solidFill>
                <a:latin typeface="Segoe UI Symbol"/>
                <a:cs typeface="Segoe UI Symbol"/>
              </a:rPr>
              <a:t>/HTC+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3331" y="1506578"/>
            <a:ext cx="4015104" cy="30645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Bit</a:t>
            </a:r>
            <a:r>
              <a:rPr sz="1300" b="1" spc="-9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0–1</a:t>
            </a:r>
            <a:r>
              <a:rPr sz="1300" b="1" spc="-7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2A5A79"/>
                </a:solidFill>
                <a:latin typeface="Yu Gothic UI"/>
                <a:cs typeface="Yu Gothic UI"/>
              </a:rPr>
              <a:t>—</a:t>
            </a:r>
            <a:r>
              <a:rPr sz="1300" b="1" spc="-90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2A5A79"/>
                </a:solidFill>
                <a:latin typeface="Yu Gothic UI"/>
                <a:cs typeface="Yu Gothic UI"/>
              </a:rPr>
              <a:t>Protocol</a:t>
            </a:r>
            <a:r>
              <a:rPr sz="1300" b="1" spc="-5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Version: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Always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00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802.11.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Non-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reserved.</a:t>
            </a:r>
            <a:endParaRPr sz="1250" dirty="0">
              <a:latin typeface="Segoe UI Symbol"/>
              <a:cs typeface="Segoe UI Symbol"/>
            </a:endParaRPr>
          </a:p>
          <a:p>
            <a:pPr marL="12700" marR="1343025">
              <a:lnSpc>
                <a:spcPct val="132000"/>
              </a:lnSpc>
              <a:spcBef>
                <a:spcPts val="130"/>
              </a:spcBef>
            </a:pPr>
            <a:r>
              <a:rPr sz="1300" b="1" spc="-10" dirty="0">
                <a:solidFill>
                  <a:srgbClr val="155F82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155F82"/>
                </a:solidFill>
                <a:latin typeface="Yu Gothic UI"/>
                <a:cs typeface="Yu Gothic UI"/>
              </a:rPr>
              <a:t>2–3</a:t>
            </a:r>
            <a:r>
              <a:rPr sz="1300" b="1" spc="-6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120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r>
              <a:rPr sz="1300" b="1" spc="-6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155F82"/>
                </a:solidFill>
                <a:latin typeface="Yu Gothic UI"/>
                <a:cs typeface="Yu Gothic UI"/>
              </a:rPr>
              <a:t>Type</a:t>
            </a:r>
            <a:r>
              <a:rPr sz="1300" b="1" spc="-7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55F82"/>
                </a:solidFill>
                <a:latin typeface="Yu Gothic UI"/>
                <a:cs typeface="Yu Gothic UI"/>
              </a:rPr>
              <a:t>00/01/10: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Management=00,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Control=01,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Data=10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0E9ED4"/>
                </a:solidFill>
                <a:latin typeface="Yu Gothic UI"/>
                <a:cs typeface="Yu Gothic UI"/>
              </a:rPr>
              <a:t>4–7</a:t>
            </a:r>
            <a:r>
              <a:rPr sz="130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20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300" b="1" spc="-7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Subtype</a:t>
            </a:r>
            <a:r>
              <a:rPr sz="130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70" dirty="0">
                <a:solidFill>
                  <a:srgbClr val="0E9ED4"/>
                </a:solidFill>
                <a:latin typeface="Yu Gothic UI"/>
                <a:cs typeface="Yu Gothic UI"/>
              </a:rPr>
              <a:t>(4</a:t>
            </a:r>
            <a:r>
              <a:rPr sz="1300" b="1" spc="-9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bits):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</a:t>
            </a:r>
            <a:r>
              <a:rPr sz="12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1000=Beacon,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1100=Deauth)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8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10" dirty="0">
                <a:solidFill>
                  <a:srgbClr val="E97031"/>
                </a:solidFill>
                <a:latin typeface="Yu Gothic UI"/>
                <a:cs typeface="Yu Gothic UI"/>
              </a:rPr>
              <a:t>To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DS: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destined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Distribution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Bit</a:t>
            </a:r>
            <a:r>
              <a:rPr sz="13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35" dirty="0">
                <a:solidFill>
                  <a:srgbClr val="E97031"/>
                </a:solidFill>
                <a:latin typeface="Yu Gothic UI"/>
                <a:cs typeface="Yu Gothic UI"/>
              </a:rPr>
              <a:t>G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From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DS: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originated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Distribution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186B23"/>
                </a:solidFill>
                <a:latin typeface="Yu Gothic UI"/>
                <a:cs typeface="Yu Gothic UI"/>
              </a:rPr>
              <a:t>10</a:t>
            </a:r>
            <a:r>
              <a:rPr sz="13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186B23"/>
                </a:solidFill>
                <a:latin typeface="Yu Gothic UI"/>
                <a:cs typeface="Yu Gothic UI"/>
              </a:rPr>
              <a:t>More</a:t>
            </a:r>
            <a:r>
              <a:rPr sz="1300" b="1" spc="-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186B23"/>
                </a:solidFill>
                <a:latin typeface="Yu Gothic UI"/>
                <a:cs typeface="Yu Gothic UI"/>
              </a:rPr>
              <a:t>Frag: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fragments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follow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endParaRPr sz="1250" dirty="0">
              <a:latin typeface="Segoe UI Symbol"/>
              <a:cs typeface="Segoe UI 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33086" y="1506578"/>
            <a:ext cx="3940810" cy="25520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00" b="1" spc="-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160" dirty="0">
                <a:solidFill>
                  <a:srgbClr val="186B23"/>
                </a:solidFill>
                <a:latin typeface="Yu Gothic UI"/>
                <a:cs typeface="Yu Gothic UI"/>
              </a:rPr>
              <a:t>11</a:t>
            </a:r>
            <a:r>
              <a:rPr sz="13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Retry: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Retransmission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earlier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5A2F80"/>
                </a:solidFill>
                <a:latin typeface="Yu Gothic UI"/>
                <a:cs typeface="Yu Gothic UI"/>
              </a:rPr>
              <a:t>12</a:t>
            </a:r>
            <a:r>
              <a:rPr sz="1300" b="1" spc="-6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5A2F80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5A2F80"/>
                </a:solidFill>
                <a:latin typeface="Yu Gothic UI"/>
                <a:cs typeface="Yu Gothic UI"/>
              </a:rPr>
              <a:t>Power</a:t>
            </a:r>
            <a:r>
              <a:rPr sz="1300" b="1" spc="-7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Mgmt: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entering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power-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save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mode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5A2F80"/>
                </a:solidFill>
                <a:latin typeface="Yu Gothic UI"/>
                <a:cs typeface="Yu Gothic UI"/>
              </a:rPr>
              <a:t>13</a:t>
            </a:r>
            <a:r>
              <a:rPr sz="1300" b="1" spc="-5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5A2F80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5A2F80"/>
                </a:solidFill>
                <a:latin typeface="Yu Gothic UI"/>
                <a:cs typeface="Yu Gothic UI"/>
              </a:rPr>
              <a:t>More</a:t>
            </a:r>
            <a:r>
              <a:rPr sz="1300" b="1" spc="-10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5A2F80"/>
                </a:solidFill>
                <a:latin typeface="Yu Gothic UI"/>
                <a:cs typeface="Yu Gothic UI"/>
              </a:rPr>
              <a:t>Data: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buffered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sleeping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Bit</a:t>
            </a:r>
            <a:r>
              <a:rPr sz="13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14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Protected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WEP/WPA/WPA2/WPA3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applied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Body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49505F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49505F"/>
                </a:solidFill>
                <a:latin typeface="Yu Gothic UI"/>
                <a:cs typeface="Yu Gothic UI"/>
              </a:rPr>
              <a:t>15</a:t>
            </a:r>
            <a:r>
              <a:rPr sz="1300" b="1" spc="-6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49505F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49505F"/>
                </a:solidFill>
                <a:latin typeface="Yu Gothic UI"/>
                <a:cs typeface="Yu Gothic UI"/>
              </a:rPr>
              <a:t>Order</a:t>
            </a:r>
            <a:r>
              <a:rPr sz="1300" b="1" spc="-8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49505F"/>
                </a:solidFill>
                <a:latin typeface="Yu Gothic UI"/>
                <a:cs typeface="Yu Gothic UI"/>
              </a:rPr>
              <a:t>/HTC+: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Strict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ordered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processing;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HT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802.11n+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9625" y="4550239"/>
            <a:ext cx="8894445" cy="584200"/>
            <a:chOff x="92964" y="4559810"/>
            <a:chExt cx="8894445" cy="584200"/>
          </a:xfrm>
        </p:grpSpPr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4559810"/>
              <a:ext cx="8894064" cy="58368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56032" y="4669224"/>
              <a:ext cx="8632190" cy="431800"/>
            </a:xfrm>
            <a:custGeom>
              <a:avLst/>
              <a:gdLst/>
              <a:ahLst/>
              <a:cxnLst/>
              <a:rect l="l" t="t" r="r" b="b"/>
              <a:pathLst>
                <a:path w="8632190" h="431800">
                  <a:moveTo>
                    <a:pt x="8631936" y="0"/>
                  </a:moveTo>
                  <a:lnTo>
                    <a:pt x="0" y="0"/>
                  </a:lnTo>
                  <a:lnTo>
                    <a:pt x="0" y="431571"/>
                  </a:lnTo>
                  <a:lnTo>
                    <a:pt x="8631936" y="431571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6032" y="4669224"/>
              <a:ext cx="8632190" cy="431800"/>
            </a:xfrm>
            <a:custGeom>
              <a:avLst/>
              <a:gdLst/>
              <a:ahLst/>
              <a:cxnLst/>
              <a:rect l="l" t="t" r="r" b="b"/>
              <a:pathLst>
                <a:path w="8632190" h="431800">
                  <a:moveTo>
                    <a:pt x="0" y="431571"/>
                  </a:moveTo>
                  <a:lnTo>
                    <a:pt x="8631936" y="431571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431571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372" y="4587239"/>
              <a:ext cx="288797" cy="29337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282702" y="4669304"/>
            <a:ext cx="8578596" cy="317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ts val="1140"/>
              </a:lnSpc>
              <a:spcBef>
                <a:spcPts val="100"/>
              </a:spcBef>
            </a:pPr>
            <a:r>
              <a:rPr sz="1000" b="1" spc="-35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0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000" b="1" spc="-35" dirty="0">
                <a:solidFill>
                  <a:srgbClr val="C0392B"/>
                </a:solidFill>
                <a:latin typeface="Yu Gothic UI"/>
                <a:cs typeface="Yu Gothic UI"/>
              </a:rPr>
              <a:t>/</a:t>
            </a:r>
            <a:r>
              <a:rPr sz="10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000" b="1" spc="-20" dirty="0">
                <a:solidFill>
                  <a:srgbClr val="C0392B"/>
                </a:solidFill>
                <a:latin typeface="Yu Gothic UI"/>
                <a:cs typeface="Yu Gothic UI"/>
              </a:rPr>
              <a:t>FLAW</a:t>
            </a:r>
            <a:endParaRPr sz="1000" dirty="0">
              <a:latin typeface="Yu Gothic UI"/>
              <a:cs typeface="Yu Gothic UI"/>
            </a:endParaRPr>
          </a:p>
          <a:p>
            <a:pPr marL="12700">
              <a:lnSpc>
                <a:spcPts val="1380"/>
              </a:lnSpc>
            </a:pP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14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0" dirty="0">
                <a:solidFill>
                  <a:srgbClr val="E8E8E8"/>
                </a:solidFill>
                <a:latin typeface="Segoe UI Symbol"/>
                <a:cs typeface="Segoe UI Symbol"/>
              </a:rPr>
              <a:t>(Protected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Frame)</a:t>
            </a:r>
            <a:r>
              <a:rPr sz="10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0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0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0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2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0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0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unencrypted.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0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lang="en-US" sz="1000" dirty="0">
                <a:latin typeface="Segoe UI Symbol"/>
                <a:cs typeface="Segoe UI Symbol"/>
              </a:rPr>
              <a:t> 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root</a:t>
            </a:r>
            <a:r>
              <a:rPr sz="10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cause</a:t>
            </a:r>
            <a:r>
              <a:rPr sz="10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0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0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0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7178"/>
            <a:ext cx="7465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ToDS</a:t>
            </a:r>
            <a:r>
              <a:rPr spc="-270" dirty="0"/>
              <a:t> </a:t>
            </a:r>
            <a:r>
              <a:rPr spc="-595" dirty="0"/>
              <a:t>/</a:t>
            </a:r>
            <a:r>
              <a:rPr spc="-280" dirty="0"/>
              <a:t> </a:t>
            </a:r>
            <a:r>
              <a:rPr spc="-275" dirty="0"/>
              <a:t>FromDS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Four</a:t>
            </a:r>
            <a:r>
              <a:rPr spc="-275" dirty="0"/>
              <a:t> </a:t>
            </a:r>
            <a:r>
              <a:rPr spc="-235" dirty="0"/>
              <a:t>Address</a:t>
            </a:r>
            <a:r>
              <a:rPr spc="-295" dirty="0"/>
              <a:t> </a:t>
            </a:r>
            <a:r>
              <a:rPr spc="-204" dirty="0"/>
              <a:t>Combinations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11937"/>
            <a:ext cx="1292860" cy="67945"/>
            <a:chOff x="405129" y="511937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8287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8287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59" y="549401"/>
            <a:ext cx="84220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four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combinations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of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ToDS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and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FromDS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determine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meaning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of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all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four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address</a:t>
            </a: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fields.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This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standard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examination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question.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396371"/>
              </p:ext>
            </p:extLst>
          </p:nvPr>
        </p:nvGraphicFramePr>
        <p:xfrm>
          <a:off x="316865" y="1050797"/>
          <a:ext cx="8761093" cy="332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786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ToDS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FromD</a:t>
                      </a:r>
                      <a:endParaRPr sz="1400" dirty="0">
                        <a:latin typeface="Yu Gothic UI"/>
                        <a:cs typeface="Yu Gothic UI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</a:t>
                      </a:r>
                      <a:endParaRPr sz="1400" dirty="0">
                        <a:latin typeface="Yu Gothic UI"/>
                        <a:cs typeface="Yu Gothic U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Network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Topology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Scenario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1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2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3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4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13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IBSS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(ad-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hoc)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direct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station,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any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Management/Control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90805" marR="3937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Infrastructure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sending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(downlink)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19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20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780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Infrastructure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sending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(uplink)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187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b="1" spc="1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200" i="1" spc="-8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8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Desti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b="1" spc="1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40005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nation</a:t>
                      </a: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92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WDS</a:t>
                      </a: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bridge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Mesh</a:t>
                      </a: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—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AP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relaying</a:t>
                      </a:r>
                      <a:r>
                        <a:rPr sz="1300" b="1" spc="-9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to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another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AP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62865">
                        <a:lnSpc>
                          <a:spcPts val="685"/>
                        </a:lnSpc>
                        <a:spcBef>
                          <a:spcPts val="34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ess</a:t>
                      </a:r>
                      <a:r>
                        <a:rPr sz="1200" i="1" spc="31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sz="1200" i="1" spc="-9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3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r>
                        <a:rPr sz="1200" i="1" spc="39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BSSID</a:t>
                      </a:r>
                      <a:r>
                        <a:rPr sz="1200" i="1" spc="-10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0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AP</a:t>
                      </a: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MAC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RA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12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RA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=</a:t>
                      </a:r>
                      <a:r>
                        <a:rPr sz="1200" i="1" spc="-6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4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Receiver</a:t>
                      </a:r>
                      <a:r>
                        <a:rPr sz="1200" i="1" spc="-6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TA</a:t>
                      </a:r>
                      <a:endParaRPr sz="1300" dirty="0">
                        <a:latin typeface="Yu Gothic UI"/>
                        <a:cs typeface="Yu Gothic UI"/>
                      </a:endParaRPr>
                    </a:p>
                    <a:p>
                      <a:pPr marL="8890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ddress</a:t>
                      </a:r>
                      <a:r>
                        <a:rPr sz="1200" i="1" spc="3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Tran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DA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126364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smitter</a:t>
                      </a:r>
                      <a:r>
                        <a:rPr sz="1200" i="1" spc="-6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3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SA</a:t>
                      </a:r>
                      <a:endParaRPr sz="1300" dirty="0">
                        <a:latin typeface="Yu Gothic UI"/>
                        <a:cs typeface="Yu Gothic UI"/>
                      </a:endParaRPr>
                    </a:p>
                    <a:p>
                      <a:pPr marL="80010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56971" y="4402833"/>
            <a:ext cx="8766175" cy="741045"/>
            <a:chOff x="156971" y="4402833"/>
            <a:chExt cx="8766175" cy="7410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4402833"/>
              <a:ext cx="8766048" cy="740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" y="4511824"/>
              <a:ext cx="8503920" cy="594360"/>
            </a:xfrm>
            <a:custGeom>
              <a:avLst/>
              <a:gdLst/>
              <a:ahLst/>
              <a:cxnLst/>
              <a:rect l="l" t="t" r="r" b="b"/>
              <a:pathLst>
                <a:path w="8503920" h="594360">
                  <a:moveTo>
                    <a:pt x="8503920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8503920" y="59436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4511824"/>
              <a:ext cx="8503920" cy="594360"/>
            </a:xfrm>
            <a:custGeom>
              <a:avLst/>
              <a:gdLst/>
              <a:ahLst/>
              <a:cxnLst/>
              <a:rect l="l" t="t" r="r" b="b"/>
              <a:pathLst>
                <a:path w="8503920" h="594360">
                  <a:moveTo>
                    <a:pt x="0" y="594360"/>
                  </a:moveTo>
                  <a:lnTo>
                    <a:pt x="8503920" y="594360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59436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" y="4491228"/>
              <a:ext cx="287273" cy="29337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06400" y="4615078"/>
            <a:ext cx="790638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55880">
              <a:lnSpc>
                <a:spcPct val="100000"/>
              </a:lnSpc>
              <a:spcBef>
                <a:spcPts val="95"/>
              </a:spcBef>
              <a:tabLst>
                <a:tab pos="851535" algn="l"/>
              </a:tabLst>
            </a:pP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Wi</a:t>
            </a:r>
            <a:r>
              <a:rPr sz="1300" spc="4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5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300" spc="-2580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650" b="1" spc="75" baseline="47979" dirty="0">
                <a:solidFill>
                  <a:srgbClr val="186B23"/>
                </a:solidFill>
                <a:latin typeface="Yu Gothic UI"/>
                <a:cs typeface="Yu Gothic UI"/>
              </a:rPr>
              <a:t>A</a:t>
            </a:r>
            <a:r>
              <a:rPr sz="1650" b="1" spc="89" baseline="47979" dirty="0">
                <a:solidFill>
                  <a:srgbClr val="186B23"/>
                </a:solidFill>
                <a:latin typeface="Yu Gothic UI"/>
                <a:cs typeface="Yu Gothic UI"/>
              </a:rPr>
              <a:t>PP</a:t>
            </a:r>
            <a:r>
              <a:rPr sz="1650" b="1" spc="82" baseline="47979" dirty="0">
                <a:solidFill>
                  <a:srgbClr val="186B23"/>
                </a:solidFill>
                <a:latin typeface="Yu Gothic UI"/>
                <a:cs typeface="Yu Gothic UI"/>
              </a:rPr>
              <a:t>LICA</a:t>
            </a:r>
            <a:r>
              <a:rPr sz="1650" b="1" spc="-465" baseline="47979" dirty="0">
                <a:solidFill>
                  <a:srgbClr val="186B23"/>
                </a:solidFill>
                <a:latin typeface="Yu Gothic UI"/>
                <a:cs typeface="Yu Gothic UI"/>
              </a:rPr>
              <a:t>T</a:t>
            </a:r>
            <a:r>
              <a:rPr sz="1300" spc="3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30" dirty="0">
                <a:solidFill>
                  <a:srgbClr val="E8E8E8"/>
                </a:solidFill>
                <a:latin typeface="Segoe UI Symbol"/>
                <a:cs typeface="Segoe UI Symbol"/>
              </a:rPr>
              <a:t>x</a:t>
            </a: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-366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-1764" dirty="0">
                <a:solidFill>
                  <a:srgbClr val="E8E8E8"/>
                </a:solidFill>
                <a:latin typeface="Segoe UI Symbol"/>
                <a:cs typeface="Segoe UI Symbol"/>
              </a:rPr>
              <a:t>k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650" b="1" spc="30" baseline="47979" dirty="0">
                <a:solidFill>
                  <a:srgbClr val="186B23"/>
                </a:solidFill>
                <a:latin typeface="Yu Gothic UI"/>
                <a:cs typeface="Yu Gothic UI"/>
              </a:rPr>
              <a:t>ION</a:t>
            </a:r>
            <a:r>
              <a:rPr sz="1300" spc="20" dirty="0">
                <a:solidFill>
                  <a:srgbClr val="E8E8E8"/>
                </a:solidFill>
                <a:latin typeface="Segoe UI Symbol"/>
                <a:cs typeface="Segoe UI Symbol"/>
              </a:rPr>
              <a:t>cise: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300" spc="-114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ToDS/FromDS</a:t>
            </a:r>
            <a:r>
              <a:rPr sz="13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15" dirty="0">
                <a:solidFill>
                  <a:srgbClr val="E8E8E8"/>
                </a:solidFill>
                <a:latin typeface="Segoe UI Symbol"/>
                <a:cs typeface="Segoe UI Symbol"/>
              </a:rPr>
              <a:t>values.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uplink</a:t>
            </a:r>
            <a:r>
              <a:rPr sz="13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traffic: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wlan.fc.tods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0" dirty="0">
                <a:solidFill>
                  <a:srgbClr val="E8E8E8"/>
                </a:solidFill>
                <a:latin typeface="Segoe UI Symbol"/>
                <a:cs typeface="Segoe UI Symbol"/>
              </a:rPr>
              <a:t>==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25" dirty="0">
                <a:solidFill>
                  <a:srgbClr val="E8E8E8"/>
                </a:solidFill>
                <a:latin typeface="Segoe UI Symbol"/>
                <a:cs typeface="Segoe UI Symbol"/>
              </a:rPr>
              <a:t>CC</a:t>
            </a:r>
            <a:r>
              <a:rPr sz="13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wlan.fc.fromds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0" dirty="0">
                <a:solidFill>
                  <a:srgbClr val="E8E8E8"/>
                </a:solidFill>
                <a:latin typeface="Segoe UI Symbol"/>
                <a:cs typeface="Segoe UI Symbol"/>
              </a:rPr>
              <a:t>==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30" dirty="0">
                <a:solidFill>
                  <a:srgbClr val="E8E8E8"/>
                </a:solidFill>
                <a:latin typeface="Segoe UI Symbol"/>
                <a:cs typeface="Segoe UI Symbol"/>
              </a:rPr>
              <a:t>0.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fields?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maps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table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above.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320" dirty="0"/>
              <a:t>Management</a:t>
            </a:r>
            <a:r>
              <a:rPr spc="-270" dirty="0"/>
              <a:t> </a:t>
            </a:r>
            <a:r>
              <a:rPr spc="-254" dirty="0"/>
              <a:t>Frames</a:t>
            </a:r>
            <a:r>
              <a:rPr spc="-265" dirty="0"/>
              <a:t> </a:t>
            </a:r>
            <a:r>
              <a:rPr dirty="0"/>
              <a:t>—</a:t>
            </a:r>
            <a:r>
              <a:rPr spc="-285" dirty="0"/>
              <a:t> </a:t>
            </a:r>
            <a:r>
              <a:rPr spc="-270" dirty="0"/>
              <a:t>Probe,</a:t>
            </a:r>
            <a:r>
              <a:rPr spc="-285" dirty="0"/>
              <a:t> </a:t>
            </a:r>
            <a:r>
              <a:rPr spc="-254" dirty="0"/>
              <a:t>Beacon</a:t>
            </a:r>
            <a:r>
              <a:rPr spc="-295" dirty="0"/>
              <a:t> </a:t>
            </a:r>
            <a:r>
              <a:rPr spc="350" dirty="0"/>
              <a:t>s </a:t>
            </a:r>
            <a:r>
              <a:rPr spc="-270" dirty="0"/>
              <a:t>Authentication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943355"/>
              <a:ext cx="4422647" cy="21366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115568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20" y="181051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51560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20" y="187452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51560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416052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4160520" y="64008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51560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0" y="64008"/>
                  </a:moveTo>
                  <a:lnTo>
                    <a:pt x="4160520" y="640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047" y="2203704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393192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931920" y="36575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7" y="2203704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0" y="36575"/>
                  </a:moveTo>
                  <a:lnTo>
                    <a:pt x="3931920" y="36575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" y="2273808"/>
              <a:ext cx="276605" cy="2827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80670" y="1088099"/>
            <a:ext cx="4147820" cy="17164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95"/>
              </a:spcBef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0100</a:t>
            </a:r>
            <a:r>
              <a:rPr sz="1500" b="1" spc="2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Probe</a:t>
            </a:r>
            <a:r>
              <a:rPr sz="1500" b="1" spc="-1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Request</a:t>
            </a:r>
            <a:endParaRPr sz="1500">
              <a:latin typeface="Yu Gothic UI"/>
              <a:cs typeface="Yu Gothic UI"/>
            </a:endParaRPr>
          </a:p>
          <a:p>
            <a:pPr marL="102870" marR="112395">
              <a:lnSpc>
                <a:spcPct val="100299"/>
              </a:lnSpc>
              <a:spcBef>
                <a:spcPts val="52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searching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SSIDs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device's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Preferred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List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(PNL).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Source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client's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real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hardware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(unless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randomisation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iOS/Android).</a:t>
            </a:r>
            <a:endParaRPr sz="1150">
              <a:latin typeface="Segoe UI Symbol"/>
              <a:cs typeface="Segoe UI Symbol"/>
            </a:endParaRPr>
          </a:p>
          <a:p>
            <a:pPr marL="102870" marR="173990" indent="141605">
              <a:lnSpc>
                <a:spcPct val="99500"/>
              </a:lnSpc>
              <a:spcBef>
                <a:spcPts val="990"/>
              </a:spcBef>
            </a:pP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Reveals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every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device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has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ever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connected</a:t>
            </a:r>
            <a:r>
              <a:rPr sz="1050" spc="-9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to.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Enables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device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tracking</a:t>
            </a:r>
            <a:r>
              <a:rPr sz="10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by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MAC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address.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Basis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of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Karma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and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75" dirty="0">
                <a:solidFill>
                  <a:srgbClr val="E97031"/>
                </a:solidFill>
                <a:latin typeface="Segoe UI Symbol"/>
                <a:cs typeface="Segoe UI Symbol"/>
              </a:rPr>
              <a:t>MANA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evil-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twin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attacks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90" dirty="0">
                <a:solidFill>
                  <a:srgbClr val="E97031"/>
                </a:solidFill>
                <a:latin typeface="Segoe UI Symbol"/>
                <a:cs typeface="Segoe UI Symbol"/>
              </a:rPr>
              <a:t>—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rogue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AP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responds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all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probes.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00371" y="943355"/>
            <a:ext cx="4422775" cy="2136775"/>
            <a:chOff x="4500371" y="943355"/>
            <a:chExt cx="4422775" cy="213677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943355"/>
              <a:ext cx="4422647" cy="213664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63439" y="111556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19" y="181051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05155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19" y="187452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05155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4160519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4160519" y="64008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63439" y="105155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0" y="64008"/>
                  </a:moveTo>
                  <a:lnTo>
                    <a:pt x="4160519" y="640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73167" y="220370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393192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931920" y="36575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3167" y="220370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0" y="36575"/>
                  </a:moveTo>
                  <a:lnTo>
                    <a:pt x="3931920" y="36575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2395" y="2273807"/>
              <a:ext cx="276605" cy="28270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669790" y="1175969"/>
            <a:ext cx="4147820" cy="1628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z="1500" b="1" spc="75" dirty="0">
                <a:solidFill>
                  <a:srgbClr val="E97031"/>
                </a:solidFill>
                <a:latin typeface="Yu Gothic UI"/>
                <a:cs typeface="Yu Gothic UI"/>
              </a:rPr>
              <a:t>0101</a:t>
            </a:r>
            <a:r>
              <a:rPr sz="1500" b="1" spc="1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Probe</a:t>
            </a:r>
            <a:r>
              <a:rPr sz="1500" b="1" spc="-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Response</a:t>
            </a:r>
            <a:endParaRPr sz="1500" dirty="0">
              <a:latin typeface="Yu Gothic UI"/>
              <a:cs typeface="Yu Gothic UI"/>
            </a:endParaRPr>
          </a:p>
          <a:p>
            <a:pPr marL="103505" marR="476250">
              <a:lnSpc>
                <a:spcPct val="100400"/>
              </a:lnSpc>
              <a:spcBef>
                <a:spcPts val="12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reply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Request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matching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capability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information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including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IE.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if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hiding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enabled.</a:t>
            </a:r>
            <a:endParaRPr sz="115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50" dirty="0">
              <a:latin typeface="Segoe UI Symbol"/>
              <a:cs typeface="Segoe UI Symbol"/>
            </a:endParaRPr>
          </a:p>
          <a:p>
            <a:pPr marL="103505" marR="110489" indent="141605">
              <a:lnSpc>
                <a:spcPct val="99500"/>
              </a:lnSpc>
              <a:spcBef>
                <a:spcPts val="5"/>
              </a:spcBef>
            </a:pP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Exposes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'hidden'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SSIDs.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Any</a:t>
            </a:r>
            <a:r>
              <a:rPr sz="1050" spc="-1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client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probing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for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</a:t>
            </a:r>
            <a:r>
              <a:rPr sz="1050" spc="-1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hidden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network by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name</a:t>
            </a:r>
            <a:r>
              <a:rPr sz="1050" spc="-8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causes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AP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respond</a:t>
            </a:r>
            <a:r>
              <a:rPr sz="1050" spc="-9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with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in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plaintext.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50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hiding</a:t>
            </a:r>
            <a:r>
              <a:rPr sz="10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provides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zero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security.</a:t>
            </a:r>
            <a:endParaRPr sz="1050" dirty="0">
              <a:latin typeface="Segoe UI Symbol"/>
              <a:cs typeface="Segoe UI Symbo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1252" y="2909289"/>
            <a:ext cx="4422775" cy="2136775"/>
            <a:chOff x="111252" y="2909289"/>
            <a:chExt cx="4422775" cy="213677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909289"/>
              <a:ext cx="4422648" cy="21366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4320" y="308152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20" y="181051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320" y="301751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20" y="187452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4320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4160520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4160520" y="6400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0" y="64007"/>
                  </a:moveTo>
                  <a:lnTo>
                    <a:pt x="4160520" y="6400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404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39319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3931920" y="36576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404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0" y="36576"/>
                  </a:moveTo>
                  <a:lnTo>
                    <a:pt x="3931920" y="36576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6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276" y="4239767"/>
              <a:ext cx="276605" cy="28270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80670" y="3056134"/>
            <a:ext cx="4147820" cy="17145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8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1000</a:t>
            </a:r>
            <a:r>
              <a:rPr sz="1500" b="1" spc="24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Beacon</a:t>
            </a:r>
            <a:endParaRPr sz="1500">
              <a:latin typeface="Yu Gothic UI"/>
              <a:cs typeface="Yu Gothic UI"/>
            </a:endParaRPr>
          </a:p>
          <a:p>
            <a:pPr marL="102870" marR="156845">
              <a:lnSpc>
                <a:spcPct val="100400"/>
              </a:lnSpc>
              <a:spcBef>
                <a:spcPts val="52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Broadcast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~100ms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(default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100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TU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102.4ms).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Contains: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supported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rates,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Parameter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(channel),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Capability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Info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(Privacy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bit),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critically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RSN Information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Element.</a:t>
            </a:r>
            <a:endParaRPr sz="1150">
              <a:latin typeface="Segoe UI Symbol"/>
              <a:cs typeface="Segoe UI Symbol"/>
            </a:endParaRPr>
          </a:p>
          <a:p>
            <a:pPr marL="102870" marR="140970" indent="141605">
              <a:lnSpc>
                <a:spcPct val="99500"/>
              </a:lnSpc>
              <a:spcBef>
                <a:spcPts val="990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RSN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IE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declares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cipher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suites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AKM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supported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by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AP.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Spoofing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beacon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with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modified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RSN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IE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enables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downgrade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attacks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—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tricking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clients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into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using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weaker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encryption.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0371" y="2909289"/>
            <a:ext cx="4422775" cy="2136775"/>
            <a:chOff x="4500371" y="2909289"/>
            <a:chExt cx="4422775" cy="213677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09289"/>
              <a:ext cx="4422648" cy="213664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63439" y="308152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19" y="181051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3439" y="301751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19" y="187452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4160519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4160519" y="64007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0" y="64007"/>
                  </a:moveTo>
                  <a:lnTo>
                    <a:pt x="4160519" y="6400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7316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39319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3931920" y="36576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7316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0" y="36576"/>
                  </a:moveTo>
                  <a:lnTo>
                    <a:pt x="3931920" y="36576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6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2395" y="4239767"/>
              <a:ext cx="276605" cy="28270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4669790" y="3056134"/>
            <a:ext cx="4147820" cy="17145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780"/>
              </a:spcBef>
            </a:pPr>
            <a:r>
              <a:rPr sz="1500" b="1" spc="135" dirty="0">
                <a:solidFill>
                  <a:srgbClr val="0E9ED4"/>
                </a:solidFill>
                <a:latin typeface="Yu Gothic UI"/>
                <a:cs typeface="Yu Gothic UI"/>
              </a:rPr>
              <a:t>1011</a:t>
            </a:r>
            <a:r>
              <a:rPr sz="1500" b="1" spc="18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Authentication</a:t>
            </a:r>
            <a:endParaRPr sz="1500">
              <a:latin typeface="Yu Gothic UI"/>
              <a:cs typeface="Yu Gothic UI"/>
            </a:endParaRPr>
          </a:p>
          <a:p>
            <a:pPr marL="103505" marR="147955">
              <a:lnSpc>
                <a:spcPct val="100400"/>
              </a:lnSpc>
              <a:spcBef>
                <a:spcPts val="525"/>
              </a:spcBef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(2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frames):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accepts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all,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check.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only):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using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≠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WPA2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(that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happens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EAPOL).</a:t>
            </a:r>
            <a:endParaRPr sz="1150">
              <a:latin typeface="Segoe UI Symbol"/>
              <a:cs typeface="Segoe UI Symbol"/>
            </a:endParaRPr>
          </a:p>
          <a:p>
            <a:pPr marL="245745">
              <a:lnSpc>
                <a:spcPts val="1255"/>
              </a:lnSpc>
              <a:spcBef>
                <a:spcPts val="985"/>
              </a:spcBef>
            </a:pP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Shared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Key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paradox: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challenge</a:t>
            </a:r>
            <a:r>
              <a:rPr sz="1050" spc="-8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(plaintext)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55" dirty="0">
                <a:solidFill>
                  <a:srgbClr val="0E9ED4"/>
                </a:solidFill>
                <a:latin typeface="Segoe UI Symbol"/>
                <a:cs typeface="Segoe UI Symbol"/>
              </a:rPr>
              <a:t>+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response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(ciphertext)</a:t>
            </a:r>
            <a:endParaRPr sz="1050">
              <a:latin typeface="Segoe UI Symbol"/>
              <a:cs typeface="Segoe UI Symbol"/>
            </a:endParaRPr>
          </a:p>
          <a:p>
            <a:pPr marL="103505" marR="387985">
              <a:lnSpc>
                <a:spcPts val="1260"/>
              </a:lnSpc>
              <a:spcBef>
                <a:spcPts val="35"/>
              </a:spcBef>
            </a:pPr>
            <a:r>
              <a:rPr sz="1050" spc="-155" dirty="0">
                <a:solidFill>
                  <a:srgbClr val="0E9ED4"/>
                </a:solidFill>
                <a:latin typeface="Segoe UI Symbol"/>
                <a:cs typeface="Segoe UI Symbol"/>
              </a:rPr>
              <a:t>=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128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bytes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0E9ED4"/>
                </a:solidFill>
                <a:latin typeface="Segoe UI Symbol"/>
                <a:cs typeface="Segoe UI Symbol"/>
              </a:rPr>
              <a:t>of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exposed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RC4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keystream.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Attacker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forges authentication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without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0E9ED4"/>
                </a:solidFill>
                <a:latin typeface="Segoe UI Symbol"/>
                <a:cs typeface="Segoe UI Symbol"/>
              </a:rPr>
              <a:t>knowing</a:t>
            </a:r>
            <a:r>
              <a:rPr sz="1050" spc="-8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the</a:t>
            </a:r>
            <a:r>
              <a:rPr sz="1050" spc="-4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key.</a:t>
            </a:r>
            <a:r>
              <a:rPr sz="1050" spc="-4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Open</a:t>
            </a:r>
            <a:r>
              <a:rPr sz="1050" spc="-3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System</a:t>
            </a:r>
            <a:r>
              <a:rPr sz="1050" spc="-3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is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SAFER.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251" y="128803"/>
            <a:ext cx="9032749" cy="4725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320" dirty="0"/>
              <a:t>Management</a:t>
            </a:r>
            <a:r>
              <a:rPr spc="-260" dirty="0"/>
              <a:t> </a:t>
            </a:r>
            <a:r>
              <a:rPr spc="-254" dirty="0"/>
              <a:t>Frames </a:t>
            </a:r>
            <a:r>
              <a:rPr dirty="0"/>
              <a:t>—</a:t>
            </a:r>
            <a:r>
              <a:rPr spc="-275" dirty="0"/>
              <a:t> </a:t>
            </a:r>
            <a:r>
              <a:rPr spc="-270" dirty="0"/>
              <a:t>Deauth,</a:t>
            </a:r>
            <a:r>
              <a:rPr spc="-265" dirty="0"/>
              <a:t> </a:t>
            </a:r>
            <a:r>
              <a:rPr spc="-220" dirty="0"/>
              <a:t>Association</a:t>
            </a:r>
            <a:r>
              <a:rPr lang="en-US" spc="-275" dirty="0"/>
              <a:t>s </a:t>
            </a:r>
            <a:r>
              <a:rPr spc="-330" dirty="0"/>
              <a:t>RTS/CTS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2078" y="738294"/>
            <a:ext cx="8857488" cy="1710620"/>
            <a:chOff x="111252" y="884752"/>
            <a:chExt cx="8857488" cy="1710620"/>
          </a:xfrm>
        </p:grpSpPr>
        <p:sp>
          <p:nvSpPr>
            <p:cNvPr id="7" name="object 7"/>
            <p:cNvSpPr/>
            <p:nvPr/>
          </p:nvSpPr>
          <p:spPr>
            <a:xfrm>
              <a:off x="251126" y="88475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126" y="89245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943356"/>
              <a:ext cx="8857488" cy="16520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124712"/>
              <a:ext cx="8595360" cy="1316990"/>
            </a:xfrm>
            <a:custGeom>
              <a:avLst/>
              <a:gdLst/>
              <a:ahLst/>
              <a:cxnLst/>
              <a:rect l="l" t="t" r="r" b="b"/>
              <a:pathLst>
                <a:path w="8595360" h="1316989">
                  <a:moveTo>
                    <a:pt x="0" y="1316736"/>
                  </a:moveTo>
                  <a:lnTo>
                    <a:pt x="8595360" y="1316736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51560"/>
              <a:ext cx="8595360" cy="1390015"/>
            </a:xfrm>
            <a:custGeom>
              <a:avLst/>
              <a:gdLst/>
              <a:ahLst/>
              <a:cxnLst/>
              <a:rect l="l" t="t" r="r" b="b"/>
              <a:pathLst>
                <a:path w="8595360" h="1390014">
                  <a:moveTo>
                    <a:pt x="0" y="1389888"/>
                  </a:moveTo>
                  <a:lnTo>
                    <a:pt x="8595360" y="138988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89888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5156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859536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595360" y="73151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5156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0" y="73151"/>
                  </a:moveTo>
                  <a:lnTo>
                    <a:pt x="8595360" y="731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2407" y="1126236"/>
              <a:ext cx="518921" cy="42595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40030" y="977281"/>
            <a:ext cx="6103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1910" algn="l"/>
              </a:tabLst>
            </a:pPr>
            <a:r>
              <a:rPr sz="1600" b="1" spc="80" dirty="0">
                <a:solidFill>
                  <a:srgbClr val="C0392B"/>
                </a:solidFill>
                <a:latin typeface="Yu Gothic UI"/>
                <a:cs typeface="Yu Gothic UI"/>
              </a:rPr>
              <a:t>1100</a:t>
            </a:r>
            <a:r>
              <a:rPr sz="1600" b="1" spc="18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Deauthentication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	</a:t>
            </a:r>
            <a:r>
              <a:rPr sz="1600" b="1" spc="-30" dirty="0">
                <a:solidFill>
                  <a:srgbClr val="C0392B"/>
                </a:solidFill>
                <a:latin typeface="Yu Gothic UI"/>
                <a:cs typeface="Yu Gothic UI"/>
              </a:rPr>
              <a:t>Most</a:t>
            </a:r>
            <a:r>
              <a:rPr sz="160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commonly</a:t>
            </a:r>
            <a:r>
              <a:rPr sz="16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spoofed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60" dirty="0">
                <a:solidFill>
                  <a:srgbClr val="C0392B"/>
                </a:solidFill>
                <a:latin typeface="Yu Gothic UI"/>
                <a:cs typeface="Yu Gothic UI"/>
              </a:rPr>
              <a:t>802.11</a:t>
            </a:r>
            <a:r>
              <a:rPr sz="160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</a:t>
            </a:r>
            <a:endParaRPr sz="1600" dirty="0">
              <a:latin typeface="Yu Gothic UI"/>
              <a:cs typeface="Yu Gothic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006" y="1254488"/>
            <a:ext cx="44958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16-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Reason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Code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(unspecified=1,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leaving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IBSS=3,</a:t>
            </a:r>
            <a:endParaRPr sz="1300" dirty="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434" y="1483320"/>
            <a:ext cx="499491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inactivity=4,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overloaded=5).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carries</a:t>
            </a:r>
            <a:r>
              <a:rPr sz="13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cryptographic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spoof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AP's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MAC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address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send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client.</a:t>
            </a:r>
            <a:endParaRPr sz="1300" dirty="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1517" y="1251213"/>
            <a:ext cx="2800985" cy="1033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315"/>
              </a:lnSpc>
              <a:spcBef>
                <a:spcPts val="105"/>
              </a:spcBef>
            </a:pP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ATTACK:</a:t>
            </a:r>
            <a:endParaRPr sz="1100" dirty="0">
              <a:latin typeface="Courier New"/>
              <a:cs typeface="Courier New"/>
            </a:endParaRPr>
          </a:p>
          <a:p>
            <a:pPr marL="12700" marR="172085">
              <a:lnSpc>
                <a:spcPts val="1330"/>
              </a:lnSpc>
              <a:spcBef>
                <a:spcPts val="30"/>
              </a:spcBef>
            </a:pP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1100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5</a:t>
            </a:r>
            <a:r>
              <a:rPr sz="1100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-a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100" spc="-50" dirty="0">
                <a:solidFill>
                  <a:srgbClr val="EFC040"/>
                </a:solidFill>
                <a:latin typeface="Courier New"/>
                <a:cs typeface="Courier New"/>
              </a:rPr>
              <a:t>c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[Client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wlan0mon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ts val="1265"/>
              </a:lnSpc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Client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disconnects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EFC040"/>
                </a:solidFill>
                <a:latin typeface="Courier New"/>
                <a:cs typeface="Courier New"/>
              </a:rPr>
              <a:t>re-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authenticates</a:t>
            </a:r>
            <a:r>
              <a:rPr sz="110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attacker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captures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fresh</a:t>
            </a:r>
            <a:r>
              <a:rPr sz="110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EAPOL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handshake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3595" y="2072951"/>
            <a:ext cx="4359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FIX:</a:t>
            </a:r>
            <a:r>
              <a:rPr sz="1200" b="1" spc="2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802.11w</a:t>
            </a:r>
            <a:r>
              <a:rPr sz="12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Protected</a:t>
            </a:r>
            <a:r>
              <a:rPr sz="1200" b="1" spc="-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186B23"/>
                </a:solidFill>
                <a:latin typeface="Yu Gothic UI"/>
                <a:cs typeface="Yu Gothic UI"/>
              </a:rPr>
              <a:t>Management</a:t>
            </a:r>
            <a:r>
              <a:rPr sz="1200" b="1" spc="-3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Frames</a:t>
            </a:r>
            <a:r>
              <a:rPr sz="12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45" dirty="0">
                <a:solidFill>
                  <a:srgbClr val="186B23"/>
                </a:solidFill>
                <a:latin typeface="Yu Gothic UI"/>
                <a:cs typeface="Yu Gothic UI"/>
              </a:rPr>
              <a:t>(PMF)</a:t>
            </a:r>
            <a:r>
              <a:rPr sz="1200" b="1" spc="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adds</a:t>
            </a:r>
            <a:r>
              <a:rPr sz="120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186B23"/>
                </a:solidFill>
                <a:latin typeface="Yu Gothic UI"/>
                <a:cs typeface="Yu Gothic UI"/>
              </a:rPr>
              <a:t>MIC</a:t>
            </a:r>
            <a:r>
              <a:rPr sz="1200" b="1" spc="3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186B23"/>
                </a:solidFill>
                <a:latin typeface="Yu Gothic UI"/>
                <a:cs typeface="Yu Gothic UI"/>
              </a:rPr>
              <a:t>to</a:t>
            </a:r>
            <a:endParaRPr sz="1200" dirty="0">
              <a:latin typeface="Yu Gothic UI"/>
              <a:cs typeface="Yu Gothic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67877" y="1899200"/>
            <a:ext cx="269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Deauth/Disassoc.</a:t>
            </a:r>
            <a:r>
              <a:rPr sz="1200" b="1" spc="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30" dirty="0">
                <a:solidFill>
                  <a:srgbClr val="186B23"/>
                </a:solidFill>
                <a:latin typeface="Yu Gothic UI"/>
                <a:cs typeface="Yu Gothic UI"/>
              </a:rPr>
              <a:t>Mandatory</a:t>
            </a:r>
            <a:r>
              <a:rPr sz="1200" b="1" spc="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in</a:t>
            </a:r>
            <a:r>
              <a:rPr sz="1200" b="1" spc="10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186B23"/>
                </a:solidFill>
                <a:latin typeface="Yu Gothic UI"/>
                <a:cs typeface="Yu Gothic UI"/>
              </a:rPr>
              <a:t>WPA3.</a:t>
            </a:r>
            <a:endParaRPr sz="1200" dirty="0">
              <a:latin typeface="Yu Gothic UI"/>
              <a:cs typeface="Yu Gothic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196" y="2309970"/>
            <a:ext cx="3078480" cy="1743710"/>
            <a:chOff x="111252" y="2378976"/>
            <a:chExt cx="3078480" cy="174371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2378976"/>
              <a:ext cx="3078480" cy="174345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7472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60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0577" y="2479393"/>
            <a:ext cx="252730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E97031"/>
                </a:solidFill>
                <a:latin typeface="Yu Gothic UI"/>
                <a:cs typeface="Yu Gothic UI"/>
              </a:rPr>
              <a:t>1010</a:t>
            </a:r>
            <a:r>
              <a:rPr sz="1200" b="1" spc="1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E97031"/>
                </a:solidFill>
                <a:latin typeface="Yu Gothic UI"/>
                <a:cs typeface="Yu Gothic UI"/>
              </a:rPr>
              <a:t>Disassociation</a:t>
            </a:r>
            <a:endParaRPr sz="1200" dirty="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31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Also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spoofable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targeted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DoS.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associate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authenticate)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slightly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less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disruptive</a:t>
            </a:r>
            <a:r>
              <a:rPr sz="11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still weaponisable.</a:t>
            </a:r>
            <a:endParaRPr sz="1100" dirty="0">
              <a:latin typeface="Segoe UI Symbol"/>
              <a:cs typeface="Segoe UI Symbo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36438" y="2319667"/>
            <a:ext cx="3078480" cy="1743710"/>
            <a:chOff x="3055620" y="2378976"/>
            <a:chExt cx="3078480" cy="174371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5620" y="2378976"/>
              <a:ext cx="3078480" cy="17434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91840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18688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60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18688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18688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206780" y="2462717"/>
            <a:ext cx="2642022" cy="113800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870585">
              <a:lnSpc>
                <a:spcPct val="100800"/>
              </a:lnSpc>
              <a:spcBef>
                <a:spcPts val="85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0000/0001</a:t>
            </a:r>
            <a:r>
              <a:rPr sz="1200" b="1" spc="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Association Req/Response</a:t>
            </a:r>
            <a:endParaRPr sz="1200" dirty="0">
              <a:latin typeface="Yu Gothic UI"/>
              <a:cs typeface="Yu Gothic UI"/>
            </a:endParaRPr>
          </a:p>
          <a:p>
            <a:pPr marL="12700" marR="5080" algn="just">
              <a:lnSpc>
                <a:spcPct val="100000"/>
              </a:lnSpc>
              <a:spcBef>
                <a:spcPts val="595"/>
              </a:spcBef>
            </a:pP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Client's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2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exactly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match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AP's</a:t>
            </a:r>
            <a:r>
              <a:rPr sz="1100" spc="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2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mismatch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rejection.</a:t>
            </a:r>
            <a:r>
              <a:rPr sz="1100" spc="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assigns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ID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(AID).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Triggers</a:t>
            </a:r>
            <a:r>
              <a:rPr sz="11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immediately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after.</a:t>
            </a:r>
            <a:endParaRPr sz="1100" dirty="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827931" y="2334474"/>
            <a:ext cx="3078480" cy="1743710"/>
            <a:chOff x="5999988" y="2378976"/>
            <a:chExt cx="3078480" cy="174371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9988" y="2378976"/>
              <a:ext cx="3078480" cy="174345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36208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63056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59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63056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63056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36613" y="2488144"/>
            <a:ext cx="2749550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200" b="1" spc="100" dirty="0">
                <a:solidFill>
                  <a:srgbClr val="89ABBE"/>
                </a:solidFill>
                <a:latin typeface="Yu Gothic UI"/>
                <a:cs typeface="Yu Gothic UI"/>
              </a:rPr>
              <a:t>1101</a:t>
            </a:r>
            <a:r>
              <a:rPr sz="1200" b="1" spc="18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89ABBE"/>
                </a:solidFill>
                <a:latin typeface="Yu Gothic UI"/>
                <a:cs typeface="Yu Gothic UI"/>
              </a:rPr>
              <a:t>Action</a:t>
            </a:r>
            <a:r>
              <a:rPr sz="1200" b="1" spc="-5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89ABBE"/>
                </a:solidFill>
                <a:latin typeface="Yu Gothic UI"/>
                <a:cs typeface="Yu Gothic UI"/>
              </a:rPr>
              <a:t>Frames</a:t>
            </a:r>
            <a:endParaRPr sz="1200" dirty="0">
              <a:latin typeface="Yu Gothic UI"/>
              <a:cs typeface="Yu Gothic UI"/>
            </a:endParaRPr>
          </a:p>
          <a:p>
            <a:pPr marL="110489" marR="132715">
              <a:lnSpc>
                <a:spcPct val="100000"/>
              </a:lnSpc>
              <a:spcBef>
                <a:spcPts val="197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Spectrum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ACK</a:t>
            </a:r>
            <a:r>
              <a:rPr sz="11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setup,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Radio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Measurement,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PMF negotiation,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Fine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Timing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Measurement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(FTM)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 indoor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positioning.</a:t>
            </a:r>
            <a:endParaRPr sz="1100" dirty="0">
              <a:latin typeface="Segoe UI Symbol"/>
              <a:cs typeface="Segoe UI Symbo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928" y="3913331"/>
            <a:ext cx="8857615" cy="1191895"/>
            <a:chOff x="111252" y="3951752"/>
            <a:chExt cx="8857615" cy="119189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52" y="3951752"/>
              <a:ext cx="8857488" cy="119174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47472" y="4059935"/>
              <a:ext cx="8522335" cy="1024255"/>
            </a:xfrm>
            <a:custGeom>
              <a:avLst/>
              <a:gdLst/>
              <a:ahLst/>
              <a:cxnLst/>
              <a:rect l="l" t="t" r="r" b="b"/>
              <a:pathLst>
                <a:path w="8522335" h="1024254">
                  <a:moveTo>
                    <a:pt x="0" y="1024127"/>
                  </a:moveTo>
                  <a:lnTo>
                    <a:pt x="8522208" y="1024127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4059935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0" y="1024127"/>
                  </a:moveTo>
                  <a:lnTo>
                    <a:pt x="8595360" y="102412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320" y="4059935"/>
              <a:ext cx="73660" cy="1024255"/>
            </a:xfrm>
            <a:custGeom>
              <a:avLst/>
              <a:gdLst/>
              <a:ahLst/>
              <a:cxnLst/>
              <a:rect l="l" t="t" r="r" b="b"/>
              <a:pathLst>
                <a:path w="73660" h="1024254">
                  <a:moveTo>
                    <a:pt x="73151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73151" y="10241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4059935"/>
              <a:ext cx="73660" cy="1024255"/>
            </a:xfrm>
            <a:custGeom>
              <a:avLst/>
              <a:gdLst/>
              <a:ahLst/>
              <a:cxnLst/>
              <a:rect l="l" t="t" r="r" b="b"/>
              <a:pathLst>
                <a:path w="73660" h="1024254">
                  <a:moveTo>
                    <a:pt x="0" y="1024127"/>
                  </a:moveTo>
                  <a:lnTo>
                    <a:pt x="73151" y="10241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8647" y="4578095"/>
              <a:ext cx="328422" cy="332993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28483" y="4021514"/>
            <a:ext cx="8528685" cy="9702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65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RTS/CTS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40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Control</a:t>
            </a:r>
            <a:r>
              <a:rPr sz="14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Frames</a:t>
            </a:r>
            <a:r>
              <a:rPr sz="14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400" b="1" spc="-4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Hidden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30" dirty="0">
                <a:solidFill>
                  <a:srgbClr val="186B23"/>
                </a:solidFill>
                <a:latin typeface="Yu Gothic UI"/>
                <a:cs typeface="Yu Gothic UI"/>
              </a:rPr>
              <a:t>Node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Problem</a:t>
            </a:r>
            <a:r>
              <a:rPr sz="1400" b="1" spc="-8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Solution</a:t>
            </a:r>
            <a:endParaRPr sz="1400" dirty="0">
              <a:latin typeface="Yu Gothic UI"/>
              <a:cs typeface="Yu Gothic UI"/>
            </a:endParaRPr>
          </a:p>
          <a:p>
            <a:pPr marL="109220" marR="172720">
              <a:lnSpc>
                <a:spcPct val="100000"/>
              </a:lnSpc>
              <a:spcBef>
                <a:spcPts val="590"/>
              </a:spcBef>
              <a:tabLst>
                <a:tab pos="2816860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85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hear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B.</a:t>
            </a:r>
            <a:r>
              <a:rPr sz="1250" spc="2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RTS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replies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CTS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(broadcast)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NAV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timer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defer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transmits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safely.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Forged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RTS/CTS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NAV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duration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virtual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carrier-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sense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DoS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legitimate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blocked.</a:t>
            </a:r>
            <a:endParaRPr sz="125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17017"/>
            <a:ext cx="63461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Beacon</a:t>
            </a:r>
            <a:r>
              <a:rPr spc="-285" dirty="0"/>
              <a:t> </a:t>
            </a:r>
            <a:r>
              <a:rPr spc="-295" dirty="0"/>
              <a:t>Frame</a:t>
            </a:r>
            <a:r>
              <a:rPr spc="-265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320" dirty="0"/>
              <a:t>Information</a:t>
            </a:r>
            <a:r>
              <a:rPr spc="-270" dirty="0"/>
              <a:t> </a:t>
            </a:r>
            <a:r>
              <a:rPr spc="-190" dirty="0"/>
              <a:t>Elements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457200"/>
            <a:ext cx="1292860" cy="67945"/>
            <a:chOff x="405129" y="45720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46355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46355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59" y="525907"/>
            <a:ext cx="82372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Beacon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most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security-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relevant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management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frame.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Broadcast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every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~100ms.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Every</a:t>
            </a:r>
            <a:r>
              <a:rPr sz="14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client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range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reads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940282"/>
            <a:ext cx="4422775" cy="1085215"/>
            <a:chOff x="156971" y="940282"/>
            <a:chExt cx="4422775" cy="108521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0282"/>
              <a:ext cx="4422648" cy="10851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00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7068" y="1049388"/>
            <a:ext cx="3808729" cy="7524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Timestamp</a:t>
            </a:r>
            <a:r>
              <a:rPr sz="135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(8</a:t>
            </a:r>
            <a:r>
              <a:rPr sz="135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value.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synchronise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their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TSF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timer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power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timing.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6971" y="1836394"/>
            <a:ext cx="4422775" cy="1085215"/>
            <a:chOff x="156971" y="1836394"/>
            <a:chExt cx="4422775" cy="108521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1836394"/>
              <a:ext cx="4422648" cy="108511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00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7068" y="1946042"/>
            <a:ext cx="3510279" cy="7518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Beacon</a:t>
            </a:r>
            <a:r>
              <a:rPr sz="1350" b="1" spc="-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Interval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(2</a:t>
            </a:r>
            <a:r>
              <a:rPr sz="1350" b="1" spc="-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1000"/>
              </a:lnSpc>
              <a:spcBef>
                <a:spcPts val="55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Default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100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TU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(Time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Units)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102.4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milliseconds.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interval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broadcasts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6971" y="2732506"/>
            <a:ext cx="4422775" cy="1085215"/>
            <a:chOff x="156971" y="2732506"/>
            <a:chExt cx="4422775" cy="108521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2732506"/>
              <a:ext cx="4422648" cy="108511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00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7068" y="2841344"/>
            <a:ext cx="3800475" cy="7531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Capability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0E9ED4"/>
                </a:solidFill>
                <a:latin typeface="Yu Gothic UI"/>
                <a:cs typeface="Yu Gothic UI"/>
              </a:rPr>
              <a:t>Information</a:t>
            </a:r>
            <a:r>
              <a:rPr sz="1350" b="1" spc="-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(2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Privacy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means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active.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ESS/IBSS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flag.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Short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preamble,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PBCC,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agility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flags.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6971" y="3628644"/>
            <a:ext cx="4422775" cy="1085215"/>
            <a:chOff x="156971" y="3628644"/>
            <a:chExt cx="4422775" cy="108521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628644"/>
              <a:ext cx="4422648" cy="108511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00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7068" y="3819245"/>
            <a:ext cx="4083303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45"/>
              </a:lnSpc>
              <a:spcBef>
                <a:spcPts val="105"/>
              </a:spcBef>
            </a:pP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SSID</a:t>
            </a:r>
            <a:r>
              <a:rPr sz="1350" b="1" spc="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E97031"/>
                </a:solidFill>
                <a:latin typeface="Yu Gothic UI"/>
                <a:cs typeface="Yu Gothic UI"/>
              </a:rPr>
              <a:t>IE</a:t>
            </a:r>
            <a:endParaRPr sz="1350" dirty="0">
              <a:latin typeface="Yu Gothic UI"/>
              <a:cs typeface="Yu Gothic UI"/>
            </a:endParaRPr>
          </a:p>
          <a:p>
            <a:pPr marL="12700">
              <a:lnSpc>
                <a:spcPts val="1365"/>
              </a:lnSpc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name.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zero-length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'hidden'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r>
              <a:rPr lang="en-US"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lang="en-US" sz="1200" dirty="0"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revealed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Requests.</a:t>
            </a:r>
            <a:endParaRPr sz="1200" dirty="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00371" y="940282"/>
            <a:ext cx="4422775" cy="1085215"/>
            <a:chOff x="4500371" y="940282"/>
            <a:chExt cx="4422775" cy="108521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940282"/>
              <a:ext cx="4422648" cy="108511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634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634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61103" y="1049388"/>
            <a:ext cx="3873500" cy="7524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spc="-10" dirty="0">
                <a:solidFill>
                  <a:srgbClr val="0E9ED4"/>
                </a:solidFill>
                <a:latin typeface="Yu Gothic UI"/>
                <a:cs typeface="Yu Gothic UI"/>
              </a:rPr>
              <a:t>Supported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Rates</a:t>
            </a:r>
            <a:r>
              <a:rPr sz="1350" b="1" spc="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IE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rates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supports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requires.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negotiation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associating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00371" y="1836394"/>
            <a:ext cx="4422775" cy="1085215"/>
            <a:chOff x="4500371" y="1836394"/>
            <a:chExt cx="4422775" cy="108521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1836394"/>
              <a:ext cx="4422648" cy="108511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4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761103" y="1946042"/>
            <a:ext cx="3526154" cy="7518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DS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Parameter</a:t>
            </a:r>
            <a:r>
              <a:rPr sz="135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Set</a:t>
            </a:r>
            <a:r>
              <a:rPr sz="135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(3</a:t>
            </a:r>
            <a:r>
              <a:rPr sz="135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1000"/>
              </a:lnSpc>
              <a:spcBef>
                <a:spcPts val="55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Current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operating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number.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by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determine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listen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500371" y="2732506"/>
            <a:ext cx="4422775" cy="1085215"/>
            <a:chOff x="4500371" y="2732506"/>
            <a:chExt cx="4422775" cy="108521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732506"/>
              <a:ext cx="4422648" cy="108511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634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2A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6267" y="2886456"/>
              <a:ext cx="355853" cy="36347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761103" y="2923997"/>
            <a:ext cx="3902710" cy="761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35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RSN</a:t>
            </a:r>
            <a:r>
              <a:rPr sz="135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Information</a:t>
            </a:r>
            <a:r>
              <a:rPr sz="135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Element</a:t>
            </a:r>
            <a:endParaRPr sz="1350">
              <a:latin typeface="Yu Gothic UI"/>
              <a:cs typeface="Yu Gothic UI"/>
            </a:endParaRPr>
          </a:p>
          <a:p>
            <a:pPr marL="12700">
              <a:lnSpc>
                <a:spcPts val="135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Declares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WPA2/WPA3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(CCMP,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GCMP),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AKM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(PSK,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802.1X,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SAE),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capability.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element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forged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enables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downgrade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00371" y="3628644"/>
            <a:ext cx="4422775" cy="1085215"/>
            <a:chOff x="4500371" y="3628644"/>
            <a:chExt cx="4422775" cy="1085215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628644"/>
              <a:ext cx="4422648" cy="108511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6634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761103" y="3819245"/>
            <a:ext cx="381571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45"/>
              </a:lnSpc>
              <a:spcBef>
                <a:spcPts val="105"/>
              </a:spcBef>
            </a:pP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WPS</a:t>
            </a:r>
            <a:r>
              <a:rPr sz="1350" b="1" spc="-3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IE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E97031"/>
                </a:solidFill>
                <a:latin typeface="Yu Gothic UI"/>
                <a:cs typeface="Yu Gothic UI"/>
              </a:rPr>
              <a:t>(Vendor</a:t>
            </a:r>
            <a:r>
              <a:rPr sz="135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97031"/>
                </a:solidFill>
                <a:latin typeface="Yu Gothic UI"/>
                <a:cs typeface="Yu Gothic UI"/>
              </a:rPr>
              <a:t>Specific)</a:t>
            </a:r>
            <a:endParaRPr sz="1350">
              <a:latin typeface="Yu Gothic UI"/>
              <a:cs typeface="Yu Gothic UI"/>
            </a:endParaRPr>
          </a:p>
          <a:p>
            <a:pPr marL="12700">
              <a:lnSpc>
                <a:spcPts val="1365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Signals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Protected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Setup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availability.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Presence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endParaRPr sz="1200">
              <a:latin typeface="Segoe UI Symbol"/>
              <a:cs typeface="Segoe UI Symbol"/>
            </a:endParaRPr>
          </a:p>
          <a:p>
            <a:pPr marL="12700" marR="304165">
              <a:lnSpc>
                <a:spcPts val="1450"/>
              </a:lnSpc>
              <a:spcBef>
                <a:spcPts val="4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detectable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indicates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potential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 vector.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6971" y="4514082"/>
            <a:ext cx="8766175" cy="636270"/>
            <a:chOff x="156971" y="4514082"/>
            <a:chExt cx="8766175" cy="636270"/>
          </a:xfrm>
        </p:grpSpPr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514082"/>
              <a:ext cx="8766048" cy="6294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20039" y="4622329"/>
              <a:ext cx="8503920" cy="521334"/>
            </a:xfrm>
            <a:custGeom>
              <a:avLst/>
              <a:gdLst/>
              <a:ahLst/>
              <a:cxnLst/>
              <a:rect l="l" t="t" r="r" b="b"/>
              <a:pathLst>
                <a:path w="8503920" h="521335">
                  <a:moveTo>
                    <a:pt x="8503920" y="0"/>
                  </a:moveTo>
                  <a:lnTo>
                    <a:pt x="0" y="0"/>
                  </a:lnTo>
                  <a:lnTo>
                    <a:pt x="0" y="521169"/>
                  </a:lnTo>
                  <a:lnTo>
                    <a:pt x="8503920" y="521169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0039" y="4622329"/>
              <a:ext cx="8503920" cy="521334"/>
            </a:xfrm>
            <a:custGeom>
              <a:avLst/>
              <a:gdLst/>
              <a:ahLst/>
              <a:cxnLst/>
              <a:rect l="l" t="t" r="r" b="b"/>
              <a:pathLst>
                <a:path w="8503920" h="521335">
                  <a:moveTo>
                    <a:pt x="0" y="521169"/>
                  </a:moveTo>
                  <a:lnTo>
                    <a:pt x="8503920" y="521169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521169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" y="4608576"/>
              <a:ext cx="287273" cy="294894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32459" y="4635804"/>
            <a:ext cx="884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8640" y="4743094"/>
            <a:ext cx="82162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IE: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wlan.rsn.ie</a:t>
            </a:r>
            <a:r>
              <a:rPr sz="1300" spc="2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2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Check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AKM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suite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(02)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802.1X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(01)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(08)</a:t>
            </a:r>
            <a:r>
              <a:rPr sz="1300" spc="2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2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7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Capabilities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11605" cy="918844"/>
          </a:xfrm>
          <a:custGeom>
            <a:avLst/>
            <a:gdLst/>
            <a:ahLst/>
            <a:cxnLst/>
            <a:rect l="l" t="t" r="r" b="b"/>
            <a:pathLst>
              <a:path w="1411605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11605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11605" h="918844">
                <a:moveTo>
                  <a:pt x="1367450" y="159004"/>
                </a:moveTo>
                <a:lnTo>
                  <a:pt x="1080541" y="159004"/>
                </a:lnTo>
                <a:lnTo>
                  <a:pt x="1111545" y="161218"/>
                </a:lnTo>
                <a:lnTo>
                  <a:pt x="1137691" y="167862"/>
                </a:lnTo>
                <a:lnTo>
                  <a:pt x="1175410" y="194437"/>
                </a:lnTo>
                <a:lnTo>
                  <a:pt x="1196381" y="234330"/>
                </a:lnTo>
                <a:lnTo>
                  <a:pt x="1203350" y="283083"/>
                </a:lnTo>
                <a:lnTo>
                  <a:pt x="1201679" y="309798"/>
                </a:lnTo>
                <a:lnTo>
                  <a:pt x="1188241" y="359467"/>
                </a:lnTo>
                <a:lnTo>
                  <a:pt x="1160997" y="405165"/>
                </a:lnTo>
                <a:lnTo>
                  <a:pt x="1118186" y="453084"/>
                </a:lnTo>
                <a:lnTo>
                  <a:pt x="744118" y="780542"/>
                </a:lnTo>
                <a:lnTo>
                  <a:pt x="744118" y="906145"/>
                </a:lnTo>
                <a:lnTo>
                  <a:pt x="1411503" y="906145"/>
                </a:lnTo>
                <a:lnTo>
                  <a:pt x="1411503" y="752602"/>
                </a:lnTo>
                <a:lnTo>
                  <a:pt x="997356" y="752602"/>
                </a:lnTo>
                <a:lnTo>
                  <a:pt x="1212143" y="572222"/>
                </a:lnTo>
                <a:lnTo>
                  <a:pt x="1264494" y="524597"/>
                </a:lnTo>
                <a:lnTo>
                  <a:pt x="1310147" y="477212"/>
                </a:lnTo>
                <a:lnTo>
                  <a:pt x="1346481" y="425829"/>
                </a:lnTo>
                <a:lnTo>
                  <a:pt x="1372625" y="369444"/>
                </a:lnTo>
                <a:lnTo>
                  <a:pt x="1385960" y="305298"/>
                </a:lnTo>
                <a:lnTo>
                  <a:pt x="1387627" y="270129"/>
                </a:lnTo>
                <a:lnTo>
                  <a:pt x="1385267" y="228788"/>
                </a:lnTo>
                <a:lnTo>
                  <a:pt x="1378181" y="190674"/>
                </a:lnTo>
                <a:lnTo>
                  <a:pt x="1367450" y="159004"/>
                </a:lnTo>
                <a:close/>
              </a:path>
              <a:path w="1411605" h="918844">
                <a:moveTo>
                  <a:pt x="1080541" y="0"/>
                </a:moveTo>
                <a:lnTo>
                  <a:pt x="1031967" y="2311"/>
                </a:lnTo>
                <a:lnTo>
                  <a:pt x="987228" y="9255"/>
                </a:lnTo>
                <a:lnTo>
                  <a:pt x="946346" y="20841"/>
                </a:lnTo>
                <a:lnTo>
                  <a:pt x="909345" y="37084"/>
                </a:lnTo>
                <a:lnTo>
                  <a:pt x="876297" y="57802"/>
                </a:lnTo>
                <a:lnTo>
                  <a:pt x="822870" y="111575"/>
                </a:lnTo>
                <a:lnTo>
                  <a:pt x="802538" y="144653"/>
                </a:lnTo>
                <a:lnTo>
                  <a:pt x="786536" y="181540"/>
                </a:lnTo>
                <a:lnTo>
                  <a:pt x="775106" y="221916"/>
                </a:lnTo>
                <a:lnTo>
                  <a:pt x="768248" y="265793"/>
                </a:lnTo>
                <a:lnTo>
                  <a:pt x="765962" y="313182"/>
                </a:lnTo>
                <a:lnTo>
                  <a:pt x="939317" y="313182"/>
                </a:lnTo>
                <a:lnTo>
                  <a:pt x="941365" y="280654"/>
                </a:lnTo>
                <a:lnTo>
                  <a:pt x="947508" y="251269"/>
                </a:lnTo>
                <a:lnTo>
                  <a:pt x="972083" y="201930"/>
                </a:lnTo>
                <a:lnTo>
                  <a:pt x="1015596" y="169703"/>
                </a:lnTo>
                <a:lnTo>
                  <a:pt x="1080541" y="159004"/>
                </a:lnTo>
                <a:lnTo>
                  <a:pt x="1367450" y="159004"/>
                </a:lnTo>
                <a:lnTo>
                  <a:pt x="1366356" y="155775"/>
                </a:lnTo>
                <a:lnTo>
                  <a:pt x="1328872" y="95815"/>
                </a:lnTo>
                <a:lnTo>
                  <a:pt x="1275289" y="49766"/>
                </a:lnTo>
                <a:lnTo>
                  <a:pt x="1206521" y="18002"/>
                </a:lnTo>
                <a:lnTo>
                  <a:pt x="1167472" y="8001"/>
                </a:lnTo>
                <a:lnTo>
                  <a:pt x="1125471" y="2000"/>
                </a:lnTo>
                <a:lnTo>
                  <a:pt x="1080541" y="0"/>
                </a:lnTo>
                <a:close/>
              </a:path>
            </a:pathLst>
          </a:custGeom>
          <a:solidFill>
            <a:srgbClr val="0E9ED4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953588"/>
            <a:ext cx="6985634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spc="-36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3800" b="1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585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3800" b="1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Modes</a:t>
            </a:r>
            <a:r>
              <a:rPr sz="3800" b="1" spc="3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585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3800" b="1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50" dirty="0">
                <a:solidFill>
                  <a:srgbClr val="FFFFFF"/>
                </a:solidFill>
                <a:latin typeface="Tahoma"/>
                <a:cs typeface="Tahoma"/>
              </a:rPr>
              <a:t>Sniffing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80556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5" dirty="0">
                <a:solidFill>
                  <a:srgbClr val="89ABBE"/>
                </a:solidFill>
                <a:latin typeface="Segoe UI Symbol"/>
                <a:cs typeface="Segoe UI Symbol"/>
              </a:rPr>
              <a:t>Rogue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500" spc="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Evil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Twin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40" dirty="0">
                <a:solidFill>
                  <a:srgbClr val="89ABBE"/>
                </a:solidFill>
                <a:latin typeface="Segoe UI Symbol"/>
                <a:cs typeface="Segoe UI Symbol"/>
              </a:rPr>
              <a:t>Karma/MANA</a:t>
            </a:r>
            <a:r>
              <a:rPr sz="150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Promiscuous</a:t>
            </a:r>
            <a:r>
              <a:rPr sz="1500" spc="-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vs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Monitor</a:t>
            </a:r>
            <a:r>
              <a:rPr sz="1500" spc="-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Mode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Wireless</a:t>
            </a:r>
            <a:r>
              <a:rPr sz="1500" spc="-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Packet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Capture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225297"/>
            <a:ext cx="52216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WAP</a:t>
            </a:r>
            <a:r>
              <a:rPr spc="-265" dirty="0"/>
              <a:t> </a:t>
            </a:r>
            <a:r>
              <a:rPr dirty="0"/>
              <a:t>—</a:t>
            </a:r>
            <a:r>
              <a:rPr spc="-275" dirty="0"/>
              <a:t> </a:t>
            </a:r>
            <a:r>
              <a:rPr spc="-345" dirty="0"/>
              <a:t>Inherent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60" dirty="0"/>
              <a:t> </a:t>
            </a:r>
            <a:r>
              <a:rPr spc="-275" dirty="0"/>
              <a:t>Issues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754252"/>
            <a:ext cx="4680585" cy="2208530"/>
            <a:chOff x="111252" y="754252"/>
            <a:chExt cx="468058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760602"/>
              <a:ext cx="1359535" cy="55244"/>
            </a:xfrm>
            <a:custGeom>
              <a:avLst/>
              <a:gdLst/>
              <a:ahLst/>
              <a:cxnLst/>
              <a:rect l="l" t="t" r="r" b="b"/>
              <a:pathLst>
                <a:path w="1359535" h="55244">
                  <a:moveTo>
                    <a:pt x="135940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359408" y="54863"/>
                  </a:lnTo>
                  <a:lnTo>
                    <a:pt x="13594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60602"/>
              <a:ext cx="1359535" cy="55244"/>
            </a:xfrm>
            <a:custGeom>
              <a:avLst/>
              <a:gdLst/>
              <a:ahLst/>
              <a:cxnLst/>
              <a:rect l="l" t="t" r="r" b="b"/>
              <a:pathLst>
                <a:path w="1359535" h="55244">
                  <a:moveTo>
                    <a:pt x="0" y="54863"/>
                  </a:moveTo>
                  <a:lnTo>
                    <a:pt x="1359408" y="54863"/>
                  </a:lnTo>
                  <a:lnTo>
                    <a:pt x="135940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780287"/>
              <a:ext cx="4680204" cy="21823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1709" y="888618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888618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6" y="1920239"/>
                  </a:lnTo>
                  <a:lnTo>
                    <a:pt x="441807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1409" y="932451"/>
            <a:ext cx="3923029" cy="12299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spc="-35" dirty="0">
                <a:solidFill>
                  <a:srgbClr val="E97031"/>
                </a:solidFill>
                <a:latin typeface="Yu Gothic UI"/>
                <a:cs typeface="Yu Gothic UI"/>
              </a:rPr>
              <a:t>Rogue</a:t>
            </a:r>
            <a:r>
              <a:rPr sz="14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4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Unauthorised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99"/>
              </a:lnSpc>
              <a:spcBef>
                <a:spcPts val="395"/>
              </a:spcBef>
            </a:pP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employee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installs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personal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behind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firewall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informing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administrator.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configuration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and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internal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LAN.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firewall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offers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protection against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who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associates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6853" y="2228088"/>
            <a:ext cx="4068445" cy="332105"/>
            <a:chOff x="394715" y="2144141"/>
            <a:chExt cx="4068445" cy="332105"/>
          </a:xfrm>
        </p:grpSpPr>
        <p:sp>
          <p:nvSpPr>
            <p:cNvPr id="16" name="object 16"/>
            <p:cNvSpPr/>
            <p:nvPr/>
          </p:nvSpPr>
          <p:spPr>
            <a:xfrm>
              <a:off x="475488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9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9" y="27431"/>
                  </a:lnTo>
                  <a:lnTo>
                    <a:pt x="398106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5488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9" y="27431"/>
                  </a:lnTo>
                  <a:lnTo>
                    <a:pt x="3981069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2193036"/>
              <a:ext cx="273558" cy="2827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51409" y="2294891"/>
            <a:ext cx="3852545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penetration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tester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discovers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unauthorised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TP-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Link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AP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a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conference</a:t>
            </a:r>
            <a:r>
              <a:rPr sz="1050" spc="-10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room.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bridging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to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corporate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VLAN.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are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the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immediate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risks,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forensic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evidence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AP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contain?</a:t>
            </a:r>
            <a:endParaRPr sz="1050" dirty="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88993" y="780287"/>
            <a:ext cx="4643755" cy="2182495"/>
            <a:chOff x="4500371" y="780287"/>
            <a:chExt cx="4643755" cy="218249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780287"/>
              <a:ext cx="4643628" cy="218236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50829" y="888618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63439" y="888618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5" y="1920239"/>
                  </a:lnTo>
                  <a:lnTo>
                    <a:pt x="4418075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3439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63439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41164" y="932451"/>
            <a:ext cx="3945254" cy="12299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dirty="0">
                <a:solidFill>
                  <a:srgbClr val="C0392B"/>
                </a:solidFill>
                <a:latin typeface="Yu Gothic UI"/>
                <a:cs typeface="Yu Gothic UI"/>
              </a:rPr>
              <a:t>Evil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C0392B"/>
                </a:solidFill>
                <a:latin typeface="Yu Gothic UI"/>
                <a:cs typeface="Yu Gothic UI"/>
              </a:rPr>
              <a:t>Twin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clones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target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equal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signal.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automatically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select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strongest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signal</a:t>
            </a:r>
            <a:endParaRPr sz="1150">
              <a:latin typeface="Segoe UI Symbol"/>
              <a:cs typeface="Segoe UI Symbol"/>
            </a:endParaRPr>
          </a:p>
          <a:p>
            <a:pPr marL="12700" marR="175260">
              <a:lnSpc>
                <a:spcPct val="100000"/>
              </a:lnSpc>
            </a:pP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no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action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required.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gains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man-in-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the-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middle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position: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credentials,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injects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responses,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strips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HTTPS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sslstrip.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72457" y="2204297"/>
            <a:ext cx="4324948" cy="284480"/>
            <a:chOff x="4783835" y="2112264"/>
            <a:chExt cx="4068445" cy="284480"/>
          </a:xfrm>
        </p:grpSpPr>
        <p:sp>
          <p:nvSpPr>
            <p:cNvPr id="28" name="object 28"/>
            <p:cNvSpPr/>
            <p:nvPr/>
          </p:nvSpPr>
          <p:spPr>
            <a:xfrm>
              <a:off x="4864607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8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8" y="27431"/>
                  </a:lnTo>
                  <a:lnTo>
                    <a:pt x="3981068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64607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8" y="27431"/>
                  </a:lnTo>
                  <a:lnTo>
                    <a:pt x="3981068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3835" y="2112264"/>
              <a:ext cx="273558" cy="28422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24400" y="2419350"/>
            <a:ext cx="34080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'CafeWifi_Free'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matching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legitimate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SSID.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1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customer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o</a:t>
            </a:r>
            <a:endParaRPr sz="1050" dirty="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07236" y="2236631"/>
            <a:ext cx="3552825" cy="345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55"/>
              </a:lnSpc>
              <a:spcBef>
                <a:spcPts val="105"/>
              </a:spcBef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Coffee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shop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scenario: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sets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up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hotspot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named</a:t>
            </a:r>
            <a:endParaRPr sz="1050" dirty="0">
              <a:latin typeface="Segoe UI Symbol"/>
              <a:cs typeface="Segoe UI Symbol"/>
            </a:endParaRPr>
          </a:p>
          <a:p>
            <a:pPr marL="3255010">
              <a:lnSpc>
                <a:spcPts val="1255"/>
              </a:lnSpc>
            </a:pP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pens</a:t>
            </a:r>
            <a:endParaRPr sz="1050" dirty="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41163" y="2549102"/>
            <a:ext cx="416496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online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banking.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data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risk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tools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attacker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use?</a:t>
            </a:r>
            <a:endParaRPr sz="1050" dirty="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2791980"/>
            <a:ext cx="4680585" cy="2182495"/>
            <a:chOff x="111252" y="2791980"/>
            <a:chExt cx="4680585" cy="218249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791980"/>
              <a:ext cx="4680204" cy="218236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1709" y="2900299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2900299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6" y="1920239"/>
                  </a:lnTo>
                  <a:lnTo>
                    <a:pt x="441807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51409" y="2876550"/>
            <a:ext cx="3983990" cy="12306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PNL</a:t>
            </a:r>
            <a:r>
              <a:rPr sz="14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Exploitation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Karma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0" dirty="0">
                <a:solidFill>
                  <a:srgbClr val="E97031"/>
                </a:solidFill>
                <a:latin typeface="Yu Gothic UI"/>
                <a:cs typeface="Yu Gothic UI"/>
              </a:rPr>
              <a:t>MANA</a:t>
            </a:r>
            <a:endParaRPr sz="1400" dirty="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continuously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broadcast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Requests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every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SSID in their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Preferred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List.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Karma-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responds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auto-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connects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silently.</a:t>
            </a:r>
            <a:endParaRPr sz="1150" dirty="0">
              <a:latin typeface="Segoe UI Symbol"/>
              <a:cs typeface="Segoe UI Symbol"/>
            </a:endParaRPr>
          </a:p>
          <a:p>
            <a:pPr marL="12700" marR="137160">
              <a:lnSpc>
                <a:spcPts val="1390"/>
              </a:lnSpc>
              <a:spcBef>
                <a:spcPts val="40"/>
              </a:spcBef>
            </a:pP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MANA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extends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harvests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hashes.</a:t>
            </a:r>
            <a:endParaRPr sz="1150" dirty="0">
              <a:latin typeface="Segoe UI Symbol"/>
              <a:cs typeface="Segoe UI Symbo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83337" y="4155821"/>
            <a:ext cx="4068445" cy="332105"/>
            <a:chOff x="394715" y="4155821"/>
            <a:chExt cx="4068445" cy="332105"/>
          </a:xfrm>
        </p:grpSpPr>
        <p:sp>
          <p:nvSpPr>
            <p:cNvPr id="42" name="object 42"/>
            <p:cNvSpPr/>
            <p:nvPr/>
          </p:nvSpPr>
          <p:spPr>
            <a:xfrm>
              <a:off x="475488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9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9" y="27431"/>
                  </a:lnTo>
                  <a:lnTo>
                    <a:pt x="398106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5488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9" y="27431"/>
                  </a:lnTo>
                  <a:lnTo>
                    <a:pt x="3981069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4204716"/>
              <a:ext cx="273558" cy="28270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51535" y="4230725"/>
            <a:ext cx="3826510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corporate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laptop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has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'HotelNet'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'AirportWiFi'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its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PNL.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An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airport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runs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Karma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AP.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Describe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chain and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data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captured.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389119" y="2791980"/>
            <a:ext cx="4643755" cy="2182495"/>
            <a:chOff x="4500371" y="2791980"/>
            <a:chExt cx="4643755" cy="2182495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2791980"/>
              <a:ext cx="4643628" cy="218236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50829" y="2900299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2900299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5" y="1920239"/>
                  </a:lnTo>
                  <a:lnTo>
                    <a:pt x="4418075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3439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63439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741164" y="2876550"/>
            <a:ext cx="3931285" cy="12306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90"/>
              </a:spcBef>
            </a:pPr>
            <a:r>
              <a:rPr sz="1400" b="1" dirty="0">
                <a:solidFill>
                  <a:srgbClr val="89ABBE"/>
                </a:solidFill>
                <a:latin typeface="Yu Gothic UI"/>
                <a:cs typeface="Yu Gothic UI"/>
              </a:rPr>
              <a:t>SSID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Hiding</a:t>
            </a:r>
            <a:r>
              <a:rPr sz="1400" b="1" spc="-5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89ABBE"/>
                </a:solidFill>
                <a:latin typeface="Yu Gothic UI"/>
                <a:cs typeface="Yu Gothic UI"/>
              </a:rPr>
              <a:t>—</a:t>
            </a:r>
            <a:r>
              <a:rPr sz="1400" b="1" spc="-75" dirty="0">
                <a:solidFill>
                  <a:srgbClr val="89ABBE"/>
                </a:solidFill>
                <a:latin typeface="Yu Gothic UI"/>
                <a:cs typeface="Yu Gothic UI"/>
              </a:rPr>
              <a:t> A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50" dirty="0">
                <a:solidFill>
                  <a:srgbClr val="89ABBE"/>
                </a:solidFill>
                <a:latin typeface="Yu Gothic UI"/>
                <a:cs typeface="Yu Gothic UI"/>
              </a:rPr>
              <a:t>False</a:t>
            </a:r>
            <a:r>
              <a:rPr sz="1400" b="1" spc="-9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50" dirty="0">
                <a:solidFill>
                  <a:srgbClr val="89ABBE"/>
                </a:solidFill>
                <a:latin typeface="Yu Gothic UI"/>
                <a:cs typeface="Yu Gothic UI"/>
              </a:rPr>
              <a:t>Sense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of</a:t>
            </a:r>
            <a:r>
              <a:rPr sz="1400" b="1" spc="-6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89ABBE"/>
                </a:solidFill>
                <a:latin typeface="Yu Gothic UI"/>
                <a:cs typeface="Yu Gothic UI"/>
              </a:rPr>
              <a:t>Security</a:t>
            </a:r>
            <a:endParaRPr sz="1400" dirty="0">
              <a:latin typeface="Yu Gothic UI"/>
              <a:cs typeface="Yu Gothic UI"/>
            </a:endParaRPr>
          </a:p>
          <a:p>
            <a:pPr marL="12700" marR="5080" algn="just">
              <a:lnSpc>
                <a:spcPct val="100299"/>
              </a:lnSpc>
              <a:spcBef>
                <a:spcPts val="395"/>
              </a:spcBef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Setting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length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removes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name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discovery.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fully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revealed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in: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(1)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client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queries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it,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(2)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plaintext.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50" spc="-17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50" spc="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displays</a:t>
            </a:r>
            <a:r>
              <a:rPr sz="11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hidden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SSIDs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within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seconds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any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activity.</a:t>
            </a:r>
            <a:endParaRPr sz="1150" dirty="0">
              <a:latin typeface="Segoe UI Symbol"/>
              <a:cs typeface="Segoe UI Symbo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672457" y="4155821"/>
            <a:ext cx="4068445" cy="332105"/>
            <a:chOff x="4783835" y="4155821"/>
            <a:chExt cx="4068445" cy="332105"/>
          </a:xfrm>
        </p:grpSpPr>
        <p:sp>
          <p:nvSpPr>
            <p:cNvPr id="54" name="object 54"/>
            <p:cNvSpPr/>
            <p:nvPr/>
          </p:nvSpPr>
          <p:spPr>
            <a:xfrm>
              <a:off x="4864607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8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8" y="27431"/>
                  </a:lnTo>
                  <a:lnTo>
                    <a:pt x="3981068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64607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8" y="27431"/>
                  </a:lnTo>
                  <a:lnTo>
                    <a:pt x="3981068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3835" y="4204716"/>
              <a:ext cx="273558" cy="282702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741290" y="4230725"/>
            <a:ext cx="3971925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manager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hides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SSID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of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management</a:t>
            </a:r>
            <a:r>
              <a:rPr sz="1050" spc="-1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VLAN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access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point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claims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now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secure.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How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would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you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this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is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ineffective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using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only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Kali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Linux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wireless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adapter?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7625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Promiscuous</a:t>
            </a:r>
            <a:r>
              <a:rPr spc="-285" dirty="0"/>
              <a:t> </a:t>
            </a:r>
            <a:r>
              <a:rPr spc="-280" dirty="0"/>
              <a:t>Mode</a:t>
            </a:r>
            <a:r>
              <a:rPr spc="80" dirty="0"/>
              <a:t> </a:t>
            </a:r>
            <a:r>
              <a:rPr spc="-25" dirty="0"/>
              <a:t>vs</a:t>
            </a:r>
            <a:r>
              <a:rPr spc="195" dirty="0"/>
              <a:t> </a:t>
            </a:r>
            <a:r>
              <a:rPr spc="-275" dirty="0"/>
              <a:t>Monitor</a:t>
            </a:r>
            <a:r>
              <a:rPr spc="-300" dirty="0"/>
              <a:t> </a:t>
            </a:r>
            <a:r>
              <a:rPr spc="-275" dirty="0"/>
              <a:t>Mode</a:t>
            </a:r>
            <a:r>
              <a:rPr spc="-280" dirty="0"/>
              <a:t> </a:t>
            </a:r>
            <a:r>
              <a:rPr spc="-290" dirty="0"/>
              <a:t>(RFMON)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785494"/>
            <a:ext cx="4422775" cy="3473325"/>
            <a:chOff x="111252" y="785494"/>
            <a:chExt cx="4422775" cy="3506470"/>
          </a:xfrm>
        </p:grpSpPr>
        <p:sp>
          <p:nvSpPr>
            <p:cNvPr id="7" name="object 7"/>
            <p:cNvSpPr/>
            <p:nvPr/>
          </p:nvSpPr>
          <p:spPr>
            <a:xfrm>
              <a:off x="411479" y="79184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9184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10780"/>
              <a:ext cx="4422648" cy="34808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919873"/>
              <a:ext cx="4160520" cy="3218815"/>
            </a:xfrm>
            <a:custGeom>
              <a:avLst/>
              <a:gdLst/>
              <a:ahLst/>
              <a:cxnLst/>
              <a:rect l="l" t="t" r="r" b="b"/>
              <a:pathLst>
                <a:path w="4160520" h="3218815">
                  <a:moveTo>
                    <a:pt x="0" y="3218688"/>
                  </a:moveTo>
                  <a:lnTo>
                    <a:pt x="4160520" y="321868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21868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895350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430"/>
              </a:spcBef>
            </a:pPr>
            <a:r>
              <a:rPr sz="1600" b="1" spc="-140" dirty="0">
                <a:solidFill>
                  <a:srgbClr val="FFFFFF"/>
                </a:solidFill>
                <a:latin typeface="Tahoma"/>
                <a:cs typeface="Tahoma"/>
              </a:rPr>
              <a:t>Promiscuous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320" y="1254125"/>
            <a:ext cx="4160520" cy="2895664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163830" rIns="0" bIns="0" rtlCol="0">
            <a:spAutoFit/>
          </a:bodyPr>
          <a:lstStyle/>
          <a:p>
            <a:pPr marL="332105" indent="-195580">
              <a:lnSpc>
                <a:spcPct val="100000"/>
              </a:lnSpc>
              <a:spcBef>
                <a:spcPts val="129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NIC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first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endParaRPr sz="1250" dirty="0">
              <a:latin typeface="Segoe UI Symbol"/>
              <a:cs typeface="Segoe UI Symbol"/>
            </a:endParaRPr>
          </a:p>
          <a:p>
            <a:pPr marL="136525" marR="574040" indent="195580">
              <a:lnSpc>
                <a:spcPts val="1490"/>
              </a:lnSpc>
              <a:spcBef>
                <a:spcPts val="76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remains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lang="en-US"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associated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visible</a:t>
            </a:r>
            <a:endParaRPr sz="1250" dirty="0">
              <a:latin typeface="Segoe UI Symbol"/>
              <a:cs typeface="Segoe UI Symbol"/>
            </a:endParaRPr>
          </a:p>
          <a:p>
            <a:pPr marL="332105" indent="-195580">
              <a:lnSpc>
                <a:spcPts val="1410"/>
              </a:lnSpc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Receives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endParaRPr sz="1250" dirty="0">
              <a:latin typeface="Segoe UI Symbol"/>
              <a:cs typeface="Segoe UI Symbol"/>
            </a:endParaRPr>
          </a:p>
          <a:p>
            <a:pPr marL="136525">
              <a:lnSpc>
                <a:spcPts val="1475"/>
              </a:lnSpc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just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own)</a:t>
            </a:r>
            <a:endParaRPr sz="1250" dirty="0">
              <a:latin typeface="Segoe UI Symbol"/>
              <a:cs typeface="Segoe UI Symbol"/>
            </a:endParaRPr>
          </a:p>
          <a:p>
            <a:pPr marL="332105" indent="-195580">
              <a:lnSpc>
                <a:spcPts val="1475"/>
              </a:lnSpc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header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stripped</a:t>
            </a:r>
            <a:r>
              <a:rPr lang="en-US"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delivered</a:t>
            </a:r>
            <a:endParaRPr sz="1250" dirty="0">
              <a:latin typeface="Segoe UI Symbol"/>
              <a:cs typeface="Segoe UI Symbol"/>
            </a:endParaRPr>
          </a:p>
          <a:p>
            <a:pPr marL="136525">
              <a:lnSpc>
                <a:spcPts val="1495"/>
              </a:lnSpc>
            </a:pP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Ethernet-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style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OS</a:t>
            </a:r>
            <a:endParaRPr sz="1250" dirty="0">
              <a:latin typeface="Segoe UI Symbol"/>
              <a:cs typeface="Segoe UI Symbol"/>
            </a:endParaRPr>
          </a:p>
          <a:p>
            <a:pPr marL="332105" indent="-195580">
              <a:lnSpc>
                <a:spcPct val="100000"/>
              </a:lnSpc>
              <a:spcBef>
                <a:spcPts val="715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endParaRPr sz="1250" dirty="0">
              <a:latin typeface="Segoe UI Symbol"/>
              <a:cs typeface="Segoe UI Symbol"/>
            </a:endParaRPr>
          </a:p>
          <a:p>
            <a:pPr marL="332105" indent="-195580">
              <a:lnSpc>
                <a:spcPct val="100000"/>
              </a:lnSpc>
              <a:spcBef>
                <a:spcPts val="1455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Works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wired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endParaRPr sz="1250" dirty="0">
              <a:latin typeface="Segoe UI Symbol"/>
              <a:cs typeface="Segoe UI Symbol"/>
            </a:endParaRPr>
          </a:p>
          <a:p>
            <a:pPr marL="332105" indent="-195580">
              <a:lnSpc>
                <a:spcPts val="1330"/>
              </a:lnSpc>
              <a:spcBef>
                <a:spcPts val="145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Useful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analysing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your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own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endParaRPr sz="1250" dirty="0">
              <a:latin typeface="Segoe UI Symbol"/>
              <a:cs typeface="Segoe UI Symbol"/>
            </a:endParaRPr>
          </a:p>
          <a:p>
            <a:pPr marL="136525">
              <a:lnSpc>
                <a:spcPts val="1090"/>
              </a:lnSpc>
              <a:tabLst>
                <a:tab pos="3631565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Set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in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Linux: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ip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link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set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promisc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on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(still</a:t>
            </a:r>
            <a:endParaRPr sz="1050" dirty="0">
              <a:latin typeface="Courier New"/>
              <a:cs typeface="Courier New"/>
            </a:endParaRPr>
          </a:p>
          <a:p>
            <a:pPr marL="136525">
              <a:lnSpc>
                <a:spcPts val="935"/>
              </a:lnSpc>
              <a:spcBef>
                <a:spcPts val="1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requires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AP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association)</a:t>
            </a:r>
            <a:endParaRPr sz="1050" dirty="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742950"/>
            <a:ext cx="4605528" cy="3480816"/>
            <a:chOff x="4500371" y="810780"/>
            <a:chExt cx="4605528" cy="3480816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810780"/>
              <a:ext cx="4605528" cy="34808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336675"/>
              <a:ext cx="4343400" cy="2835275"/>
            </a:xfrm>
            <a:custGeom>
              <a:avLst/>
              <a:gdLst/>
              <a:ahLst/>
              <a:cxnLst/>
              <a:rect l="l" t="t" r="r" b="b"/>
              <a:pathLst>
                <a:path w="4343400" h="2835275">
                  <a:moveTo>
                    <a:pt x="0" y="2834652"/>
                  </a:moveTo>
                  <a:lnTo>
                    <a:pt x="4343400" y="2834652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283465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919873"/>
              <a:ext cx="4343400" cy="3218815"/>
            </a:xfrm>
            <a:custGeom>
              <a:avLst/>
              <a:gdLst/>
              <a:ahLst/>
              <a:cxnLst/>
              <a:rect l="l" t="t" r="r" b="b"/>
              <a:pathLst>
                <a:path w="4343400" h="3218815">
                  <a:moveTo>
                    <a:pt x="0" y="3218688"/>
                  </a:moveTo>
                  <a:lnTo>
                    <a:pt x="4343400" y="3218688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321868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63440" y="892175"/>
            <a:ext cx="4343400" cy="384175"/>
          </a:xfrm>
          <a:prstGeom prst="rect">
            <a:avLst/>
          </a:prstGeom>
          <a:solidFill>
            <a:srgbClr val="E97031"/>
          </a:solidFill>
          <a:ln w="12700">
            <a:solidFill>
              <a:srgbClr val="E97031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430"/>
              </a:spcBef>
            </a:pPr>
            <a:r>
              <a:rPr sz="1600" b="1" spc="-165" dirty="0">
                <a:solidFill>
                  <a:srgbClr val="FFFFFF"/>
                </a:solidFill>
                <a:latin typeface="Tahoma"/>
                <a:cs typeface="Tahoma"/>
              </a:rPr>
              <a:t>Monitor</a:t>
            </a: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60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(RFMON)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3438" y="1397330"/>
            <a:ext cx="4343401" cy="27076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95580" indent="-195580">
              <a:lnSpc>
                <a:spcPct val="100000"/>
              </a:lnSpc>
              <a:spcBef>
                <a:spcPts val="55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AP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lang="en-US" sz="1250" spc="-10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purely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receiver</a:t>
            </a:r>
            <a:endParaRPr sz="1250" dirty="0">
              <a:latin typeface="Segoe UI Symbol"/>
              <a:cs typeface="Segoe UI Symbol"/>
            </a:endParaRPr>
          </a:p>
          <a:p>
            <a:pPr marR="249554" indent="195580">
              <a:lnSpc>
                <a:spcPts val="1490"/>
              </a:lnSpc>
              <a:spcBef>
                <a:spcPts val="51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disabled</a:t>
            </a:r>
            <a:r>
              <a:rPr lang="en-US"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selected</a:t>
            </a:r>
            <a:r>
              <a:rPr lang="en-US"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captured</a:t>
            </a:r>
            <a:endParaRPr sz="1250" dirty="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29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SSIDs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simultaneously</a:t>
            </a:r>
            <a:endParaRPr sz="1250" dirty="0">
              <a:latin typeface="Segoe UI Symbol"/>
              <a:cs typeface="Segoe UI Symbol"/>
            </a:endParaRPr>
          </a:p>
          <a:p>
            <a:pPr marL="195580" indent="-195580">
              <a:lnSpc>
                <a:spcPts val="1495"/>
              </a:lnSpc>
              <a:spcBef>
                <a:spcPts val="45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header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preserved</a:t>
            </a:r>
            <a:r>
              <a:rPr lang="en-US"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forensically</a:t>
            </a:r>
            <a:endParaRPr sz="1250" dirty="0">
              <a:latin typeface="Segoe UI Symbol"/>
              <a:cs typeface="Segoe UI Symbol"/>
            </a:endParaRPr>
          </a:p>
          <a:p>
            <a:pPr>
              <a:lnSpc>
                <a:spcPts val="144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endParaRPr sz="1250" dirty="0">
              <a:latin typeface="Segoe UI Symbol"/>
              <a:cs typeface="Segoe UI Symbol"/>
            </a:endParaRPr>
          </a:p>
          <a:p>
            <a:pPr marR="262255" indent="195580">
              <a:lnSpc>
                <a:spcPts val="1490"/>
              </a:lnSpc>
              <a:spcBef>
                <a:spcPts val="1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Captures: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 frames,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handshakes,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beacon/probe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data</a:t>
            </a:r>
            <a:endParaRPr sz="1250" dirty="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17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tuned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channel-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hop</a:t>
            </a:r>
            <a:endParaRPr sz="1250" dirty="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penetration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testing</a:t>
            </a:r>
            <a:endParaRPr sz="125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tabLst>
                <a:tab pos="3176270" algn="l"/>
                <a:tab pos="3413760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Enable in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Linux: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airmon-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start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creates</a:t>
            </a:r>
            <a:endParaRPr sz="10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interface</a:t>
            </a:r>
            <a:endParaRPr sz="1050" dirty="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252" y="4120896"/>
            <a:ext cx="8857615" cy="1022985"/>
            <a:chOff x="111252" y="4120896"/>
            <a:chExt cx="8857615" cy="102298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120896"/>
              <a:ext cx="8857488" cy="10226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615" y="4230003"/>
              <a:ext cx="8513445" cy="805180"/>
            </a:xfrm>
            <a:custGeom>
              <a:avLst/>
              <a:gdLst/>
              <a:ahLst/>
              <a:cxnLst/>
              <a:rect l="l" t="t" r="r" b="b"/>
              <a:pathLst>
                <a:path w="8513445" h="805179">
                  <a:moveTo>
                    <a:pt x="0" y="804672"/>
                  </a:moveTo>
                  <a:lnTo>
                    <a:pt x="8513064" y="804672"/>
                  </a:lnTo>
                  <a:lnTo>
                    <a:pt x="8513064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4230003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79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4230003"/>
              <a:ext cx="82550" cy="805180"/>
            </a:xfrm>
            <a:custGeom>
              <a:avLst/>
              <a:gdLst/>
              <a:ahLst/>
              <a:cxnLst/>
              <a:rect l="l" t="t" r="r" b="b"/>
              <a:pathLst>
                <a:path w="82550" h="805179">
                  <a:moveTo>
                    <a:pt x="82296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82296" y="804672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4230003"/>
              <a:ext cx="82550" cy="805180"/>
            </a:xfrm>
            <a:custGeom>
              <a:avLst/>
              <a:gdLst/>
              <a:ahLst/>
              <a:cxnLst/>
              <a:rect l="l" t="t" r="r" b="b"/>
              <a:pathLst>
                <a:path w="82550" h="805179">
                  <a:moveTo>
                    <a:pt x="0" y="804672"/>
                  </a:moveTo>
                  <a:lnTo>
                    <a:pt x="82296" y="804672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6080" y="4241065"/>
            <a:ext cx="842518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RELEVANCE:</a:t>
            </a:r>
            <a:r>
              <a:rPr sz="12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correct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acceptable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evidence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collection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investigation.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including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headers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(stripped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mode),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enabling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handshakes,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floods,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histories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(device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presence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location), beacon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anomalies,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.pcapng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 analysis.</a:t>
            </a:r>
            <a:endParaRPr sz="125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4622" y="64135"/>
            <a:ext cx="70396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Sniffing</a:t>
            </a:r>
            <a:r>
              <a:rPr spc="-265" dirty="0"/>
              <a:t> </a:t>
            </a:r>
            <a:r>
              <a:rPr spc="-210" dirty="0"/>
              <a:t>Wireless</a:t>
            </a:r>
            <a:r>
              <a:rPr spc="-270" dirty="0"/>
              <a:t> </a:t>
            </a:r>
            <a:r>
              <a:rPr spc="-250" dirty="0"/>
              <a:t>Packets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310" dirty="0"/>
              <a:t>What</a:t>
            </a:r>
            <a:r>
              <a:rPr spc="-265" dirty="0"/>
              <a:t> </a:t>
            </a:r>
            <a:r>
              <a:rPr spc="-375" dirty="0"/>
              <a:t>Is</a:t>
            </a:r>
            <a:r>
              <a:rPr spc="-270" dirty="0"/>
              <a:t> </a:t>
            </a:r>
            <a:r>
              <a:rPr spc="-135" dirty="0"/>
              <a:t>Visible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51052"/>
            <a:ext cx="1292860" cy="67945"/>
            <a:chOff x="405129" y="551052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4320" y="639572"/>
            <a:ext cx="881824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50" spc="-4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4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medium</a:t>
            </a:r>
            <a:r>
              <a:rPr sz="14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broadcast.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NIC</a:t>
            </a:r>
            <a:r>
              <a:rPr sz="14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4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r>
              <a:rPr sz="14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range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4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4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4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lang="en-US"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decryption</a:t>
            </a:r>
            <a:r>
              <a:rPr sz="14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4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4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required.</a:t>
            </a:r>
            <a:endParaRPr sz="1450" dirty="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1252" y="1033272"/>
            <a:ext cx="9032875" cy="3665220"/>
            <a:chOff x="111252" y="1033272"/>
            <a:chExt cx="9032875" cy="36652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33272"/>
              <a:ext cx="3198876" cy="36652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4320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5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42873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5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619" y="1033272"/>
              <a:ext cx="3198876" cy="36652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18687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4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18687" y="1142873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4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9987" y="1033272"/>
              <a:ext cx="3144012" cy="366522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163055" y="1142872"/>
            <a:ext cx="2935605" cy="3401695"/>
            <a:chOff x="6163055" y="1142872"/>
            <a:chExt cx="2935605" cy="3401695"/>
          </a:xfrm>
        </p:grpSpPr>
        <p:sp>
          <p:nvSpPr>
            <p:cNvPr id="19" name="object 19"/>
            <p:cNvSpPr/>
            <p:nvPr/>
          </p:nvSpPr>
          <p:spPr>
            <a:xfrm>
              <a:off x="6163055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4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63055" y="1142872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4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32148"/>
              </p:ext>
            </p:extLst>
          </p:nvPr>
        </p:nvGraphicFramePr>
        <p:xfrm>
          <a:off x="267970" y="1136548"/>
          <a:ext cx="8824595" cy="343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Visible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WITHOUT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any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endParaRPr sz="1300" dirty="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C0392B"/>
                      </a:solidFill>
                      <a:prstDash val="solid"/>
                    </a:lnL>
                    <a:lnR w="28575">
                      <a:solidFill>
                        <a:srgbClr val="E97031"/>
                      </a:solidFill>
                      <a:prstDash val="solid"/>
                    </a:lnR>
                    <a:lnT w="12700">
                      <a:solidFill>
                        <a:srgbClr val="C0392B"/>
                      </a:solidFill>
                      <a:prstDash val="solid"/>
                    </a:lnT>
                    <a:lnB w="12700">
                      <a:solidFill>
                        <a:srgbClr val="C039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Visible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WITH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the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encryption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E97031"/>
                      </a:solidFill>
                      <a:prstDash val="solid"/>
                    </a:lnL>
                    <a:lnR w="28575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E97031"/>
                      </a:solidFill>
                      <a:prstDash val="solid"/>
                    </a:lnT>
                    <a:lnB w="12700">
                      <a:solidFill>
                        <a:srgbClr val="E970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Wireshark</a:t>
                      </a:r>
                      <a:r>
                        <a:rPr sz="1300" b="1" spc="1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Useful</a:t>
                      </a:r>
                      <a:r>
                        <a:rPr sz="1300" b="1" spc="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Filters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980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SSID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names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Beacon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and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Response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109220" marR="415290" indent="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Client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addresses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Requests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(unless</a:t>
                      </a:r>
                      <a:r>
                        <a:rPr sz="1200" spc="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randomised)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Client's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Preferred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Network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List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every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SSID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probed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capabilities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including</a:t>
                      </a:r>
                      <a:r>
                        <a:rPr sz="12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RSN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IE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(cipher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suites,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PMF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status)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  <a:p>
                      <a:pPr marL="109220" marR="255270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EAPOL</a:t>
                      </a:r>
                      <a:r>
                        <a:rPr sz="12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4-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way</a:t>
                      </a:r>
                      <a:r>
                        <a:rPr sz="12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handshake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(for offline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attack)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C039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 indent="-18923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Complete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decrypted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data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payloads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(HTTP,</a:t>
                      </a:r>
                      <a:r>
                        <a:rPr sz="12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DNS,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SMTP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121920" indent="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DHCP</a:t>
                      </a:r>
                      <a:r>
                        <a:rPr sz="12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exchanges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reveals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internal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IP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addressing</a:t>
                      </a:r>
                      <a:r>
                        <a:rPr sz="120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scheme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578485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DNS</a:t>
                      </a:r>
                      <a:r>
                        <a:rPr sz="12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queries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reveals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websites/services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being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accessed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303530" indent="-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Unencrypted</a:t>
                      </a:r>
                      <a:r>
                        <a:rPr sz="1200" spc="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application-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layer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credentials</a:t>
                      </a:r>
                      <a:r>
                        <a:rPr sz="120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(HTTP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Basic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Auth,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FTP)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314325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Internal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network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topology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ARP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routing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E9703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665"/>
                        </a:spcBef>
                        <a:buFont typeface="Cambria Math"/>
                        <a:buChar char="◗"/>
                        <a:tabLst>
                          <a:tab pos="400050" algn="l"/>
                          <a:tab pos="989965" algn="l"/>
                        </a:tabLst>
                      </a:pP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eapol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	—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capture</a:t>
                      </a:r>
                      <a:r>
                        <a:rPr sz="1100" spc="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4-</a:t>
                      </a:r>
                      <a:r>
                        <a:rPr sz="1100" spc="-2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handshake</a:t>
                      </a:r>
                      <a:r>
                        <a:rPr sz="1100" spc="-3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 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Beacon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 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Probe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Request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0x0c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3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Deauthentication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 marR="177800" indent="285115">
                        <a:lnSpc>
                          <a:spcPts val="1310"/>
                        </a:lnSpc>
                        <a:spcBef>
                          <a:spcPts val="375"/>
                        </a:spcBef>
                        <a:buFont typeface="Cambria Math"/>
                        <a:buChar char="◗"/>
                        <a:tabLst>
                          <a:tab pos="400050" algn="l"/>
                          <a:tab pos="208407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wlan.addr</a:t>
                      </a:r>
                      <a:r>
                        <a:rPr sz="1100" spc="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100" spc="-2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[MAC]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	—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filter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specific</a:t>
                      </a:r>
                      <a:r>
                        <a:rPr sz="1100" spc="-3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device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IV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values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WEP-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protected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exchanges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auth,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assoc,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deauth</a:t>
                      </a:r>
                      <a:r>
                        <a:rPr sz="1200" spc="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sequences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 marR="539750" indent="189230">
                        <a:lnSpc>
                          <a:spcPct val="100000"/>
                        </a:lnSpc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sizes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timing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analysis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even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when</a:t>
                      </a:r>
                      <a:r>
                        <a:rPr sz="12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encrypted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" y="4520184"/>
            <a:ext cx="311658" cy="32080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72923" y="4550155"/>
            <a:ext cx="8779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APPLICATION: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Investigator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at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crime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scene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turns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on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monitor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mode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runs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airodump-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ng.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Within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5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minutes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they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have: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(1)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list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of</a:t>
            </a:r>
            <a:r>
              <a:rPr sz="1200" spc="-8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all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APs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range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SSIDs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channels,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(2)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list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of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client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devices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MAC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addresses,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(3)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which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SSIDs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each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client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has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previously connected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to.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This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intelligence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collected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passively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zero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interaction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any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network.</a:t>
            </a:r>
            <a:endParaRPr sz="12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8430" cy="918844"/>
          </a:xfrm>
          <a:custGeom>
            <a:avLst/>
            <a:gdLst/>
            <a:ahLst/>
            <a:cxnLst/>
            <a:rect l="l" t="t" r="r" b="b"/>
            <a:pathLst>
              <a:path w="14084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84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8430" h="918844">
                <a:moveTo>
                  <a:pt x="918870" y="626364"/>
                </a:moveTo>
                <a:lnTo>
                  <a:pt x="745515" y="626364"/>
                </a:lnTo>
                <a:lnTo>
                  <a:pt x="749035" y="682066"/>
                </a:lnTo>
                <a:lnTo>
                  <a:pt x="759597" y="731824"/>
                </a:lnTo>
                <a:lnTo>
                  <a:pt x="777199" y="775639"/>
                </a:lnTo>
                <a:lnTo>
                  <a:pt x="801842" y="813511"/>
                </a:lnTo>
                <a:lnTo>
                  <a:pt x="833526" y="845439"/>
                </a:lnTo>
                <a:lnTo>
                  <a:pt x="871596" y="871437"/>
                </a:lnTo>
                <a:lnTo>
                  <a:pt x="915403" y="891669"/>
                </a:lnTo>
                <a:lnTo>
                  <a:pt x="964953" y="906127"/>
                </a:lnTo>
                <a:lnTo>
                  <a:pt x="1020250" y="914807"/>
                </a:lnTo>
                <a:lnTo>
                  <a:pt x="1081303" y="917702"/>
                </a:lnTo>
                <a:lnTo>
                  <a:pt x="1130049" y="915795"/>
                </a:lnTo>
                <a:lnTo>
                  <a:pt x="1175331" y="910066"/>
                </a:lnTo>
                <a:lnTo>
                  <a:pt x="1217159" y="900503"/>
                </a:lnTo>
                <a:lnTo>
                  <a:pt x="1255547" y="887095"/>
                </a:lnTo>
                <a:lnTo>
                  <a:pt x="1290121" y="869876"/>
                </a:lnTo>
                <a:lnTo>
                  <a:pt x="1346648" y="824676"/>
                </a:lnTo>
                <a:lnTo>
                  <a:pt x="1383365" y="769620"/>
                </a:lnTo>
                <a:lnTo>
                  <a:pt x="1080541" y="769620"/>
                </a:lnTo>
                <a:lnTo>
                  <a:pt x="1044153" y="767260"/>
                </a:lnTo>
                <a:lnTo>
                  <a:pt x="984475" y="748349"/>
                </a:lnTo>
                <a:lnTo>
                  <a:pt x="942659" y="710981"/>
                </a:lnTo>
                <a:lnTo>
                  <a:pt x="921513" y="658300"/>
                </a:lnTo>
                <a:lnTo>
                  <a:pt x="918870" y="626364"/>
                </a:lnTo>
                <a:close/>
              </a:path>
              <a:path w="1408430" h="918844">
                <a:moveTo>
                  <a:pt x="1367611" y="148717"/>
                </a:moveTo>
                <a:lnTo>
                  <a:pt x="1079906" y="148717"/>
                </a:lnTo>
                <a:lnTo>
                  <a:pt x="1109453" y="150381"/>
                </a:lnTo>
                <a:lnTo>
                  <a:pt x="1135405" y="155368"/>
                </a:lnTo>
                <a:lnTo>
                  <a:pt x="1176426" y="175260"/>
                </a:lnTo>
                <a:lnTo>
                  <a:pt x="1201747" y="208581"/>
                </a:lnTo>
                <a:lnTo>
                  <a:pt x="1210208" y="255143"/>
                </a:lnTo>
                <a:lnTo>
                  <a:pt x="1207755" y="279717"/>
                </a:lnTo>
                <a:lnTo>
                  <a:pt x="1188134" y="320865"/>
                </a:lnTo>
                <a:lnTo>
                  <a:pt x="1149839" y="350700"/>
                </a:lnTo>
                <a:lnTo>
                  <a:pt x="1098492" y="365888"/>
                </a:lnTo>
                <a:lnTo>
                  <a:pt x="1068222" y="367792"/>
                </a:lnTo>
                <a:lnTo>
                  <a:pt x="1007516" y="367792"/>
                </a:lnTo>
                <a:lnTo>
                  <a:pt x="1007516" y="509651"/>
                </a:lnTo>
                <a:lnTo>
                  <a:pt x="1062761" y="509651"/>
                </a:lnTo>
                <a:lnTo>
                  <a:pt x="1096337" y="511532"/>
                </a:lnTo>
                <a:lnTo>
                  <a:pt x="1154058" y="526581"/>
                </a:lnTo>
                <a:lnTo>
                  <a:pt x="1197873" y="557033"/>
                </a:lnTo>
                <a:lnTo>
                  <a:pt x="1220352" y="605508"/>
                </a:lnTo>
                <a:lnTo>
                  <a:pt x="1223162" y="636651"/>
                </a:lnTo>
                <a:lnTo>
                  <a:pt x="1220900" y="668750"/>
                </a:lnTo>
                <a:lnTo>
                  <a:pt x="1202802" y="719232"/>
                </a:lnTo>
                <a:lnTo>
                  <a:pt x="1166802" y="751617"/>
                </a:lnTo>
                <a:lnTo>
                  <a:pt x="1113565" y="767619"/>
                </a:lnTo>
                <a:lnTo>
                  <a:pt x="1080541" y="769620"/>
                </a:lnTo>
                <a:lnTo>
                  <a:pt x="1383365" y="769620"/>
                </a:lnTo>
                <a:lnTo>
                  <a:pt x="1385839" y="765093"/>
                </a:lnTo>
                <a:lnTo>
                  <a:pt x="1398184" y="730170"/>
                </a:lnTo>
                <a:lnTo>
                  <a:pt x="1405599" y="691890"/>
                </a:lnTo>
                <a:lnTo>
                  <a:pt x="1408074" y="650240"/>
                </a:lnTo>
                <a:lnTo>
                  <a:pt x="1404835" y="607397"/>
                </a:lnTo>
                <a:lnTo>
                  <a:pt x="1395120" y="568960"/>
                </a:lnTo>
                <a:lnTo>
                  <a:pt x="1356258" y="505206"/>
                </a:lnTo>
                <a:lnTo>
                  <a:pt x="1297774" y="460136"/>
                </a:lnTo>
                <a:lnTo>
                  <a:pt x="1225956" y="434594"/>
                </a:lnTo>
                <a:lnTo>
                  <a:pt x="1260220" y="422781"/>
                </a:lnTo>
                <a:lnTo>
                  <a:pt x="1317700" y="387677"/>
                </a:lnTo>
                <a:lnTo>
                  <a:pt x="1359539" y="337439"/>
                </a:lnTo>
                <a:lnTo>
                  <a:pt x="1380896" y="273262"/>
                </a:lnTo>
                <a:lnTo>
                  <a:pt x="1383563" y="236093"/>
                </a:lnTo>
                <a:lnTo>
                  <a:pt x="1381046" y="198864"/>
                </a:lnTo>
                <a:lnTo>
                  <a:pt x="1380920" y="196992"/>
                </a:lnTo>
                <a:lnTo>
                  <a:pt x="1372990" y="161607"/>
                </a:lnTo>
                <a:lnTo>
                  <a:pt x="1367611" y="148717"/>
                </a:lnTo>
                <a:close/>
              </a:path>
              <a:path w="1408430" h="918844">
                <a:moveTo>
                  <a:pt x="1079906" y="0"/>
                </a:moveTo>
                <a:lnTo>
                  <a:pt x="1036976" y="1833"/>
                </a:lnTo>
                <a:lnTo>
                  <a:pt x="996213" y="7334"/>
                </a:lnTo>
                <a:lnTo>
                  <a:pt x="957641" y="16502"/>
                </a:lnTo>
                <a:lnTo>
                  <a:pt x="921283" y="29337"/>
                </a:lnTo>
                <a:lnTo>
                  <a:pt x="858132" y="66230"/>
                </a:lnTo>
                <a:lnTo>
                  <a:pt x="810031" y="118364"/>
                </a:lnTo>
                <a:lnTo>
                  <a:pt x="779567" y="186340"/>
                </a:lnTo>
                <a:lnTo>
                  <a:pt x="771937" y="226556"/>
                </a:lnTo>
                <a:lnTo>
                  <a:pt x="769391" y="270891"/>
                </a:lnTo>
                <a:lnTo>
                  <a:pt x="942746" y="270891"/>
                </a:lnTo>
                <a:lnTo>
                  <a:pt x="944675" y="243770"/>
                </a:lnTo>
                <a:lnTo>
                  <a:pt x="951223" y="219757"/>
                </a:lnTo>
                <a:lnTo>
                  <a:pt x="978179" y="181102"/>
                </a:lnTo>
                <a:lnTo>
                  <a:pt x="1021708" y="156813"/>
                </a:lnTo>
                <a:lnTo>
                  <a:pt x="1079906" y="148717"/>
                </a:lnTo>
                <a:lnTo>
                  <a:pt x="1367611" y="148717"/>
                </a:lnTo>
                <a:lnTo>
                  <a:pt x="1359774" y="129936"/>
                </a:lnTo>
                <a:lnTo>
                  <a:pt x="1318436" y="77577"/>
                </a:lnTo>
                <a:lnTo>
                  <a:pt x="1262619" y="39008"/>
                </a:lnTo>
                <a:lnTo>
                  <a:pt x="1194331" y="13983"/>
                </a:lnTo>
                <a:lnTo>
                  <a:pt x="1119429" y="1549"/>
                </a:lnTo>
                <a:lnTo>
                  <a:pt x="1079906" y="0"/>
                </a:lnTo>
                <a:close/>
              </a:path>
            </a:pathLst>
          </a:custGeom>
          <a:solidFill>
            <a:srgbClr val="E97031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446913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40" dirty="0">
                <a:solidFill>
                  <a:srgbClr val="FFFFFF"/>
                </a:solidFill>
                <a:latin typeface="Tahoma"/>
                <a:cs typeface="Tahoma"/>
              </a:rPr>
              <a:t>Authentication </a:t>
            </a: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Encryption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63830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WEP</a:t>
            </a:r>
            <a:r>
              <a:rPr sz="1500" spc="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WPA2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5" dirty="0">
                <a:solidFill>
                  <a:srgbClr val="89ABBE"/>
                </a:solidFill>
                <a:latin typeface="Segoe UI Symbol"/>
                <a:cs typeface="Segoe UI Symbol"/>
              </a:rPr>
              <a:t>4-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Way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Handshake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KRACK</a:t>
            </a:r>
            <a:r>
              <a:rPr sz="150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PMKID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SAE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5384"/>
            <a:ext cx="8669021" cy="9423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305" dirty="0"/>
              <a:t> </a:t>
            </a:r>
            <a:r>
              <a:rPr spc="-265" dirty="0"/>
              <a:t>Authentication</a:t>
            </a:r>
            <a:r>
              <a:rPr lang="en-US" spc="-250" dirty="0"/>
              <a:t>:</a:t>
            </a:r>
            <a:r>
              <a:rPr spc="-295" dirty="0"/>
              <a:t> </a:t>
            </a:r>
            <a:r>
              <a:rPr spc="-290" dirty="0"/>
              <a:t>Part</a:t>
            </a:r>
            <a:r>
              <a:rPr spc="-295" dirty="0"/>
              <a:t> </a:t>
            </a:r>
            <a:r>
              <a:rPr spc="-305" dirty="0"/>
              <a:t>1:</a:t>
            </a:r>
            <a:r>
              <a:rPr spc="-295" dirty="0"/>
              <a:t> </a:t>
            </a:r>
            <a:r>
              <a:rPr spc="-270" dirty="0"/>
              <a:t>Open</a:t>
            </a:r>
            <a:r>
              <a:rPr spc="-295" dirty="0"/>
              <a:t> </a:t>
            </a:r>
            <a:r>
              <a:rPr spc="-260" dirty="0"/>
              <a:t>System</a:t>
            </a:r>
            <a:r>
              <a:rPr spc="350" dirty="0"/>
              <a:t>s </a:t>
            </a:r>
            <a:r>
              <a:rPr spc="-275" dirty="0"/>
              <a:t>Shared</a:t>
            </a:r>
            <a:r>
              <a:rPr spc="-295" dirty="0"/>
              <a:t> </a:t>
            </a:r>
            <a:r>
              <a:rPr spc="-335" dirty="0"/>
              <a:t>Key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967486"/>
            <a:ext cx="804925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These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are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two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original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802.11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authentication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methods.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Both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are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pre-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WPA.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Understanding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their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flaws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is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essential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Shared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Key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directly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examined.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00555"/>
            <a:ext cx="8766175" cy="1981200"/>
            <a:chOff x="156971" y="1400555"/>
            <a:chExt cx="8766175" cy="19812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00555"/>
              <a:ext cx="8766048" cy="1981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2335" y="1508759"/>
              <a:ext cx="8422005" cy="1719580"/>
            </a:xfrm>
            <a:custGeom>
              <a:avLst/>
              <a:gdLst/>
              <a:ahLst/>
              <a:cxnLst/>
              <a:rect l="l" t="t" r="r" b="b"/>
              <a:pathLst>
                <a:path w="8422005" h="1719580">
                  <a:moveTo>
                    <a:pt x="0" y="1719072"/>
                  </a:moveTo>
                  <a:lnTo>
                    <a:pt x="8421624" y="1719072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08759"/>
              <a:ext cx="8503920" cy="1719580"/>
            </a:xfrm>
            <a:custGeom>
              <a:avLst/>
              <a:gdLst/>
              <a:ahLst/>
              <a:cxnLst/>
              <a:rect l="l" t="t" r="r" b="b"/>
              <a:pathLst>
                <a:path w="8503920" h="1719580">
                  <a:moveTo>
                    <a:pt x="0" y="1719072"/>
                  </a:moveTo>
                  <a:lnTo>
                    <a:pt x="8503920" y="171907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08759"/>
              <a:ext cx="82550" cy="1719580"/>
            </a:xfrm>
            <a:custGeom>
              <a:avLst/>
              <a:gdLst/>
              <a:ahLst/>
              <a:cxnLst/>
              <a:rect l="l" t="t" r="r" b="b"/>
              <a:pathLst>
                <a:path w="82550" h="1719580">
                  <a:moveTo>
                    <a:pt x="82296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82296" y="1719072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08759"/>
              <a:ext cx="82550" cy="1719580"/>
            </a:xfrm>
            <a:custGeom>
              <a:avLst/>
              <a:gdLst/>
              <a:ahLst/>
              <a:cxnLst/>
              <a:rect l="l" t="t" r="r" b="b"/>
              <a:pathLst>
                <a:path w="82550" h="1719580">
                  <a:moveTo>
                    <a:pt x="0" y="1719072"/>
                  </a:moveTo>
                  <a:lnTo>
                    <a:pt x="82296" y="1719072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12700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9363" y="1594647"/>
            <a:ext cx="4065270" cy="13601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b="1" spc="-30" dirty="0">
                <a:solidFill>
                  <a:srgbClr val="E8E8E8"/>
                </a:solidFill>
                <a:latin typeface="Yu Gothic UI"/>
                <a:cs typeface="Yu Gothic UI"/>
              </a:rPr>
              <a:t>Open</a:t>
            </a:r>
            <a:r>
              <a:rPr sz="1800" b="1" spc="-45" dirty="0">
                <a:solidFill>
                  <a:srgbClr val="E8E8E8"/>
                </a:solidFill>
                <a:latin typeface="Yu Gothic UI"/>
                <a:cs typeface="Yu Gothic UI"/>
              </a:rPr>
              <a:t> </a:t>
            </a:r>
            <a:r>
              <a:rPr sz="1800" b="1" dirty="0">
                <a:solidFill>
                  <a:srgbClr val="E8E8E8"/>
                </a:solidFill>
                <a:latin typeface="Yu Gothic UI"/>
                <a:cs typeface="Yu Gothic UI"/>
              </a:rPr>
              <a:t>System</a:t>
            </a:r>
            <a:r>
              <a:rPr sz="1800" b="1" spc="-30" dirty="0">
                <a:solidFill>
                  <a:srgbClr val="E8E8E8"/>
                </a:solidFill>
                <a:latin typeface="Yu Gothic UI"/>
                <a:cs typeface="Yu Gothic UI"/>
              </a:rPr>
              <a:t> </a:t>
            </a:r>
            <a:r>
              <a:rPr sz="1800" b="1" spc="-10" dirty="0">
                <a:solidFill>
                  <a:srgbClr val="E8E8E8"/>
                </a:solidFill>
                <a:latin typeface="Yu Gothic UI"/>
                <a:cs typeface="Yu Gothic UI"/>
              </a:rPr>
              <a:t>Authentication</a:t>
            </a:r>
            <a:endParaRPr sz="1800">
              <a:latin typeface="Yu Gothic UI"/>
              <a:cs typeface="Yu Gothic UI"/>
            </a:endParaRPr>
          </a:p>
          <a:p>
            <a:pPr marL="12700">
              <a:lnSpc>
                <a:spcPts val="1670"/>
              </a:lnSpc>
              <a:spcBef>
                <a:spcPts val="200"/>
              </a:spcBef>
            </a:pPr>
            <a:r>
              <a:rPr sz="1400" spc="-60" dirty="0">
                <a:solidFill>
                  <a:srgbClr val="89ABBE"/>
                </a:solidFill>
                <a:latin typeface="Segoe UI Symbol"/>
                <a:cs typeface="Segoe UI Symbol"/>
              </a:rPr>
              <a:t>2-</a:t>
            </a:r>
            <a:r>
              <a:rPr sz="1400" spc="-2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40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89ABBE"/>
                </a:solidFill>
                <a:latin typeface="Segoe UI Symbol"/>
                <a:cs typeface="Segoe UI Symbol"/>
              </a:rPr>
              <a:t>exchange</a:t>
            </a:r>
            <a:r>
              <a:rPr sz="14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12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4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89ABBE"/>
                </a:solidFill>
                <a:latin typeface="Segoe UI Symbol"/>
                <a:cs typeface="Segoe UI Symbol"/>
              </a:rPr>
              <a:t>no</a:t>
            </a:r>
            <a:r>
              <a:rPr sz="140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89ABBE"/>
                </a:solidFill>
                <a:latin typeface="Segoe UI Symbol"/>
                <a:cs typeface="Segoe UI Symbol"/>
              </a:rPr>
              <a:t>credentials</a:t>
            </a:r>
            <a:r>
              <a:rPr sz="140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89ABBE"/>
                </a:solidFill>
                <a:latin typeface="Segoe UI Symbol"/>
                <a:cs typeface="Segoe UI Symbol"/>
              </a:rPr>
              <a:t>whatsoever</a:t>
            </a:r>
            <a:endParaRPr sz="1400">
              <a:latin typeface="Segoe UI Symbol"/>
              <a:cs typeface="Segoe UI Symbol"/>
            </a:endParaRPr>
          </a:p>
          <a:p>
            <a:pPr marL="12700">
              <a:lnSpc>
                <a:spcPts val="1545"/>
              </a:lnSpc>
              <a:tabLst>
                <a:tab pos="1392555" algn="l"/>
                <a:tab pos="2769235" algn="l"/>
              </a:tabLst>
            </a:pPr>
            <a:r>
              <a:rPr sz="1300" dirty="0">
                <a:solidFill>
                  <a:srgbClr val="E8E8E8"/>
                </a:solidFill>
                <a:latin typeface="Cambria Math"/>
                <a:cs typeface="Cambria Math"/>
              </a:rPr>
              <a:t>①</a:t>
            </a:r>
            <a:r>
              <a:rPr sz="1300" spc="49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3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→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 AP: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Auth</a:t>
            </a:r>
            <a:r>
              <a:rPr sz="130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Request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(Algorithm=0,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Sequence=1)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1392555" algn="l"/>
              </a:tabLst>
            </a:pPr>
            <a:r>
              <a:rPr sz="1300" dirty="0">
                <a:solidFill>
                  <a:srgbClr val="E8E8E8"/>
                </a:solidFill>
                <a:latin typeface="Cambria Math"/>
                <a:cs typeface="Cambria Math"/>
              </a:rPr>
              <a:t>②</a:t>
            </a:r>
            <a:r>
              <a:rPr sz="1300" spc="49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AP</a:t>
            </a:r>
            <a:r>
              <a:rPr sz="130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→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Auth</a:t>
            </a:r>
            <a:r>
              <a:rPr sz="1300" spc="-6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Response</a:t>
            </a:r>
            <a:r>
              <a:rPr sz="1300" spc="-5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(Algorithm=0,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2178050" algn="l"/>
              </a:tabLst>
            </a:pP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Sequence=2,</a:t>
            </a:r>
            <a:r>
              <a:rPr sz="1300" spc="-6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Status=0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✓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74589" y="1557654"/>
            <a:ext cx="3210560" cy="158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accepts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ALL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unconditionally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no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key,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password,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identity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check.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Zero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own.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Legitimately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behind captive portals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where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application-layer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voucher,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certificate,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login)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association.</a:t>
            </a:r>
            <a:endParaRPr sz="1300">
              <a:latin typeface="Segoe UI Symbol"/>
              <a:cs typeface="Segoe UI Symbol"/>
            </a:endParaRPr>
          </a:p>
          <a:p>
            <a:pPr marL="12700" marR="272415">
              <a:lnSpc>
                <a:spcPts val="1450"/>
              </a:lnSpc>
              <a:spcBef>
                <a:spcPts val="45"/>
              </a:spcBef>
            </a:pPr>
            <a:r>
              <a:rPr sz="1200" i="1" spc="-480" dirty="0">
                <a:solidFill>
                  <a:srgbClr val="89ABBE"/>
                </a:solidFill>
                <a:latin typeface="Arial"/>
                <a:cs typeface="Arial"/>
              </a:rPr>
              <a:t>→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89ABBE"/>
                </a:solidFill>
                <a:latin typeface="Arial"/>
                <a:cs typeface="Arial"/>
              </a:rPr>
              <a:t>Use</a:t>
            </a:r>
            <a:r>
              <a:rPr sz="12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only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89ABBE"/>
                </a:solidFill>
                <a:latin typeface="Arial"/>
                <a:cs typeface="Arial"/>
              </a:rPr>
              <a:t>guest</a:t>
            </a:r>
            <a:r>
              <a:rPr sz="12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portals</a:t>
            </a:r>
            <a:r>
              <a:rPr sz="12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with</a:t>
            </a:r>
            <a:r>
              <a:rPr sz="12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application- </a:t>
            </a:r>
            <a:r>
              <a:rPr sz="1200" i="1" spc="-25" dirty="0">
                <a:solidFill>
                  <a:srgbClr val="89ABBE"/>
                </a:solidFill>
                <a:latin typeface="Arial"/>
                <a:cs typeface="Arial"/>
              </a:rPr>
              <a:t>layer</a:t>
            </a:r>
            <a:r>
              <a:rPr sz="12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control.</a:t>
            </a:r>
            <a:r>
              <a:rPr sz="1200" i="1" spc="-2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89ABBE"/>
                </a:solidFill>
                <a:latin typeface="Arial"/>
                <a:cs typeface="Arial"/>
              </a:rPr>
              <a:t>Never</a:t>
            </a:r>
            <a:r>
              <a:rPr sz="12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200" i="1" spc="-4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corporate</a:t>
            </a:r>
            <a:r>
              <a:rPr sz="1200" i="1" spc="-3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access.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6971" y="3293378"/>
            <a:ext cx="8766175" cy="1850389"/>
            <a:chOff x="156971" y="3293378"/>
            <a:chExt cx="8766175" cy="1850389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293378"/>
              <a:ext cx="8766048" cy="185012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2335" y="3401566"/>
              <a:ext cx="8422005" cy="1682750"/>
            </a:xfrm>
            <a:custGeom>
              <a:avLst/>
              <a:gdLst/>
              <a:ahLst/>
              <a:cxnLst/>
              <a:rect l="l" t="t" r="r" b="b"/>
              <a:pathLst>
                <a:path w="8422005" h="1682750">
                  <a:moveTo>
                    <a:pt x="0" y="1682495"/>
                  </a:moveTo>
                  <a:lnTo>
                    <a:pt x="8421624" y="1682495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39" y="3401566"/>
              <a:ext cx="8503920" cy="1682750"/>
            </a:xfrm>
            <a:custGeom>
              <a:avLst/>
              <a:gdLst/>
              <a:ahLst/>
              <a:cxnLst/>
              <a:rect l="l" t="t" r="r" b="b"/>
              <a:pathLst>
                <a:path w="8503920" h="1682750">
                  <a:moveTo>
                    <a:pt x="0" y="1682495"/>
                  </a:moveTo>
                  <a:lnTo>
                    <a:pt x="8503920" y="1682495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039" y="3401566"/>
              <a:ext cx="82550" cy="1682750"/>
            </a:xfrm>
            <a:custGeom>
              <a:avLst/>
              <a:gdLst/>
              <a:ahLst/>
              <a:cxnLst/>
              <a:rect l="l" t="t" r="r" b="b"/>
              <a:pathLst>
                <a:path w="82550" h="1682750">
                  <a:moveTo>
                    <a:pt x="82296" y="0"/>
                  </a:moveTo>
                  <a:lnTo>
                    <a:pt x="0" y="0"/>
                  </a:lnTo>
                  <a:lnTo>
                    <a:pt x="0" y="1682495"/>
                  </a:lnTo>
                  <a:lnTo>
                    <a:pt x="82296" y="1682495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3401566"/>
              <a:ext cx="82550" cy="1682750"/>
            </a:xfrm>
            <a:custGeom>
              <a:avLst/>
              <a:gdLst/>
              <a:ahLst/>
              <a:cxnLst/>
              <a:rect l="l" t="t" r="r" b="b"/>
              <a:pathLst>
                <a:path w="82550" h="1682750">
                  <a:moveTo>
                    <a:pt x="0" y="1682495"/>
                  </a:moveTo>
                  <a:lnTo>
                    <a:pt x="82296" y="1682495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9363" y="3508324"/>
            <a:ext cx="4603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600" b="1" spc="-1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600" b="1" spc="-1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Authentication</a:t>
            </a:r>
            <a:r>
              <a:rPr sz="1600" b="1" spc="229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(WEP</a:t>
            </a:r>
            <a:r>
              <a:rPr sz="1600" b="1" spc="-10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only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50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6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80" dirty="0">
                <a:solidFill>
                  <a:srgbClr val="C0392B"/>
                </a:solidFill>
                <a:latin typeface="Yu Gothic UI"/>
                <a:cs typeface="Yu Gothic UI"/>
              </a:rPr>
              <a:t>4</a:t>
            </a:r>
            <a:r>
              <a:rPr sz="1600" b="1" spc="-1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frames)</a:t>
            </a:r>
            <a:endParaRPr sz="1600">
              <a:latin typeface="Yu Gothic UI"/>
              <a:cs typeface="Yu Gothic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86534" y="3950919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Auth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Request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Challenge</a:t>
            </a:r>
            <a:r>
              <a:rPr sz="1200" spc="-6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Text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5381" y="3950919"/>
            <a:ext cx="2046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(Algorithm=1,</a:t>
            </a:r>
            <a:r>
              <a:rPr sz="1200" spc="-10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Seq=1) (128-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</a:t>
            </a:r>
            <a:r>
              <a:rPr sz="1200" spc="1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PLAINTEXT)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6534" y="4316679"/>
            <a:ext cx="3247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2930" algn="l"/>
              </a:tabLst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Challenge</a:t>
            </a:r>
            <a:r>
              <a:rPr sz="1200" spc="-6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Response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(128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bytes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RC4-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9363" y="3950919"/>
            <a:ext cx="11271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①</a:t>
            </a:r>
            <a:r>
              <a:rPr sz="1200" spc="434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200" spc="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→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AP: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②</a:t>
            </a:r>
            <a:r>
              <a:rPr sz="1200" spc="44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AP →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③</a:t>
            </a:r>
            <a:r>
              <a:rPr sz="1200" spc="434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200" spc="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→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AP: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encrypted)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④</a:t>
            </a:r>
            <a:r>
              <a:rPr sz="1200" spc="44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AP →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86534" y="4682744"/>
            <a:ext cx="1586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Success</a:t>
            </a:r>
            <a:r>
              <a:rPr sz="120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/</a:t>
            </a:r>
            <a:r>
              <a:rPr sz="120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Failure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70321" y="3322535"/>
            <a:ext cx="3322954" cy="1530985"/>
            <a:chOff x="5370321" y="3322535"/>
            <a:chExt cx="3322954" cy="1530985"/>
          </a:xfrm>
        </p:grpSpPr>
        <p:sp>
          <p:nvSpPr>
            <p:cNvPr id="31" name="object 31"/>
            <p:cNvSpPr/>
            <p:nvPr/>
          </p:nvSpPr>
          <p:spPr>
            <a:xfrm>
              <a:off x="5376671" y="3328885"/>
              <a:ext cx="3310254" cy="1518285"/>
            </a:xfrm>
            <a:custGeom>
              <a:avLst/>
              <a:gdLst/>
              <a:ahLst/>
              <a:cxnLst/>
              <a:rect l="l" t="t" r="r" b="b"/>
              <a:pathLst>
                <a:path w="3310254" h="1518285">
                  <a:moveTo>
                    <a:pt x="3310128" y="0"/>
                  </a:moveTo>
                  <a:lnTo>
                    <a:pt x="0" y="0"/>
                  </a:lnTo>
                  <a:lnTo>
                    <a:pt x="0" y="1517903"/>
                  </a:lnTo>
                  <a:lnTo>
                    <a:pt x="3310128" y="1517903"/>
                  </a:lnTo>
                  <a:lnTo>
                    <a:pt x="3310128" y="0"/>
                  </a:lnTo>
                  <a:close/>
                </a:path>
              </a:pathLst>
            </a:custGeom>
            <a:solidFill>
              <a:srgbClr val="3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76671" y="3328885"/>
              <a:ext cx="3310254" cy="1518285"/>
            </a:xfrm>
            <a:custGeom>
              <a:avLst/>
              <a:gdLst/>
              <a:ahLst/>
              <a:cxnLst/>
              <a:rect l="l" t="t" r="r" b="b"/>
              <a:pathLst>
                <a:path w="3310254" h="1518285">
                  <a:moveTo>
                    <a:pt x="0" y="1517903"/>
                  </a:moveTo>
                  <a:lnTo>
                    <a:pt x="3310128" y="1517903"/>
                  </a:lnTo>
                  <a:lnTo>
                    <a:pt x="3310128" y="0"/>
                  </a:lnTo>
                  <a:lnTo>
                    <a:pt x="0" y="0"/>
                  </a:lnTo>
                  <a:lnTo>
                    <a:pt x="0" y="1517903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3915" y="3390900"/>
              <a:ext cx="340613" cy="34823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511165" y="3346424"/>
            <a:ext cx="2933065" cy="14763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730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CRITICAL</a:t>
            </a:r>
            <a:r>
              <a:rPr sz="1300" b="1" spc="-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PARADOX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②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③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RC4(same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plaintext)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②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③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128-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byte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exposed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forges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Auth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WITHOUT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SAFER.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5384"/>
            <a:ext cx="8745221" cy="9423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305" dirty="0"/>
              <a:t> </a:t>
            </a:r>
            <a:r>
              <a:rPr spc="-265" dirty="0"/>
              <a:t>Authentication</a:t>
            </a:r>
            <a:r>
              <a:rPr spc="-250" dirty="0"/>
              <a:t> </a:t>
            </a:r>
            <a:r>
              <a:rPr lang="en-US" spc="-250" dirty="0"/>
              <a:t>:</a:t>
            </a:r>
            <a:r>
              <a:rPr spc="-295" dirty="0"/>
              <a:t> </a:t>
            </a:r>
            <a:r>
              <a:rPr spc="-290" dirty="0"/>
              <a:t>Part</a:t>
            </a:r>
            <a:r>
              <a:rPr spc="-295" dirty="0"/>
              <a:t> </a:t>
            </a:r>
            <a:r>
              <a:rPr spc="-305" dirty="0"/>
              <a:t>2:</a:t>
            </a:r>
            <a:r>
              <a:rPr spc="-295" dirty="0"/>
              <a:t> </a:t>
            </a:r>
            <a:r>
              <a:rPr spc="-225" dirty="0"/>
              <a:t>PSK,</a:t>
            </a:r>
            <a:r>
              <a:rPr spc="-260" dirty="0"/>
              <a:t> </a:t>
            </a:r>
            <a:r>
              <a:rPr spc="-270" dirty="0"/>
              <a:t>802.1X</a:t>
            </a:r>
            <a:r>
              <a:rPr spc="-280" dirty="0"/>
              <a:t> </a:t>
            </a:r>
            <a:r>
              <a:rPr spc="-595" dirty="0"/>
              <a:t>/</a:t>
            </a:r>
            <a:r>
              <a:rPr spc="-290" dirty="0"/>
              <a:t> </a:t>
            </a:r>
            <a:r>
              <a:rPr spc="-90" dirty="0"/>
              <a:t>EAP </a:t>
            </a:r>
            <a:r>
              <a:rPr spc="400" dirty="0"/>
              <a:t>s</a:t>
            </a:r>
            <a:r>
              <a:rPr spc="-315" dirty="0"/>
              <a:t> </a:t>
            </a:r>
            <a:r>
              <a:rPr spc="-25" dirty="0"/>
              <a:t>SAE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56971" y="871474"/>
            <a:ext cx="4422775" cy="2336800"/>
            <a:chOff x="156971" y="871474"/>
            <a:chExt cx="4422775" cy="2336800"/>
          </a:xfrm>
        </p:grpSpPr>
        <p:sp>
          <p:nvSpPr>
            <p:cNvPr id="7" name="object 7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915924"/>
              <a:ext cx="4422648" cy="22920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2335" y="1024128"/>
              <a:ext cx="4078604" cy="2030095"/>
            </a:xfrm>
            <a:custGeom>
              <a:avLst/>
              <a:gdLst/>
              <a:ahLst/>
              <a:cxnLst/>
              <a:rect l="l" t="t" r="r" b="b"/>
              <a:pathLst>
                <a:path w="4078604" h="2030095">
                  <a:moveTo>
                    <a:pt x="0" y="2029968"/>
                  </a:moveTo>
                  <a:lnTo>
                    <a:pt x="4078224" y="202996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39" y="1024128"/>
              <a:ext cx="4160520" cy="2030095"/>
            </a:xfrm>
            <a:custGeom>
              <a:avLst/>
              <a:gdLst/>
              <a:ahLst/>
              <a:cxnLst/>
              <a:rect l="l" t="t" r="r" b="b"/>
              <a:pathLst>
                <a:path w="4160520" h="2030095">
                  <a:moveTo>
                    <a:pt x="0" y="2029968"/>
                  </a:moveTo>
                  <a:lnTo>
                    <a:pt x="4160520" y="202996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82296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82296" y="20299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0" y="2029968"/>
                  </a:moveTo>
                  <a:lnTo>
                    <a:pt x="82296" y="20299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9363" y="1035811"/>
            <a:ext cx="3947160" cy="136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585"/>
              </a:lnSpc>
              <a:spcBef>
                <a:spcPts val="100"/>
              </a:spcBef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PSK</a:t>
            </a:r>
            <a:r>
              <a:rPr sz="15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5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Pre-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Shared</a:t>
            </a:r>
            <a:r>
              <a:rPr sz="1500" b="1" spc="-10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Key</a:t>
            </a:r>
            <a:r>
              <a:rPr sz="1500" b="1" spc="29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70" dirty="0">
                <a:solidFill>
                  <a:srgbClr val="E97031"/>
                </a:solidFill>
                <a:latin typeface="Yu Gothic UI"/>
                <a:cs typeface="Yu Gothic UI"/>
              </a:rPr>
              <a:t>(WPA/WPA2-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Personal)</a:t>
            </a:r>
            <a:endParaRPr sz="1500">
              <a:latin typeface="Yu Gothic UI"/>
              <a:cs typeface="Yu Gothic UI"/>
            </a:endParaRPr>
          </a:p>
          <a:p>
            <a:pPr marL="12700" algn="just">
              <a:lnSpc>
                <a:spcPts val="1405"/>
              </a:lnSpc>
            </a:pP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(8–63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ASCII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chars)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converted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256-</a:t>
            </a:r>
            <a:endParaRPr sz="1350">
              <a:latin typeface="Segoe UI Symbol"/>
              <a:cs typeface="Segoe UI Symbol"/>
            </a:endParaRPr>
          </a:p>
          <a:p>
            <a:pPr marL="12700" marR="434975" algn="just">
              <a:lnSpc>
                <a:spcPct val="100000"/>
              </a:lnSpc>
            </a:pP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PBKDF2-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SHA1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4,096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 iterations. 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drives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per-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3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keys.</a:t>
            </a:r>
            <a:endParaRPr sz="1350">
              <a:latin typeface="Segoe UI Symbol"/>
              <a:cs typeface="Segoe UI Symbol"/>
            </a:endParaRPr>
          </a:p>
          <a:p>
            <a:pPr marL="12700" algn="just">
              <a:lnSpc>
                <a:spcPts val="1150"/>
              </a:lnSpc>
            </a:pP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25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EFC040"/>
                </a:solidFill>
                <a:latin typeface="Courier New"/>
                <a:cs typeface="Courier New"/>
              </a:rPr>
              <a:t>PBKDF2-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SHA1(</a:t>
            </a:r>
            <a:r>
              <a:rPr sz="125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passphrase,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EFC040"/>
                </a:solidFill>
                <a:latin typeface="Courier New"/>
                <a:cs typeface="Courier New"/>
              </a:rPr>
              <a:t>SSID,</a:t>
            </a:r>
            <a:endParaRPr sz="125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4096,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32B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)</a:t>
            </a:r>
            <a:endParaRPr sz="125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051" y="2366772"/>
            <a:ext cx="328422" cy="33451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99008" y="2397963"/>
            <a:ext cx="377571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Handshake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captured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passively</a:t>
            </a:r>
            <a:r>
              <a:rPr sz="12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97031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Hashcat</a:t>
            </a:r>
            <a:r>
              <a:rPr sz="12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97031"/>
                </a:solidFill>
                <a:latin typeface="Segoe UI Symbol"/>
                <a:cs typeface="Segoe UI Symbol"/>
              </a:rPr>
              <a:t>offline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crack.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3" y="2587498"/>
            <a:ext cx="37496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335" dirty="0">
                <a:solidFill>
                  <a:srgbClr val="E97031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97031"/>
                </a:solidFill>
                <a:latin typeface="Segoe UI Symbol"/>
                <a:cs typeface="Segoe UI Symbol"/>
              </a:rPr>
              <a:t>Home/SOHO</a:t>
            </a:r>
            <a:r>
              <a:rPr sz="12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only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97031"/>
                </a:solidFill>
                <a:latin typeface="Segoe UI Symbol"/>
                <a:cs typeface="Segoe UI Symbol"/>
              </a:rPr>
              <a:t>with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80" dirty="0">
                <a:solidFill>
                  <a:srgbClr val="E97031"/>
                </a:solidFill>
                <a:latin typeface="Segoe UI Symbol"/>
                <a:cs typeface="Segoe UI Symbol"/>
              </a:rPr>
              <a:t>20+</a:t>
            </a:r>
            <a:r>
              <a:rPr sz="1250" spc="-9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char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random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passphrase.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NOT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enterprise</a:t>
            </a:r>
            <a:r>
              <a:rPr sz="1250" spc="-8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97031"/>
                </a:solidFill>
                <a:latin typeface="Segoe UI Symbol"/>
                <a:cs typeface="Segoe UI Symbol"/>
              </a:rPr>
              <a:t>—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one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leak</a:t>
            </a:r>
            <a:r>
              <a:rPr sz="12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exposes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key</a:t>
            </a:r>
            <a:r>
              <a:rPr sz="1250" spc="-8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97031"/>
                </a:solidFill>
                <a:latin typeface="Segoe UI Symbol"/>
                <a:cs typeface="Segoe UI Symbol"/>
              </a:rPr>
              <a:t>for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ALL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users.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67784" y="915924"/>
            <a:ext cx="4782820" cy="2292350"/>
            <a:chOff x="4367784" y="915924"/>
            <a:chExt cx="4782820" cy="22923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7784" y="915924"/>
              <a:ext cx="4776216" cy="22920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30598" y="1024128"/>
              <a:ext cx="4613910" cy="2030095"/>
            </a:xfrm>
            <a:custGeom>
              <a:avLst/>
              <a:gdLst/>
              <a:ahLst/>
              <a:cxnLst/>
              <a:rect l="l" t="t" r="r" b="b"/>
              <a:pathLst>
                <a:path w="4613909" h="2030095">
                  <a:moveTo>
                    <a:pt x="4613402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4613402" y="2029968"/>
                  </a:lnTo>
                  <a:lnTo>
                    <a:pt x="4613402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30598" y="1024128"/>
              <a:ext cx="4613910" cy="2030095"/>
            </a:xfrm>
            <a:custGeom>
              <a:avLst/>
              <a:gdLst/>
              <a:ahLst/>
              <a:cxnLst/>
              <a:rect l="l" t="t" r="r" b="b"/>
              <a:pathLst>
                <a:path w="4613909" h="2030095">
                  <a:moveTo>
                    <a:pt x="4613402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4613402" y="2029968"/>
                  </a:lnTo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60240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82296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82296" y="20299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60240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0" y="2029968"/>
                  </a:moveTo>
                  <a:lnTo>
                    <a:pt x="82296" y="20299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05782" y="1035811"/>
            <a:ext cx="4140835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585"/>
              </a:lnSpc>
              <a:spcBef>
                <a:spcPts val="100"/>
              </a:spcBef>
            </a:pP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802.1X</a:t>
            </a:r>
            <a:r>
              <a:rPr sz="15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5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EAP</a:t>
            </a:r>
            <a:r>
              <a:rPr sz="1500" b="1" spc="-7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5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500" b="1" spc="29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86B23"/>
                </a:solidFill>
                <a:latin typeface="Yu Gothic UI"/>
                <a:cs typeface="Yu Gothic UI"/>
              </a:rPr>
              <a:t>(WPA2/WPA3)</a:t>
            </a:r>
            <a:endParaRPr sz="1500">
              <a:latin typeface="Yu Gothic UI"/>
              <a:cs typeface="Yu Gothic UI"/>
            </a:endParaRPr>
          </a:p>
          <a:p>
            <a:pPr marL="38100">
              <a:lnSpc>
                <a:spcPts val="1405"/>
              </a:lnSpc>
            </a:pP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Port-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3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6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3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(authenticator)</a:t>
            </a:r>
            <a:endParaRPr sz="1350">
              <a:latin typeface="Segoe UI Symbol"/>
              <a:cs typeface="Segoe UI Symbol"/>
            </a:endParaRPr>
          </a:p>
          <a:p>
            <a:pPr marL="38100" marR="337185">
              <a:lnSpc>
                <a:spcPct val="100000"/>
              </a:lnSpc>
            </a:pP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relays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(supplicant)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server.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derived 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—</a:t>
            </a:r>
            <a:endParaRPr sz="1350">
              <a:latin typeface="Segoe UI Symbol"/>
              <a:cs typeface="Segoe UI Symbol"/>
            </a:endParaRPr>
          </a:p>
          <a:p>
            <a:pPr marL="38100">
              <a:lnSpc>
                <a:spcPts val="1614"/>
              </a:lnSpc>
              <a:spcBef>
                <a:spcPts val="760"/>
              </a:spcBef>
            </a:pPr>
            <a:r>
              <a:rPr sz="2025" spc="-3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2025" spc="-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2025" spc="-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2025" spc="-6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o</a:t>
            </a:r>
            <a:r>
              <a:rPr sz="2025" spc="-98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2025" spc="-101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200" spc="-12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-75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3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2025" spc="-98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00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2025" spc="-23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4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6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99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39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644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2025" spc="-119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484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315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3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2025" spc="-3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7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-69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4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2025" spc="-101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200" spc="3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2025" spc="-83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</a:t>
            </a:r>
            <a:r>
              <a:rPr sz="1200" spc="-409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75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101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li</a:t>
            </a:r>
            <a:r>
              <a:rPr sz="1200" spc="-54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2025" spc="-17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570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2025" spc="-27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290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17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.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server).</a:t>
            </a:r>
            <a:r>
              <a:rPr sz="1200" spc="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Strongest</a:t>
            </a:r>
            <a:r>
              <a:rPr sz="1200" spc="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endParaRPr sz="1200">
              <a:latin typeface="Segoe UI Symbol"/>
              <a:cs typeface="Segoe UI Symbol"/>
            </a:endParaRPr>
          </a:p>
          <a:p>
            <a:pPr marL="38100">
              <a:lnSpc>
                <a:spcPts val="1435"/>
              </a:lnSpc>
            </a:pPr>
            <a:r>
              <a:rPr sz="1800" b="1" spc="-75" baseline="20833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baseline="20833" dirty="0">
                <a:solidFill>
                  <a:srgbClr val="186B23"/>
                </a:solidFill>
                <a:latin typeface="Yu Gothic UI"/>
                <a:cs typeface="Yu Gothic UI"/>
              </a:rPr>
              <a:t>TLS:</a:t>
            </a:r>
            <a:r>
              <a:rPr sz="1800" b="1" spc="209" baseline="20833" dirty="0">
                <a:solidFill>
                  <a:srgbClr val="186B23"/>
                </a:solidFill>
                <a:latin typeface="Yu Gothic UI"/>
                <a:cs typeface="Yu Gothic UI"/>
              </a:rPr>
              <a:t> 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crack.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1182" y="2274189"/>
            <a:ext cx="444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2630" algn="l"/>
              </a:tabLst>
            </a:pPr>
            <a:r>
              <a:rPr sz="1200" b="1" spc="-10" dirty="0">
                <a:solidFill>
                  <a:srgbClr val="186B23"/>
                </a:solidFill>
                <a:latin typeface="Yu Gothic UI"/>
                <a:cs typeface="Yu Gothic UI"/>
              </a:rPr>
              <a:t>PEAP: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	</a:t>
            </a:r>
            <a:r>
              <a:rPr sz="1800" spc="-15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800" spc="-6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r>
              <a:rPr sz="1800" spc="-5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only.</a:t>
            </a:r>
            <a:r>
              <a:rPr sz="1800" spc="-6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800" spc="-11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inside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TLS.</a:t>
            </a:r>
            <a:r>
              <a:rPr sz="1800" spc="-11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Vulnerable if</a:t>
            </a:r>
            <a:r>
              <a:rPr sz="1800" spc="-6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endParaRPr sz="1800" baseline="4629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05782" y="2447925"/>
            <a:ext cx="16852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75" baseline="-34722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baseline="-34722" dirty="0">
                <a:solidFill>
                  <a:srgbClr val="186B23"/>
                </a:solidFill>
                <a:latin typeface="Yu Gothic UI"/>
                <a:cs typeface="Yu Gothic UI"/>
              </a:rPr>
              <a:t>TTLS:</a:t>
            </a:r>
            <a:r>
              <a:rPr sz="1800" b="1" spc="-127" baseline="-34722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validated.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1746" y="2558288"/>
            <a:ext cx="3110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Like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PEAP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supports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multiple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inner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methods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05782" y="2742692"/>
            <a:ext cx="2395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2" baseline="-43981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spc="-15" baseline="-43981" dirty="0">
                <a:solidFill>
                  <a:srgbClr val="186B23"/>
                </a:solidFill>
                <a:latin typeface="Yu Gothic UI"/>
                <a:cs typeface="Yu Gothic UI"/>
              </a:rPr>
              <a:t>FAST: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(PAP/CHAP/MSCHAPv2).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0735" y="2924048"/>
            <a:ext cx="3667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Cisco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PAC-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based.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certificates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needed.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Simpler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dply.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6971" y="3055632"/>
            <a:ext cx="8766175" cy="2087880"/>
            <a:chOff x="156971" y="3055632"/>
            <a:chExt cx="8766175" cy="208788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3055632"/>
              <a:ext cx="8766048" cy="208786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2335" y="3163822"/>
              <a:ext cx="8422005" cy="1938655"/>
            </a:xfrm>
            <a:custGeom>
              <a:avLst/>
              <a:gdLst/>
              <a:ahLst/>
              <a:cxnLst/>
              <a:rect l="l" t="t" r="r" b="b"/>
              <a:pathLst>
                <a:path w="8422005" h="1938654">
                  <a:moveTo>
                    <a:pt x="0" y="1938527"/>
                  </a:moveTo>
                  <a:lnTo>
                    <a:pt x="8421624" y="1938527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039" y="3163822"/>
              <a:ext cx="8503920" cy="1938655"/>
            </a:xfrm>
            <a:custGeom>
              <a:avLst/>
              <a:gdLst/>
              <a:ahLst/>
              <a:cxnLst/>
              <a:rect l="l" t="t" r="r" b="b"/>
              <a:pathLst>
                <a:path w="8503920" h="1938654">
                  <a:moveTo>
                    <a:pt x="0" y="1938527"/>
                  </a:moveTo>
                  <a:lnTo>
                    <a:pt x="8503920" y="1938527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39" y="3163822"/>
              <a:ext cx="82550" cy="1938655"/>
            </a:xfrm>
            <a:custGeom>
              <a:avLst/>
              <a:gdLst/>
              <a:ahLst/>
              <a:cxnLst/>
              <a:rect l="l" t="t" r="r" b="b"/>
              <a:pathLst>
                <a:path w="82550" h="1938654">
                  <a:moveTo>
                    <a:pt x="82296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82296" y="193852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0039" y="3163822"/>
              <a:ext cx="82550" cy="1938655"/>
            </a:xfrm>
            <a:custGeom>
              <a:avLst/>
              <a:gdLst/>
              <a:ahLst/>
              <a:cxnLst/>
              <a:rect l="l" t="t" r="r" b="b"/>
              <a:pathLst>
                <a:path w="82550" h="1938654">
                  <a:moveTo>
                    <a:pt x="0" y="1938527"/>
                  </a:moveTo>
                  <a:lnTo>
                    <a:pt x="82296" y="193852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9363" y="3200780"/>
            <a:ext cx="489585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SAE</a:t>
            </a:r>
            <a:r>
              <a:rPr sz="1500" b="1" spc="-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r>
              <a:rPr sz="1500" b="1" spc="-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Simultaneous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 Authentication</a:t>
            </a:r>
            <a:r>
              <a:rPr sz="1500" b="1" spc="-35" dirty="0">
                <a:solidFill>
                  <a:srgbClr val="155F82"/>
                </a:solidFill>
                <a:latin typeface="Yu Gothic UI"/>
                <a:cs typeface="Yu Gothic UI"/>
              </a:rPr>
              <a:t> of</a:t>
            </a:r>
            <a:r>
              <a:rPr sz="1500" b="1" spc="-2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Equals</a:t>
            </a:r>
            <a:r>
              <a:rPr sz="1500" b="1" spc="39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(WPA3-</a:t>
            </a:r>
            <a:endParaRPr sz="15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Personal)</a:t>
            </a:r>
            <a:r>
              <a:rPr sz="1500" b="1" spc="21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|</a:t>
            </a:r>
            <a:r>
              <a:rPr sz="1500" b="1" spc="23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35" dirty="0">
                <a:solidFill>
                  <a:srgbClr val="155F82"/>
                </a:solidFill>
                <a:latin typeface="Yu Gothic UI"/>
                <a:cs typeface="Yu Gothic UI"/>
              </a:rPr>
              <a:t>Dragonfly</a:t>
            </a:r>
            <a:r>
              <a:rPr sz="1500" b="1" spc="-9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Key</a:t>
            </a:r>
            <a:r>
              <a:rPr sz="1500" b="1" spc="-114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Exchange</a:t>
            </a:r>
            <a:endParaRPr sz="15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knowledge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neither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side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passphrase,</a:t>
            </a:r>
            <a:r>
              <a:rPr sz="13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hash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it,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value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air.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Each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produces</a:t>
            </a: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unique,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fresh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PMK.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attempt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real-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time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 dictionary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mathematically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impossible,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E8E8E8"/>
                </a:solidFill>
                <a:latin typeface="Segoe UI Symbol"/>
                <a:cs typeface="Segoe UI Symbol"/>
              </a:rPr>
              <a:t>as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 cannot</a:t>
            </a:r>
            <a:r>
              <a:rPr sz="13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accumulate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material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analyse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independently.</a:t>
            </a:r>
            <a:endParaRPr sz="135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32703" y="3255264"/>
            <a:ext cx="3054350" cy="1774189"/>
          </a:xfrm>
          <a:prstGeom prst="rect">
            <a:avLst/>
          </a:prstGeom>
          <a:solidFill>
            <a:srgbClr val="092A1F"/>
          </a:solidFill>
          <a:ln w="12700">
            <a:solidFill>
              <a:srgbClr val="155F82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334645" indent="-205740">
              <a:lnSpc>
                <a:spcPct val="100000"/>
              </a:lnSpc>
              <a:spcBef>
                <a:spcPts val="935"/>
              </a:spcBef>
              <a:buChar char="✓"/>
              <a:tabLst>
                <a:tab pos="334645" algn="l"/>
              </a:tabLst>
            </a:pP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Current</a:t>
            </a:r>
            <a:r>
              <a:rPr sz="1400" b="1" spc="-2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Best</a:t>
            </a:r>
            <a:r>
              <a:rPr sz="1400" b="1" spc="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55F82"/>
                </a:solidFill>
                <a:latin typeface="Yu Gothic UI"/>
                <a:cs typeface="Yu Gothic UI"/>
              </a:rPr>
              <a:t>Practice</a:t>
            </a:r>
            <a:endParaRPr sz="1400">
              <a:latin typeface="Yu Gothic UI"/>
              <a:cs typeface="Yu Gothic UI"/>
            </a:endParaRPr>
          </a:p>
          <a:p>
            <a:pPr marL="128905" marR="316230" algn="just">
              <a:lnSpc>
                <a:spcPct val="100000"/>
              </a:lnSpc>
              <a:spcBef>
                <a:spcPts val="470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Eliminates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entirely.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Passwords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shorter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WPA2-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secure.</a:t>
            </a:r>
            <a:endParaRPr sz="1250">
              <a:latin typeface="Segoe UI Symbol"/>
              <a:cs typeface="Segoe UI Symbol"/>
            </a:endParaRPr>
          </a:p>
          <a:p>
            <a:pPr marL="128905" marR="271780">
              <a:lnSpc>
                <a:spcPct val="100000"/>
              </a:lnSpc>
              <a:spcBef>
                <a:spcPts val="1500"/>
              </a:spcBef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Forward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Secrecy: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decrypted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if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later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compromised.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253" y="242061"/>
            <a:ext cx="89414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45" dirty="0">
                <a:latin typeface="Sitka Small Semibold" pitchFamily="2" charset="0"/>
              </a:rPr>
              <a:t>WEP</a:t>
            </a:r>
            <a:r>
              <a:rPr sz="2400" spc="-275" dirty="0">
                <a:latin typeface="Sitka Small Semibold" pitchFamily="2" charset="0"/>
              </a:rPr>
              <a:t> </a:t>
            </a:r>
            <a:r>
              <a:rPr sz="2400" dirty="0">
                <a:latin typeface="Sitka Small Semibold" pitchFamily="2" charset="0"/>
              </a:rPr>
              <a:t>—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254" dirty="0">
                <a:latin typeface="Sitka Small Semibold" pitchFamily="2" charset="0"/>
              </a:rPr>
              <a:t>Wired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250" dirty="0">
                <a:latin typeface="Sitka Small Semibold" pitchFamily="2" charset="0"/>
              </a:rPr>
              <a:t>Equivalent</a:t>
            </a:r>
            <a:r>
              <a:rPr sz="2400" spc="-260" dirty="0">
                <a:latin typeface="Sitka Small Semibold" pitchFamily="2" charset="0"/>
              </a:rPr>
              <a:t> </a:t>
            </a:r>
            <a:r>
              <a:rPr sz="2400" spc="-200" dirty="0">
                <a:latin typeface="Sitka Small Semibold" pitchFamily="2" charset="0"/>
              </a:rPr>
              <a:t>Privacy</a:t>
            </a:r>
            <a:r>
              <a:rPr sz="2400" spc="225" dirty="0">
                <a:latin typeface="Sitka Small Semibold" pitchFamily="2" charset="0"/>
              </a:rPr>
              <a:t> </a:t>
            </a:r>
            <a:r>
              <a:rPr sz="2400" spc="-430" dirty="0">
                <a:latin typeface="Sitka Small Semibold" pitchFamily="2" charset="0"/>
              </a:rPr>
              <a:t>(1GG7</a:t>
            </a:r>
            <a:r>
              <a:rPr sz="2400" spc="-290" dirty="0">
                <a:latin typeface="Sitka Small Semibold" pitchFamily="2" charset="0"/>
              </a:rPr>
              <a:t> </a:t>
            </a:r>
            <a:r>
              <a:rPr sz="2400" spc="-285" dirty="0">
                <a:latin typeface="Sitka Small Semibold" pitchFamily="2" charset="0"/>
              </a:rPr>
              <a:t>· </a:t>
            </a:r>
            <a:r>
              <a:rPr sz="2400" spc="-245" dirty="0">
                <a:latin typeface="Sitka Small Semibold" pitchFamily="2" charset="0"/>
              </a:rPr>
              <a:t>Deprecated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310" dirty="0">
                <a:latin typeface="Sitka Small Semibold" pitchFamily="2" charset="0"/>
              </a:rPr>
              <a:t>2004)</a:t>
            </a:r>
            <a:endParaRPr sz="2400" dirty="0">
              <a:latin typeface="Sitka Small Semibold" pitchFamily="2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5129" y="730758"/>
            <a:ext cx="1292860" cy="67945"/>
            <a:chOff x="405129" y="730758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710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710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1158227"/>
            <a:ext cx="4422775" cy="812800"/>
            <a:chOff x="111252" y="1158227"/>
            <a:chExt cx="4422775" cy="8128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158227"/>
              <a:ext cx="4422648" cy="8123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1267459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267459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1347" y="1354328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90" dirty="0">
                <a:solidFill>
                  <a:srgbClr val="E97031"/>
                </a:solidFill>
                <a:latin typeface="Yu Gothic UI"/>
                <a:cs typeface="Yu Gothic UI"/>
              </a:rPr>
              <a:t>1: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252" y="1780019"/>
            <a:ext cx="4422775" cy="812800"/>
            <a:chOff x="111252" y="1780019"/>
            <a:chExt cx="4422775" cy="8128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780019"/>
              <a:ext cx="4422648" cy="8123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1889251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4160520" y="54864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889251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40"/>
                  </a:moveTo>
                  <a:lnTo>
                    <a:pt x="4160520" y="5486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1347" y="1976373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2: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252" y="2401811"/>
            <a:ext cx="4422775" cy="812800"/>
            <a:chOff x="111252" y="2401811"/>
            <a:chExt cx="4422775" cy="8128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401811"/>
              <a:ext cx="4422648" cy="8123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4320" y="2511044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4160520" y="54864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511044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40"/>
                  </a:moveTo>
                  <a:lnTo>
                    <a:pt x="4160520" y="5486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347" y="2598165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3: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7441" y="1337563"/>
            <a:ext cx="2908935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9070" algn="l"/>
              </a:tabLst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ICV</a:t>
            </a:r>
            <a:r>
              <a:rPr sz="115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CRC-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32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(Plaintext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Data)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—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append</a:t>
            </a:r>
            <a:r>
              <a:rPr sz="115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ICV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data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98830" algn="l"/>
                <a:tab pos="1060450" algn="l"/>
                <a:tab pos="2283460" algn="l"/>
                <a:tab pos="2632075" algn="l"/>
              </a:tabLst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RC4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key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IV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(3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bytes)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WEP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Key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(40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or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104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bits)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150">
              <a:latin typeface="Courier New"/>
              <a:cs typeface="Courier New"/>
            </a:endParaRPr>
          </a:p>
          <a:p>
            <a:pPr marL="12700" marR="5715">
              <a:lnSpc>
                <a:spcPct val="100899"/>
              </a:lnSpc>
              <a:tabLst>
                <a:tab pos="1060450" algn="l"/>
                <a:tab pos="1322705" algn="l"/>
                <a:tab pos="2631440" algn="l"/>
              </a:tabLst>
            </a:pP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Ciphertext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(Data</a:t>
            </a:r>
            <a:r>
              <a:rPr sz="115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ICV)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XOR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RC4</a:t>
            </a:r>
            <a:r>
              <a:rPr sz="115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(IV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Key)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252" y="3023603"/>
            <a:ext cx="4422775" cy="812800"/>
            <a:chOff x="111252" y="3023603"/>
            <a:chExt cx="4422775" cy="81280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3023603"/>
              <a:ext cx="4422648" cy="8123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4320" y="3132835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3132835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1347" y="3220338"/>
            <a:ext cx="763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TX</a:t>
            </a:r>
            <a:r>
              <a:rPr sz="13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Frame: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77441" y="3203575"/>
            <a:ext cx="107315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[MAC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Header] [Ciphertext]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99373" y="3203575"/>
            <a:ext cx="159766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[IV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3B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KeyID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1B]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[FCS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4B]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1252" y="3645408"/>
            <a:ext cx="4422775" cy="812800"/>
            <a:chOff x="111252" y="3645408"/>
            <a:chExt cx="4422775" cy="8128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3645408"/>
              <a:ext cx="4422648" cy="8123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74320" y="3754678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3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754678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39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84047" y="3842105"/>
            <a:ext cx="8210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THE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FLAW: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90141" y="3825341"/>
            <a:ext cx="2545715" cy="37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IV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transmitted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in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PLAINTEXT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—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attacker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sees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every</a:t>
            </a:r>
            <a:r>
              <a:rPr sz="1150" spc="-45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key</a:t>
            </a:r>
            <a:r>
              <a:rPr sz="1150" spc="-45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C0392B"/>
                </a:solidFill>
                <a:latin typeface="Courier New"/>
                <a:cs typeface="Courier New"/>
              </a:rPr>
              <a:t>reuse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1620" y="907796"/>
            <a:ext cx="66249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1820" algn="l"/>
              </a:tabLst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Encryption</a:t>
            </a:r>
            <a:r>
              <a:rPr sz="1500" b="1" spc="-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Mechanism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	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Four</a:t>
            </a:r>
            <a:r>
              <a:rPr sz="1500" b="1" spc="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Critical</a:t>
            </a:r>
            <a:r>
              <a:rPr sz="1500" b="1" spc="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Weaknesses</a:t>
            </a:r>
            <a:endParaRPr sz="1500">
              <a:latin typeface="Yu Gothic UI"/>
              <a:cs typeface="Yu Gothic U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00371" y="1158227"/>
            <a:ext cx="4422775" cy="1105535"/>
            <a:chOff x="4500371" y="1158227"/>
            <a:chExt cx="4422775" cy="110553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1158227"/>
              <a:ext cx="4422648" cy="11049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36591" y="1267459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1267459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1267459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63439" y="1267459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815966" y="1307337"/>
            <a:ext cx="3815079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spc="-25" dirty="0">
                <a:solidFill>
                  <a:srgbClr val="C0392B"/>
                </a:solidFill>
                <a:latin typeface="Yu Gothic UI"/>
                <a:cs typeface="Yu Gothic UI"/>
              </a:rPr>
              <a:t>IV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Collision</a:t>
            </a:r>
            <a:r>
              <a:rPr sz="1300" b="1" spc="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FMS/PTW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2²⁴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16.7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million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Busy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hours.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FMS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(2001)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statistical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analysis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weak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PTW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(2007)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needs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just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5,000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injection: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recovered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&lt;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60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00371" y="2072627"/>
            <a:ext cx="4422775" cy="1105535"/>
            <a:chOff x="4500371" y="2072627"/>
            <a:chExt cx="4422775" cy="1105535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072627"/>
              <a:ext cx="4422648" cy="110491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36591" y="218186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218186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3439" y="218186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63439" y="218186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815966" y="2222118"/>
            <a:ext cx="3780790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CRC-</a:t>
            </a:r>
            <a:r>
              <a:rPr sz="1300" b="1" spc="-40" dirty="0">
                <a:solidFill>
                  <a:srgbClr val="C0392B"/>
                </a:solidFill>
                <a:latin typeface="Yu Gothic UI"/>
                <a:cs typeface="Yu Gothic UI"/>
              </a:rPr>
              <a:t>32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Integrity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Flaw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linear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function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Code.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flips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recalculates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ICV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Malicious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payload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succeeds.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500371" y="2987039"/>
            <a:ext cx="4422775" cy="1105535"/>
            <a:chOff x="4500371" y="2987039"/>
            <a:chExt cx="4422775" cy="1105535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87039"/>
              <a:ext cx="4422648" cy="110491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36591" y="309631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63439" y="309631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63439" y="30963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63439" y="30963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815966" y="3136772"/>
            <a:ext cx="3754754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C0392B"/>
                </a:solidFill>
                <a:latin typeface="Yu Gothic UI"/>
                <a:cs typeface="Yu Gothic UI"/>
              </a:rPr>
              <a:t>Auth</a:t>
            </a: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Paradox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text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(plaintext)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(ciphertext)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500371" y="3901440"/>
            <a:ext cx="4422775" cy="1105535"/>
            <a:chOff x="4500371" y="3901440"/>
            <a:chExt cx="4422775" cy="1105535"/>
          </a:xfrm>
        </p:grpSpPr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901440"/>
              <a:ext cx="4422648" cy="110491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736591" y="401071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8"/>
                  </a:moveTo>
                  <a:lnTo>
                    <a:pt x="4087367" y="841248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63439" y="401071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8"/>
                  </a:moveTo>
                  <a:lnTo>
                    <a:pt x="4160519" y="84124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63439" y="40107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73151" y="84124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63439" y="40107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8"/>
                  </a:moveTo>
                  <a:lnTo>
                    <a:pt x="73151" y="84124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815966" y="3983608"/>
            <a:ext cx="3684904" cy="7023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No</a:t>
            </a:r>
            <a:r>
              <a:rPr sz="130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Management</a:t>
            </a:r>
            <a:endParaRPr sz="13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share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static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forever.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session,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per-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user,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revocation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manual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828666" y="4682751"/>
            <a:ext cx="3343275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5"/>
              </a:lnSpc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reconfiguration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11252" y="4541517"/>
            <a:ext cx="8857615" cy="574675"/>
            <a:chOff x="111252" y="4541517"/>
            <a:chExt cx="8857615" cy="574675"/>
          </a:xfrm>
        </p:grpSpPr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541517"/>
              <a:ext cx="8857488" cy="57457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74320" y="4650790"/>
              <a:ext cx="8595360" cy="311150"/>
            </a:xfrm>
            <a:custGeom>
              <a:avLst/>
              <a:gdLst/>
              <a:ahLst/>
              <a:cxnLst/>
              <a:rect l="l" t="t" r="r" b="b"/>
              <a:pathLst>
                <a:path w="8595360" h="311150">
                  <a:moveTo>
                    <a:pt x="8595360" y="0"/>
                  </a:moveTo>
                  <a:lnTo>
                    <a:pt x="0" y="0"/>
                  </a:lnTo>
                  <a:lnTo>
                    <a:pt x="0" y="310895"/>
                  </a:lnTo>
                  <a:lnTo>
                    <a:pt x="8595360" y="31089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74320" y="4650790"/>
              <a:ext cx="8595360" cy="311150"/>
            </a:xfrm>
            <a:custGeom>
              <a:avLst/>
              <a:gdLst/>
              <a:ahLst/>
              <a:cxnLst/>
              <a:rect l="l" t="t" r="r" b="b"/>
              <a:pathLst>
                <a:path w="8595360" h="311150">
                  <a:moveTo>
                    <a:pt x="0" y="310895"/>
                  </a:moveTo>
                  <a:lnTo>
                    <a:pt x="8595360" y="31089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310895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28117" y="4706518"/>
            <a:ext cx="8575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VERDICT:</a:t>
            </a:r>
            <a:r>
              <a:rPr sz="12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2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provides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no</a:t>
            </a:r>
            <a:r>
              <a:rPr sz="125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meaningful</a:t>
            </a:r>
            <a:r>
              <a:rPr sz="1250" b="1" spc="-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confidentiality,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 integrity,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or</a:t>
            </a:r>
            <a:r>
              <a:rPr sz="125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authentication.</a:t>
            </a:r>
            <a:r>
              <a:rPr sz="1250" b="1" spc="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Any</a:t>
            </a:r>
            <a:r>
              <a:rPr sz="12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WEP-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protected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network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must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be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treated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60" dirty="0">
                <a:solidFill>
                  <a:srgbClr val="C0392B"/>
                </a:solidFill>
                <a:latin typeface="Yu Gothic UI"/>
                <a:cs typeface="Yu Gothic UI"/>
              </a:rPr>
              <a:t>as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an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open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network.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Aircrack-</a:t>
            </a:r>
            <a:r>
              <a:rPr sz="1250" b="1" spc="-70" dirty="0">
                <a:solidFill>
                  <a:srgbClr val="C0392B"/>
                </a:solidFill>
                <a:latin typeface="Yu Gothic UI"/>
                <a:cs typeface="Yu Gothic UI"/>
              </a:rPr>
              <a:t>ng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breaks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in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minutes.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Migrate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to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60" dirty="0">
                <a:solidFill>
                  <a:srgbClr val="C0392B"/>
                </a:solidFill>
                <a:latin typeface="Yu Gothic UI"/>
                <a:cs typeface="Yu Gothic UI"/>
              </a:rPr>
              <a:t>WPA2-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Enterprise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70" dirty="0">
                <a:solidFill>
                  <a:srgbClr val="C0392B"/>
                </a:solidFill>
                <a:latin typeface="Yu Gothic UI"/>
                <a:cs typeface="Yu Gothic UI"/>
              </a:rPr>
              <a:t>as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the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absolute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minimum.</a:t>
            </a:r>
            <a:endParaRPr sz="125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85674"/>
            <a:ext cx="75831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5" dirty="0"/>
              <a:t>WPA</a:t>
            </a:r>
            <a:r>
              <a:rPr sz="2600" spc="-235" dirty="0"/>
              <a:t> </a:t>
            </a:r>
            <a:r>
              <a:rPr sz="2600" spc="-275" dirty="0"/>
              <a:t>(2003)</a:t>
            </a:r>
            <a:r>
              <a:rPr sz="2600" spc="-250" dirty="0"/>
              <a:t> </a:t>
            </a:r>
            <a:r>
              <a:rPr sz="2600" dirty="0"/>
              <a:t>—</a:t>
            </a:r>
            <a:r>
              <a:rPr sz="2600" spc="-240" dirty="0"/>
              <a:t> </a:t>
            </a:r>
            <a:r>
              <a:rPr sz="2600" spc="-365" dirty="0"/>
              <a:t>TKIP,</a:t>
            </a:r>
            <a:r>
              <a:rPr sz="2600" spc="-225" dirty="0"/>
              <a:t> </a:t>
            </a:r>
            <a:r>
              <a:rPr sz="2600" spc="-210" dirty="0"/>
              <a:t>Personal,</a:t>
            </a:r>
            <a:r>
              <a:rPr sz="2600" spc="-250" dirty="0"/>
              <a:t> </a:t>
            </a:r>
            <a:r>
              <a:rPr sz="2600" spc="-210" dirty="0"/>
              <a:t>Enterprise</a:t>
            </a:r>
            <a:r>
              <a:rPr sz="2600" spc="360" dirty="0"/>
              <a:t>s</a:t>
            </a:r>
            <a:r>
              <a:rPr sz="2600" spc="-225" dirty="0"/>
              <a:t> </a:t>
            </a:r>
            <a:r>
              <a:rPr sz="2600" spc="-220" dirty="0"/>
              <a:t>Beck-</a:t>
            </a:r>
            <a:r>
              <a:rPr sz="2600" spc="-325" dirty="0"/>
              <a:t>Tews</a:t>
            </a:r>
            <a:endParaRPr sz="2600" dirty="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876045"/>
            <a:ext cx="84918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WPA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was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an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emergency</a:t>
            </a: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interim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standard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released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2003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while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40" dirty="0">
                <a:solidFill>
                  <a:srgbClr val="89ABBE"/>
                </a:solidFill>
                <a:latin typeface="Arial"/>
                <a:cs typeface="Arial"/>
              </a:rPr>
              <a:t>IEEE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802.11i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(WPA2)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was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finalised.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Designed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to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run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as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firmware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update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on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existing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WEP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hardware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same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radios,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new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protocol.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46275"/>
            <a:ext cx="4422775" cy="1926589"/>
            <a:chOff x="156971" y="1446275"/>
            <a:chExt cx="4422775" cy="192658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46275"/>
              <a:ext cx="4422648" cy="1926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2335" y="1554479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4" y="166420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54479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20" y="16642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8686" y="1577720"/>
            <a:ext cx="4078604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ts val="1645"/>
              </a:lnSpc>
              <a:spcBef>
                <a:spcPts val="105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TKIP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14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4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Temporal</a:t>
            </a:r>
            <a:r>
              <a:rPr sz="1400" b="1" spc="-10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Key</a:t>
            </a:r>
            <a:r>
              <a:rPr sz="14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Integrity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Protocol</a:t>
            </a:r>
            <a:endParaRPr sz="1400">
              <a:latin typeface="Yu Gothic UI"/>
              <a:cs typeface="Yu Gothic UI"/>
            </a:endParaRPr>
          </a:p>
          <a:p>
            <a:pPr marL="112395" marR="302895">
              <a:lnSpc>
                <a:spcPts val="1500"/>
              </a:lnSpc>
              <a:spcBef>
                <a:spcPts val="15"/>
              </a:spcBef>
            </a:pP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mixing: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gets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RC4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key,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Transmitter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MAC,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IV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(eliminating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IV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collision).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Michael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MIC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broken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CRC-32.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Designed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run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existing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hardware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firmware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update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chip,</a:t>
            </a:r>
            <a:endParaRPr sz="1250">
              <a:latin typeface="Segoe UI Symbol"/>
              <a:cs typeface="Segoe UI Symbol"/>
            </a:endParaRPr>
          </a:p>
          <a:p>
            <a:pPr marL="112395">
              <a:lnSpc>
                <a:spcPts val="136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new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schedule.</a:t>
            </a:r>
            <a:endParaRPr sz="1250">
              <a:latin typeface="Segoe UI Symbol"/>
              <a:cs typeface="Segoe UI Symbol"/>
            </a:endParaRPr>
          </a:p>
          <a:p>
            <a:pPr marL="112395">
              <a:lnSpc>
                <a:spcPts val="1475"/>
              </a:lnSpc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Firmware 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upgrade</a:t>
            </a:r>
            <a:r>
              <a:rPr sz="1300" b="1" spc="-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from</a:t>
            </a:r>
            <a:r>
              <a:rPr sz="1300" b="1" spc="-1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WEP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same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hardware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1446275"/>
            <a:ext cx="4422775" cy="1926589"/>
            <a:chOff x="4500371" y="1446275"/>
            <a:chExt cx="4422775" cy="1926589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446275"/>
              <a:ext cx="4422648" cy="19263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45735" y="1554479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3" y="1664208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554479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19" y="16642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5547" y="2871215"/>
              <a:ext cx="340613" cy="34671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752085" y="1577720"/>
            <a:ext cx="4078604" cy="155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ts val="1645"/>
              </a:lnSpc>
              <a:spcBef>
                <a:spcPts val="105"/>
              </a:spcBef>
            </a:pP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WPA-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Personal</a:t>
            </a:r>
            <a:r>
              <a:rPr sz="1400" b="1" spc="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(WPA-</a:t>
            </a:r>
            <a:r>
              <a:rPr sz="1400" b="1" spc="-20" dirty="0">
                <a:solidFill>
                  <a:srgbClr val="E97031"/>
                </a:solidFill>
                <a:latin typeface="Yu Gothic UI"/>
                <a:cs typeface="Yu Gothic UI"/>
              </a:rPr>
              <a:t>PSK)</a:t>
            </a:r>
            <a:endParaRPr sz="1400">
              <a:latin typeface="Yu Gothic UI"/>
              <a:cs typeface="Yu Gothic UI"/>
            </a:endParaRPr>
          </a:p>
          <a:p>
            <a:pPr marL="113030" marR="278765">
              <a:lnSpc>
                <a:spcPts val="1500"/>
              </a:lnSpc>
              <a:spcBef>
                <a:spcPts val="1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8–63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chars.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PBKDF2-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SHA1(passphrase,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4096,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32B).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Way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TK.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passively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brute- forceable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Hashcat.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(2018)</a:t>
            </a:r>
            <a:endParaRPr sz="1250">
              <a:latin typeface="Segoe UI Symbol"/>
              <a:cs typeface="Segoe UI Symbol"/>
            </a:endParaRPr>
          </a:p>
          <a:p>
            <a:pPr marL="113030">
              <a:lnSpc>
                <a:spcPts val="1375"/>
              </a:lnSpc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doesn't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need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endParaRPr sz="1250">
              <a:latin typeface="Segoe UI Symbol"/>
              <a:cs typeface="Segoe UI Symbol"/>
            </a:endParaRPr>
          </a:p>
          <a:p>
            <a:pPr marL="321310">
              <a:lnSpc>
                <a:spcPts val="1480"/>
              </a:lnSpc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Offline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dictionary</a:t>
            </a: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capture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25" dirty="0">
                <a:solidFill>
                  <a:srgbClr val="E97031"/>
                </a:solidFill>
                <a:latin typeface="Yu Gothic UI"/>
                <a:cs typeface="Yu Gothic UI"/>
              </a:rPr>
              <a:t>+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crack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6971" y="3201937"/>
            <a:ext cx="4422775" cy="1926589"/>
            <a:chOff x="156971" y="3201937"/>
            <a:chExt cx="4422775" cy="1926589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201937"/>
              <a:ext cx="4422648" cy="19263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2335" y="3310127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4" y="166420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331012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20" y="16642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00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00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8686" y="3343722"/>
            <a:ext cx="4078604" cy="1541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455"/>
              </a:spcBef>
            </a:pPr>
            <a:r>
              <a:rPr sz="1400" b="1" spc="-65" dirty="0">
                <a:solidFill>
                  <a:srgbClr val="186B23"/>
                </a:solidFill>
                <a:latin typeface="Yu Gothic UI"/>
                <a:cs typeface="Yu Gothic UI"/>
              </a:rPr>
              <a:t>WPA-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40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(802.1X</a:t>
            </a:r>
            <a:r>
              <a:rPr sz="1400" b="1" spc="4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RADIUS)</a:t>
            </a:r>
            <a:endParaRPr sz="1400">
              <a:latin typeface="Yu Gothic UI"/>
              <a:cs typeface="Yu Gothic UI"/>
            </a:endParaRPr>
          </a:p>
          <a:p>
            <a:pPr marL="112395" marR="239395" lvl="1" indent="383540">
              <a:lnSpc>
                <a:spcPct val="100000"/>
              </a:lnSpc>
              <a:spcBef>
                <a:spcPts val="315"/>
              </a:spcBef>
              <a:buSzPct val="92000"/>
              <a:buAutoNum type="arabicPeriod"/>
              <a:tabLst>
                <a:tab pos="495934" algn="l"/>
              </a:tabLst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X</a:t>
            </a:r>
            <a:r>
              <a:rPr sz="12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port-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55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relays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EAP between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per-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passphrase.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not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affect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other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user.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endParaRPr sz="1250">
              <a:latin typeface="Segoe UI Symbol"/>
              <a:cs typeface="Segoe UI Symbol"/>
            </a:endParaRPr>
          </a:p>
          <a:p>
            <a:pPr marL="302895" lvl="2" indent="-190500">
              <a:lnSpc>
                <a:spcPct val="100000"/>
              </a:lnSpc>
              <a:spcBef>
                <a:spcPts val="520"/>
              </a:spcBef>
              <a:buChar char="✓"/>
              <a:tabLst>
                <a:tab pos="302895" algn="l"/>
              </a:tabLst>
            </a:pPr>
            <a:r>
              <a:rPr sz="1300" b="1" spc="-65" dirty="0">
                <a:solidFill>
                  <a:srgbClr val="186B23"/>
                </a:solidFill>
                <a:latin typeface="Yu Gothic UI"/>
                <a:cs typeface="Yu Gothic UI"/>
              </a:rPr>
              <a:t>No</a:t>
            </a:r>
            <a:r>
              <a:rPr sz="1300" b="1" spc="-2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186B23"/>
                </a:solidFill>
                <a:latin typeface="Yu Gothic UI"/>
                <a:cs typeface="Yu Gothic UI"/>
              </a:rPr>
              <a:t>shared</a:t>
            </a:r>
            <a:r>
              <a:rPr sz="1300" b="1" spc="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186B23"/>
                </a:solidFill>
                <a:latin typeface="Yu Gothic UI"/>
                <a:cs typeface="Yu Gothic UI"/>
              </a:rPr>
              <a:t>passphrase</a:t>
            </a:r>
            <a:r>
              <a:rPr sz="1300" b="1" spc="4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35" dirty="0">
                <a:solidFill>
                  <a:srgbClr val="186B23"/>
                </a:solidFill>
                <a:latin typeface="Yu Gothic UI"/>
                <a:cs typeface="Yu Gothic UI"/>
              </a:rPr>
              <a:t>no</a:t>
            </a:r>
            <a:r>
              <a:rPr sz="1300" b="1" spc="-1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offline</a:t>
            </a:r>
            <a:r>
              <a:rPr sz="1300" b="1" spc="-1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00371" y="3201937"/>
            <a:ext cx="4422775" cy="1926589"/>
            <a:chOff x="4500371" y="3201937"/>
            <a:chExt cx="4422775" cy="1926589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3201937"/>
              <a:ext cx="4422648" cy="192633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45735" y="3310127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3" y="1664208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63439" y="331012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19" y="16642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634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634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5547" y="4571999"/>
              <a:ext cx="421386" cy="34823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752085" y="3343722"/>
            <a:ext cx="4078604" cy="14878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455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Beck-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Tews</a:t>
            </a:r>
            <a:r>
              <a:rPr sz="1400" b="1" spc="-9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4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(2008)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4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TKIP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Broken</a:t>
            </a:r>
            <a:endParaRPr sz="1400">
              <a:latin typeface="Yu Gothic UI"/>
              <a:cs typeface="Yu Gothic UI"/>
            </a:endParaRPr>
          </a:p>
          <a:p>
            <a:pPr marL="113030" marR="74930">
              <a:lnSpc>
                <a:spcPct val="100000"/>
              </a:lnSpc>
              <a:spcBef>
                <a:spcPts val="315"/>
              </a:spcBef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Demonstrated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partial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decryption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short 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ARP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requests)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using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chopchop-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technique.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Confirms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broken.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deprecated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not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used.</a:t>
            </a:r>
            <a:endParaRPr sz="125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(WPA2)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acceptable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cipher.</a:t>
            </a:r>
            <a:endParaRPr sz="1250">
              <a:latin typeface="Segoe UI Symbol"/>
              <a:cs typeface="Segoe UI Symbol"/>
            </a:endParaRPr>
          </a:p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TKIP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deprecated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2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use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AES-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CCMP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minimum</a:t>
            </a:r>
            <a:endParaRPr sz="13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68910"/>
            <a:ext cx="6064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95" dirty="0"/>
              <a:t>The</a:t>
            </a:r>
            <a:r>
              <a:rPr sz="2800" spc="-280" dirty="0"/>
              <a:t> </a:t>
            </a:r>
            <a:r>
              <a:rPr sz="2800" spc="-285" dirty="0"/>
              <a:t>4-</a:t>
            </a:r>
            <a:r>
              <a:rPr sz="2800" spc="-345" dirty="0"/>
              <a:t>Way</a:t>
            </a:r>
            <a:r>
              <a:rPr sz="2800" spc="-265" dirty="0"/>
              <a:t> </a:t>
            </a:r>
            <a:r>
              <a:rPr sz="2800" spc="-260" dirty="0"/>
              <a:t>Handshake</a:t>
            </a:r>
            <a:r>
              <a:rPr sz="2800" spc="-265" dirty="0"/>
              <a:t> </a:t>
            </a:r>
            <a:r>
              <a:rPr sz="2800" dirty="0"/>
              <a:t>—</a:t>
            </a:r>
            <a:r>
              <a:rPr sz="2800" spc="-270" dirty="0"/>
              <a:t> </a:t>
            </a:r>
            <a:r>
              <a:rPr sz="2800" spc="-275" dirty="0"/>
              <a:t>PTK</a:t>
            </a:r>
            <a:r>
              <a:rPr sz="2800" spc="-280" dirty="0"/>
              <a:t> </a:t>
            </a:r>
            <a:r>
              <a:rPr sz="2800" spc="-265" dirty="0"/>
              <a:t>Derivation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848613"/>
            <a:ext cx="84753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4-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Way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Handshake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establishes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per-session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traffic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keys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without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transmitting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PMK.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Both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AP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and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90" dirty="0">
                <a:solidFill>
                  <a:srgbClr val="89ABBE"/>
                </a:solidFill>
                <a:latin typeface="Arial"/>
                <a:cs typeface="Arial"/>
              </a:rPr>
              <a:t>STA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prove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they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hold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same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PMK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without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ever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revealing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00530"/>
            <a:ext cx="8766175" cy="975994"/>
            <a:chOff x="156971" y="1400530"/>
            <a:chExt cx="8766175" cy="975994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00530"/>
              <a:ext cx="8766048" cy="9753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33271" y="1508760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08760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0876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0876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6390" y="1742058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0604" y="1559178"/>
            <a:ext cx="2143125" cy="596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5"/>
              </a:spcBef>
            </a:pP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AP</a:t>
            </a:r>
            <a:r>
              <a:rPr sz="1400" b="1" spc="1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155F82"/>
                </a:solidFill>
                <a:latin typeface="Yu Gothic UI"/>
                <a:cs typeface="Yu Gothic UI"/>
              </a:rPr>
              <a:t>→</a:t>
            </a:r>
            <a:r>
              <a:rPr sz="1400" b="1" spc="17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155F82"/>
                </a:solidFill>
                <a:latin typeface="Yu Gothic UI"/>
                <a:cs typeface="Yu Gothic UI"/>
              </a:rPr>
              <a:t>STA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  <a:tabLst>
                <a:tab pos="748030" algn="l"/>
              </a:tabLst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ANonce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(AP's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fresh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32-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</a:t>
            </a:r>
            <a:r>
              <a:rPr sz="120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random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nonce)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4095" y="1555241"/>
            <a:ext cx="470662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generates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new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random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nonce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(ANonce).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receives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it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—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combined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its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own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SNonce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(generated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next)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now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has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inputs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needed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compute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PTK.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6971" y="2186914"/>
            <a:ext cx="8766175" cy="975994"/>
            <a:chOff x="156971" y="2186914"/>
            <a:chExt cx="8766175" cy="97599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186914"/>
              <a:ext cx="8766048" cy="97538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33271" y="2295143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039" y="2295143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2295143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39" y="2295143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6390" y="2528697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41931" y="2548508"/>
            <a:ext cx="854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9300" algn="l"/>
              </a:tabLst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RSN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IE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0604" y="2345258"/>
            <a:ext cx="852805" cy="597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5"/>
              </a:spcBef>
            </a:pPr>
            <a:r>
              <a:rPr sz="1400" b="1" dirty="0">
                <a:solidFill>
                  <a:srgbClr val="0E9ED4"/>
                </a:solidFill>
                <a:latin typeface="Yu Gothic UI"/>
                <a:cs typeface="Yu Gothic UI"/>
              </a:rPr>
              <a:t>STA</a:t>
            </a:r>
            <a:r>
              <a:rPr sz="1400" b="1" spc="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0E9ED4"/>
                </a:solidFill>
                <a:latin typeface="Yu Gothic UI"/>
                <a:cs typeface="Yu Gothic UI"/>
              </a:rPr>
              <a:t>→</a:t>
            </a:r>
            <a:r>
              <a:rPr sz="1400" b="1" spc="18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0E9ED4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  <a:tabLst>
                <a:tab pos="748030" algn="l"/>
              </a:tabLst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SNonce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4095" y="2341880"/>
            <a:ext cx="513715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generates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SNonce,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computes</a:t>
            </a:r>
            <a:r>
              <a:rPr sz="125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PTK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using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PMK+ANonce+SNonce+MACs,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then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sends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SNonce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89ABBE"/>
                </a:solidFill>
                <a:latin typeface="Segoe UI Symbol"/>
                <a:cs typeface="Segoe UI Symbol"/>
              </a:rPr>
              <a:t>+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its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cipher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suite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preferences</a:t>
            </a:r>
            <a:r>
              <a:rPr sz="1250" spc="-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(RSN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IE)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89ABBE"/>
                </a:solidFill>
                <a:latin typeface="Segoe UI Symbol"/>
                <a:cs typeface="Segoe UI Symbol"/>
              </a:rPr>
              <a:t>+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MIC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prove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PMK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knowledge.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computes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PTK,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verifies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MIC.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6971" y="2973323"/>
            <a:ext cx="8766175" cy="975994"/>
            <a:chOff x="156971" y="2973323"/>
            <a:chExt cx="8766175" cy="975994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973323"/>
              <a:ext cx="8766048" cy="97538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33271" y="3081527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039" y="3081527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039" y="3081527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39" y="3081527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26390" y="3315080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6971" y="3288791"/>
            <a:ext cx="328422" cy="33299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554095" y="3128518"/>
            <a:ext cx="509016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4519295" algn="l"/>
              </a:tabLst>
            </a:pP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sends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Group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Temporal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Key</a:t>
            </a:r>
            <a:r>
              <a:rPr sz="125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(for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broadcast/multicast)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encrypted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with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KEK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from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PTK.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MIC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proves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integrity.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installs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GTK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TK.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	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KRACK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exploits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retransmission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125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this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message.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6971" y="3759708"/>
            <a:ext cx="8766175" cy="975994"/>
            <a:chOff x="156971" y="3759708"/>
            <a:chExt cx="8766175" cy="975994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759708"/>
              <a:ext cx="8766048" cy="97538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33271" y="3867912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0039" y="3867912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20040" y="3867911"/>
            <a:ext cx="713740" cy="713740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endParaRPr sz="13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30604" y="3132201"/>
            <a:ext cx="2232660" cy="138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AP</a:t>
            </a:r>
            <a:r>
              <a:rPr sz="1400" b="1" spc="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E97031"/>
                </a:solidFill>
                <a:latin typeface="Yu Gothic UI"/>
                <a:cs typeface="Yu Gothic UI"/>
              </a:rPr>
              <a:t>→</a:t>
            </a:r>
            <a:r>
              <a:rPr sz="1400" b="1" spc="1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STA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GTK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(encrypted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with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KEK)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287655" algn="l"/>
              </a:tabLst>
            </a:pP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STA</a:t>
            </a:r>
            <a:r>
              <a:rPr sz="14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186B23"/>
                </a:solidFill>
                <a:latin typeface="Yu Gothic UI"/>
                <a:cs typeface="Yu Gothic UI"/>
              </a:rPr>
              <a:t>→</a:t>
            </a:r>
            <a:r>
              <a:rPr sz="1400" b="1" spc="1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186B23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only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(acknowledgement)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54095" y="3914952"/>
            <a:ext cx="493903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confirms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GTK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installation.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Handshake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complete.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Both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sides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begin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encrypting</a:t>
            </a:r>
            <a:r>
              <a:rPr sz="1250" spc="-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data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TK.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GTK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refreshed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when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client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disconnects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or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at periodic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intervals.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56971" y="4591808"/>
            <a:ext cx="8766175" cy="551815"/>
            <a:chOff x="156971" y="4591808"/>
            <a:chExt cx="8766175" cy="55181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971" y="4591808"/>
              <a:ext cx="8766048" cy="55169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02335" y="4700015"/>
              <a:ext cx="8422005" cy="421005"/>
            </a:xfrm>
            <a:custGeom>
              <a:avLst/>
              <a:gdLst/>
              <a:ahLst/>
              <a:cxnLst/>
              <a:rect l="l" t="t" r="r" b="b"/>
              <a:pathLst>
                <a:path w="8422005" h="421004">
                  <a:moveTo>
                    <a:pt x="0" y="420624"/>
                  </a:moveTo>
                  <a:lnTo>
                    <a:pt x="8421624" y="420624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039" y="4700015"/>
              <a:ext cx="8503920" cy="421005"/>
            </a:xfrm>
            <a:custGeom>
              <a:avLst/>
              <a:gdLst/>
              <a:ahLst/>
              <a:cxnLst/>
              <a:rect l="l" t="t" r="r" b="b"/>
              <a:pathLst>
                <a:path w="8503920" h="421004">
                  <a:moveTo>
                    <a:pt x="0" y="420624"/>
                  </a:moveTo>
                  <a:lnTo>
                    <a:pt x="8503920" y="420624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0039" y="4700015"/>
              <a:ext cx="82550" cy="421005"/>
            </a:xfrm>
            <a:custGeom>
              <a:avLst/>
              <a:gdLst/>
              <a:ahLst/>
              <a:cxnLst/>
              <a:rect l="l" t="t" r="r" b="b"/>
              <a:pathLst>
                <a:path w="82550" h="421004">
                  <a:moveTo>
                    <a:pt x="82296" y="0"/>
                  </a:moveTo>
                  <a:lnTo>
                    <a:pt x="0" y="0"/>
                  </a:lnTo>
                  <a:lnTo>
                    <a:pt x="0" y="420624"/>
                  </a:lnTo>
                  <a:lnTo>
                    <a:pt x="82296" y="42062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0039" y="4700015"/>
              <a:ext cx="82550" cy="421005"/>
            </a:xfrm>
            <a:custGeom>
              <a:avLst/>
              <a:gdLst/>
              <a:ahLst/>
              <a:cxnLst/>
              <a:rect l="l" t="t" r="r" b="b"/>
              <a:pathLst>
                <a:path w="82550" h="421004">
                  <a:moveTo>
                    <a:pt x="0" y="420624"/>
                  </a:moveTo>
                  <a:lnTo>
                    <a:pt x="82296" y="42062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12063" y="4732121"/>
            <a:ext cx="8087359" cy="390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1465"/>
              </a:lnSpc>
              <a:spcBef>
                <a:spcPts val="105"/>
              </a:spcBef>
              <a:tabLst>
                <a:tab pos="516255" algn="l"/>
                <a:tab pos="825500" algn="l"/>
                <a:tab pos="2373630" algn="l"/>
                <a:tab pos="2786380" algn="l"/>
                <a:tab pos="3612515" algn="l"/>
                <a:tab pos="4025265" algn="l"/>
                <a:tab pos="4851400" algn="l"/>
                <a:tab pos="5264150" algn="l"/>
                <a:tab pos="6091555" algn="l"/>
                <a:tab pos="6504305" algn="l"/>
              </a:tabLst>
            </a:pP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PTK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PRF-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384 (</a:t>
            </a:r>
            <a:r>
              <a:rPr sz="1350" b="1" spc="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ANonce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SNonce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AP-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STA-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350" b="1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350" b="1" spc="-50" dirty="0">
                <a:solidFill>
                  <a:srgbClr val="EFC040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405"/>
              </a:lnSpc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Splits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into:</a:t>
            </a:r>
            <a:r>
              <a:rPr sz="1300" spc="1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KCK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(16B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MIC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messages)</a:t>
            </a:r>
            <a:r>
              <a:rPr sz="1300" spc="75" dirty="0">
                <a:solidFill>
                  <a:srgbClr val="E8E8E8"/>
                </a:solidFill>
                <a:latin typeface="Segoe UI Symbol"/>
                <a:cs typeface="Segoe UI Symbol"/>
              </a:rPr>
              <a:t> 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4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KEK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(16B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encrypts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GTK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3)</a:t>
            </a:r>
            <a:r>
              <a:rPr sz="1300" spc="4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45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TK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(16–32B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85674"/>
            <a:ext cx="80657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0" dirty="0"/>
              <a:t>WPA2</a:t>
            </a:r>
            <a:r>
              <a:rPr sz="2600" spc="-229" dirty="0"/>
              <a:t> </a:t>
            </a:r>
            <a:r>
              <a:rPr sz="2600" dirty="0"/>
              <a:t>—</a:t>
            </a:r>
            <a:r>
              <a:rPr sz="2600" spc="-235" dirty="0"/>
              <a:t> </a:t>
            </a:r>
            <a:r>
              <a:rPr sz="2600" spc="-195" dirty="0"/>
              <a:t>AES-</a:t>
            </a:r>
            <a:r>
              <a:rPr sz="2600" spc="-120" dirty="0"/>
              <a:t>CCMP</a:t>
            </a:r>
            <a:r>
              <a:rPr sz="2600" spc="-240" dirty="0"/>
              <a:t> </a:t>
            </a:r>
            <a:r>
              <a:rPr sz="2600" spc="360" dirty="0"/>
              <a:t>s</a:t>
            </a:r>
            <a:r>
              <a:rPr sz="2600" spc="-240" dirty="0"/>
              <a:t> </a:t>
            </a:r>
            <a:r>
              <a:rPr sz="2600" spc="-225" dirty="0"/>
              <a:t>KRACK</a:t>
            </a:r>
            <a:r>
              <a:rPr sz="2600" spc="-254" dirty="0"/>
              <a:t> </a:t>
            </a:r>
            <a:r>
              <a:rPr sz="2600" spc="-290" dirty="0"/>
              <a:t>(Key</a:t>
            </a:r>
            <a:r>
              <a:rPr sz="2600" spc="-235" dirty="0"/>
              <a:t> </a:t>
            </a:r>
            <a:r>
              <a:rPr sz="2600" spc="-215" dirty="0"/>
              <a:t>Reinstallation</a:t>
            </a:r>
            <a:r>
              <a:rPr sz="2600" spc="-245" dirty="0"/>
              <a:t> </a:t>
            </a:r>
            <a:r>
              <a:rPr sz="2600" spc="-150" dirty="0"/>
              <a:t>Attack)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607948"/>
            <a:ext cx="1292860" cy="67945"/>
            <a:chOff x="405129" y="607948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61429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61429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722121"/>
            <a:ext cx="83140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WPA2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5" dirty="0">
                <a:solidFill>
                  <a:srgbClr val="89ABBE"/>
                </a:solidFill>
                <a:latin typeface="Arial"/>
                <a:cs typeface="Arial"/>
              </a:rPr>
              <a:t>(IEEE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802.11i,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 2004)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replaces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RC4/TKIP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AES-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CCMP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fundamentally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stronger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cipher.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Mandatory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Wi-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Fi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certification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since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200c.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080516"/>
            <a:ext cx="3203575" cy="1377950"/>
            <a:chOff x="156971" y="1080516"/>
            <a:chExt cx="3203575" cy="13779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080516"/>
              <a:ext cx="3203448" cy="13776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0039" y="1271778"/>
              <a:ext cx="2940685" cy="1033780"/>
            </a:xfrm>
            <a:custGeom>
              <a:avLst/>
              <a:gdLst/>
              <a:ahLst/>
              <a:cxnLst/>
              <a:rect l="l" t="t" r="r" b="b"/>
              <a:pathLst>
                <a:path w="2940685" h="1033780">
                  <a:moveTo>
                    <a:pt x="0" y="1033272"/>
                  </a:moveTo>
                  <a:lnTo>
                    <a:pt x="2940685" y="1033272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0332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5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6390" y="1241297"/>
            <a:ext cx="2886075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155F82"/>
                </a:solidFill>
                <a:latin typeface="Yu Gothic UI"/>
                <a:cs typeface="Yu Gothic UI"/>
              </a:rPr>
              <a:t>Counter</a:t>
            </a:r>
            <a:r>
              <a:rPr sz="1350" b="1" spc="-8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45" dirty="0">
                <a:solidFill>
                  <a:srgbClr val="155F82"/>
                </a:solidFill>
                <a:latin typeface="Yu Gothic UI"/>
                <a:cs typeface="Yu Gothic UI"/>
              </a:rPr>
              <a:t>Mode</a:t>
            </a:r>
            <a:r>
              <a:rPr sz="1350" b="1" spc="-8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55F82"/>
                </a:solidFill>
                <a:latin typeface="Yu Gothic UI"/>
                <a:cs typeface="Yu Gothic UI"/>
              </a:rPr>
              <a:t>(CTR)</a:t>
            </a:r>
            <a:r>
              <a:rPr sz="1350" b="1" spc="-5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endParaRPr sz="1350">
              <a:latin typeface="Yu Gothic UI"/>
              <a:cs typeface="Yu Gothic UI"/>
            </a:endParaRPr>
          </a:p>
          <a:p>
            <a:pPr marL="102870">
              <a:lnSpc>
                <a:spcPts val="1485"/>
              </a:lnSpc>
            </a:pPr>
            <a:r>
              <a:rPr sz="1350" b="1" spc="-10" dirty="0">
                <a:solidFill>
                  <a:srgbClr val="155F82"/>
                </a:solidFill>
                <a:latin typeface="Yu Gothic UI"/>
                <a:cs typeface="Yu Gothic UI"/>
              </a:rPr>
              <a:t>Confidentiality</a:t>
            </a:r>
            <a:endParaRPr sz="1350">
              <a:latin typeface="Yu Gothic UI"/>
              <a:cs typeface="Yu Gothic UI"/>
            </a:endParaRPr>
          </a:p>
          <a:p>
            <a:pPr marL="102870">
              <a:lnSpc>
                <a:spcPts val="1305"/>
              </a:lnSpc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128-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endParaRPr sz="1200">
              <a:latin typeface="Segoe UI Symbol"/>
              <a:cs typeface="Segoe UI Symbol"/>
            </a:endParaRPr>
          </a:p>
          <a:p>
            <a:pPr marL="102870" marR="299085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XOR'd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 (nonce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counter).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increment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two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sharing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068" y="2350770"/>
            <a:ext cx="2151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segment. Completely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55620" y="1080516"/>
            <a:ext cx="3203575" cy="1377950"/>
            <a:chOff x="3055620" y="1080516"/>
            <a:chExt cx="3203575" cy="13779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620" y="1080516"/>
              <a:ext cx="3203448" cy="13776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18688" y="1271778"/>
              <a:ext cx="2940685" cy="1033780"/>
            </a:xfrm>
            <a:custGeom>
              <a:avLst/>
              <a:gdLst/>
              <a:ahLst/>
              <a:cxnLst/>
              <a:rect l="l" t="t" r="r" b="b"/>
              <a:pathLst>
                <a:path w="2940685" h="1033780">
                  <a:moveTo>
                    <a:pt x="0" y="1033272"/>
                  </a:moveTo>
                  <a:lnTo>
                    <a:pt x="2940685" y="1033272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0332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18688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5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18688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18688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225038" y="1241297"/>
            <a:ext cx="2886075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 marR="27622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CBC-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MAC</a:t>
            </a:r>
            <a:r>
              <a:rPr sz="135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Protocol</a:t>
            </a:r>
            <a:r>
              <a:rPr sz="135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Integrity</a:t>
            </a: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275" dirty="0">
                <a:solidFill>
                  <a:srgbClr val="0E9ED4"/>
                </a:solidFill>
                <a:latin typeface="Yu Gothic UI"/>
                <a:cs typeface="Yu Gothic UI"/>
              </a:rPr>
              <a:t>s </a:t>
            </a: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Auth</a:t>
            </a:r>
            <a:endParaRPr sz="1350">
              <a:latin typeface="Yu Gothic UI"/>
              <a:cs typeface="Yu Gothic UI"/>
            </a:endParaRPr>
          </a:p>
          <a:p>
            <a:pPr marL="103505">
              <a:lnSpc>
                <a:spcPts val="117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Chaining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provides</a:t>
            </a:r>
            <a:endParaRPr sz="1200">
              <a:latin typeface="Segoe UI Symbol"/>
              <a:cs typeface="Segoe UI Symbol"/>
            </a:endParaRPr>
          </a:p>
          <a:p>
            <a:pPr marL="103505" marR="229235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cryptographic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integrity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data-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origin authenticity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same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as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8-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byte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MIC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appended to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16351" y="2350770"/>
            <a:ext cx="268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broken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54267" y="1080516"/>
            <a:ext cx="3190240" cy="1377950"/>
            <a:chOff x="5954267" y="1080516"/>
            <a:chExt cx="3190240" cy="137795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267" y="1080516"/>
              <a:ext cx="3189732" cy="13776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117335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4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17335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7335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23685" y="1278127"/>
            <a:ext cx="2927985" cy="10337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25"/>
              </a:spcBef>
            </a:pPr>
            <a:r>
              <a:rPr sz="1350" b="1" spc="-70" dirty="0">
                <a:solidFill>
                  <a:srgbClr val="186B23"/>
                </a:solidFill>
                <a:latin typeface="Yu Gothic UI"/>
                <a:cs typeface="Yu Gothic UI"/>
              </a:rPr>
              <a:t>48-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5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186B23"/>
                </a:solidFill>
                <a:latin typeface="Yu Gothic UI"/>
                <a:cs typeface="Yu Gothic UI"/>
              </a:rPr>
              <a:t>Packet</a:t>
            </a:r>
            <a:r>
              <a:rPr sz="135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Number</a:t>
            </a:r>
            <a:r>
              <a:rPr sz="135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(PN)</a:t>
            </a:r>
            <a:endParaRPr sz="1350">
              <a:latin typeface="Yu Gothic UI"/>
              <a:cs typeface="Yu Gothic UI"/>
            </a:endParaRPr>
          </a:p>
          <a:p>
            <a:pPr marL="104139" marR="208279">
              <a:lnSpc>
                <a:spcPct val="100000"/>
              </a:lnSpc>
              <a:spcBef>
                <a:spcPts val="540"/>
              </a:spcBef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Monotonically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increasing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200">
              <a:latin typeface="Segoe UI Symbol"/>
              <a:cs typeface="Segoe UI Symbol"/>
            </a:endParaRPr>
          </a:p>
          <a:p>
            <a:pPr marL="104139" marR="42545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Incorporated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each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15253" y="2350770"/>
            <a:ext cx="2454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catastrophic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KRACK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exactly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6971" y="2744736"/>
            <a:ext cx="3203575" cy="2219325"/>
            <a:chOff x="156971" y="2744736"/>
            <a:chExt cx="3203575" cy="221932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971" y="2744736"/>
              <a:ext cx="3203448" cy="22189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20040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5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0039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039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039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5355" y="3074325"/>
            <a:ext cx="2653665" cy="15887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Mechanism: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240"/>
              </a:spcBef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retransmits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MSG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way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spec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STA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reinstall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TK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receiving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retransmitted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nonce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recovery.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55620" y="2744736"/>
            <a:ext cx="3203575" cy="2219325"/>
            <a:chOff x="3055620" y="2744736"/>
            <a:chExt cx="3203575" cy="2219325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5620" y="2744736"/>
              <a:ext cx="3203448" cy="221894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18688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5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18688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18688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18688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334639" y="3110611"/>
            <a:ext cx="2672080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Impact: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96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manufactured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flaw,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software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bug.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TKIP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affected.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range,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decrypts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victim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traffic,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injects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replays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old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954267" y="2744736"/>
            <a:ext cx="3190240" cy="2219325"/>
            <a:chOff x="5954267" y="2744736"/>
            <a:chExt cx="3190240" cy="221932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4267" y="2744736"/>
              <a:ext cx="3189732" cy="22189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17336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4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4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17335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4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17335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17335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3540" y="3110611"/>
            <a:ext cx="2690495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Mitigation: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96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OS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patch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retransmit.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is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immune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design.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Enable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PMF.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Unpatched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cameras,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thermostats,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smart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appliances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remain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permanently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vulnerable.</a:t>
            </a:r>
            <a:endParaRPr sz="1200">
              <a:latin typeface="Segoe UI Symbol"/>
              <a:cs typeface="Segoe UI Symbo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456" y="4628388"/>
            <a:ext cx="337566" cy="34671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307340" y="4663541"/>
            <a:ext cx="8892540" cy="41973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205740">
              <a:lnSpc>
                <a:spcPts val="1550"/>
              </a:lnSpc>
              <a:spcBef>
                <a:spcPts val="155"/>
              </a:spcBef>
            </a:pP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Application: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Which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devices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your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have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never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received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KRACK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patch?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85" dirty="0">
                <a:solidFill>
                  <a:srgbClr val="186B23"/>
                </a:solidFill>
                <a:latin typeface="Segoe UI Symbol"/>
                <a:cs typeface="Segoe UI Symbol"/>
              </a:rPr>
              <a:t>IoT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manufacturers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typically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release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one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firmware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update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year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1</a:t>
            </a:r>
            <a:r>
              <a:rPr sz="13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then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abandon</a:t>
            </a:r>
            <a:r>
              <a:rPr sz="1300" spc="-8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device.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186B23"/>
                </a:solidFill>
                <a:latin typeface="Segoe UI Symbol"/>
                <a:cs typeface="Segoe UI Symbol"/>
              </a:rPr>
              <a:t>average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186B23"/>
                </a:solidFill>
                <a:latin typeface="Segoe UI Symbol"/>
                <a:cs typeface="Segoe UI Symbol"/>
              </a:rPr>
              <a:t>home</a:t>
            </a:r>
            <a:r>
              <a:rPr sz="13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has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80" dirty="0">
                <a:solidFill>
                  <a:srgbClr val="186B23"/>
                </a:solidFill>
                <a:latin typeface="Segoe UI Symbol"/>
                <a:cs typeface="Segoe UI Symbol"/>
              </a:rPr>
              <a:t>10+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permanently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unpatched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WPA2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devices.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8779" y="2535173"/>
            <a:ext cx="72942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1320"/>
              </a:lnSpc>
              <a:spcBef>
                <a:spcPts val="100"/>
              </a:spcBef>
              <a:tabLst>
                <a:tab pos="2929890" algn="l"/>
                <a:tab pos="5828665" algn="l"/>
              </a:tabLst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WEP/TKIP's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RC4.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WPA's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Michael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MIC.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680"/>
              </a:lnSpc>
            </a:pP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KRACK</a:t>
            </a:r>
            <a:r>
              <a:rPr sz="150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5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Reinstallation</a:t>
            </a:r>
            <a:r>
              <a:rPr sz="15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500" b="1" spc="3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C0392B"/>
                </a:solidFill>
                <a:latin typeface="Yu Gothic UI"/>
                <a:cs typeface="Yu Gothic UI"/>
              </a:rPr>
              <a:t>(Mathy</a:t>
            </a:r>
            <a:r>
              <a:rPr sz="15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C0392B"/>
                </a:solidFill>
                <a:latin typeface="Yu Gothic UI"/>
                <a:cs typeface="Yu Gothic UI"/>
              </a:rPr>
              <a:t>Vanhoef,</a:t>
            </a:r>
            <a:r>
              <a:rPr sz="15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2017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|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CVE-</a:t>
            </a:r>
            <a:r>
              <a:rPr sz="1500" b="1" spc="-20" dirty="0">
                <a:solidFill>
                  <a:srgbClr val="C0392B"/>
                </a:solidFill>
                <a:latin typeface="Yu Gothic UI"/>
                <a:cs typeface="Yu Gothic UI"/>
              </a:rPr>
              <a:t>2017-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13077</a:t>
            </a:r>
            <a:r>
              <a:rPr sz="150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40" dirty="0">
                <a:solidFill>
                  <a:srgbClr val="C0392B"/>
                </a:solidFill>
                <a:latin typeface="Yu Gothic UI"/>
                <a:cs typeface="Yu Gothic UI"/>
              </a:rPr>
              <a:t>to</a:t>
            </a:r>
            <a:r>
              <a:rPr sz="15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13088)</a:t>
            </a:r>
            <a:endParaRPr sz="15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0" dirty="0"/>
              <a:t>WPA2</a:t>
            </a:r>
            <a:r>
              <a:rPr sz="2600" spc="-240" dirty="0"/>
              <a:t> </a:t>
            </a:r>
            <a:r>
              <a:rPr sz="2600" dirty="0"/>
              <a:t>—</a:t>
            </a:r>
            <a:r>
              <a:rPr sz="2600" spc="-240" dirty="0"/>
              <a:t> </a:t>
            </a:r>
            <a:r>
              <a:rPr sz="2600" spc="-310" dirty="0"/>
              <a:t>PMKID</a:t>
            </a:r>
            <a:r>
              <a:rPr sz="2600" spc="-250" dirty="0"/>
              <a:t> </a:t>
            </a:r>
            <a:r>
              <a:rPr sz="2600" spc="-215" dirty="0"/>
              <a:t>Attack</a:t>
            </a:r>
            <a:r>
              <a:rPr sz="2600" spc="-245" dirty="0"/>
              <a:t> </a:t>
            </a:r>
            <a:r>
              <a:rPr sz="2600" spc="360" dirty="0"/>
              <a:t>s</a:t>
            </a:r>
            <a:r>
              <a:rPr sz="2600" spc="-229" dirty="0"/>
              <a:t> </a:t>
            </a:r>
            <a:r>
              <a:rPr sz="2600" spc="-220" dirty="0"/>
              <a:t>Personal</a:t>
            </a:r>
            <a:r>
              <a:rPr sz="2600" spc="-254" dirty="0"/>
              <a:t> </a:t>
            </a:r>
            <a:r>
              <a:rPr sz="2600" spc="-200" dirty="0"/>
              <a:t>vs</a:t>
            </a:r>
            <a:r>
              <a:rPr sz="2600" spc="-229" dirty="0"/>
              <a:t> </a:t>
            </a:r>
            <a:r>
              <a:rPr sz="2600" spc="-175" dirty="0"/>
              <a:t>Enterprise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971" y="908050"/>
            <a:ext cx="8766175" cy="2208530"/>
            <a:chOff x="156971" y="908050"/>
            <a:chExt cx="8766175" cy="22085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934211"/>
              <a:ext cx="8766048" cy="21823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039" y="1042415"/>
              <a:ext cx="8503920" cy="1920239"/>
            </a:xfrm>
            <a:custGeom>
              <a:avLst/>
              <a:gdLst/>
              <a:ahLst/>
              <a:cxnLst/>
              <a:rect l="l" t="t" r="r" b="b"/>
              <a:pathLst>
                <a:path w="8503920" h="1920239">
                  <a:moveTo>
                    <a:pt x="8503920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503920" y="1920239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042415"/>
              <a:ext cx="8503920" cy="1920239"/>
            </a:xfrm>
            <a:custGeom>
              <a:avLst/>
              <a:gdLst/>
              <a:ahLst/>
              <a:cxnLst/>
              <a:rect l="l" t="t" r="r" b="b"/>
              <a:pathLst>
                <a:path w="8503920" h="1920239">
                  <a:moveTo>
                    <a:pt x="0" y="1920239"/>
                  </a:moveTo>
                  <a:lnTo>
                    <a:pt x="8503920" y="1920239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914400"/>
              <a:ext cx="8503920" cy="82550"/>
            </a:xfrm>
            <a:custGeom>
              <a:avLst/>
              <a:gdLst/>
              <a:ahLst/>
              <a:cxnLst/>
              <a:rect l="l" t="t" r="r" b="b"/>
              <a:pathLst>
                <a:path w="8503920" h="82550">
                  <a:moveTo>
                    <a:pt x="8503920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8503920" y="82296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914400"/>
              <a:ext cx="8503920" cy="82550"/>
            </a:xfrm>
            <a:custGeom>
              <a:avLst/>
              <a:gdLst/>
              <a:ahLst/>
              <a:cxnLst/>
              <a:rect l="l" t="t" r="r" b="b"/>
              <a:pathLst>
                <a:path w="8503920" h="82550">
                  <a:moveTo>
                    <a:pt x="0" y="82296"/>
                  </a:moveTo>
                  <a:lnTo>
                    <a:pt x="8503920" y="82296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7340" y="1057402"/>
            <a:ext cx="7960359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E97031"/>
                </a:solidFill>
                <a:latin typeface="Yu Gothic UI"/>
                <a:cs typeface="Yu Gothic UI"/>
              </a:rPr>
              <a:t>PMKID</a:t>
            </a:r>
            <a:r>
              <a:rPr sz="16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600" b="1" spc="3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600" b="1" spc="2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Jens</a:t>
            </a:r>
            <a:r>
              <a:rPr sz="16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Steube</a:t>
            </a:r>
            <a:r>
              <a:rPr sz="16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(Hashcat</a:t>
            </a:r>
            <a:r>
              <a:rPr sz="16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E97031"/>
                </a:solidFill>
                <a:latin typeface="Yu Gothic UI"/>
                <a:cs typeface="Yu Gothic UI"/>
              </a:rPr>
              <a:t>author),</a:t>
            </a:r>
            <a:r>
              <a:rPr sz="1600" b="1" spc="-6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E97031"/>
                </a:solidFill>
                <a:latin typeface="Yu Gothic UI"/>
                <a:cs typeface="Yu Gothic UI"/>
              </a:rPr>
              <a:t>2018</a:t>
            </a:r>
            <a:endParaRPr sz="1600">
              <a:latin typeface="Yu Gothic UI"/>
              <a:cs typeface="Yu Gothic UI"/>
            </a:endParaRPr>
          </a:p>
          <a:p>
            <a:pPr marL="149860">
              <a:lnSpc>
                <a:spcPct val="100000"/>
              </a:lnSpc>
              <a:spcBef>
                <a:spcPts val="2100"/>
              </a:spcBef>
              <a:tabLst>
                <a:tab pos="928369" algn="l"/>
                <a:tab pos="1261745" algn="l"/>
                <a:tab pos="3818254" algn="l"/>
                <a:tab pos="5151755" algn="l"/>
                <a:tab pos="5596890" algn="l"/>
                <a:tab pos="6484620" algn="l"/>
                <a:tab pos="6928484" algn="l"/>
              </a:tabLst>
            </a:pP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PMKID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0" dirty="0">
                <a:solidFill>
                  <a:srgbClr val="EFC040"/>
                </a:solidFill>
                <a:latin typeface="Courier New"/>
                <a:cs typeface="Courier New"/>
              </a:rPr>
              <a:t>HMAC-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SHA1-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128 (</a:t>
            </a:r>
            <a:r>
              <a:rPr sz="1450" b="1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450" b="1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,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"PMK</a:t>
            </a:r>
            <a:r>
              <a:rPr sz="1450" b="1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Name"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AP-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STA-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450" b="1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)</a:t>
            </a:r>
            <a:endParaRPr sz="1450">
              <a:latin typeface="Courier New"/>
              <a:cs typeface="Courier New"/>
            </a:endParaRPr>
          </a:p>
          <a:p>
            <a:pPr marL="353695" indent="-203835">
              <a:lnSpc>
                <a:spcPct val="100000"/>
              </a:lnSpc>
              <a:spcBef>
                <a:spcPts val="795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(the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response)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4-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needed</a:t>
            </a:r>
            <a:endParaRPr sz="1300">
              <a:latin typeface="Segoe UI Symbol"/>
              <a:cs typeface="Segoe UI Symbol"/>
            </a:endParaRPr>
          </a:p>
          <a:p>
            <a:pPr marL="353695" indent="-203835">
              <a:lnSpc>
                <a:spcPct val="100000"/>
              </a:lnSpc>
              <a:spcBef>
                <a:spcPts val="310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endParaRPr sz="1300">
              <a:latin typeface="Segoe UI Symbol"/>
              <a:cs typeface="Segoe UI Symbol"/>
            </a:endParaRPr>
          </a:p>
          <a:p>
            <a:pPr marL="353695" indent="-203835">
              <a:lnSpc>
                <a:spcPct val="100000"/>
              </a:lnSpc>
              <a:spcBef>
                <a:spcPts val="315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Collected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</a:t>
            </a:r>
            <a:endParaRPr sz="1300">
              <a:latin typeface="Segoe UI Symbol"/>
              <a:cs typeface="Segoe UI Symbol"/>
            </a:endParaRPr>
          </a:p>
          <a:p>
            <a:pPr marL="451484" indent="-311150">
              <a:lnSpc>
                <a:spcPct val="100000"/>
              </a:lnSpc>
              <a:spcBef>
                <a:spcPts val="345"/>
              </a:spcBef>
              <a:buFont typeface="Cambria Math"/>
              <a:buChar char="◗"/>
              <a:tabLst>
                <a:tab pos="451484" algn="l"/>
                <a:tab pos="3120390" algn="l"/>
              </a:tabLst>
            </a:pP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Submit</a:t>
            </a:r>
            <a:r>
              <a:rPr sz="120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directly</a:t>
            </a:r>
            <a:r>
              <a:rPr sz="120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to</a:t>
            </a:r>
            <a:r>
              <a:rPr sz="120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Hashcat: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	hcxpcapngtool</a:t>
            </a:r>
            <a:r>
              <a:rPr sz="120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capture.pcapng</a:t>
            </a:r>
            <a:r>
              <a:rPr sz="120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200" spc="-7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200" spc="-6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endParaRPr sz="1200">
              <a:latin typeface="Courier New"/>
              <a:cs typeface="Courier New"/>
            </a:endParaRPr>
          </a:p>
          <a:p>
            <a:pPr marL="140335">
              <a:lnSpc>
                <a:spcPts val="1355"/>
              </a:lnSpc>
            </a:pP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200" spc="-7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</a:pP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Personal</a:t>
            </a:r>
            <a:r>
              <a:rPr sz="150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vs</a:t>
            </a:r>
            <a:r>
              <a:rPr sz="150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Enterprise</a:t>
            </a:r>
            <a:r>
              <a:rPr sz="15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50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Choosing</a:t>
            </a:r>
            <a:r>
              <a:rPr sz="15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the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40" dirty="0">
                <a:solidFill>
                  <a:srgbClr val="0E9ED4"/>
                </a:solidFill>
                <a:latin typeface="Yu Gothic UI"/>
                <a:cs typeface="Yu Gothic UI"/>
              </a:rPr>
              <a:t>Right</a:t>
            </a:r>
            <a:r>
              <a:rPr sz="150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Mode:</a:t>
            </a:r>
            <a:endParaRPr sz="1500">
              <a:latin typeface="Yu Gothic UI"/>
              <a:cs typeface="Yu Gothic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971" y="3238513"/>
            <a:ext cx="4422775" cy="1895475"/>
            <a:chOff x="156971" y="3238513"/>
            <a:chExt cx="4422775" cy="18954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238513"/>
              <a:ext cx="4422648" cy="18897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0039" y="3438651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53"/>
                  </a:moveTo>
                  <a:lnTo>
                    <a:pt x="4160520" y="1536153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36153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39" y="3347173"/>
              <a:ext cx="4160520" cy="1628139"/>
            </a:xfrm>
            <a:custGeom>
              <a:avLst/>
              <a:gdLst/>
              <a:ahLst/>
              <a:cxnLst/>
              <a:rect l="l" t="t" r="r" b="b"/>
              <a:pathLst>
                <a:path w="4160520" h="1628139">
                  <a:moveTo>
                    <a:pt x="0" y="1627632"/>
                  </a:moveTo>
                  <a:lnTo>
                    <a:pt x="4160520" y="162763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41605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160520" y="914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0" y="91439"/>
                  </a:moveTo>
                  <a:lnTo>
                    <a:pt x="4160520" y="914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615" y="4812791"/>
              <a:ext cx="310134" cy="3208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26390" y="3374559"/>
            <a:ext cx="4147820" cy="167703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015"/>
              </a:spcBef>
            </a:pPr>
            <a:r>
              <a:rPr sz="1500" b="1" spc="-70" dirty="0">
                <a:solidFill>
                  <a:srgbClr val="E97031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Personal</a:t>
            </a:r>
            <a:r>
              <a:rPr sz="1500" b="1" spc="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E97031"/>
                </a:solidFill>
                <a:latin typeface="Yu Gothic UI"/>
                <a:cs typeface="Yu Gothic UI"/>
              </a:rPr>
              <a:t>(PSK)</a:t>
            </a:r>
            <a:endParaRPr sz="1500">
              <a:latin typeface="Yu Gothic UI"/>
              <a:cs typeface="Yu Gothic UI"/>
            </a:endParaRPr>
          </a:p>
          <a:p>
            <a:pPr marL="325120" indent="-203835">
              <a:lnSpc>
                <a:spcPct val="100000"/>
              </a:lnSpc>
              <a:spcBef>
                <a:spcPts val="79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PBKDF2-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SHA1(passphrase,</a:t>
            </a:r>
            <a:r>
              <a:rPr sz="13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4096,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32B)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3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5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risk</a:t>
            </a:r>
            <a:endParaRPr sz="1300">
              <a:latin typeface="Segoe UI Symbol"/>
              <a:cs typeface="Segoe UI Symbol"/>
            </a:endParaRPr>
          </a:p>
          <a:p>
            <a:pPr marL="313690">
              <a:lnSpc>
                <a:spcPct val="100000"/>
              </a:lnSpc>
              <a:spcBef>
                <a:spcPts val="160"/>
              </a:spcBef>
            </a:pP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Home/SOHO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only.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Passphrase: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85" dirty="0">
                <a:solidFill>
                  <a:srgbClr val="186B23"/>
                </a:solidFill>
                <a:latin typeface="Segoe UI Symbol"/>
                <a:cs typeface="Segoe UI Symbol"/>
              </a:rPr>
              <a:t>20+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random</a:t>
            </a:r>
            <a:r>
              <a:rPr sz="120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chars.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00371" y="3238513"/>
            <a:ext cx="4422775" cy="1889760"/>
            <a:chOff x="4500371" y="3238513"/>
            <a:chExt cx="4422775" cy="188976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238513"/>
              <a:ext cx="4422648" cy="188976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63439" y="3438651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53"/>
                  </a:moveTo>
                  <a:lnTo>
                    <a:pt x="4160519" y="1536153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36153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63439" y="3347173"/>
              <a:ext cx="4160520" cy="1628139"/>
            </a:xfrm>
            <a:custGeom>
              <a:avLst/>
              <a:gdLst/>
              <a:ahLst/>
              <a:cxnLst/>
              <a:rect l="l" t="t" r="r" b="b"/>
              <a:pathLst>
                <a:path w="4160520" h="1628139">
                  <a:moveTo>
                    <a:pt x="0" y="1627632"/>
                  </a:moveTo>
                  <a:lnTo>
                    <a:pt x="4160519" y="162763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416051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160519" y="91439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634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0" y="91439"/>
                  </a:moveTo>
                  <a:lnTo>
                    <a:pt x="4160519" y="9143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779390" y="3446878"/>
            <a:ext cx="3851910" cy="5340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500" b="1" spc="-70" dirty="0">
                <a:solidFill>
                  <a:srgbClr val="186B23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5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(802.1X</a:t>
            </a:r>
            <a:r>
              <a:rPr sz="1500" b="1" spc="-3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500" b="1" spc="-2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186B23"/>
                </a:solidFill>
                <a:latin typeface="Yu Gothic UI"/>
                <a:cs typeface="Yu Gothic UI"/>
              </a:rPr>
              <a:t>EAP)</a:t>
            </a:r>
            <a:endParaRPr sz="1500">
              <a:latin typeface="Yu Gothic UI"/>
              <a:cs typeface="Yu Gothic UI"/>
            </a:endParaRPr>
          </a:p>
          <a:p>
            <a:pPr marL="216535" indent="-203835">
              <a:lnSpc>
                <a:spcPct val="100000"/>
              </a:lnSpc>
              <a:spcBef>
                <a:spcPts val="2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per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username+pw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79390" y="3990847"/>
            <a:ext cx="40728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79390" y="4152391"/>
            <a:ext cx="3931285" cy="641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exposes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endParaRPr sz="1300">
              <a:latin typeface="Segoe UI Symbol"/>
              <a:cs typeface="Segoe UI Symbol"/>
            </a:endParaRPr>
          </a:p>
          <a:p>
            <a:pPr marL="216535" indent="-203835">
              <a:lnSpc>
                <a:spcPct val="100000"/>
              </a:lnSpc>
              <a:spcBef>
                <a:spcPts val="2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vector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exist</a:t>
            </a:r>
            <a:endParaRPr sz="1300">
              <a:latin typeface="Segoe UI Symbol"/>
              <a:cs typeface="Segoe UI Symbol"/>
            </a:endParaRPr>
          </a:p>
          <a:p>
            <a:pPr marL="216535" indent="-203835">
              <a:lnSpc>
                <a:spcPct val="100000"/>
              </a:lnSpc>
              <a:spcBef>
                <a:spcPts val="14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endParaRPr sz="1300">
              <a:latin typeface="Segoe UI Symbol"/>
              <a:cs typeface="Segoe UI Symbo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4756403"/>
            <a:ext cx="310134" cy="320802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843398" y="4786985"/>
            <a:ext cx="409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All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enterprise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WLANs.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EAP-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TLS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mutual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certs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=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gold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standard.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5384"/>
            <a:ext cx="818769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WPA3</a:t>
            </a:r>
            <a:r>
              <a:rPr spc="-300" dirty="0"/>
              <a:t> </a:t>
            </a:r>
            <a:r>
              <a:rPr dirty="0"/>
              <a:t>—</a:t>
            </a:r>
            <a:r>
              <a:rPr spc="-305" dirty="0"/>
              <a:t> </a:t>
            </a:r>
            <a:r>
              <a:rPr spc="-90" dirty="0"/>
              <a:t>SAE</a:t>
            </a:r>
            <a:r>
              <a:rPr spc="-13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265" dirty="0"/>
              <a:t>OWE</a:t>
            </a:r>
            <a:r>
              <a:rPr spc="5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105" dirty="0"/>
              <a:t>DPP</a:t>
            </a:r>
            <a:r>
              <a:rPr spc="11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295" dirty="0"/>
              <a:t>Forward</a:t>
            </a:r>
            <a:r>
              <a:rPr spc="-315" dirty="0"/>
              <a:t> </a:t>
            </a:r>
            <a:r>
              <a:rPr spc="-175" dirty="0"/>
              <a:t>Secrecy</a:t>
            </a:r>
            <a:r>
              <a:rPr spc="155" dirty="0"/>
              <a:t> </a:t>
            </a:r>
            <a:r>
              <a:rPr spc="-509" dirty="0"/>
              <a:t>•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15" dirty="0"/>
              <a:t>802.11w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8857615" cy="1642110"/>
            <a:chOff x="111252" y="871474"/>
            <a:chExt cx="8857615" cy="164211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8857488" cy="16154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78992"/>
              <a:ext cx="8595360" cy="1280160"/>
            </a:xfrm>
            <a:custGeom>
              <a:avLst/>
              <a:gdLst/>
              <a:ahLst/>
              <a:cxnLst/>
              <a:rect l="l" t="t" r="r" b="b"/>
              <a:pathLst>
                <a:path w="8595360" h="1280160">
                  <a:moveTo>
                    <a:pt x="0" y="1280160"/>
                  </a:moveTo>
                  <a:lnTo>
                    <a:pt x="8595360" y="128016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8595360" cy="1353820"/>
            </a:xfrm>
            <a:custGeom>
              <a:avLst/>
              <a:gdLst/>
              <a:ahLst/>
              <a:cxnLst/>
              <a:rect l="l" t="t" r="r" b="b"/>
              <a:pathLst>
                <a:path w="8595360" h="1353820">
                  <a:moveTo>
                    <a:pt x="0" y="1353312"/>
                  </a:moveTo>
                  <a:lnTo>
                    <a:pt x="8595360" y="135331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53312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859536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595360" y="73151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0" y="73151"/>
                  </a:moveTo>
                  <a:lnTo>
                    <a:pt x="8595360" y="731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0670" y="1142238"/>
            <a:ext cx="8582660" cy="1101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1.48</a:t>
            </a:r>
            <a:endParaRPr sz="1350">
              <a:latin typeface="Yu Gothic UI"/>
              <a:cs typeface="Yu Gothic UI"/>
            </a:endParaRPr>
          </a:p>
          <a:p>
            <a:pPr marL="121285" marR="223520">
              <a:lnSpc>
                <a:spcPct val="100299"/>
              </a:lnSpc>
              <a:spcBef>
                <a:spcPts val="1065"/>
              </a:spcBef>
            </a:pP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knowledge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4-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Neither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side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or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over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air.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produces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there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guess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(online-only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brute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force),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making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automated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impossible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regardless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 weakness.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1252" y="2360676"/>
            <a:ext cx="4422775" cy="1496695"/>
            <a:chOff x="111252" y="2360676"/>
            <a:chExt cx="4422775" cy="149669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360676"/>
              <a:ext cx="4422648" cy="14965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4320" y="2542032"/>
              <a:ext cx="4160520" cy="1161415"/>
            </a:xfrm>
            <a:custGeom>
              <a:avLst/>
              <a:gdLst/>
              <a:ahLst/>
              <a:cxnLst/>
              <a:rect l="l" t="t" r="r" b="b"/>
              <a:pathLst>
                <a:path w="4160520" h="1161414">
                  <a:moveTo>
                    <a:pt x="0" y="1161288"/>
                  </a:moveTo>
                  <a:lnTo>
                    <a:pt x="4160520" y="116128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16128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2468880"/>
              <a:ext cx="4160520" cy="1234440"/>
            </a:xfrm>
            <a:custGeom>
              <a:avLst/>
              <a:gdLst/>
              <a:ahLst/>
              <a:cxnLst/>
              <a:rect l="l" t="t" r="r" b="b"/>
              <a:pathLst>
                <a:path w="4160520" h="1234439">
                  <a:moveTo>
                    <a:pt x="0" y="1234440"/>
                  </a:moveTo>
                  <a:lnTo>
                    <a:pt x="4160520" y="12344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2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20" y="73151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20" y="7315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0670" y="2543048"/>
            <a:ext cx="4147820" cy="1102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285">
              <a:lnSpc>
                <a:spcPts val="1445"/>
              </a:lnSpc>
              <a:spcBef>
                <a:spcPts val="105"/>
              </a:spcBef>
            </a:pPr>
            <a:r>
              <a:rPr sz="1350" b="1" spc="-20" dirty="0">
                <a:solidFill>
                  <a:srgbClr val="155F82"/>
                </a:solidFill>
                <a:latin typeface="Yu Gothic UI"/>
                <a:cs typeface="Yu Gothic UI"/>
              </a:rPr>
              <a:t>1.35</a:t>
            </a:r>
            <a:endParaRPr sz="1350">
              <a:latin typeface="Yu Gothic UI"/>
              <a:cs typeface="Yu Gothic UI"/>
            </a:endParaRPr>
          </a:p>
          <a:p>
            <a:pPr marL="121285">
              <a:lnSpc>
                <a:spcPts val="126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unique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via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</a:t>
            </a:r>
            <a:endParaRPr sz="1200">
              <a:latin typeface="Segoe UI Symbol"/>
              <a:cs typeface="Segoe UI Symbol"/>
            </a:endParaRPr>
          </a:p>
          <a:p>
            <a:pPr marL="121285" marR="121285">
              <a:lnSpc>
                <a:spcPct val="100000"/>
              </a:lnSpc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long-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term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later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date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allow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previously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captured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critical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organisations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may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face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retrospective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decryption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from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adversaries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storing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636" y="3621785"/>
            <a:ext cx="649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00371" y="2360676"/>
            <a:ext cx="4422775" cy="1496695"/>
            <a:chOff x="4500371" y="2360676"/>
            <a:chExt cx="4422775" cy="149669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360676"/>
              <a:ext cx="4422648" cy="149656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439" y="2542032"/>
              <a:ext cx="4160520" cy="1161415"/>
            </a:xfrm>
            <a:custGeom>
              <a:avLst/>
              <a:gdLst/>
              <a:ahLst/>
              <a:cxnLst/>
              <a:rect l="l" t="t" r="r" b="b"/>
              <a:pathLst>
                <a:path w="4160520" h="1161414">
                  <a:moveTo>
                    <a:pt x="0" y="1161288"/>
                  </a:moveTo>
                  <a:lnTo>
                    <a:pt x="4160519" y="116128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16128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439" y="2468880"/>
              <a:ext cx="4160520" cy="1234440"/>
            </a:xfrm>
            <a:custGeom>
              <a:avLst/>
              <a:gdLst/>
              <a:ahLst/>
              <a:cxnLst/>
              <a:rect l="l" t="t" r="r" b="b"/>
              <a:pathLst>
                <a:path w="4160520" h="1234439">
                  <a:moveTo>
                    <a:pt x="0" y="1234440"/>
                  </a:moveTo>
                  <a:lnTo>
                    <a:pt x="4160519" y="123444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63439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1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19" y="73151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39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19" y="7315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69790" y="2543048"/>
            <a:ext cx="4147820" cy="1104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1.35</a:t>
            </a:r>
            <a:endParaRPr sz="1350">
              <a:latin typeface="Yu Gothic UI"/>
              <a:cs typeface="Yu Gothic UI"/>
            </a:endParaRPr>
          </a:p>
          <a:p>
            <a:pPr marL="121920" marR="461009">
              <a:lnSpc>
                <a:spcPct val="100000"/>
              </a:lnSpc>
              <a:spcBef>
                <a:spcPts val="109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Encrypts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(no-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password)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using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Diffie-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Hellman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exchange.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endParaRPr sz="1200">
              <a:latin typeface="Segoe UI Symbol"/>
              <a:cs typeface="Segoe UI Symbol"/>
            </a:endParaRPr>
          </a:p>
          <a:p>
            <a:pPr marL="12192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provides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confidentiality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against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passive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sniffing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café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200">
              <a:latin typeface="Segoe UI Symbol"/>
              <a:cs typeface="Segoe UI Symbol"/>
            </a:endParaRPr>
          </a:p>
          <a:p>
            <a:pPr marL="121920">
              <a:lnSpc>
                <a:spcPct val="100000"/>
              </a:lnSpc>
              <a:spcBef>
                <a:spcPts val="15"/>
              </a:spcBef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airport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Transparent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users.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1252" y="3704861"/>
            <a:ext cx="4422775" cy="1438910"/>
            <a:chOff x="111252" y="3704861"/>
            <a:chExt cx="4422775" cy="143891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3704861"/>
              <a:ext cx="4422648" cy="143863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4320" y="3886200"/>
              <a:ext cx="4160520" cy="1152525"/>
            </a:xfrm>
            <a:custGeom>
              <a:avLst/>
              <a:gdLst/>
              <a:ahLst/>
              <a:cxnLst/>
              <a:rect l="l" t="t" r="r" b="b"/>
              <a:pathLst>
                <a:path w="4160520" h="1152525">
                  <a:moveTo>
                    <a:pt x="0" y="1152144"/>
                  </a:moveTo>
                  <a:lnTo>
                    <a:pt x="4160520" y="115214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3813048"/>
              <a:ext cx="4160520" cy="1225550"/>
            </a:xfrm>
            <a:custGeom>
              <a:avLst/>
              <a:gdLst/>
              <a:ahLst/>
              <a:cxnLst/>
              <a:rect l="l" t="t" r="r" b="b"/>
              <a:pathLst>
                <a:path w="4160520" h="1225550">
                  <a:moveTo>
                    <a:pt x="0" y="1225295"/>
                  </a:moveTo>
                  <a:lnTo>
                    <a:pt x="4160520" y="122529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2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20" y="73151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20" y="7315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80670" y="3839301"/>
            <a:ext cx="4147820" cy="12395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484"/>
              </a:spcBef>
            </a:pPr>
            <a:r>
              <a:rPr sz="1350" b="1" spc="-20" dirty="0">
                <a:solidFill>
                  <a:srgbClr val="EFC040"/>
                </a:solidFill>
                <a:latin typeface="Yu Gothic UI"/>
                <a:cs typeface="Yu Gothic UI"/>
              </a:rPr>
              <a:t>1.34</a:t>
            </a:r>
            <a:endParaRPr sz="1350">
              <a:latin typeface="Yu Gothic UI"/>
              <a:cs typeface="Yu Gothic UI"/>
            </a:endParaRPr>
          </a:p>
          <a:p>
            <a:pPr marL="121285" marR="215265">
              <a:lnSpc>
                <a:spcPct val="100200"/>
              </a:lnSpc>
              <a:spcBef>
                <a:spcPts val="334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split-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flaw.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QR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code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tap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securely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provision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configurator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(e.g.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smartphone)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provisions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credentials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enrollee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exposing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Reaver-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style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brute-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possible.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00371" y="3704861"/>
            <a:ext cx="4422775" cy="1438910"/>
            <a:chOff x="4500371" y="3704861"/>
            <a:chExt cx="4422775" cy="1438910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3704861"/>
              <a:ext cx="4422648" cy="143863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63439" y="3886200"/>
              <a:ext cx="4160520" cy="1152525"/>
            </a:xfrm>
            <a:custGeom>
              <a:avLst/>
              <a:gdLst/>
              <a:ahLst/>
              <a:cxnLst/>
              <a:rect l="l" t="t" r="r" b="b"/>
              <a:pathLst>
                <a:path w="4160520" h="1152525">
                  <a:moveTo>
                    <a:pt x="0" y="1152144"/>
                  </a:moveTo>
                  <a:lnTo>
                    <a:pt x="4160519" y="115214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63439" y="3813048"/>
              <a:ext cx="4160520" cy="1225550"/>
            </a:xfrm>
            <a:custGeom>
              <a:avLst/>
              <a:gdLst/>
              <a:ahLst/>
              <a:cxnLst/>
              <a:rect l="l" t="t" r="r" b="b"/>
              <a:pathLst>
                <a:path w="4160520" h="1225550">
                  <a:moveTo>
                    <a:pt x="0" y="1225295"/>
                  </a:moveTo>
                  <a:lnTo>
                    <a:pt x="4160519" y="122529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3439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1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19" y="73151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19" y="7315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69790" y="3887520"/>
            <a:ext cx="4147820" cy="1099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E97031"/>
                </a:solidFill>
                <a:latin typeface="Yu Gothic UI"/>
                <a:cs typeface="Yu Gothic UI"/>
              </a:rPr>
              <a:t>1.34</a:t>
            </a:r>
            <a:endParaRPr sz="1350">
              <a:latin typeface="Yu Gothic UI"/>
              <a:cs typeface="Yu Gothic UI"/>
            </a:endParaRPr>
          </a:p>
          <a:p>
            <a:pPr marL="121920" marR="224790">
              <a:lnSpc>
                <a:spcPct val="100299"/>
              </a:lnSpc>
              <a:spcBef>
                <a:spcPts val="1050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GCMP-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256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HMAC-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SHA-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384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+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BIP-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GMAC-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256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protection.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Aligned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CNSA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(Commercial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National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Algorithm)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government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classified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environments.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4173"/>
            <a:ext cx="76041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WEP</a:t>
            </a:r>
            <a:r>
              <a:rPr spc="285" dirty="0"/>
              <a:t> </a:t>
            </a:r>
            <a:r>
              <a:rPr spc="-459" dirty="0"/>
              <a:t>•</a:t>
            </a:r>
            <a:r>
              <a:rPr spc="295" dirty="0"/>
              <a:t> </a:t>
            </a:r>
            <a:r>
              <a:rPr spc="-320" dirty="0"/>
              <a:t>WPA</a:t>
            </a:r>
            <a:r>
              <a:rPr spc="290" dirty="0"/>
              <a:t> </a:t>
            </a:r>
            <a:r>
              <a:rPr spc="-459" dirty="0"/>
              <a:t>•</a:t>
            </a:r>
            <a:r>
              <a:rPr spc="275" dirty="0"/>
              <a:t> </a:t>
            </a:r>
            <a:r>
              <a:rPr spc="-315" dirty="0"/>
              <a:t>WPA2</a:t>
            </a:r>
            <a:r>
              <a:rPr spc="290" dirty="0"/>
              <a:t> </a:t>
            </a:r>
            <a:r>
              <a:rPr spc="-459" dirty="0"/>
              <a:t>•</a:t>
            </a:r>
            <a:r>
              <a:rPr spc="275" dirty="0"/>
              <a:t> </a:t>
            </a:r>
            <a:r>
              <a:rPr spc="-315" dirty="0"/>
              <a:t>WPA3</a:t>
            </a:r>
            <a:r>
              <a:rPr spc="-285" dirty="0"/>
              <a:t> </a:t>
            </a:r>
            <a:r>
              <a:rPr dirty="0"/>
              <a:t>—</a:t>
            </a:r>
            <a:r>
              <a:rPr spc="-300" dirty="0"/>
              <a:t> </a:t>
            </a:r>
            <a:r>
              <a:rPr spc="-229" dirty="0"/>
              <a:t>Side-</a:t>
            </a:r>
            <a:r>
              <a:rPr spc="-265" dirty="0"/>
              <a:t>by-</a:t>
            </a:r>
            <a:r>
              <a:rPr spc="-135" dirty="0"/>
              <a:t>Side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51052"/>
            <a:ext cx="1292860" cy="67945"/>
            <a:chOff x="405129" y="551052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3901046"/>
            <a:ext cx="8857615" cy="1242695"/>
            <a:chOff x="111252" y="3901046"/>
            <a:chExt cx="8857615" cy="1242695"/>
          </a:xfrm>
        </p:grpSpPr>
        <p:sp>
          <p:nvSpPr>
            <p:cNvPr id="10" name="object 10"/>
            <p:cNvSpPr/>
            <p:nvPr/>
          </p:nvSpPr>
          <p:spPr>
            <a:xfrm>
              <a:off x="274320" y="3901059"/>
              <a:ext cx="6967855" cy="487680"/>
            </a:xfrm>
            <a:custGeom>
              <a:avLst/>
              <a:gdLst/>
              <a:ahLst/>
              <a:cxnLst/>
              <a:rect l="l" t="t" r="r" b="b"/>
              <a:pathLst>
                <a:path w="6967855" h="487679">
                  <a:moveTo>
                    <a:pt x="5230355" y="0"/>
                  </a:moveTo>
                  <a:lnTo>
                    <a:pt x="3566160" y="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87667"/>
                  </a:lnTo>
                  <a:lnTo>
                    <a:pt x="1828800" y="487667"/>
                  </a:lnTo>
                  <a:lnTo>
                    <a:pt x="3566160" y="487667"/>
                  </a:lnTo>
                  <a:lnTo>
                    <a:pt x="5230355" y="487667"/>
                  </a:lnTo>
                  <a:lnTo>
                    <a:pt x="5230355" y="0"/>
                  </a:lnTo>
                  <a:close/>
                </a:path>
                <a:path w="6967855" h="487679">
                  <a:moveTo>
                    <a:pt x="6967728" y="0"/>
                  </a:moveTo>
                  <a:lnTo>
                    <a:pt x="5230368" y="0"/>
                  </a:lnTo>
                  <a:lnTo>
                    <a:pt x="5230368" y="487667"/>
                  </a:lnTo>
                  <a:lnTo>
                    <a:pt x="6967728" y="487667"/>
                  </a:lnTo>
                  <a:lnTo>
                    <a:pt x="6967728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2047" y="3901046"/>
              <a:ext cx="1628139" cy="487680"/>
            </a:xfrm>
            <a:custGeom>
              <a:avLst/>
              <a:gdLst/>
              <a:ahLst/>
              <a:cxnLst/>
              <a:rect l="l" t="t" r="r" b="b"/>
              <a:pathLst>
                <a:path w="1628140" h="487679">
                  <a:moveTo>
                    <a:pt x="1627631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1627631" y="487680"/>
                  </a:lnTo>
                  <a:lnTo>
                    <a:pt x="1627631" y="0"/>
                  </a:lnTo>
                  <a:close/>
                </a:path>
              </a:pathLst>
            </a:custGeom>
            <a:solidFill>
              <a:srgbClr val="091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4317488"/>
              <a:ext cx="8857488" cy="82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20" y="4426592"/>
              <a:ext cx="8595360" cy="694690"/>
            </a:xfrm>
            <a:custGeom>
              <a:avLst/>
              <a:gdLst/>
              <a:ahLst/>
              <a:cxnLst/>
              <a:rect l="l" t="t" r="r" b="b"/>
              <a:pathLst>
                <a:path w="8595360" h="694689">
                  <a:moveTo>
                    <a:pt x="8595360" y="0"/>
                  </a:moveTo>
                  <a:lnTo>
                    <a:pt x="0" y="0"/>
                  </a:lnTo>
                  <a:lnTo>
                    <a:pt x="0" y="694550"/>
                  </a:lnTo>
                  <a:lnTo>
                    <a:pt x="8595360" y="694550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308" y="4538472"/>
              <a:ext cx="325373" cy="334518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7970" y="679069"/>
          <a:ext cx="8595359" cy="443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Feature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WEP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(1GG7)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</a:t>
                      </a:r>
                      <a:r>
                        <a:rPr sz="1400" b="1" spc="-1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(2003)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WPA2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(2004)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WPA3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(2018)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Cipher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RC4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(stream)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TKIP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CCMP</a:t>
                      </a:r>
                      <a:r>
                        <a:rPr sz="13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(block)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85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CCMP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GCMP- 256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Integrity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CRC-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32</a:t>
                      </a:r>
                      <a:r>
                        <a:rPr sz="1300" spc="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(flawed)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Michael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CBC-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300" spc="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(strong)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CBC-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GMAC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40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104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128–256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IV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35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(reused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hours)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(no</a:t>
                      </a:r>
                      <a:r>
                        <a:rPr sz="130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reuse)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Authentication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Open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Shared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PSK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PSK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SAE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Forward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Secrecy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247650" indent="-155575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✓"/>
                        <a:tabLst>
                          <a:tab pos="247650" algn="l"/>
                        </a:tabLst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(per-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session</a:t>
                      </a:r>
                      <a:r>
                        <a:rPr sz="1300" spc="1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Offline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(FMS/PTW,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minutes)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(handshake)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(KRACK/PMKID)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No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(online-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only)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Mgmt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Prot.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Optional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(PMF)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Mandatory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(PMF)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Status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562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BROKEN</a:t>
                      </a:r>
                      <a:r>
                        <a:rPr sz="1300" b="1" spc="-75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2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—</a:t>
                      </a:r>
                      <a:r>
                        <a:rPr sz="1300" b="1" spc="-8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never </a:t>
                      </a:r>
                      <a:r>
                        <a:rPr sz="1300" b="1" spc="-25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use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Deprecated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3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Minimum</a:t>
                      </a:r>
                      <a:r>
                        <a:rPr sz="1300" b="1" spc="-8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standard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88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b="1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Current</a:t>
                      </a:r>
                      <a:r>
                        <a:rPr sz="1300" b="1" spc="-7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best </a:t>
                      </a:r>
                      <a:r>
                        <a:rPr sz="1300" b="1" spc="-1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practice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1835">
                <a:tc gridSpan="5">
                  <a:txBody>
                    <a:bodyPr/>
                    <a:lstStyle/>
                    <a:p>
                      <a:pPr marL="174625">
                        <a:lnSpc>
                          <a:spcPts val="1165"/>
                        </a:lnSpc>
                        <a:spcBef>
                          <a:spcPts val="360"/>
                        </a:spcBef>
                      </a:pPr>
                      <a:r>
                        <a:rPr sz="1100" b="1" spc="-1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APPLICATION</a:t>
                      </a:r>
                      <a:endParaRPr sz="1100">
                        <a:latin typeface="Yu Gothic UI"/>
                        <a:cs typeface="Yu Gothic UI"/>
                      </a:endParaRPr>
                    </a:p>
                    <a:p>
                      <a:pPr marL="196215">
                        <a:lnSpc>
                          <a:spcPts val="1340"/>
                        </a:lnSpc>
                      </a:pP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An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organisation's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WLAN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audit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reveals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6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WPA2-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Personal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passphrase</a:t>
                      </a:r>
                      <a:r>
                        <a:rPr sz="1250" spc="-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'CompanyName2024'.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Which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specific</a:t>
                      </a:r>
                      <a:r>
                        <a:rPr sz="1250" spc="-3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attacks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  <a:p>
                      <a:pPr>
                        <a:lnSpc>
                          <a:spcPts val="1495"/>
                        </a:lnSpc>
                      </a:pP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apply?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What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recommended</a:t>
                      </a:r>
                      <a:r>
                        <a:rPr sz="1250" spc="-7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remediation</a:t>
                      </a:r>
                      <a:r>
                        <a:rPr sz="1250" spc="-7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path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50" spc="-5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50" spc="-6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what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order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should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controls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be</a:t>
                      </a:r>
                      <a:r>
                        <a:rPr sz="1250" spc="-5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implemented?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B="0">
                    <a:lnL w="12700">
                      <a:solidFill>
                        <a:srgbClr val="186B23"/>
                      </a:solidFill>
                      <a:prstDash val="solid"/>
                    </a:lnL>
                    <a:lnR w="12700">
                      <a:solidFill>
                        <a:srgbClr val="186B23"/>
                      </a:solidFill>
                      <a:prstDash val="solid"/>
                    </a:lnR>
                    <a:lnT w="12700">
                      <a:solidFill>
                        <a:srgbClr val="186B23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4415028"/>
            <a:ext cx="287274" cy="29489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27480" cy="918844"/>
          </a:xfrm>
          <a:custGeom>
            <a:avLst/>
            <a:gdLst/>
            <a:ahLst/>
            <a:cxnLst/>
            <a:rect l="l" t="t" r="r" b="b"/>
            <a:pathLst>
              <a:path w="142748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2748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27480" h="918844">
                <a:moveTo>
                  <a:pt x="1307744" y="741680"/>
                </a:moveTo>
                <a:lnTo>
                  <a:pt x="1127658" y="741680"/>
                </a:lnTo>
                <a:lnTo>
                  <a:pt x="1127658" y="906145"/>
                </a:lnTo>
                <a:lnTo>
                  <a:pt x="1307744" y="906145"/>
                </a:lnTo>
                <a:lnTo>
                  <a:pt x="1307744" y="741680"/>
                </a:lnTo>
                <a:close/>
              </a:path>
              <a:path w="1427480" h="918844">
                <a:moveTo>
                  <a:pt x="1307744" y="10160"/>
                </a:moveTo>
                <a:lnTo>
                  <a:pt x="1128293" y="10160"/>
                </a:lnTo>
                <a:lnTo>
                  <a:pt x="721004" y="588137"/>
                </a:lnTo>
                <a:lnTo>
                  <a:pt x="721004" y="741680"/>
                </a:lnTo>
                <a:lnTo>
                  <a:pt x="1427251" y="741680"/>
                </a:lnTo>
                <a:lnTo>
                  <a:pt x="1427251" y="592963"/>
                </a:lnTo>
                <a:lnTo>
                  <a:pt x="885342" y="592963"/>
                </a:lnTo>
                <a:lnTo>
                  <a:pt x="1131722" y="240792"/>
                </a:lnTo>
                <a:lnTo>
                  <a:pt x="1307744" y="240792"/>
                </a:lnTo>
                <a:lnTo>
                  <a:pt x="1307744" y="10160"/>
                </a:lnTo>
                <a:close/>
              </a:path>
              <a:path w="1427480" h="918844">
                <a:moveTo>
                  <a:pt x="1307744" y="240792"/>
                </a:moveTo>
                <a:lnTo>
                  <a:pt x="1131722" y="240792"/>
                </a:lnTo>
                <a:lnTo>
                  <a:pt x="1131722" y="592963"/>
                </a:lnTo>
                <a:lnTo>
                  <a:pt x="1307744" y="592963"/>
                </a:lnTo>
                <a:lnTo>
                  <a:pt x="1307744" y="240792"/>
                </a:lnTo>
                <a:close/>
              </a:path>
            </a:pathLst>
          </a:custGeom>
          <a:solidFill>
            <a:srgbClr val="C0392B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445008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3800" b="1" spc="-4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5" dirty="0">
                <a:solidFill>
                  <a:srgbClr val="FFFFFF"/>
                </a:solidFill>
                <a:latin typeface="Tahoma"/>
                <a:cs typeface="Tahoma"/>
              </a:rPr>
              <a:t>Flaws </a:t>
            </a: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90" dirty="0">
                <a:solidFill>
                  <a:srgbClr val="FFFFFF"/>
                </a:solidFill>
                <a:latin typeface="Tahoma"/>
                <a:cs typeface="Tahoma"/>
              </a:rPr>
              <a:t>Attacks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79635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89ABBE"/>
                </a:solidFill>
                <a:latin typeface="Segoe UI Symbol"/>
                <a:cs typeface="Segoe UI Symbol"/>
              </a:rPr>
              <a:t>Auth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flaws</a:t>
            </a:r>
            <a:r>
              <a:rPr sz="1500" spc="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Deauth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flood</a:t>
            </a:r>
            <a:r>
              <a:rPr sz="150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Evil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Twin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WPS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PIN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PMKID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FragAttacks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RF</a:t>
            </a:r>
            <a:r>
              <a:rPr sz="1500" spc="-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Jamming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MitM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5980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70" dirty="0"/>
              <a:t> </a:t>
            </a:r>
            <a:r>
              <a:rPr spc="-265" dirty="0"/>
              <a:t>Authentication</a:t>
            </a:r>
            <a:r>
              <a:rPr spc="-235" dirty="0"/>
              <a:t> </a:t>
            </a:r>
            <a:r>
              <a:rPr spc="-250" dirty="0"/>
              <a:t>Security</a:t>
            </a:r>
            <a:r>
              <a:rPr spc="-260" dirty="0"/>
              <a:t> </a:t>
            </a:r>
            <a:r>
              <a:rPr spc="-145" dirty="0"/>
              <a:t>Flaws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01116"/>
            <a:ext cx="4422775" cy="2334260"/>
            <a:chOff x="111252" y="801116"/>
            <a:chExt cx="4422775" cy="2334260"/>
          </a:xfrm>
        </p:grpSpPr>
        <p:sp>
          <p:nvSpPr>
            <p:cNvPr id="7" name="object 7"/>
            <p:cNvSpPr/>
            <p:nvPr/>
          </p:nvSpPr>
          <p:spPr>
            <a:xfrm>
              <a:off x="411479" y="807466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07466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237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6615" y="1005840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4" y="1975104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20" y="197510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2410968"/>
              <a:ext cx="273558" cy="2842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2965" y="1044321"/>
            <a:ext cx="4078604" cy="189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35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3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Keystream</a:t>
            </a:r>
            <a:r>
              <a:rPr sz="135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Exposure</a:t>
            </a:r>
            <a:endParaRPr sz="1350">
              <a:latin typeface="Yu Gothic UI"/>
              <a:cs typeface="Yu Gothic UI"/>
            </a:endParaRPr>
          </a:p>
          <a:p>
            <a:pPr marL="112395" marR="234950">
              <a:lnSpc>
                <a:spcPct val="100000"/>
              </a:lnSpc>
              <a:spcBef>
                <a:spcPts val="950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2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(plaintext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challenge)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(RC4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ciphertext)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forge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requests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safer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00">
              <a:latin typeface="Segoe UI Symbol"/>
              <a:cs typeface="Segoe UI Symbol"/>
            </a:endParaRPr>
          </a:p>
          <a:p>
            <a:pPr marL="112395" marR="222250" indent="139700">
              <a:lnSpc>
                <a:spcPct val="99500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With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Wireshark,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filter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for: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wlan.fc.type_subtype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60" dirty="0">
                <a:solidFill>
                  <a:srgbClr val="FFF1CC"/>
                </a:solidFill>
                <a:latin typeface="Segoe UI Symbol"/>
                <a:cs typeface="Segoe UI Symbol"/>
              </a:rPr>
              <a:t>==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0x0b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(Authentication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frames).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Capture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Shared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Key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exchange.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Identify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frames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1–4.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keystream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exposure.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00371" y="897636"/>
            <a:ext cx="4422775" cy="2237740"/>
            <a:chOff x="4500371" y="897636"/>
            <a:chExt cx="4422775" cy="223774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97636"/>
              <a:ext cx="4422648" cy="22372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45735" y="1005840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3" y="1975104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3439" y="1005840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19" y="197510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52542" y="1044321"/>
            <a:ext cx="34080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5" dirty="0">
                <a:solidFill>
                  <a:srgbClr val="E97031"/>
                </a:solidFill>
                <a:latin typeface="Yu Gothic UI"/>
                <a:cs typeface="Yu Gothic UI"/>
              </a:rPr>
              <a:t>WPA/WPA2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PSK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50" b="1" spc="-6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Offline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Dictionary</a:t>
            </a:r>
            <a:r>
              <a:rPr sz="135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endParaRPr sz="1350">
              <a:latin typeface="Yu Gothic UI"/>
              <a:cs typeface="Yu Gothic U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3835" y="2331720"/>
            <a:ext cx="273558" cy="28270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52542" y="1203706"/>
            <a:ext cx="3764915" cy="181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5405">
              <a:lnSpc>
                <a:spcPct val="100000"/>
              </a:lnSpc>
              <a:spcBef>
                <a:spcPts val="105"/>
              </a:spcBef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chain: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(1)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target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connected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(2)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aireplay-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(3)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(4)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22000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runs offline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dictionary/mask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(5)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GPU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benchmark: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~1.5M PMKs/second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 RTX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3080.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rockyou.txt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cracked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100">
              <a:latin typeface="Segoe UI Symbol"/>
              <a:cs typeface="Segoe UI Symbol"/>
            </a:endParaRPr>
          </a:p>
          <a:p>
            <a:pPr marL="152400">
              <a:lnSpc>
                <a:spcPts val="1100"/>
              </a:lnSpc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Estimate crack</a:t>
            </a:r>
            <a:r>
              <a:rPr sz="1050" spc="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time: passphrase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'wifi2024'</a:t>
            </a:r>
            <a:r>
              <a:rPr sz="1050" spc="-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vs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ts val="1255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'9xT#mK7!pQ3vL8@n'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1.5M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PMKs/sec.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Which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rockyou.txt?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Why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passphrase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length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matter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more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than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complexity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for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WPA2-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PSK?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252" y="2964191"/>
            <a:ext cx="4422775" cy="2179320"/>
            <a:chOff x="111252" y="2964191"/>
            <a:chExt cx="4422775" cy="217932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52" y="2964191"/>
              <a:ext cx="4422648" cy="21793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6615" y="3072383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4" y="1975104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3072383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20" y="197510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4320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715" y="4351019"/>
              <a:ext cx="273558" cy="28270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62965" y="3181858"/>
            <a:ext cx="4078604" cy="186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KRACK</a:t>
            </a:r>
            <a:r>
              <a:rPr sz="135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Reinstallation</a:t>
            </a:r>
            <a:r>
              <a:rPr sz="13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(2017)</a:t>
            </a:r>
            <a:endParaRPr sz="1350">
              <a:latin typeface="Yu Gothic UI"/>
              <a:cs typeface="Yu Gothic UI"/>
            </a:endParaRPr>
          </a:p>
          <a:p>
            <a:pPr marL="112395" marR="234950">
              <a:lnSpc>
                <a:spcPct val="100000"/>
              </a:lnSpc>
              <a:spcBef>
                <a:spcPts val="1615"/>
              </a:spcBef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zero.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decryption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subsequent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manufactured.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NOT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passphrase.</a:t>
            </a:r>
            <a:endParaRPr sz="1100">
              <a:latin typeface="Segoe UI Symbol"/>
              <a:cs typeface="Segoe UI Symbol"/>
            </a:endParaRPr>
          </a:p>
          <a:p>
            <a:pPr marL="252095">
              <a:lnSpc>
                <a:spcPts val="1255"/>
              </a:lnSpc>
              <a:spcBef>
                <a:spcPts val="900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Which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devices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your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home/office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are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likely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still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unpatched?</a:t>
            </a:r>
            <a:endParaRPr sz="1050">
              <a:latin typeface="Segoe UI Symbol"/>
              <a:cs typeface="Segoe UI Symbol"/>
            </a:endParaRPr>
          </a:p>
          <a:p>
            <a:pPr marL="112395">
              <a:lnSpc>
                <a:spcPts val="1255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Identify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IoT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device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categories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(security</a:t>
            </a:r>
            <a:r>
              <a:rPr sz="1050" spc="-1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cameras,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smart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TVs,</a:t>
            </a:r>
            <a:endParaRPr sz="1050">
              <a:latin typeface="Segoe UI Symbol"/>
              <a:cs typeface="Segoe UI Symbol"/>
            </a:endParaRPr>
          </a:p>
          <a:p>
            <a:pPr marL="112395" marR="386080">
              <a:lnSpc>
                <a:spcPct val="100000"/>
              </a:lnSpc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printers)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that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typically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never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receive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firmware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updates.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is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residual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risk?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00371" y="2964191"/>
            <a:ext cx="4422775" cy="2179320"/>
            <a:chOff x="4500371" y="2964191"/>
            <a:chExt cx="4422775" cy="21793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0371" y="2964191"/>
              <a:ext cx="4422648" cy="217930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45735" y="3072383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3" y="1975104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63439" y="3072383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19" y="197510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63439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3835" y="4351019"/>
              <a:ext cx="273558" cy="282702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752085" y="3181858"/>
            <a:ext cx="4078604" cy="186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5"/>
              </a:spcBef>
            </a:pPr>
            <a:r>
              <a:rPr sz="1350" b="1" spc="-30" dirty="0">
                <a:solidFill>
                  <a:srgbClr val="EFC040"/>
                </a:solidFill>
                <a:latin typeface="Yu Gothic UI"/>
                <a:cs typeface="Yu Gothic UI"/>
              </a:rPr>
              <a:t>PMKID</a:t>
            </a:r>
            <a:r>
              <a:rPr sz="135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FC040"/>
                </a:solidFill>
                <a:latin typeface="Yu Gothic UI"/>
                <a:cs typeface="Yu Gothic UI"/>
              </a:rPr>
              <a:t>Attack</a:t>
            </a:r>
            <a:r>
              <a:rPr sz="1350" b="1" spc="-1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FC040"/>
                </a:solidFill>
                <a:latin typeface="Yu Gothic UI"/>
                <a:cs typeface="Yu Gothic UI"/>
              </a:rPr>
              <a:t>(2018)</a:t>
            </a:r>
            <a:r>
              <a:rPr sz="1350" b="1" spc="-3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325" dirty="0">
                <a:solidFill>
                  <a:srgbClr val="EFC040"/>
                </a:solidFill>
                <a:latin typeface="Yu Gothic UI"/>
                <a:cs typeface="Yu Gothic UI"/>
              </a:rPr>
              <a:t>s</a:t>
            </a:r>
            <a:r>
              <a:rPr sz="1350" b="1" spc="-7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FC040"/>
                </a:solidFill>
                <a:latin typeface="Yu Gothic UI"/>
                <a:cs typeface="Yu Gothic UI"/>
              </a:rPr>
              <a:t>FragAttacks</a:t>
            </a:r>
            <a:r>
              <a:rPr sz="1350" b="1" spc="-11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FC040"/>
                </a:solidFill>
                <a:latin typeface="Yu Gothic UI"/>
                <a:cs typeface="Yu Gothic UI"/>
              </a:rPr>
              <a:t>(2021)</a:t>
            </a:r>
            <a:endParaRPr sz="1350">
              <a:latin typeface="Yu Gothic UI"/>
              <a:cs typeface="Yu Gothic UI"/>
            </a:endParaRPr>
          </a:p>
          <a:p>
            <a:pPr marL="113030">
              <a:lnSpc>
                <a:spcPct val="100000"/>
              </a:lnSpc>
              <a:spcBef>
                <a:spcPts val="950"/>
              </a:spcBef>
            </a:pP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PMKID: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HMAC-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SHA1-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128(PMK,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'PMK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Name'||AP-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MAC||STA-</a:t>
            </a:r>
            <a:endParaRPr sz="1100">
              <a:latin typeface="Segoe UI Symbol"/>
              <a:cs typeface="Segoe UI Symbol"/>
            </a:endParaRPr>
          </a:p>
          <a:p>
            <a:pPr marL="113030" marR="225425">
              <a:lnSpc>
                <a:spcPct val="100000"/>
              </a:lnSpc>
              <a:spcBef>
                <a:spcPts val="5"/>
              </a:spcBef>
            </a:pP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MAC)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client.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FragAttacks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CVE-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2020-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24588: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A-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MSDU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 allows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injecting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session.</a:t>
            </a:r>
            <a:endParaRPr sz="11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since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1997.</a:t>
            </a:r>
            <a:endParaRPr sz="1100">
              <a:latin typeface="Segoe UI Symbol"/>
              <a:cs typeface="Segoe UI Symbol"/>
            </a:endParaRPr>
          </a:p>
          <a:p>
            <a:pPr marL="113030" marR="384810" indent="139700">
              <a:lnSpc>
                <a:spcPct val="99700"/>
              </a:lnSpc>
              <a:spcBef>
                <a:spcPts val="245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FragAttacks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demonstration: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on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same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network can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inject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forged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DNS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response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into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encrypted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WPA2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session,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redirecting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victim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attacker-controlled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server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—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even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through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WPA2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encryption.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WLAN-</a:t>
            </a:r>
            <a:r>
              <a:rPr spc="-245" dirty="0"/>
              <a:t>Based</a:t>
            </a:r>
            <a:r>
              <a:rPr spc="-260" dirty="0"/>
              <a:t> </a:t>
            </a:r>
            <a:r>
              <a:rPr spc="-240" dirty="0"/>
              <a:t>Attacks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65" dirty="0"/>
              <a:t> </a:t>
            </a:r>
            <a:r>
              <a:rPr spc="-215" dirty="0"/>
              <a:t>Mechanics</a:t>
            </a:r>
            <a:r>
              <a:rPr spc="-250" dirty="0"/>
              <a:t> </a:t>
            </a:r>
            <a:r>
              <a:rPr spc="400" dirty="0"/>
              <a:t>s</a:t>
            </a:r>
            <a:r>
              <a:rPr spc="-265" dirty="0"/>
              <a:t> Commands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2964" y="871474"/>
            <a:ext cx="3078480" cy="2245360"/>
            <a:chOff x="92964" y="871474"/>
            <a:chExt cx="3078480" cy="2245360"/>
          </a:xfrm>
        </p:grpSpPr>
        <p:sp>
          <p:nvSpPr>
            <p:cNvPr id="7" name="object 7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897636"/>
              <a:ext cx="3078480" cy="22189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60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0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6031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Deauthentication</a:t>
            </a: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Flood</a:t>
            </a:r>
            <a:endParaRPr sz="1300">
              <a:latin typeface="Yu Gothic UI"/>
              <a:cs typeface="Yu Gothic UI"/>
            </a:endParaRPr>
          </a:p>
          <a:p>
            <a:pPr marL="90805">
              <a:lnSpc>
                <a:spcPct val="100000"/>
              </a:lnSpc>
              <a:spcBef>
                <a:spcPts val="960"/>
              </a:spcBef>
            </a:pP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a [AP]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950">
              <a:latin typeface="Courier New"/>
              <a:cs typeface="Courier New"/>
            </a:endParaRPr>
          </a:p>
          <a:p>
            <a:pPr marL="90805" marR="117475">
              <a:lnSpc>
                <a:spcPct val="100000"/>
              </a:lnSpc>
              <a:spcBef>
                <a:spcPts val="105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Continuous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spoofed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constant</a:t>
            </a:r>
            <a:r>
              <a:rPr sz="1150" spc="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re-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rendered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unusable.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 specific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capture.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Fixed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PMF.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64764" y="897636"/>
            <a:ext cx="3078480" cy="2219325"/>
            <a:chOff x="3064764" y="897636"/>
            <a:chExt cx="3078480" cy="2219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4764" y="897636"/>
              <a:ext cx="3078480" cy="22189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278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1" y="1956816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78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2816351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1" y="91439"/>
                  </a:lnTo>
                  <a:lnTo>
                    <a:pt x="28163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78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0" y="91439"/>
                  </a:moveTo>
                  <a:lnTo>
                    <a:pt x="2816351" y="91439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27832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Rogue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AP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Evil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Twin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hostapd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+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dnsmasq</a:t>
            </a:r>
            <a:r>
              <a:rPr sz="9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+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sslstrip</a:t>
            </a:r>
            <a:endParaRPr sz="950">
              <a:latin typeface="Courier New"/>
              <a:cs typeface="Courier New"/>
            </a:endParaRPr>
          </a:p>
          <a:p>
            <a:pPr marL="92075" marR="144780">
              <a:lnSpc>
                <a:spcPct val="100200"/>
              </a:lnSpc>
              <a:spcBef>
                <a:spcPts val="105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Clone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signal.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auto-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associates.</a:t>
            </a:r>
            <a:r>
              <a:rPr sz="1150" spc="1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sslstrip</a:t>
            </a:r>
            <a:r>
              <a:rPr sz="1150" spc="2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downgrades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HTTPS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HTTP.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Ettercap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Bettercap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intercepts all traffic.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Hostapd-WPE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harvests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Enterprise clients.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36564" y="897636"/>
            <a:ext cx="3078480" cy="2219325"/>
            <a:chOff x="6036564" y="897636"/>
            <a:chExt cx="3078480" cy="22193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6564" y="897636"/>
              <a:ext cx="3078480" cy="2218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996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59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996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40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96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40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99632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WPS</a:t>
            </a: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PIN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Brute-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Force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375"/>
              </a:spcBef>
              <a:tabLst>
                <a:tab pos="1405890" algn="l"/>
                <a:tab pos="1624965" algn="l"/>
              </a:tabLst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wash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r>
              <a:rPr sz="95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950" spc="-50" dirty="0">
                <a:solidFill>
                  <a:srgbClr val="EFC040"/>
                </a:solidFill>
                <a:latin typeface="Courier New"/>
                <a:cs typeface="Courier New"/>
              </a:rPr>
              <a:t>|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	reaver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spc="-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endParaRPr sz="95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9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vv</a:t>
            </a:r>
            <a:endParaRPr sz="950">
              <a:latin typeface="Courier New"/>
              <a:cs typeface="Courier New"/>
            </a:endParaRPr>
          </a:p>
          <a:p>
            <a:pPr marL="92075" marR="146685">
              <a:lnSpc>
                <a:spcPct val="100200"/>
              </a:lnSpc>
              <a:spcBef>
                <a:spcPts val="48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8-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split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two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independent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halves.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Max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10,000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+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1,000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11,000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attempts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10⁸).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wash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WPS-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APs.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Reaver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automates.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recovery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gives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PSK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2964" y="2945903"/>
            <a:ext cx="3078480" cy="2197735"/>
            <a:chOff x="92964" y="2945903"/>
            <a:chExt cx="3078480" cy="219773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" y="2945903"/>
              <a:ext cx="3078480" cy="21975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560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60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60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56031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RF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 Jamming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(DoS)</a:t>
            </a:r>
            <a:endParaRPr sz="1300">
              <a:latin typeface="Yu Gothic UI"/>
              <a:cs typeface="Yu Gothic UI"/>
            </a:endParaRPr>
          </a:p>
          <a:p>
            <a:pPr marL="90805">
              <a:lnSpc>
                <a:spcPct val="100000"/>
              </a:lnSpc>
              <a:spcBef>
                <a:spcPts val="95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No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802.11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frames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—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SDR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required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95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Broadband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2.4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/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5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GHz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interference.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Selective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targeting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channel.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endParaRPr sz="1150">
              <a:latin typeface="Segoe UI Symbol"/>
              <a:cs typeface="Segoe UI Symbol"/>
            </a:endParaRPr>
          </a:p>
          <a:p>
            <a:pPr marL="90805" marR="198120">
              <a:lnSpc>
                <a:spcPct val="100000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traditional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spectrum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analyser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attribution.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64764" y="2945903"/>
            <a:ext cx="3078480" cy="2197735"/>
            <a:chOff x="3064764" y="2945903"/>
            <a:chExt cx="3078480" cy="219773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764" y="2945903"/>
              <a:ext cx="3078480" cy="21975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278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1" y="1956816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78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2816351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1" y="91439"/>
                  </a:lnTo>
                  <a:lnTo>
                    <a:pt x="2816351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278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0" y="91439"/>
                  </a:moveTo>
                  <a:lnTo>
                    <a:pt x="2816351" y="91439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27832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Karma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/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0" dirty="0">
                <a:solidFill>
                  <a:srgbClr val="EFC040"/>
                </a:solidFill>
                <a:latin typeface="Yu Gothic UI"/>
                <a:cs typeface="Yu Gothic UI"/>
              </a:rPr>
              <a:t>MANA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55"/>
              </a:spcBef>
            </a:pP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hostapd-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mana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mana.conf</a:t>
            </a:r>
            <a:endParaRPr sz="950">
              <a:latin typeface="Courier New"/>
              <a:cs typeface="Courier New"/>
            </a:endParaRPr>
          </a:p>
          <a:p>
            <a:pPr marL="92075" marR="118745">
              <a:lnSpc>
                <a:spcPct val="100000"/>
              </a:lnSpc>
              <a:spcBef>
                <a:spcPts val="1055"/>
              </a:spcBef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matching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PNL.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auto-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connects.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MANA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adds EAP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harvesting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via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endParaRPr sz="115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automated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endParaRPr sz="115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harvesting.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6564" y="2945903"/>
            <a:ext cx="3078480" cy="2197735"/>
            <a:chOff x="6036564" y="2945903"/>
            <a:chExt cx="3078480" cy="219773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6564" y="2945903"/>
              <a:ext cx="3078480" cy="219759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996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59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996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39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96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39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199632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10"/>
              </a:spcBef>
            </a:pP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MitM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Follow-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on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Attacks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5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arpspoof</a:t>
            </a:r>
            <a:r>
              <a:rPr sz="9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/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Bettercap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/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dnsspoof</a:t>
            </a:r>
            <a:endParaRPr sz="950">
              <a:latin typeface="Courier New"/>
              <a:cs typeface="Courier New"/>
            </a:endParaRPr>
          </a:p>
          <a:p>
            <a:pPr marL="92075" marR="114935">
              <a:lnSpc>
                <a:spcPct val="100200"/>
              </a:lnSpc>
              <a:spcBef>
                <a:spcPts val="365"/>
              </a:spcBef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association: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ARP</a:t>
            </a:r>
            <a:r>
              <a:rPr sz="115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poisoning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intercepts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LAN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DHCP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gateway.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hijacking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redirects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attacker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sites.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SSL stripping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downgrades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HTTPS.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harvesting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encryption</a:t>
            </a:r>
            <a:r>
              <a:rPr sz="115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bypass.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1445" cy="918844"/>
          </a:xfrm>
          <a:custGeom>
            <a:avLst/>
            <a:gdLst/>
            <a:ahLst/>
            <a:cxnLst/>
            <a:rect l="l" t="t" r="r" b="b"/>
            <a:pathLst>
              <a:path w="1401445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1445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1445" h="918844">
                <a:moveTo>
                  <a:pt x="930427" y="641350"/>
                </a:moveTo>
                <a:lnTo>
                  <a:pt x="749579" y="641350"/>
                </a:lnTo>
                <a:lnTo>
                  <a:pt x="752339" y="686121"/>
                </a:lnTo>
                <a:lnTo>
                  <a:pt x="760612" y="726916"/>
                </a:lnTo>
                <a:lnTo>
                  <a:pt x="774386" y="763758"/>
                </a:lnTo>
                <a:lnTo>
                  <a:pt x="793648" y="796671"/>
                </a:lnTo>
                <a:lnTo>
                  <a:pt x="845258" y="850471"/>
                </a:lnTo>
                <a:lnTo>
                  <a:pt x="912012" y="888365"/>
                </a:lnTo>
                <a:lnTo>
                  <a:pt x="950251" y="901533"/>
                </a:lnTo>
                <a:lnTo>
                  <a:pt x="990657" y="910939"/>
                </a:lnTo>
                <a:lnTo>
                  <a:pt x="1033206" y="916582"/>
                </a:lnTo>
                <a:lnTo>
                  <a:pt x="1077874" y="918464"/>
                </a:lnTo>
                <a:lnTo>
                  <a:pt x="1122431" y="916416"/>
                </a:lnTo>
                <a:lnTo>
                  <a:pt x="1164678" y="910272"/>
                </a:lnTo>
                <a:lnTo>
                  <a:pt x="1204640" y="900033"/>
                </a:lnTo>
                <a:lnTo>
                  <a:pt x="1242339" y="885698"/>
                </a:lnTo>
                <a:lnTo>
                  <a:pt x="1276940" y="867030"/>
                </a:lnTo>
                <a:lnTo>
                  <a:pt x="1307792" y="843803"/>
                </a:lnTo>
                <a:lnTo>
                  <a:pt x="1334904" y="816028"/>
                </a:lnTo>
                <a:lnTo>
                  <a:pt x="1358290" y="783717"/>
                </a:lnTo>
                <a:lnTo>
                  <a:pt x="1365035" y="770382"/>
                </a:lnTo>
                <a:lnTo>
                  <a:pt x="1077874" y="770382"/>
                </a:lnTo>
                <a:lnTo>
                  <a:pt x="1047182" y="768264"/>
                </a:lnTo>
                <a:lnTo>
                  <a:pt x="994274" y="751361"/>
                </a:lnTo>
                <a:lnTo>
                  <a:pt x="953841" y="717948"/>
                </a:lnTo>
                <a:lnTo>
                  <a:pt x="933024" y="670359"/>
                </a:lnTo>
                <a:lnTo>
                  <a:pt x="930427" y="641350"/>
                </a:lnTo>
                <a:close/>
              </a:path>
              <a:path w="1401445" h="918844">
                <a:moveTo>
                  <a:pt x="1372320" y="455041"/>
                </a:moveTo>
                <a:lnTo>
                  <a:pt x="1077874" y="455041"/>
                </a:lnTo>
                <a:lnTo>
                  <a:pt x="1106850" y="457251"/>
                </a:lnTo>
                <a:lnTo>
                  <a:pt x="1133182" y="463867"/>
                </a:lnTo>
                <a:lnTo>
                  <a:pt x="1177823" y="490220"/>
                </a:lnTo>
                <a:lnTo>
                  <a:pt x="1207255" y="536416"/>
                </a:lnTo>
                <a:lnTo>
                  <a:pt x="1217066" y="604520"/>
                </a:lnTo>
                <a:lnTo>
                  <a:pt x="1214665" y="644907"/>
                </a:lnTo>
                <a:lnTo>
                  <a:pt x="1195527" y="708015"/>
                </a:lnTo>
                <a:lnTo>
                  <a:pt x="1158170" y="748093"/>
                </a:lnTo>
                <a:lnTo>
                  <a:pt x="1107687" y="767905"/>
                </a:lnTo>
                <a:lnTo>
                  <a:pt x="1077874" y="770382"/>
                </a:lnTo>
                <a:lnTo>
                  <a:pt x="1365035" y="770382"/>
                </a:lnTo>
                <a:lnTo>
                  <a:pt x="1377106" y="746519"/>
                </a:lnTo>
                <a:lnTo>
                  <a:pt x="1390516" y="704262"/>
                </a:lnTo>
                <a:lnTo>
                  <a:pt x="1398545" y="656933"/>
                </a:lnTo>
                <a:lnTo>
                  <a:pt x="1401216" y="604520"/>
                </a:lnTo>
                <a:lnTo>
                  <a:pt x="1398811" y="554513"/>
                </a:lnTo>
                <a:lnTo>
                  <a:pt x="1391596" y="509651"/>
                </a:lnTo>
                <a:lnTo>
                  <a:pt x="1379570" y="469931"/>
                </a:lnTo>
                <a:lnTo>
                  <a:pt x="1372320" y="455041"/>
                </a:lnTo>
                <a:close/>
              </a:path>
              <a:path w="1401445" h="918844">
                <a:moveTo>
                  <a:pt x="1341907" y="12192"/>
                </a:moveTo>
                <a:lnTo>
                  <a:pt x="821969" y="12192"/>
                </a:lnTo>
                <a:lnTo>
                  <a:pt x="783107" y="508381"/>
                </a:lnTo>
                <a:lnTo>
                  <a:pt x="945413" y="508381"/>
                </a:lnTo>
                <a:lnTo>
                  <a:pt x="955751" y="497518"/>
                </a:lnTo>
                <a:lnTo>
                  <a:pt x="967543" y="487584"/>
                </a:lnTo>
                <a:lnTo>
                  <a:pt x="1012366" y="463720"/>
                </a:lnTo>
                <a:lnTo>
                  <a:pt x="1053514" y="456013"/>
                </a:lnTo>
                <a:lnTo>
                  <a:pt x="1077874" y="455041"/>
                </a:lnTo>
                <a:lnTo>
                  <a:pt x="1372320" y="455041"/>
                </a:lnTo>
                <a:lnTo>
                  <a:pt x="1362735" y="435356"/>
                </a:lnTo>
                <a:lnTo>
                  <a:pt x="1341947" y="405443"/>
                </a:lnTo>
                <a:lnTo>
                  <a:pt x="1318063" y="379888"/>
                </a:lnTo>
                <a:lnTo>
                  <a:pt x="1304298" y="369062"/>
                </a:lnTo>
                <a:lnTo>
                  <a:pt x="952906" y="369062"/>
                </a:lnTo>
                <a:lnTo>
                  <a:pt x="968654" y="166497"/>
                </a:lnTo>
                <a:lnTo>
                  <a:pt x="1341907" y="166497"/>
                </a:lnTo>
                <a:lnTo>
                  <a:pt x="1341907" y="12192"/>
                </a:lnTo>
                <a:close/>
              </a:path>
              <a:path w="1401445" h="918844">
                <a:moveTo>
                  <a:pt x="1122197" y="312420"/>
                </a:moveTo>
                <a:lnTo>
                  <a:pt x="1066825" y="316611"/>
                </a:lnTo>
                <a:lnTo>
                  <a:pt x="1019454" y="329184"/>
                </a:lnTo>
                <a:lnTo>
                  <a:pt x="981179" y="347551"/>
                </a:lnTo>
                <a:lnTo>
                  <a:pt x="952906" y="369062"/>
                </a:lnTo>
                <a:lnTo>
                  <a:pt x="1304298" y="369062"/>
                </a:lnTo>
                <a:lnTo>
                  <a:pt x="1261008" y="341757"/>
                </a:lnTo>
                <a:lnTo>
                  <a:pt x="1194793" y="319754"/>
                </a:lnTo>
                <a:lnTo>
                  <a:pt x="1122197" y="312420"/>
                </a:lnTo>
                <a:close/>
              </a:path>
            </a:pathLst>
          </a:custGeom>
          <a:solidFill>
            <a:srgbClr val="186B23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5395595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330" dirty="0">
                <a:solidFill>
                  <a:srgbClr val="FFFFFF"/>
                </a:solidFill>
                <a:latin typeface="Tahoma"/>
                <a:cs typeface="Tahoma"/>
              </a:rPr>
              <a:t>Countermeasures</a:t>
            </a:r>
            <a:endParaRPr sz="3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90" dirty="0">
                <a:solidFill>
                  <a:srgbClr val="FFFFFF"/>
                </a:solidFill>
                <a:latin typeface="Tahoma"/>
                <a:cs typeface="Tahoma"/>
              </a:rPr>
              <a:t>Pen-</a:t>
            </a:r>
            <a:r>
              <a:rPr sz="3800" b="1" spc="-405" dirty="0">
                <a:solidFill>
                  <a:srgbClr val="FFFFFF"/>
                </a:solidFill>
                <a:latin typeface="Tahoma"/>
                <a:cs typeface="Tahoma"/>
              </a:rPr>
              <a:t>Testing </a:t>
            </a:r>
            <a:r>
              <a:rPr sz="3800" b="1" spc="-35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3905199"/>
            <a:ext cx="7719059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802.11w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EAP-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TLS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WIDS/WIPS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Aircrack-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ng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Kismet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Wireshark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Hashcat</a:t>
            </a:r>
            <a:r>
              <a:rPr sz="150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4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endParaRPr sz="15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Reaver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280" dirty="0"/>
              <a:t> </a:t>
            </a:r>
            <a:r>
              <a:rPr spc="-254" dirty="0"/>
              <a:t>Countermeasures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29" dirty="0"/>
              <a:t>Protocol</a:t>
            </a:r>
            <a:r>
              <a:rPr spc="-270" dirty="0"/>
              <a:t> </a:t>
            </a:r>
            <a:r>
              <a:rPr spc="350" dirty="0"/>
              <a:t>s </a:t>
            </a:r>
            <a:r>
              <a:rPr spc="-260" dirty="0"/>
              <a:t>Authentication</a:t>
            </a:r>
            <a:r>
              <a:rPr spc="-265" dirty="0"/>
              <a:t> </a:t>
            </a:r>
            <a:r>
              <a:rPr spc="-70" dirty="0"/>
              <a:t>Controls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1823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05840"/>
              <a:ext cx="4160520" cy="1920239"/>
            </a:xfrm>
            <a:custGeom>
              <a:avLst/>
              <a:gdLst/>
              <a:ahLst/>
              <a:cxnLst/>
              <a:rect l="l" t="t" r="r" b="b"/>
              <a:pathLst>
                <a:path w="4160520" h="1920239">
                  <a:moveTo>
                    <a:pt x="0" y="1920239"/>
                  </a:moveTo>
                  <a:lnTo>
                    <a:pt x="4160520" y="19202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05839"/>
            <a:ext cx="4160520" cy="384175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40"/>
              </a:spcBef>
            </a:pP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PROTOCOL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SELECTION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320" y="1389888"/>
            <a:ext cx="4160520" cy="154305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47625" rIns="0" bIns="0" rtlCol="0">
            <a:spAutoFit/>
          </a:bodyPr>
          <a:lstStyle/>
          <a:p>
            <a:pPr marL="309880" indent="-173355">
              <a:lnSpc>
                <a:spcPts val="1315"/>
              </a:lnSpc>
              <a:spcBef>
                <a:spcPts val="375"/>
              </a:spcBef>
              <a:buFont typeface="Cambria Math"/>
              <a:buChar char="◗"/>
              <a:tabLst>
                <a:tab pos="309880" algn="l"/>
              </a:tabLst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Deploy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new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eliminates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5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45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(802.1X/RADIUS)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existing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8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infrastructure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80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TKIP,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legacy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45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exceptions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45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exceptions.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300"/>
              </a:lnSpc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endParaRPr sz="1100">
              <a:latin typeface="Segoe UI Symbol"/>
              <a:cs typeface="Segoe UI Symbol"/>
            </a:endParaRPr>
          </a:p>
          <a:p>
            <a:pPr marL="136525" marR="113030" indent="173355">
              <a:lnSpc>
                <a:spcPts val="1310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Enable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mandatory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WPA3,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enforce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897636"/>
            <a:ext cx="4422775" cy="2182495"/>
            <a:chOff x="4500371" y="897636"/>
            <a:chExt cx="4422775" cy="21824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97636"/>
              <a:ext cx="4422648" cy="21823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389887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92"/>
                  </a:moveTo>
                  <a:lnTo>
                    <a:pt x="4160519" y="153619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1005840"/>
              <a:ext cx="4160520" cy="1920239"/>
            </a:xfrm>
            <a:custGeom>
              <a:avLst/>
              <a:gdLst/>
              <a:ahLst/>
              <a:cxnLst/>
              <a:rect l="l" t="t" r="r" b="b"/>
              <a:pathLst>
                <a:path w="4160520" h="1920239">
                  <a:moveTo>
                    <a:pt x="0" y="1920239"/>
                  </a:moveTo>
                  <a:lnTo>
                    <a:pt x="4160519" y="192023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63440" y="1005839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40"/>
              </a:spcBef>
            </a:pPr>
            <a:r>
              <a:rPr sz="1400" b="1" spc="-160" dirty="0">
                <a:solidFill>
                  <a:srgbClr val="FFFFFF"/>
                </a:solidFill>
                <a:latin typeface="Tahoma"/>
                <a:cs typeface="Tahoma"/>
              </a:rPr>
              <a:t>AUTHENTICATION</a:t>
            </a:r>
            <a:r>
              <a:rPr sz="14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88534" y="1424381"/>
            <a:ext cx="3995420" cy="82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355">
              <a:lnSpc>
                <a:spcPts val="1315"/>
              </a:lnSpc>
              <a:spcBef>
                <a:spcPts val="10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WPA2/3-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802.1X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(FreeRADIUS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endParaRPr sz="1100">
              <a:latin typeface="Segoe UI Symbol"/>
              <a:cs typeface="Segoe UI Symbol"/>
            </a:endParaRPr>
          </a:p>
          <a:p>
            <a:pPr marL="12700">
              <a:lnSpc>
                <a:spcPts val="127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commercial)</a:t>
            </a:r>
            <a:endParaRPr sz="1100">
              <a:latin typeface="Segoe UI Symbol"/>
              <a:cs typeface="Segoe UI Symbol"/>
            </a:endParaRPr>
          </a:p>
          <a:p>
            <a:pPr marL="12700" marR="220979" indent="173355">
              <a:lnSpc>
                <a:spcPts val="1310"/>
              </a:lnSpc>
              <a:spcBef>
                <a:spcPts val="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EAP-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TLS: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strongest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EAP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method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available</a:t>
            </a:r>
            <a:endParaRPr sz="1100">
              <a:latin typeface="Segoe UI Symbol"/>
              <a:cs typeface="Segoe UI Symbol"/>
            </a:endParaRPr>
          </a:p>
          <a:p>
            <a:pPr marL="186055" indent="-173355">
              <a:lnSpc>
                <a:spcPts val="1065"/>
              </a:lnSpc>
              <a:buFont typeface="Cambria Math"/>
              <a:buChar char="◗"/>
              <a:tabLst>
                <a:tab pos="186055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PEAP: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validated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by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8534" y="2220595"/>
            <a:ext cx="13487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8534" y="2361133"/>
            <a:ext cx="40792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Avoid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LEAP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EAP-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MD5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deprecated</a:t>
            </a:r>
            <a:r>
              <a:rPr sz="11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dictionary-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88534" y="2527808"/>
            <a:ext cx="384746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15"/>
              </a:lnSpc>
              <a:spcBef>
                <a:spcPts val="10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attackable</a:t>
            </a:r>
            <a:endParaRPr sz="1100">
              <a:latin typeface="Segoe UI Symbol"/>
              <a:cs typeface="Segoe UI Symbol"/>
            </a:endParaRPr>
          </a:p>
          <a:p>
            <a:pPr marL="186055" indent="-173355">
              <a:lnSpc>
                <a:spcPts val="1210"/>
              </a:lnSpc>
              <a:buFont typeface="Cambria Math"/>
              <a:buChar char="◗"/>
              <a:tabLst>
                <a:tab pos="186055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Certificate-based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auth: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credential;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endParaRPr sz="1100">
              <a:latin typeface="Segoe UI Symbol"/>
              <a:cs typeface="Segoe UI Symbol"/>
            </a:endParaRPr>
          </a:p>
          <a:p>
            <a:pPr marL="12700">
              <a:lnSpc>
                <a:spcPts val="1315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≠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1252" y="2909303"/>
            <a:ext cx="4422775" cy="2240915"/>
            <a:chOff x="111252" y="2909303"/>
            <a:chExt cx="4422775" cy="224091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909303"/>
              <a:ext cx="4422648" cy="223419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4320" y="3401567"/>
              <a:ext cx="4160520" cy="1742439"/>
            </a:xfrm>
            <a:custGeom>
              <a:avLst/>
              <a:gdLst/>
              <a:ahLst/>
              <a:cxnLst/>
              <a:rect l="l" t="t" r="r" b="b"/>
              <a:pathLst>
                <a:path w="4160520" h="1742439">
                  <a:moveTo>
                    <a:pt x="0" y="1741931"/>
                  </a:moveTo>
                  <a:lnTo>
                    <a:pt x="4160520" y="174193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41931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3017519"/>
              <a:ext cx="4160520" cy="2125980"/>
            </a:xfrm>
            <a:custGeom>
              <a:avLst/>
              <a:gdLst/>
              <a:ahLst/>
              <a:cxnLst/>
              <a:rect l="l" t="t" r="r" b="b"/>
              <a:pathLst>
                <a:path w="4160520" h="2125979">
                  <a:moveTo>
                    <a:pt x="0" y="2125980"/>
                  </a:moveTo>
                  <a:lnTo>
                    <a:pt x="4160520" y="21259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416052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160520" y="384048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0" y="384048"/>
                  </a:moveTo>
                  <a:lnTo>
                    <a:pt x="4160520" y="38404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8779" y="3086481"/>
            <a:ext cx="2121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40" dirty="0">
                <a:solidFill>
                  <a:srgbClr val="FFFFFF"/>
                </a:solidFill>
                <a:latin typeface="Tahoma"/>
                <a:cs typeface="Tahoma"/>
              </a:rPr>
              <a:t>SEGMENTATION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3379" y="3429380"/>
            <a:ext cx="3658870" cy="168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86360" indent="1816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219710" algn="l"/>
              </a:tabLst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separate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VLAN/DMZ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direct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wired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LAN</a:t>
            </a:r>
            <a:endParaRPr sz="1150">
              <a:latin typeface="Segoe UI Symbol"/>
              <a:cs typeface="Segoe UI Symbol"/>
            </a:endParaRPr>
          </a:p>
          <a:p>
            <a:pPr marL="219710" indent="-181610">
              <a:lnSpc>
                <a:spcPts val="1280"/>
              </a:lnSpc>
              <a:buFont typeface="Cambria Math"/>
              <a:buChar char="◗"/>
              <a:tabLst>
                <a:tab pos="21971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Guest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WLAN: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fully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isolated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segment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internet-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endParaRPr sz="1150">
              <a:latin typeface="Segoe UI Symbol"/>
              <a:cs typeface="Segoe UI Symbol"/>
            </a:endParaRPr>
          </a:p>
          <a:p>
            <a:pPr marL="38100">
              <a:lnSpc>
                <a:spcPts val="1300"/>
              </a:lnSpc>
            </a:pP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captive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portal</a:t>
            </a:r>
            <a:endParaRPr sz="1150">
              <a:latin typeface="Segoe UI Symbol"/>
              <a:cs typeface="Segoe UI Symbol"/>
            </a:endParaRPr>
          </a:p>
          <a:p>
            <a:pPr marL="219710" indent="-181610">
              <a:lnSpc>
                <a:spcPts val="1305"/>
              </a:lnSpc>
              <a:buFont typeface="Cambria Math"/>
              <a:buChar char="◗"/>
              <a:tabLst>
                <a:tab pos="219710" algn="l"/>
              </a:tabLst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WLAN: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dedicated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endParaRPr sz="1150">
              <a:latin typeface="Segoe UI Symbol"/>
              <a:cs typeface="Segoe UI Symbol"/>
            </a:endParaRPr>
          </a:p>
          <a:p>
            <a:pPr marL="38100" marR="139700">
              <a:lnSpc>
                <a:spcPts val="1370"/>
              </a:lnSpc>
              <a:spcBef>
                <a:spcPts val="660"/>
              </a:spcBef>
            </a:pPr>
            <a:r>
              <a:rPr sz="1725" spc="-6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595" dirty="0">
                <a:solidFill>
                  <a:srgbClr val="E8E8E8"/>
                </a:solidFill>
                <a:latin typeface="Cambria Math"/>
                <a:cs typeface="Cambria Math"/>
              </a:rPr>
              <a:t>▸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16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58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725" spc="-104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o</a:t>
            </a:r>
            <a:r>
              <a:rPr sz="1150" spc="-520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725" spc="-41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280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40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150" spc="-380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725" spc="-39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36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359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83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10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725" spc="-86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475" dirty="0">
                <a:solidFill>
                  <a:srgbClr val="E8E8E8"/>
                </a:solidFill>
                <a:latin typeface="Segoe UI Symbol"/>
                <a:cs typeface="Segoe UI Symbol"/>
              </a:rPr>
              <a:t>v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725" spc="-84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68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y</a:t>
            </a:r>
            <a:r>
              <a:rPr sz="1150" spc="-260" dirty="0">
                <a:solidFill>
                  <a:srgbClr val="E8E8E8"/>
                </a:solidFill>
                <a:latin typeface="Segoe UI Symbol"/>
                <a:cs typeface="Segoe UI Symbol"/>
              </a:rPr>
              <a:t>:</a:t>
            </a:r>
            <a:r>
              <a:rPr sz="1725" spc="-3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77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725" spc="-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1725" spc="-1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725" spc="-254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1150" spc="-43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725" spc="-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725" spc="-81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125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725" spc="-7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470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1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725" spc="-60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150" spc="-55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725" spc="-209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1150" spc="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coverage,</a:t>
            </a:r>
            <a:r>
              <a:rPr sz="1150" spc="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150" spc="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leakage outside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building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perimeter</a:t>
            </a:r>
            <a:endParaRPr sz="1150">
              <a:latin typeface="Segoe UI Symbol"/>
              <a:cs typeface="Segoe UI Symbol"/>
            </a:endParaRPr>
          </a:p>
          <a:p>
            <a:pPr marL="38100" marR="311785" indent="181610">
              <a:lnSpc>
                <a:spcPts val="1370"/>
              </a:lnSpc>
              <a:spcBef>
                <a:spcPts val="295"/>
              </a:spcBef>
              <a:buFont typeface="Cambria Math"/>
              <a:buChar char="◗"/>
              <a:tabLst>
                <a:tab pos="219710" algn="l"/>
              </a:tabLst>
            </a:pP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filtering: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supplementary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MAC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addresses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spoofed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00371" y="2909303"/>
            <a:ext cx="4422775" cy="2240915"/>
            <a:chOff x="4500371" y="2909303"/>
            <a:chExt cx="4422775" cy="224091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09303"/>
              <a:ext cx="4422648" cy="223419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63439" y="3401567"/>
              <a:ext cx="4160520" cy="1742439"/>
            </a:xfrm>
            <a:custGeom>
              <a:avLst/>
              <a:gdLst/>
              <a:ahLst/>
              <a:cxnLst/>
              <a:rect l="l" t="t" r="r" b="b"/>
              <a:pathLst>
                <a:path w="4160520" h="1742439">
                  <a:moveTo>
                    <a:pt x="0" y="1741931"/>
                  </a:moveTo>
                  <a:lnTo>
                    <a:pt x="4160519" y="174193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741931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63439" y="3017519"/>
              <a:ext cx="4160520" cy="2125980"/>
            </a:xfrm>
            <a:custGeom>
              <a:avLst/>
              <a:gdLst/>
              <a:ahLst/>
              <a:cxnLst/>
              <a:rect l="l" t="t" r="r" b="b"/>
              <a:pathLst>
                <a:path w="4160520" h="2125979">
                  <a:moveTo>
                    <a:pt x="0" y="2125980"/>
                  </a:moveTo>
                  <a:lnTo>
                    <a:pt x="4160519" y="212598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63439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416051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160519" y="384048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63439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0" y="384048"/>
                  </a:moveTo>
                  <a:lnTo>
                    <a:pt x="4160519" y="38404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88534" y="3086481"/>
            <a:ext cx="21666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35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18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400" b="1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88534" y="3429380"/>
            <a:ext cx="3891915" cy="171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9734" indent="1816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94310" algn="l"/>
              </a:tabLst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WIDS/WIPS: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APs,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floods,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storms,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anomalies</a:t>
            </a:r>
            <a:endParaRPr sz="1150">
              <a:latin typeface="Segoe UI Symbol"/>
              <a:cs typeface="Segoe UI Symbol"/>
            </a:endParaRPr>
          </a:p>
          <a:p>
            <a:pPr marL="12700" marR="5080" indent="181610">
              <a:lnSpc>
                <a:spcPts val="1370"/>
              </a:lnSpc>
              <a:spcBef>
                <a:spcPts val="20"/>
              </a:spcBef>
              <a:buFont typeface="Cambria Math"/>
              <a:buChar char="◗"/>
              <a:tabLst>
                <a:tab pos="194310" algn="l"/>
              </a:tabLst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RF-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detection: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RSSI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triangulation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physically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locate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APs</a:t>
            </a:r>
            <a:endParaRPr sz="1150">
              <a:latin typeface="Segoe UI Symbol"/>
              <a:cs typeface="Segoe UI Symbol"/>
            </a:endParaRPr>
          </a:p>
          <a:p>
            <a:pPr marL="194310" indent="-181610">
              <a:lnSpc>
                <a:spcPts val="1180"/>
              </a:lnSpc>
              <a:buFont typeface="Cambria Math"/>
              <a:buChar char="◗"/>
              <a:tabLst>
                <a:tab pos="19431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Correlate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logs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DHCP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leases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identify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360"/>
              </a:lnSpc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unknown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endParaRPr sz="1150">
              <a:latin typeface="Segoe UI Symbol"/>
              <a:cs typeface="Segoe UI Symbol"/>
            </a:endParaRPr>
          </a:p>
          <a:p>
            <a:pPr marL="193675" indent="-180975">
              <a:lnSpc>
                <a:spcPts val="1365"/>
              </a:lnSpc>
              <a:buFont typeface="Cambria Math"/>
              <a:buChar char="◗"/>
              <a:tabLst>
                <a:tab pos="193675" algn="l"/>
              </a:tabLst>
            </a:pP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spikes</a:t>
            </a:r>
            <a:r>
              <a:rPr sz="11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threshold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alert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240"/>
              </a:lnSpc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</a:t>
            </a:r>
            <a:endParaRPr sz="1150">
              <a:latin typeface="Segoe UI Symbol"/>
              <a:cs typeface="Segoe UI Symbol"/>
            </a:endParaRPr>
          </a:p>
          <a:p>
            <a:pPr marL="194310" indent="-181610">
              <a:lnSpc>
                <a:spcPts val="1240"/>
              </a:lnSpc>
              <a:buFont typeface="Cambria Math"/>
              <a:buChar char="◗"/>
              <a:tabLst>
                <a:tab pos="194310" algn="l"/>
              </a:tabLst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Periodic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penetration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tests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ng,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Kismet,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375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Wifite,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1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8857615" cy="1586865"/>
            <a:chOff x="111252" y="871474"/>
            <a:chExt cx="8857615" cy="158686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8857488" cy="1560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97280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8779" y="1166824"/>
            <a:ext cx="4533900" cy="1167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dirty="0">
                <a:solidFill>
                  <a:srgbClr val="155F82"/>
                </a:solidFill>
                <a:latin typeface="Yu Gothic UI"/>
                <a:cs typeface="Yu Gothic UI"/>
              </a:rPr>
              <a:t>Aircrack-</a:t>
            </a:r>
            <a:r>
              <a:rPr sz="1600" b="1" spc="-95" dirty="0">
                <a:solidFill>
                  <a:srgbClr val="155F82"/>
                </a:solidFill>
                <a:latin typeface="Yu Gothic UI"/>
                <a:cs typeface="Yu Gothic UI"/>
              </a:rPr>
              <a:t>ng</a:t>
            </a:r>
            <a:r>
              <a:rPr sz="1600" b="1" spc="-8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155F82"/>
                </a:solidFill>
                <a:latin typeface="Yu Gothic UI"/>
                <a:cs typeface="Yu Gothic UI"/>
              </a:rPr>
              <a:t>Suite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Industry-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standard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Kali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Linux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audit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toolkit.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Four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tools: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airmon-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(enable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mode),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(passive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specified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BSSID),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aireplay-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(packet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deauthentication),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(PTW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WPA/WPA2).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5989" y="1760347"/>
            <a:ext cx="6623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5989" y="1127759"/>
            <a:ext cx="3202940" cy="10845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airmon-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 start</a:t>
            </a:r>
            <a:r>
              <a:rPr sz="1050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airodump-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6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bssid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cap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040"/>
              </a:lnSpc>
              <a:spcBef>
                <a:spcPts val="1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040"/>
              </a:lnSpc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5 -a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1050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[Client]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aircrack-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w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/usr/share/wordlists/rockyou.txt</a:t>
            </a:r>
            <a:r>
              <a:rPr sz="1050" spc="-114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cap.cap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1252" y="2682252"/>
            <a:ext cx="8857615" cy="1562100"/>
            <a:chOff x="111252" y="2682252"/>
            <a:chExt cx="8857615" cy="15621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682252"/>
              <a:ext cx="8857488" cy="15621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4320" y="2883154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6944"/>
                  </a:moveTo>
                  <a:lnTo>
                    <a:pt x="8595360" y="1206944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69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791650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791714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791714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8779" y="2953638"/>
            <a:ext cx="4602480" cy="1167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9ED4"/>
                </a:solidFill>
                <a:latin typeface="Yu Gothic UI"/>
                <a:cs typeface="Yu Gothic UI"/>
              </a:rPr>
              <a:t>Kismet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scanner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operating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mode.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SSIDs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(including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'hidden'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ones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responses),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maps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devices, identifies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BSSIDs,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channels,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types.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GPS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logging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RF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mapping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site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survey.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floods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APs.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Outputs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raw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PCAP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analysis.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5989" y="2935986"/>
            <a:ext cx="2091689" cy="452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kismet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kismet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override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wardrive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2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725423"/>
            <a:ext cx="8857615" cy="1560830"/>
            <a:chOff x="111252" y="725423"/>
            <a:chExt cx="8857615" cy="15608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725423"/>
              <a:ext cx="8857488" cy="15605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" y="925321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833881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7"/>
                  </a:moveTo>
                  <a:lnTo>
                    <a:pt x="8595360" y="129844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833881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833881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8779" y="995298"/>
            <a:ext cx="4368165" cy="1167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Wireshark</a:t>
            </a:r>
            <a:r>
              <a:rPr sz="16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600" b="1" spc="-3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E97031"/>
                </a:solidFill>
                <a:latin typeface="Yu Gothic UI"/>
                <a:cs typeface="Yu Gothic UI"/>
              </a:rPr>
              <a:t>tshark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analyser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deep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dissection.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Dissects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control,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structures.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Visualises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labelled.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Decrypts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WEP/WPA2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known.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inspection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5989" y="977341"/>
            <a:ext cx="2250440" cy="982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eapol</a:t>
            </a:r>
            <a:endParaRPr sz="1050">
              <a:latin typeface="Courier New"/>
              <a:cs typeface="Courier New"/>
            </a:endParaRPr>
          </a:p>
          <a:p>
            <a:pPr marL="12700" marR="5080">
              <a:lnSpc>
                <a:spcPct val="165700"/>
              </a:lnSpc>
              <a:spcBef>
                <a:spcPts val="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wlan.fc.type_subtype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==</a:t>
            </a:r>
            <a:r>
              <a:rPr sz="10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0x0c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wlan.rsn.ie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wlan.ssid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==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'TargetNet'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252" y="2764548"/>
            <a:ext cx="8857615" cy="1560830"/>
            <a:chOff x="111252" y="2764548"/>
            <a:chExt cx="8857615" cy="156083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764548"/>
              <a:ext cx="8857488" cy="15605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2965195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6969"/>
                  </a:moveTo>
                  <a:lnTo>
                    <a:pt x="8595360" y="120696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696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2873717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287375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287375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8779" y="2957575"/>
            <a:ext cx="4665345" cy="133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95"/>
              </a:lnSpc>
              <a:spcBef>
                <a:spcPts val="95"/>
              </a:spcBef>
            </a:pPr>
            <a:r>
              <a:rPr sz="1600" b="1" spc="-10" dirty="0">
                <a:solidFill>
                  <a:srgbClr val="EFC040"/>
                </a:solidFill>
                <a:latin typeface="Yu Gothic UI"/>
                <a:cs typeface="Yu Gothic UI"/>
              </a:rPr>
              <a:t>Hashcat</a:t>
            </a:r>
            <a:endParaRPr sz="1600">
              <a:latin typeface="Yu Gothic UI"/>
              <a:cs typeface="Yu Gothic UI"/>
            </a:endParaRPr>
          </a:p>
          <a:p>
            <a:pPr marL="12700" algn="just">
              <a:lnSpc>
                <a:spcPts val="1315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GPU-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accelerated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password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cracking.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hcxtools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converts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.pcapng</a:t>
            </a:r>
            <a:endParaRPr sz="1200">
              <a:latin typeface="Segoe UI Symbol"/>
              <a:cs typeface="Segoe UI Symbol"/>
            </a:endParaRPr>
          </a:p>
          <a:p>
            <a:pPr marL="12700" marR="27749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Hashcat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format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(.hc22000).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22000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handles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both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PBKDF2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PMKID.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modes: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wordlist,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wordlist+rules,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mask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(pattern-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based),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combinator.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Benchmark: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RTX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3080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achieves</a:t>
            </a:r>
            <a:endParaRPr sz="1200">
              <a:latin typeface="Segoe UI Symbol"/>
              <a:cs typeface="Segoe UI Symbol"/>
            </a:endParaRPr>
          </a:p>
          <a:p>
            <a:pPr marL="12700" marR="219075" algn="just">
              <a:lnSpc>
                <a:spcPts val="1450"/>
              </a:lnSpc>
              <a:spcBef>
                <a:spcPts val="3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~1.5</a:t>
            </a:r>
            <a:r>
              <a:rPr sz="12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million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PMKs/second.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rockyou.txt</a:t>
            </a:r>
            <a:r>
              <a:rPr sz="12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cracked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5989" y="3018282"/>
            <a:ext cx="3520440" cy="796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hcxpcapngtool</a:t>
            </a:r>
            <a:r>
              <a:rPr sz="1050" spc="-4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o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capture.pcapng</a:t>
            </a:r>
            <a:endParaRPr sz="1050">
              <a:latin typeface="Courier New"/>
              <a:cs typeface="Courier New"/>
            </a:endParaRPr>
          </a:p>
          <a:p>
            <a:pPr marL="12700" marR="165100">
              <a:lnSpc>
                <a:spcPct val="114799"/>
              </a:lnSpc>
              <a:spcBef>
                <a:spcPts val="64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?u?l?l?l?d?d?d?d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3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995172"/>
            <a:ext cx="8857615" cy="1560830"/>
            <a:chOff x="111252" y="995172"/>
            <a:chExt cx="8857615" cy="15608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995172"/>
              <a:ext cx="8857488" cy="15605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1194943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103503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03503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1103503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779" y="1186383"/>
            <a:ext cx="4578985" cy="133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00"/>
              </a:lnSpc>
              <a:spcBef>
                <a:spcPts val="95"/>
              </a:spcBef>
            </a:pP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Reaver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C0392B"/>
                </a:solidFill>
                <a:latin typeface="Yu Gothic UI"/>
                <a:cs typeface="Yu Gothic UI"/>
              </a:rPr>
              <a:t>/</a:t>
            </a:r>
            <a:r>
              <a:rPr sz="1600" b="1" spc="-8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C0392B"/>
                </a:solidFill>
                <a:latin typeface="Yu Gothic UI"/>
                <a:cs typeface="Yu Gothic UI"/>
              </a:rPr>
              <a:t>Bully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2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brute-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tool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exploiting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fundamental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flaw: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8-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verified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two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independent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halves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(first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digits,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last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4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checksum).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10,000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1,000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11,000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attempts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rather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10⁸.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wash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scans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WPS-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APs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reports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status.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Successfully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recovering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provides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COUNTERMEASURE: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APs.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5989" y="1247394"/>
            <a:ext cx="3361690" cy="71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41450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wash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-i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(detect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WPS-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enabled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APs)</a:t>
            </a:r>
            <a:endParaRPr sz="1050">
              <a:latin typeface="Courier New"/>
              <a:cs typeface="Courier New"/>
            </a:endParaRPr>
          </a:p>
          <a:p>
            <a:pPr marL="12700" marR="641350">
              <a:lnSpc>
                <a:spcPct val="165700"/>
              </a:lnSpc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reaver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vv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bully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d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1252" y="2514625"/>
            <a:ext cx="8857615" cy="1813560"/>
            <a:chOff x="111252" y="2514625"/>
            <a:chExt cx="8857615" cy="181356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514625"/>
              <a:ext cx="8857488" cy="18135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4320" y="2715005"/>
              <a:ext cx="8595360" cy="1459865"/>
            </a:xfrm>
            <a:custGeom>
              <a:avLst/>
              <a:gdLst/>
              <a:ahLst/>
              <a:cxnLst/>
              <a:rect l="l" t="t" r="r" b="b"/>
              <a:pathLst>
                <a:path w="8595360" h="1459864">
                  <a:moveTo>
                    <a:pt x="0" y="1459649"/>
                  </a:moveTo>
                  <a:lnTo>
                    <a:pt x="8595360" y="145964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45964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623604"/>
              <a:ext cx="8595360" cy="1551305"/>
            </a:xfrm>
            <a:custGeom>
              <a:avLst/>
              <a:gdLst/>
              <a:ahLst/>
              <a:cxnLst/>
              <a:rect l="l" t="t" r="r" b="b"/>
              <a:pathLst>
                <a:path w="8595360" h="1551304">
                  <a:moveTo>
                    <a:pt x="0" y="1551051"/>
                  </a:moveTo>
                  <a:lnTo>
                    <a:pt x="8595360" y="15510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551051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62356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62356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8779" y="2785617"/>
            <a:ext cx="4674235" cy="136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95"/>
              </a:spcBef>
            </a:pPr>
            <a:r>
              <a:rPr sz="1600" b="1" spc="-20" dirty="0">
                <a:solidFill>
                  <a:srgbClr val="E97031"/>
                </a:solidFill>
                <a:latin typeface="Yu Gothic UI"/>
                <a:cs typeface="Yu Gothic UI"/>
              </a:rPr>
              <a:t>Hostapd-</a:t>
            </a:r>
            <a:r>
              <a:rPr sz="1600" b="1" spc="-25" dirty="0">
                <a:solidFill>
                  <a:srgbClr val="E97031"/>
                </a:solidFill>
                <a:latin typeface="Yu Gothic UI"/>
                <a:cs typeface="Yu Gothic UI"/>
              </a:rPr>
              <a:t>WPE</a:t>
            </a:r>
            <a:endParaRPr sz="1600">
              <a:latin typeface="Yu Gothic UI"/>
              <a:cs typeface="Yu Gothic UI"/>
            </a:endParaRPr>
          </a:p>
          <a:p>
            <a:pPr marL="12700" marR="5080">
              <a:lnSpc>
                <a:spcPts val="1440"/>
              </a:lnSpc>
              <a:spcBef>
                <a:spcPts val="1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tool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harvesting.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convincing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point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self-signed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connect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validating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endParaRPr sz="1200">
              <a:latin typeface="Segoe UI Symbol"/>
              <a:cs typeface="Segoe UI Symbol"/>
            </a:endParaRPr>
          </a:p>
          <a:p>
            <a:pPr marL="12700" marR="15875">
              <a:lnSpc>
                <a:spcPts val="1440"/>
              </a:lnSpc>
              <a:spcBef>
                <a:spcPts val="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submit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challenge-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200" spc="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hashes. asleap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Hashcat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5500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NTLMv2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hash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Exploits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most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common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PEAP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misconfiguration: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missing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validation.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5989" y="2870073"/>
            <a:ext cx="2964180" cy="347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hostapd-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wpe</a:t>
            </a:r>
            <a:r>
              <a:rPr sz="1050" spc="1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/etc/hostapd-wpe/hostapd- wpe.conf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5989" y="3330702"/>
            <a:ext cx="3044825" cy="347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asleap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[challenge]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[response]</a:t>
            </a:r>
            <a:r>
              <a:rPr sz="10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W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1252" y="4102608"/>
            <a:ext cx="8857615" cy="436880"/>
            <a:chOff x="111252" y="4102608"/>
            <a:chExt cx="8857615" cy="43688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102608"/>
              <a:ext cx="8857488" cy="2622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4320" y="4211395"/>
              <a:ext cx="8595360" cy="0"/>
            </a:xfrm>
            <a:custGeom>
              <a:avLst/>
              <a:gdLst/>
              <a:ahLst/>
              <a:cxnLst/>
              <a:rect l="l" t="t" r="r" b="b"/>
              <a:pathLst>
                <a:path w="8595360">
                  <a:moveTo>
                    <a:pt x="0" y="1"/>
                  </a:moveTo>
                  <a:lnTo>
                    <a:pt x="8595360" y="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" y="4244340"/>
              <a:ext cx="287274" cy="29489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8779" y="4255256"/>
            <a:ext cx="8310245" cy="82359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234"/>
              </a:spcBef>
            </a:pPr>
            <a:r>
              <a:rPr sz="11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1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50"/>
              </a:spcBef>
            </a:pP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Pen-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test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methodology: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(Kismet)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Target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selection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(Aircrack-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ng)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crack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(Hashcat)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Report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remediation.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(Hostapd-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WPE)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Harvest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 Crack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asleap.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8430" cy="918844"/>
          </a:xfrm>
          <a:custGeom>
            <a:avLst/>
            <a:gdLst/>
            <a:ahLst/>
            <a:cxnLst/>
            <a:rect l="l" t="t" r="r" b="b"/>
            <a:pathLst>
              <a:path w="14084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84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8430" h="918844">
                <a:moveTo>
                  <a:pt x="1097559" y="0"/>
                </a:moveTo>
                <a:lnTo>
                  <a:pt x="1048837" y="3099"/>
                </a:lnTo>
                <a:lnTo>
                  <a:pt x="1002865" y="12414"/>
                </a:lnTo>
                <a:lnTo>
                  <a:pt x="959631" y="27967"/>
                </a:lnTo>
                <a:lnTo>
                  <a:pt x="919124" y="49784"/>
                </a:lnTo>
                <a:lnTo>
                  <a:pt x="882165" y="77974"/>
                </a:lnTo>
                <a:lnTo>
                  <a:pt x="849385" y="112807"/>
                </a:lnTo>
                <a:lnTo>
                  <a:pt x="820772" y="154261"/>
                </a:lnTo>
                <a:lnTo>
                  <a:pt x="796315" y="202311"/>
                </a:lnTo>
                <a:lnTo>
                  <a:pt x="780254" y="245685"/>
                </a:lnTo>
                <a:lnTo>
                  <a:pt x="767741" y="293667"/>
                </a:lnTo>
                <a:lnTo>
                  <a:pt x="758788" y="346264"/>
                </a:lnTo>
                <a:lnTo>
                  <a:pt x="753407" y="403483"/>
                </a:lnTo>
                <a:lnTo>
                  <a:pt x="751611" y="465328"/>
                </a:lnTo>
                <a:lnTo>
                  <a:pt x="753307" y="523621"/>
                </a:lnTo>
                <a:lnTo>
                  <a:pt x="758788" y="583964"/>
                </a:lnTo>
                <a:lnTo>
                  <a:pt x="767741" y="636028"/>
                </a:lnTo>
                <a:lnTo>
                  <a:pt x="780254" y="683264"/>
                </a:lnTo>
                <a:lnTo>
                  <a:pt x="796315" y="725678"/>
                </a:lnTo>
                <a:lnTo>
                  <a:pt x="820772" y="772326"/>
                </a:lnTo>
                <a:lnTo>
                  <a:pt x="849385" y="812260"/>
                </a:lnTo>
                <a:lnTo>
                  <a:pt x="882165" y="845478"/>
                </a:lnTo>
                <a:lnTo>
                  <a:pt x="919124" y="871982"/>
                </a:lnTo>
                <a:lnTo>
                  <a:pt x="959540" y="892317"/>
                </a:lnTo>
                <a:lnTo>
                  <a:pt x="1002515" y="906843"/>
                </a:lnTo>
                <a:lnTo>
                  <a:pt x="1048086" y="915558"/>
                </a:lnTo>
                <a:lnTo>
                  <a:pt x="1096289" y="918464"/>
                </a:lnTo>
                <a:lnTo>
                  <a:pt x="1144793" y="916056"/>
                </a:lnTo>
                <a:lnTo>
                  <a:pt x="1189332" y="908827"/>
                </a:lnTo>
                <a:lnTo>
                  <a:pt x="1229895" y="896764"/>
                </a:lnTo>
                <a:lnTo>
                  <a:pt x="1266469" y="879856"/>
                </a:lnTo>
                <a:lnTo>
                  <a:pt x="1299066" y="858807"/>
                </a:lnTo>
                <a:lnTo>
                  <a:pt x="1351783" y="805900"/>
                </a:lnTo>
                <a:lnTo>
                  <a:pt x="1373552" y="770382"/>
                </a:lnTo>
                <a:lnTo>
                  <a:pt x="1096924" y="770382"/>
                </a:lnTo>
                <a:lnTo>
                  <a:pt x="1076445" y="768836"/>
                </a:lnTo>
                <a:lnTo>
                  <a:pt x="1037202" y="756505"/>
                </a:lnTo>
                <a:lnTo>
                  <a:pt x="1000914" y="731432"/>
                </a:lnTo>
                <a:lnTo>
                  <a:pt x="971057" y="690665"/>
                </a:lnTo>
                <a:lnTo>
                  <a:pt x="948747" y="633231"/>
                </a:lnTo>
                <a:lnTo>
                  <a:pt x="945339" y="616077"/>
                </a:lnTo>
                <a:lnTo>
                  <a:pt x="886739" y="616077"/>
                </a:lnTo>
                <a:lnTo>
                  <a:pt x="880109" y="490853"/>
                </a:lnTo>
                <a:lnTo>
                  <a:pt x="879988" y="488569"/>
                </a:lnTo>
                <a:lnTo>
                  <a:pt x="879881" y="486537"/>
                </a:lnTo>
                <a:lnTo>
                  <a:pt x="895357" y="467129"/>
                </a:lnTo>
                <a:lnTo>
                  <a:pt x="911679" y="448532"/>
                </a:lnTo>
                <a:lnTo>
                  <a:pt x="928833" y="430744"/>
                </a:lnTo>
                <a:lnTo>
                  <a:pt x="937040" y="422993"/>
                </a:lnTo>
                <a:lnTo>
                  <a:pt x="937550" y="404261"/>
                </a:lnTo>
                <a:lnTo>
                  <a:pt x="942541" y="349839"/>
                </a:lnTo>
                <a:lnTo>
                  <a:pt x="950866" y="302061"/>
                </a:lnTo>
                <a:lnTo>
                  <a:pt x="962531" y="260929"/>
                </a:lnTo>
                <a:lnTo>
                  <a:pt x="1000636" y="192436"/>
                </a:lnTo>
                <a:lnTo>
                  <a:pt x="1060679" y="153574"/>
                </a:lnTo>
                <a:lnTo>
                  <a:pt x="1097559" y="148717"/>
                </a:lnTo>
                <a:lnTo>
                  <a:pt x="1359726" y="148717"/>
                </a:lnTo>
                <a:lnTo>
                  <a:pt x="1357433" y="143049"/>
                </a:lnTo>
                <a:lnTo>
                  <a:pt x="1330592" y="100534"/>
                </a:lnTo>
                <a:lnTo>
                  <a:pt x="1296822" y="64770"/>
                </a:lnTo>
                <a:lnTo>
                  <a:pt x="1256507" y="36433"/>
                </a:lnTo>
                <a:lnTo>
                  <a:pt x="1209859" y="16192"/>
                </a:lnTo>
                <a:lnTo>
                  <a:pt x="1156876" y="4048"/>
                </a:lnTo>
                <a:lnTo>
                  <a:pt x="1097559" y="0"/>
                </a:lnTo>
                <a:close/>
              </a:path>
              <a:path w="1408430" h="918844">
                <a:moveTo>
                  <a:pt x="1383415" y="488569"/>
                </a:moveTo>
                <a:lnTo>
                  <a:pt x="1111275" y="488569"/>
                </a:lnTo>
                <a:lnTo>
                  <a:pt x="1137392" y="490853"/>
                </a:lnTo>
                <a:lnTo>
                  <a:pt x="1136638" y="490853"/>
                </a:lnTo>
                <a:lnTo>
                  <a:pt x="1177283" y="508285"/>
                </a:lnTo>
                <a:lnTo>
                  <a:pt x="1205691" y="542911"/>
                </a:lnTo>
                <a:lnTo>
                  <a:pt x="1219979" y="591540"/>
                </a:lnTo>
                <a:lnTo>
                  <a:pt x="1221680" y="619506"/>
                </a:lnTo>
                <a:lnTo>
                  <a:pt x="1221765" y="620903"/>
                </a:lnTo>
                <a:lnTo>
                  <a:pt x="1214129" y="680116"/>
                </a:lnTo>
                <a:lnTo>
                  <a:pt x="1191158" y="728091"/>
                </a:lnTo>
                <a:lnTo>
                  <a:pt x="1152185" y="759809"/>
                </a:lnTo>
                <a:lnTo>
                  <a:pt x="1096924" y="770382"/>
                </a:lnTo>
                <a:lnTo>
                  <a:pt x="1373552" y="770382"/>
                </a:lnTo>
                <a:lnTo>
                  <a:pt x="1399025" y="701833"/>
                </a:lnTo>
                <a:lnTo>
                  <a:pt x="1405812" y="661943"/>
                </a:lnTo>
                <a:lnTo>
                  <a:pt x="1407999" y="620903"/>
                </a:lnTo>
                <a:lnTo>
                  <a:pt x="1408074" y="619506"/>
                </a:lnTo>
                <a:lnTo>
                  <a:pt x="1405905" y="575952"/>
                </a:lnTo>
                <a:lnTo>
                  <a:pt x="1399390" y="535971"/>
                </a:lnTo>
                <a:lnTo>
                  <a:pt x="1388518" y="499562"/>
                </a:lnTo>
                <a:lnTo>
                  <a:pt x="1383415" y="488569"/>
                </a:lnTo>
                <a:close/>
              </a:path>
              <a:path w="1408430" h="918844">
                <a:moveTo>
                  <a:pt x="937040" y="422993"/>
                </a:moveTo>
                <a:lnTo>
                  <a:pt x="928833" y="430744"/>
                </a:lnTo>
                <a:lnTo>
                  <a:pt x="911679" y="448532"/>
                </a:lnTo>
                <a:lnTo>
                  <a:pt x="895357" y="467129"/>
                </a:lnTo>
                <a:lnTo>
                  <a:pt x="879881" y="486537"/>
                </a:lnTo>
                <a:lnTo>
                  <a:pt x="886739" y="616077"/>
                </a:lnTo>
                <a:lnTo>
                  <a:pt x="904934" y="589954"/>
                </a:lnTo>
                <a:lnTo>
                  <a:pt x="925998" y="566070"/>
                </a:lnTo>
                <a:lnTo>
                  <a:pt x="937302" y="555852"/>
                </a:lnTo>
                <a:lnTo>
                  <a:pt x="935888" y="510413"/>
                </a:lnTo>
                <a:lnTo>
                  <a:pt x="935888" y="465328"/>
                </a:lnTo>
                <a:lnTo>
                  <a:pt x="937040" y="422993"/>
                </a:lnTo>
                <a:close/>
              </a:path>
              <a:path w="1408430" h="918844">
                <a:moveTo>
                  <a:pt x="937302" y="555852"/>
                </a:moveTo>
                <a:lnTo>
                  <a:pt x="925998" y="566070"/>
                </a:lnTo>
                <a:lnTo>
                  <a:pt x="904934" y="589954"/>
                </a:lnTo>
                <a:lnTo>
                  <a:pt x="886739" y="616077"/>
                </a:lnTo>
                <a:lnTo>
                  <a:pt x="945339" y="616077"/>
                </a:lnTo>
                <a:lnTo>
                  <a:pt x="941603" y="597265"/>
                </a:lnTo>
                <a:lnTo>
                  <a:pt x="937317" y="556321"/>
                </a:lnTo>
                <a:lnTo>
                  <a:pt x="937302" y="555852"/>
                </a:lnTo>
                <a:close/>
              </a:path>
              <a:path w="1408430" h="918844">
                <a:moveTo>
                  <a:pt x="1145438" y="341757"/>
                </a:moveTo>
                <a:lnTo>
                  <a:pt x="1085065" y="346678"/>
                </a:lnTo>
                <a:lnTo>
                  <a:pt x="1032408" y="361315"/>
                </a:lnTo>
                <a:lnTo>
                  <a:pt x="986609" y="384159"/>
                </a:lnTo>
                <a:lnTo>
                  <a:pt x="946810" y="413766"/>
                </a:lnTo>
                <a:lnTo>
                  <a:pt x="935888" y="465328"/>
                </a:lnTo>
                <a:lnTo>
                  <a:pt x="935888" y="510413"/>
                </a:lnTo>
                <a:lnTo>
                  <a:pt x="937302" y="555852"/>
                </a:lnTo>
                <a:lnTo>
                  <a:pt x="949943" y="544425"/>
                </a:lnTo>
                <a:lnTo>
                  <a:pt x="976782" y="525018"/>
                </a:lnTo>
                <a:lnTo>
                  <a:pt x="1006476" y="509089"/>
                </a:lnTo>
                <a:lnTo>
                  <a:pt x="1038790" y="497697"/>
                </a:lnTo>
                <a:lnTo>
                  <a:pt x="1073723" y="490853"/>
                </a:lnTo>
                <a:lnTo>
                  <a:pt x="1111275" y="488569"/>
                </a:lnTo>
                <a:lnTo>
                  <a:pt x="1383415" y="488569"/>
                </a:lnTo>
                <a:lnTo>
                  <a:pt x="1373276" y="466725"/>
                </a:lnTo>
                <a:lnTo>
                  <a:pt x="1332366" y="412273"/>
                </a:lnTo>
                <a:lnTo>
                  <a:pt x="1279169" y="373253"/>
                </a:lnTo>
                <a:lnTo>
                  <a:pt x="1216018" y="349646"/>
                </a:lnTo>
                <a:lnTo>
                  <a:pt x="1181657" y="343731"/>
                </a:lnTo>
                <a:lnTo>
                  <a:pt x="1145438" y="341757"/>
                </a:lnTo>
                <a:close/>
              </a:path>
              <a:path w="1408430" h="918844">
                <a:moveTo>
                  <a:pt x="1359726" y="148717"/>
                </a:moveTo>
                <a:lnTo>
                  <a:pt x="1097559" y="148717"/>
                </a:lnTo>
                <a:lnTo>
                  <a:pt x="1119443" y="150242"/>
                </a:lnTo>
                <a:lnTo>
                  <a:pt x="1139374" y="154828"/>
                </a:lnTo>
                <a:lnTo>
                  <a:pt x="1173378" y="173228"/>
                </a:lnTo>
                <a:lnTo>
                  <a:pt x="1198460" y="204279"/>
                </a:lnTo>
                <a:lnTo>
                  <a:pt x="1213637" y="248285"/>
                </a:lnTo>
                <a:lnTo>
                  <a:pt x="1390421" y="248285"/>
                </a:lnTo>
                <a:lnTo>
                  <a:pt x="1377399" y="192436"/>
                </a:lnTo>
                <a:lnTo>
                  <a:pt x="1377368" y="192303"/>
                </a:lnTo>
                <a:lnTo>
                  <a:pt x="1359726" y="148717"/>
                </a:lnTo>
                <a:close/>
              </a:path>
            </a:pathLst>
          </a:custGeom>
          <a:solidFill>
            <a:srgbClr val="EFC04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953588"/>
            <a:ext cx="518414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spc="-33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3800" b="1" spc="-3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54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75" dirty="0">
                <a:solidFill>
                  <a:srgbClr val="FFFFFF"/>
                </a:solidFill>
                <a:latin typeface="Tahoma"/>
                <a:cs typeface="Tahoma"/>
              </a:rPr>
              <a:t>Protocols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65868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Bluetooth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BLE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ZigBee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Z-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Wave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RFID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NFC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45" dirty="0">
                <a:solidFill>
                  <a:srgbClr val="89ABBE"/>
                </a:solidFill>
                <a:latin typeface="Segoe UI Symbol"/>
                <a:cs typeface="Segoe UI Symbol"/>
              </a:rPr>
              <a:t>WiMAX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Cellular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IrDA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Bluetooth</a:t>
            </a:r>
            <a:r>
              <a:rPr spc="-245" dirty="0"/>
              <a:t>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45" dirty="0"/>
              <a:t>Versions,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54" dirty="0"/>
              <a:t> </a:t>
            </a:r>
            <a:r>
              <a:rPr spc="400" dirty="0"/>
              <a:t>s</a:t>
            </a:r>
            <a:r>
              <a:rPr spc="-280" dirty="0"/>
              <a:t> </a:t>
            </a:r>
            <a:r>
              <a:rPr spc="-170" dirty="0"/>
              <a:t>Attacks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1620" y="1010157"/>
            <a:ext cx="1368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EFC040"/>
                </a:solidFill>
                <a:latin typeface="Yu Gothic UI"/>
                <a:cs typeface="Yu Gothic UI"/>
              </a:rPr>
              <a:t>Version</a:t>
            </a:r>
            <a:r>
              <a:rPr sz="14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FC040"/>
                </a:solidFill>
                <a:latin typeface="Yu Gothic UI"/>
                <a:cs typeface="Yu Gothic UI"/>
              </a:rPr>
              <a:t>Timeline</a:t>
            </a:r>
            <a:endParaRPr sz="1400">
              <a:latin typeface="Yu Gothic UI"/>
              <a:cs typeface="Yu Gothic U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71145" y="1322705"/>
          <a:ext cx="8458199" cy="2420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Version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Year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Feature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Security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Note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1.0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1.1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Fixed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device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every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→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trivial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device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tracking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2.1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EDR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2007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Secure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Simple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Pairing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(SSP)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replaces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vulnerable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PIN-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based</a:t>
                      </a:r>
                      <a:r>
                        <a:rPr sz="12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pairing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4.0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(Low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Energy)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introduced.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Dual-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mode.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Low-power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IoT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focus.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4.2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2014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r>
                        <a:rPr sz="12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(LESC). Resolvable</a:t>
                      </a:r>
                      <a:r>
                        <a:rPr sz="125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Private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Addresses</a:t>
                      </a:r>
                      <a:r>
                        <a:rPr sz="1250" spc="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anti-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tracking.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IPv6.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2016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speed</a:t>
                      </a:r>
                      <a:r>
                        <a:rPr sz="12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(2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Mbps),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range,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broadcast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capacity.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AoA/AoD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direction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finding.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5.2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2020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LE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Audio,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EATT,</a:t>
                      </a:r>
                      <a:r>
                        <a:rPr sz="12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LC3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codec.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Isochronous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channels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hearing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aids.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5.4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2023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PAwR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IoT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mesh.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Improved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duty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cycle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6663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Bluetooth</a:t>
            </a:r>
            <a:r>
              <a:rPr spc="-245" dirty="0"/>
              <a:t>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45" dirty="0"/>
              <a:t>Versions,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54" dirty="0"/>
              <a:t> </a:t>
            </a:r>
            <a:r>
              <a:rPr spc="400" dirty="0"/>
              <a:t>s</a:t>
            </a:r>
            <a:r>
              <a:rPr spc="-280" dirty="0"/>
              <a:t> </a:t>
            </a:r>
            <a:r>
              <a:rPr spc="-170" dirty="0"/>
              <a:t>Attacks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4007" y="848842"/>
            <a:ext cx="8569960" cy="3769360"/>
            <a:chOff x="64007" y="848842"/>
            <a:chExt cx="8569960" cy="37693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848842"/>
              <a:ext cx="7761732" cy="9388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9016" y="957960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229" y="957960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3229" y="957960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229" y="957960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1598650"/>
              <a:ext cx="7761732" cy="9388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9016" y="1707769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5"/>
                  </a:moveTo>
                  <a:lnTo>
                    <a:pt x="7413435" y="676655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229" y="1707769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5"/>
                  </a:moveTo>
                  <a:lnTo>
                    <a:pt x="7499223" y="676655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3229" y="170776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85787" y="676655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3229" y="170776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5"/>
                  </a:moveTo>
                  <a:lnTo>
                    <a:pt x="85787" y="676655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2348458"/>
              <a:ext cx="7761732" cy="9388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9016" y="2457576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3229" y="2457576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3229" y="2457576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3229" y="2457576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3098291"/>
              <a:ext cx="7761732" cy="9388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9016" y="3207359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3229" y="3207359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229" y="320735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3229" y="320735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2" y="3848100"/>
              <a:ext cx="7761732" cy="58206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4344" y="3957167"/>
              <a:ext cx="7438390" cy="320040"/>
            </a:xfrm>
            <a:custGeom>
              <a:avLst/>
              <a:gdLst/>
              <a:ahLst/>
              <a:cxnLst/>
              <a:rect l="l" t="t" r="r" b="b"/>
              <a:pathLst>
                <a:path w="7438390" h="320039">
                  <a:moveTo>
                    <a:pt x="0" y="320040"/>
                  </a:moveTo>
                  <a:lnTo>
                    <a:pt x="7438108" y="320040"/>
                  </a:lnTo>
                  <a:lnTo>
                    <a:pt x="7438108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3229" y="3957167"/>
              <a:ext cx="7499350" cy="320040"/>
            </a:xfrm>
            <a:custGeom>
              <a:avLst/>
              <a:gdLst/>
              <a:ahLst/>
              <a:cxnLst/>
              <a:rect l="l" t="t" r="r" b="b"/>
              <a:pathLst>
                <a:path w="7499350" h="320039">
                  <a:moveTo>
                    <a:pt x="0" y="320040"/>
                  </a:moveTo>
                  <a:lnTo>
                    <a:pt x="7499223" y="320040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3229" y="3957167"/>
              <a:ext cx="61594" cy="320040"/>
            </a:xfrm>
            <a:custGeom>
              <a:avLst/>
              <a:gdLst/>
              <a:ahLst/>
              <a:cxnLst/>
              <a:rect l="l" t="t" r="r" b="b"/>
              <a:pathLst>
                <a:path w="61595" h="320039">
                  <a:moveTo>
                    <a:pt x="61114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61114" y="320040"/>
                  </a:lnTo>
                  <a:lnTo>
                    <a:pt x="61114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3229" y="3957167"/>
              <a:ext cx="61594" cy="320040"/>
            </a:xfrm>
            <a:custGeom>
              <a:avLst/>
              <a:gdLst/>
              <a:ahLst/>
              <a:cxnLst/>
              <a:rect l="l" t="t" r="r" b="b"/>
              <a:pathLst>
                <a:path w="61595" h="320039">
                  <a:moveTo>
                    <a:pt x="0" y="320040"/>
                  </a:moveTo>
                  <a:lnTo>
                    <a:pt x="61114" y="320040"/>
                  </a:lnTo>
                  <a:lnTo>
                    <a:pt x="61114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" y="4226051"/>
              <a:ext cx="8569452" cy="3917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7431" y="4335640"/>
              <a:ext cx="8307070" cy="128905"/>
            </a:xfrm>
            <a:custGeom>
              <a:avLst/>
              <a:gdLst/>
              <a:ahLst/>
              <a:cxnLst/>
              <a:rect l="l" t="t" r="r" b="b"/>
              <a:pathLst>
                <a:path w="8307070" h="128904">
                  <a:moveTo>
                    <a:pt x="8306943" y="0"/>
                  </a:moveTo>
                  <a:lnTo>
                    <a:pt x="0" y="0"/>
                  </a:lnTo>
                  <a:lnTo>
                    <a:pt x="0" y="128854"/>
                  </a:lnTo>
                  <a:lnTo>
                    <a:pt x="8306943" y="128854"/>
                  </a:lnTo>
                  <a:lnTo>
                    <a:pt x="8306943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431" y="4335640"/>
              <a:ext cx="8307070" cy="128905"/>
            </a:xfrm>
            <a:custGeom>
              <a:avLst/>
              <a:gdLst/>
              <a:ahLst/>
              <a:cxnLst/>
              <a:rect l="l" t="t" r="r" b="b"/>
              <a:pathLst>
                <a:path w="8307070" h="128904">
                  <a:moveTo>
                    <a:pt x="0" y="128854"/>
                  </a:moveTo>
                  <a:lnTo>
                    <a:pt x="8306943" y="128854"/>
                  </a:lnTo>
                  <a:lnTo>
                    <a:pt x="8306943" y="0"/>
                  </a:lnTo>
                  <a:lnTo>
                    <a:pt x="0" y="0"/>
                  </a:lnTo>
                  <a:lnTo>
                    <a:pt x="0" y="128854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61620" y="642365"/>
            <a:ext cx="8276590" cy="444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4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Vulnerabilities</a:t>
            </a:r>
            <a:endParaRPr sz="1400" dirty="0">
              <a:latin typeface="Yu Gothic UI"/>
              <a:cs typeface="Yu Gothic UI"/>
            </a:endParaRPr>
          </a:p>
          <a:p>
            <a:pPr marL="596265">
              <a:lnSpc>
                <a:spcPct val="100000"/>
              </a:lnSpc>
              <a:spcBef>
                <a:spcPts val="133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BlueBorne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(2017)</a:t>
            </a:r>
            <a:endParaRPr sz="1300" dirty="0">
              <a:latin typeface="Yu Gothic UI"/>
              <a:cs typeface="Yu Gothic UI"/>
            </a:endParaRPr>
          </a:p>
          <a:p>
            <a:pPr marL="596265" marR="697230">
              <a:lnSpc>
                <a:spcPct val="100000"/>
              </a:lnSpc>
              <a:spcBef>
                <a:spcPts val="220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day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vulnerabilities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across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Android,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iOS,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Windows,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Linux.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Airborne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RCE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pairing,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discoverable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state,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required.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Spreads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device-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to-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silently.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5.3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billion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disclosure.</a:t>
            </a:r>
            <a:endParaRPr sz="110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KNOB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3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(201G)</a:t>
            </a:r>
            <a:endParaRPr sz="1300" dirty="0">
              <a:latin typeface="Yu Gothic UI"/>
              <a:cs typeface="Yu Gothic UI"/>
            </a:endParaRPr>
          </a:p>
          <a:p>
            <a:pPr marL="596265" marR="786765">
              <a:lnSpc>
                <a:spcPct val="100000"/>
              </a:lnSpc>
              <a:spcBef>
                <a:spcPts val="225"/>
              </a:spcBef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Negotiation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Bluetooth: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entropy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down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byte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(1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bit).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Brute-forced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milliseconds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hardware.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Classic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versions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regardless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pairing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endParaRPr sz="110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 dirty="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BIAS</a:t>
            </a:r>
            <a:r>
              <a:rPr sz="13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(2020)</a:t>
            </a:r>
            <a:endParaRPr sz="1300" dirty="0">
              <a:latin typeface="Yu Gothic UI"/>
              <a:cs typeface="Yu Gothic UI"/>
            </a:endParaRPr>
          </a:p>
          <a:p>
            <a:pPr marL="596265" marR="727075">
              <a:lnSpc>
                <a:spcPct val="100000"/>
              </a:lnSpc>
              <a:spcBef>
                <a:spcPts val="229"/>
              </a:spcBef>
            </a:pP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Impersonation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AttackS: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exploits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Connections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role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switching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as a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previously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paired device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possessing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link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10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 dirty="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BLESA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(2020)</a:t>
            </a:r>
            <a:endParaRPr sz="1300" dirty="0">
              <a:latin typeface="Yu Gothic UI"/>
              <a:cs typeface="Yu Gothic UI"/>
            </a:endParaRPr>
          </a:p>
          <a:p>
            <a:pPr marL="596265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Attack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reconnection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procedure.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Bypasses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on</a:t>
            </a: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reconnect.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iOS,</a:t>
            </a:r>
            <a:endParaRPr sz="1100" dirty="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Android,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Linux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stacks.</a:t>
            </a:r>
            <a:endParaRPr sz="110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Bluesnarfing</a:t>
            </a:r>
            <a:r>
              <a:rPr sz="1300" b="1" spc="-9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/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Bluebugging</a:t>
            </a:r>
            <a:endParaRPr sz="1300" dirty="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939"/>
              </a:spcBef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scenario: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insulin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pump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Bluetooth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4.0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BLE.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applicable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vulnerabilities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(BLESA reconnect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spoof,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eavesdropping,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unencrypted 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GATT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characteristics).</a:t>
            </a:r>
            <a:r>
              <a:rPr sz="1300" spc="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are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the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life-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safety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implications?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What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hospital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implement?</a:t>
            </a:r>
            <a:endParaRPr sz="13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75" dirty="0"/>
              <a:t>ZigBee</a:t>
            </a:r>
            <a:r>
              <a:rPr spc="295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265" dirty="0"/>
              <a:t>Z-</a:t>
            </a:r>
            <a:r>
              <a:rPr spc="-350" dirty="0"/>
              <a:t>Wave</a:t>
            </a:r>
            <a:r>
              <a:rPr spc="31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365" dirty="0"/>
              <a:t>RFID</a:t>
            </a:r>
            <a:r>
              <a:rPr spc="28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155" dirty="0"/>
              <a:t>NFC</a:t>
            </a:r>
            <a:r>
              <a:rPr spc="-295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60" dirty="0"/>
              <a:t>Features</a:t>
            </a:r>
            <a:r>
              <a:rPr spc="-290" dirty="0"/>
              <a:t> </a:t>
            </a:r>
            <a:r>
              <a:rPr spc="350" dirty="0"/>
              <a:t>s </a:t>
            </a:r>
            <a:r>
              <a:rPr spc="-165" dirty="0"/>
              <a:t>Vulnerabilities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996569"/>
            <a:ext cx="4422775" cy="4034790"/>
            <a:chOff x="111252" y="996569"/>
            <a:chExt cx="4422775" cy="4034790"/>
          </a:xfrm>
        </p:grpSpPr>
        <p:sp>
          <p:nvSpPr>
            <p:cNvPr id="7" name="object 7"/>
            <p:cNvSpPr/>
            <p:nvPr/>
          </p:nvSpPr>
          <p:spPr>
            <a:xfrm>
              <a:off x="411479" y="10029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10029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22616"/>
              <a:ext cx="4422648" cy="40081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272540"/>
              <a:ext cx="4160520" cy="3604260"/>
            </a:xfrm>
            <a:custGeom>
              <a:avLst/>
              <a:gdLst/>
              <a:ahLst/>
              <a:cxnLst/>
              <a:rect l="l" t="t" r="r" b="b"/>
              <a:pathLst>
                <a:path w="4160520" h="3604260">
                  <a:moveTo>
                    <a:pt x="0" y="3604260"/>
                  </a:moveTo>
                  <a:lnTo>
                    <a:pt x="4160520" y="36042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042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130935"/>
              <a:ext cx="4160520" cy="3745865"/>
            </a:xfrm>
            <a:custGeom>
              <a:avLst/>
              <a:gdLst/>
              <a:ahLst/>
              <a:cxnLst/>
              <a:rect l="l" t="t" r="r" b="b"/>
              <a:pathLst>
                <a:path w="4160520" h="3745865">
                  <a:moveTo>
                    <a:pt x="0" y="3745865"/>
                  </a:moveTo>
                  <a:lnTo>
                    <a:pt x="4160520" y="374586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74586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4160520" y="0"/>
                  </a:moveTo>
                  <a:lnTo>
                    <a:pt x="0" y="0"/>
                  </a:lnTo>
                  <a:lnTo>
                    <a:pt x="0" y="141655"/>
                  </a:lnTo>
                  <a:lnTo>
                    <a:pt x="4160520" y="141655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0" y="141655"/>
                  </a:moveTo>
                  <a:lnTo>
                    <a:pt x="4160520" y="14165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41655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641092"/>
              <a:ext cx="313182" cy="3208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6" y="3704844"/>
              <a:ext cx="310134" cy="3208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ZigBee</a:t>
            </a:r>
            <a:r>
              <a:rPr spc="175" dirty="0"/>
              <a:t> </a:t>
            </a:r>
            <a:r>
              <a:rPr dirty="0"/>
              <a:t>(IEEE</a:t>
            </a:r>
            <a:r>
              <a:rPr spc="-95" dirty="0"/>
              <a:t> </a:t>
            </a:r>
            <a:r>
              <a:rPr spc="-10" dirty="0"/>
              <a:t>802.15.4)</a:t>
            </a:r>
          </a:p>
          <a:p>
            <a:pPr marL="12700" marR="104139">
              <a:lnSpc>
                <a:spcPct val="100400"/>
              </a:lnSpc>
              <a:spcBef>
                <a:spcPts val="1060"/>
              </a:spcBef>
            </a:pP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2.4</a:t>
            </a:r>
            <a:r>
              <a:rPr sz="1200" b="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GHz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mesh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networking.</a:t>
            </a:r>
            <a:r>
              <a:rPr sz="1200" b="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AES-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128</a:t>
            </a:r>
            <a:r>
              <a:rPr sz="1200" b="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encryption.</a:t>
            </a:r>
            <a:r>
              <a:rPr sz="1200" b="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250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kbps. 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Up</a:t>
            </a:r>
            <a:r>
              <a:rPr sz="1200" b="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00" b="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65,000</a:t>
            </a:r>
            <a:r>
              <a:rPr sz="1200" b="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nodes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per</a:t>
            </a:r>
            <a:r>
              <a:rPr sz="1200" b="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network.</a:t>
            </a:r>
            <a:r>
              <a:rPr sz="12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Designed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for</a:t>
            </a:r>
            <a:r>
              <a:rPr sz="1200" b="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smart</a:t>
            </a:r>
            <a:r>
              <a:rPr sz="1200" b="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home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automation,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industrial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SCADA,</a:t>
            </a:r>
            <a:r>
              <a:rPr sz="12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building</a:t>
            </a:r>
            <a:r>
              <a:rPr sz="1200" b="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management.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Segoe UI Symbol"/>
              <a:cs typeface="Segoe UI Symbol"/>
            </a:endParaRPr>
          </a:p>
          <a:p>
            <a:pPr marL="12700" marR="69850" indent="162560">
              <a:lnSpc>
                <a:spcPct val="100000"/>
              </a:lnSpc>
              <a:spcBef>
                <a:spcPts val="5"/>
              </a:spcBef>
            </a:pP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 key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20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b="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during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join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unless</a:t>
            </a:r>
            <a:r>
              <a:rPr sz="1200" b="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specifically</a:t>
            </a:r>
            <a:r>
              <a:rPr sz="1200" b="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protected.</a:t>
            </a:r>
            <a:r>
              <a:rPr sz="1200" b="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Default</a:t>
            </a:r>
            <a:r>
              <a:rPr sz="1200" b="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key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'ZigBeeAlliance01'</a:t>
            </a:r>
            <a:r>
              <a:rPr sz="1200" b="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widely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known.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32-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b="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37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replay</a:t>
            </a:r>
            <a:r>
              <a:rPr sz="120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vulnerability.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KillerBee 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toolkit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(Python) supports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capture,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injection,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replay,</a:t>
            </a:r>
            <a:r>
              <a:rPr sz="1200" b="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key</a:t>
            </a:r>
            <a:r>
              <a:rPr sz="120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extraction.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0020">
              <a:lnSpc>
                <a:spcPct val="100000"/>
              </a:lnSpc>
              <a:spcBef>
                <a:spcPts val="1180"/>
              </a:spcBef>
            </a:pP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building: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KillerBee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intercepts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join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handshake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when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new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Zigbee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sensor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added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network.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Attacker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captures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key</a:t>
            </a:r>
            <a:r>
              <a:rPr sz="1200" b="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can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now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inject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commands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to any</a:t>
            </a:r>
            <a:r>
              <a:rPr sz="1200" b="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14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including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opening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door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locks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or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triggering</a:t>
            </a:r>
            <a:r>
              <a:rPr sz="1200" b="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fire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suppression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systems.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1022616"/>
            <a:ext cx="4422775" cy="4008120"/>
            <a:chOff x="4500371" y="1022616"/>
            <a:chExt cx="4422775" cy="40081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022616"/>
              <a:ext cx="4422648" cy="40081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63439" y="1272540"/>
              <a:ext cx="4160520" cy="3604260"/>
            </a:xfrm>
            <a:custGeom>
              <a:avLst/>
              <a:gdLst/>
              <a:ahLst/>
              <a:cxnLst/>
              <a:rect l="l" t="t" r="r" b="b"/>
              <a:pathLst>
                <a:path w="4160520" h="3604260">
                  <a:moveTo>
                    <a:pt x="0" y="3604260"/>
                  </a:moveTo>
                  <a:lnTo>
                    <a:pt x="4160519" y="36042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042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130935"/>
              <a:ext cx="4160520" cy="3745865"/>
            </a:xfrm>
            <a:custGeom>
              <a:avLst/>
              <a:gdLst/>
              <a:ahLst/>
              <a:cxnLst/>
              <a:rect l="l" t="t" r="r" b="b"/>
              <a:pathLst>
                <a:path w="4160520" h="3745865">
                  <a:moveTo>
                    <a:pt x="0" y="3745865"/>
                  </a:moveTo>
                  <a:lnTo>
                    <a:pt x="4160519" y="374586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74586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4160519" y="0"/>
                  </a:moveTo>
                  <a:lnTo>
                    <a:pt x="0" y="0"/>
                  </a:lnTo>
                  <a:lnTo>
                    <a:pt x="0" y="141655"/>
                  </a:lnTo>
                  <a:lnTo>
                    <a:pt x="4160519" y="141655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0" y="141655"/>
                  </a:moveTo>
                  <a:lnTo>
                    <a:pt x="4160519" y="14165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4165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015" y="2641092"/>
              <a:ext cx="313182" cy="3208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015" y="3796284"/>
              <a:ext cx="310134" cy="3208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79390" y="1310462"/>
            <a:ext cx="3937000" cy="32740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00" b="1" spc="-110" dirty="0">
                <a:solidFill>
                  <a:srgbClr val="E97031"/>
                </a:solidFill>
                <a:latin typeface="Yu Gothic UI"/>
                <a:cs typeface="Yu Gothic UI"/>
              </a:rPr>
              <a:t>Z-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Wave</a:t>
            </a:r>
            <a:r>
              <a:rPr sz="1400" b="1" spc="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(ITU-T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G.GG5G)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99"/>
              </a:lnSpc>
              <a:spcBef>
                <a:spcPts val="345"/>
              </a:spcBef>
            </a:pP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Sub-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GHz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bands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(868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MHz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EU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/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908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MHz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US).</a:t>
            </a:r>
            <a:r>
              <a:rPr sz="120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Avoids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2.4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GHz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congestion.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30–100m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range.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Maximum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232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nodes.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Widely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used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smart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locks,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thermostats,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and </a:t>
            </a:r>
            <a:r>
              <a:rPr sz="1200" spc="50" dirty="0">
                <a:solidFill>
                  <a:srgbClr val="89ABBE"/>
                </a:solidFill>
                <a:latin typeface="Segoe UI Symbol"/>
                <a:cs typeface="Segoe UI Symbol"/>
              </a:rPr>
              <a:t>access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control.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S2 framework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(2017)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uses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ECDH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for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key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>
              <a:latin typeface="Segoe UI Symbol"/>
              <a:cs typeface="Segoe UI Symbol"/>
            </a:endParaRPr>
          </a:p>
          <a:p>
            <a:pPr marL="175260">
              <a:lnSpc>
                <a:spcPts val="143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(pre-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2017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devices):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XOR'd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0x00×16</a:t>
            </a:r>
            <a:endParaRPr sz="1200">
              <a:latin typeface="Segoe UI Symbol"/>
              <a:cs typeface="Segoe UI Symbol"/>
            </a:endParaRPr>
          </a:p>
          <a:p>
            <a:pPr marL="12700" marR="78740">
              <a:lnSpc>
                <a:spcPts val="1440"/>
              </a:lnSpc>
              <a:spcBef>
                <a:spcPts val="45"/>
              </a:spcBef>
            </a:pP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mathematically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equivalent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transmission.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S0→S2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downgrade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inclusion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vulnerable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S0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SDR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(Software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Defined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Radio)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GHz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200">
              <a:latin typeface="Segoe UI Symbol"/>
              <a:cs typeface="Segoe UI Symbol"/>
            </a:endParaRPr>
          </a:p>
          <a:p>
            <a:pPr marL="12700" marR="31115" indent="160020">
              <a:lnSpc>
                <a:spcPct val="100000"/>
              </a:lnSpc>
              <a:spcBef>
                <a:spcPts val="5"/>
              </a:spcBef>
            </a:pP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corporate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building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uses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0" dirty="0">
                <a:solidFill>
                  <a:srgbClr val="186B23"/>
                </a:solidFill>
                <a:latin typeface="Segoe UI Symbol"/>
                <a:cs typeface="Segoe UI Symbol"/>
              </a:rPr>
              <a:t>Z-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Wave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server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room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doors.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Verify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firmware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dates.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Any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using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S0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must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be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replaced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SDR</a:t>
            </a:r>
            <a:r>
              <a:rPr sz="12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Gqrx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GNU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Radio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can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capture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plaintext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key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during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pairing.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75" dirty="0"/>
              <a:t>ZigBee</a:t>
            </a:r>
            <a:r>
              <a:rPr spc="295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265" dirty="0"/>
              <a:t>Z-</a:t>
            </a:r>
            <a:r>
              <a:rPr spc="-350" dirty="0"/>
              <a:t>Wave</a:t>
            </a:r>
            <a:r>
              <a:rPr spc="31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365" dirty="0"/>
              <a:t>RFID</a:t>
            </a:r>
            <a:r>
              <a:rPr spc="28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155" dirty="0"/>
              <a:t>NFC</a:t>
            </a:r>
            <a:r>
              <a:rPr spc="-295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60" dirty="0"/>
              <a:t>Features</a:t>
            </a:r>
            <a:r>
              <a:rPr spc="-290" dirty="0"/>
              <a:t> </a:t>
            </a:r>
            <a:r>
              <a:rPr spc="350" dirty="0"/>
              <a:t>s </a:t>
            </a:r>
            <a:r>
              <a:rPr spc="-165" dirty="0"/>
              <a:t>Vulnerabilities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1077464"/>
            <a:ext cx="4422775" cy="3961129"/>
            <a:chOff x="111252" y="1077464"/>
            <a:chExt cx="4422775" cy="396112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77464"/>
              <a:ext cx="4422648" cy="39608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" y="1326641"/>
              <a:ext cx="4160520" cy="3558540"/>
            </a:xfrm>
            <a:custGeom>
              <a:avLst/>
              <a:gdLst/>
              <a:ahLst/>
              <a:cxnLst/>
              <a:rect l="l" t="t" r="r" b="b"/>
              <a:pathLst>
                <a:path w="4160520" h="3558540">
                  <a:moveTo>
                    <a:pt x="0" y="3557968"/>
                  </a:moveTo>
                  <a:lnTo>
                    <a:pt x="4160520" y="355796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557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186878"/>
              <a:ext cx="4160520" cy="3698240"/>
            </a:xfrm>
            <a:custGeom>
              <a:avLst/>
              <a:gdLst/>
              <a:ahLst/>
              <a:cxnLst/>
              <a:rect l="l" t="t" r="r" b="b"/>
              <a:pathLst>
                <a:path w="4160520" h="3698240">
                  <a:moveTo>
                    <a:pt x="0" y="3697732"/>
                  </a:moveTo>
                  <a:lnTo>
                    <a:pt x="4160520" y="369773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977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4160520" y="0"/>
                  </a:moveTo>
                  <a:lnTo>
                    <a:pt x="0" y="0"/>
                  </a:lnTo>
                  <a:lnTo>
                    <a:pt x="0" y="139826"/>
                  </a:lnTo>
                  <a:lnTo>
                    <a:pt x="4160520" y="139826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0" y="139826"/>
                  </a:moveTo>
                  <a:lnTo>
                    <a:pt x="4160520" y="139826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39826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724912"/>
              <a:ext cx="313182" cy="3208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6" y="3930396"/>
              <a:ext cx="310134" cy="3208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89636" y="1284205"/>
            <a:ext cx="3943985" cy="361632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spc="-20" dirty="0">
                <a:solidFill>
                  <a:srgbClr val="EFC040"/>
                </a:solidFill>
                <a:latin typeface="Yu Gothic UI"/>
                <a:cs typeface="Yu Gothic UI"/>
              </a:rPr>
              <a:t>RFID</a:t>
            </a:r>
            <a:endParaRPr sz="1600">
              <a:latin typeface="Yu Gothic UI"/>
              <a:cs typeface="Yu Gothic UI"/>
            </a:endParaRPr>
          </a:p>
          <a:p>
            <a:pPr marL="12700" marR="215900">
              <a:lnSpc>
                <a:spcPct val="100200"/>
              </a:lnSpc>
              <a:spcBef>
                <a:spcPts val="675"/>
              </a:spcBef>
            </a:pP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LF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(125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kHz):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animal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tags,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HID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89ABBE"/>
                </a:solidFill>
                <a:latin typeface="Segoe UI Symbol"/>
                <a:cs typeface="Segoe UI Symbol"/>
              </a:rPr>
              <a:t>access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cards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NO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encryption, 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NO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challenge-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response.</a:t>
            </a:r>
            <a:r>
              <a:rPr sz="1200" spc="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HF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(13.56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MHz,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ISO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14443):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contactless smart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cards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 optional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 AES.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UHF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(860–960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MHz):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EPC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Gen2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supply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chain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1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12m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range,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no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strong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authentication.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2560">
              <a:lnSpc>
                <a:spcPct val="100000"/>
              </a:lnSpc>
              <a:spcBef>
                <a:spcPts val="869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(EM4100,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HID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Prox)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cloned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Proxmark3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Flipper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attack: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two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NFC/RFID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proxy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transaction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distance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contactless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payment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fraud,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cloning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physical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possession.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encryption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LF,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PKI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anywhere.</a:t>
            </a:r>
            <a:endParaRPr sz="1200">
              <a:latin typeface="Segoe UI Symbol"/>
              <a:cs typeface="Segoe UI Symbol"/>
            </a:endParaRPr>
          </a:p>
          <a:p>
            <a:pPr marL="12700" marR="167640" indent="160020">
              <a:lnSpc>
                <a:spcPct val="99600"/>
              </a:lnSpc>
              <a:spcBef>
                <a:spcPts val="855"/>
              </a:spcBef>
            </a:pP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Physical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test: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use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Proxmark3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clone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an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HID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Prox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186B23"/>
                </a:solidFill>
                <a:latin typeface="Segoe UI Symbol"/>
                <a:cs typeface="Segoe UI Symbol"/>
              </a:rPr>
              <a:t>access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from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an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employee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lift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(elevator)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within</a:t>
            </a:r>
            <a:r>
              <a:rPr sz="120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15cm. Use</a:t>
            </a:r>
            <a:r>
              <a:rPr sz="1200" spc="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 clone</a:t>
            </a:r>
            <a:r>
              <a:rPr sz="120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access</a:t>
            </a:r>
            <a:r>
              <a:rPr sz="1200" spc="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restricted</a:t>
            </a:r>
            <a:r>
              <a:rPr sz="120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areas.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Demonstrate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why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'card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identity'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flawed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model.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0371" y="1077464"/>
            <a:ext cx="4422775" cy="3961129"/>
            <a:chOff x="4500371" y="1077464"/>
            <a:chExt cx="4422775" cy="3961129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077464"/>
              <a:ext cx="4422648" cy="39608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63439" y="1326641"/>
              <a:ext cx="4160520" cy="3558540"/>
            </a:xfrm>
            <a:custGeom>
              <a:avLst/>
              <a:gdLst/>
              <a:ahLst/>
              <a:cxnLst/>
              <a:rect l="l" t="t" r="r" b="b"/>
              <a:pathLst>
                <a:path w="4160520" h="3558540">
                  <a:moveTo>
                    <a:pt x="0" y="3557968"/>
                  </a:moveTo>
                  <a:lnTo>
                    <a:pt x="4160519" y="355796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557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63439" y="1186878"/>
              <a:ext cx="4160520" cy="3698240"/>
            </a:xfrm>
            <a:custGeom>
              <a:avLst/>
              <a:gdLst/>
              <a:ahLst/>
              <a:cxnLst/>
              <a:rect l="l" t="t" r="r" b="b"/>
              <a:pathLst>
                <a:path w="4160520" h="3698240">
                  <a:moveTo>
                    <a:pt x="0" y="3697732"/>
                  </a:moveTo>
                  <a:lnTo>
                    <a:pt x="4160519" y="369773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977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3439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4160519" y="0"/>
                  </a:moveTo>
                  <a:lnTo>
                    <a:pt x="0" y="0"/>
                  </a:lnTo>
                  <a:lnTo>
                    <a:pt x="0" y="139826"/>
                  </a:lnTo>
                  <a:lnTo>
                    <a:pt x="4160519" y="139826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0" y="139826"/>
                  </a:moveTo>
                  <a:lnTo>
                    <a:pt x="4160519" y="139826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39826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015" y="2724912"/>
              <a:ext cx="313182" cy="3208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015" y="3930396"/>
              <a:ext cx="310134" cy="3208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779390" y="1398523"/>
            <a:ext cx="3962400" cy="3502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</a:pPr>
            <a:r>
              <a:rPr sz="1600" b="1" dirty="0">
                <a:solidFill>
                  <a:srgbClr val="186B23"/>
                </a:solidFill>
                <a:latin typeface="Yu Gothic UI"/>
                <a:cs typeface="Yu Gothic UI"/>
              </a:rPr>
              <a:t>NFC</a:t>
            </a:r>
            <a:r>
              <a:rPr sz="1600" b="1" spc="30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186B23"/>
                </a:solidFill>
                <a:latin typeface="Yu Gothic UI"/>
                <a:cs typeface="Yu Gothic UI"/>
              </a:rPr>
              <a:t>(ISO</a:t>
            </a:r>
            <a:r>
              <a:rPr sz="16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45" dirty="0">
                <a:solidFill>
                  <a:srgbClr val="186B23"/>
                </a:solidFill>
                <a:latin typeface="Yu Gothic UI"/>
                <a:cs typeface="Yu Gothic UI"/>
              </a:rPr>
              <a:t>180G2</a:t>
            </a:r>
            <a:r>
              <a:rPr sz="1600" b="1" spc="-8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600" b="1" spc="-7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186B23"/>
                </a:solidFill>
                <a:latin typeface="Yu Gothic UI"/>
                <a:cs typeface="Yu Gothic UI"/>
              </a:rPr>
              <a:t>NFC</a:t>
            </a:r>
            <a:r>
              <a:rPr sz="16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186B23"/>
                </a:solidFill>
                <a:latin typeface="Yu Gothic UI"/>
                <a:cs typeface="Yu Gothic UI"/>
              </a:rPr>
              <a:t>Forum)</a:t>
            </a:r>
            <a:endParaRPr sz="1600">
              <a:latin typeface="Yu Gothic UI"/>
              <a:cs typeface="Yu Gothic UI"/>
            </a:endParaRPr>
          </a:p>
          <a:p>
            <a:pPr marL="12700" marR="162560">
              <a:lnSpc>
                <a:spcPts val="1440"/>
              </a:lnSpc>
              <a:spcBef>
                <a:spcPts val="25"/>
              </a:spcBef>
            </a:pP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13.56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MHz.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deliberately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limited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89ABBE"/>
                </a:solidFill>
                <a:latin typeface="Segoe UI Symbol"/>
                <a:cs typeface="Segoe UI Symbol"/>
              </a:rPr>
              <a:t>&lt;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4cm.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106/212/424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kbps.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Three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modes: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Reader/Writer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(reads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passive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tags),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Peer-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to-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Peer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(active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exchange),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Card</a:t>
            </a:r>
            <a:endParaRPr sz="1200">
              <a:latin typeface="Segoe UI Symbol"/>
              <a:cs typeface="Segoe UI Symbol"/>
            </a:endParaRPr>
          </a:p>
          <a:p>
            <a:pPr marL="12700" marR="568325">
              <a:lnSpc>
                <a:spcPts val="1440"/>
              </a:lnSpc>
              <a:spcBef>
                <a:spcPts val="5"/>
              </a:spcBef>
            </a:pP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Emulation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(contactless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payments,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transit).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EMV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tokenisation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payments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generates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single-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card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numbers.</a:t>
            </a:r>
            <a:endParaRPr sz="1200">
              <a:latin typeface="Segoe UI Symbol"/>
              <a:cs typeface="Segoe UI Symbol"/>
            </a:endParaRPr>
          </a:p>
          <a:p>
            <a:pPr marL="12700" marR="27305" indent="162560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proxies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transaction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longer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distance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victim's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pocket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payment terminal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100m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away.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Malicious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tag: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Placed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poster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public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surface,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triggers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URL,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BT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pairing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request,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Wi-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Fi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change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unlocked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NFC-enabled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phone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touches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it.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0020">
              <a:lnSpc>
                <a:spcPct val="100000"/>
              </a:lnSpc>
              <a:spcBef>
                <a:spcPts val="850"/>
              </a:spcBef>
            </a:pP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Transit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investigation: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Delhi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Metro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NCMC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is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reported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stolen.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What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data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does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hold?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Can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it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be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cloned?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(HF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ISO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14443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DES/3DES.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partially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vulnerable).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How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does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forensic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examination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of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NFC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transaction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logs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establish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when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where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was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used?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WiMAX</a:t>
            </a:r>
            <a:r>
              <a:rPr spc="300" dirty="0"/>
              <a:t> </a:t>
            </a:r>
            <a:r>
              <a:rPr spc="-459" dirty="0"/>
              <a:t>•</a:t>
            </a:r>
            <a:r>
              <a:rPr spc="300" dirty="0"/>
              <a:t> </a:t>
            </a:r>
            <a:r>
              <a:rPr spc="-180" dirty="0"/>
              <a:t>Cellular</a:t>
            </a:r>
            <a:r>
              <a:rPr spc="-295" dirty="0"/>
              <a:t> </a:t>
            </a:r>
            <a:r>
              <a:rPr spc="-250" dirty="0"/>
              <a:t>Security</a:t>
            </a:r>
            <a:r>
              <a:rPr spc="-280" dirty="0"/>
              <a:t> </a:t>
            </a:r>
            <a:r>
              <a:rPr spc="-390" dirty="0"/>
              <a:t>(GSM→5G)</a:t>
            </a:r>
            <a:r>
              <a:rPr spc="350" dirty="0"/>
              <a:t> </a:t>
            </a:r>
            <a:r>
              <a:rPr spc="-459" dirty="0"/>
              <a:t>•</a:t>
            </a:r>
            <a:r>
              <a:rPr spc="300" dirty="0"/>
              <a:t> </a:t>
            </a:r>
            <a:r>
              <a:rPr spc="-395" dirty="0"/>
              <a:t>IrDA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588260"/>
            <a:chOff x="111252" y="871474"/>
            <a:chExt cx="4422775" cy="258826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5618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05840"/>
              <a:ext cx="4160520" cy="2300605"/>
            </a:xfrm>
            <a:custGeom>
              <a:avLst/>
              <a:gdLst/>
              <a:ahLst/>
              <a:cxnLst/>
              <a:rect l="l" t="t" r="r" b="b"/>
              <a:pathLst>
                <a:path w="4160520" h="2300604">
                  <a:moveTo>
                    <a:pt x="4160520" y="0"/>
                  </a:moveTo>
                  <a:lnTo>
                    <a:pt x="0" y="0"/>
                  </a:lnTo>
                  <a:lnTo>
                    <a:pt x="0" y="2300097"/>
                  </a:lnTo>
                  <a:lnTo>
                    <a:pt x="4160520" y="230009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473452"/>
              <a:ext cx="313182" cy="3208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67970" y="999489"/>
            <a:ext cx="4173220" cy="2313305"/>
          </a:xfrm>
          <a:prstGeom prst="rect">
            <a:avLst/>
          </a:prstGeom>
          <a:ln w="3175">
            <a:solidFill>
              <a:srgbClr val="1A355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40"/>
              </a:spcBef>
            </a:pP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WiMAX</a:t>
            </a:r>
            <a:r>
              <a:rPr sz="1500" b="1" spc="-1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500" b="1" spc="-9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55" dirty="0">
                <a:solidFill>
                  <a:srgbClr val="0E9ED4"/>
                </a:solidFill>
                <a:latin typeface="Yu Gothic UI"/>
                <a:cs typeface="Yu Gothic UI"/>
              </a:rPr>
              <a:t>IEEE</a:t>
            </a:r>
            <a:r>
              <a:rPr sz="1500" b="1" spc="-10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802.16</a:t>
            </a:r>
            <a:endParaRPr sz="1500">
              <a:latin typeface="Yu Gothic UI"/>
              <a:cs typeface="Yu Gothic UI"/>
            </a:endParaRPr>
          </a:p>
          <a:p>
            <a:pPr marL="133985" marR="142240">
              <a:lnSpc>
                <a:spcPct val="100000"/>
              </a:lnSpc>
              <a:spcBef>
                <a:spcPts val="1400"/>
              </a:spcBef>
            </a:pP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Metropolitan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Area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broadband.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802.16e: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OFDMA,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75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Mbps,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PKMv2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X.509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 authentication,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802.16m: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1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Gbps.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Range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50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km.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Largely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superseded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LTE/5G.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50">
              <a:latin typeface="Segoe UI Symbol"/>
              <a:cs typeface="Segoe UI Symbol"/>
            </a:endParaRPr>
          </a:p>
          <a:p>
            <a:pPr marL="133985" marR="121920" indent="162560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solidFill>
                  <a:srgbClr val="C0392B"/>
                </a:solidFill>
                <a:latin typeface="Segoe UI Symbol"/>
                <a:cs typeface="Segoe UI Symbol"/>
              </a:rPr>
              <a:t>PKMv1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(legacy):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one-</a:t>
            </a:r>
            <a:r>
              <a:rPr sz="1200" spc="-20" dirty="0">
                <a:solidFill>
                  <a:srgbClr val="C0392B"/>
                </a:solidFill>
                <a:latin typeface="Segoe UI Symbol"/>
                <a:cs typeface="Segoe UI Symbol"/>
              </a:rPr>
              <a:t>way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authentication</a:t>
            </a:r>
            <a:r>
              <a:rPr sz="120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only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(BS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authenticates</a:t>
            </a:r>
            <a:r>
              <a:rPr sz="120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to</a:t>
            </a:r>
            <a:r>
              <a:rPr sz="1200" spc="-5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SS</a:t>
            </a:r>
            <a:r>
              <a:rPr sz="120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but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C0392B"/>
                </a:solidFill>
                <a:latin typeface="Segoe UI Symbol"/>
                <a:cs typeface="Segoe UI Symbol"/>
              </a:rPr>
              <a:t>NOT</a:t>
            </a:r>
            <a:r>
              <a:rPr sz="1200" spc="-6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vice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versa).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Rogue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base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station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attack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possible.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Management</a:t>
            </a:r>
            <a:r>
              <a:rPr sz="1200" spc="-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frames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unauthenticated</a:t>
            </a:r>
            <a:r>
              <a:rPr sz="1200" spc="1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C0392B"/>
                </a:solidFill>
                <a:latin typeface="Segoe UI Symbol"/>
                <a:cs typeface="Segoe UI Symbol"/>
              </a:rPr>
              <a:t>—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DoS</a:t>
            </a:r>
            <a:r>
              <a:rPr sz="1200" spc="-8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via</a:t>
            </a:r>
            <a:r>
              <a:rPr sz="1200" spc="-7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C0392B"/>
                </a:solidFill>
                <a:latin typeface="Segoe UI Symbol"/>
                <a:cs typeface="Segoe UI Symbol"/>
              </a:rPr>
              <a:t>forged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frames.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897623"/>
            <a:ext cx="4422775" cy="3876040"/>
            <a:chOff x="4500371" y="897623"/>
            <a:chExt cx="4422775" cy="387604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897623"/>
              <a:ext cx="4422648" cy="38755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005865"/>
              <a:ext cx="4160520" cy="3613150"/>
            </a:xfrm>
            <a:custGeom>
              <a:avLst/>
              <a:gdLst/>
              <a:ahLst/>
              <a:cxnLst/>
              <a:rect l="l" t="t" r="r" b="b"/>
              <a:pathLst>
                <a:path w="4160520" h="3613150">
                  <a:moveTo>
                    <a:pt x="4160519" y="0"/>
                  </a:moveTo>
                  <a:lnTo>
                    <a:pt x="0" y="0"/>
                  </a:lnTo>
                  <a:lnTo>
                    <a:pt x="0" y="3613023"/>
                  </a:lnTo>
                  <a:lnTo>
                    <a:pt x="4160519" y="3613023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1005865"/>
              <a:ext cx="4160520" cy="3613150"/>
            </a:xfrm>
            <a:custGeom>
              <a:avLst/>
              <a:gdLst/>
              <a:ahLst/>
              <a:cxnLst/>
              <a:rect l="l" t="t" r="r" b="b"/>
              <a:pathLst>
                <a:path w="4160520" h="3613150">
                  <a:moveTo>
                    <a:pt x="0" y="3613023"/>
                  </a:moveTo>
                  <a:lnTo>
                    <a:pt x="4160519" y="3613023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13023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dirty="0"/>
              <a:t>Cellular</a:t>
            </a:r>
            <a:r>
              <a:rPr spc="10" dirty="0"/>
              <a:t> </a:t>
            </a:r>
            <a:r>
              <a:rPr dirty="0"/>
              <a:t>Security </a:t>
            </a:r>
            <a:r>
              <a:rPr spc="-135" dirty="0"/>
              <a:t>—</a:t>
            </a:r>
            <a:r>
              <a:rPr dirty="0"/>
              <a:t> </a:t>
            </a:r>
            <a:r>
              <a:rPr spc="-35" dirty="0"/>
              <a:t>GSM</a:t>
            </a:r>
            <a:r>
              <a:rPr spc="-30" dirty="0"/>
              <a:t> </a:t>
            </a:r>
            <a:r>
              <a:rPr spc="-45" dirty="0"/>
              <a:t>to</a:t>
            </a:r>
            <a:r>
              <a:rPr spc="30" dirty="0"/>
              <a:t> </a:t>
            </a:r>
            <a:r>
              <a:rPr spc="-25" dirty="0"/>
              <a:t>5G</a:t>
            </a:r>
          </a:p>
          <a:p>
            <a:pPr marL="12700" marR="77470">
              <a:lnSpc>
                <a:spcPct val="100299"/>
              </a:lnSpc>
              <a:spcBef>
                <a:spcPts val="2470"/>
              </a:spcBef>
            </a:pP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GSM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(2G):</a:t>
            </a:r>
            <a:r>
              <a:rPr sz="1150" b="0" spc="-5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A5/1</a:t>
            </a:r>
            <a:r>
              <a:rPr sz="1150" b="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stream</a:t>
            </a:r>
            <a:r>
              <a:rPr sz="1150" b="0" spc="-7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cipher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0" dirty="0">
                <a:solidFill>
                  <a:srgbClr val="C0392B"/>
                </a:solidFill>
                <a:latin typeface="Segoe UI Symbol"/>
                <a:cs typeface="Segoe UI Symbol"/>
              </a:rPr>
              <a:t>—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BROKEN.</a:t>
            </a:r>
            <a:r>
              <a:rPr sz="1150" b="0" spc="-5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One-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way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authentication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(phone</a:t>
            </a:r>
            <a:r>
              <a:rPr sz="1150" b="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authenticates</a:t>
            </a:r>
            <a:r>
              <a:rPr sz="1150" b="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to</a:t>
            </a:r>
            <a:r>
              <a:rPr sz="1150" b="0" spc="-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network,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not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C0392B"/>
                </a:solidFill>
                <a:latin typeface="Segoe UI Symbol"/>
                <a:cs typeface="Segoe UI Symbol"/>
              </a:rPr>
              <a:t>vice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versa).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IMSI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transmitted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C0392B"/>
                </a:solidFill>
                <a:latin typeface="Segoe UI Symbol"/>
                <a:cs typeface="Segoe UI Symbol"/>
              </a:rPr>
              <a:t>in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plaintext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00" dirty="0">
                <a:solidFill>
                  <a:srgbClr val="C0392B"/>
                </a:solidFill>
                <a:latin typeface="Segoe UI Symbol"/>
                <a:cs typeface="Segoe UI Symbol"/>
              </a:rPr>
              <a:t>→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 IMSI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Catcher</a:t>
            </a:r>
            <a:r>
              <a:rPr sz="1150" b="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(Stingray) attack.</a:t>
            </a:r>
            <a:endParaRPr sz="1150">
              <a:latin typeface="Segoe UI Symbol"/>
              <a:cs typeface="Segoe UI Symbol"/>
            </a:endParaRPr>
          </a:p>
          <a:p>
            <a:pPr marL="12700" marR="10795">
              <a:lnSpc>
                <a:spcPct val="100400"/>
              </a:lnSpc>
              <a:spcBef>
                <a:spcPts val="1120"/>
              </a:spcBef>
            </a:pP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3G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UMTS: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5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introduced</a:t>
            </a:r>
            <a:r>
              <a:rPr sz="1150" b="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(USIM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challenge-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response).</a:t>
            </a:r>
            <a:r>
              <a:rPr sz="115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KASUMI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(A5/3)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related-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b="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found. Significantly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2G.</a:t>
            </a:r>
            <a:endParaRPr sz="1150">
              <a:latin typeface="Segoe UI Symbol"/>
              <a:cs typeface="Segoe UI Symbol"/>
            </a:endParaRPr>
          </a:p>
          <a:p>
            <a:pPr marL="48895" marR="5080" algn="just">
              <a:lnSpc>
                <a:spcPct val="100400"/>
              </a:lnSpc>
              <a:spcBef>
                <a:spcPts val="1270"/>
              </a:spcBef>
            </a:pP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4G</a:t>
            </a:r>
            <a:r>
              <a:rPr sz="115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LTE: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EEA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encryption,</a:t>
            </a:r>
            <a:r>
              <a:rPr sz="1150" b="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auth,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integrity-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plane.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SS7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exploitable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SMS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interception. 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IMSI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obtainable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15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handover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2G.</a:t>
            </a:r>
            <a:endParaRPr sz="1150">
              <a:latin typeface="Segoe UI Symbol"/>
              <a:cs typeface="Segoe UI Symbol"/>
            </a:endParaRPr>
          </a:p>
          <a:p>
            <a:pPr marL="26034" marR="76200">
              <a:lnSpc>
                <a:spcPct val="100400"/>
              </a:lnSpc>
              <a:spcBef>
                <a:spcPts val="700"/>
              </a:spcBef>
            </a:pP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5G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NR:</a:t>
            </a:r>
            <a:r>
              <a:rPr sz="115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SUCI</a:t>
            </a:r>
            <a:r>
              <a:rPr sz="1150" b="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(Subscriber</a:t>
            </a:r>
            <a:r>
              <a:rPr sz="115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Concealed</a:t>
            </a:r>
            <a:r>
              <a:rPr sz="115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Identifier)</a:t>
            </a:r>
            <a:r>
              <a:rPr sz="1150" b="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encrypts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IMSI 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over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air </a:t>
            </a:r>
            <a:r>
              <a:rPr sz="1150" b="0" spc="-300" dirty="0">
                <a:solidFill>
                  <a:srgbClr val="186B23"/>
                </a:solidFill>
                <a:latin typeface="Segoe UI Symbol"/>
                <a:cs typeface="Segoe UI Symbol"/>
              </a:rPr>
              <a:t>→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blocks</a:t>
            </a:r>
            <a:r>
              <a:rPr sz="1150" b="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IMSI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catchers.</a:t>
            </a:r>
            <a:r>
              <a:rPr sz="115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256-</a:t>
            </a:r>
            <a:r>
              <a:rPr sz="115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bit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 ZUC/AES/SNOW3G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ciphers.</a:t>
            </a:r>
            <a:r>
              <a:rPr sz="115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NSA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mode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falls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back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4G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core.</a:t>
            </a:r>
            <a:endParaRPr sz="1150">
              <a:latin typeface="Segoe UI Symbol"/>
              <a:cs typeface="Segoe UI Symbo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252" y="3366566"/>
            <a:ext cx="4422648" cy="155448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7970" y="3469449"/>
            <a:ext cx="4173220" cy="1304290"/>
          </a:xfrm>
          <a:prstGeom prst="rect">
            <a:avLst/>
          </a:prstGeom>
          <a:solidFill>
            <a:srgbClr val="1A3550"/>
          </a:solidFill>
          <a:ln w="3175">
            <a:solidFill>
              <a:srgbClr val="1A355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94"/>
              </a:spcBef>
            </a:pP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IrDA</a:t>
            </a:r>
            <a:r>
              <a:rPr sz="1400" b="1" spc="-10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89ABBE"/>
                </a:solidFill>
                <a:latin typeface="Yu Gothic UI"/>
                <a:cs typeface="Yu Gothic UI"/>
              </a:rPr>
              <a:t>/</a:t>
            </a:r>
            <a:r>
              <a:rPr sz="1400" b="1" spc="-8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89ABBE"/>
                </a:solidFill>
                <a:latin typeface="Yu Gothic UI"/>
                <a:cs typeface="Yu Gothic UI"/>
              </a:rPr>
              <a:t>Infrared</a:t>
            </a:r>
            <a:endParaRPr sz="1400">
              <a:latin typeface="Yu Gothic UI"/>
              <a:cs typeface="Yu Gothic UI"/>
            </a:endParaRPr>
          </a:p>
          <a:p>
            <a:pPr marL="133985" marR="133350">
              <a:lnSpc>
                <a:spcPct val="100299"/>
              </a:lnSpc>
              <a:spcBef>
                <a:spcPts val="509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Line-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of-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sight,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&lt;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1m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range.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Once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common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pairing. IrDA: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native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TV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remotes,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industrial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sensors,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equipment.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remote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replay: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codes,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unencrypted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device.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07009"/>
            <a:ext cx="5834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EFC040"/>
                </a:solidFill>
                <a:latin typeface="Yu Gothic UI"/>
                <a:cs typeface="Yu Gothic UI"/>
              </a:rPr>
              <a:t>Protocol</a:t>
            </a:r>
            <a:r>
              <a:rPr sz="3200" spc="-4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3200" dirty="0">
                <a:solidFill>
                  <a:srgbClr val="EFC040"/>
                </a:solidFill>
                <a:latin typeface="Yu Gothic UI"/>
                <a:cs typeface="Yu Gothic UI"/>
              </a:rPr>
              <a:t>Comparison</a:t>
            </a:r>
            <a:r>
              <a:rPr sz="3200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3200" spc="-10" dirty="0">
                <a:solidFill>
                  <a:srgbClr val="EFC040"/>
                </a:solidFill>
                <a:latin typeface="Yu Gothic UI"/>
                <a:cs typeface="Yu Gothic UI"/>
              </a:rPr>
              <a:t>Summary</a:t>
            </a:r>
            <a:endParaRPr sz="3200">
              <a:latin typeface="Yu Gothic UI"/>
              <a:cs typeface="Yu Gothic U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1145" y="846327"/>
          <a:ext cx="8595357" cy="3665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Protocol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Frequency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Range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Encryption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25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Vulnerability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Wi-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2.4/5/6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30–300m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WPA3/AES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150" spc="-5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broken;</a:t>
                      </a:r>
                      <a:r>
                        <a:rPr sz="1150" spc="-6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KRACK;</a:t>
                      </a:r>
                      <a:r>
                        <a:rPr sz="115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deauth</a:t>
                      </a:r>
                      <a:r>
                        <a:rPr sz="1150" spc="-6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spoof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Bluetooth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E0/AES-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BlueBorne</a:t>
                      </a:r>
                      <a:r>
                        <a:rPr sz="11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RCE;</a:t>
                      </a:r>
                      <a:r>
                        <a:rPr sz="115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KNOB</a:t>
                      </a:r>
                      <a:r>
                        <a:rPr sz="11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entropy=1bit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1–50m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(4.2+)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BLESA</a:t>
                      </a:r>
                      <a:r>
                        <a:rPr sz="1150" spc="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reconnect;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eavesdropping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ZigBee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10–100m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Plaintext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join;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default</a:t>
                      </a:r>
                      <a:r>
                        <a:rPr sz="11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Z-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Wave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868/908</a:t>
                      </a:r>
                      <a:r>
                        <a:rPr sz="11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30–100m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(S2)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S0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key=0x00;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downgrade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RFID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125</a:t>
                      </a:r>
                      <a:r>
                        <a:rPr sz="11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&lt;10cm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Trivial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cloning</a:t>
                      </a: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(Proxmark3)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NFC/RFID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HF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13.56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&lt;4cm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Optional</a:t>
                      </a:r>
                      <a:r>
                        <a:rPr sz="11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Relay</a:t>
                      </a:r>
                      <a:r>
                        <a:rPr sz="11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GSM/2G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850–1900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1–35km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A5/1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(broken)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3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IMSI</a:t>
                      </a:r>
                      <a:r>
                        <a:rPr sz="1150" spc="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catcher; </a:t>
                      </a:r>
                      <a:r>
                        <a:rPr sz="1150" spc="-4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A5/1</a:t>
                      </a:r>
                      <a:r>
                        <a:rPr sz="115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cracked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5G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NR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8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Sub-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6GHz/mmW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m–kms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256/ZUC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NSA</a:t>
                      </a:r>
                      <a:r>
                        <a:rPr sz="11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mode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fallback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90" dirty="0"/>
              <a:t>Examination</a:t>
            </a:r>
            <a:r>
              <a:rPr spc="-254" dirty="0"/>
              <a:t> </a:t>
            </a:r>
            <a:r>
              <a:rPr spc="-280" dirty="0"/>
              <a:t>Preparation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250" dirty="0"/>
              <a:t>Expected</a:t>
            </a:r>
            <a:r>
              <a:rPr spc="-260" dirty="0"/>
              <a:t> </a:t>
            </a:r>
            <a:r>
              <a:rPr spc="-204" dirty="0"/>
              <a:t>Question </a:t>
            </a:r>
            <a:r>
              <a:rPr spc="-290" dirty="0"/>
              <a:t>Types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79348"/>
              <a:ext cx="4422648" cy="22006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371600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80">
                  <a:moveTo>
                    <a:pt x="0" y="1554480"/>
                  </a:moveTo>
                  <a:lnTo>
                    <a:pt x="4160520" y="15544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987552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5">
                  <a:moveTo>
                    <a:pt x="0" y="1938528"/>
                  </a:moveTo>
                  <a:lnTo>
                    <a:pt x="4160520" y="193852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4320" y="987552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65"/>
              </a:spcBef>
            </a:pPr>
            <a:r>
              <a:rPr sz="1250" b="1" spc="-130" dirty="0">
                <a:solidFill>
                  <a:srgbClr val="FFFFFF"/>
                </a:solidFill>
                <a:latin typeface="Tahoma"/>
                <a:cs typeface="Tahoma"/>
              </a:rPr>
              <a:t>DESCRIBE</a:t>
            </a:r>
            <a:r>
              <a:rPr sz="125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20" dirty="0">
                <a:solidFill>
                  <a:srgbClr val="FFFFFF"/>
                </a:solidFill>
                <a:latin typeface="Tahoma"/>
                <a:cs typeface="Tahoma"/>
              </a:rPr>
              <a:t>EXPLAIN</a:t>
            </a:r>
            <a:r>
              <a:rPr sz="1250" b="1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75" dirty="0">
                <a:solidFill>
                  <a:srgbClr val="FFFFFF"/>
                </a:solidFill>
                <a:latin typeface="Tahoma"/>
                <a:cs typeface="Tahoma"/>
              </a:rPr>
              <a:t>(8–10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480" y="2144394"/>
            <a:ext cx="6362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insecure?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480" y="1381709"/>
            <a:ext cx="3888104" cy="1079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955" indent="-14795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147955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structure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fields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sizes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229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field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level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diagram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225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mechanism.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Why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925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480" y="2436698"/>
            <a:ext cx="197040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PTK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formula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1480" y="2553080"/>
            <a:ext cx="3790315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 KRACK.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mechanism?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protocols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affected?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mitigated?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879347"/>
            <a:ext cx="4422775" cy="2200910"/>
            <a:chOff x="4500371" y="879347"/>
            <a:chExt cx="4422775" cy="220091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79347"/>
              <a:ext cx="4422648" cy="22006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63439" y="1371599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80">
                  <a:moveTo>
                    <a:pt x="0" y="1554480"/>
                  </a:moveTo>
                  <a:lnTo>
                    <a:pt x="4160519" y="155448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987551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5">
                  <a:moveTo>
                    <a:pt x="0" y="1938528"/>
                  </a:moveTo>
                  <a:lnTo>
                    <a:pt x="4160519" y="193852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63440" y="987552"/>
            <a:ext cx="4160520" cy="384175"/>
          </a:xfrm>
          <a:prstGeom prst="rect">
            <a:avLst/>
          </a:prstGeom>
          <a:solidFill>
            <a:srgbClr val="E97031"/>
          </a:solidFill>
          <a:ln w="12700">
            <a:solidFill>
              <a:srgbClr val="E9703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65"/>
              </a:spcBef>
            </a:pPr>
            <a:r>
              <a:rPr sz="1250" b="1" spc="-114" dirty="0">
                <a:solidFill>
                  <a:srgbClr val="FFFFFF"/>
                </a:solidFill>
                <a:latin typeface="Tahoma"/>
                <a:cs typeface="Tahoma"/>
              </a:rPr>
              <a:t>COMPARE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50" dirty="0">
                <a:solidFill>
                  <a:srgbClr val="FFFFFF"/>
                </a:solidFill>
                <a:latin typeface="Tahoma"/>
                <a:cs typeface="Tahoma"/>
              </a:rPr>
              <a:t>DISTINGUISH</a:t>
            </a:r>
            <a:r>
              <a:rPr sz="1250" b="1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(5–8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1234" y="1381709"/>
            <a:ext cx="389826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Distinguish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1234" y="1559179"/>
            <a:ext cx="22428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reference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forensics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1234" y="1675002"/>
            <a:ext cx="357060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WPA,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WPA2,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on: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cipher,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1234" y="1967610"/>
            <a:ext cx="25838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Personal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75834" y="1851786"/>
            <a:ext cx="38842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attacks,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status</a:t>
            </a:r>
            <a:r>
              <a:rPr sz="172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nterprise.</a:t>
            </a:r>
            <a:r>
              <a:rPr sz="1725" spc="-67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725" spc="-30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725" spc="1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725" spc="-1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endParaRPr sz="1725" baseline="-43478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1234" y="2144394"/>
            <a:ext cx="18942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case is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appropriate?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1234" y="2260219"/>
            <a:ext cx="38195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4.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Distinguish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Disassociation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01234" y="2436698"/>
            <a:ext cx="232410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do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they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01234" y="2553080"/>
            <a:ext cx="367919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smart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building. Which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why?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1252" y="2909328"/>
            <a:ext cx="4422775" cy="2200910"/>
            <a:chOff x="111252" y="2909328"/>
            <a:chExt cx="4422775" cy="220091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909328"/>
              <a:ext cx="4422648" cy="22006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4320" y="3401567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79">
                  <a:moveTo>
                    <a:pt x="0" y="1554479"/>
                  </a:moveTo>
                  <a:lnTo>
                    <a:pt x="4160520" y="155447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3017519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4">
                  <a:moveTo>
                    <a:pt x="0" y="1938527"/>
                  </a:moveTo>
                  <a:lnTo>
                    <a:pt x="4160520" y="193852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74320" y="3017520"/>
            <a:ext cx="4160520" cy="384175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70"/>
              </a:spcBef>
            </a:pPr>
            <a:r>
              <a:rPr sz="1250" b="1" spc="-14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2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SCENARIO</a:t>
            </a:r>
            <a:r>
              <a:rPr sz="1250" b="1" spc="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70" dirty="0">
                <a:solidFill>
                  <a:srgbClr val="FFFFFF"/>
                </a:solidFill>
                <a:latin typeface="Tahoma"/>
                <a:cs typeface="Tahoma"/>
              </a:rPr>
              <a:t>(10–15</a:t>
            </a:r>
            <a:r>
              <a:rPr sz="125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1480" y="3412616"/>
            <a:ext cx="32042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bank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branch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50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1480" y="3589782"/>
            <a:ext cx="26142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employees.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Justify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selected.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480" y="3705605"/>
            <a:ext cx="38087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café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park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Kali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Linux.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480" y="3882339"/>
            <a:ext cx="26841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passively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10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minutes.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1480" y="3998163"/>
            <a:ext cx="38214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Your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alerts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unknown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BSSID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1480" y="4174947"/>
            <a:ext cx="33375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investigation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steps.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1480" y="4290771"/>
            <a:ext cx="360680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4.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hospital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equipment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sensors.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1480" y="4467555"/>
            <a:ext cx="38976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Conduct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threat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analysis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recommend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1480" y="4583074"/>
            <a:ext cx="3677285" cy="37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traditional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capture: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easier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why?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500371" y="2909328"/>
            <a:ext cx="4422775" cy="2200910"/>
            <a:chOff x="4500371" y="2909328"/>
            <a:chExt cx="4422775" cy="220091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2909328"/>
              <a:ext cx="4422648" cy="220065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63439" y="3401567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79">
                  <a:moveTo>
                    <a:pt x="0" y="1554479"/>
                  </a:moveTo>
                  <a:lnTo>
                    <a:pt x="4160519" y="155447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63439" y="3017519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4">
                  <a:moveTo>
                    <a:pt x="0" y="1938527"/>
                  </a:moveTo>
                  <a:lnTo>
                    <a:pt x="4160519" y="193852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663440" y="3017520"/>
            <a:ext cx="4160520" cy="384175"/>
          </a:xfrm>
          <a:prstGeom prst="rect">
            <a:avLst/>
          </a:prstGeom>
          <a:solidFill>
            <a:srgbClr val="EFC040"/>
          </a:solidFill>
          <a:ln w="12700">
            <a:solidFill>
              <a:srgbClr val="EFC04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70"/>
              </a:spcBef>
            </a:pPr>
            <a:r>
              <a:rPr sz="1250" b="1" spc="-135" dirty="0">
                <a:solidFill>
                  <a:srgbClr val="FFFFFF"/>
                </a:solidFill>
                <a:latin typeface="Tahoma"/>
                <a:cs typeface="Tahoma"/>
              </a:rPr>
              <a:t>SHORT</a:t>
            </a:r>
            <a:r>
              <a:rPr sz="1250" b="1" spc="-125" dirty="0">
                <a:solidFill>
                  <a:srgbClr val="FFFFFF"/>
                </a:solidFill>
                <a:latin typeface="Tahoma"/>
                <a:cs typeface="Tahoma"/>
              </a:rPr>
              <a:t> ANSWER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95" dirty="0">
                <a:solidFill>
                  <a:srgbClr val="FFFFFF"/>
                </a:solidFill>
                <a:latin typeface="Tahoma"/>
                <a:cs typeface="Tahoma"/>
              </a:rPr>
              <a:t>FORMULAE</a:t>
            </a:r>
            <a:r>
              <a:rPr sz="125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(2–3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01234" y="3589782"/>
            <a:ext cx="6769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contain?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01234" y="3412616"/>
            <a:ext cx="3813175" cy="49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IE?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Where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Write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formula.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information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01234" y="3882339"/>
            <a:ext cx="18262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need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compute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it?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01234" y="3998163"/>
            <a:ext cx="35947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SAE?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prevent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01234" y="4174947"/>
            <a:ext cx="19475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PSK?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801234" y="4467555"/>
            <a:ext cx="3530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how?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01234" y="4290771"/>
            <a:ext cx="3829050" cy="671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802.11w?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prevent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150">
              <a:latin typeface="Segoe UI Symbol"/>
              <a:cs typeface="Segoe UI Symbol"/>
            </a:endParaRPr>
          </a:p>
          <a:p>
            <a:pPr marL="147955" indent="-147955">
              <a:lnSpc>
                <a:spcPct val="100000"/>
              </a:lnSpc>
              <a:spcBef>
                <a:spcPts val="925"/>
              </a:spcBef>
              <a:buAutoNum type="arabicPeriod" startAt="4"/>
              <a:tabLst>
                <a:tab pos="147955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split-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WPS?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attempts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required?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380" y="545338"/>
            <a:ext cx="12420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660" algn="l"/>
              </a:tabLst>
            </a:pP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U</a:t>
            </a:r>
            <a:r>
              <a:rPr sz="1500" b="1" spc="285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N</a:t>
            </a:r>
            <a:r>
              <a:rPr sz="1500" b="1" spc="280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330" dirty="0">
                <a:solidFill>
                  <a:srgbClr val="E97031"/>
                </a:solidFill>
                <a:latin typeface="Tahoma"/>
                <a:cs typeface="Tahoma"/>
              </a:rPr>
              <a:t>I</a:t>
            </a:r>
            <a:r>
              <a:rPr sz="1500" b="1" spc="275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E97031"/>
                </a:solidFill>
                <a:latin typeface="Tahoma"/>
                <a:cs typeface="Tahoma"/>
              </a:rPr>
              <a:t>T</a:t>
            </a: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	</a:t>
            </a:r>
            <a:r>
              <a:rPr sz="1500" b="1" spc="-330" dirty="0">
                <a:solidFill>
                  <a:srgbClr val="E97031"/>
                </a:solidFill>
                <a:latin typeface="Tahoma"/>
                <a:cs typeface="Tahoma"/>
              </a:rPr>
              <a:t>I</a:t>
            </a:r>
            <a:r>
              <a:rPr sz="1500" b="1" spc="350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E97031"/>
                </a:solidFill>
                <a:latin typeface="Tahoma"/>
                <a:cs typeface="Tahoma"/>
              </a:rPr>
              <a:t>V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27380" y="945845"/>
            <a:ext cx="6362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90" dirty="0"/>
              <a:t>Wireless</a:t>
            </a:r>
            <a:r>
              <a:rPr sz="4400" spc="-465" dirty="0"/>
              <a:t> </a:t>
            </a:r>
            <a:r>
              <a:rPr sz="4400" spc="-420" dirty="0"/>
              <a:t>Network</a:t>
            </a:r>
            <a:r>
              <a:rPr sz="4400" spc="-440" dirty="0"/>
              <a:t> </a:t>
            </a:r>
            <a:r>
              <a:rPr sz="4400" spc="-350" dirty="0"/>
              <a:t>Security</a:t>
            </a:r>
            <a:endParaRPr sz="4400"/>
          </a:p>
        </p:txBody>
      </p:sp>
      <p:grpSp>
        <p:nvGrpSpPr>
          <p:cNvPr id="8" name="object 8"/>
          <p:cNvGrpSpPr/>
          <p:nvPr/>
        </p:nvGrpSpPr>
        <p:grpSpPr>
          <a:xfrm>
            <a:off x="633730" y="1804161"/>
            <a:ext cx="8059420" cy="67945"/>
            <a:chOff x="633730" y="1804161"/>
            <a:chExt cx="8059420" cy="67945"/>
          </a:xfrm>
        </p:grpSpPr>
        <p:sp>
          <p:nvSpPr>
            <p:cNvPr id="9" name="object 9"/>
            <p:cNvSpPr/>
            <p:nvPr/>
          </p:nvSpPr>
          <p:spPr>
            <a:xfrm>
              <a:off x="640080" y="1810511"/>
              <a:ext cx="8046720" cy="55244"/>
            </a:xfrm>
            <a:custGeom>
              <a:avLst/>
              <a:gdLst/>
              <a:ahLst/>
              <a:cxnLst/>
              <a:rect l="l" t="t" r="r" b="b"/>
              <a:pathLst>
                <a:path w="8046720" h="55244">
                  <a:moveTo>
                    <a:pt x="804672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046720" y="54863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810511"/>
              <a:ext cx="8046720" cy="55244"/>
            </a:xfrm>
            <a:custGeom>
              <a:avLst/>
              <a:gdLst/>
              <a:ahLst/>
              <a:cxnLst/>
              <a:rect l="l" t="t" r="r" b="b"/>
              <a:pathLst>
                <a:path w="8046720" h="55244">
                  <a:moveTo>
                    <a:pt x="0" y="54863"/>
                  </a:moveTo>
                  <a:lnTo>
                    <a:pt x="8046720" y="54863"/>
                  </a:lnTo>
                  <a:lnTo>
                    <a:pt x="804672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7380" y="1892935"/>
            <a:ext cx="8256270" cy="31407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20370" indent="195580">
              <a:lnSpc>
                <a:spcPts val="1490"/>
              </a:lnSpc>
              <a:spcBef>
                <a:spcPts val="15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frame: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(16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bits,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level),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ToDS/FromDS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combinations),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subtypes,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56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WPA/TKIP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WPA2/AES-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WPA3/SAE: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generation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patched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cryptographic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flaws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predecessor</a:t>
            </a:r>
            <a:endParaRPr sz="1250">
              <a:latin typeface="Segoe UI Symbol"/>
              <a:cs typeface="Segoe UI Symbol"/>
            </a:endParaRPr>
          </a:p>
          <a:p>
            <a:pPr marL="12700" marR="392430" indent="195580">
              <a:lnSpc>
                <a:spcPts val="1490"/>
              </a:lnSpc>
              <a:spcBef>
                <a:spcPts val="67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Handshake: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PTK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PRF(PMK||ANonce||SNonce||AP-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MAC||STA-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MAC).</a:t>
            </a:r>
            <a:r>
              <a:rPr sz="1250" spc="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KRACK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reuse.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56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(RFMON)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headers,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SSIDs,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all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frames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61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flood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25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fix.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Evil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Twin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detection.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entirely.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Karma/MANA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randomisation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help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61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Bluetooth: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BlueBorne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(airborne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RCE)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KNOB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(key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entropy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bit).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ZigBee: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join.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40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S0: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0x00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×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16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60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RFID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50" dirty="0">
                <a:solidFill>
                  <a:srgbClr val="E8E8E8"/>
                </a:solidFill>
                <a:latin typeface="Segoe UI Symbol"/>
                <a:cs typeface="Segoe UI Symbol"/>
              </a:rPr>
              <a:t>LF: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cloneable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Flipper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Zero.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NFC: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GSM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A5/1: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broken.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5G: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SUCI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blocks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IMSI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catchers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Col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Nidhish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20" dirty="0">
                <a:solidFill>
                  <a:srgbClr val="89ABBE"/>
                </a:solidFill>
                <a:latin typeface="Segoe UI Symbol"/>
                <a:cs typeface="Segoe UI Symbol"/>
              </a:rPr>
              <a:t>Bhatnagar</a:t>
            </a:r>
            <a:r>
              <a:rPr sz="9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(Retd.)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Professor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Practice</a:t>
            </a:r>
            <a:r>
              <a:rPr sz="9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School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Cyber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25" dirty="0">
                <a:solidFill>
                  <a:srgbClr val="89ABBE"/>
                </a:solidFill>
                <a:latin typeface="Segoe UI Symbol"/>
                <a:cs typeface="Segoe UI Symbol"/>
              </a:rPr>
              <a:t>Digital</a:t>
            </a:r>
            <a:r>
              <a:rPr sz="9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Forensics</a:t>
            </a:r>
            <a:r>
              <a:rPr sz="95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NFSU</a:t>
            </a:r>
            <a:r>
              <a:rPr sz="9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Delhi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Campus</a:t>
            </a:r>
            <a:endParaRPr sz="9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8756</Words>
  <Application>Microsoft Office PowerPoint</Application>
  <PresentationFormat>On-screen Show (16:9)</PresentationFormat>
  <Paragraphs>966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Yu Gothic UI</vt:lpstr>
      <vt:lpstr>Arial</vt:lpstr>
      <vt:lpstr>Calibri</vt:lpstr>
      <vt:lpstr>Cambria Math</vt:lpstr>
      <vt:lpstr>Courier New</vt:lpstr>
      <vt:lpstr>Segoe UI Symbol</vt:lpstr>
      <vt:lpstr>Sitka Small Semibold</vt:lpstr>
      <vt:lpstr>Tahoma</vt:lpstr>
      <vt:lpstr>Times New Roman</vt:lpstr>
      <vt:lpstr>Office Theme</vt:lpstr>
      <vt:lpstr>U N I T I V</vt:lpstr>
      <vt:lpstr>Unit IV — Course Map</vt:lpstr>
      <vt:lpstr>IEEE 802.11 Protocols s MAC Frame Structure Standards evolution • Frame layout • Frame Control • ToDS/FromDS • Management subtypes • Beacon • Authentication exchange • RTS/CTS</vt:lpstr>
      <vt:lpstr>IEEE 802.11 — Standards Evolution</vt:lpstr>
      <vt:lpstr>802.11 MAC Frame — All Fields in Order</vt:lpstr>
      <vt:lpstr>Frame Control Field — 16-Bit Breakdown</vt:lpstr>
      <vt:lpstr>ToDS / FromDS — Four Address Combinations</vt:lpstr>
      <vt:lpstr>Management Frames — Probe, Beacon s Authentication</vt:lpstr>
      <vt:lpstr>Management Frames — Deauth, Associations RTS/CTS</vt:lpstr>
      <vt:lpstr>Beacon Frame — Information Elements</vt:lpstr>
      <vt:lpstr>PowerPoint Presentation</vt:lpstr>
      <vt:lpstr>WAP — Inherent Security Issues</vt:lpstr>
      <vt:lpstr>Promiscuous Mode vs Monitor Mode (RFMON)</vt:lpstr>
      <vt:lpstr>Sniffing Wireless Packets — What Is Visible</vt:lpstr>
      <vt:lpstr>PowerPoint Presentation</vt:lpstr>
      <vt:lpstr>WLAN Authentication: Part 1: Open Systems Shared Key</vt:lpstr>
      <vt:lpstr>WLAN Authentication : Part 2: PSK, 802.1X / EAP s SAE</vt:lpstr>
      <vt:lpstr>WEP — Wired Equivalent Privacy (1GG7 · Deprecated 2004)</vt:lpstr>
      <vt:lpstr>WPA (2003) — TKIP, Personal, Enterprises Beck-Tews</vt:lpstr>
      <vt:lpstr>The 4-Way Handshake — PTK Derivation</vt:lpstr>
      <vt:lpstr>WPA2 — AES-CCMP s KRACK (Key Reinstallation Attack)</vt:lpstr>
      <vt:lpstr>WPA2 — PMKID Attack s Personal vs Enterprise</vt:lpstr>
      <vt:lpstr>WPA3 — SAE • OWE • DPP • Forward Secrecy • 802.11w</vt:lpstr>
      <vt:lpstr>WEP • WPA • WPA2 • WPA3 — Side-by-Side</vt:lpstr>
      <vt:lpstr>PowerPoint Presentation</vt:lpstr>
      <vt:lpstr>WLAN Authentication Security Flaws</vt:lpstr>
      <vt:lpstr>WLAN-Based Attacks — Mechanics s Commands</vt:lpstr>
      <vt:lpstr>PowerPoint Presentation</vt:lpstr>
      <vt:lpstr>WLAN Countermeasures — Protocol s Authentication Controls</vt:lpstr>
      <vt:lpstr>WLAN Pen-Testing Tools — Part 1</vt:lpstr>
      <vt:lpstr>WLAN Pen-Testing Tools — Part 2</vt:lpstr>
      <vt:lpstr>WLAN Pen-Testing Tools — Part 3</vt:lpstr>
      <vt:lpstr>PowerPoint Presentation</vt:lpstr>
      <vt:lpstr>Bluetooth — Versions, Security s Attacks</vt:lpstr>
      <vt:lpstr>Bluetooth — Versions, Security s Attacks</vt:lpstr>
      <vt:lpstr>ZigBee • Z-Wave • RFID • NFC — Features s Vulnerabilities</vt:lpstr>
      <vt:lpstr>ZigBee • Z-Wave • RFID • NFC — Features s Vulnerabilities</vt:lpstr>
      <vt:lpstr>WiMAX • Cellular Security (GSM→5G) • IrDA</vt:lpstr>
      <vt:lpstr>Protocol Comparison Summary</vt:lpstr>
      <vt:lpstr>Examination Preparation — Expected Question Types</vt:lpstr>
      <vt:lpstr>Wireless Network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Wireless Network Security</dc:title>
  <dc:subject>PptxGenJS Presentation</dc:subject>
  <dc:creator>PptxGenJS</dc:creator>
  <cp:lastModifiedBy>Aastha Thakker</cp:lastModifiedBy>
  <cp:revision>9</cp:revision>
  <dcterms:created xsi:type="dcterms:W3CDTF">2026-04-07T07:32:29Z</dcterms:created>
  <dcterms:modified xsi:type="dcterms:W3CDTF">2026-04-22T06:13:39Z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2026-04-07T00:00:00Z</vt:filetime>
  </property>
  <property fmtid="{D5CDD505-2E9C-101B-9397-08002B2CF9AE}" pid="5" name="Producer">
    <vt:lpwstr>Microsoft® PowerPoint® for Microsoft 365</vt:lpwstr>
  </property>
</Properties>
</file>