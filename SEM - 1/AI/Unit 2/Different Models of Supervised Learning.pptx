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7" roundtripDataSignature="AMtx7mjivg802hJ31qi+++nYbH3lqinz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8F6AE6-FC75-4CDE-9B51-97FB0D33CB15}">
  <a:tblStyle styleId="{FE8F6AE6-FC75-4CDE-9B51-97FB0D33CB1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customschemas.google.com/relationships/presentationmetadata" Target="metadata"/><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aedsayad.com/logistic_regression.html"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i="0" lang="en-US" sz="1200">
                <a:solidFill>
                  <a:schemeClr val="dk1"/>
                </a:solidFill>
                <a:latin typeface="Calibri"/>
                <a:ea typeface="Calibri"/>
                <a:cs typeface="Calibri"/>
                <a:sym typeface="Calibri"/>
              </a:rPr>
              <a:t>https://www.datacamp.com/tutorial/decision-tree-classification-python</a:t>
            </a:r>
            <a:endParaRPr b="1" i="0" sz="1200">
              <a:solidFill>
                <a:schemeClr val="dk1"/>
              </a:solidFill>
              <a:latin typeface="Calibri"/>
              <a:ea typeface="Calibri"/>
              <a:cs typeface="Calibri"/>
              <a:sym typeface="Calibri"/>
            </a:endParaRPr>
          </a:p>
        </p:txBody>
      </p:sp>
      <p:sp>
        <p:nvSpPr>
          <p:cNvPr id="110" name="Google Shape;11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https://www.datacamp.com/tutorial/decision-tree-classification-python</a:t>
            </a:r>
            <a:endParaRPr/>
          </a:p>
        </p:txBody>
      </p:sp>
      <p:sp>
        <p:nvSpPr>
          <p:cNvPr id="213" name="Google Shape;21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3580ad1f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83580ad1f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383580ad1f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https://saedsayad.com/logistic_regression.html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Doubt in last line</a:t>
            </a:r>
            <a:endParaRPr/>
          </a:p>
        </p:txBody>
      </p:sp>
      <p:sp>
        <p:nvSpPr>
          <p:cNvPr id="308" name="Google Shape;30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1. The dependent variable must be categorical</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Logistic regression is used when the outcome is </a:t>
            </a:r>
            <a:r>
              <a:rPr b="1" lang="en-US" sz="1100">
                <a:latin typeface="Arial"/>
                <a:ea typeface="Arial"/>
                <a:cs typeface="Arial"/>
                <a:sym typeface="Arial"/>
              </a:rPr>
              <a:t>Yes/No</a:t>
            </a:r>
            <a:r>
              <a:rPr lang="en-US" sz="1100">
                <a:latin typeface="Arial"/>
                <a:ea typeface="Arial"/>
                <a:cs typeface="Arial"/>
                <a:sym typeface="Arial"/>
              </a:rPr>
              <a:t>, </a:t>
            </a:r>
            <a:r>
              <a:rPr b="1" lang="en-US" sz="1100">
                <a:latin typeface="Arial"/>
                <a:ea typeface="Arial"/>
                <a:cs typeface="Arial"/>
                <a:sym typeface="Arial"/>
              </a:rPr>
              <a:t>0/1</a:t>
            </a:r>
            <a:r>
              <a:rPr lang="en-US" sz="1100">
                <a:latin typeface="Arial"/>
                <a:ea typeface="Arial"/>
                <a:cs typeface="Arial"/>
                <a:sym typeface="Arial"/>
              </a:rPr>
              <a:t>, </a:t>
            </a:r>
            <a:r>
              <a:rPr b="1" lang="en-US" sz="1100">
                <a:latin typeface="Arial"/>
                <a:ea typeface="Arial"/>
                <a:cs typeface="Arial"/>
                <a:sym typeface="Arial"/>
              </a:rPr>
              <a:t>Spam/Not Spam</a:t>
            </a:r>
            <a:r>
              <a:rPr lang="en-US" sz="1100">
                <a:latin typeface="Arial"/>
                <a:ea typeface="Arial"/>
                <a:cs typeface="Arial"/>
                <a:sym typeface="Arial"/>
              </a:rPr>
              <a:t>, etc.</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a:t>
            </a:r>
            <a:r>
              <a:rPr b="1" lang="en-US" sz="1100">
                <a:latin typeface="Arial"/>
                <a:ea typeface="Arial"/>
                <a:cs typeface="Arial"/>
                <a:sym typeface="Arial"/>
              </a:rPr>
              <a:t>cannot</a:t>
            </a:r>
            <a:r>
              <a:rPr lang="en-US" sz="1100">
                <a:latin typeface="Arial"/>
                <a:ea typeface="Arial"/>
                <a:cs typeface="Arial"/>
                <a:sym typeface="Arial"/>
              </a:rPr>
              <a:t> predict continuous values like height or salary.</a:t>
            </a:r>
            <a:endParaRPr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2. The independent variables should not have multicollinearity</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Your input features (X1, X2, X3…) </a:t>
            </a:r>
            <a:r>
              <a:rPr b="1" lang="en-US" sz="1100">
                <a:latin typeface="Arial"/>
                <a:ea typeface="Arial"/>
                <a:cs typeface="Arial"/>
                <a:sym typeface="Arial"/>
              </a:rPr>
              <a:t>should not be highly correlated</a:t>
            </a:r>
            <a:r>
              <a:rPr lang="en-US" sz="1100">
                <a:latin typeface="Arial"/>
                <a:ea typeface="Arial"/>
                <a:cs typeface="Arial"/>
                <a:sym typeface="Arial"/>
              </a:rPr>
              <a:t> with each other.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If two variables give almost the </a:t>
            </a:r>
            <a:r>
              <a:rPr b="1" lang="en-US" sz="1100">
                <a:latin typeface="Arial"/>
                <a:ea typeface="Arial"/>
                <a:cs typeface="Arial"/>
                <a:sym typeface="Arial"/>
              </a:rPr>
              <a:t>same information</a:t>
            </a:r>
            <a:r>
              <a:rPr lang="en-US" sz="1100">
                <a:latin typeface="Arial"/>
                <a:ea typeface="Arial"/>
                <a:cs typeface="Arial"/>
                <a:sym typeface="Arial"/>
              </a:rPr>
              <a:t>, the model gets confused.</a:t>
            </a:r>
            <a:endParaRPr b="1" sz="17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means </a:t>
            </a:r>
            <a:r>
              <a:rPr b="1" lang="en-US" sz="1100">
                <a:latin typeface="Arial"/>
                <a:ea typeface="Arial"/>
                <a:cs typeface="Arial"/>
                <a:sym typeface="Arial"/>
              </a:rPr>
              <a:t>two or more independent variables move together</a:t>
            </a:r>
            <a:r>
              <a:rPr lang="en-US" sz="1100">
                <a:latin typeface="Arial"/>
                <a:ea typeface="Arial"/>
                <a:cs typeface="Arial"/>
                <a:sym typeface="Arial"/>
              </a:rPr>
              <a:t> too closely.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Correlation ±1 = perfect multicollinearity (worst case).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Result: the model becomes </a:t>
            </a:r>
            <a:r>
              <a:rPr b="1" lang="en-US" sz="1100">
                <a:latin typeface="Arial"/>
                <a:ea typeface="Arial"/>
                <a:cs typeface="Arial"/>
                <a:sym typeface="Arial"/>
              </a:rPr>
              <a:t>unstable</a:t>
            </a:r>
            <a:r>
              <a:rPr lang="en-US" sz="1100">
                <a:latin typeface="Arial"/>
                <a:ea typeface="Arial"/>
                <a:cs typeface="Arial"/>
                <a:sym typeface="Arial"/>
              </a:rPr>
              <a:t>, and predictions become </a:t>
            </a:r>
            <a:r>
              <a:rPr b="1" lang="en-US" sz="1100">
                <a:latin typeface="Arial"/>
                <a:ea typeface="Arial"/>
                <a:cs typeface="Arial"/>
                <a:sym typeface="Arial"/>
              </a:rPr>
              <a:t>less reliable</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3. Logistic Regression Equation (simple idea)</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Start with the </a:t>
            </a:r>
            <a:r>
              <a:rPr b="1" lang="en-US" sz="1100">
                <a:latin typeface="Arial"/>
                <a:ea typeface="Arial"/>
                <a:cs typeface="Arial"/>
                <a:sym typeface="Arial"/>
              </a:rPr>
              <a:t>linear regression equation</a:t>
            </a:r>
            <a:r>
              <a:rPr lang="en-US" sz="1100">
                <a:latin typeface="Arial"/>
                <a:ea typeface="Arial"/>
                <a:cs typeface="Arial"/>
                <a:sym typeface="Arial"/>
              </a:rPr>
              <a:t>: </a:t>
            </a:r>
            <a:r>
              <a:rPr b="1" lang="en-US" sz="1100">
                <a:latin typeface="Arial"/>
                <a:ea typeface="Arial"/>
                <a:cs typeface="Arial"/>
                <a:sym typeface="Arial"/>
              </a:rPr>
              <a:t>y = b₀ + b₁x</a:t>
            </a:r>
            <a:endParaRPr b="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But logistic regression can't use this directly because the output must be </a:t>
            </a:r>
            <a:r>
              <a:rPr b="1" lang="en-US" sz="1100">
                <a:latin typeface="Arial"/>
                <a:ea typeface="Arial"/>
                <a:cs typeface="Arial"/>
                <a:sym typeface="Arial"/>
              </a:rPr>
              <a:t>0–1 probability</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So we apply a </a:t>
            </a:r>
            <a:r>
              <a:rPr b="1" lang="en-US" sz="1100">
                <a:latin typeface="Arial"/>
                <a:ea typeface="Arial"/>
                <a:cs typeface="Arial"/>
                <a:sym typeface="Arial"/>
              </a:rPr>
              <a:t>logistic (sigmoid) function</a:t>
            </a:r>
            <a:r>
              <a:rPr lang="en-US" sz="1100">
                <a:latin typeface="Arial"/>
                <a:ea typeface="Arial"/>
                <a:cs typeface="Arial"/>
                <a:sym typeface="Arial"/>
              </a:rPr>
              <a:t> to squeeze the output between 0 and 1:</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p=11+e−(b0+b1x)p = \frac{1}{1 + e^{-(b_0 + b_1x)}}p=1+e−(b0​+b1​x)1​</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This converts the linear line into an </a:t>
            </a:r>
            <a:r>
              <a:rPr b="1" lang="en-US" sz="1100">
                <a:latin typeface="Arial"/>
                <a:ea typeface="Arial"/>
                <a:cs typeface="Arial"/>
                <a:sym typeface="Arial"/>
              </a:rPr>
              <a:t>S-shaped curve</a:t>
            </a:r>
            <a:r>
              <a:rPr lang="en-US" sz="1100">
                <a:latin typeface="Arial"/>
                <a:ea typeface="Arial"/>
                <a:cs typeface="Arial"/>
                <a:sym typeface="Arial"/>
              </a:rPr>
              <a:t> suitable for classification.</a:t>
            </a:r>
            <a:endParaRPr/>
          </a:p>
        </p:txBody>
      </p:sp>
      <p:sp>
        <p:nvSpPr>
          <p:cNvPr id="374" name="Google Shape;37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https://www.javatpoint.com/logistic-regression-in-machine-learning</a:t>
            </a:r>
            <a:endParaRPr/>
          </a:p>
        </p:txBody>
      </p:sp>
      <p:sp>
        <p:nvSpPr>
          <p:cNvPr id="393" name="Google Shape;393;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5" name="Google Shape;41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1. K should not be too small</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If K = 1 or 2, the model becomes </a:t>
            </a:r>
            <a:r>
              <a:rPr i="1" lang="en-US" sz="1100">
                <a:latin typeface="Arial"/>
                <a:ea typeface="Arial"/>
                <a:cs typeface="Arial"/>
                <a:sym typeface="Arial"/>
              </a:rPr>
              <a:t>too sensitive</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One noisy point can mislead the prediction.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causes </a:t>
            </a:r>
            <a:r>
              <a:rPr b="1" lang="en-US" sz="1100">
                <a:latin typeface="Arial"/>
                <a:ea typeface="Arial"/>
                <a:cs typeface="Arial"/>
                <a:sym typeface="Arial"/>
              </a:rPr>
              <a:t>overfitting</a:t>
            </a:r>
            <a:r>
              <a:rPr lang="en-US" sz="1100">
                <a:latin typeface="Arial"/>
                <a:ea typeface="Arial"/>
                <a:cs typeface="Arial"/>
                <a:sym typeface="Arial"/>
              </a:rPr>
              <a:t> (model memorizes noise).</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2. K should not be too large</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If K is very big, it mixes many different categories.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Unique patterns get ignored.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causes </a:t>
            </a:r>
            <a:r>
              <a:rPr b="1" lang="en-US" sz="1100">
                <a:latin typeface="Arial"/>
                <a:ea typeface="Arial"/>
                <a:cs typeface="Arial"/>
                <a:sym typeface="Arial"/>
              </a:rPr>
              <a:t>underfitting</a:t>
            </a:r>
            <a:r>
              <a:rPr lang="en-US" sz="1100">
                <a:latin typeface="Arial"/>
                <a:ea typeface="Arial"/>
                <a:cs typeface="Arial"/>
                <a:sym typeface="Arial"/>
              </a:rPr>
              <a:t> (model becomes too simple).</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3. Most common practical choice: K = √N</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N = total data points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Example: If you have 400 samples → K = √400 = </a:t>
            </a:r>
            <a:r>
              <a:rPr b="1" lang="en-US" sz="1100">
                <a:latin typeface="Arial"/>
                <a:ea typeface="Arial"/>
                <a:cs typeface="Arial"/>
                <a:sym typeface="Arial"/>
              </a:rPr>
              <a:t>20</a:t>
            </a:r>
            <a:endParaRPr b="1"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4. Try multiple K values and pick the best (Cross-Validation)</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Test different K values (3, 5, 7, 9…).</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Choose the one with minimum error.</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5. K should be odd for classification</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Prevents ties between classes (e.g., equal votes).</a:t>
            </a:r>
            <a:endParaRPr/>
          </a:p>
        </p:txBody>
      </p:sp>
      <p:sp>
        <p:nvSpPr>
          <p:cNvPr id="431" name="Google Shape;43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https://www.datacamp.com/tutorial/naive-bayes-scikit-learn</a:t>
            </a:r>
            <a:endParaRPr/>
          </a:p>
        </p:txBody>
      </p:sp>
      <p:sp>
        <p:nvSpPr>
          <p:cNvPr id="514" name="Google Shape;514;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4" name="Google Shape;524;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8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1" name="Google Shape;21;p8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 name="Shape 24"/>
        <p:cNvGrpSpPr/>
        <p:nvPr/>
      </p:nvGrpSpPr>
      <p:grpSpPr>
        <a:xfrm>
          <a:off x="0" y="0"/>
          <a:ext cx="0" cy="0"/>
          <a:chOff x="0" y="0"/>
          <a:chExt cx="0" cy="0"/>
        </a:xfrm>
      </p:grpSpPr>
      <p:sp>
        <p:nvSpPr>
          <p:cNvPr id="25" name="Google Shape;25;p9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0"/>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90"/>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9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9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1" name="Shape 31"/>
        <p:cNvGrpSpPr/>
        <p:nvPr/>
      </p:nvGrpSpPr>
      <p:grpSpPr>
        <a:xfrm>
          <a:off x="0" y="0"/>
          <a:ext cx="0" cy="0"/>
          <a:chOff x="0" y="0"/>
          <a:chExt cx="0" cy="0"/>
        </a:xfrm>
      </p:grpSpPr>
      <p:sp>
        <p:nvSpPr>
          <p:cNvPr id="32" name="Google Shape;32;p9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9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1"/>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9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9" name="Google Shape;39;p91"/>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40" name="Shape 40"/>
        <p:cNvGrpSpPr/>
        <p:nvPr/>
      </p:nvGrpSpPr>
      <p:grpSpPr>
        <a:xfrm>
          <a:off x="0" y="0"/>
          <a:ext cx="0" cy="0"/>
          <a:chOff x="0" y="0"/>
          <a:chExt cx="0" cy="0"/>
        </a:xfrm>
      </p:grpSpPr>
      <p:sp>
        <p:nvSpPr>
          <p:cNvPr id="41" name="Google Shape;41;p9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9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9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6" name="Shape 46"/>
        <p:cNvGrpSpPr/>
        <p:nvPr/>
      </p:nvGrpSpPr>
      <p:grpSpPr>
        <a:xfrm>
          <a:off x="0" y="0"/>
          <a:ext cx="0" cy="0"/>
          <a:chOff x="0" y="0"/>
          <a:chExt cx="0" cy="0"/>
        </a:xfrm>
      </p:grpSpPr>
      <p:sp>
        <p:nvSpPr>
          <p:cNvPr id="47" name="Google Shape;47;p93"/>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93"/>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93"/>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3"/>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1" name="Google Shape;51;p9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54" name="Google Shape;54;p93"/>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9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4"/>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94"/>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94"/>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94"/>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9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9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96"/>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96"/>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96"/>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6"/>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96"/>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96"/>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6"/>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97"/>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97"/>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97"/>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97"/>
          <p:cNvSpPr/>
          <p:nvPr>
            <p:ph idx="2" type="pic"/>
          </p:nvPr>
        </p:nvSpPr>
        <p:spPr>
          <a:xfrm>
            <a:off x="15" y="0"/>
            <a:ext cx="12191985" cy="4915076"/>
          </a:xfrm>
          <a:prstGeom prst="rect">
            <a:avLst/>
          </a:prstGeom>
          <a:noFill/>
          <a:ln>
            <a:noFill/>
          </a:ln>
        </p:spPr>
      </p:sp>
      <p:sp>
        <p:nvSpPr>
          <p:cNvPr id="83" name="Google Shape;83;p97"/>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9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9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9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9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98"/>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9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9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9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99"/>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9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99"/>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99"/>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9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9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9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8"/>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88"/>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8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8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8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8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8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88"/>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1" Type="http://schemas.openxmlformats.org/officeDocument/2006/relationships/hyperlink" Target="https://thecleverprogrammer.com/2020/12/12/smote-for-class-imbalance-with-python/" TargetMode="External"/><Relationship Id="rId10" Type="http://schemas.openxmlformats.org/officeDocument/2006/relationships/hyperlink" Target="https://thecleverprogrammer.com/2021/02/04/catboost-algorithm-in-machine-learning/" TargetMode="External"/><Relationship Id="rId13" Type="http://schemas.openxmlformats.org/officeDocument/2006/relationships/hyperlink" Target="https://thecleverprogrammer.com/2020/10/28/what-is-tf-idf-in-machine-learning/" TargetMode="External"/><Relationship Id="rId12" Type="http://schemas.openxmlformats.org/officeDocument/2006/relationships/hyperlink" Target="https://thecleverprogrammer.com/2020/11/12/outlier-detection-with-python/" TargetMode="Externa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thecleverprogrammer.com/2021/02/03/dbscan-clustering-in-machine-learning/" TargetMode="External"/><Relationship Id="rId4" Type="http://schemas.openxmlformats.org/officeDocument/2006/relationships/hyperlink" Target="https://thecleverprogrammer.com/2021/02/07/naive-bayes-algorithm-in-machine-learning/" TargetMode="External"/><Relationship Id="rId9" Type="http://schemas.openxmlformats.org/officeDocument/2006/relationships/hyperlink" Target="https://thecleverprogrammer.com/2020/12/19/k-nearest-neighbors-knn-with-python/" TargetMode="External"/><Relationship Id="rId15" Type="http://schemas.openxmlformats.org/officeDocument/2006/relationships/hyperlink" Target="https://thecleverprogrammer.com/2020/10/09/graph-algorithms-with-python/" TargetMode="External"/><Relationship Id="rId14" Type="http://schemas.openxmlformats.org/officeDocument/2006/relationships/hyperlink" Target="https://thecleverprogrammer.com/2020/10/25/what-is-cross-validation-in-machine-learning/" TargetMode="External"/><Relationship Id="rId16" Type="http://schemas.openxmlformats.org/officeDocument/2006/relationships/hyperlink" Target="https://thecleverprogrammer.com/2020/10/09/ridge-and-lasso-regression-with-python/" TargetMode="External"/><Relationship Id="rId5" Type="http://schemas.openxmlformats.org/officeDocument/2006/relationships/hyperlink" Target="https://thecleverprogrammer.com/2021/01/26/instagram-algorithm-with-machine-learning/" TargetMode="External"/><Relationship Id="rId6" Type="http://schemas.openxmlformats.org/officeDocument/2006/relationships/hyperlink" Target="https://thecleverprogrammer.com/2020/07/02/logistic-regression-in-machine-learning-with-python/" TargetMode="External"/><Relationship Id="rId7" Type="http://schemas.openxmlformats.org/officeDocument/2006/relationships/hyperlink" Target="https://thecleverprogrammer.com/2020/11/20/linear-regression-with-python/" TargetMode="External"/><Relationship Id="rId8" Type="http://schemas.openxmlformats.org/officeDocument/2006/relationships/hyperlink" Target="https://thecleverprogrammer.com/2020/11/16/apriori-algorithm-using-python/" TargetMode="External"/></Relationships>
</file>

<file path=ppt/slides/_rels/slide3.xml.rels><?xml version="1.0" encoding="UTF-8" standalone="yes"?><Relationships xmlns="http://schemas.openxmlformats.org/package/2006/relationships"><Relationship Id="rId11" Type="http://schemas.openxmlformats.org/officeDocument/2006/relationships/hyperlink" Target="https://thecleverprogrammer.com/2021/01/28/neuralprophet-model-with-python/" TargetMode="External"/><Relationship Id="rId10" Type="http://schemas.openxmlformats.org/officeDocument/2006/relationships/hyperlink" Target="https://thecleverprogrammer.com/2020/12/14/facebook-prophet-model-with-python/" TargetMode="External"/><Relationship Id="rId13" Type="http://schemas.openxmlformats.org/officeDocument/2006/relationships/hyperlink" Target="https://thecleverprogrammer.com/2020/08/03/random-forest-algorithm/" TargetMode="External"/><Relationship Id="rId12" Type="http://schemas.openxmlformats.org/officeDocument/2006/relationships/hyperlink" Target="https://thecleverprogrammer.com/2020/08/06/adaboost-algorithm/" TargetMode="External"/><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thecleverprogrammer.com/2020/09/22/standardscaler-in-machine-learning/" TargetMode="External"/><Relationship Id="rId4" Type="http://schemas.openxmlformats.org/officeDocument/2006/relationships/hyperlink" Target="https://thecleverprogrammer.com/2020/09/12/sarima-in-machine-learning/" TargetMode="External"/><Relationship Id="rId9" Type="http://schemas.openxmlformats.org/officeDocument/2006/relationships/hyperlink" Target="https://thecleverprogrammer.com/2020/08/25/bert-in-machine-learning/" TargetMode="External"/><Relationship Id="rId15" Type="http://schemas.openxmlformats.org/officeDocument/2006/relationships/hyperlink" Target="https://thecleverprogrammer.com/2020/07/27/polynomial-regression-algorithm/" TargetMode="External"/><Relationship Id="rId14" Type="http://schemas.openxmlformats.org/officeDocument/2006/relationships/hyperlink" Target="https://thecleverprogrammer.com/2020/08/01/automate-machine-learning-with-h2o-automl/" TargetMode="External"/><Relationship Id="rId17" Type="http://schemas.openxmlformats.org/officeDocument/2006/relationships/hyperlink" Target="https://thecleverprogrammer.com/2020/07/17/grid-search-for-model-tuning/" TargetMode="External"/><Relationship Id="rId16" Type="http://schemas.openxmlformats.org/officeDocument/2006/relationships/hyperlink" Target="https://thecleverprogrammer.com/2020/07/27/gradient-descent-algorithm-in-machine-learning/" TargetMode="External"/><Relationship Id="rId5" Type="http://schemas.openxmlformats.org/officeDocument/2006/relationships/hyperlink" Target="https://thecleverprogrammer.com/2020/08/04/arima-model-in-machine-learning/" TargetMode="External"/><Relationship Id="rId6" Type="http://schemas.openxmlformats.org/officeDocument/2006/relationships/hyperlink" Target="https://thecleverprogrammer.com/2020/09/04/xgboost-in-machine-learning/" TargetMode="External"/><Relationship Id="rId18" Type="http://schemas.openxmlformats.org/officeDocument/2006/relationships/hyperlink" Target="https://thecleverprogrammer.com/2020/07/12/k-means-in-machine-learning/" TargetMode="External"/><Relationship Id="rId7" Type="http://schemas.openxmlformats.org/officeDocument/2006/relationships/hyperlink" Target="https://thecleverprogrammer.com/2020/08/11/lstm-in-machine-learning/" TargetMode="External"/><Relationship Id="rId8" Type="http://schemas.openxmlformats.org/officeDocument/2006/relationships/hyperlink" Target="https://thecleverprogrammer.com/2020/08/27/one-hot-encoding-in-machine-lear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thecleverprogrammer.com/2020/07/08/manifold-learning/" TargetMode="External"/><Relationship Id="rId4" Type="http://schemas.openxmlformats.org/officeDocument/2006/relationships/hyperlink" Target="https://thecleverprogrammer.com/2020/07/08/pca-in-machine-learning/" TargetMode="External"/><Relationship Id="rId9" Type="http://schemas.openxmlformats.org/officeDocument/2006/relationships/hyperlink" Target="https://thecleverprogrammer.com/2021/01/15/lightgbm-in-machine-learning/" TargetMode="External"/><Relationship Id="rId5" Type="http://schemas.openxmlformats.org/officeDocument/2006/relationships/hyperlink" Target="https://thecleverprogrammer.com/2020/07/07/decision-trees-in-machine-learning/" TargetMode="External"/><Relationship Id="rId6" Type="http://schemas.openxmlformats.org/officeDocument/2006/relationships/hyperlink" Target="https://thecleverprogrammer.com/2021/01/25/support-vector-machine-tutorial-using-python/" TargetMode="External"/><Relationship Id="rId7" Type="http://schemas.openxmlformats.org/officeDocument/2006/relationships/hyperlink" Target="https://thecleverprogrammer.com/2020/07/05/understanding-neural-network/" TargetMode="External"/><Relationship Id="rId8" Type="http://schemas.openxmlformats.org/officeDocument/2006/relationships/hyperlink" Target="https://thecleverprogrammer.com/2021/01/22/fastai-in-machine-learn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17.png"/><Relationship Id="rId9" Type="http://schemas.openxmlformats.org/officeDocument/2006/relationships/image" Target="../media/image26.png"/><Relationship Id="rId5" Type="http://schemas.openxmlformats.org/officeDocument/2006/relationships/image" Target="../media/image5.png"/><Relationship Id="rId6" Type="http://schemas.openxmlformats.org/officeDocument/2006/relationships/image" Target="../media/image23.png"/><Relationship Id="rId7" Type="http://schemas.openxmlformats.org/officeDocument/2006/relationships/image" Target="../media/image9.png"/><Relationship Id="rId8"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3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47.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43.jp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Types of Learning</a:t>
            </a:r>
            <a:endParaRPr/>
          </a:p>
        </p:txBody>
      </p:sp>
      <p:pic>
        <p:nvPicPr>
          <p:cNvPr descr="https://media.geeksforgeeks.org/wp-content/uploads/Learning.png" id="106" name="Google Shape;106;p1"/>
          <p:cNvPicPr preferRelativeResize="0"/>
          <p:nvPr>
            <p:ph idx="1" type="body"/>
          </p:nvPr>
        </p:nvPicPr>
        <p:blipFill rotWithShape="1">
          <a:blip r:embed="rId3">
            <a:alphaModFix/>
          </a:blip>
          <a:srcRect b="0" l="0" r="0" t="0"/>
          <a:stretch/>
        </p:blipFill>
        <p:spPr>
          <a:xfrm>
            <a:off x="2436612" y="2908918"/>
            <a:ext cx="6782747" cy="174331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type="title"/>
          </p:nvPr>
        </p:nvSpPr>
        <p:spPr>
          <a:xfrm>
            <a:off x="1097280" y="286603"/>
            <a:ext cx="10058400" cy="1450757"/>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ML algorithm List</a:t>
            </a:r>
            <a:endParaRPr/>
          </a:p>
        </p:txBody>
      </p:sp>
      <p:sp>
        <p:nvSpPr>
          <p:cNvPr id="113" name="Google Shape;113;p2"/>
          <p:cNvSpPr txBox="1"/>
          <p:nvPr>
            <p:ph idx="1" type="body"/>
          </p:nvPr>
        </p:nvSpPr>
        <p:spPr>
          <a:xfrm>
            <a:off x="1097279" y="1845734"/>
            <a:ext cx="4937760" cy="4023360"/>
          </a:xfrm>
          <a:prstGeom prst="rect">
            <a:avLst/>
          </a:prstGeom>
          <a:gradFill>
            <a:gsLst>
              <a:gs pos="0">
                <a:srgbClr val="C0B39F"/>
              </a:gs>
              <a:gs pos="45000">
                <a:srgbClr val="CBBFAF"/>
              </a:gs>
              <a:gs pos="100000">
                <a:srgbClr val="D3C8B5"/>
              </a:gs>
            </a:gsLst>
            <a:path path="circle">
              <a:fillToRect b="50%" l="50%" r="50%" t="50%"/>
            </a:path>
            <a:tileRect/>
          </a:gradFill>
          <a:ln cap="flat" cmpd="sng" w="12700">
            <a:solidFill>
              <a:schemeClr val="accent4"/>
            </a:solidFill>
            <a:prstDash val="solid"/>
            <a:round/>
            <a:headEnd len="sm" w="sm" type="none"/>
            <a:tailEnd len="sm" w="sm" type="none"/>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b="1" i="1" lang="en-US" u="sng">
                <a:solidFill>
                  <a:schemeClr val="dk1"/>
                </a:solidFill>
                <a:latin typeface="Calibri"/>
                <a:ea typeface="Calibri"/>
                <a:cs typeface="Calibri"/>
                <a:sym typeface="Calibri"/>
                <a:hlinkClick r:id="rId3">
                  <a:extLst>
                    <a:ext uri="{A12FA001-AC4F-418D-AE19-62706E023703}">
                      <ahyp:hlinkClr val="tx"/>
                    </a:ext>
                  </a:extLst>
                </a:hlinkClick>
              </a:rPr>
              <a:t>DBSCAN Clustering</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4">
                  <a:extLst>
                    <a:ext uri="{A12FA001-AC4F-418D-AE19-62706E023703}">
                      <ahyp:hlinkClr val="tx"/>
                    </a:ext>
                  </a:extLst>
                </a:hlinkClick>
              </a:rPr>
              <a:t>Naive Bayes</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5">
                  <a:extLst>
                    <a:ext uri="{A12FA001-AC4F-418D-AE19-62706E023703}">
                      <ahyp:hlinkClr val="tx"/>
                    </a:ext>
                  </a:extLst>
                </a:hlinkClick>
              </a:rPr>
              <a:t>Gradient Boosting</a:t>
            </a:r>
            <a:r>
              <a:rPr b="1" i="1" lang="en-US">
                <a:solidFill>
                  <a:schemeClr val="dk1"/>
                </a:solidFill>
                <a:latin typeface="Calibri"/>
                <a:ea typeface="Calibri"/>
                <a:cs typeface="Calibri"/>
                <a:sym typeface="Calibri"/>
              </a:rPr>
              <a:t> (Used in implementing the Instagram Algorithm)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6">
                  <a:extLst>
                    <a:ext uri="{A12FA001-AC4F-418D-AE19-62706E023703}">
                      <ahyp:hlinkClr val="tx"/>
                    </a:ext>
                  </a:extLst>
                </a:hlinkClick>
              </a:rPr>
              <a:t>Logistic Regression</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7">
                  <a:extLst>
                    <a:ext uri="{A12FA001-AC4F-418D-AE19-62706E023703}">
                      <ahyp:hlinkClr val="tx"/>
                    </a:ext>
                  </a:extLst>
                </a:hlinkClick>
              </a:rPr>
              <a:t>Linear Regression</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8">
                  <a:extLst>
                    <a:ext uri="{A12FA001-AC4F-418D-AE19-62706E023703}">
                      <ahyp:hlinkClr val="tx"/>
                    </a:ext>
                  </a:extLst>
                </a:hlinkClick>
              </a:rPr>
              <a:t>Apriori Algorithm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9">
                  <a:extLst>
                    <a:ext uri="{A12FA001-AC4F-418D-AE19-62706E023703}">
                      <ahyp:hlinkClr val="tx"/>
                    </a:ext>
                  </a:extLst>
                </a:hlinkClick>
              </a:rPr>
              <a:t>K Nearest Neighbor</a:t>
            </a:r>
            <a:endParaRPr/>
          </a:p>
          <a:p>
            <a:pPr indent="0" lvl="0" marL="91440" rtl="0" algn="l">
              <a:lnSpc>
                <a:spcPct val="90000"/>
              </a:lnSpc>
              <a:spcBef>
                <a:spcPts val="1400"/>
              </a:spcBef>
              <a:spcAft>
                <a:spcPts val="0"/>
              </a:spcAft>
              <a:buSzPts val="2000"/>
              <a:buNone/>
            </a:pPr>
            <a:r>
              <a:t/>
            </a:r>
            <a:endParaRPr/>
          </a:p>
        </p:txBody>
      </p:sp>
      <p:sp>
        <p:nvSpPr>
          <p:cNvPr id="114" name="Google Shape;114;p2"/>
          <p:cNvSpPr txBox="1"/>
          <p:nvPr>
            <p:ph idx="2" type="body"/>
          </p:nvPr>
        </p:nvSpPr>
        <p:spPr>
          <a:xfrm>
            <a:off x="6217920" y="1845735"/>
            <a:ext cx="4937760" cy="4023360"/>
          </a:xfrm>
          <a:prstGeom prst="rect">
            <a:avLst/>
          </a:prstGeom>
          <a:gradFill>
            <a:gsLst>
              <a:gs pos="0">
                <a:srgbClr val="C0B39F"/>
              </a:gs>
              <a:gs pos="45000">
                <a:srgbClr val="CBBFAF"/>
              </a:gs>
              <a:gs pos="100000">
                <a:srgbClr val="D3C8B5"/>
              </a:gs>
            </a:gsLst>
            <a:path path="circle">
              <a:fillToRect b="50%" l="50%" r="50%" t="50%"/>
            </a:path>
            <a:tileRect/>
          </a:gradFill>
          <a:ln cap="flat" cmpd="sng" w="12700">
            <a:solidFill>
              <a:schemeClr val="accent4"/>
            </a:solidFill>
            <a:prstDash val="solid"/>
            <a:round/>
            <a:headEnd len="sm" w="sm" type="none"/>
            <a:tailEnd len="sm" w="sm" type="none"/>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b="1" i="1" lang="en-US" u="sng">
                <a:solidFill>
                  <a:schemeClr val="dk1"/>
                </a:solidFill>
                <a:latin typeface="Calibri"/>
                <a:ea typeface="Calibri"/>
                <a:cs typeface="Calibri"/>
                <a:sym typeface="Calibri"/>
                <a:hlinkClick r:id="rId10">
                  <a:extLst>
                    <a:ext uri="{A12FA001-AC4F-418D-AE19-62706E023703}">
                      <ahyp:hlinkClr val="tx"/>
                    </a:ext>
                  </a:extLst>
                </a:hlinkClick>
              </a:rPr>
              <a:t>CatBoost</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1">
                  <a:extLst>
                    <a:ext uri="{A12FA001-AC4F-418D-AE19-62706E023703}">
                      <ahyp:hlinkClr val="tx"/>
                    </a:ext>
                  </a:extLst>
                </a:hlinkClick>
              </a:rPr>
              <a:t>SMOTE</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2">
                  <a:extLst>
                    <a:ext uri="{A12FA001-AC4F-418D-AE19-62706E023703}">
                      <ahyp:hlinkClr val="tx"/>
                    </a:ext>
                  </a:extLst>
                </a:hlinkClick>
              </a:rPr>
              <a:t>Hypothesis Testing</a:t>
            </a:r>
            <a:r>
              <a:rPr b="1" i="1" lang="en-US">
                <a:solidFill>
                  <a:schemeClr val="dk1"/>
                </a:solidFill>
                <a:latin typeface="Calibri"/>
                <a:ea typeface="Calibri"/>
                <a:cs typeface="Calibri"/>
                <a:sym typeface="Calibri"/>
              </a:rPr>
              <a:t> (Commonly used in Outlier Detection)</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3">
                  <a:extLst>
                    <a:ext uri="{A12FA001-AC4F-418D-AE19-62706E023703}">
                      <ahyp:hlinkClr val="tx"/>
                    </a:ext>
                  </a:extLst>
                </a:hlinkClick>
              </a:rPr>
              <a:t>Tf-Idf Vectorization</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4">
                  <a:extLst>
                    <a:ext uri="{A12FA001-AC4F-418D-AE19-62706E023703}">
                      <ahyp:hlinkClr val="tx"/>
                    </a:ext>
                  </a:extLst>
                </a:hlinkClick>
              </a:rPr>
              <a:t>Cross-Validation</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5">
                  <a:extLst>
                    <a:ext uri="{A12FA001-AC4F-418D-AE19-62706E023703}">
                      <ahyp:hlinkClr val="tx"/>
                    </a:ext>
                  </a:extLst>
                </a:hlinkClick>
              </a:rPr>
              <a:t>4 Graph Algorithms</a:t>
            </a:r>
            <a:r>
              <a:rPr b="1" i="1" lang="en-US">
                <a:solidFill>
                  <a:schemeClr val="dk1"/>
                </a:solidFill>
                <a:latin typeface="Calibri"/>
                <a:ea typeface="Calibri"/>
                <a:cs typeface="Calibri"/>
                <a:sym typeface="Calibri"/>
              </a:rPr>
              <a:t> (Connected Components, Shortest Path, Pagerank, Centrality Measures)</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6">
                  <a:extLst>
                    <a:ext uri="{A12FA001-AC4F-418D-AE19-62706E023703}">
                      <ahyp:hlinkClr val="tx"/>
                    </a:ext>
                  </a:extLst>
                </a:hlinkClick>
              </a:rPr>
              <a:t>Ridge and Lasso Regression</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1097280" y="286603"/>
            <a:ext cx="10058400" cy="1450757"/>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ML algorithm List</a:t>
            </a:r>
            <a:endParaRPr/>
          </a:p>
        </p:txBody>
      </p:sp>
      <p:sp>
        <p:nvSpPr>
          <p:cNvPr id="120" name="Google Shape;120;p3"/>
          <p:cNvSpPr txBox="1"/>
          <p:nvPr>
            <p:ph idx="1" type="body"/>
          </p:nvPr>
        </p:nvSpPr>
        <p:spPr>
          <a:xfrm>
            <a:off x="1097279" y="1845734"/>
            <a:ext cx="4937760" cy="4023360"/>
          </a:xfrm>
          <a:prstGeom prst="rect">
            <a:avLst/>
          </a:prstGeom>
          <a:gradFill>
            <a:gsLst>
              <a:gs pos="0">
                <a:srgbClr val="C0B39F"/>
              </a:gs>
              <a:gs pos="45000">
                <a:srgbClr val="CBBFAF"/>
              </a:gs>
              <a:gs pos="100000">
                <a:srgbClr val="D3C8B5"/>
              </a:gs>
            </a:gsLst>
            <a:path path="circle">
              <a:fillToRect b="50%" l="50%" r="50%" t="50%"/>
            </a:path>
            <a:tileRect/>
          </a:gradFill>
          <a:ln cap="flat" cmpd="sng" w="12700">
            <a:solidFill>
              <a:schemeClr val="accent4"/>
            </a:solidFill>
            <a:prstDash val="solid"/>
            <a:round/>
            <a:headEnd len="sm" w="sm" type="none"/>
            <a:tailEnd len="sm" w="sm" type="none"/>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b="1" i="1" lang="en-US" u="sng">
                <a:solidFill>
                  <a:schemeClr val="dk1"/>
                </a:solidFill>
                <a:latin typeface="Calibri"/>
                <a:ea typeface="Calibri"/>
                <a:cs typeface="Calibri"/>
                <a:sym typeface="Calibri"/>
                <a:hlinkClick r:id="rId3">
                  <a:extLst>
                    <a:ext uri="{A12FA001-AC4F-418D-AE19-62706E023703}">
                      <ahyp:hlinkClr val="tx"/>
                    </a:ext>
                  </a:extLst>
                </a:hlinkClick>
              </a:rPr>
              <a:t>StandardScaler</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4">
                  <a:extLst>
                    <a:ext uri="{A12FA001-AC4F-418D-AE19-62706E023703}">
                      <ahyp:hlinkClr val="tx"/>
                    </a:ext>
                  </a:extLst>
                </a:hlinkClick>
              </a:rPr>
              <a:t>SARIMA</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5">
                  <a:extLst>
                    <a:ext uri="{A12FA001-AC4F-418D-AE19-62706E023703}">
                      <ahyp:hlinkClr val="tx"/>
                    </a:ext>
                  </a:extLst>
                </a:hlinkClick>
              </a:rPr>
              <a:t>ARIMA</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6">
                  <a:extLst>
                    <a:ext uri="{A12FA001-AC4F-418D-AE19-62706E023703}">
                      <ahyp:hlinkClr val="tx"/>
                    </a:ext>
                  </a:extLst>
                </a:hlinkClick>
              </a:rPr>
              <a:t>XGBoost Algorithm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7">
                  <a:extLst>
                    <a:ext uri="{A12FA001-AC4F-418D-AE19-62706E023703}">
                      <ahyp:hlinkClr val="tx"/>
                    </a:ext>
                  </a:extLst>
                </a:hlinkClick>
              </a:rPr>
              <a:t>Long Short Term Memory (LSTM)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8">
                  <a:extLst>
                    <a:ext uri="{A12FA001-AC4F-418D-AE19-62706E023703}">
                      <ahyp:hlinkClr val="tx"/>
                    </a:ext>
                  </a:extLst>
                </a:hlinkClick>
              </a:rPr>
              <a:t>One Hot Encoding</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9">
                  <a:extLst>
                    <a:ext uri="{A12FA001-AC4F-418D-AE19-62706E023703}">
                      <ahyp:hlinkClr val="tx"/>
                    </a:ext>
                  </a:extLst>
                </a:hlinkClick>
              </a:rPr>
              <a:t>Bidirectional Encoder Representations from Transformers (BERT)</a:t>
            </a:r>
            <a:endParaRPr/>
          </a:p>
          <a:p>
            <a:pPr indent="0" lvl="0" marL="91440" rtl="0" algn="l">
              <a:lnSpc>
                <a:spcPct val="90000"/>
              </a:lnSpc>
              <a:spcBef>
                <a:spcPts val="1400"/>
              </a:spcBef>
              <a:spcAft>
                <a:spcPts val="0"/>
              </a:spcAft>
              <a:buSzPts val="2000"/>
              <a:buNone/>
            </a:pPr>
            <a:r>
              <a:t/>
            </a:r>
            <a:endParaRPr/>
          </a:p>
        </p:txBody>
      </p:sp>
      <p:sp>
        <p:nvSpPr>
          <p:cNvPr id="121" name="Google Shape;121;p3"/>
          <p:cNvSpPr txBox="1"/>
          <p:nvPr>
            <p:ph idx="2" type="body"/>
          </p:nvPr>
        </p:nvSpPr>
        <p:spPr>
          <a:xfrm>
            <a:off x="6217920" y="1845735"/>
            <a:ext cx="4937760" cy="4023360"/>
          </a:xfrm>
          <a:prstGeom prst="rect">
            <a:avLst/>
          </a:prstGeom>
          <a:gradFill>
            <a:gsLst>
              <a:gs pos="0">
                <a:srgbClr val="C0B39F"/>
              </a:gs>
              <a:gs pos="45000">
                <a:srgbClr val="CBBFAF"/>
              </a:gs>
              <a:gs pos="100000">
                <a:srgbClr val="D3C8B5"/>
              </a:gs>
            </a:gsLst>
            <a:path path="circle">
              <a:fillToRect b="50%" l="50%" r="50%" t="50%"/>
            </a:path>
            <a:tileRect/>
          </a:gradFill>
          <a:ln cap="flat" cmpd="sng" w="12700">
            <a:solidFill>
              <a:schemeClr val="accent4"/>
            </a:solidFill>
            <a:prstDash val="solid"/>
            <a:round/>
            <a:headEnd len="sm" w="sm" type="none"/>
            <a:tailEnd len="sm" w="sm" type="none"/>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b="1" i="1" lang="en-US" u="sng">
                <a:solidFill>
                  <a:schemeClr val="dk1"/>
                </a:solidFill>
                <a:latin typeface="Calibri"/>
                <a:ea typeface="Calibri"/>
                <a:cs typeface="Calibri"/>
                <a:sym typeface="Calibri"/>
                <a:hlinkClick r:id="rId10">
                  <a:extLst>
                    <a:ext uri="{A12FA001-AC4F-418D-AE19-62706E023703}">
                      <ahyp:hlinkClr val="tx"/>
                    </a:ext>
                  </a:extLst>
                </a:hlinkClick>
              </a:rPr>
              <a:t>Facebook Prophet</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1">
                  <a:extLst>
                    <a:ext uri="{A12FA001-AC4F-418D-AE19-62706E023703}">
                      <ahyp:hlinkClr val="tx"/>
                    </a:ext>
                  </a:extLst>
                </a:hlinkClick>
              </a:rPr>
              <a:t>NeuralProphet</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2">
                  <a:extLst>
                    <a:ext uri="{A12FA001-AC4F-418D-AE19-62706E023703}">
                      <ahyp:hlinkClr val="tx"/>
                    </a:ext>
                  </a:extLst>
                </a:hlinkClick>
              </a:rPr>
              <a:t>AdaBoost Algorithm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3">
                  <a:extLst>
                    <a:ext uri="{A12FA001-AC4F-418D-AE19-62706E023703}">
                      <ahyp:hlinkClr val="tx"/>
                    </a:ext>
                  </a:extLst>
                </a:hlinkClick>
              </a:rPr>
              <a:t>Random Forest Algorithm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4">
                  <a:extLst>
                    <a:ext uri="{A12FA001-AC4F-418D-AE19-62706E023703}">
                      <ahyp:hlinkClr val="tx"/>
                    </a:ext>
                  </a:extLst>
                </a:hlinkClick>
              </a:rPr>
              <a:t>H2O AutoML</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5">
                  <a:extLst>
                    <a:ext uri="{A12FA001-AC4F-418D-AE19-62706E023703}">
                      <ahyp:hlinkClr val="tx"/>
                    </a:ext>
                  </a:extLst>
                </a:hlinkClick>
              </a:rPr>
              <a:t>Polynomial Regression</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6">
                  <a:extLst>
                    <a:ext uri="{A12FA001-AC4F-418D-AE19-62706E023703}">
                      <ahyp:hlinkClr val="tx"/>
                    </a:ext>
                  </a:extLst>
                </a:hlinkClick>
              </a:rPr>
              <a:t>Gradient Descent Algorithm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7">
                  <a:extLst>
                    <a:ext uri="{A12FA001-AC4F-418D-AE19-62706E023703}">
                      <ahyp:hlinkClr val="tx"/>
                    </a:ext>
                  </a:extLst>
                </a:hlinkClick>
              </a:rPr>
              <a:t>Grid Search Algorithm</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18">
                  <a:extLst>
                    <a:ext uri="{A12FA001-AC4F-418D-AE19-62706E023703}">
                      <ahyp:hlinkClr val="tx"/>
                    </a:ext>
                  </a:extLst>
                </a:hlinkClick>
              </a:rPr>
              <a:t>K-Means Algorithm</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ph type="title"/>
          </p:nvPr>
        </p:nvSpPr>
        <p:spPr>
          <a:xfrm>
            <a:off x="1097280" y="286603"/>
            <a:ext cx="10058400" cy="1450757"/>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ML Algorithm List</a:t>
            </a:r>
            <a:endParaRPr/>
          </a:p>
        </p:txBody>
      </p:sp>
      <p:sp>
        <p:nvSpPr>
          <p:cNvPr id="127" name="Google Shape;127;p4"/>
          <p:cNvSpPr txBox="1"/>
          <p:nvPr>
            <p:ph idx="1" type="body"/>
          </p:nvPr>
        </p:nvSpPr>
        <p:spPr>
          <a:xfrm>
            <a:off x="1097280" y="1845734"/>
            <a:ext cx="10058400" cy="4023360"/>
          </a:xfrm>
          <a:prstGeom prst="rect">
            <a:avLst/>
          </a:prstGeom>
          <a:gradFill>
            <a:gsLst>
              <a:gs pos="0">
                <a:srgbClr val="C0B39F"/>
              </a:gs>
              <a:gs pos="45000">
                <a:srgbClr val="CBBFAF"/>
              </a:gs>
              <a:gs pos="100000">
                <a:srgbClr val="D3C8B5"/>
              </a:gs>
            </a:gsLst>
            <a:path path="circle">
              <a:fillToRect b="50%" l="50%" r="50%" t="50%"/>
            </a:path>
            <a:tileRect/>
          </a:gradFill>
          <a:ln cap="flat" cmpd="sng" w="12700">
            <a:solidFill>
              <a:schemeClr val="accent4"/>
            </a:solidFill>
            <a:prstDash val="solid"/>
            <a:round/>
            <a:headEnd len="sm" w="sm" type="none"/>
            <a:tailEnd len="sm" w="sm" type="none"/>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b="1" i="1" lang="en-US" u="sng">
                <a:solidFill>
                  <a:schemeClr val="dk1"/>
                </a:solidFill>
                <a:latin typeface="Calibri"/>
                <a:ea typeface="Calibri"/>
                <a:cs typeface="Calibri"/>
                <a:sym typeface="Calibri"/>
                <a:hlinkClick r:id="rId3">
                  <a:extLst>
                    <a:ext uri="{A12FA001-AC4F-418D-AE19-62706E023703}">
                      <ahyp:hlinkClr val="tx"/>
                    </a:ext>
                  </a:extLst>
                </a:hlinkClick>
              </a:rPr>
              <a:t>Manifold Learning</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4">
                  <a:extLst>
                    <a:ext uri="{A12FA001-AC4F-418D-AE19-62706E023703}">
                      <ahyp:hlinkClr val="tx"/>
                    </a:ext>
                  </a:extLst>
                </a:hlinkClick>
              </a:rPr>
              <a:t>Principal Component Analysis</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5">
                  <a:extLst>
                    <a:ext uri="{A12FA001-AC4F-418D-AE19-62706E023703}">
                      <ahyp:hlinkClr val="tx"/>
                    </a:ext>
                  </a:extLst>
                </a:hlinkClick>
              </a:rPr>
              <a:t>Decision Trees</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6">
                  <a:extLst>
                    <a:ext uri="{A12FA001-AC4F-418D-AE19-62706E023703}">
                      <ahyp:hlinkClr val="tx"/>
                    </a:ext>
                  </a:extLst>
                </a:hlinkClick>
              </a:rPr>
              <a:t>Support Vector Machines</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7">
                  <a:extLst>
                    <a:ext uri="{A12FA001-AC4F-418D-AE19-62706E023703}">
                      <ahyp:hlinkClr val="tx"/>
                    </a:ext>
                  </a:extLst>
                </a:hlinkClick>
              </a:rPr>
              <a:t>Neural Networks</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8">
                  <a:extLst>
                    <a:ext uri="{A12FA001-AC4F-418D-AE19-62706E023703}">
                      <ahyp:hlinkClr val="tx"/>
                    </a:ext>
                  </a:extLst>
                </a:hlinkClick>
              </a:rPr>
              <a:t>FastAI</a:t>
            </a:r>
            <a:endParaRPr/>
          </a:p>
          <a:p>
            <a:pPr indent="-91440" lvl="0" marL="91440" rtl="0" algn="l">
              <a:lnSpc>
                <a:spcPct val="90000"/>
              </a:lnSpc>
              <a:spcBef>
                <a:spcPts val="1400"/>
              </a:spcBef>
              <a:spcAft>
                <a:spcPts val="0"/>
              </a:spcAft>
              <a:buSzPts val="2000"/>
              <a:buChar char=" "/>
            </a:pPr>
            <a:r>
              <a:rPr b="1" i="1" lang="en-US" u="sng">
                <a:solidFill>
                  <a:schemeClr val="dk1"/>
                </a:solidFill>
                <a:latin typeface="Calibri"/>
                <a:ea typeface="Calibri"/>
                <a:cs typeface="Calibri"/>
                <a:sym typeface="Calibri"/>
                <a:hlinkClick r:id="rId9">
                  <a:extLst>
                    <a:ext uri="{A12FA001-AC4F-418D-AE19-62706E023703}">
                      <ahyp:hlinkClr val="tx"/>
                    </a:ext>
                  </a:extLst>
                </a:hlinkClick>
              </a:rPr>
              <a:t>LightGBM</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ctrTitle"/>
          </p:nvPr>
        </p:nvSpPr>
        <p:spPr>
          <a:xfrm>
            <a:off x="1097280" y="758952"/>
            <a:ext cx="10058400" cy="3566160"/>
          </a:xfrm>
          <a:prstGeom prst="rect">
            <a:avLst/>
          </a:prstGeom>
          <a:solidFill>
            <a:schemeClr val="lt1"/>
          </a:solidFill>
          <a:ln cap="flat" cmpd="sng" w="15875">
            <a:solidFill>
              <a:schemeClr val="accent2"/>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8000"/>
              <a:buFont typeface="Calibri"/>
              <a:buNone/>
            </a:pPr>
            <a:r>
              <a:rPr lang="en-US">
                <a:solidFill>
                  <a:schemeClr val="dk1"/>
                </a:solidFill>
                <a:latin typeface="Calibri"/>
                <a:ea typeface="Calibri"/>
                <a:cs typeface="Calibri"/>
                <a:sym typeface="Calibri"/>
              </a:rPr>
              <a:t>Different Models of Supervised Learning</a:t>
            </a:r>
            <a:endParaRPr/>
          </a:p>
        </p:txBody>
      </p:sp>
      <p:sp>
        <p:nvSpPr>
          <p:cNvPr id="133" name="Google Shape;133;p5"/>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1097280" y="286603"/>
            <a:ext cx="10058400" cy="1450757"/>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Outline</a:t>
            </a:r>
            <a:endParaRPr/>
          </a:p>
        </p:txBody>
      </p:sp>
      <p:sp>
        <p:nvSpPr>
          <p:cNvPr id="139" name="Google Shape;139;p6"/>
          <p:cNvSpPr txBox="1"/>
          <p:nvPr>
            <p:ph idx="1" type="body"/>
          </p:nvPr>
        </p:nvSpPr>
        <p:spPr>
          <a:xfrm>
            <a:off x="1097280" y="1845734"/>
            <a:ext cx="10058400" cy="402336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solidFill>
                  <a:schemeClr val="lt1"/>
                </a:solidFill>
                <a:latin typeface="Calibri"/>
                <a:ea typeface="Calibri"/>
                <a:cs typeface="Calibri"/>
                <a:sym typeface="Calibri"/>
              </a:rPr>
              <a:t>Different Models of Supervised Learning</a:t>
            </a:r>
            <a:endParaRPr/>
          </a:p>
          <a:p>
            <a:pPr indent="-91440" lvl="0" marL="91440" rtl="0" algn="l">
              <a:lnSpc>
                <a:spcPct val="90000"/>
              </a:lnSpc>
              <a:spcBef>
                <a:spcPts val="1400"/>
              </a:spcBef>
              <a:spcAft>
                <a:spcPts val="0"/>
              </a:spcAft>
              <a:buSzPts val="2000"/>
              <a:buChar char=" "/>
            </a:pPr>
            <a:r>
              <a:rPr lang="en-US">
                <a:solidFill>
                  <a:schemeClr val="lt1"/>
                </a:solidFill>
                <a:latin typeface="Calibri"/>
                <a:ea typeface="Calibri"/>
                <a:cs typeface="Calibri"/>
                <a:sym typeface="Calibri"/>
              </a:rPr>
              <a:t>Linear Regression:</a:t>
            </a:r>
            <a:endParaRPr/>
          </a:p>
          <a:p>
            <a:pPr indent="-91440" lvl="0" marL="91440" rtl="0" algn="l">
              <a:lnSpc>
                <a:spcPct val="90000"/>
              </a:lnSpc>
              <a:spcBef>
                <a:spcPts val="1400"/>
              </a:spcBef>
              <a:spcAft>
                <a:spcPts val="0"/>
              </a:spcAft>
              <a:buSzPts val="2000"/>
              <a:buChar char=" "/>
            </a:pPr>
            <a:r>
              <a:rPr lang="en-US">
                <a:solidFill>
                  <a:schemeClr val="lt1"/>
                </a:solidFill>
                <a:latin typeface="Calibri"/>
                <a:ea typeface="Calibri"/>
                <a:cs typeface="Calibri"/>
                <a:sym typeface="Calibri"/>
              </a:rPr>
              <a:t>Logistic Regression:</a:t>
            </a:r>
            <a:endParaRPr/>
          </a:p>
          <a:p>
            <a:pPr indent="-91440" lvl="0" marL="91440" rtl="0" algn="l">
              <a:lnSpc>
                <a:spcPct val="90000"/>
              </a:lnSpc>
              <a:spcBef>
                <a:spcPts val="1400"/>
              </a:spcBef>
              <a:spcAft>
                <a:spcPts val="0"/>
              </a:spcAft>
              <a:buSzPts val="2000"/>
              <a:buChar char=" "/>
            </a:pPr>
            <a:r>
              <a:rPr lang="en-US">
                <a:solidFill>
                  <a:schemeClr val="lt1"/>
                </a:solidFill>
                <a:latin typeface="Calibri"/>
                <a:ea typeface="Calibri"/>
                <a:cs typeface="Calibri"/>
                <a:sym typeface="Calibri"/>
              </a:rPr>
              <a:t>Decision Trees: </a:t>
            </a:r>
            <a:endParaRPr/>
          </a:p>
          <a:p>
            <a:pPr indent="-91440" lvl="0" marL="91440" rtl="0" algn="l">
              <a:lnSpc>
                <a:spcPct val="90000"/>
              </a:lnSpc>
              <a:spcBef>
                <a:spcPts val="1400"/>
              </a:spcBef>
              <a:spcAft>
                <a:spcPts val="0"/>
              </a:spcAft>
              <a:buSzPts val="2000"/>
              <a:buChar char=" "/>
            </a:pPr>
            <a:r>
              <a:rPr lang="en-US">
                <a:solidFill>
                  <a:schemeClr val="lt1"/>
                </a:solidFill>
                <a:latin typeface="Calibri"/>
                <a:ea typeface="Calibri"/>
                <a:cs typeface="Calibri"/>
                <a:sym typeface="Calibri"/>
              </a:rPr>
              <a:t>Random Forests:</a:t>
            </a:r>
            <a:endParaRPr/>
          </a:p>
          <a:p>
            <a:pPr indent="-91440" lvl="0" marL="91440" rtl="0" algn="l">
              <a:lnSpc>
                <a:spcPct val="90000"/>
              </a:lnSpc>
              <a:spcBef>
                <a:spcPts val="1400"/>
              </a:spcBef>
              <a:spcAft>
                <a:spcPts val="0"/>
              </a:spcAft>
              <a:buSzPts val="2000"/>
              <a:buChar char=" "/>
            </a:pPr>
            <a:r>
              <a:rPr lang="en-US">
                <a:solidFill>
                  <a:schemeClr val="lt1"/>
                </a:solidFill>
                <a:latin typeface="Calibri"/>
                <a:ea typeface="Calibri"/>
                <a:cs typeface="Calibri"/>
                <a:sym typeface="Calibri"/>
              </a:rPr>
              <a:t>Support Vector Machine(SVM)</a:t>
            </a:r>
            <a:endParaRPr/>
          </a:p>
          <a:p>
            <a:pPr indent="-91440" lvl="0" marL="91440" rtl="0" algn="l">
              <a:lnSpc>
                <a:spcPct val="90000"/>
              </a:lnSpc>
              <a:spcBef>
                <a:spcPts val="1400"/>
              </a:spcBef>
              <a:spcAft>
                <a:spcPts val="0"/>
              </a:spcAft>
              <a:buSzPts val="2000"/>
              <a:buChar char=" "/>
            </a:pPr>
            <a:r>
              <a:rPr lang="en-US">
                <a:solidFill>
                  <a:schemeClr val="lt1"/>
                </a:solidFill>
                <a:latin typeface="Calibri"/>
                <a:ea typeface="Calibri"/>
                <a:cs typeface="Calibri"/>
                <a:sym typeface="Calibri"/>
              </a:rPr>
              <a:t>K-Nearest Neighbors (KNN)</a:t>
            </a:r>
            <a:endParaRPr/>
          </a:p>
          <a:p>
            <a:pPr indent="-91440" lvl="0" marL="91440" rtl="0" algn="l">
              <a:lnSpc>
                <a:spcPct val="90000"/>
              </a:lnSpc>
              <a:spcBef>
                <a:spcPts val="1400"/>
              </a:spcBef>
              <a:spcAft>
                <a:spcPts val="0"/>
              </a:spcAft>
              <a:buSzPts val="2000"/>
              <a:buChar char=" "/>
            </a:pPr>
            <a:r>
              <a:rPr lang="en-US">
                <a:solidFill>
                  <a:schemeClr val="lt1"/>
                </a:solidFill>
                <a:latin typeface="Calibri"/>
                <a:ea typeface="Calibri"/>
                <a:cs typeface="Calibri"/>
                <a:sym typeface="Calibri"/>
              </a:rPr>
              <a:t>Gradient Boosting</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type="title"/>
          </p:nvPr>
        </p:nvSpPr>
        <p:spPr>
          <a:xfrm>
            <a:off x="0" y="0"/>
            <a:ext cx="12192000" cy="17136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Decision Tree Overview</a:t>
            </a:r>
            <a:endParaRPr/>
          </a:p>
        </p:txBody>
      </p:sp>
      <p:sp>
        <p:nvSpPr>
          <p:cNvPr id="145" name="Google Shape;145;p7"/>
          <p:cNvSpPr txBox="1"/>
          <p:nvPr>
            <p:ph idx="1" type="body"/>
          </p:nvPr>
        </p:nvSpPr>
        <p:spPr>
          <a:xfrm>
            <a:off x="221799" y="1950700"/>
            <a:ext cx="11383500" cy="4023300"/>
          </a:xfrm>
          <a:prstGeom prst="rect">
            <a:avLst/>
          </a:prstGeom>
          <a:noFill/>
          <a:ln>
            <a:noFill/>
          </a:ln>
        </p:spPr>
        <p:txBody>
          <a:bodyPr anchorCtr="0" anchor="t" bIns="45700" lIns="0" spcFirstLastPara="1" rIns="0" wrap="square" tIns="45700">
            <a:noAutofit/>
          </a:bodyPr>
          <a:lstStyle/>
          <a:p>
            <a:pPr indent="-110490" lvl="0" marL="91440" rtl="0" algn="l">
              <a:lnSpc>
                <a:spcPct val="90000"/>
              </a:lnSpc>
              <a:spcBef>
                <a:spcPts val="0"/>
              </a:spcBef>
              <a:spcAft>
                <a:spcPts val="0"/>
              </a:spcAft>
              <a:buSzPts val="2300"/>
              <a:buChar char=" "/>
            </a:pPr>
            <a:r>
              <a:rPr lang="en-US" sz="2300"/>
              <a:t>Decision Tree is a </a:t>
            </a:r>
            <a:r>
              <a:rPr b="1" lang="en-US" sz="2300"/>
              <a:t>Supervised learning technique </a:t>
            </a:r>
            <a:r>
              <a:rPr lang="en-US" sz="2300"/>
              <a:t>that can be used for both classification and Regression problems, but mostly it is preferred for solving Classification problems. </a:t>
            </a:r>
            <a:endParaRPr sz="2300"/>
          </a:p>
          <a:p>
            <a:pPr indent="-110490" lvl="0" marL="91440" rtl="0" algn="l">
              <a:lnSpc>
                <a:spcPct val="90000"/>
              </a:lnSpc>
              <a:spcBef>
                <a:spcPts val="1400"/>
              </a:spcBef>
              <a:spcAft>
                <a:spcPts val="0"/>
              </a:spcAft>
              <a:buSzPts val="2300"/>
              <a:buChar char=" "/>
            </a:pPr>
            <a:r>
              <a:rPr lang="en-US" sz="2300"/>
              <a:t>It is a tree-structured classifier, where</a:t>
            </a:r>
            <a:r>
              <a:rPr b="1" lang="en-US" sz="2300"/>
              <a:t> internal nodes represent the features of a dataset, branches represent the decision rules</a:t>
            </a:r>
            <a:r>
              <a:rPr lang="en-US" sz="2300"/>
              <a:t> and </a:t>
            </a:r>
            <a:r>
              <a:rPr b="1" lang="en-US" sz="2300"/>
              <a:t>each leaf node represents the outcome.</a:t>
            </a:r>
            <a:endParaRPr sz="2500"/>
          </a:p>
          <a:p>
            <a:pPr indent="-110490" lvl="0" marL="91440" rtl="0" algn="l">
              <a:lnSpc>
                <a:spcPct val="90000"/>
              </a:lnSpc>
              <a:spcBef>
                <a:spcPts val="1400"/>
              </a:spcBef>
              <a:spcAft>
                <a:spcPts val="0"/>
              </a:spcAft>
              <a:buSzPts val="2300"/>
              <a:buChar char=" "/>
            </a:pPr>
            <a:r>
              <a:rPr lang="en-US" sz="2300"/>
              <a:t>In a Decision tree, there are two nodes, which are the </a:t>
            </a:r>
            <a:r>
              <a:rPr b="1" lang="en-US" sz="2300"/>
              <a:t>Decision Node</a:t>
            </a:r>
            <a:r>
              <a:rPr lang="en-US" sz="2300"/>
              <a:t> and</a:t>
            </a:r>
            <a:r>
              <a:rPr b="1" lang="en-US" sz="2300"/>
              <a:t> Leaf Node.</a:t>
            </a:r>
            <a:r>
              <a:rPr lang="en-US" sz="2300"/>
              <a:t> Decision nodes are used to make any decision and have multiple branches, whereas Leaf nodes are the output of those decisions and do not contain any further branches.</a:t>
            </a:r>
            <a:endParaRPr sz="2300"/>
          </a:p>
          <a:p>
            <a:pPr indent="0" lvl="0" marL="91440" rtl="0" algn="l">
              <a:lnSpc>
                <a:spcPct val="90000"/>
              </a:lnSpc>
              <a:spcBef>
                <a:spcPts val="1400"/>
              </a:spcBef>
              <a:spcAft>
                <a:spcPts val="0"/>
              </a:spcAft>
              <a:buSzPts val="2000"/>
              <a:buNone/>
            </a:pPr>
            <a:r>
              <a:t/>
            </a:r>
            <a:endParaRPr sz="2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txBox="1"/>
          <p:nvPr>
            <p:ph type="title"/>
          </p:nvPr>
        </p:nvSpPr>
        <p:spPr>
          <a:xfrm>
            <a:off x="0" y="0"/>
            <a:ext cx="12192000" cy="1731900"/>
          </a:xfrm>
          <a:prstGeom prst="rect">
            <a:avLst/>
          </a:prstGeom>
          <a:solidFill>
            <a:schemeClr val="accent1"/>
          </a:solidFill>
          <a:ln cap="flat" cmpd="sng" w="15875">
            <a:solidFill>
              <a:srgbClr val="A65F0D"/>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Overview</a:t>
            </a:r>
            <a:endParaRPr/>
          </a:p>
        </p:txBody>
      </p:sp>
      <p:sp>
        <p:nvSpPr>
          <p:cNvPr id="151" name="Google Shape;151;p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110490" lvl="0" marL="91440" rtl="0" algn="l">
              <a:lnSpc>
                <a:spcPct val="90000"/>
              </a:lnSpc>
              <a:spcBef>
                <a:spcPts val="0"/>
              </a:spcBef>
              <a:spcAft>
                <a:spcPts val="0"/>
              </a:spcAft>
              <a:buSzPts val="2300"/>
              <a:buChar char=" "/>
            </a:pPr>
            <a:r>
              <a:rPr lang="en-US" sz="2300"/>
              <a:t>The decisions or the test are performed on the basis of features of the given dataset.</a:t>
            </a:r>
            <a:endParaRPr sz="2300"/>
          </a:p>
          <a:p>
            <a:pPr indent="-110490" lvl="0" marL="91440" rtl="0" algn="l">
              <a:lnSpc>
                <a:spcPct val="90000"/>
              </a:lnSpc>
              <a:spcBef>
                <a:spcPts val="1400"/>
              </a:spcBef>
              <a:spcAft>
                <a:spcPts val="0"/>
              </a:spcAft>
              <a:buSzPts val="2300"/>
              <a:buChar char=" "/>
            </a:pPr>
            <a:r>
              <a:rPr b="1" i="1" lang="en-US" sz="2300"/>
              <a:t>It is a graphical representation for getting all the possible solutions to a problem/decision based on given conditions.</a:t>
            </a:r>
            <a:endParaRPr sz="2300"/>
          </a:p>
          <a:p>
            <a:pPr indent="-110490" lvl="0" marL="91440" rtl="0" algn="l">
              <a:lnSpc>
                <a:spcPct val="90000"/>
              </a:lnSpc>
              <a:spcBef>
                <a:spcPts val="1400"/>
              </a:spcBef>
              <a:spcAft>
                <a:spcPts val="0"/>
              </a:spcAft>
              <a:buSzPts val="2300"/>
              <a:buChar char=" "/>
            </a:pPr>
            <a:r>
              <a:rPr lang="en-US" sz="2300"/>
              <a:t>It is called a decision tree because, similar to a tree, it starts with the root node, which expands on further branches and constructs a tree-like structure.</a:t>
            </a:r>
            <a:endParaRPr sz="2300"/>
          </a:p>
          <a:p>
            <a:pPr indent="-110490" lvl="0" marL="91440" rtl="0" algn="l">
              <a:lnSpc>
                <a:spcPct val="90000"/>
              </a:lnSpc>
              <a:spcBef>
                <a:spcPts val="1400"/>
              </a:spcBef>
              <a:spcAft>
                <a:spcPts val="0"/>
              </a:spcAft>
              <a:buSzPts val="2300"/>
              <a:buChar char=" "/>
            </a:pPr>
            <a:r>
              <a:rPr lang="en-US" sz="2300"/>
              <a:t>In order to build a tree, we use the </a:t>
            </a:r>
            <a:r>
              <a:rPr b="1" lang="en-US" sz="2300"/>
              <a:t>CART algorithm,</a:t>
            </a:r>
            <a:r>
              <a:rPr lang="en-US" sz="2300"/>
              <a:t> which stands for </a:t>
            </a:r>
            <a:r>
              <a:rPr b="1" lang="en-US" sz="2300"/>
              <a:t>Classification and Regression Tree algorithm.</a:t>
            </a:r>
            <a:endParaRPr sz="2300"/>
          </a:p>
          <a:p>
            <a:pPr indent="-110490" lvl="0" marL="91440" rtl="0" algn="l">
              <a:lnSpc>
                <a:spcPct val="90000"/>
              </a:lnSpc>
              <a:spcBef>
                <a:spcPts val="1400"/>
              </a:spcBef>
              <a:spcAft>
                <a:spcPts val="0"/>
              </a:spcAft>
              <a:buSzPts val="2300"/>
              <a:buChar char=" "/>
            </a:pPr>
            <a:r>
              <a:rPr lang="en-US" sz="2300"/>
              <a:t>A decision tree simply asks a question, and based on the answer (Yes/No), it further split the tree into subtrees.</a:t>
            </a:r>
            <a:endParaRPr sz="2300"/>
          </a:p>
          <a:p>
            <a:pPr indent="0" lvl="0" marL="91440" rtl="0" algn="l">
              <a:lnSpc>
                <a:spcPct val="90000"/>
              </a:lnSpc>
              <a:spcBef>
                <a:spcPts val="1400"/>
              </a:spcBef>
              <a:spcAft>
                <a:spcPts val="0"/>
              </a:spcAft>
              <a:buSzPts val="2000"/>
              <a:buNone/>
            </a:pPr>
            <a:r>
              <a:t/>
            </a:r>
            <a:endParaRPr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0" y="0"/>
            <a:ext cx="12192000" cy="17502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br>
              <a:rPr b="1" lang="en-US">
                <a:solidFill>
                  <a:schemeClr val="lt1"/>
                </a:solidFill>
                <a:latin typeface="Calibri"/>
                <a:ea typeface="Calibri"/>
                <a:cs typeface="Calibri"/>
                <a:sym typeface="Calibri"/>
              </a:rPr>
            </a:br>
            <a:r>
              <a:rPr b="1" lang="en-US">
                <a:solidFill>
                  <a:schemeClr val="lt1"/>
                </a:solidFill>
                <a:latin typeface="Calibri"/>
                <a:ea typeface="Calibri"/>
                <a:cs typeface="Calibri"/>
                <a:sym typeface="Calibri"/>
              </a:rPr>
              <a:t>The Decision Tree Algorithm</a:t>
            </a:r>
            <a:endParaRPr/>
          </a:p>
        </p:txBody>
      </p:sp>
      <p:sp>
        <p:nvSpPr>
          <p:cNvPr id="157" name="Google Shape;157;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16840" lvl="0" marL="91440" rtl="0" algn="l">
              <a:lnSpc>
                <a:spcPct val="90000"/>
              </a:lnSpc>
              <a:spcBef>
                <a:spcPts val="0"/>
              </a:spcBef>
              <a:spcAft>
                <a:spcPts val="0"/>
              </a:spcAft>
              <a:buSzPts val="2400"/>
              <a:buChar char=" "/>
            </a:pPr>
            <a:r>
              <a:rPr lang="en-US" sz="2400"/>
              <a:t>A decision tree is a flowchart-like tree structure where an internal node represents a feature(or attribute), the branch represents a decision rule, and each leaf node represents the outcome.</a:t>
            </a:r>
            <a:endParaRPr sz="2400"/>
          </a:p>
          <a:p>
            <a:pPr indent="-116840" lvl="0" marL="91440" rtl="0" algn="l">
              <a:lnSpc>
                <a:spcPct val="90000"/>
              </a:lnSpc>
              <a:spcBef>
                <a:spcPts val="1400"/>
              </a:spcBef>
              <a:spcAft>
                <a:spcPts val="0"/>
              </a:spcAft>
              <a:buSzPts val="2400"/>
              <a:buChar char=" "/>
            </a:pPr>
            <a:r>
              <a:rPr lang="en-US" sz="2400"/>
              <a:t>The topmost node in a decision tree is known as the </a:t>
            </a:r>
            <a:r>
              <a:rPr b="1" lang="en-US" sz="2400"/>
              <a:t>root node</a:t>
            </a:r>
            <a:r>
              <a:rPr lang="en-US" sz="2400"/>
              <a:t>.</a:t>
            </a:r>
            <a:endParaRPr sz="2400"/>
          </a:p>
          <a:p>
            <a:pPr indent="-116840" lvl="0" marL="91440" rtl="0" algn="l">
              <a:lnSpc>
                <a:spcPct val="90000"/>
              </a:lnSpc>
              <a:spcBef>
                <a:spcPts val="1400"/>
              </a:spcBef>
              <a:spcAft>
                <a:spcPts val="0"/>
              </a:spcAft>
              <a:buSzPts val="2400"/>
              <a:buChar char=" "/>
            </a:pPr>
            <a:r>
              <a:rPr lang="en-US" sz="2400"/>
              <a:t> It learns to partition on the basis of the </a:t>
            </a:r>
            <a:r>
              <a:rPr b="1" lang="en-US" sz="2400"/>
              <a:t>attribute value</a:t>
            </a:r>
            <a:r>
              <a:rPr lang="en-US" sz="2400"/>
              <a:t>. </a:t>
            </a:r>
            <a:endParaRPr sz="2400"/>
          </a:p>
          <a:p>
            <a:pPr indent="-116840" lvl="0" marL="91440" rtl="0" algn="l">
              <a:lnSpc>
                <a:spcPct val="90000"/>
              </a:lnSpc>
              <a:spcBef>
                <a:spcPts val="1400"/>
              </a:spcBef>
              <a:spcAft>
                <a:spcPts val="0"/>
              </a:spcAft>
              <a:buSzPts val="2400"/>
              <a:buChar char=" "/>
            </a:pPr>
            <a:r>
              <a:rPr lang="en-US" sz="2400"/>
              <a:t>It partitions the tree in a recursive manner called </a:t>
            </a:r>
            <a:r>
              <a:rPr b="1" lang="en-US" sz="2400"/>
              <a:t>recursive partitioning</a:t>
            </a:r>
            <a:r>
              <a:rPr lang="en-US" sz="2400"/>
              <a:t>. This flowchart-like structure helps you in decision-making. It's visualization like a flowchart diagram which easily mimics the human level thinking. That is why decision trees are easy to understand and interpret.</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Entropy</a:t>
            </a:r>
            <a:endParaRPr/>
          </a:p>
        </p:txBody>
      </p:sp>
      <p:sp>
        <p:nvSpPr>
          <p:cNvPr id="163" name="Google Shape;163;p10"/>
          <p:cNvSpPr txBox="1"/>
          <p:nvPr>
            <p:ph idx="1" type="body"/>
          </p:nvPr>
        </p:nvSpPr>
        <p:spPr>
          <a:xfrm>
            <a:off x="797025" y="1849756"/>
            <a:ext cx="10058400" cy="1917600"/>
          </a:xfrm>
          <a:prstGeom prst="rect">
            <a:avLst/>
          </a:prstGeom>
          <a:noFill/>
          <a:ln>
            <a:noFill/>
          </a:ln>
        </p:spPr>
        <p:txBody>
          <a:bodyPr anchorCtr="0" anchor="t" bIns="45700" lIns="0" spcFirstLastPara="1" rIns="0" wrap="square" tIns="45700">
            <a:normAutofit/>
          </a:bodyPr>
          <a:lstStyle/>
          <a:p>
            <a:pPr indent="-129540" lvl="0" marL="91440" rtl="0" algn="l">
              <a:lnSpc>
                <a:spcPct val="90000"/>
              </a:lnSpc>
              <a:spcBef>
                <a:spcPts val="0"/>
              </a:spcBef>
              <a:spcAft>
                <a:spcPts val="0"/>
              </a:spcAft>
              <a:buSzPts val="2600"/>
              <a:buChar char=" "/>
            </a:pPr>
            <a:r>
              <a:rPr b="1" lang="en-US" sz="2600"/>
              <a:t>Entropy</a:t>
            </a:r>
            <a:r>
              <a:rPr lang="en-US" sz="2600"/>
              <a:t>: Entropy is the measure of uncertainty or randomness in a data set. Entropy handles how a decision tree splits the data.</a:t>
            </a:r>
            <a:endParaRPr sz="2600"/>
          </a:p>
          <a:p>
            <a:pPr indent="0" lvl="0" marL="91440" rtl="0" algn="l">
              <a:lnSpc>
                <a:spcPct val="90000"/>
              </a:lnSpc>
              <a:spcBef>
                <a:spcPts val="1400"/>
              </a:spcBef>
              <a:spcAft>
                <a:spcPts val="0"/>
              </a:spcAft>
              <a:buSzPts val="2000"/>
              <a:buNone/>
            </a:pPr>
            <a:r>
              <a:t/>
            </a:r>
            <a:endParaRPr sz="2600"/>
          </a:p>
          <a:p>
            <a:pPr indent="-129540" lvl="0" marL="91440" rtl="0" algn="l">
              <a:lnSpc>
                <a:spcPct val="90000"/>
              </a:lnSpc>
              <a:spcBef>
                <a:spcPts val="1400"/>
              </a:spcBef>
              <a:spcAft>
                <a:spcPts val="0"/>
              </a:spcAft>
              <a:buSzPts val="2600"/>
              <a:buChar char=" "/>
            </a:pPr>
            <a:r>
              <a:rPr lang="en-US" sz="2600"/>
              <a:t>It is calculated using the following formula:</a:t>
            </a:r>
            <a:endParaRPr sz="2600"/>
          </a:p>
        </p:txBody>
      </p:sp>
      <p:pic>
        <p:nvPicPr>
          <p:cNvPr descr="https://www.simplilearn.com/ice9/free_resources_article_thumb/valuep.JPG" id="164" name="Google Shape;164;p10"/>
          <p:cNvPicPr preferRelativeResize="0"/>
          <p:nvPr/>
        </p:nvPicPr>
        <p:blipFill rotWithShape="1">
          <a:blip r:embed="rId3">
            <a:alphaModFix/>
          </a:blip>
          <a:srcRect b="0" l="0" r="0" t="0"/>
          <a:stretch/>
        </p:blipFill>
        <p:spPr>
          <a:xfrm>
            <a:off x="3870928" y="3767342"/>
            <a:ext cx="3910585" cy="100455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1066800" y="906751"/>
            <a:ext cx="10058400" cy="836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Information Gain</a:t>
            </a:r>
            <a:endParaRPr/>
          </a:p>
        </p:txBody>
      </p:sp>
      <p:sp>
        <p:nvSpPr>
          <p:cNvPr id="170" name="Google Shape;170;p11"/>
          <p:cNvSpPr txBox="1"/>
          <p:nvPr>
            <p:ph idx="1" type="body"/>
          </p:nvPr>
        </p:nvSpPr>
        <p:spPr>
          <a:xfrm>
            <a:off x="1097275" y="1742850"/>
            <a:ext cx="10544400" cy="1240200"/>
          </a:xfrm>
          <a:prstGeom prst="rect">
            <a:avLst/>
          </a:prstGeom>
          <a:noFill/>
          <a:ln>
            <a:noFill/>
          </a:ln>
        </p:spPr>
        <p:txBody>
          <a:bodyPr anchorCtr="0" anchor="t" bIns="45700" lIns="0" spcFirstLastPara="1" rIns="0" wrap="square" tIns="45700">
            <a:noAutofit/>
          </a:bodyPr>
          <a:lstStyle/>
          <a:p>
            <a:pPr indent="0" lvl="0" marL="0" rtl="0" algn="l">
              <a:lnSpc>
                <a:spcPct val="70000"/>
              </a:lnSpc>
              <a:spcBef>
                <a:spcPts val="0"/>
              </a:spcBef>
              <a:spcAft>
                <a:spcPts val="0"/>
              </a:spcAft>
              <a:buNone/>
            </a:pPr>
            <a:r>
              <a:rPr lang="en-US" sz="2480"/>
              <a:t>The information gain measures the decrease in entropy after the data set is split.</a:t>
            </a:r>
            <a:endParaRPr sz="2480"/>
          </a:p>
          <a:p>
            <a:pPr indent="-121919" lvl="0" marL="91440" rtl="0" algn="l">
              <a:lnSpc>
                <a:spcPct val="70000"/>
              </a:lnSpc>
              <a:spcBef>
                <a:spcPts val="1400"/>
              </a:spcBef>
              <a:spcAft>
                <a:spcPts val="0"/>
              </a:spcAft>
              <a:buSzPts val="2480"/>
              <a:buChar char=" "/>
            </a:pPr>
            <a:r>
              <a:rPr lang="en-US" sz="2480"/>
              <a:t>It is calculated as follows:</a:t>
            </a:r>
            <a:endParaRPr sz="2480"/>
          </a:p>
          <a:p>
            <a:pPr indent="-121919" lvl="0" marL="91440" rtl="0" algn="l">
              <a:lnSpc>
                <a:spcPct val="70000"/>
              </a:lnSpc>
              <a:spcBef>
                <a:spcPts val="1400"/>
              </a:spcBef>
              <a:spcAft>
                <a:spcPts val="0"/>
              </a:spcAft>
              <a:buSzPts val="2480"/>
              <a:buChar char=" "/>
            </a:pPr>
            <a:r>
              <a:rPr lang="en-US" sz="2480"/>
              <a:t>IG( Y, X) = Entropy (Y) - Entropy ( Y | X)</a:t>
            </a:r>
            <a:endParaRPr sz="2480"/>
          </a:p>
        </p:txBody>
      </p:sp>
      <p:sp>
        <p:nvSpPr>
          <p:cNvPr id="171" name="Google Shape;171;p11"/>
          <p:cNvSpPr txBox="1"/>
          <p:nvPr>
            <p:ph type="title"/>
          </p:nvPr>
        </p:nvSpPr>
        <p:spPr>
          <a:xfrm>
            <a:off x="1066800" y="3737026"/>
            <a:ext cx="10058400" cy="10182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Gini Index:</a:t>
            </a:r>
            <a:endParaRPr/>
          </a:p>
        </p:txBody>
      </p:sp>
      <p:sp>
        <p:nvSpPr>
          <p:cNvPr id="172" name="Google Shape;172;p11"/>
          <p:cNvSpPr txBox="1"/>
          <p:nvPr>
            <p:ph idx="1" type="body"/>
          </p:nvPr>
        </p:nvSpPr>
        <p:spPr>
          <a:xfrm>
            <a:off x="1097275" y="4755228"/>
            <a:ext cx="10058400" cy="1492500"/>
          </a:xfrm>
          <a:prstGeom prst="rect">
            <a:avLst/>
          </a:prstGeom>
          <a:noFill/>
          <a:ln>
            <a:noFill/>
          </a:ln>
        </p:spPr>
        <p:txBody>
          <a:bodyPr anchorCtr="0" anchor="t" bIns="45700" lIns="0" spcFirstLastPara="1" rIns="0" wrap="square" tIns="45700">
            <a:normAutofit/>
          </a:bodyPr>
          <a:lstStyle/>
          <a:p>
            <a:pPr indent="-123190" lvl="0" marL="91440" rtl="0" algn="l">
              <a:lnSpc>
                <a:spcPct val="90000"/>
              </a:lnSpc>
              <a:spcBef>
                <a:spcPts val="0"/>
              </a:spcBef>
              <a:spcAft>
                <a:spcPts val="0"/>
              </a:spcAft>
              <a:buSzPts val="2500"/>
              <a:buChar char=" "/>
            </a:pPr>
            <a:r>
              <a:rPr lang="en-US" sz="2500"/>
              <a:t>The Gini Index is used to determine the correct variable for splitting nodes. It measures how often a randomly chosen variable would be incorrectly identified.</a:t>
            </a:r>
            <a:endParaRPr sz="2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Decision Tree Algorithm Work</a:t>
            </a:r>
            <a:endParaRPr/>
          </a:p>
        </p:txBody>
      </p:sp>
      <p:pic>
        <p:nvPicPr>
          <p:cNvPr id="178" name="Google Shape;178;p13"/>
          <p:cNvPicPr preferRelativeResize="0"/>
          <p:nvPr>
            <p:ph idx="1" type="body"/>
          </p:nvPr>
        </p:nvPicPr>
        <p:blipFill rotWithShape="1">
          <a:blip r:embed="rId3">
            <a:alphaModFix/>
          </a:blip>
          <a:srcRect b="0" l="0" r="0" t="0"/>
          <a:stretch/>
        </p:blipFill>
        <p:spPr>
          <a:xfrm>
            <a:off x="1097275" y="1737350"/>
            <a:ext cx="4262400" cy="1355100"/>
          </a:xfrm>
          <a:prstGeom prst="rect">
            <a:avLst/>
          </a:prstGeom>
          <a:noFill/>
          <a:ln>
            <a:noFill/>
          </a:ln>
        </p:spPr>
      </p:pic>
      <p:pic>
        <p:nvPicPr>
          <p:cNvPr id="179" name="Google Shape;179;p13"/>
          <p:cNvPicPr preferRelativeResize="0"/>
          <p:nvPr>
            <p:ph idx="1" type="body"/>
          </p:nvPr>
        </p:nvPicPr>
        <p:blipFill rotWithShape="1">
          <a:blip r:embed="rId4">
            <a:alphaModFix/>
          </a:blip>
          <a:srcRect b="0" l="0" r="0" t="0"/>
          <a:stretch/>
        </p:blipFill>
        <p:spPr>
          <a:xfrm>
            <a:off x="6151650" y="1737350"/>
            <a:ext cx="5173500" cy="3890400"/>
          </a:xfrm>
          <a:prstGeom prst="rect">
            <a:avLst/>
          </a:prstGeom>
          <a:noFill/>
          <a:ln>
            <a:noFill/>
          </a:ln>
        </p:spPr>
      </p:pic>
      <p:sp>
        <p:nvSpPr>
          <p:cNvPr id="180" name="Google Shape;180;p13"/>
          <p:cNvSpPr txBox="1"/>
          <p:nvPr/>
        </p:nvSpPr>
        <p:spPr>
          <a:xfrm>
            <a:off x="1097275" y="3092450"/>
            <a:ext cx="5054400" cy="2913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2300">
                <a:solidFill>
                  <a:schemeClr val="dk1"/>
                </a:solidFill>
                <a:latin typeface="Calibri"/>
                <a:ea typeface="Calibri"/>
                <a:cs typeface="Calibri"/>
                <a:sym typeface="Calibri"/>
              </a:rPr>
              <a:t>We have to determine which features split the data so that the information gain is the highest. We can do that by splitting the data using each feature &amp; checking the information gain that we obtain from them. </a:t>
            </a:r>
            <a:endParaRPr sz="2300">
              <a:solidFill>
                <a:schemeClr val="dk1"/>
              </a:solidFill>
              <a:latin typeface="Calibri"/>
              <a:ea typeface="Calibri"/>
              <a:cs typeface="Calibri"/>
              <a:sym typeface="Calibri"/>
            </a:endParaRPr>
          </a:p>
          <a:p>
            <a:pPr indent="0" lvl="0" marL="0" rtl="0" algn="l">
              <a:lnSpc>
                <a:spcPct val="90000"/>
              </a:lnSpc>
              <a:spcBef>
                <a:spcPts val="1400"/>
              </a:spcBef>
              <a:spcAft>
                <a:spcPts val="0"/>
              </a:spcAft>
              <a:buNone/>
            </a:pPr>
            <a:r>
              <a:rPr lang="en-US" sz="2300">
                <a:solidFill>
                  <a:schemeClr val="dk1"/>
                </a:solidFill>
                <a:latin typeface="Calibri"/>
                <a:ea typeface="Calibri"/>
                <a:cs typeface="Calibri"/>
                <a:sym typeface="Calibri"/>
              </a:rPr>
              <a:t>The feature that returns the highest gain will be used for the 1st split</a:t>
            </a:r>
            <a:endParaRPr sz="23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txBox="1"/>
          <p:nvPr>
            <p:ph type="title"/>
          </p:nvPr>
        </p:nvSpPr>
        <p:spPr>
          <a:xfrm>
            <a:off x="1097280" y="32638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320"/>
              <a:buFont typeface="Calibri"/>
              <a:buNone/>
            </a:pPr>
            <a:r>
              <a:rPr lang="en-US" sz="3620"/>
              <a:t>We’ll use the information gain method to determine which variable yields the maximum gain, which can also be used as the root node</a:t>
            </a:r>
            <a:endParaRPr sz="3620"/>
          </a:p>
        </p:txBody>
      </p:sp>
      <p:pic>
        <p:nvPicPr>
          <p:cNvPr id="186" name="Google Shape;186;p16"/>
          <p:cNvPicPr preferRelativeResize="0"/>
          <p:nvPr>
            <p:ph idx="1" type="body"/>
          </p:nvPr>
        </p:nvPicPr>
        <p:blipFill rotWithShape="1">
          <a:blip r:embed="rId3">
            <a:alphaModFix/>
          </a:blip>
          <a:srcRect b="0" l="0" r="0" t="0"/>
          <a:stretch/>
        </p:blipFill>
        <p:spPr>
          <a:xfrm>
            <a:off x="4596450" y="1959521"/>
            <a:ext cx="3060060" cy="403371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7"/>
          <p:cNvSpPr txBox="1"/>
          <p:nvPr>
            <p:ph idx="1" type="body"/>
          </p:nvPr>
        </p:nvSpPr>
        <p:spPr>
          <a:xfrm>
            <a:off x="702000" y="1726275"/>
            <a:ext cx="5524500" cy="4557900"/>
          </a:xfrm>
          <a:prstGeom prst="rect">
            <a:avLst/>
          </a:prstGeom>
          <a:noFill/>
          <a:ln>
            <a:noFill/>
          </a:ln>
        </p:spPr>
        <p:txBody>
          <a:bodyPr anchorCtr="0" anchor="t" bIns="45700" lIns="0" spcFirstLastPara="1" rIns="0" wrap="square" tIns="45700">
            <a:noAutofit/>
          </a:bodyPr>
          <a:lstStyle/>
          <a:p>
            <a:pPr indent="-135890" lvl="0" marL="91440" rtl="0" algn="l">
              <a:lnSpc>
                <a:spcPct val="90000"/>
              </a:lnSpc>
              <a:spcBef>
                <a:spcPts val="0"/>
              </a:spcBef>
              <a:spcAft>
                <a:spcPts val="0"/>
              </a:spcAft>
              <a:buSzPts val="2700"/>
              <a:buChar char=" "/>
            </a:pPr>
            <a:r>
              <a:rPr lang="en-US" sz="2700"/>
              <a:t>Suppose ”Color == Yellow” results in the maximum information gain, so that is what we will use for our first split at the root node</a:t>
            </a:r>
            <a:endParaRPr sz="2700"/>
          </a:p>
          <a:p>
            <a:pPr indent="-135890" lvl="0" marL="91440" rtl="0" algn="l">
              <a:lnSpc>
                <a:spcPct val="90000"/>
              </a:lnSpc>
              <a:spcBef>
                <a:spcPts val="0"/>
              </a:spcBef>
              <a:spcAft>
                <a:spcPts val="0"/>
              </a:spcAft>
              <a:buSzPts val="2700"/>
              <a:buChar char=" "/>
            </a:pPr>
            <a:r>
              <a:t/>
            </a:r>
            <a:endParaRPr sz="2700"/>
          </a:p>
          <a:p>
            <a:pPr indent="-387350" lvl="0" marL="457200" rtl="0" algn="l">
              <a:spcBef>
                <a:spcPts val="0"/>
              </a:spcBef>
              <a:spcAft>
                <a:spcPts val="0"/>
              </a:spcAft>
              <a:buSzPts val="2500"/>
              <a:buChar char=" "/>
            </a:pPr>
            <a:r>
              <a:rPr lang="en-US" sz="2700"/>
              <a:t>The entropy after splitting should decrease considerably. </a:t>
            </a:r>
            <a:endParaRPr sz="2700"/>
          </a:p>
          <a:p>
            <a:pPr indent="-400050" lvl="0" marL="457200" rtl="0" algn="l">
              <a:spcBef>
                <a:spcPts val="0"/>
              </a:spcBef>
              <a:spcAft>
                <a:spcPts val="0"/>
              </a:spcAft>
              <a:buSzPts val="2700"/>
              <a:buChar char=" "/>
            </a:pPr>
            <a:r>
              <a:t/>
            </a:r>
            <a:endParaRPr sz="2700"/>
          </a:p>
          <a:p>
            <a:pPr indent="-387350" lvl="0" marL="457200" rtl="0" algn="l">
              <a:spcBef>
                <a:spcPts val="0"/>
              </a:spcBef>
              <a:spcAft>
                <a:spcPts val="0"/>
              </a:spcAft>
              <a:buSzPts val="2500"/>
              <a:buChar char=" "/>
            </a:pPr>
            <a:r>
              <a:rPr lang="en-US" sz="2700"/>
              <a:t>However, we still need to split the child nodes at both the branches to attain an entropy value equal to zero</a:t>
            </a:r>
            <a:endParaRPr sz="2700"/>
          </a:p>
        </p:txBody>
      </p:sp>
      <p:pic>
        <p:nvPicPr>
          <p:cNvPr id="192" name="Google Shape;192;p17"/>
          <p:cNvPicPr preferRelativeResize="0"/>
          <p:nvPr/>
        </p:nvPicPr>
        <p:blipFill rotWithShape="1">
          <a:blip r:embed="rId3">
            <a:alphaModFix/>
          </a:blip>
          <a:srcRect b="0" l="0" r="0" t="0"/>
          <a:stretch/>
        </p:blipFill>
        <p:spPr>
          <a:xfrm>
            <a:off x="6391599" y="1721326"/>
            <a:ext cx="5800400" cy="3415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txBox="1"/>
          <p:nvPr>
            <p:ph type="title"/>
          </p:nvPr>
        </p:nvSpPr>
        <p:spPr>
          <a:xfrm>
            <a:off x="1097293" y="687878"/>
            <a:ext cx="10058400" cy="1450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sz="3600"/>
              <a:t>We will split both the nodes using ‘height’ variable and </a:t>
            </a:r>
            <a:br>
              <a:rPr lang="en-US" sz="3600"/>
            </a:br>
            <a:r>
              <a:rPr lang="en-US" sz="3600"/>
              <a:t>height &gt; 10 and height &lt; 10 as our conditions.</a:t>
            </a:r>
            <a:br>
              <a:rPr lang="en-US"/>
            </a:br>
            <a:endParaRPr/>
          </a:p>
        </p:txBody>
      </p:sp>
      <p:pic>
        <p:nvPicPr>
          <p:cNvPr descr="slitting." id="198" name="Google Shape;198;p19"/>
          <p:cNvPicPr preferRelativeResize="0"/>
          <p:nvPr/>
        </p:nvPicPr>
        <p:blipFill rotWithShape="1">
          <a:blip r:embed="rId3">
            <a:alphaModFix/>
          </a:blip>
          <a:srcRect b="0" l="0" r="0" t="0"/>
          <a:stretch/>
        </p:blipFill>
        <p:spPr>
          <a:xfrm>
            <a:off x="3154088" y="1777150"/>
            <a:ext cx="5944825" cy="4532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0"/>
          <p:cNvPicPr preferRelativeResize="0"/>
          <p:nvPr/>
        </p:nvPicPr>
        <p:blipFill rotWithShape="1">
          <a:blip r:embed="rId3">
            <a:alphaModFix/>
          </a:blip>
          <a:srcRect b="0" l="0" r="0" t="0"/>
          <a:stretch/>
        </p:blipFill>
        <p:spPr>
          <a:xfrm>
            <a:off x="5463299" y="1014480"/>
            <a:ext cx="5505096" cy="4829032"/>
          </a:xfrm>
          <a:prstGeom prst="rect">
            <a:avLst/>
          </a:prstGeom>
          <a:noFill/>
          <a:ln>
            <a:noFill/>
          </a:ln>
        </p:spPr>
      </p:pic>
      <p:sp>
        <p:nvSpPr>
          <p:cNvPr id="204" name="Google Shape;204;p20"/>
          <p:cNvSpPr txBox="1"/>
          <p:nvPr/>
        </p:nvSpPr>
        <p:spPr>
          <a:xfrm>
            <a:off x="1175350" y="1014475"/>
            <a:ext cx="3845400" cy="410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900" u="none" cap="none" strike="noStrike">
                <a:solidFill>
                  <a:schemeClr val="dk1"/>
                </a:solidFill>
                <a:latin typeface="Calibri"/>
                <a:ea typeface="Calibri"/>
                <a:cs typeface="Calibri"/>
                <a:sym typeface="Calibri"/>
              </a:rPr>
              <a:t>The decision tree can now predict all the classes of animals present in the data set. Now, it’s time to build a prediction model using the decision tree in Python.</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descr="decision tree example for heart attack prevention" id="209" name="Google Shape;209;p21"/>
          <p:cNvPicPr preferRelativeResize="0"/>
          <p:nvPr/>
        </p:nvPicPr>
        <p:blipFill rotWithShape="1">
          <a:blip r:embed="rId3">
            <a:alphaModFix/>
          </a:blip>
          <a:srcRect b="0" l="0" r="0" t="0"/>
          <a:stretch/>
        </p:blipFill>
        <p:spPr>
          <a:xfrm>
            <a:off x="588700" y="0"/>
            <a:ext cx="10895427" cy="68579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2"/>
          <p:cNvSpPr txBox="1"/>
          <p:nvPr>
            <p:ph type="title"/>
          </p:nvPr>
        </p:nvSpPr>
        <p:spPr>
          <a:xfrm>
            <a:off x="0" y="0"/>
            <a:ext cx="12192000" cy="17373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b="1" lang="en-US">
                <a:solidFill>
                  <a:schemeClr val="lt1"/>
                </a:solidFill>
                <a:latin typeface="Calibri"/>
                <a:ea typeface="Calibri"/>
                <a:cs typeface="Calibri"/>
                <a:sym typeface="Calibri"/>
              </a:rPr>
              <a:t>How Does the Decision Tree Algorithm Work?</a:t>
            </a:r>
            <a:endParaRPr/>
          </a:p>
        </p:txBody>
      </p:sp>
      <p:sp>
        <p:nvSpPr>
          <p:cNvPr id="216" name="Google Shape;216;p22"/>
          <p:cNvSpPr txBox="1"/>
          <p:nvPr>
            <p:ph idx="1" type="body"/>
          </p:nvPr>
        </p:nvSpPr>
        <p:spPr>
          <a:xfrm>
            <a:off x="1097275" y="1845724"/>
            <a:ext cx="10058400" cy="4365600"/>
          </a:xfrm>
          <a:prstGeom prst="rect">
            <a:avLst/>
          </a:prstGeom>
          <a:solidFill>
            <a:schemeClr val="lt1"/>
          </a:solidFill>
          <a:ln cap="flat" cmpd="sng" w="15875">
            <a:solidFill>
              <a:schemeClr val="accent2"/>
            </a:solidFill>
            <a:prstDash val="solid"/>
            <a:round/>
            <a:headEnd len="sm" w="sm" type="none"/>
            <a:tailEnd len="sm" w="sm" type="none"/>
          </a:ln>
        </p:spPr>
        <p:txBody>
          <a:bodyPr anchorCtr="0" anchor="t" bIns="45700" lIns="0" spcFirstLastPara="1" rIns="0" wrap="square" tIns="45700">
            <a:noAutofit/>
          </a:bodyPr>
          <a:lstStyle/>
          <a:p>
            <a:pPr indent="-146050" lvl="0" marL="91440" rtl="0" algn="l">
              <a:lnSpc>
                <a:spcPct val="70000"/>
              </a:lnSpc>
              <a:spcBef>
                <a:spcPts val="0"/>
              </a:spcBef>
              <a:spcAft>
                <a:spcPts val="0"/>
              </a:spcAft>
              <a:buSzPts val="2300"/>
              <a:buChar char=" "/>
            </a:pPr>
            <a:r>
              <a:rPr b="1" lang="en-US" sz="2300">
                <a:solidFill>
                  <a:schemeClr val="dk1"/>
                </a:solidFill>
                <a:latin typeface="Calibri"/>
                <a:ea typeface="Calibri"/>
                <a:cs typeface="Calibri"/>
                <a:sym typeface="Calibri"/>
              </a:rPr>
              <a:t>YouTube video </a:t>
            </a:r>
            <a:r>
              <a:rPr lang="en-US" sz="2300">
                <a:solidFill>
                  <a:schemeClr val="dk1"/>
                </a:solidFill>
                <a:latin typeface="Calibri"/>
                <a:ea typeface="Calibri"/>
                <a:cs typeface="Calibri"/>
                <a:sym typeface="Calibri"/>
              </a:rPr>
              <a:t>:https://www.youtube.com/watch?v=LDRbO9a6XPU</a:t>
            </a:r>
            <a:endParaRPr sz="2300"/>
          </a:p>
          <a:p>
            <a:pPr indent="0" lvl="0" marL="91440" rtl="0" algn="l">
              <a:lnSpc>
                <a:spcPct val="70000"/>
              </a:lnSpc>
              <a:spcBef>
                <a:spcPts val="1400"/>
              </a:spcBef>
              <a:spcAft>
                <a:spcPts val="0"/>
              </a:spcAft>
              <a:buSzPts val="2000"/>
              <a:buNone/>
            </a:pPr>
            <a:r>
              <a:t/>
            </a:r>
            <a:endParaRPr sz="2500"/>
          </a:p>
          <a:p>
            <a:pPr indent="-158750" lvl="0" marL="91440" rtl="0" algn="l">
              <a:lnSpc>
                <a:spcPct val="70000"/>
              </a:lnSpc>
              <a:spcBef>
                <a:spcPts val="1400"/>
              </a:spcBef>
              <a:spcAft>
                <a:spcPts val="0"/>
              </a:spcAft>
              <a:buSzPts val="2500"/>
              <a:buChar char=" "/>
            </a:pPr>
            <a:r>
              <a:rPr lang="en-US" sz="2500">
                <a:solidFill>
                  <a:schemeClr val="dk1"/>
                </a:solidFill>
                <a:latin typeface="Calibri"/>
                <a:ea typeface="Calibri"/>
                <a:cs typeface="Calibri"/>
                <a:sym typeface="Calibri"/>
              </a:rPr>
              <a:t>The basic idea behind any decision tree algorithm is as follows:</a:t>
            </a:r>
            <a:endParaRPr sz="2500"/>
          </a:p>
          <a:p>
            <a:pPr indent="-158750" lvl="0" marL="91440" rtl="0" algn="l">
              <a:lnSpc>
                <a:spcPct val="70000"/>
              </a:lnSpc>
              <a:spcBef>
                <a:spcPts val="1400"/>
              </a:spcBef>
              <a:spcAft>
                <a:spcPts val="0"/>
              </a:spcAft>
              <a:buSzPts val="2500"/>
              <a:buChar char=" "/>
            </a:pPr>
            <a:r>
              <a:rPr lang="en-US" sz="2500">
                <a:solidFill>
                  <a:schemeClr val="dk1"/>
                </a:solidFill>
                <a:latin typeface="Calibri"/>
                <a:ea typeface="Calibri"/>
                <a:cs typeface="Calibri"/>
                <a:sym typeface="Calibri"/>
              </a:rPr>
              <a:t>Select the best attribute using </a:t>
            </a:r>
            <a:r>
              <a:rPr b="1" lang="en-US" sz="2500">
                <a:solidFill>
                  <a:schemeClr val="dk1"/>
                </a:solidFill>
              </a:rPr>
              <a:t>Attribute Selection Measures (ASM)</a:t>
            </a:r>
            <a:r>
              <a:rPr lang="en-US" sz="2500">
                <a:solidFill>
                  <a:schemeClr val="dk1"/>
                </a:solidFill>
                <a:latin typeface="Calibri"/>
                <a:ea typeface="Calibri"/>
                <a:cs typeface="Calibri"/>
                <a:sym typeface="Calibri"/>
              </a:rPr>
              <a:t> to split the records.</a:t>
            </a:r>
            <a:endParaRPr sz="2500"/>
          </a:p>
          <a:p>
            <a:pPr indent="-158750" lvl="0" marL="91440" rtl="0" algn="l">
              <a:lnSpc>
                <a:spcPct val="70000"/>
              </a:lnSpc>
              <a:spcBef>
                <a:spcPts val="1400"/>
              </a:spcBef>
              <a:spcAft>
                <a:spcPts val="0"/>
              </a:spcAft>
              <a:buSzPts val="2500"/>
              <a:buChar char=" "/>
            </a:pPr>
            <a:r>
              <a:rPr lang="en-US" sz="2500">
                <a:solidFill>
                  <a:schemeClr val="dk1"/>
                </a:solidFill>
                <a:latin typeface="Calibri"/>
                <a:ea typeface="Calibri"/>
                <a:cs typeface="Calibri"/>
                <a:sym typeface="Calibri"/>
              </a:rPr>
              <a:t>Make that attribute a decision node and breaks the dataset into smaller subsets.</a:t>
            </a:r>
            <a:endParaRPr sz="2500"/>
          </a:p>
          <a:p>
            <a:pPr indent="-158750" lvl="0" marL="91440" rtl="0" algn="l">
              <a:lnSpc>
                <a:spcPct val="70000"/>
              </a:lnSpc>
              <a:spcBef>
                <a:spcPts val="1400"/>
              </a:spcBef>
              <a:spcAft>
                <a:spcPts val="0"/>
              </a:spcAft>
              <a:buSzPts val="2500"/>
              <a:buChar char=" "/>
            </a:pPr>
            <a:r>
              <a:rPr lang="en-US" sz="2500">
                <a:solidFill>
                  <a:schemeClr val="dk1"/>
                </a:solidFill>
                <a:latin typeface="Calibri"/>
                <a:ea typeface="Calibri"/>
                <a:cs typeface="Calibri"/>
                <a:sym typeface="Calibri"/>
              </a:rPr>
              <a:t>Start tree building by repeating this process recursively for each child until one of the conditions will match:</a:t>
            </a:r>
            <a:endParaRPr sz="2500"/>
          </a:p>
          <a:p>
            <a:pPr indent="-223201" lvl="1" marL="384048" rtl="0" algn="l">
              <a:lnSpc>
                <a:spcPct val="70000"/>
              </a:lnSpc>
              <a:spcBef>
                <a:spcPts val="400"/>
              </a:spcBef>
              <a:spcAft>
                <a:spcPts val="0"/>
              </a:spcAft>
              <a:buSzPts val="2300"/>
              <a:buChar char="◦"/>
            </a:pPr>
            <a:r>
              <a:rPr b="1" lang="en-US" sz="2300">
                <a:solidFill>
                  <a:schemeClr val="dk1"/>
                </a:solidFill>
              </a:rPr>
              <a:t>All the tuples belong to the same attribute value.</a:t>
            </a:r>
            <a:endParaRPr b="1" sz="2300"/>
          </a:p>
          <a:p>
            <a:pPr indent="-223201" lvl="1" marL="384048" rtl="0" algn="l">
              <a:lnSpc>
                <a:spcPct val="70000"/>
              </a:lnSpc>
              <a:spcBef>
                <a:spcPts val="600"/>
              </a:spcBef>
              <a:spcAft>
                <a:spcPts val="0"/>
              </a:spcAft>
              <a:buSzPts val="2300"/>
              <a:buChar char="◦"/>
            </a:pPr>
            <a:r>
              <a:rPr b="1" lang="en-US" sz="2300">
                <a:solidFill>
                  <a:schemeClr val="dk1"/>
                </a:solidFill>
              </a:rPr>
              <a:t>There are no more remaining attributes.</a:t>
            </a:r>
            <a:endParaRPr b="1" sz="2300"/>
          </a:p>
          <a:p>
            <a:pPr indent="-223201" lvl="1" marL="384048" rtl="0" algn="l">
              <a:lnSpc>
                <a:spcPct val="70000"/>
              </a:lnSpc>
              <a:spcBef>
                <a:spcPts val="600"/>
              </a:spcBef>
              <a:spcAft>
                <a:spcPts val="0"/>
              </a:spcAft>
              <a:buSzPts val="2300"/>
              <a:buChar char="◦"/>
            </a:pPr>
            <a:r>
              <a:rPr b="1" lang="en-US" sz="2300">
                <a:solidFill>
                  <a:schemeClr val="dk1"/>
                </a:solidFill>
              </a:rPr>
              <a:t>There are no more instances.</a:t>
            </a:r>
            <a:endParaRPr b="1" sz="2300"/>
          </a:p>
          <a:p>
            <a:pPr indent="0" lvl="0" marL="91440" rtl="0" algn="l">
              <a:lnSpc>
                <a:spcPct val="70000"/>
              </a:lnSpc>
              <a:spcBef>
                <a:spcPts val="1600"/>
              </a:spcBef>
              <a:spcAft>
                <a:spcPts val="0"/>
              </a:spcAft>
              <a:buSzPts val="2000"/>
              <a:buNone/>
            </a:pPr>
            <a:r>
              <a:t/>
            </a:r>
            <a:endParaRPr sz="2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3"/>
          <p:cNvPicPr preferRelativeResize="0"/>
          <p:nvPr>
            <p:ph idx="1" type="body"/>
          </p:nvPr>
        </p:nvPicPr>
        <p:blipFill rotWithShape="1">
          <a:blip r:embed="rId3">
            <a:alphaModFix/>
          </a:blip>
          <a:srcRect b="0" l="0" r="0" t="0"/>
          <a:stretch/>
        </p:blipFill>
        <p:spPr>
          <a:xfrm>
            <a:off x="439350" y="908700"/>
            <a:ext cx="11313300" cy="5040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descr="Decision Trees in Machine Learning" id="226" name="Google Shape;226;p24"/>
          <p:cNvPicPr preferRelativeResize="0"/>
          <p:nvPr/>
        </p:nvPicPr>
        <p:blipFill rotWithShape="1">
          <a:blip r:embed="rId3">
            <a:alphaModFix/>
          </a:blip>
          <a:srcRect b="71388" l="3235" r="0" t="0"/>
          <a:stretch/>
        </p:blipFill>
        <p:spPr>
          <a:xfrm>
            <a:off x="1540041" y="0"/>
            <a:ext cx="9341400" cy="6406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Decision Trees in Machine Learning" id="231" name="Google Shape;231;p25"/>
          <p:cNvPicPr preferRelativeResize="0"/>
          <p:nvPr/>
        </p:nvPicPr>
        <p:blipFill rotWithShape="1">
          <a:blip r:embed="rId3">
            <a:alphaModFix/>
          </a:blip>
          <a:srcRect b="41771" l="2692" r="1833" t="29672"/>
          <a:stretch/>
        </p:blipFill>
        <p:spPr>
          <a:xfrm>
            <a:off x="1144950" y="0"/>
            <a:ext cx="9885975" cy="685799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Decision Trees in Machine Learning" id="236" name="Google Shape;236;p26"/>
          <p:cNvPicPr preferRelativeResize="0"/>
          <p:nvPr/>
        </p:nvPicPr>
        <p:blipFill rotWithShape="1">
          <a:blip r:embed="rId3">
            <a:alphaModFix/>
          </a:blip>
          <a:srcRect b="23852" l="1312" r="0" t="58153"/>
          <a:stretch/>
        </p:blipFill>
        <p:spPr>
          <a:xfrm>
            <a:off x="0" y="539982"/>
            <a:ext cx="12192001" cy="515523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descr="Decision Trees in Machine Learning" id="241" name="Google Shape;241;p27"/>
          <p:cNvPicPr preferRelativeResize="0"/>
          <p:nvPr/>
        </p:nvPicPr>
        <p:blipFill rotWithShape="1">
          <a:blip r:embed="rId3">
            <a:alphaModFix/>
          </a:blip>
          <a:srcRect b="0" l="966" r="2368" t="77481"/>
          <a:stretch/>
        </p:blipFill>
        <p:spPr>
          <a:xfrm>
            <a:off x="0" y="0"/>
            <a:ext cx="12192001" cy="658758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Logistic Regression in Machine Learning</a:t>
            </a:r>
            <a:endParaRPr/>
          </a:p>
        </p:txBody>
      </p:sp>
      <p:sp>
        <p:nvSpPr>
          <p:cNvPr id="247" name="Google Shape;247;p28"/>
          <p:cNvSpPr txBox="1"/>
          <p:nvPr>
            <p:ph idx="1" type="body"/>
          </p:nvPr>
        </p:nvSpPr>
        <p:spPr>
          <a:xfrm>
            <a:off x="234450" y="1882342"/>
            <a:ext cx="11723100" cy="4023300"/>
          </a:xfrm>
          <a:prstGeom prst="rect">
            <a:avLst/>
          </a:prstGeom>
          <a:noFill/>
          <a:ln>
            <a:noFill/>
          </a:ln>
        </p:spPr>
        <p:txBody>
          <a:bodyPr anchorCtr="0" anchor="t" bIns="45700" lIns="0" spcFirstLastPara="1" rIns="0" wrap="square" tIns="45700">
            <a:noAutofit/>
          </a:bodyPr>
          <a:lstStyle/>
          <a:p>
            <a:pPr indent="-123190" lvl="0" marL="91440" rtl="0" algn="l">
              <a:lnSpc>
                <a:spcPct val="90000"/>
              </a:lnSpc>
              <a:spcBef>
                <a:spcPts val="0"/>
              </a:spcBef>
              <a:spcAft>
                <a:spcPts val="0"/>
              </a:spcAft>
              <a:buSzPts val="2500"/>
              <a:buChar char=" "/>
            </a:pPr>
            <a:r>
              <a:rPr lang="en-US" sz="2500"/>
              <a:t>Supervised Learning technique. It is used for predicting the categorical dependent variable using a given set of independent variables.</a:t>
            </a:r>
            <a:endParaRPr sz="2500"/>
          </a:p>
          <a:p>
            <a:pPr indent="-123190" lvl="0" marL="91440" rtl="0" algn="l">
              <a:lnSpc>
                <a:spcPct val="90000"/>
              </a:lnSpc>
              <a:spcBef>
                <a:spcPts val="1400"/>
              </a:spcBef>
              <a:spcAft>
                <a:spcPts val="0"/>
              </a:spcAft>
              <a:buSzPts val="2500"/>
              <a:buChar char=" "/>
            </a:pPr>
            <a:r>
              <a:rPr lang="en-US" sz="2500"/>
              <a:t>Logistic regression predicts the output of a categorical dependent variable. Therefore the outcome must be a categorical or discrete value. It can be either Yes or No, 0 or 1, true or False, etc. but instead of giving the exact value as 0 and 1, </a:t>
            </a:r>
            <a:r>
              <a:rPr b="1" lang="en-US" sz="2500"/>
              <a:t>it gives the probabilistic values which lie between 0 and 1</a:t>
            </a:r>
            <a:r>
              <a:rPr lang="en-US" sz="2500"/>
              <a:t>.</a:t>
            </a:r>
            <a:endParaRPr sz="2500"/>
          </a:p>
          <a:p>
            <a:pPr indent="-123190" lvl="0" marL="91440" rtl="0" algn="l">
              <a:lnSpc>
                <a:spcPct val="90000"/>
              </a:lnSpc>
              <a:spcBef>
                <a:spcPts val="1400"/>
              </a:spcBef>
              <a:spcAft>
                <a:spcPts val="0"/>
              </a:spcAft>
              <a:buSzPts val="2500"/>
              <a:buChar char=" "/>
            </a:pPr>
            <a:r>
              <a:rPr lang="en-US" sz="2500"/>
              <a:t>Logistic Regression is much similar to the Linear Regression except that how they are used. Linear Regression is used for solving Regression problems, whereas </a:t>
            </a:r>
            <a:r>
              <a:rPr b="1" lang="en-US" sz="2500"/>
              <a:t>Logistic regression is used for solving the classification problems</a:t>
            </a:r>
            <a:r>
              <a:rPr lang="en-US" sz="2500"/>
              <a:t>.</a:t>
            </a:r>
            <a:endParaRPr sz="2500"/>
          </a:p>
          <a:p>
            <a:pPr indent="-123190" lvl="0" marL="91440" rtl="0" algn="l">
              <a:lnSpc>
                <a:spcPct val="90000"/>
              </a:lnSpc>
              <a:spcBef>
                <a:spcPts val="1400"/>
              </a:spcBef>
              <a:spcAft>
                <a:spcPts val="0"/>
              </a:spcAft>
              <a:buSzPts val="2500"/>
              <a:buChar char=" "/>
            </a:pPr>
            <a:r>
              <a:rPr lang="en-US" sz="2500"/>
              <a:t>In Logistic regression, instead of fitting a regression line, we fit an "S" shaped logistic function, which predicts two maximum values (0 or 1).</a:t>
            </a:r>
            <a:endParaRPr sz="2500"/>
          </a:p>
          <a:p>
            <a:pPr indent="0" lvl="0" marL="91440" rtl="0" algn="l">
              <a:lnSpc>
                <a:spcPct val="90000"/>
              </a:lnSpc>
              <a:spcBef>
                <a:spcPts val="1400"/>
              </a:spcBef>
              <a:spcAft>
                <a:spcPts val="0"/>
              </a:spcAft>
              <a:buSzPts val="2000"/>
              <a:buNone/>
            </a:pPr>
            <a:r>
              <a:t/>
            </a:r>
            <a:endParaRPr sz="2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What is Linear Regression?</a:t>
            </a:r>
            <a:br>
              <a:rPr lang="en-US"/>
            </a:br>
            <a:endParaRPr/>
          </a:p>
        </p:txBody>
      </p:sp>
      <p:sp>
        <p:nvSpPr>
          <p:cNvPr id="253" name="Google Shape;253;p30"/>
          <p:cNvSpPr txBox="1"/>
          <p:nvPr>
            <p:ph idx="1" type="body"/>
          </p:nvPr>
        </p:nvSpPr>
        <p:spPr>
          <a:xfrm>
            <a:off x="347425" y="1809100"/>
            <a:ext cx="11558100" cy="4447200"/>
          </a:xfrm>
          <a:prstGeom prst="rect">
            <a:avLst/>
          </a:prstGeom>
          <a:noFill/>
          <a:ln>
            <a:noFill/>
          </a:ln>
        </p:spPr>
        <p:txBody>
          <a:bodyPr anchorCtr="0" anchor="t" bIns="45700" lIns="0" spcFirstLastPara="1" rIns="0" wrap="square" tIns="45700">
            <a:noAutofit/>
          </a:bodyPr>
          <a:lstStyle/>
          <a:p>
            <a:pPr indent="-110490" lvl="0" marL="91440" rtl="0" algn="l">
              <a:lnSpc>
                <a:spcPct val="90000"/>
              </a:lnSpc>
              <a:spcBef>
                <a:spcPts val="0"/>
              </a:spcBef>
              <a:spcAft>
                <a:spcPts val="0"/>
              </a:spcAft>
              <a:buSzPts val="2300"/>
              <a:buChar char=" "/>
            </a:pPr>
            <a:r>
              <a:rPr lang="en-US" sz="2300"/>
              <a:t>It </a:t>
            </a:r>
            <a:r>
              <a:rPr lang="en-US" sz="2300"/>
              <a:t>is a type of </a:t>
            </a:r>
            <a:r>
              <a:rPr b="1" lang="en-US" sz="2300"/>
              <a:t>statistical analysis</a:t>
            </a:r>
            <a:r>
              <a:rPr lang="en-US" sz="2300"/>
              <a:t> used to predict the relationship between two variables. </a:t>
            </a:r>
            <a:endParaRPr sz="2300"/>
          </a:p>
          <a:p>
            <a:pPr indent="-110490" lvl="0" marL="91440" rtl="0" algn="l">
              <a:lnSpc>
                <a:spcPct val="90000"/>
              </a:lnSpc>
              <a:spcBef>
                <a:spcPts val="1400"/>
              </a:spcBef>
              <a:spcAft>
                <a:spcPts val="0"/>
              </a:spcAft>
              <a:buSzPts val="2300"/>
              <a:buChar char=" "/>
            </a:pPr>
            <a:r>
              <a:rPr lang="en-US" sz="2300"/>
              <a:t>It assumes a </a:t>
            </a:r>
            <a:r>
              <a:rPr b="1" lang="en-US" sz="2300"/>
              <a:t>linear relationship between the independent variable and the dependent variable,</a:t>
            </a:r>
            <a:r>
              <a:rPr lang="en-US" sz="2300"/>
              <a:t> and aims to find the </a:t>
            </a:r>
            <a:r>
              <a:rPr b="1" lang="en-US" sz="2300"/>
              <a:t>best-fitting line that describes the relationship</a:t>
            </a:r>
            <a:r>
              <a:rPr lang="en-US" sz="2300"/>
              <a:t>. </a:t>
            </a:r>
            <a:endParaRPr sz="2300"/>
          </a:p>
          <a:p>
            <a:pPr indent="-110490" lvl="0" marL="91440" rtl="0" algn="l">
              <a:lnSpc>
                <a:spcPct val="90000"/>
              </a:lnSpc>
              <a:spcBef>
                <a:spcPts val="1400"/>
              </a:spcBef>
              <a:spcAft>
                <a:spcPts val="0"/>
              </a:spcAft>
              <a:buSzPts val="2300"/>
              <a:buChar char=" "/>
            </a:pPr>
            <a:r>
              <a:rPr lang="en-US" sz="2300"/>
              <a:t>The line is determined by </a:t>
            </a:r>
            <a:r>
              <a:rPr b="1" lang="en-US" sz="2300"/>
              <a:t>minimizing the sum of the squared differences between the predicted values and the actual values.</a:t>
            </a:r>
            <a:endParaRPr b="1" sz="2300"/>
          </a:p>
          <a:p>
            <a:pPr indent="-15239" lvl="0" marL="91440" rtl="0" algn="l">
              <a:lnSpc>
                <a:spcPct val="90000"/>
              </a:lnSpc>
              <a:spcBef>
                <a:spcPts val="1400"/>
              </a:spcBef>
              <a:spcAft>
                <a:spcPts val="0"/>
              </a:spcAft>
              <a:buSzPts val="800"/>
              <a:buChar char=" "/>
            </a:pPr>
            <a:r>
              <a:t/>
            </a:r>
            <a:endParaRPr sz="800"/>
          </a:p>
          <a:p>
            <a:pPr indent="0" lvl="0" marL="0" rtl="0" algn="l">
              <a:lnSpc>
                <a:spcPct val="90000"/>
              </a:lnSpc>
              <a:spcBef>
                <a:spcPts val="1400"/>
              </a:spcBef>
              <a:spcAft>
                <a:spcPts val="0"/>
              </a:spcAft>
              <a:buNone/>
            </a:pPr>
            <a:r>
              <a:rPr b="1" lang="en-US" sz="2700"/>
              <a:t>Linear regression application:</a:t>
            </a:r>
            <a:endParaRPr b="1" sz="2700"/>
          </a:p>
          <a:p>
            <a:pPr indent="-110490" lvl="0" marL="91440" rtl="0" algn="l">
              <a:spcBef>
                <a:spcPts val="0"/>
              </a:spcBef>
              <a:spcAft>
                <a:spcPts val="0"/>
              </a:spcAft>
              <a:buSzPts val="2300"/>
              <a:buChar char=" "/>
            </a:pPr>
            <a:r>
              <a:rPr lang="en-US" sz="2300"/>
              <a:t>Linear regression is commonly used in many fields, including economics, finance, and social sciences, to analyze and predict trends in data.</a:t>
            </a:r>
            <a:endParaRPr sz="2300"/>
          </a:p>
          <a:p>
            <a:pPr indent="-110490" lvl="0" marL="91440" rtl="0" algn="l">
              <a:spcBef>
                <a:spcPts val="1400"/>
              </a:spcBef>
              <a:spcAft>
                <a:spcPts val="0"/>
              </a:spcAft>
              <a:buSzPts val="2300"/>
              <a:buChar char=" "/>
            </a:pPr>
            <a:r>
              <a:rPr lang="en-US" sz="2300"/>
              <a:t> It can also be extended to multiple linear regression, where there are multiple independent variables, and logistic regression, which is used for binary classification problems.</a:t>
            </a:r>
            <a:endParaRPr sz="2300"/>
          </a:p>
        </p:txBody>
      </p:sp>
      <p:sp>
        <p:nvSpPr>
          <p:cNvPr id="254" name="Google Shape;254;p30"/>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L</a:t>
            </a:r>
            <a:r>
              <a:rPr lang="en-US">
                <a:solidFill>
                  <a:schemeClr val="lt1"/>
                </a:solidFill>
              </a:rPr>
              <a:t>inear</a:t>
            </a:r>
            <a:r>
              <a:rPr lang="en-US">
                <a:solidFill>
                  <a:schemeClr val="lt1"/>
                </a:solidFill>
                <a:latin typeface="Calibri"/>
                <a:ea typeface="Calibri"/>
                <a:cs typeface="Calibri"/>
                <a:sym typeface="Calibri"/>
              </a:rPr>
              <a:t> Regression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Simple Linear Regression</a:t>
            </a:r>
            <a:br>
              <a:rPr lang="en-US"/>
            </a:br>
            <a:endParaRPr/>
          </a:p>
        </p:txBody>
      </p:sp>
      <p:sp>
        <p:nvSpPr>
          <p:cNvPr id="260" name="Google Shape;260;p32"/>
          <p:cNvSpPr txBox="1"/>
          <p:nvPr>
            <p:ph idx="1" type="body"/>
          </p:nvPr>
        </p:nvSpPr>
        <p:spPr>
          <a:xfrm>
            <a:off x="389650" y="1790775"/>
            <a:ext cx="11375100" cy="4611900"/>
          </a:xfrm>
          <a:prstGeom prst="rect">
            <a:avLst/>
          </a:prstGeom>
          <a:noFill/>
          <a:ln>
            <a:noFill/>
          </a:ln>
        </p:spPr>
        <p:txBody>
          <a:bodyPr anchorCtr="0" anchor="t" bIns="45700" lIns="0" spcFirstLastPara="1" rIns="0" wrap="square" tIns="45700">
            <a:noAutofit/>
          </a:bodyPr>
          <a:lstStyle/>
          <a:p>
            <a:pPr indent="-116840" lvl="0" marL="91440" rtl="0" algn="l">
              <a:lnSpc>
                <a:spcPct val="90000"/>
              </a:lnSpc>
              <a:spcBef>
                <a:spcPts val="0"/>
              </a:spcBef>
              <a:spcAft>
                <a:spcPts val="0"/>
              </a:spcAft>
              <a:buSzPts val="2400"/>
              <a:buChar char=" "/>
            </a:pPr>
            <a:r>
              <a:rPr lang="en-US" sz="2400"/>
              <a:t>In a simple linear regression, there is one independent variable and one dependent variable. The model </a:t>
            </a:r>
            <a:r>
              <a:rPr b="1" lang="en-US" sz="2400"/>
              <a:t>estimates the slope and intercept of the line of best fit</a:t>
            </a:r>
            <a:r>
              <a:rPr lang="en-US" sz="2400"/>
              <a:t>, which represents the relationship between the variables. </a:t>
            </a:r>
            <a:endParaRPr sz="2400"/>
          </a:p>
          <a:p>
            <a:pPr indent="-116840" lvl="0" marL="91440" rtl="0" algn="l">
              <a:lnSpc>
                <a:spcPct val="90000"/>
              </a:lnSpc>
              <a:spcBef>
                <a:spcPts val="1400"/>
              </a:spcBef>
              <a:spcAft>
                <a:spcPts val="0"/>
              </a:spcAft>
              <a:buSzPts val="2400"/>
              <a:buChar char=" "/>
            </a:pPr>
            <a:r>
              <a:rPr lang="en-US" sz="2400"/>
              <a:t>The </a:t>
            </a:r>
            <a:r>
              <a:rPr b="1" lang="en-US" sz="2400"/>
              <a:t>slope represents the change in the dependent variable</a:t>
            </a:r>
            <a:r>
              <a:rPr lang="en-US" sz="2400"/>
              <a:t> for each unit change in the independent variable, while the intercept represents the predicted value of the dependent variable when the independent variable is zero.</a:t>
            </a:r>
            <a:endParaRPr sz="2400"/>
          </a:p>
          <a:p>
            <a:pPr indent="-116840" lvl="0" marL="91440" rtl="0" algn="l">
              <a:lnSpc>
                <a:spcPct val="90000"/>
              </a:lnSpc>
              <a:spcBef>
                <a:spcPts val="1400"/>
              </a:spcBef>
              <a:spcAft>
                <a:spcPts val="0"/>
              </a:spcAft>
              <a:buSzPts val="2400"/>
              <a:buChar char=" "/>
            </a:pPr>
            <a:r>
              <a:rPr lang="en-US" sz="2400"/>
              <a:t>Linear regression is a quiet and the simplest statistical regression method used for predictive analysis in machine learning. </a:t>
            </a:r>
            <a:endParaRPr sz="2400"/>
          </a:p>
          <a:p>
            <a:pPr indent="-116840" lvl="0" marL="91440" rtl="0" algn="l">
              <a:lnSpc>
                <a:spcPct val="90000"/>
              </a:lnSpc>
              <a:spcBef>
                <a:spcPts val="1400"/>
              </a:spcBef>
              <a:spcAft>
                <a:spcPts val="0"/>
              </a:spcAft>
              <a:buSzPts val="2400"/>
              <a:buChar char=" "/>
            </a:pPr>
            <a:r>
              <a:rPr lang="en-US" sz="2400"/>
              <a:t>Linear regression shows the linear relationship between the independent(predictor) variable i.e. X-axis and the dependent(output) variable i.e. Y-axis, called linear regression</a:t>
            </a:r>
            <a:r>
              <a:rPr i="1" lang="en-US" sz="2400"/>
              <a:t>. </a:t>
            </a:r>
            <a:r>
              <a:rPr lang="en-US" sz="2400"/>
              <a:t>If there is a single input variable </a:t>
            </a:r>
            <a:r>
              <a:rPr b="1" lang="en-US" sz="2400"/>
              <a:t>X</a:t>
            </a:r>
            <a:r>
              <a:rPr lang="en-US" sz="2400"/>
              <a:t>(independent variable), such linear regression is called </a:t>
            </a:r>
            <a:r>
              <a:rPr b="1" i="1" lang="en-US" sz="2400" u="sng"/>
              <a:t>simple linear regression</a:t>
            </a:r>
            <a:r>
              <a:rPr lang="en-US" sz="2400"/>
              <a:t>.</a:t>
            </a:r>
            <a:endParaRPr sz="2400"/>
          </a:p>
        </p:txBody>
      </p:sp>
      <p:sp>
        <p:nvSpPr>
          <p:cNvPr id="261" name="Google Shape;261;p32"/>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Simple </a:t>
            </a:r>
            <a:r>
              <a:rPr lang="en-US">
                <a:solidFill>
                  <a:schemeClr val="lt1"/>
                </a:solidFill>
                <a:latin typeface="Calibri"/>
                <a:ea typeface="Calibri"/>
                <a:cs typeface="Calibri"/>
                <a:sym typeface="Calibri"/>
              </a:rPr>
              <a:t>L</a:t>
            </a:r>
            <a:r>
              <a:rPr lang="en-US">
                <a:solidFill>
                  <a:schemeClr val="lt1"/>
                </a:solidFill>
              </a:rPr>
              <a:t>inear</a:t>
            </a:r>
            <a:r>
              <a:rPr lang="en-US">
                <a:solidFill>
                  <a:schemeClr val="lt1"/>
                </a:solidFill>
                <a:latin typeface="Calibri"/>
                <a:ea typeface="Calibri"/>
                <a:cs typeface="Calibri"/>
                <a:sym typeface="Calibri"/>
              </a:rPr>
              <a:t> Regression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idx="1" type="body"/>
          </p:nvPr>
        </p:nvSpPr>
        <p:spPr>
          <a:xfrm>
            <a:off x="73269" y="1786789"/>
            <a:ext cx="7918200" cy="4506000"/>
          </a:xfrm>
          <a:prstGeom prst="rect">
            <a:avLst/>
          </a:prstGeom>
          <a:noFill/>
          <a:ln>
            <a:noFill/>
          </a:ln>
        </p:spPr>
        <p:txBody>
          <a:bodyPr anchorCtr="0" anchor="t" bIns="45700" lIns="0" spcFirstLastPara="1" rIns="0" wrap="square" tIns="45700">
            <a:noAutofit/>
          </a:bodyPr>
          <a:lstStyle/>
          <a:p>
            <a:pPr indent="-123190" lvl="0" marL="91440" rtl="0" algn="l">
              <a:lnSpc>
                <a:spcPct val="90000"/>
              </a:lnSpc>
              <a:spcBef>
                <a:spcPts val="0"/>
              </a:spcBef>
              <a:spcAft>
                <a:spcPts val="0"/>
              </a:spcAft>
              <a:buSzPts val="2500"/>
              <a:buChar char=" "/>
            </a:pPr>
            <a:r>
              <a:rPr lang="en-US" sz="2500"/>
              <a:t>The graph presents the linear relationship between the output(y) and predictor(X) variables.  The blue line is referred to as the</a:t>
            </a:r>
            <a:r>
              <a:rPr i="1" lang="en-US" sz="2500"/>
              <a:t> best-fit</a:t>
            </a:r>
            <a:r>
              <a:rPr lang="en-US" sz="2500"/>
              <a:t> straight line. Based on the given data points, we attempt to plot a line that fits the points the best.</a:t>
            </a:r>
            <a:endParaRPr sz="2500"/>
          </a:p>
          <a:p>
            <a:pPr indent="-123190" lvl="0" marL="91440" rtl="0" algn="l">
              <a:lnSpc>
                <a:spcPct val="90000"/>
              </a:lnSpc>
              <a:spcBef>
                <a:spcPts val="1400"/>
              </a:spcBef>
              <a:spcAft>
                <a:spcPts val="0"/>
              </a:spcAft>
              <a:buSzPts val="2500"/>
              <a:buChar char=" "/>
            </a:pPr>
            <a:r>
              <a:rPr i="1" lang="en-US" sz="2500"/>
              <a:t>T</a:t>
            </a:r>
            <a:r>
              <a:rPr lang="en-US" sz="2500"/>
              <a:t>o calculate best-fit line linear regression uses a traditional slope-intercept form which is given below,</a:t>
            </a:r>
            <a:endParaRPr sz="2500"/>
          </a:p>
          <a:p>
            <a:pPr indent="-123190" lvl="0" marL="91440" rtl="0" algn="l">
              <a:lnSpc>
                <a:spcPct val="90000"/>
              </a:lnSpc>
              <a:spcBef>
                <a:spcPts val="1400"/>
              </a:spcBef>
              <a:spcAft>
                <a:spcPts val="0"/>
              </a:spcAft>
              <a:buSzPts val="2500"/>
              <a:buChar char=" "/>
            </a:pPr>
            <a:r>
              <a:rPr b="1" lang="en-US" sz="2500"/>
              <a:t>Y</a:t>
            </a:r>
            <a:r>
              <a:rPr b="1" baseline="-25000" lang="en-US" sz="2500"/>
              <a:t>i </a:t>
            </a:r>
            <a:r>
              <a:rPr b="1" lang="en-US" sz="2500"/>
              <a:t>= β</a:t>
            </a:r>
            <a:r>
              <a:rPr b="1" baseline="-25000" lang="en-US" sz="2500"/>
              <a:t>0</a:t>
            </a:r>
            <a:r>
              <a:rPr b="1" lang="en-US" sz="2500"/>
              <a:t> + β</a:t>
            </a:r>
            <a:r>
              <a:rPr b="1" baseline="-25000" lang="en-US" sz="2500"/>
              <a:t>1</a:t>
            </a:r>
            <a:r>
              <a:rPr b="1" lang="en-US" sz="2500"/>
              <a:t>X</a:t>
            </a:r>
            <a:r>
              <a:rPr b="1" baseline="-25000" lang="en-US" sz="2500"/>
              <a:t>i </a:t>
            </a:r>
            <a:endParaRPr sz="2500"/>
          </a:p>
          <a:p>
            <a:pPr indent="-123190" lvl="0" marL="91440" rtl="0" algn="l">
              <a:lnSpc>
                <a:spcPct val="90000"/>
              </a:lnSpc>
              <a:spcBef>
                <a:spcPts val="1400"/>
              </a:spcBef>
              <a:spcAft>
                <a:spcPts val="0"/>
              </a:spcAft>
              <a:buSzPts val="2500"/>
              <a:buChar char=" "/>
            </a:pPr>
            <a:r>
              <a:rPr lang="en-US" sz="2500"/>
              <a:t>where Y</a:t>
            </a:r>
            <a:r>
              <a:rPr baseline="-25000" lang="en-US" sz="2500"/>
              <a:t>i</a:t>
            </a:r>
            <a:r>
              <a:rPr lang="en-US" sz="2500"/>
              <a:t> = Dependent variable,  </a:t>
            </a:r>
            <a:r>
              <a:rPr b="1" lang="en-US" sz="2500"/>
              <a:t>β</a:t>
            </a:r>
            <a:r>
              <a:rPr b="1" baseline="-25000" lang="en-US" sz="2500"/>
              <a:t>0</a:t>
            </a:r>
            <a:r>
              <a:rPr lang="en-US" sz="2500"/>
              <a:t> = constant/Intercept, </a:t>
            </a:r>
            <a:r>
              <a:rPr b="1" lang="en-US" sz="2500"/>
              <a:t>β</a:t>
            </a:r>
            <a:r>
              <a:rPr b="1" baseline="-25000" lang="en-US" sz="2500"/>
              <a:t>1</a:t>
            </a:r>
            <a:r>
              <a:rPr lang="en-US" sz="2500"/>
              <a:t> = Slope/Intercept, </a:t>
            </a:r>
            <a:r>
              <a:rPr b="1" lang="en-US" sz="2500"/>
              <a:t>X</a:t>
            </a:r>
            <a:r>
              <a:rPr b="1" baseline="-25000" lang="en-US" sz="2500"/>
              <a:t>i</a:t>
            </a:r>
            <a:r>
              <a:rPr lang="en-US" sz="2500"/>
              <a:t> = Independent variable.</a:t>
            </a:r>
            <a:endParaRPr sz="2500"/>
          </a:p>
        </p:txBody>
      </p:sp>
      <p:pic>
        <p:nvPicPr>
          <p:cNvPr descr=" Simple Linear Regression" id="267" name="Google Shape;267;p34"/>
          <p:cNvPicPr preferRelativeResize="0"/>
          <p:nvPr/>
        </p:nvPicPr>
        <p:blipFill rotWithShape="1">
          <a:blip r:embed="rId3">
            <a:alphaModFix/>
          </a:blip>
          <a:srcRect b="0" l="3340" r="5151" t="7158"/>
          <a:stretch/>
        </p:blipFill>
        <p:spPr>
          <a:xfrm>
            <a:off x="7991475" y="1731825"/>
            <a:ext cx="4200525" cy="3237778"/>
          </a:xfrm>
          <a:prstGeom prst="rect">
            <a:avLst/>
          </a:prstGeom>
          <a:noFill/>
          <a:ln>
            <a:noFill/>
          </a:ln>
        </p:spPr>
      </p:pic>
      <p:sp>
        <p:nvSpPr>
          <p:cNvPr id="268" name="Google Shape;268;p34"/>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Simple </a:t>
            </a:r>
            <a:r>
              <a:rPr lang="en-US">
                <a:solidFill>
                  <a:schemeClr val="lt1"/>
                </a:solidFill>
                <a:latin typeface="Calibri"/>
                <a:ea typeface="Calibri"/>
                <a:cs typeface="Calibri"/>
                <a:sym typeface="Calibri"/>
              </a:rPr>
              <a:t>L</a:t>
            </a:r>
            <a:r>
              <a:rPr lang="en-US">
                <a:solidFill>
                  <a:schemeClr val="lt1"/>
                </a:solidFill>
              </a:rPr>
              <a:t>inear</a:t>
            </a:r>
            <a:r>
              <a:rPr lang="en-US">
                <a:solidFill>
                  <a:schemeClr val="lt1"/>
                </a:solidFill>
                <a:latin typeface="Calibri"/>
                <a:ea typeface="Calibri"/>
                <a:cs typeface="Calibri"/>
                <a:sym typeface="Calibri"/>
              </a:rPr>
              <a:t> Regression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5"/>
          <p:cNvSpPr txBox="1"/>
          <p:nvPr>
            <p:ph idx="1" type="body"/>
          </p:nvPr>
        </p:nvSpPr>
        <p:spPr>
          <a:xfrm>
            <a:off x="109900" y="311394"/>
            <a:ext cx="11947800" cy="2767800"/>
          </a:xfrm>
          <a:prstGeom prst="rect">
            <a:avLst/>
          </a:prstGeom>
          <a:noFill/>
          <a:ln>
            <a:noFill/>
          </a:ln>
        </p:spPr>
        <p:txBody>
          <a:bodyPr anchorCtr="0" anchor="t" bIns="45700" lIns="0" spcFirstLastPara="1" rIns="0" wrap="square" tIns="45700">
            <a:noAutofit/>
          </a:bodyPr>
          <a:lstStyle/>
          <a:p>
            <a:pPr indent="-129540" lvl="0" marL="91440" rtl="0" algn="l">
              <a:lnSpc>
                <a:spcPct val="80000"/>
              </a:lnSpc>
              <a:spcBef>
                <a:spcPts val="0"/>
              </a:spcBef>
              <a:spcAft>
                <a:spcPts val="0"/>
              </a:spcAft>
              <a:buSzPts val="2600"/>
              <a:buChar char=" "/>
            </a:pPr>
            <a:r>
              <a:rPr lang="en-US" sz="2600"/>
              <a:t>This algorithm explains the linear relationship between the dependent(output) variable y and the independent(predictor) variable X using a straight line  Y= B</a:t>
            </a:r>
            <a:r>
              <a:rPr baseline="-25000" lang="en-US" sz="2600"/>
              <a:t>0</a:t>
            </a:r>
            <a:r>
              <a:rPr lang="en-US" sz="2600"/>
              <a:t> + B</a:t>
            </a:r>
            <a:r>
              <a:rPr baseline="-25000" lang="en-US" sz="2600"/>
              <a:t>1</a:t>
            </a:r>
            <a:r>
              <a:rPr lang="en-US" sz="2600"/>
              <a:t> X.</a:t>
            </a:r>
            <a:endParaRPr sz="2600"/>
          </a:p>
          <a:p>
            <a:pPr indent="-129540" lvl="0" marL="91440" rtl="0" algn="l">
              <a:lnSpc>
                <a:spcPct val="80000"/>
              </a:lnSpc>
              <a:spcBef>
                <a:spcPts val="0"/>
              </a:spcBef>
              <a:spcAft>
                <a:spcPts val="0"/>
              </a:spcAft>
              <a:buSzPts val="2600"/>
              <a:buChar char=" "/>
            </a:pPr>
            <a:r>
              <a:t/>
            </a:r>
            <a:endParaRPr sz="2600"/>
          </a:p>
          <a:p>
            <a:pPr indent="-129540" lvl="0" marL="91440" rtl="0" algn="l">
              <a:lnSpc>
                <a:spcPct val="80000"/>
              </a:lnSpc>
              <a:spcBef>
                <a:spcPts val="0"/>
              </a:spcBef>
              <a:spcAft>
                <a:spcPts val="0"/>
              </a:spcAft>
              <a:buSzPts val="2600"/>
              <a:buChar char=" "/>
            </a:pPr>
            <a:r>
              <a:rPr b="1" lang="en-US" sz="2600"/>
              <a:t>But how the linear regression finds out which is the best fit line?</a:t>
            </a:r>
            <a:endParaRPr sz="2600"/>
          </a:p>
          <a:p>
            <a:pPr indent="-129540" lvl="0" marL="91440" rtl="0" algn="l">
              <a:lnSpc>
                <a:spcPct val="80000"/>
              </a:lnSpc>
              <a:spcBef>
                <a:spcPts val="0"/>
              </a:spcBef>
              <a:spcAft>
                <a:spcPts val="0"/>
              </a:spcAft>
              <a:buSzPts val="2600"/>
              <a:buChar char=" "/>
            </a:pPr>
            <a:r>
              <a:t/>
            </a:r>
            <a:endParaRPr sz="2600"/>
          </a:p>
          <a:p>
            <a:pPr indent="-129540" lvl="0" marL="91440" rtl="0" algn="l">
              <a:lnSpc>
                <a:spcPct val="80000"/>
              </a:lnSpc>
              <a:spcBef>
                <a:spcPts val="0"/>
              </a:spcBef>
              <a:spcAft>
                <a:spcPts val="0"/>
              </a:spcAft>
              <a:buSzPts val="2600"/>
              <a:buChar char=" "/>
            </a:pPr>
            <a:r>
              <a:rPr lang="en-US" sz="2600"/>
              <a:t>The goal of the linear regression algorithm is to get the </a:t>
            </a:r>
            <a:r>
              <a:rPr b="1" lang="en-US" sz="2600"/>
              <a:t>best values for B</a:t>
            </a:r>
            <a:r>
              <a:rPr b="1" baseline="-25000" lang="en-US" sz="2600"/>
              <a:t>0</a:t>
            </a:r>
            <a:r>
              <a:rPr b="1" lang="en-US" sz="2600"/>
              <a:t> and B</a:t>
            </a:r>
            <a:r>
              <a:rPr b="1" baseline="-25000" lang="en-US" sz="2600"/>
              <a:t>1</a:t>
            </a:r>
            <a:r>
              <a:rPr lang="en-US" sz="2600"/>
              <a:t> to find the best fit line. The best fit line is a line that has the least error which means the error between predicted values and actual values should be minimum.</a:t>
            </a:r>
            <a:endParaRPr sz="2600"/>
          </a:p>
          <a:p>
            <a:pPr indent="0" lvl="0" marL="91440" rtl="0" algn="l">
              <a:lnSpc>
                <a:spcPct val="80000"/>
              </a:lnSpc>
              <a:spcBef>
                <a:spcPts val="1400"/>
              </a:spcBef>
              <a:spcAft>
                <a:spcPts val="0"/>
              </a:spcAft>
              <a:buSzPts val="1100"/>
              <a:buNone/>
            </a:pPr>
            <a:r>
              <a:t/>
            </a:r>
            <a:endParaRPr sz="2600"/>
          </a:p>
        </p:txBody>
      </p:sp>
      <p:pic>
        <p:nvPicPr>
          <p:cNvPr descr="Simple Linear Regression explanation" id="274" name="Google Shape;274;p35"/>
          <p:cNvPicPr preferRelativeResize="0"/>
          <p:nvPr/>
        </p:nvPicPr>
        <p:blipFill rotWithShape="1">
          <a:blip r:embed="rId3">
            <a:alphaModFix/>
          </a:blip>
          <a:srcRect b="0" l="3113" r="5596" t="0"/>
          <a:stretch/>
        </p:blipFill>
        <p:spPr>
          <a:xfrm>
            <a:off x="3004050" y="3005950"/>
            <a:ext cx="6437450" cy="3852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idx="1" type="body"/>
          </p:nvPr>
        </p:nvSpPr>
        <p:spPr>
          <a:xfrm>
            <a:off x="243600" y="348025"/>
            <a:ext cx="11704800" cy="5883900"/>
          </a:xfrm>
          <a:prstGeom prst="rect">
            <a:avLst/>
          </a:prstGeom>
          <a:noFill/>
          <a:ln>
            <a:noFill/>
          </a:ln>
        </p:spPr>
        <p:txBody>
          <a:bodyPr anchorCtr="0" anchor="t" bIns="45700" lIns="0" spcFirstLastPara="1" rIns="0" wrap="square" tIns="45700">
            <a:noAutofit/>
          </a:bodyPr>
          <a:lstStyle/>
          <a:p>
            <a:pPr indent="-165100" lvl="0" marL="91440" rtl="0" algn="l">
              <a:lnSpc>
                <a:spcPct val="90000"/>
              </a:lnSpc>
              <a:spcBef>
                <a:spcPts val="1400"/>
              </a:spcBef>
              <a:spcAft>
                <a:spcPts val="0"/>
              </a:spcAft>
              <a:buSzPts val="2600"/>
              <a:buChar char=" "/>
            </a:pPr>
            <a:r>
              <a:rPr b="1" lang="en-US" sz="2600" u="sng"/>
              <a:t>Random Error(Residuals)</a:t>
            </a:r>
            <a:endParaRPr sz="2600"/>
          </a:p>
          <a:p>
            <a:pPr indent="-165100" lvl="0" marL="91440" rtl="0" algn="l">
              <a:lnSpc>
                <a:spcPct val="90000"/>
              </a:lnSpc>
              <a:spcBef>
                <a:spcPts val="1400"/>
              </a:spcBef>
              <a:spcAft>
                <a:spcPts val="0"/>
              </a:spcAft>
              <a:buSzPts val="2600"/>
              <a:buChar char=" "/>
            </a:pPr>
            <a:r>
              <a:rPr lang="en-US" sz="2600"/>
              <a:t>In regression, the difference between the observed value of the dependent variable(</a:t>
            </a:r>
            <a:r>
              <a:rPr b="1" lang="en-US" sz="2600"/>
              <a:t>y</a:t>
            </a:r>
            <a:r>
              <a:rPr b="1" baseline="-25000" lang="en-US" sz="2600"/>
              <a:t>i</a:t>
            </a:r>
            <a:r>
              <a:rPr lang="en-US" sz="2600"/>
              <a:t>) and the predicted value(</a:t>
            </a:r>
            <a:r>
              <a:rPr b="1" lang="en-US" sz="2600"/>
              <a:t>predicted</a:t>
            </a:r>
            <a:r>
              <a:rPr lang="en-US" sz="2600"/>
              <a:t>) is called the residuals.</a:t>
            </a:r>
            <a:endParaRPr sz="2600"/>
          </a:p>
          <a:p>
            <a:pPr indent="-165100" lvl="0" marL="91440" rtl="0" algn="l">
              <a:lnSpc>
                <a:spcPct val="90000"/>
              </a:lnSpc>
              <a:spcBef>
                <a:spcPts val="1400"/>
              </a:spcBef>
              <a:spcAft>
                <a:spcPts val="0"/>
              </a:spcAft>
              <a:buSzPts val="2600"/>
              <a:buChar char=" "/>
            </a:pPr>
            <a:r>
              <a:rPr b="1" lang="en-US" sz="2600"/>
              <a:t>ε</a:t>
            </a:r>
            <a:r>
              <a:rPr b="1" baseline="-25000" lang="en-US" sz="2600"/>
              <a:t>i </a:t>
            </a:r>
            <a:r>
              <a:rPr b="1" lang="en-US" sz="2600"/>
              <a:t>= </a:t>
            </a:r>
            <a:r>
              <a:rPr lang="en-US" sz="2600"/>
              <a:t> </a:t>
            </a:r>
            <a:r>
              <a:rPr b="1" lang="en-US" sz="2600"/>
              <a:t>y</a:t>
            </a:r>
            <a:r>
              <a:rPr b="1" baseline="-25000" lang="en-US" sz="2600"/>
              <a:t>predicted</a:t>
            </a:r>
            <a:r>
              <a:rPr lang="en-US" sz="2600"/>
              <a:t> –   </a:t>
            </a:r>
            <a:r>
              <a:rPr b="1" lang="en-US" sz="2600"/>
              <a:t>y</a:t>
            </a:r>
            <a:r>
              <a:rPr b="1" baseline="-25000" lang="en-US" sz="2600"/>
              <a:t>i</a:t>
            </a:r>
            <a:endParaRPr sz="2600"/>
          </a:p>
          <a:p>
            <a:pPr indent="-165100" lvl="0" marL="91440" rtl="0" algn="l">
              <a:lnSpc>
                <a:spcPct val="90000"/>
              </a:lnSpc>
              <a:spcBef>
                <a:spcPts val="1400"/>
              </a:spcBef>
              <a:spcAft>
                <a:spcPts val="0"/>
              </a:spcAft>
              <a:buSzPts val="2600"/>
              <a:buChar char=" "/>
            </a:pPr>
            <a:r>
              <a:rPr b="1" lang="en-US" sz="2600"/>
              <a:t>where y</a:t>
            </a:r>
            <a:r>
              <a:rPr b="1" baseline="-25000" lang="en-US" sz="2600"/>
              <a:t>predicted</a:t>
            </a:r>
            <a:r>
              <a:rPr b="1" lang="en-US" sz="2600"/>
              <a:t> =   B</a:t>
            </a:r>
            <a:r>
              <a:rPr b="1" baseline="-25000" lang="en-US" sz="2600"/>
              <a:t>0</a:t>
            </a:r>
            <a:r>
              <a:rPr b="1" lang="en-US" sz="2600"/>
              <a:t> + B</a:t>
            </a:r>
            <a:r>
              <a:rPr b="1" baseline="-25000" lang="en-US" sz="2600"/>
              <a:t>1</a:t>
            </a:r>
            <a:r>
              <a:rPr b="1" lang="en-US" sz="2600"/>
              <a:t> X</a:t>
            </a:r>
            <a:r>
              <a:rPr b="1" baseline="-25000" lang="en-US" sz="2600"/>
              <a:t>i</a:t>
            </a:r>
            <a:endParaRPr sz="2600"/>
          </a:p>
          <a:p>
            <a:pPr indent="-165100" lvl="0" marL="91440" rtl="0" algn="l">
              <a:lnSpc>
                <a:spcPct val="90000"/>
              </a:lnSpc>
              <a:spcBef>
                <a:spcPts val="1400"/>
              </a:spcBef>
              <a:spcAft>
                <a:spcPts val="0"/>
              </a:spcAft>
              <a:buSzPts val="2600"/>
              <a:buChar char=" "/>
            </a:pPr>
            <a:r>
              <a:rPr lang="en-US" sz="2600"/>
              <a:t>The Best fit line is a line that fits the given scatter plot in the best way. Mathematically, the best fit line is obtained by </a:t>
            </a:r>
            <a:r>
              <a:rPr b="1" lang="en-US" sz="2600"/>
              <a:t>minimizing the Residual Sum of Squares(RSS).</a:t>
            </a:r>
            <a:endParaRPr b="1" sz="2600"/>
          </a:p>
          <a:p>
            <a:pPr indent="0" lvl="0" marL="91440" rtl="0" algn="l">
              <a:lnSpc>
                <a:spcPct val="90000"/>
              </a:lnSpc>
              <a:spcBef>
                <a:spcPts val="1400"/>
              </a:spcBef>
              <a:spcAft>
                <a:spcPts val="0"/>
              </a:spcAft>
              <a:buSzPts val="2000"/>
              <a:buNone/>
            </a:pPr>
            <a:r>
              <a:t/>
            </a:r>
            <a:endParaRPr sz="2600"/>
          </a:p>
          <a:p>
            <a:pPr indent="-165100" lvl="0" marL="91440" rtl="0" algn="l">
              <a:lnSpc>
                <a:spcPct val="90000"/>
              </a:lnSpc>
              <a:spcBef>
                <a:spcPts val="1400"/>
              </a:spcBef>
              <a:spcAft>
                <a:spcPts val="0"/>
              </a:spcAft>
              <a:buSzPts val="2600"/>
              <a:buChar char=" "/>
            </a:pPr>
            <a:r>
              <a:rPr b="1" lang="en-US" sz="2600" u="sng"/>
              <a:t>Cost Function</a:t>
            </a:r>
            <a:endParaRPr sz="2600" u="sng"/>
          </a:p>
          <a:p>
            <a:pPr indent="-165100" lvl="0" marL="91440" rtl="0" algn="l">
              <a:lnSpc>
                <a:spcPct val="90000"/>
              </a:lnSpc>
              <a:spcBef>
                <a:spcPts val="1400"/>
              </a:spcBef>
              <a:spcAft>
                <a:spcPts val="0"/>
              </a:spcAft>
              <a:buSzPts val="2600"/>
              <a:buChar char=" "/>
            </a:pPr>
            <a:r>
              <a:rPr lang="en-US" sz="2600"/>
              <a:t>The least Sum of Squares of Errors is used as the cost function for Linear Regression.</a:t>
            </a:r>
            <a:endParaRPr sz="2600"/>
          </a:p>
          <a:p>
            <a:pPr indent="-165100" lvl="0" marL="91440" rtl="0" algn="l">
              <a:lnSpc>
                <a:spcPct val="90000"/>
              </a:lnSpc>
              <a:spcBef>
                <a:spcPts val="1400"/>
              </a:spcBef>
              <a:spcAft>
                <a:spcPts val="0"/>
              </a:spcAft>
              <a:buSzPts val="2600"/>
              <a:buChar char=" "/>
            </a:pPr>
            <a:r>
              <a:rPr lang="en-US" sz="2600"/>
              <a:t>For all possible lines, calculate the sum of squares of errors. The line which has the least sum of squares of errors is the best fit line.</a:t>
            </a:r>
            <a:endParaRPr sz="2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https://miro.medium.com/v2/resize:fit:700/1*Y_DLDjog8XgNCF6rY3Cakg.png" id="284" name="Google Shape;284;p37"/>
          <p:cNvPicPr preferRelativeResize="0"/>
          <p:nvPr/>
        </p:nvPicPr>
        <p:blipFill rotWithShape="1">
          <a:blip r:embed="rId3">
            <a:alphaModFix/>
          </a:blip>
          <a:srcRect b="4811" l="2865" r="0" t="3713"/>
          <a:stretch/>
        </p:blipFill>
        <p:spPr>
          <a:xfrm>
            <a:off x="394525" y="321400"/>
            <a:ext cx="11402949" cy="5568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g383580ad1f3_0_0"/>
          <p:cNvPicPr preferRelativeResize="0"/>
          <p:nvPr/>
        </p:nvPicPr>
        <p:blipFill rotWithShape="1">
          <a:blip r:embed="rId3">
            <a:alphaModFix/>
          </a:blip>
          <a:srcRect b="0" l="0" r="13232" t="0"/>
          <a:stretch/>
        </p:blipFill>
        <p:spPr>
          <a:xfrm>
            <a:off x="0" y="3153225"/>
            <a:ext cx="4710725" cy="2562225"/>
          </a:xfrm>
          <a:prstGeom prst="rect">
            <a:avLst/>
          </a:prstGeom>
          <a:noFill/>
          <a:ln>
            <a:noFill/>
          </a:ln>
        </p:spPr>
      </p:pic>
      <p:pic>
        <p:nvPicPr>
          <p:cNvPr id="291" name="Google Shape;291;g383580ad1f3_0_0"/>
          <p:cNvPicPr preferRelativeResize="0"/>
          <p:nvPr/>
        </p:nvPicPr>
        <p:blipFill rotWithShape="1">
          <a:blip r:embed="rId4">
            <a:alphaModFix/>
          </a:blip>
          <a:srcRect b="0" l="0" r="23248" t="0"/>
          <a:stretch/>
        </p:blipFill>
        <p:spPr>
          <a:xfrm>
            <a:off x="0" y="0"/>
            <a:ext cx="4991876" cy="3285055"/>
          </a:xfrm>
          <a:prstGeom prst="rect">
            <a:avLst/>
          </a:prstGeom>
          <a:noFill/>
          <a:ln>
            <a:noFill/>
          </a:ln>
        </p:spPr>
      </p:pic>
      <p:pic>
        <p:nvPicPr>
          <p:cNvPr id="292" name="Google Shape;292;g383580ad1f3_0_0"/>
          <p:cNvPicPr preferRelativeResize="0"/>
          <p:nvPr/>
        </p:nvPicPr>
        <p:blipFill rotWithShape="1">
          <a:blip r:embed="rId5">
            <a:alphaModFix/>
          </a:blip>
          <a:srcRect b="0" l="0" r="0" t="0"/>
          <a:stretch/>
        </p:blipFill>
        <p:spPr>
          <a:xfrm>
            <a:off x="6980525" y="52713"/>
            <a:ext cx="3000375" cy="1123950"/>
          </a:xfrm>
          <a:prstGeom prst="rect">
            <a:avLst/>
          </a:prstGeom>
          <a:noFill/>
          <a:ln>
            <a:noFill/>
          </a:ln>
        </p:spPr>
      </p:pic>
      <p:pic>
        <p:nvPicPr>
          <p:cNvPr id="293" name="Google Shape;293;g383580ad1f3_0_0"/>
          <p:cNvPicPr preferRelativeResize="0"/>
          <p:nvPr/>
        </p:nvPicPr>
        <p:blipFill rotWithShape="1">
          <a:blip r:embed="rId6">
            <a:alphaModFix/>
          </a:blip>
          <a:srcRect b="0" l="0" r="0" t="0"/>
          <a:stretch/>
        </p:blipFill>
        <p:spPr>
          <a:xfrm>
            <a:off x="5824925" y="1176663"/>
            <a:ext cx="6228674" cy="2435950"/>
          </a:xfrm>
          <a:prstGeom prst="rect">
            <a:avLst/>
          </a:prstGeom>
          <a:noFill/>
          <a:ln>
            <a:noFill/>
          </a:ln>
        </p:spPr>
      </p:pic>
      <p:pic>
        <p:nvPicPr>
          <p:cNvPr id="294" name="Google Shape;294;g383580ad1f3_0_0"/>
          <p:cNvPicPr preferRelativeResize="0"/>
          <p:nvPr/>
        </p:nvPicPr>
        <p:blipFill rotWithShape="1">
          <a:blip r:embed="rId7">
            <a:alphaModFix/>
          </a:blip>
          <a:srcRect b="0" l="0" r="0" t="0"/>
          <a:stretch/>
        </p:blipFill>
        <p:spPr>
          <a:xfrm>
            <a:off x="5824925" y="3655225"/>
            <a:ext cx="4155975" cy="1807575"/>
          </a:xfrm>
          <a:prstGeom prst="rect">
            <a:avLst/>
          </a:prstGeom>
          <a:noFill/>
          <a:ln>
            <a:noFill/>
          </a:ln>
        </p:spPr>
      </p:pic>
      <p:pic>
        <p:nvPicPr>
          <p:cNvPr id="295" name="Google Shape;295;g383580ad1f3_0_0"/>
          <p:cNvPicPr preferRelativeResize="0"/>
          <p:nvPr/>
        </p:nvPicPr>
        <p:blipFill rotWithShape="1">
          <a:blip r:embed="rId8">
            <a:alphaModFix/>
          </a:blip>
          <a:srcRect b="0" l="0" r="0" t="0"/>
          <a:stretch/>
        </p:blipFill>
        <p:spPr>
          <a:xfrm>
            <a:off x="10569000" y="4940350"/>
            <a:ext cx="1571625" cy="419100"/>
          </a:xfrm>
          <a:prstGeom prst="rect">
            <a:avLst/>
          </a:prstGeom>
          <a:noFill/>
          <a:ln>
            <a:noFill/>
          </a:ln>
        </p:spPr>
      </p:pic>
      <p:pic>
        <p:nvPicPr>
          <p:cNvPr id="296" name="Google Shape;296;g383580ad1f3_0_0"/>
          <p:cNvPicPr preferRelativeResize="0"/>
          <p:nvPr/>
        </p:nvPicPr>
        <p:blipFill rotWithShape="1">
          <a:blip r:embed="rId9">
            <a:alphaModFix/>
          </a:blip>
          <a:srcRect b="0" l="0" r="0" t="0"/>
          <a:stretch/>
        </p:blipFill>
        <p:spPr>
          <a:xfrm>
            <a:off x="5730950" y="5547925"/>
            <a:ext cx="4991882" cy="1123950"/>
          </a:xfrm>
          <a:prstGeom prst="rect">
            <a:avLst/>
          </a:prstGeom>
          <a:noFill/>
          <a:ln>
            <a:noFill/>
          </a:ln>
        </p:spPr>
      </p:pic>
      <p:sp>
        <p:nvSpPr>
          <p:cNvPr id="297" name="Google Shape;297;g383580ad1f3_0_0"/>
          <p:cNvSpPr txBox="1"/>
          <p:nvPr/>
        </p:nvSpPr>
        <p:spPr>
          <a:xfrm>
            <a:off x="10396650" y="4266325"/>
            <a:ext cx="1656900" cy="62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3F3F3F"/>
                </a:solidFill>
                <a:highlight>
                  <a:srgbClr val="FF9900"/>
                </a:highlight>
                <a:latin typeface="Calibri"/>
                <a:ea typeface="Calibri"/>
                <a:cs typeface="Calibri"/>
                <a:sym typeface="Calibri"/>
              </a:rPr>
              <a:t>Best Fit Line</a:t>
            </a:r>
            <a:endParaRPr b="0" i="0" sz="2000" u="none" cap="none" strike="noStrike">
              <a:solidFill>
                <a:srgbClr val="3F3F3F"/>
              </a:solidFill>
              <a:highlight>
                <a:srgbClr val="FF9900"/>
              </a:highlight>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Two independent variable</a:t>
            </a:r>
            <a:endParaRPr/>
          </a:p>
        </p:txBody>
      </p:sp>
      <p:sp>
        <p:nvSpPr>
          <p:cNvPr id="303" name="Google Shape;303;p38"/>
          <p:cNvSpPr txBox="1"/>
          <p:nvPr>
            <p:ph idx="1" type="body"/>
          </p:nvPr>
        </p:nvSpPr>
        <p:spPr>
          <a:xfrm>
            <a:off x="243115" y="1845725"/>
            <a:ext cx="11723100" cy="4355400"/>
          </a:xfrm>
          <a:prstGeom prst="rect">
            <a:avLst/>
          </a:prstGeom>
          <a:noFill/>
          <a:ln>
            <a:noFill/>
          </a:ln>
        </p:spPr>
        <p:txBody>
          <a:bodyPr anchorCtr="0" anchor="t" bIns="45700" lIns="0" spcFirstLastPara="1" rIns="0" wrap="square" tIns="45700">
            <a:noAutofit/>
          </a:bodyPr>
          <a:lstStyle/>
          <a:p>
            <a:pPr indent="-152400" lvl="0" marL="91440" rtl="0" algn="l">
              <a:lnSpc>
                <a:spcPct val="80000"/>
              </a:lnSpc>
              <a:spcBef>
                <a:spcPts val="0"/>
              </a:spcBef>
              <a:spcAft>
                <a:spcPts val="0"/>
              </a:spcAft>
              <a:buSzPts val="2400"/>
              <a:buChar char=" "/>
            </a:pPr>
            <a:r>
              <a:rPr lang="en-US" sz="2400"/>
              <a:t>A regression with two independent variables such as the example discussed above will produce a formula with this basic structure:        </a:t>
            </a:r>
            <a:r>
              <a:rPr b="1" lang="en-US" sz="2400"/>
              <a:t>y= c + b1(x1) + b2(x2)</a:t>
            </a:r>
            <a:endParaRPr b="1" sz="2400"/>
          </a:p>
          <a:p>
            <a:pPr indent="-152400" lvl="0" marL="91440" rtl="0" algn="l">
              <a:lnSpc>
                <a:spcPct val="80000"/>
              </a:lnSpc>
              <a:spcBef>
                <a:spcPts val="1400"/>
              </a:spcBef>
              <a:spcAft>
                <a:spcPts val="0"/>
              </a:spcAft>
              <a:buSzPts val="2400"/>
              <a:buChar char=" "/>
            </a:pPr>
            <a:r>
              <a:rPr lang="en-US" sz="2400"/>
              <a:t>In this equation, </a:t>
            </a:r>
            <a:r>
              <a:rPr b="1" lang="en-US" sz="2400"/>
              <a:t>y is the dependent variable</a:t>
            </a:r>
            <a:r>
              <a:rPr lang="en-US" sz="2400"/>
              <a:t>, </a:t>
            </a:r>
            <a:r>
              <a:rPr b="1" lang="en-US" sz="2400"/>
              <a:t>c is a constant</a:t>
            </a:r>
            <a:r>
              <a:rPr lang="en-US" sz="2400"/>
              <a:t>, </a:t>
            </a:r>
            <a:r>
              <a:rPr b="1" lang="en-US" sz="2400"/>
              <a:t>b1 is the first regression coefficient and x1 is the first independent variable.</a:t>
            </a:r>
            <a:r>
              <a:rPr lang="en-US" sz="2400"/>
              <a:t> The second coefficient and second independent variable are b2 and x2, respectively. Drawing from the above example, the stock price would be y, the S&amp;P 500 would be x1 and the unemployment rate would be x2. </a:t>
            </a:r>
            <a:r>
              <a:rPr b="1" lang="en-US" sz="2400"/>
              <a:t>The coefficient of each independent variable represents the degree of change in y for each additional unit in that variable.</a:t>
            </a:r>
            <a:endParaRPr b="1" sz="2400"/>
          </a:p>
          <a:p>
            <a:pPr indent="-152400" lvl="0" marL="91440" rtl="0" algn="l">
              <a:lnSpc>
                <a:spcPct val="80000"/>
              </a:lnSpc>
              <a:spcBef>
                <a:spcPts val="1400"/>
              </a:spcBef>
              <a:spcAft>
                <a:spcPts val="0"/>
              </a:spcAft>
              <a:buSzPts val="2400"/>
              <a:buChar char=" "/>
            </a:pPr>
            <a:r>
              <a:rPr lang="en-US" sz="2400"/>
              <a:t>If the S&amp;P 500 increases by one, the resulting y or share price will go up by the amount of the coefficient. The same is true for the second independent variable, the unemployment rate. In a simple regression with one independent variable, that coefficient is the slope of the line of best fit. In this example or </a:t>
            </a:r>
            <a:r>
              <a:rPr b="1" lang="en-US" sz="2400"/>
              <a:t>any regression with two independent variables, the slope is a mix of the two coefficients.</a:t>
            </a:r>
            <a:r>
              <a:rPr lang="en-US" sz="2400"/>
              <a:t> </a:t>
            </a:r>
            <a:r>
              <a:rPr b="1" lang="en-US" sz="2400"/>
              <a:t>The constant c is the y-intercept of the line of best fit.</a:t>
            </a:r>
            <a:endParaRPr b="1" sz="2400"/>
          </a:p>
        </p:txBody>
      </p:sp>
      <p:sp>
        <p:nvSpPr>
          <p:cNvPr id="304" name="Google Shape;304;p38"/>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Two Independent Variables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idx="1" type="body"/>
          </p:nvPr>
        </p:nvSpPr>
        <p:spPr>
          <a:xfrm>
            <a:off x="204288" y="4387825"/>
            <a:ext cx="12002700" cy="19050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860"/>
              <a:buNone/>
            </a:pPr>
            <a:r>
              <a:rPr lang="en-US" sz="2260"/>
              <a:t>LOGISTIC REGRESSION PRODUCES A LOGISTIC CURVE, WHICH IS LIMITED TO VALUES BETWEEN 0 &amp; 1.</a:t>
            </a:r>
            <a:endParaRPr sz="2260"/>
          </a:p>
          <a:p>
            <a:pPr indent="0" lvl="0" marL="0" rtl="0" algn="l">
              <a:lnSpc>
                <a:spcPct val="70000"/>
              </a:lnSpc>
              <a:spcBef>
                <a:spcPts val="1400"/>
              </a:spcBef>
              <a:spcAft>
                <a:spcPts val="0"/>
              </a:spcAft>
              <a:buSzPts val="1860"/>
              <a:buNone/>
            </a:pPr>
            <a:r>
              <a:rPr lang="en-US" sz="2260"/>
              <a:t> LOGISTIC REGRESSION IS SIMILAR TO A LINEAR REGRESSION, BUT THE CURVE IS CONSTRUCTED USING THE </a:t>
            </a:r>
            <a:r>
              <a:rPr b="1" lang="en-US" sz="2260"/>
              <a:t>NATURAL LOGARITHM OF THE “ODDS” OF THE TARGET VARIABLE</a:t>
            </a:r>
            <a:r>
              <a:rPr lang="en-US" sz="2260"/>
              <a:t>, RATHER THAN THE PROBABILITY. </a:t>
            </a:r>
            <a:endParaRPr sz="2260"/>
          </a:p>
          <a:p>
            <a:pPr indent="0" lvl="0" marL="0" rtl="0" algn="l">
              <a:lnSpc>
                <a:spcPct val="70000"/>
              </a:lnSpc>
              <a:spcBef>
                <a:spcPts val="1400"/>
              </a:spcBef>
              <a:spcAft>
                <a:spcPts val="0"/>
              </a:spcAft>
              <a:buSzPts val="1860"/>
              <a:buNone/>
            </a:pPr>
            <a:r>
              <a:rPr b="1" lang="en-US" sz="2260"/>
              <a:t>MOREOVER, THE PREDICTORS DO NOT HAVE TO BE NORMALLY DISTRIBUTED OR HAVE EQUAL VARIANCE IN EACH GROUP.</a:t>
            </a:r>
            <a:endParaRPr b="1" sz="2260"/>
          </a:p>
        </p:txBody>
      </p:sp>
      <p:pic>
        <p:nvPicPr>
          <p:cNvPr descr="https://saedsayad.com/images/LogReg_1.png" id="311" name="Google Shape;311;p39"/>
          <p:cNvPicPr preferRelativeResize="0"/>
          <p:nvPr/>
        </p:nvPicPr>
        <p:blipFill rotWithShape="1">
          <a:blip r:embed="rId3">
            <a:alphaModFix/>
          </a:blip>
          <a:srcRect b="9167" l="0" r="0" t="9419"/>
          <a:stretch/>
        </p:blipFill>
        <p:spPr>
          <a:xfrm>
            <a:off x="2677188" y="0"/>
            <a:ext cx="7056893" cy="3078825"/>
          </a:xfrm>
          <a:prstGeom prst="rect">
            <a:avLst/>
          </a:prstGeom>
          <a:noFill/>
          <a:ln>
            <a:noFill/>
          </a:ln>
        </p:spPr>
      </p:pic>
      <p:sp>
        <p:nvSpPr>
          <p:cNvPr id="312" name="Google Shape;312;p39"/>
          <p:cNvSpPr txBox="1"/>
          <p:nvPr/>
        </p:nvSpPr>
        <p:spPr>
          <a:xfrm>
            <a:off x="-25" y="3186350"/>
            <a:ext cx="1219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100" u="none" cap="none" strike="noStrike">
                <a:solidFill>
                  <a:schemeClr val="dk1"/>
                </a:solidFill>
                <a:latin typeface="Calibri"/>
                <a:ea typeface="Calibri"/>
                <a:cs typeface="Calibri"/>
                <a:sym typeface="Calibri"/>
              </a:rPr>
              <a:t>In logistic regression the </a:t>
            </a:r>
            <a:r>
              <a:rPr b="1" i="0" lang="en-US" sz="2100" u="none" cap="none" strike="noStrike">
                <a:solidFill>
                  <a:schemeClr val="dk1"/>
                </a:solidFill>
                <a:latin typeface="Calibri"/>
                <a:ea typeface="Calibri"/>
                <a:cs typeface="Calibri"/>
                <a:sym typeface="Calibri"/>
              </a:rPr>
              <a:t>constant (</a:t>
            </a:r>
            <a:r>
              <a:rPr b="1" i="1" lang="en-US" sz="2100" u="none" cap="none" strike="noStrike">
                <a:solidFill>
                  <a:schemeClr val="dk1"/>
                </a:solidFill>
                <a:latin typeface="Calibri"/>
                <a:ea typeface="Calibri"/>
                <a:cs typeface="Calibri"/>
                <a:sym typeface="Calibri"/>
              </a:rPr>
              <a:t>b</a:t>
            </a:r>
            <a:r>
              <a:rPr b="1" baseline="-25000" i="1" lang="en-US" sz="2100" u="none" cap="none" strike="noStrike">
                <a:solidFill>
                  <a:schemeClr val="dk1"/>
                </a:solidFill>
                <a:latin typeface="Calibri"/>
                <a:ea typeface="Calibri"/>
                <a:cs typeface="Calibri"/>
                <a:sym typeface="Calibri"/>
              </a:rPr>
              <a:t>0</a:t>
            </a:r>
            <a:r>
              <a:rPr b="1" i="0" lang="en-US" sz="2100" u="none" cap="none" strike="noStrike">
                <a:solidFill>
                  <a:schemeClr val="dk1"/>
                </a:solidFill>
                <a:latin typeface="Calibri"/>
                <a:ea typeface="Calibri"/>
                <a:cs typeface="Calibri"/>
                <a:sym typeface="Calibri"/>
              </a:rPr>
              <a:t>) moves the curve left and right and the slope (</a:t>
            </a:r>
            <a:r>
              <a:rPr b="1" i="1" lang="en-US" sz="2100" u="none" cap="none" strike="noStrike">
                <a:solidFill>
                  <a:schemeClr val="dk1"/>
                </a:solidFill>
                <a:latin typeface="Calibri"/>
                <a:ea typeface="Calibri"/>
                <a:cs typeface="Calibri"/>
                <a:sym typeface="Calibri"/>
              </a:rPr>
              <a:t>b</a:t>
            </a:r>
            <a:r>
              <a:rPr b="1" baseline="-25000" i="1" lang="en-US" sz="2100" u="none" cap="none" strike="noStrike">
                <a:solidFill>
                  <a:schemeClr val="dk1"/>
                </a:solidFill>
                <a:latin typeface="Calibri"/>
                <a:ea typeface="Calibri"/>
                <a:cs typeface="Calibri"/>
                <a:sym typeface="Calibri"/>
              </a:rPr>
              <a:t>1</a:t>
            </a:r>
            <a:r>
              <a:rPr b="1" i="0" lang="en-US" sz="2100" u="none" cap="none" strike="noStrike">
                <a:solidFill>
                  <a:schemeClr val="dk1"/>
                </a:solidFill>
                <a:latin typeface="Calibri"/>
                <a:ea typeface="Calibri"/>
                <a:cs typeface="Calibri"/>
                <a:sym typeface="Calibri"/>
              </a:rPr>
              <a:t>) defines the steepness</a:t>
            </a:r>
            <a:endParaRPr b="1" i="0" sz="1700" u="none" cap="none" strike="noStrike">
              <a:solidFill>
                <a:srgbClr val="000000"/>
              </a:solidFill>
            </a:endParaRPr>
          </a:p>
          <a:p>
            <a:pPr indent="0" lvl="0" marL="0" marR="0" rtl="0" algn="l">
              <a:lnSpc>
                <a:spcPct val="100000"/>
              </a:lnSpc>
              <a:spcBef>
                <a:spcPts val="0"/>
              </a:spcBef>
              <a:spcAft>
                <a:spcPts val="0"/>
              </a:spcAft>
              <a:buClr>
                <a:srgbClr val="000000"/>
              </a:buClr>
              <a:buSzPts val="1800"/>
              <a:buFont typeface="Arial"/>
              <a:buNone/>
            </a:pPr>
            <a:r>
              <a:rPr b="1" i="0" lang="en-US" sz="2100" u="none" cap="none" strike="noStrike">
                <a:solidFill>
                  <a:schemeClr val="dk1"/>
                </a:solidFill>
                <a:latin typeface="Calibri"/>
                <a:ea typeface="Calibri"/>
                <a:cs typeface="Calibri"/>
                <a:sym typeface="Calibri"/>
              </a:rPr>
              <a:t> of the curve.</a:t>
            </a:r>
            <a:r>
              <a:rPr b="0" i="0" lang="en-US" sz="2100" u="none" cap="none" strike="noStrike">
                <a:solidFill>
                  <a:schemeClr val="dk1"/>
                </a:solidFill>
                <a:latin typeface="Calibri"/>
                <a:ea typeface="Calibri"/>
                <a:cs typeface="Calibri"/>
                <a:sym typeface="Calibri"/>
              </a:rPr>
              <a:t> By simple transformation, logistic regression equation can be written in terms of an odds ratio.</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idx="1" type="body"/>
          </p:nvPr>
        </p:nvSpPr>
        <p:spPr>
          <a:xfrm>
            <a:off x="316950" y="290902"/>
            <a:ext cx="11558100" cy="6001800"/>
          </a:xfrm>
          <a:prstGeom prst="rect">
            <a:avLst/>
          </a:prstGeom>
          <a:noFill/>
          <a:ln>
            <a:noFill/>
          </a:ln>
        </p:spPr>
        <p:txBody>
          <a:bodyPr anchorCtr="0" anchor="t" bIns="45700" lIns="0" spcFirstLastPara="1" rIns="0" wrap="square" tIns="45700">
            <a:noAutofit/>
          </a:bodyPr>
          <a:lstStyle/>
          <a:p>
            <a:pPr indent="-146050" lvl="0" marL="91440" rtl="0" algn="l">
              <a:lnSpc>
                <a:spcPct val="70000"/>
              </a:lnSpc>
              <a:spcBef>
                <a:spcPts val="0"/>
              </a:spcBef>
              <a:spcAft>
                <a:spcPts val="0"/>
              </a:spcAft>
              <a:buSzPts val="2300"/>
              <a:buChar char=" "/>
            </a:pPr>
            <a:r>
              <a:rPr lang="en-US" sz="2300"/>
              <a:t>The curve from the logistic function indicates the likelihood of something such as whether the cells are cancerous or not, a mouse is obese or not based on its weight, etc.</a:t>
            </a:r>
            <a:endParaRPr sz="2300"/>
          </a:p>
          <a:p>
            <a:pPr indent="-146050" lvl="0" marL="91440" rtl="0" algn="l">
              <a:lnSpc>
                <a:spcPct val="70000"/>
              </a:lnSpc>
              <a:spcBef>
                <a:spcPts val="1400"/>
              </a:spcBef>
              <a:spcAft>
                <a:spcPts val="0"/>
              </a:spcAft>
              <a:buSzPts val="2300"/>
              <a:buChar char=" "/>
            </a:pPr>
            <a:r>
              <a:rPr lang="en-US" sz="2300"/>
              <a:t>Logistic Regression is a significant machine learning algorithm because it has the ability to provide probabilities and classify new data using continuous and discrete datasets.</a:t>
            </a:r>
            <a:endParaRPr sz="2300"/>
          </a:p>
          <a:p>
            <a:pPr indent="0" lvl="0" marL="91440" rtl="0" algn="l">
              <a:lnSpc>
                <a:spcPct val="70000"/>
              </a:lnSpc>
              <a:spcBef>
                <a:spcPts val="1400"/>
              </a:spcBef>
              <a:spcAft>
                <a:spcPts val="0"/>
              </a:spcAft>
              <a:buSzPts val="2000"/>
              <a:buNone/>
            </a:pPr>
            <a:r>
              <a:t/>
            </a:r>
            <a:endParaRPr sz="1000"/>
          </a:p>
          <a:p>
            <a:pPr indent="-146050" lvl="0" marL="91440" rtl="0" algn="l">
              <a:lnSpc>
                <a:spcPct val="70000"/>
              </a:lnSpc>
              <a:spcBef>
                <a:spcPts val="1400"/>
              </a:spcBef>
              <a:spcAft>
                <a:spcPts val="0"/>
              </a:spcAft>
              <a:buSzPts val="2300"/>
              <a:buChar char=" "/>
            </a:pPr>
            <a:r>
              <a:rPr lang="en-US" sz="2300"/>
              <a:t>Some examples of such classifications and instances where the binary response is expected or implied are:</a:t>
            </a:r>
            <a:endParaRPr sz="2300"/>
          </a:p>
          <a:p>
            <a:pPr indent="-6350" lvl="0" marL="91440" rtl="0" algn="l">
              <a:lnSpc>
                <a:spcPct val="70000"/>
              </a:lnSpc>
              <a:spcBef>
                <a:spcPts val="1400"/>
              </a:spcBef>
              <a:spcAft>
                <a:spcPts val="0"/>
              </a:spcAft>
              <a:buSzPts val="100"/>
              <a:buChar char=" "/>
            </a:pPr>
            <a:r>
              <a:t/>
            </a:r>
            <a:endParaRPr sz="100"/>
          </a:p>
          <a:p>
            <a:pPr indent="-146050" lvl="0" marL="91440" rtl="0" algn="l">
              <a:lnSpc>
                <a:spcPct val="70000"/>
              </a:lnSpc>
              <a:spcBef>
                <a:spcPts val="1400"/>
              </a:spcBef>
              <a:spcAft>
                <a:spcPts val="0"/>
              </a:spcAft>
              <a:buSzPts val="2300"/>
              <a:buChar char=" "/>
            </a:pPr>
            <a:r>
              <a:rPr b="1" lang="en-US" sz="2300"/>
              <a:t>1. Determine the probability of heart attacks</a:t>
            </a:r>
            <a:r>
              <a:rPr lang="en-US" sz="2300"/>
              <a:t>: With the help of a logistic model, medical practitioners can determine the relationship between variables such as the weight, exercise, etc., of an individual and use it to predict whether the person will suffer from a heart attack or any other medical complication.</a:t>
            </a:r>
            <a:endParaRPr sz="2300"/>
          </a:p>
          <a:p>
            <a:pPr indent="-146050" lvl="0" marL="91440" rtl="0" algn="l">
              <a:lnSpc>
                <a:spcPct val="70000"/>
              </a:lnSpc>
              <a:spcBef>
                <a:spcPts val="1400"/>
              </a:spcBef>
              <a:spcAft>
                <a:spcPts val="0"/>
              </a:spcAft>
              <a:buSzPts val="2300"/>
              <a:buChar char=" "/>
            </a:pPr>
            <a:r>
              <a:rPr b="1" lang="en-US" sz="2300"/>
              <a:t>2. Possibility of enrolling into a university</a:t>
            </a:r>
            <a:r>
              <a:rPr lang="en-US" sz="2300"/>
              <a:t>: Application aggregators can determine the probability of a student getting accepted to a particular university or a degree course in a college by studying the relationship between the estimator variables, such as GRE, GMAT, or TOEFL scores.</a:t>
            </a:r>
            <a:endParaRPr sz="2300"/>
          </a:p>
          <a:p>
            <a:pPr indent="-146050" lvl="0" marL="91440" rtl="0" algn="l">
              <a:lnSpc>
                <a:spcPct val="70000"/>
              </a:lnSpc>
              <a:spcBef>
                <a:spcPts val="1400"/>
              </a:spcBef>
              <a:spcAft>
                <a:spcPts val="0"/>
              </a:spcAft>
              <a:buSzPts val="2300"/>
              <a:buChar char=" "/>
            </a:pPr>
            <a:r>
              <a:rPr b="1" lang="en-US" sz="2300"/>
              <a:t>3. Identifying spam emails</a:t>
            </a:r>
            <a:r>
              <a:rPr lang="en-US" sz="2300"/>
              <a:t>: Email inboxes are filtered to determine if the email communication is promotional/spam by understanding the predictor variables and applying a logistic regression algorithm to check its authenticity.</a:t>
            </a:r>
            <a:endParaRPr sz="23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1"/>
          <p:cNvSpPr txBox="1"/>
          <p:nvPr>
            <p:ph type="title"/>
          </p:nvPr>
        </p:nvSpPr>
        <p:spPr>
          <a:xfrm>
            <a:off x="221775" y="374755"/>
            <a:ext cx="10058400" cy="779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b="1" lang="en-US"/>
              <a:t>Key advantages of logistic regression</a:t>
            </a:r>
            <a:endParaRPr/>
          </a:p>
        </p:txBody>
      </p:sp>
      <p:pic>
        <p:nvPicPr>
          <p:cNvPr descr="https://images.spiceworks.com/wp-content/uploads/2022/04/11041041/52-1.png" id="323" name="Google Shape;323;p41"/>
          <p:cNvPicPr preferRelativeResize="0"/>
          <p:nvPr>
            <p:ph idx="1" type="body"/>
          </p:nvPr>
        </p:nvPicPr>
        <p:blipFill rotWithShape="1">
          <a:blip r:embed="rId3">
            <a:alphaModFix/>
          </a:blip>
          <a:srcRect b="0" l="0" r="0" t="0"/>
          <a:stretch/>
        </p:blipFill>
        <p:spPr>
          <a:xfrm>
            <a:off x="2622000" y="1263100"/>
            <a:ext cx="6948000" cy="5076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b="1" lang="en-US"/>
              <a:t>Logistic Regression Equation and Assumptions</a:t>
            </a:r>
            <a:endParaRPr/>
          </a:p>
        </p:txBody>
      </p:sp>
      <p:sp>
        <p:nvSpPr>
          <p:cNvPr id="329" name="Google Shape;329;p42"/>
          <p:cNvSpPr txBox="1"/>
          <p:nvPr>
            <p:ph idx="1" type="body"/>
          </p:nvPr>
        </p:nvSpPr>
        <p:spPr>
          <a:xfrm>
            <a:off x="279750" y="1845725"/>
            <a:ext cx="11393400" cy="4520400"/>
          </a:xfrm>
          <a:prstGeom prst="rect">
            <a:avLst/>
          </a:prstGeom>
          <a:noFill/>
          <a:ln>
            <a:noFill/>
          </a:ln>
        </p:spPr>
        <p:txBody>
          <a:bodyPr anchorCtr="0" anchor="t" bIns="45700" lIns="0" spcFirstLastPara="1" rIns="0" wrap="square" tIns="45700">
            <a:normAutofit lnSpcReduction="20000"/>
          </a:bodyPr>
          <a:lstStyle/>
          <a:p>
            <a:pPr indent="-135890" lvl="0" marL="91440" rtl="0" algn="l">
              <a:lnSpc>
                <a:spcPct val="90000"/>
              </a:lnSpc>
              <a:spcBef>
                <a:spcPts val="0"/>
              </a:spcBef>
              <a:spcAft>
                <a:spcPts val="0"/>
              </a:spcAft>
              <a:buSzPts val="2700"/>
              <a:buChar char=" "/>
            </a:pPr>
            <a:r>
              <a:rPr lang="en-US" sz="2700"/>
              <a:t>Logistic regression uses a logistic function called a sigmoid function to map predictions and their probabilities. The sigmoid function refers to an S-shaped curve that converts any real value to a range between 0 and 1.</a:t>
            </a:r>
            <a:endParaRPr sz="2700"/>
          </a:p>
          <a:p>
            <a:pPr indent="-135890" lvl="0" marL="91440" rtl="0" algn="l">
              <a:lnSpc>
                <a:spcPct val="90000"/>
              </a:lnSpc>
              <a:spcBef>
                <a:spcPts val="1400"/>
              </a:spcBef>
              <a:spcAft>
                <a:spcPts val="0"/>
              </a:spcAft>
              <a:buSzPts val="2700"/>
              <a:buChar char=" "/>
            </a:pPr>
            <a:r>
              <a:rPr lang="en-US" sz="2700"/>
              <a:t>Moreover, if the output of the sigmoid function (estimated probability) is greater than a predefined threshold on the graph, the model predicts that the instance belongs to that class. If the estimated probability is less than the predefined threshold, the model predicts that the instance does not belong to the class. </a:t>
            </a:r>
            <a:endParaRPr sz="2700"/>
          </a:p>
          <a:p>
            <a:pPr indent="-135890" lvl="0" marL="91440" rtl="0" algn="l">
              <a:lnSpc>
                <a:spcPct val="90000"/>
              </a:lnSpc>
              <a:spcBef>
                <a:spcPts val="1400"/>
              </a:spcBef>
              <a:spcAft>
                <a:spcPts val="0"/>
              </a:spcAft>
              <a:buSzPts val="2700"/>
              <a:buChar char=" "/>
            </a:pPr>
            <a:r>
              <a:rPr lang="en-US" sz="2700"/>
              <a:t>For example, if the output of the sigmoid function is above 0.5, the output is considered as 1. On the other hand, if the output is less than 0.5, the output is classified as 0. Also, if the graph goes further to the negative end, the predicted value of y will be 0 and vice versa. In other words, if the output of the sigmoid function is 0.65, it implies that there are 65% chances of the event occurring; a coin toss, for example.</a:t>
            </a:r>
            <a:endParaRPr sz="2700"/>
          </a:p>
        </p:txBody>
      </p:sp>
      <p:sp>
        <p:nvSpPr>
          <p:cNvPr id="330" name="Google Shape;330;p42"/>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a:t>
            </a:r>
            <a:r>
              <a:rPr lang="en-US">
                <a:solidFill>
                  <a:schemeClr val="lt1"/>
                </a:solidFill>
              </a:rPr>
              <a:t>Logistic Regression Equation and Assumptions</a:t>
            </a:r>
            <a:endParaRPr>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idx="1" type="body"/>
          </p:nvPr>
        </p:nvSpPr>
        <p:spPr>
          <a:xfrm>
            <a:off x="240150" y="54953"/>
            <a:ext cx="11711700" cy="153030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1400"/>
              </a:spcBef>
              <a:spcAft>
                <a:spcPts val="0"/>
              </a:spcAft>
              <a:buNone/>
            </a:pPr>
            <a:r>
              <a:rPr lang="en-US" sz="2300"/>
              <a:t>The sigmoid function is referred to as an activation function for logistic regression &amp; is defined as:</a:t>
            </a:r>
            <a:endParaRPr sz="2300"/>
          </a:p>
          <a:p>
            <a:pPr indent="-110490" lvl="0" marL="91440" rtl="0" algn="l">
              <a:lnSpc>
                <a:spcPct val="90000"/>
              </a:lnSpc>
              <a:spcBef>
                <a:spcPts val="1400"/>
              </a:spcBef>
              <a:spcAft>
                <a:spcPts val="0"/>
              </a:spcAft>
              <a:buSzPts val="2300"/>
              <a:buChar char=" "/>
            </a:pPr>
            <a:r>
              <a:rPr lang="en-US" sz="2300"/>
              <a:t>e = base of natural logarithms</a:t>
            </a:r>
            <a:endParaRPr sz="2300"/>
          </a:p>
          <a:p>
            <a:pPr indent="-110490" lvl="0" marL="91440" rtl="0" algn="l">
              <a:lnSpc>
                <a:spcPct val="90000"/>
              </a:lnSpc>
              <a:spcBef>
                <a:spcPts val="1400"/>
              </a:spcBef>
              <a:spcAft>
                <a:spcPts val="0"/>
              </a:spcAft>
              <a:buSzPts val="2300"/>
              <a:buChar char=" "/>
            </a:pPr>
            <a:r>
              <a:rPr lang="en-US" sz="2300"/>
              <a:t>value = numerical value one wishes to transform</a:t>
            </a:r>
            <a:endParaRPr sz="2300"/>
          </a:p>
          <a:p>
            <a:pPr indent="0" lvl="0" marL="91440" rtl="0" algn="l">
              <a:lnSpc>
                <a:spcPct val="90000"/>
              </a:lnSpc>
              <a:spcBef>
                <a:spcPts val="1400"/>
              </a:spcBef>
              <a:spcAft>
                <a:spcPts val="0"/>
              </a:spcAft>
              <a:buSzPts val="2000"/>
              <a:buNone/>
            </a:pPr>
            <a:r>
              <a:t/>
            </a:r>
            <a:endParaRPr sz="2300"/>
          </a:p>
          <a:p>
            <a:pPr indent="0" lvl="0" marL="91440" rtl="0" algn="l">
              <a:lnSpc>
                <a:spcPct val="90000"/>
              </a:lnSpc>
              <a:spcBef>
                <a:spcPts val="1400"/>
              </a:spcBef>
              <a:spcAft>
                <a:spcPts val="0"/>
              </a:spcAft>
              <a:buSzPts val="2000"/>
              <a:buNone/>
            </a:pPr>
            <a:r>
              <a:t/>
            </a:r>
            <a:endParaRPr sz="2300"/>
          </a:p>
        </p:txBody>
      </p:sp>
      <p:pic>
        <p:nvPicPr>
          <p:cNvPr descr="sigmoid function" id="336" name="Google Shape;336;p43"/>
          <p:cNvPicPr preferRelativeResize="0"/>
          <p:nvPr/>
        </p:nvPicPr>
        <p:blipFill rotWithShape="1">
          <a:blip r:embed="rId3">
            <a:alphaModFix/>
          </a:blip>
          <a:srcRect b="0" l="0" r="0" t="0"/>
          <a:stretch/>
        </p:blipFill>
        <p:spPr>
          <a:xfrm>
            <a:off x="7866388" y="556705"/>
            <a:ext cx="2543175" cy="828676"/>
          </a:xfrm>
          <a:prstGeom prst="rect">
            <a:avLst/>
          </a:prstGeom>
          <a:noFill/>
          <a:ln>
            <a:noFill/>
          </a:ln>
        </p:spPr>
      </p:pic>
      <p:pic>
        <p:nvPicPr>
          <p:cNvPr descr="Equation of Logistic Regression" id="337" name="Google Shape;337;p43"/>
          <p:cNvPicPr preferRelativeResize="0"/>
          <p:nvPr>
            <p:ph idx="1" type="body"/>
          </p:nvPr>
        </p:nvPicPr>
        <p:blipFill rotWithShape="1">
          <a:blip r:embed="rId4">
            <a:alphaModFix/>
          </a:blip>
          <a:srcRect b="0" l="0" r="0" t="0"/>
          <a:stretch/>
        </p:blipFill>
        <p:spPr>
          <a:xfrm>
            <a:off x="7866400" y="1850050"/>
            <a:ext cx="2543100" cy="2116500"/>
          </a:xfrm>
          <a:prstGeom prst="rect">
            <a:avLst/>
          </a:prstGeom>
          <a:noFill/>
          <a:ln>
            <a:noFill/>
          </a:ln>
        </p:spPr>
      </p:pic>
      <p:sp>
        <p:nvSpPr>
          <p:cNvPr id="338" name="Google Shape;338;p43"/>
          <p:cNvSpPr txBox="1"/>
          <p:nvPr/>
        </p:nvSpPr>
        <p:spPr>
          <a:xfrm>
            <a:off x="199549" y="1850050"/>
            <a:ext cx="76668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latin typeface="Calibri"/>
                <a:ea typeface="Calibri"/>
                <a:cs typeface="Calibri"/>
                <a:sym typeface="Calibri"/>
              </a:rPr>
              <a:t>x = input value</a:t>
            </a:r>
            <a:r>
              <a:rPr lang="en-US" sz="2600">
                <a:solidFill>
                  <a:schemeClr val="dk1"/>
                </a:solidFill>
              </a:rPr>
              <a:t>  | </a:t>
            </a:r>
            <a:r>
              <a:rPr lang="en-US" sz="2600">
                <a:solidFill>
                  <a:schemeClr val="dk1"/>
                </a:solidFill>
                <a:latin typeface="Calibri"/>
                <a:ea typeface="Calibri"/>
                <a:cs typeface="Calibri"/>
                <a:sym typeface="Calibri"/>
              </a:rPr>
              <a:t>y = predicted output</a:t>
            </a:r>
            <a:endParaRPr sz="2600">
              <a:solidFill>
                <a:schemeClr val="dk1"/>
              </a:solidFill>
            </a:endParaRPr>
          </a:p>
          <a:p>
            <a:pPr indent="0" lvl="0" marL="0" rtl="0" algn="l">
              <a:spcBef>
                <a:spcPts val="0"/>
              </a:spcBef>
              <a:spcAft>
                <a:spcPts val="0"/>
              </a:spcAft>
              <a:buNone/>
            </a:pPr>
            <a:r>
              <a:rPr lang="en-US" sz="2600">
                <a:solidFill>
                  <a:schemeClr val="dk1"/>
                </a:solidFill>
                <a:latin typeface="Calibri"/>
                <a:ea typeface="Calibri"/>
                <a:cs typeface="Calibri"/>
                <a:sym typeface="Calibri"/>
              </a:rPr>
              <a:t>b0 = bias or intercept term</a:t>
            </a:r>
            <a:r>
              <a:rPr lang="en-US" sz="2600">
                <a:solidFill>
                  <a:schemeClr val="dk1"/>
                </a:solidFill>
              </a:rPr>
              <a:t> </a:t>
            </a:r>
            <a:endParaRPr sz="2600">
              <a:solidFill>
                <a:schemeClr val="dk1"/>
              </a:solidFill>
            </a:endParaRPr>
          </a:p>
          <a:p>
            <a:pPr indent="0" lvl="0" marL="0" rtl="0" algn="l">
              <a:spcBef>
                <a:spcPts val="0"/>
              </a:spcBef>
              <a:spcAft>
                <a:spcPts val="0"/>
              </a:spcAft>
              <a:buNone/>
            </a:pPr>
            <a:r>
              <a:rPr lang="en-US" sz="2600">
                <a:solidFill>
                  <a:schemeClr val="dk1"/>
                </a:solidFill>
                <a:latin typeface="Calibri"/>
                <a:ea typeface="Calibri"/>
                <a:cs typeface="Calibri"/>
                <a:sym typeface="Calibri"/>
              </a:rPr>
              <a:t>b1 = coefficient for input (x)</a:t>
            </a:r>
            <a:endParaRPr sz="2600">
              <a:solidFill>
                <a:schemeClr val="dk1"/>
              </a:solidFill>
            </a:endParaRPr>
          </a:p>
          <a:p>
            <a:pPr indent="0" lvl="0" marL="0" rtl="0" algn="l">
              <a:spcBef>
                <a:spcPts val="0"/>
              </a:spcBef>
              <a:spcAft>
                <a:spcPts val="0"/>
              </a:spcAft>
              <a:buNone/>
            </a:pPr>
            <a:r>
              <a:rPr lang="en-US" sz="2600">
                <a:solidFill>
                  <a:schemeClr val="dk1"/>
                </a:solidFill>
                <a:latin typeface="Calibri"/>
                <a:ea typeface="Calibri"/>
                <a:cs typeface="Calibri"/>
                <a:sym typeface="Calibri"/>
              </a:rPr>
              <a:t>This equation is similar to linear regression, where the input values are combined linearly to predict an output value</a:t>
            </a:r>
            <a:endParaRPr sz="2600">
              <a:solidFill>
                <a:schemeClr val="dk1"/>
              </a:solidFill>
            </a:endParaRPr>
          </a:p>
          <a:p>
            <a:pPr indent="0" lvl="0" marL="0" rtl="0" algn="l">
              <a:spcBef>
                <a:spcPts val="0"/>
              </a:spcBef>
              <a:spcAft>
                <a:spcPts val="0"/>
              </a:spcAft>
              <a:buNone/>
            </a:pPr>
            <a:r>
              <a:rPr lang="en-US" sz="2600">
                <a:solidFill>
                  <a:schemeClr val="dk1"/>
                </a:solidFill>
                <a:latin typeface="Calibri"/>
                <a:ea typeface="Calibri"/>
                <a:cs typeface="Calibri"/>
                <a:sym typeface="Calibri"/>
              </a:rPr>
              <a:t> using weights or coefficient values. </a:t>
            </a:r>
            <a:endParaRPr sz="2600">
              <a:solidFill>
                <a:schemeClr val="dk1"/>
              </a:solidFill>
              <a:latin typeface="Calibri"/>
              <a:ea typeface="Calibri"/>
              <a:cs typeface="Calibri"/>
              <a:sym typeface="Calibri"/>
            </a:endParaRPr>
          </a:p>
          <a:p>
            <a:pPr indent="0" lvl="0" marL="0" rtl="0" algn="l">
              <a:spcBef>
                <a:spcPts val="0"/>
              </a:spcBef>
              <a:spcAft>
                <a:spcPts val="0"/>
              </a:spcAft>
              <a:buNone/>
            </a:pPr>
            <a:r>
              <a:rPr lang="en-US" sz="2600">
                <a:solidFill>
                  <a:schemeClr val="dk1"/>
                </a:solidFill>
                <a:latin typeface="Calibri"/>
                <a:ea typeface="Calibri"/>
                <a:cs typeface="Calibri"/>
                <a:sym typeface="Calibri"/>
              </a:rPr>
              <a:t>However, unlike linear regression, the output value modeled here is a binary value</a:t>
            </a:r>
            <a:r>
              <a:rPr lang="en-US" sz="2600">
                <a:solidFill>
                  <a:schemeClr val="dk1"/>
                </a:solidFill>
              </a:rPr>
              <a:t> </a:t>
            </a:r>
            <a:r>
              <a:rPr lang="en-US" sz="2600">
                <a:solidFill>
                  <a:schemeClr val="dk1"/>
                </a:solidFill>
                <a:latin typeface="Calibri"/>
                <a:ea typeface="Calibri"/>
                <a:cs typeface="Calibri"/>
                <a:sym typeface="Calibri"/>
              </a:rPr>
              <a:t>(0 or 1) rather than a numeric value.</a:t>
            </a:r>
            <a:endParaRPr sz="2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descr="Logistic Regression - Sigmoid Function" id="343" name="Google Shape;343;p45"/>
          <p:cNvPicPr preferRelativeResize="0"/>
          <p:nvPr/>
        </p:nvPicPr>
        <p:blipFill rotWithShape="1">
          <a:blip r:embed="rId3">
            <a:alphaModFix/>
          </a:blip>
          <a:srcRect b="0" l="0" r="0" t="0"/>
          <a:stretch/>
        </p:blipFill>
        <p:spPr>
          <a:xfrm>
            <a:off x="1416150" y="0"/>
            <a:ext cx="8663375" cy="63050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6"/>
          <p:cNvSpPr txBox="1"/>
          <p:nvPr>
            <p:ph type="title"/>
          </p:nvPr>
        </p:nvSpPr>
        <p:spPr>
          <a:xfrm>
            <a:off x="1097275" y="286600"/>
            <a:ext cx="109605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349" name="Google Shape;349;p46"/>
          <p:cNvSpPr txBox="1"/>
          <p:nvPr>
            <p:ph idx="1" type="body"/>
          </p:nvPr>
        </p:nvSpPr>
        <p:spPr>
          <a:xfrm>
            <a:off x="280200" y="1845725"/>
            <a:ext cx="11631600" cy="402330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800"/>
              <a:buFont typeface="Noto Sans Symbols"/>
              <a:buChar char="❑"/>
            </a:pPr>
            <a:r>
              <a:rPr lang="en-US" sz="2800"/>
              <a:t>Logistic </a:t>
            </a:r>
            <a:r>
              <a:rPr lang="en-US" sz="2800"/>
              <a:t>regression’s</a:t>
            </a:r>
            <a:r>
              <a:rPr lang="en-US" sz="2800"/>
              <a:t> dependent variable obeys ‘Bernoulli distribution’ (0 &amp; 1)</a:t>
            </a:r>
            <a:endParaRPr/>
          </a:p>
          <a:p>
            <a:pPr indent="-91440" lvl="0" marL="91440" rtl="0" algn="l">
              <a:lnSpc>
                <a:spcPct val="90000"/>
              </a:lnSpc>
              <a:spcBef>
                <a:spcPts val="1400"/>
              </a:spcBef>
              <a:spcAft>
                <a:spcPts val="0"/>
              </a:spcAft>
              <a:buSzPts val="2800"/>
              <a:buFont typeface="Noto Sans Symbols"/>
              <a:buChar char="❑"/>
            </a:pPr>
            <a:r>
              <a:rPr lang="en-US" sz="2800"/>
              <a:t>Estimation/prediction is based on ‘maximum likelihood.’</a:t>
            </a:r>
            <a:endParaRPr/>
          </a:p>
          <a:p>
            <a:pPr indent="-91440" lvl="0" marL="91440" rtl="0" algn="l">
              <a:lnSpc>
                <a:spcPct val="90000"/>
              </a:lnSpc>
              <a:spcBef>
                <a:spcPts val="1400"/>
              </a:spcBef>
              <a:spcAft>
                <a:spcPts val="0"/>
              </a:spcAft>
              <a:buSzPts val="2800"/>
              <a:buFont typeface="Noto Sans Symbols"/>
              <a:buChar char="❑"/>
            </a:pPr>
            <a:r>
              <a:rPr lang="en-US" sz="2800"/>
              <a:t>Logistic regression does not evaluate the coefficient of determination (or R squared) as observed in linear regression’. Instead, the model’s fitness is assessed through a concordance.</a:t>
            </a:r>
            <a:endParaRPr/>
          </a:p>
          <a:p>
            <a:pPr indent="0" lvl="0" marL="91440" rtl="0" algn="l">
              <a:lnSpc>
                <a:spcPct val="90000"/>
              </a:lnSpc>
              <a:spcBef>
                <a:spcPts val="1400"/>
              </a:spcBef>
              <a:spcAft>
                <a:spcPts val="0"/>
              </a:spcAft>
              <a:buSzPts val="2000"/>
              <a:buNone/>
            </a:pPr>
            <a:r>
              <a:t/>
            </a:r>
            <a:endParaRPr/>
          </a:p>
        </p:txBody>
      </p:sp>
      <p:sp>
        <p:nvSpPr>
          <p:cNvPr id="350" name="Google Shape;350;p46"/>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sz="4700">
                <a:solidFill>
                  <a:schemeClr val="lt1"/>
                </a:solidFill>
              </a:rPr>
              <a:t> Key properties of the logistic regression equation</a:t>
            </a:r>
            <a:endParaRPr sz="4700">
              <a:solidFill>
                <a:schemeClr val="lt1"/>
              </a:solidFill>
            </a:endParaRPr>
          </a:p>
        </p:txBody>
      </p:sp>
      <p:graphicFrame>
        <p:nvGraphicFramePr>
          <p:cNvPr id="351" name="Google Shape;351;p46"/>
          <p:cNvGraphicFramePr/>
          <p:nvPr/>
        </p:nvGraphicFramePr>
        <p:xfrm>
          <a:off x="0" y="5514725"/>
          <a:ext cx="3000000" cy="3000000"/>
        </p:xfrm>
        <a:graphic>
          <a:graphicData uri="http://schemas.openxmlformats.org/drawingml/2006/table">
            <a:tbl>
              <a:tblPr>
                <a:noFill/>
                <a:tableStyleId>{FE8F6AE6-FC75-4CDE-9B51-97FB0D33CB15}</a:tableStyleId>
              </a:tblPr>
              <a:tblGrid>
                <a:gridCol w="1778075"/>
                <a:gridCol w="3801375"/>
              </a:tblGrid>
              <a:tr h="233725">
                <a:tc>
                  <a:txBody>
                    <a:bodyPr/>
                    <a:lstStyle/>
                    <a:p>
                      <a:pPr indent="0" lvl="0" marL="0" rtl="0" algn="l">
                        <a:spcBef>
                          <a:spcPts val="0"/>
                        </a:spcBef>
                        <a:spcAft>
                          <a:spcPts val="0"/>
                        </a:spcAft>
                        <a:buNone/>
                      </a:pPr>
                      <a:r>
                        <a:rPr b="1" lang="en-US" sz="1100"/>
                        <a:t>Maximum likelihood</a:t>
                      </a:r>
                      <a:endParaRPr b="1" sz="1100"/>
                    </a:p>
                  </a:txBody>
                  <a:tcPr marT="91425" marB="91425" marR="91425" marL="91425"/>
                </a:tc>
                <a:tc>
                  <a:txBody>
                    <a:bodyPr/>
                    <a:lstStyle/>
                    <a:p>
                      <a:pPr indent="0" lvl="0" marL="0" rtl="0" algn="l">
                        <a:spcBef>
                          <a:spcPts val="0"/>
                        </a:spcBef>
                        <a:spcAft>
                          <a:spcPts val="0"/>
                        </a:spcAft>
                        <a:buNone/>
                      </a:pPr>
                      <a:r>
                        <a:rPr lang="en-US" sz="1100"/>
                        <a:t>Model chooses the curve that </a:t>
                      </a:r>
                      <a:r>
                        <a:rPr b="1" lang="en-US" sz="1100"/>
                        <a:t>fits the data best</a:t>
                      </a:r>
                      <a:r>
                        <a:rPr lang="en-US" sz="1100"/>
                        <a:t>.</a:t>
                      </a:r>
                      <a:endParaRPr sz="1100"/>
                    </a:p>
                  </a:txBody>
                  <a:tcPr marT="91425" marB="91425" marR="91425" marL="91425"/>
                </a:tc>
              </a:tr>
            </a:tbl>
          </a:graphicData>
        </a:graphic>
      </p:graphicFrame>
      <p:graphicFrame>
        <p:nvGraphicFramePr>
          <p:cNvPr id="352" name="Google Shape;352;p46"/>
          <p:cNvGraphicFramePr/>
          <p:nvPr/>
        </p:nvGraphicFramePr>
        <p:xfrm>
          <a:off x="0" y="5869025"/>
          <a:ext cx="3000000" cy="3000000"/>
        </p:xfrm>
        <a:graphic>
          <a:graphicData uri="http://schemas.openxmlformats.org/drawingml/2006/table">
            <a:tbl>
              <a:tblPr>
                <a:noFill/>
                <a:tableStyleId>{FE8F6AE6-FC75-4CDE-9B51-97FB0D33CB15}</a:tableStyleId>
              </a:tblPr>
              <a:tblGrid>
                <a:gridCol w="1717075"/>
                <a:gridCol w="3559775"/>
              </a:tblGrid>
              <a:tr h="377025">
                <a:tc>
                  <a:txBody>
                    <a:bodyPr/>
                    <a:lstStyle/>
                    <a:p>
                      <a:pPr indent="0" lvl="0" marL="0" rtl="0" algn="l">
                        <a:spcBef>
                          <a:spcPts val="0"/>
                        </a:spcBef>
                        <a:spcAft>
                          <a:spcPts val="0"/>
                        </a:spcAft>
                        <a:buNone/>
                      </a:pPr>
                      <a:r>
                        <a:rPr b="1" lang="en-US" sz="1100"/>
                        <a:t>No R²; use concordance</a:t>
                      </a:r>
                      <a:endParaRPr b="1" sz="1100"/>
                    </a:p>
                  </a:txBody>
                  <a:tcPr marT="91425" marB="91425" marR="91425" marL="91425"/>
                </a:tc>
                <a:tc>
                  <a:txBody>
                    <a:bodyPr/>
                    <a:lstStyle/>
                    <a:p>
                      <a:pPr indent="0" lvl="0" marL="0" rtl="0" algn="l">
                        <a:spcBef>
                          <a:spcPts val="0"/>
                        </a:spcBef>
                        <a:spcAft>
                          <a:spcPts val="0"/>
                        </a:spcAft>
                        <a:buNone/>
                      </a:pPr>
                      <a:r>
                        <a:rPr lang="en-US" sz="1100"/>
                        <a:t>Measures how well model </a:t>
                      </a:r>
                      <a:r>
                        <a:rPr b="1" lang="en-US" sz="1100"/>
                        <a:t>distinguishes 0s from 1s</a:t>
                      </a:r>
                      <a:r>
                        <a:rPr lang="en-US" sz="1100"/>
                        <a:t>.</a:t>
                      </a:r>
                      <a:endParaRPr sz="1100"/>
                    </a:p>
                  </a:txBody>
                  <a:tcPr marT="91425" marB="91425" marR="91425" marL="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descr="Key Assumptions for Implementing Logistic Regression" id="357" name="Google Shape;357;p47"/>
          <p:cNvPicPr preferRelativeResize="0"/>
          <p:nvPr/>
        </p:nvPicPr>
        <p:blipFill rotWithShape="1">
          <a:blip r:embed="rId3">
            <a:alphaModFix/>
          </a:blip>
          <a:srcRect b="0" l="0" r="0" t="8558"/>
          <a:stretch/>
        </p:blipFill>
        <p:spPr>
          <a:xfrm>
            <a:off x="2549625" y="0"/>
            <a:ext cx="6858000" cy="6858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8"/>
          <p:cNvSpPr txBox="1"/>
          <p:nvPr>
            <p:ph idx="1" type="body"/>
          </p:nvPr>
        </p:nvSpPr>
        <p:spPr>
          <a:xfrm>
            <a:off x="126450" y="1900675"/>
            <a:ext cx="11784900" cy="930300"/>
          </a:xfrm>
          <a:prstGeom prst="rect">
            <a:avLst/>
          </a:prstGeom>
          <a:noFill/>
          <a:ln>
            <a:noFill/>
          </a:ln>
        </p:spPr>
        <p:txBody>
          <a:bodyPr anchorCtr="0" anchor="t" bIns="45700" lIns="0" spcFirstLastPara="1" rIns="0" wrap="square" tIns="45700">
            <a:noAutofit/>
          </a:bodyPr>
          <a:lstStyle/>
          <a:p>
            <a:pPr indent="-116840" lvl="0" marL="91440" rtl="0" algn="l">
              <a:lnSpc>
                <a:spcPct val="90000"/>
              </a:lnSpc>
              <a:spcBef>
                <a:spcPts val="0"/>
              </a:spcBef>
              <a:spcAft>
                <a:spcPts val="0"/>
              </a:spcAft>
              <a:buSzPts val="2400"/>
              <a:buChar char=" "/>
            </a:pPr>
            <a:r>
              <a:rPr lang="en-US" sz="2400"/>
              <a:t>Logistic Regression can be used to classify the observations using different types of data and can easily determine the most effective variables used for the classification. The below image is showing the logistic function:</a:t>
            </a:r>
            <a:endParaRPr sz="2400"/>
          </a:p>
        </p:txBody>
      </p:sp>
      <p:pic>
        <p:nvPicPr>
          <p:cNvPr id="363" name="Google Shape;363;p48"/>
          <p:cNvPicPr preferRelativeResize="0"/>
          <p:nvPr/>
        </p:nvPicPr>
        <p:blipFill rotWithShape="1">
          <a:blip r:embed="rId3">
            <a:alphaModFix/>
          </a:blip>
          <a:srcRect b="0" l="0" r="0" t="0"/>
          <a:stretch/>
        </p:blipFill>
        <p:spPr>
          <a:xfrm>
            <a:off x="3448312" y="3127976"/>
            <a:ext cx="5295375" cy="3177225"/>
          </a:xfrm>
          <a:prstGeom prst="rect">
            <a:avLst/>
          </a:prstGeom>
          <a:noFill/>
          <a:ln>
            <a:noFill/>
          </a:ln>
        </p:spPr>
      </p:pic>
      <p:sp>
        <p:nvSpPr>
          <p:cNvPr id="364" name="Google Shape;364;p48"/>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a:t>
            </a:r>
            <a:r>
              <a:rPr lang="en-US">
                <a:solidFill>
                  <a:schemeClr val="lt1"/>
                </a:solidFill>
                <a:latin typeface="Calibri"/>
                <a:ea typeface="Calibri"/>
                <a:cs typeface="Calibri"/>
                <a:sym typeface="Calibri"/>
              </a:rPr>
              <a:t>Logistic Regression in Machine Learning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370" name="Google Shape;370;p49"/>
          <p:cNvSpPr txBox="1"/>
          <p:nvPr>
            <p:ph idx="1" type="body"/>
          </p:nvPr>
        </p:nvSpPr>
        <p:spPr>
          <a:xfrm>
            <a:off x="188175" y="1845725"/>
            <a:ext cx="11668200" cy="4483800"/>
          </a:xfrm>
          <a:prstGeom prst="rect">
            <a:avLst/>
          </a:prstGeom>
          <a:noFill/>
          <a:ln>
            <a:noFill/>
          </a:ln>
        </p:spPr>
        <p:txBody>
          <a:bodyPr anchorCtr="0" anchor="t" bIns="45700" lIns="0" spcFirstLastPara="1" rIns="0" wrap="square" tIns="45700">
            <a:noAutofit/>
          </a:bodyPr>
          <a:lstStyle/>
          <a:p>
            <a:pPr indent="-123190" lvl="0" marL="91440" rtl="0" algn="l">
              <a:lnSpc>
                <a:spcPct val="90000"/>
              </a:lnSpc>
              <a:spcBef>
                <a:spcPts val="0"/>
              </a:spcBef>
              <a:spcAft>
                <a:spcPts val="0"/>
              </a:spcAft>
              <a:buSzPts val="2500"/>
              <a:buChar char=" "/>
            </a:pPr>
            <a:r>
              <a:rPr lang="en-US" sz="2500"/>
              <a:t>Logistic regression uses the concept of </a:t>
            </a:r>
            <a:r>
              <a:rPr b="1" lang="en-US" sz="2500"/>
              <a:t>predictive modeling as regression</a:t>
            </a:r>
            <a:r>
              <a:rPr lang="en-US" sz="2500"/>
              <a:t>; therefore, it is called logistic regression, but is used to classify samples; Therefore, it falls under the </a:t>
            </a:r>
            <a:r>
              <a:rPr b="1" lang="en-US" sz="2500"/>
              <a:t>classification algorithm</a:t>
            </a:r>
            <a:r>
              <a:rPr lang="en-US" sz="2500"/>
              <a:t>.</a:t>
            </a:r>
            <a:endParaRPr sz="2500"/>
          </a:p>
          <a:p>
            <a:pPr indent="-123190" lvl="0" marL="91440" rtl="0" algn="l">
              <a:lnSpc>
                <a:spcPct val="90000"/>
              </a:lnSpc>
              <a:spcBef>
                <a:spcPts val="1400"/>
              </a:spcBef>
              <a:spcAft>
                <a:spcPts val="0"/>
              </a:spcAft>
              <a:buSzPts val="2500"/>
              <a:buChar char=" "/>
            </a:pPr>
            <a:r>
              <a:rPr lang="en-US" sz="2500"/>
              <a:t>Sigmoid function is a mathematical function used to map the predicted values to probabilities. It maps any real value into another value within a range of 0 and 1.</a:t>
            </a:r>
            <a:endParaRPr sz="2500"/>
          </a:p>
          <a:p>
            <a:pPr indent="-123190" lvl="0" marL="91440" rtl="0" algn="l">
              <a:lnSpc>
                <a:spcPct val="90000"/>
              </a:lnSpc>
              <a:spcBef>
                <a:spcPts val="1400"/>
              </a:spcBef>
              <a:spcAft>
                <a:spcPts val="0"/>
              </a:spcAft>
              <a:buSzPts val="2500"/>
              <a:buChar char=" "/>
            </a:pPr>
            <a:r>
              <a:rPr lang="en-US" sz="2500"/>
              <a:t>The value of the logistic regression must be between 0 and 1, which cannot go beyond this limit, so it forms a curve like the "S" form. The S-form curve is called the Sigmoid function or the logistic function.</a:t>
            </a:r>
            <a:endParaRPr sz="2500"/>
          </a:p>
          <a:p>
            <a:pPr indent="0" lvl="0" marL="457200" rtl="0" algn="l">
              <a:lnSpc>
                <a:spcPct val="90000"/>
              </a:lnSpc>
              <a:spcBef>
                <a:spcPts val="1400"/>
              </a:spcBef>
              <a:spcAft>
                <a:spcPts val="0"/>
              </a:spcAft>
              <a:buNone/>
            </a:pPr>
            <a:r>
              <a:t/>
            </a:r>
            <a:endParaRPr sz="2500"/>
          </a:p>
          <a:p>
            <a:pPr indent="0" lvl="0" marL="91440" rtl="0" algn="l">
              <a:lnSpc>
                <a:spcPct val="90000"/>
              </a:lnSpc>
              <a:spcBef>
                <a:spcPts val="1400"/>
              </a:spcBef>
              <a:spcAft>
                <a:spcPts val="0"/>
              </a:spcAft>
              <a:buSzPts val="2000"/>
              <a:buNone/>
            </a:pPr>
            <a:r>
              <a:t/>
            </a:r>
            <a:endParaRPr sz="2500"/>
          </a:p>
        </p:txBody>
      </p:sp>
      <p:sp>
        <p:nvSpPr>
          <p:cNvPr id="371" name="Google Shape;371;p49"/>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latin typeface="Calibri"/>
                <a:ea typeface="Calibri"/>
                <a:cs typeface="Calibri"/>
                <a:sym typeface="Calibri"/>
              </a:rPr>
              <a:t>Logistic Regression in Machine Learning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Assumptions for Logistic Regression:</a:t>
            </a:r>
            <a:br>
              <a:rPr lang="en-US"/>
            </a:br>
            <a:endParaRPr/>
          </a:p>
        </p:txBody>
      </p:sp>
      <p:sp>
        <p:nvSpPr>
          <p:cNvPr id="377" name="Google Shape;377;p50"/>
          <p:cNvSpPr txBox="1"/>
          <p:nvPr>
            <p:ph idx="1" type="body"/>
          </p:nvPr>
        </p:nvSpPr>
        <p:spPr>
          <a:xfrm>
            <a:off x="243125" y="1845725"/>
            <a:ext cx="11613300" cy="3311400"/>
          </a:xfrm>
          <a:prstGeom prst="rect">
            <a:avLst/>
          </a:prstGeom>
          <a:noFill/>
          <a:ln>
            <a:noFill/>
          </a:ln>
        </p:spPr>
        <p:txBody>
          <a:bodyPr anchorCtr="0" anchor="t" bIns="45700" lIns="0" spcFirstLastPara="1" rIns="0" wrap="square" tIns="45700">
            <a:noAutofit/>
          </a:bodyPr>
          <a:lstStyle/>
          <a:p>
            <a:pPr indent="-381000" lvl="0" marL="457200" rtl="0" algn="l">
              <a:lnSpc>
                <a:spcPct val="90000"/>
              </a:lnSpc>
              <a:spcBef>
                <a:spcPts val="0"/>
              </a:spcBef>
              <a:spcAft>
                <a:spcPts val="0"/>
              </a:spcAft>
              <a:buSzPts val="2400"/>
              <a:buAutoNum type="arabicPeriod"/>
            </a:pPr>
            <a:r>
              <a:rPr lang="en-US" sz="2400"/>
              <a:t>The dependent variable must be categorical in nature.</a:t>
            </a:r>
            <a:endParaRPr sz="2400"/>
          </a:p>
          <a:p>
            <a:pPr indent="-381000" lvl="0" marL="457200" rtl="0" algn="l">
              <a:lnSpc>
                <a:spcPct val="90000"/>
              </a:lnSpc>
              <a:spcBef>
                <a:spcPts val="0"/>
              </a:spcBef>
              <a:spcAft>
                <a:spcPts val="0"/>
              </a:spcAft>
              <a:buSzPts val="2400"/>
              <a:buAutoNum type="arabicPeriod"/>
            </a:pPr>
            <a:r>
              <a:rPr lang="en-US" sz="2400"/>
              <a:t>The independent variable should not have multi-collinearity.</a:t>
            </a:r>
            <a:endParaRPr sz="2400"/>
          </a:p>
          <a:p>
            <a:pPr indent="0" lvl="0" marL="457200" rtl="0" algn="l">
              <a:lnSpc>
                <a:spcPct val="90000"/>
              </a:lnSpc>
              <a:spcBef>
                <a:spcPts val="0"/>
              </a:spcBef>
              <a:spcAft>
                <a:spcPts val="0"/>
              </a:spcAft>
              <a:buNone/>
            </a:pPr>
            <a:r>
              <a:rPr lang="en-US" sz="2400"/>
              <a:t>Multicollinearity is a statistical concept where several independent variables in a model are correlated. Two variables are considered perfectly collinear if their correlation coefficient is +/- 1.0. Multicollinearity among independent variables will result in less reliable statistical inferences</a:t>
            </a:r>
            <a:endParaRPr sz="2400"/>
          </a:p>
          <a:p>
            <a:pPr indent="-381000" lvl="0" marL="457200" rtl="0" algn="l">
              <a:lnSpc>
                <a:spcPct val="90000"/>
              </a:lnSpc>
              <a:spcBef>
                <a:spcPts val="0"/>
              </a:spcBef>
              <a:spcAft>
                <a:spcPts val="0"/>
              </a:spcAft>
              <a:buSzPts val="2400"/>
              <a:buAutoNum type="arabicPeriod"/>
            </a:pPr>
            <a:r>
              <a:rPr lang="en-US" sz="2400"/>
              <a:t>Logistic Regression Equation: Can be obtained from the Linear Regression equation. The mathematical steps to get Logistic Regression equations are given below:</a:t>
            </a:r>
            <a:endParaRPr sz="2400"/>
          </a:p>
          <a:p>
            <a:pPr indent="-381000" lvl="0" marL="457200" rtl="0" algn="l">
              <a:spcBef>
                <a:spcPts val="1400"/>
              </a:spcBef>
              <a:spcAft>
                <a:spcPts val="0"/>
              </a:spcAft>
              <a:buSzPts val="2400"/>
              <a:buChar char=" "/>
            </a:pPr>
            <a:r>
              <a:rPr lang="en-US" sz="2400"/>
              <a:t>We know the equation of the straight line can be written as:</a:t>
            </a:r>
            <a:endParaRPr sz="2400"/>
          </a:p>
        </p:txBody>
      </p:sp>
      <p:sp>
        <p:nvSpPr>
          <p:cNvPr id="378" name="Google Shape;378;p50"/>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Assumptions for </a:t>
            </a:r>
            <a:r>
              <a:rPr lang="en-US">
                <a:solidFill>
                  <a:schemeClr val="lt1"/>
                </a:solidFill>
                <a:latin typeface="Calibri"/>
                <a:ea typeface="Calibri"/>
                <a:cs typeface="Calibri"/>
                <a:sym typeface="Calibri"/>
              </a:rPr>
              <a:t>Logistic Regression</a:t>
            </a:r>
            <a:endParaRPr/>
          </a:p>
        </p:txBody>
      </p:sp>
      <p:pic>
        <p:nvPicPr>
          <p:cNvPr id="379" name="Google Shape;379;p50"/>
          <p:cNvPicPr preferRelativeResize="0"/>
          <p:nvPr/>
        </p:nvPicPr>
        <p:blipFill rotWithShape="1">
          <a:blip r:embed="rId3">
            <a:alphaModFix/>
          </a:blip>
          <a:srcRect b="0" l="10219" r="16728" t="0"/>
          <a:stretch/>
        </p:blipFill>
        <p:spPr>
          <a:xfrm>
            <a:off x="1708500" y="5157125"/>
            <a:ext cx="7217025" cy="7951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2"/>
          <p:cNvSpPr txBox="1"/>
          <p:nvPr>
            <p:ph idx="1" type="body"/>
          </p:nvPr>
        </p:nvSpPr>
        <p:spPr>
          <a:xfrm>
            <a:off x="48750" y="1804425"/>
            <a:ext cx="12094500" cy="1058400"/>
          </a:xfrm>
          <a:prstGeom prst="rect">
            <a:avLst/>
          </a:prstGeom>
          <a:noFill/>
          <a:ln>
            <a:noFill/>
          </a:ln>
        </p:spPr>
        <p:txBody>
          <a:bodyPr anchorCtr="0" anchor="t" bIns="45700" lIns="0" spcFirstLastPara="1" rIns="0" wrap="square" tIns="45700">
            <a:normAutofit/>
          </a:bodyPr>
          <a:lstStyle/>
          <a:p>
            <a:pPr indent="-116840" lvl="0" marL="91440" rtl="0" algn="l">
              <a:lnSpc>
                <a:spcPct val="90000"/>
              </a:lnSpc>
              <a:spcBef>
                <a:spcPts val="0"/>
              </a:spcBef>
              <a:spcAft>
                <a:spcPts val="0"/>
              </a:spcAft>
              <a:buSzPts val="2400"/>
              <a:buChar char=" "/>
            </a:pPr>
            <a:r>
              <a:rPr lang="en-US" sz="2400"/>
              <a:t>In Logistic Regression y can be between 0 and 1 only, so for this let's divide the above equation by (1-y):</a:t>
            </a:r>
            <a:endParaRPr sz="2400"/>
          </a:p>
        </p:txBody>
      </p:sp>
      <p:pic>
        <p:nvPicPr>
          <p:cNvPr id="385" name="Google Shape;385;p52"/>
          <p:cNvPicPr preferRelativeResize="0"/>
          <p:nvPr/>
        </p:nvPicPr>
        <p:blipFill rotWithShape="1">
          <a:blip r:embed="rId3">
            <a:alphaModFix/>
          </a:blip>
          <a:srcRect b="0" l="12556" r="0" t="15239"/>
          <a:stretch/>
        </p:blipFill>
        <p:spPr>
          <a:xfrm>
            <a:off x="2532225" y="2862813"/>
            <a:ext cx="6919950" cy="1132375"/>
          </a:xfrm>
          <a:prstGeom prst="rect">
            <a:avLst/>
          </a:prstGeom>
          <a:noFill/>
          <a:ln>
            <a:noFill/>
          </a:ln>
        </p:spPr>
      </p:pic>
      <p:sp>
        <p:nvSpPr>
          <p:cNvPr id="386" name="Google Shape;386;p52"/>
          <p:cNvSpPr txBox="1"/>
          <p:nvPr>
            <p:ph idx="1" type="body"/>
          </p:nvPr>
        </p:nvSpPr>
        <p:spPr>
          <a:xfrm>
            <a:off x="0" y="4154725"/>
            <a:ext cx="12192000" cy="948600"/>
          </a:xfrm>
          <a:prstGeom prst="rect">
            <a:avLst/>
          </a:prstGeom>
          <a:noFill/>
          <a:ln>
            <a:noFill/>
          </a:ln>
        </p:spPr>
        <p:txBody>
          <a:bodyPr anchorCtr="0" anchor="t" bIns="45700" lIns="0" spcFirstLastPara="1" rIns="0" wrap="square" tIns="45700">
            <a:noAutofit/>
          </a:bodyPr>
          <a:lstStyle/>
          <a:p>
            <a:pPr indent="-94615" lvl="0" marL="91440" rtl="0" algn="l">
              <a:lnSpc>
                <a:spcPct val="70000"/>
              </a:lnSpc>
              <a:spcBef>
                <a:spcPts val="0"/>
              </a:spcBef>
              <a:spcAft>
                <a:spcPts val="0"/>
              </a:spcAft>
              <a:buSzPts val="2050"/>
              <a:buChar char=" "/>
            </a:pPr>
            <a:r>
              <a:rPr lang="en-US" sz="2420"/>
              <a:t>But we need range between -[infinity] to +[infinity], then take logarithm of the equation it will become:</a:t>
            </a:r>
            <a:endParaRPr sz="2050"/>
          </a:p>
        </p:txBody>
      </p:sp>
      <p:pic>
        <p:nvPicPr>
          <p:cNvPr id="387" name="Google Shape;387;p52"/>
          <p:cNvPicPr preferRelativeResize="0"/>
          <p:nvPr/>
        </p:nvPicPr>
        <p:blipFill rotWithShape="1">
          <a:blip r:embed="rId4">
            <a:alphaModFix/>
          </a:blip>
          <a:srcRect b="0" l="8466" r="0" t="0"/>
          <a:stretch/>
        </p:blipFill>
        <p:spPr>
          <a:xfrm>
            <a:off x="656425" y="5126125"/>
            <a:ext cx="8795750" cy="1126575"/>
          </a:xfrm>
          <a:prstGeom prst="rect">
            <a:avLst/>
          </a:prstGeom>
          <a:noFill/>
          <a:ln>
            <a:noFill/>
          </a:ln>
        </p:spPr>
      </p:pic>
      <p:sp>
        <p:nvSpPr>
          <p:cNvPr id="388" name="Google Shape;388;p52"/>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Assumptions for </a:t>
            </a:r>
            <a:r>
              <a:rPr lang="en-US">
                <a:solidFill>
                  <a:schemeClr val="lt1"/>
                </a:solidFill>
                <a:latin typeface="Calibri"/>
                <a:ea typeface="Calibri"/>
                <a:cs typeface="Calibri"/>
                <a:sym typeface="Calibri"/>
              </a:rPr>
              <a:t>Logistic Regression</a:t>
            </a:r>
            <a:endParaRPr/>
          </a:p>
        </p:txBody>
      </p:sp>
      <p:pic>
        <p:nvPicPr>
          <p:cNvPr id="389" name="Google Shape;389;p52"/>
          <p:cNvPicPr preferRelativeResize="0"/>
          <p:nvPr/>
        </p:nvPicPr>
        <p:blipFill>
          <a:blip r:embed="rId5">
            <a:alphaModFix/>
          </a:blip>
          <a:stretch>
            <a:fillRect/>
          </a:stretch>
        </p:blipFill>
        <p:spPr>
          <a:xfrm>
            <a:off x="9452175" y="5126125"/>
            <a:ext cx="2729275" cy="1147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Type of Logistic Regression:</a:t>
            </a:r>
            <a:br>
              <a:rPr lang="en-US"/>
            </a:br>
            <a:endParaRPr/>
          </a:p>
        </p:txBody>
      </p:sp>
      <p:sp>
        <p:nvSpPr>
          <p:cNvPr id="396" name="Google Shape;396;p54"/>
          <p:cNvSpPr txBox="1"/>
          <p:nvPr>
            <p:ph idx="1" type="body"/>
          </p:nvPr>
        </p:nvSpPr>
        <p:spPr>
          <a:xfrm>
            <a:off x="144775" y="1992273"/>
            <a:ext cx="11803200" cy="4007400"/>
          </a:xfrm>
          <a:prstGeom prst="rect">
            <a:avLst/>
          </a:prstGeom>
          <a:noFill/>
          <a:ln>
            <a:noFill/>
          </a:ln>
        </p:spPr>
        <p:txBody>
          <a:bodyPr anchorCtr="0" anchor="t" bIns="45700" lIns="0" spcFirstLastPara="1" rIns="0" wrap="square" tIns="45700">
            <a:normAutofit/>
          </a:bodyPr>
          <a:lstStyle/>
          <a:p>
            <a:pPr indent="-129540" lvl="0" marL="91440" rtl="0" algn="l">
              <a:lnSpc>
                <a:spcPct val="90000"/>
              </a:lnSpc>
              <a:spcBef>
                <a:spcPts val="0"/>
              </a:spcBef>
              <a:spcAft>
                <a:spcPts val="0"/>
              </a:spcAft>
              <a:buSzPts val="2600"/>
              <a:buChar char=" "/>
            </a:pPr>
            <a:r>
              <a:rPr lang="en-US" sz="2600"/>
              <a:t>On the basis of the categories, Logistic Regression can be classified into three types:</a:t>
            </a:r>
            <a:endParaRPr sz="2600"/>
          </a:p>
          <a:p>
            <a:pPr indent="-129540" lvl="0" marL="91440" rtl="0" algn="l">
              <a:lnSpc>
                <a:spcPct val="90000"/>
              </a:lnSpc>
              <a:spcBef>
                <a:spcPts val="1400"/>
              </a:spcBef>
              <a:spcAft>
                <a:spcPts val="0"/>
              </a:spcAft>
              <a:buSzPts val="2600"/>
              <a:buChar char=" "/>
            </a:pPr>
            <a:r>
              <a:rPr b="1" lang="en-US" sz="2600"/>
              <a:t>Binomial:</a:t>
            </a:r>
            <a:r>
              <a:rPr lang="en-US" sz="2600"/>
              <a:t> In binomial Logistic regression, there can be only </a:t>
            </a:r>
            <a:r>
              <a:rPr lang="en-US" sz="2600" u="sng"/>
              <a:t>two possible types of the dependent variables, such as 0 or 1, Pass or Fail, etc.</a:t>
            </a:r>
            <a:endParaRPr sz="2600" u="sng"/>
          </a:p>
          <a:p>
            <a:pPr indent="-129540" lvl="0" marL="91440" rtl="0" algn="l">
              <a:lnSpc>
                <a:spcPct val="90000"/>
              </a:lnSpc>
              <a:spcBef>
                <a:spcPts val="1400"/>
              </a:spcBef>
              <a:spcAft>
                <a:spcPts val="0"/>
              </a:spcAft>
              <a:buSzPts val="2600"/>
              <a:buChar char=" "/>
            </a:pPr>
            <a:r>
              <a:rPr b="1" lang="en-US" sz="2600"/>
              <a:t>Multinomial:</a:t>
            </a:r>
            <a:r>
              <a:rPr lang="en-US" sz="2600"/>
              <a:t> In multinomial Logistic regression, there can be 3 or more possible </a:t>
            </a:r>
            <a:r>
              <a:rPr lang="en-US" sz="2600" u="sng"/>
              <a:t>unordered types</a:t>
            </a:r>
            <a:r>
              <a:rPr lang="en-US" sz="2600" u="sng"/>
              <a:t> of the dependent variable</a:t>
            </a:r>
            <a:r>
              <a:rPr lang="en-US" sz="2600"/>
              <a:t>, such as "cat", "dogs", or "sheep"</a:t>
            </a:r>
            <a:endParaRPr sz="2600"/>
          </a:p>
          <a:p>
            <a:pPr indent="-129540" lvl="0" marL="91440" rtl="0" algn="l">
              <a:lnSpc>
                <a:spcPct val="90000"/>
              </a:lnSpc>
              <a:spcBef>
                <a:spcPts val="1400"/>
              </a:spcBef>
              <a:spcAft>
                <a:spcPts val="0"/>
              </a:spcAft>
              <a:buSzPts val="2600"/>
              <a:buChar char=" "/>
            </a:pPr>
            <a:r>
              <a:rPr b="1" lang="en-US" sz="2600"/>
              <a:t>Ordinal:</a:t>
            </a:r>
            <a:r>
              <a:rPr lang="en-US" sz="2600"/>
              <a:t> In ordinal Logistic regression, there can be 3 or more possible </a:t>
            </a:r>
            <a:r>
              <a:rPr lang="en-US" sz="2600" u="sng"/>
              <a:t>ordered types of dependent variables</a:t>
            </a:r>
            <a:r>
              <a:rPr lang="en-US" sz="2600"/>
              <a:t>, such as "low", "Medium", or "High".</a:t>
            </a:r>
            <a:endParaRPr sz="2600"/>
          </a:p>
        </p:txBody>
      </p:sp>
      <p:sp>
        <p:nvSpPr>
          <p:cNvPr id="397" name="Google Shape;397;p54"/>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Type of</a:t>
            </a:r>
            <a:r>
              <a:rPr lang="en-US">
                <a:solidFill>
                  <a:schemeClr val="lt1"/>
                </a:solidFill>
              </a:rPr>
              <a:t> </a:t>
            </a:r>
            <a:r>
              <a:rPr lang="en-US">
                <a:solidFill>
                  <a:schemeClr val="lt1"/>
                </a:solidFill>
                <a:latin typeface="Calibri"/>
                <a:ea typeface="Calibri"/>
                <a:cs typeface="Calibri"/>
                <a:sym typeface="Calibri"/>
              </a:rPr>
              <a:t>Logistic Regression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br>
              <a:rPr lang="en-US"/>
            </a:br>
            <a:endParaRPr/>
          </a:p>
        </p:txBody>
      </p:sp>
      <p:sp>
        <p:nvSpPr>
          <p:cNvPr id="403" name="Google Shape;403;p55"/>
          <p:cNvSpPr txBox="1"/>
          <p:nvPr>
            <p:ph idx="1" type="body"/>
          </p:nvPr>
        </p:nvSpPr>
        <p:spPr>
          <a:xfrm>
            <a:off x="243125" y="1845725"/>
            <a:ext cx="11595000" cy="4520400"/>
          </a:xfrm>
          <a:prstGeom prst="rect">
            <a:avLst/>
          </a:prstGeom>
          <a:noFill/>
          <a:ln>
            <a:noFill/>
          </a:ln>
        </p:spPr>
        <p:txBody>
          <a:bodyPr anchorCtr="0" anchor="t" bIns="45700" lIns="0" spcFirstLastPara="1" rIns="0" wrap="square" tIns="45700">
            <a:noAutofit/>
          </a:bodyPr>
          <a:lstStyle/>
          <a:p>
            <a:pPr indent="-123190" lvl="0" marL="91440" rtl="0" algn="l">
              <a:lnSpc>
                <a:spcPct val="90000"/>
              </a:lnSpc>
              <a:spcBef>
                <a:spcPts val="0"/>
              </a:spcBef>
              <a:spcAft>
                <a:spcPts val="0"/>
              </a:spcAft>
              <a:buSzPts val="2500"/>
              <a:buChar char=" "/>
            </a:pPr>
            <a:r>
              <a:rPr lang="en-US" sz="2500">
                <a:solidFill>
                  <a:srgbClr val="7EA9CA"/>
                </a:solidFill>
              </a:rPr>
              <a:t>S</a:t>
            </a:r>
            <a:r>
              <a:rPr lang="en-US" sz="2500">
                <a:solidFill>
                  <a:srgbClr val="7EA9CA"/>
                </a:solidFill>
              </a:rPr>
              <a:t>implest Machine </a:t>
            </a:r>
            <a:r>
              <a:rPr lang="en-US" sz="2500"/>
              <a:t>Learning algorithms based on Supervised Learning technique.</a:t>
            </a:r>
            <a:endParaRPr sz="2500"/>
          </a:p>
          <a:p>
            <a:pPr indent="-123190" lvl="0" marL="91440" rtl="0" algn="l">
              <a:lnSpc>
                <a:spcPct val="90000"/>
              </a:lnSpc>
              <a:spcBef>
                <a:spcPts val="1400"/>
              </a:spcBef>
              <a:spcAft>
                <a:spcPts val="0"/>
              </a:spcAft>
              <a:buSzPts val="2500"/>
              <a:buChar char=" "/>
            </a:pPr>
            <a:r>
              <a:rPr lang="en-US" sz="2500"/>
              <a:t>K-NN algorithm </a:t>
            </a:r>
            <a:r>
              <a:rPr lang="en-US" sz="2500" u="sng">
                <a:solidFill>
                  <a:srgbClr val="AB620D"/>
                </a:solidFill>
              </a:rPr>
              <a:t>assumes the similarity between the new case/data and available cases and put the new case into the category that is most similar to the available categories.</a:t>
            </a:r>
            <a:endParaRPr sz="2500"/>
          </a:p>
          <a:p>
            <a:pPr indent="-123190" lvl="0" marL="91440" rtl="0" algn="l">
              <a:lnSpc>
                <a:spcPct val="90000"/>
              </a:lnSpc>
              <a:spcBef>
                <a:spcPts val="1400"/>
              </a:spcBef>
              <a:spcAft>
                <a:spcPts val="0"/>
              </a:spcAft>
              <a:buSzPts val="2500"/>
              <a:buChar char=" "/>
            </a:pPr>
            <a:r>
              <a:rPr lang="en-US" sz="2500"/>
              <a:t>K-NN algorithm stores all the available data and classifies a new data point </a:t>
            </a:r>
            <a:r>
              <a:rPr lang="en-US" sz="2500">
                <a:solidFill>
                  <a:schemeClr val="accent2"/>
                </a:solidFill>
              </a:rPr>
              <a:t>based on the similarity</a:t>
            </a:r>
            <a:r>
              <a:rPr lang="en-US" sz="2500"/>
              <a:t>. This means when new data appears then it can be easily classified into a well suite category by using K- NN algorithm.</a:t>
            </a:r>
            <a:endParaRPr sz="2500"/>
          </a:p>
          <a:p>
            <a:pPr indent="-123190" lvl="0" marL="91440" rtl="0" algn="l">
              <a:lnSpc>
                <a:spcPct val="90000"/>
              </a:lnSpc>
              <a:spcBef>
                <a:spcPts val="1400"/>
              </a:spcBef>
              <a:spcAft>
                <a:spcPts val="0"/>
              </a:spcAft>
              <a:buSzPts val="2500"/>
              <a:buChar char=" "/>
            </a:pPr>
            <a:r>
              <a:rPr lang="en-US" sz="2500"/>
              <a:t>K-NN algorithm can be used for </a:t>
            </a:r>
            <a:r>
              <a:rPr lang="en-US" sz="2500">
                <a:solidFill>
                  <a:srgbClr val="FF0000"/>
                </a:solidFill>
              </a:rPr>
              <a:t>Regression as well as for Classification </a:t>
            </a:r>
            <a:r>
              <a:rPr lang="en-US" sz="2500"/>
              <a:t>but mostly it is used for the Classification problems.</a:t>
            </a:r>
            <a:endParaRPr sz="2500"/>
          </a:p>
          <a:p>
            <a:pPr indent="-123190" lvl="0" marL="91440" rtl="0" algn="l">
              <a:lnSpc>
                <a:spcPct val="90000"/>
              </a:lnSpc>
              <a:spcBef>
                <a:spcPts val="1400"/>
              </a:spcBef>
              <a:spcAft>
                <a:spcPts val="0"/>
              </a:spcAft>
              <a:buSzPts val="2500"/>
              <a:buChar char=" "/>
            </a:pPr>
            <a:r>
              <a:rPr lang="en-US" sz="2500"/>
              <a:t>K-NN is a </a:t>
            </a:r>
            <a:r>
              <a:rPr b="1" lang="en-US" sz="2500"/>
              <a:t>non-parametric algorithm</a:t>
            </a:r>
            <a:r>
              <a:rPr lang="en-US" sz="2500"/>
              <a:t>, which means it does not make any assumption on underlying data.</a:t>
            </a:r>
            <a:endParaRPr sz="2500"/>
          </a:p>
        </p:txBody>
      </p:sp>
      <p:sp>
        <p:nvSpPr>
          <p:cNvPr id="404" name="Google Shape;404;p55"/>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a:t>
            </a:r>
            <a:r>
              <a:rPr lang="en-US">
                <a:solidFill>
                  <a:schemeClr val="lt1"/>
                </a:solidFill>
              </a:rPr>
              <a:t>K-Nearest Neighbor(KNN) Algorithm for ML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410" name="Google Shape;410;p56"/>
          <p:cNvSpPr txBox="1"/>
          <p:nvPr>
            <p:ph idx="1" type="body"/>
          </p:nvPr>
        </p:nvSpPr>
        <p:spPr>
          <a:xfrm>
            <a:off x="114906" y="1772450"/>
            <a:ext cx="11466600" cy="4023300"/>
          </a:xfrm>
          <a:prstGeom prst="rect">
            <a:avLst/>
          </a:prstGeom>
          <a:noFill/>
          <a:ln>
            <a:noFill/>
          </a:ln>
        </p:spPr>
        <p:txBody>
          <a:bodyPr anchorCtr="0" anchor="t" bIns="45700" lIns="0" spcFirstLastPara="1" rIns="0" wrap="square" tIns="45700">
            <a:noAutofit/>
          </a:bodyPr>
          <a:lstStyle/>
          <a:p>
            <a:pPr indent="-123190" lvl="0" marL="91440" rtl="0" algn="l">
              <a:lnSpc>
                <a:spcPct val="90000"/>
              </a:lnSpc>
              <a:spcBef>
                <a:spcPts val="0"/>
              </a:spcBef>
              <a:spcAft>
                <a:spcPts val="0"/>
              </a:spcAft>
              <a:buSzPts val="2500"/>
              <a:buChar char=" "/>
            </a:pPr>
            <a:r>
              <a:rPr lang="en-US" sz="2500"/>
              <a:t>It is also called a </a:t>
            </a:r>
            <a:r>
              <a:rPr b="1" lang="en-US" sz="2500"/>
              <a:t>lazy learner algorithm</a:t>
            </a:r>
            <a:r>
              <a:rPr lang="en-US" sz="2500"/>
              <a:t> because it does not learn from the training set immediately instead it stores the dataset and at the time of classification, it performs an action on the dataset.</a:t>
            </a:r>
            <a:endParaRPr sz="2500"/>
          </a:p>
          <a:p>
            <a:pPr indent="-123190" lvl="0" marL="91440" rtl="0" algn="l">
              <a:lnSpc>
                <a:spcPct val="90000"/>
              </a:lnSpc>
              <a:spcBef>
                <a:spcPts val="1400"/>
              </a:spcBef>
              <a:spcAft>
                <a:spcPts val="0"/>
              </a:spcAft>
              <a:buSzPts val="2500"/>
              <a:buChar char=" "/>
            </a:pPr>
            <a:r>
              <a:rPr lang="en-US" sz="2500"/>
              <a:t>KNN algorithm at </a:t>
            </a:r>
            <a:r>
              <a:rPr b="1" lang="en-US" sz="2500" u="sng"/>
              <a:t>the training phase just stores the dataset and when it gets new data</a:t>
            </a:r>
            <a:r>
              <a:rPr lang="en-US" sz="2500"/>
              <a:t>, then it classifies that data into a category that is much similar to the new data.</a:t>
            </a:r>
            <a:endParaRPr sz="2500"/>
          </a:p>
          <a:p>
            <a:pPr indent="-110490" lvl="0" marL="91440" rtl="0" algn="l">
              <a:lnSpc>
                <a:spcPct val="90000"/>
              </a:lnSpc>
              <a:spcBef>
                <a:spcPts val="1400"/>
              </a:spcBef>
              <a:spcAft>
                <a:spcPts val="0"/>
              </a:spcAft>
              <a:buSzPts val="2300"/>
              <a:buChar char=" "/>
            </a:pPr>
            <a:r>
              <a:rPr b="1" lang="en-US" sz="2300"/>
              <a:t>Example:</a:t>
            </a:r>
            <a:r>
              <a:rPr lang="en-US" sz="2300"/>
              <a:t> Suppose, we have an image of a creature that looks similar </a:t>
            </a:r>
            <a:br>
              <a:rPr lang="en-US" sz="2300"/>
            </a:br>
            <a:r>
              <a:rPr lang="en-US" sz="2300"/>
              <a:t>to cat and dog, but we want to know either it is a cat or dog. So for this </a:t>
            </a:r>
            <a:br>
              <a:rPr lang="en-US" sz="2300"/>
            </a:br>
            <a:r>
              <a:rPr lang="en-US" sz="2300"/>
              <a:t>identification, we can use the KNN algorithm, as it works on a similarity </a:t>
            </a:r>
            <a:br>
              <a:rPr lang="en-US" sz="2300"/>
            </a:br>
            <a:r>
              <a:rPr lang="en-US" sz="2300"/>
              <a:t>measure. Our KNN model will find the similar features of the new data </a:t>
            </a:r>
            <a:br>
              <a:rPr lang="en-US" sz="2300"/>
            </a:br>
            <a:r>
              <a:rPr lang="en-US" sz="2300"/>
              <a:t>set to the cats and dogs images and based on the most similar features </a:t>
            </a:r>
            <a:br>
              <a:rPr lang="en-US" sz="2300"/>
            </a:br>
            <a:r>
              <a:rPr lang="en-US" sz="2300"/>
              <a:t>it will put it in either cat or dog category.</a:t>
            </a:r>
            <a:endParaRPr sz="2300"/>
          </a:p>
          <a:p>
            <a:pPr indent="0" lvl="0" marL="91440" rtl="0" algn="l">
              <a:lnSpc>
                <a:spcPct val="90000"/>
              </a:lnSpc>
              <a:spcBef>
                <a:spcPts val="1400"/>
              </a:spcBef>
              <a:spcAft>
                <a:spcPts val="0"/>
              </a:spcAft>
              <a:buSzPts val="2000"/>
              <a:buNone/>
            </a:pPr>
            <a:r>
              <a:t/>
            </a:r>
            <a:endParaRPr sz="2500"/>
          </a:p>
        </p:txBody>
      </p:sp>
      <p:sp>
        <p:nvSpPr>
          <p:cNvPr id="411" name="Google Shape;411;p56"/>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K-Nearest Neighbor(KNN) Algorithm for ML</a:t>
            </a:r>
            <a:endParaRPr/>
          </a:p>
        </p:txBody>
      </p:sp>
      <p:pic>
        <p:nvPicPr>
          <p:cNvPr descr="K-Nearest Neighbor(KNN) Algorithm for Machine Learning" id="412" name="Google Shape;412;p56"/>
          <p:cNvPicPr preferRelativeResize="0"/>
          <p:nvPr/>
        </p:nvPicPr>
        <p:blipFill rotWithShape="1">
          <a:blip r:embed="rId3">
            <a:alphaModFix/>
          </a:blip>
          <a:srcRect b="10853" l="0" r="0" t="6862"/>
          <a:stretch/>
        </p:blipFill>
        <p:spPr>
          <a:xfrm>
            <a:off x="8632450" y="3974979"/>
            <a:ext cx="3559550" cy="1825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418" name="Google Shape;418;p57"/>
          <p:cNvSpPr txBox="1"/>
          <p:nvPr>
            <p:ph idx="1" type="body"/>
          </p:nvPr>
        </p:nvSpPr>
        <p:spPr>
          <a:xfrm>
            <a:off x="243125" y="1845725"/>
            <a:ext cx="11613300" cy="100350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800"/>
              <a:buChar char=" "/>
            </a:pPr>
            <a:r>
              <a:rPr b="1" lang="en-US" sz="2800">
                <a:solidFill>
                  <a:srgbClr val="7EA9CA"/>
                </a:solidFill>
              </a:rPr>
              <a:t>Note</a:t>
            </a:r>
            <a:r>
              <a:rPr b="1" lang="en-US" sz="2800">
                <a:solidFill>
                  <a:srgbClr val="FF0000"/>
                </a:solidFill>
              </a:rPr>
              <a:t> that KNN isn’t the best choice for extremely large datasets. This is because the time complexity (Big O) of this algorithm is exponential.</a:t>
            </a:r>
            <a:endParaRPr b="1" sz="2800">
              <a:solidFill>
                <a:srgbClr val="FF0000"/>
              </a:solidFill>
            </a:endParaRPr>
          </a:p>
        </p:txBody>
      </p:sp>
      <p:sp>
        <p:nvSpPr>
          <p:cNvPr id="419" name="Google Shape;419;p57"/>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K-Nearest Neighbor(KNN) Algorithm for ML</a:t>
            </a:r>
            <a:endParaRPr/>
          </a:p>
        </p:txBody>
      </p:sp>
      <p:sp>
        <p:nvSpPr>
          <p:cNvPr id="420" name="Google Shape;420;p57"/>
          <p:cNvSpPr txBox="1"/>
          <p:nvPr/>
        </p:nvSpPr>
        <p:spPr>
          <a:xfrm>
            <a:off x="128221" y="2712225"/>
            <a:ext cx="5372100" cy="3648000"/>
          </a:xfrm>
          <a:prstGeom prst="rect">
            <a:avLst/>
          </a:prstGeom>
          <a:noFill/>
          <a:ln>
            <a:noFill/>
          </a:ln>
        </p:spPr>
        <p:txBody>
          <a:bodyPr anchorCtr="0" anchor="t" bIns="91425" lIns="91425" spcFirstLastPara="1" rIns="91425" wrap="square" tIns="91425">
            <a:spAutoFit/>
          </a:bodyPr>
          <a:lstStyle/>
          <a:p>
            <a:pPr indent="-123190" lvl="0" marL="91440" rtl="0" algn="l">
              <a:lnSpc>
                <a:spcPct val="90000"/>
              </a:lnSpc>
              <a:spcBef>
                <a:spcPts val="0"/>
              </a:spcBef>
              <a:spcAft>
                <a:spcPts val="0"/>
              </a:spcAft>
              <a:buClr>
                <a:schemeClr val="accent1"/>
              </a:buClr>
              <a:buSzPts val="2500"/>
              <a:buFont typeface="Calibri"/>
              <a:buChar char=" "/>
            </a:pPr>
            <a:r>
              <a:rPr lang="en-US" sz="2500">
                <a:solidFill>
                  <a:srgbClr val="3F3F3F"/>
                </a:solidFill>
                <a:latin typeface="Calibri"/>
                <a:ea typeface="Calibri"/>
                <a:cs typeface="Calibri"/>
                <a:sym typeface="Calibri"/>
              </a:rPr>
              <a:t>Suppose there are two categories, i.e., Category A and Category B, and we have a new data point x1, so this data point will lie in which of these categories. To solve this type of problem, we need a K-NN algorithm. With the help of K-NN, we can easily identify the category or class of a particular dataset. Consider the below diagram:</a:t>
            </a:r>
            <a:endParaRPr sz="1900"/>
          </a:p>
        </p:txBody>
      </p:sp>
      <p:pic>
        <p:nvPicPr>
          <p:cNvPr descr="K-Nearest Neighbor(KNN) Algorithm for Machine Learning" id="421" name="Google Shape;421;p57"/>
          <p:cNvPicPr preferRelativeResize="0"/>
          <p:nvPr/>
        </p:nvPicPr>
        <p:blipFill rotWithShape="1">
          <a:blip r:embed="rId3">
            <a:alphaModFix/>
          </a:blip>
          <a:srcRect b="0" l="0" r="0" t="5962"/>
          <a:stretch/>
        </p:blipFill>
        <p:spPr>
          <a:xfrm>
            <a:off x="5569100" y="2904177"/>
            <a:ext cx="6622901" cy="31139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5400"/>
              <a:buFont typeface="Calibri"/>
              <a:buNone/>
            </a:pPr>
            <a:r>
              <a:rPr b="1" lang="en-US" sz="5400"/>
              <a:t>How does K-NN work</a:t>
            </a:r>
            <a:br>
              <a:rPr lang="en-US"/>
            </a:br>
            <a:endParaRPr/>
          </a:p>
        </p:txBody>
      </p:sp>
      <p:sp>
        <p:nvSpPr>
          <p:cNvPr id="427" name="Google Shape;427;p60"/>
          <p:cNvSpPr txBox="1"/>
          <p:nvPr>
            <p:ph idx="1" type="body"/>
          </p:nvPr>
        </p:nvSpPr>
        <p:spPr>
          <a:xfrm>
            <a:off x="243125" y="1900677"/>
            <a:ext cx="11466600" cy="42273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None/>
            </a:pPr>
            <a:r>
              <a:rPr b="1" lang="en-US" sz="2700"/>
              <a:t>Step-1:</a:t>
            </a:r>
            <a:r>
              <a:rPr lang="en-US" sz="2700"/>
              <a:t> Select the number K of the neighbors</a:t>
            </a:r>
            <a:endParaRPr sz="2700"/>
          </a:p>
          <a:p>
            <a:pPr indent="0" lvl="0" marL="0" rtl="0" algn="l">
              <a:lnSpc>
                <a:spcPct val="90000"/>
              </a:lnSpc>
              <a:spcBef>
                <a:spcPts val="1400"/>
              </a:spcBef>
              <a:spcAft>
                <a:spcPts val="0"/>
              </a:spcAft>
              <a:buNone/>
            </a:pPr>
            <a:r>
              <a:rPr b="1" lang="en-US" sz="2700"/>
              <a:t>Step-2:</a:t>
            </a:r>
            <a:r>
              <a:rPr lang="en-US" sz="2700"/>
              <a:t> Calculate the Euclidean distance of </a:t>
            </a:r>
            <a:r>
              <a:rPr b="1" lang="en-US" sz="2700"/>
              <a:t>K number of neighbors</a:t>
            </a:r>
            <a:endParaRPr sz="2700"/>
          </a:p>
          <a:p>
            <a:pPr indent="0" lvl="0" marL="0" rtl="0" algn="l">
              <a:lnSpc>
                <a:spcPct val="90000"/>
              </a:lnSpc>
              <a:spcBef>
                <a:spcPts val="1400"/>
              </a:spcBef>
              <a:spcAft>
                <a:spcPts val="0"/>
              </a:spcAft>
              <a:buNone/>
            </a:pPr>
            <a:r>
              <a:rPr b="1" lang="en-US" sz="2700"/>
              <a:t>Step-3:</a:t>
            </a:r>
            <a:r>
              <a:rPr lang="en-US" sz="2700"/>
              <a:t> Take the K nearest neighbors as per the calculated Euclidean distance.</a:t>
            </a:r>
            <a:endParaRPr sz="2700"/>
          </a:p>
          <a:p>
            <a:pPr indent="0" lvl="0" marL="0" rtl="0" algn="l">
              <a:lnSpc>
                <a:spcPct val="90000"/>
              </a:lnSpc>
              <a:spcBef>
                <a:spcPts val="1400"/>
              </a:spcBef>
              <a:spcAft>
                <a:spcPts val="0"/>
              </a:spcAft>
              <a:buNone/>
            </a:pPr>
            <a:r>
              <a:rPr b="1" lang="en-US" sz="2700"/>
              <a:t>Step-4:</a:t>
            </a:r>
            <a:r>
              <a:rPr lang="en-US" sz="2700"/>
              <a:t> Among these k neighbors, count the number of the data points in each     category.</a:t>
            </a:r>
            <a:endParaRPr sz="2700"/>
          </a:p>
          <a:p>
            <a:pPr indent="0" lvl="0" marL="0" rtl="0" algn="l">
              <a:lnSpc>
                <a:spcPct val="90000"/>
              </a:lnSpc>
              <a:spcBef>
                <a:spcPts val="1400"/>
              </a:spcBef>
              <a:spcAft>
                <a:spcPts val="0"/>
              </a:spcAft>
              <a:buNone/>
            </a:pPr>
            <a:r>
              <a:rPr b="1" lang="en-US" sz="2700"/>
              <a:t>Step-5:</a:t>
            </a:r>
            <a:r>
              <a:rPr lang="en-US" sz="2700"/>
              <a:t> Assign the new data points to that category for which the number of the neighbor is maximum.</a:t>
            </a:r>
            <a:endParaRPr sz="2700"/>
          </a:p>
          <a:p>
            <a:pPr indent="0" lvl="0" marL="0" rtl="0" algn="l">
              <a:lnSpc>
                <a:spcPct val="90000"/>
              </a:lnSpc>
              <a:spcBef>
                <a:spcPts val="1400"/>
              </a:spcBef>
              <a:spcAft>
                <a:spcPts val="0"/>
              </a:spcAft>
              <a:buNone/>
            </a:pPr>
            <a:r>
              <a:rPr b="1" lang="en-US" sz="2700"/>
              <a:t>Step-6:</a:t>
            </a:r>
            <a:r>
              <a:rPr lang="en-US" sz="2700"/>
              <a:t> Our model is ready.</a:t>
            </a:r>
            <a:endParaRPr sz="2700"/>
          </a:p>
        </p:txBody>
      </p:sp>
      <p:sp>
        <p:nvSpPr>
          <p:cNvPr id="428" name="Google Shape;428;p60"/>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a:t>
            </a:r>
            <a:r>
              <a:rPr lang="en-US">
                <a:solidFill>
                  <a:schemeClr val="lt1"/>
                </a:solidFill>
              </a:rPr>
              <a:t>How does K-NN works?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1"/>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a:t>
            </a:r>
            <a:r>
              <a:rPr lang="en-US">
                <a:solidFill>
                  <a:schemeClr val="lt1"/>
                </a:solidFill>
                <a:latin typeface="Calibri"/>
                <a:ea typeface="Calibri"/>
                <a:cs typeface="Calibri"/>
                <a:sym typeface="Calibri"/>
              </a:rPr>
              <a:t>Best K selection</a:t>
            </a:r>
            <a:endParaRPr/>
          </a:p>
        </p:txBody>
      </p:sp>
      <p:sp>
        <p:nvSpPr>
          <p:cNvPr id="434" name="Google Shape;434;p61"/>
          <p:cNvSpPr txBox="1"/>
          <p:nvPr>
            <p:ph idx="1" type="body"/>
          </p:nvPr>
        </p:nvSpPr>
        <p:spPr>
          <a:xfrm>
            <a:off x="188175" y="1845725"/>
            <a:ext cx="11649900" cy="4023300"/>
          </a:xfrm>
          <a:prstGeom prst="rect">
            <a:avLst/>
          </a:prstGeom>
          <a:noFill/>
          <a:ln>
            <a:noFill/>
          </a:ln>
        </p:spPr>
        <p:txBody>
          <a:bodyPr anchorCtr="0" anchor="t" bIns="45700" lIns="0" spcFirstLastPara="1" rIns="0" wrap="square" tIns="45700">
            <a:noAutofit/>
          </a:bodyPr>
          <a:lstStyle/>
          <a:p>
            <a:pPr indent="-110490" lvl="0" marL="91440" rtl="0" algn="l">
              <a:lnSpc>
                <a:spcPct val="90000"/>
              </a:lnSpc>
              <a:spcBef>
                <a:spcPts val="0"/>
              </a:spcBef>
              <a:spcAft>
                <a:spcPts val="0"/>
              </a:spcAft>
              <a:buSzPts val="2300"/>
              <a:buFont typeface="Arial"/>
              <a:buChar char=" "/>
            </a:pPr>
            <a:r>
              <a:rPr lang="en-US" sz="2300">
                <a:latin typeface="Arial"/>
                <a:ea typeface="Arial"/>
                <a:cs typeface="Arial"/>
                <a:sym typeface="Arial"/>
              </a:rPr>
              <a:t>There are no pre-defined statistical methods to find the best value of K in the K-nearest neighbors (KNN) algorithm. However, you can try these methods: </a:t>
            </a:r>
            <a:endParaRPr sz="2300">
              <a:latin typeface="Arial"/>
              <a:ea typeface="Arial"/>
              <a:cs typeface="Arial"/>
              <a:sym typeface="Arial"/>
            </a:endParaRPr>
          </a:p>
          <a:p>
            <a:pPr indent="-374650" lvl="0" marL="457200" rtl="0" algn="l">
              <a:lnSpc>
                <a:spcPct val="90000"/>
              </a:lnSpc>
              <a:spcBef>
                <a:spcPts val="0"/>
              </a:spcBef>
              <a:spcAft>
                <a:spcPts val="0"/>
              </a:spcAft>
              <a:buSzPts val="2300"/>
              <a:buFont typeface="Arial"/>
              <a:buAutoNum type="arabicPeriod"/>
            </a:pPr>
            <a:r>
              <a:rPr b="1" lang="en-US" sz="2300">
                <a:latin typeface="Arial"/>
                <a:ea typeface="Arial"/>
                <a:cs typeface="Arial"/>
                <a:sym typeface="Arial"/>
              </a:rPr>
              <a:t>Square root method: </a:t>
            </a:r>
            <a:r>
              <a:rPr lang="en-US" sz="2300">
                <a:latin typeface="Arial"/>
                <a:ea typeface="Arial"/>
                <a:cs typeface="Arial"/>
                <a:sym typeface="Arial"/>
              </a:rPr>
              <a:t>Take the square root of the number of samples in the training dataset.</a:t>
            </a:r>
            <a:endParaRPr sz="2300">
              <a:latin typeface="Arial"/>
              <a:ea typeface="Arial"/>
              <a:cs typeface="Arial"/>
              <a:sym typeface="Arial"/>
            </a:endParaRPr>
          </a:p>
          <a:p>
            <a:pPr indent="-374650" lvl="0" marL="457200" rtl="0" algn="l">
              <a:lnSpc>
                <a:spcPct val="90000"/>
              </a:lnSpc>
              <a:spcBef>
                <a:spcPts val="0"/>
              </a:spcBef>
              <a:spcAft>
                <a:spcPts val="0"/>
              </a:spcAft>
              <a:buSzPts val="2300"/>
              <a:buFont typeface="Arial"/>
              <a:buAutoNum type="arabicPeriod"/>
            </a:pPr>
            <a:r>
              <a:rPr b="1" lang="en-US" sz="2300">
                <a:latin typeface="Arial"/>
                <a:ea typeface="Arial"/>
                <a:cs typeface="Arial"/>
                <a:sym typeface="Arial"/>
              </a:rPr>
              <a:t>Cross validation method:</a:t>
            </a:r>
            <a:r>
              <a:rPr lang="en-US" sz="2300">
                <a:latin typeface="Arial"/>
                <a:ea typeface="Arial"/>
                <a:cs typeface="Arial"/>
                <a:sym typeface="Arial"/>
              </a:rPr>
              <a:t> Use cross validation to find the optimal value of K.</a:t>
            </a:r>
            <a:endParaRPr sz="2300">
              <a:latin typeface="Arial"/>
              <a:ea typeface="Arial"/>
              <a:cs typeface="Arial"/>
              <a:sym typeface="Arial"/>
            </a:endParaRPr>
          </a:p>
          <a:p>
            <a:pPr indent="-374650" lvl="0" marL="457200" rtl="0" algn="l">
              <a:lnSpc>
                <a:spcPct val="90000"/>
              </a:lnSpc>
              <a:spcBef>
                <a:spcPts val="0"/>
              </a:spcBef>
              <a:spcAft>
                <a:spcPts val="0"/>
              </a:spcAft>
              <a:buSzPts val="2300"/>
              <a:buFont typeface="Arial"/>
              <a:buAutoNum type="arabicPeriod"/>
            </a:pPr>
            <a:r>
              <a:rPr b="1" lang="en-US" sz="2300">
                <a:latin typeface="Arial"/>
                <a:ea typeface="Arial"/>
                <a:cs typeface="Arial"/>
                <a:sym typeface="Arial"/>
              </a:rPr>
              <a:t>Error plot or accuracy plot:</a:t>
            </a:r>
            <a:r>
              <a:rPr lang="en-US" sz="2300">
                <a:latin typeface="Arial"/>
                <a:ea typeface="Arial"/>
                <a:cs typeface="Arial"/>
                <a:sym typeface="Arial"/>
              </a:rPr>
              <a:t> Use an error plot or accuracy plot to find the most favorable K value. </a:t>
            </a:r>
            <a:r>
              <a:rPr lang="en-US" sz="2300">
                <a:solidFill>
                  <a:schemeClr val="dk1"/>
                </a:solidFill>
                <a:latin typeface="Arial"/>
                <a:ea typeface="Arial"/>
                <a:cs typeface="Arial"/>
                <a:sym typeface="Arial"/>
              </a:rPr>
              <a:t>Plot K vs Error or K vs Accuracy -&gt; Choose the K where the error is minimum or accuracy is maximum.</a:t>
            </a:r>
            <a:endParaRPr sz="2300">
              <a:solidFill>
                <a:schemeClr val="dk1"/>
              </a:solidFill>
              <a:latin typeface="Arial"/>
              <a:ea typeface="Arial"/>
              <a:cs typeface="Arial"/>
              <a:sym typeface="Arial"/>
            </a:endParaRPr>
          </a:p>
          <a:p>
            <a:pPr indent="-374650" lvl="0" marL="457200" rtl="0" algn="l">
              <a:lnSpc>
                <a:spcPct val="90000"/>
              </a:lnSpc>
              <a:spcBef>
                <a:spcPts val="0"/>
              </a:spcBef>
              <a:spcAft>
                <a:spcPts val="0"/>
              </a:spcAft>
              <a:buSzPts val="2300"/>
              <a:buFont typeface="Arial"/>
              <a:buAutoNum type="arabicPeriod"/>
            </a:pPr>
            <a:r>
              <a:rPr b="1" lang="en-US" sz="2300">
                <a:solidFill>
                  <a:schemeClr val="dk1"/>
                </a:solidFill>
                <a:latin typeface="Arial"/>
                <a:ea typeface="Arial"/>
                <a:cs typeface="Arial"/>
                <a:sym typeface="Arial"/>
              </a:rPr>
              <a:t>Mean Error Rate:</a:t>
            </a:r>
            <a:r>
              <a:rPr lang="en-US" sz="2300">
                <a:solidFill>
                  <a:schemeClr val="dk1"/>
                </a:solidFill>
                <a:latin typeface="Arial"/>
                <a:ea typeface="Arial"/>
                <a:cs typeface="Arial"/>
                <a:sym typeface="Arial"/>
              </a:rPr>
              <a:t> Try a range of K values -&gt; Calculate mean error for each -&gt; Choose the K with the lowest mean error.</a:t>
            </a:r>
            <a:endParaRPr sz="2300">
              <a:latin typeface="Arial"/>
              <a:ea typeface="Arial"/>
              <a:cs typeface="Arial"/>
              <a:sym typeface="Arial"/>
            </a:endParaRPr>
          </a:p>
          <a:p>
            <a:pPr indent="-110490" lvl="0" marL="91440" rtl="0" algn="l">
              <a:lnSpc>
                <a:spcPct val="90000"/>
              </a:lnSpc>
              <a:spcBef>
                <a:spcPts val="1400"/>
              </a:spcBef>
              <a:spcAft>
                <a:spcPts val="0"/>
              </a:spcAft>
              <a:buSzPts val="2300"/>
              <a:buFont typeface="Arial"/>
              <a:buChar char=" "/>
            </a:pPr>
            <a:r>
              <a:rPr lang="en-US" sz="2300">
                <a:latin typeface="Arial"/>
                <a:ea typeface="Arial"/>
                <a:cs typeface="Arial"/>
                <a:sym typeface="Arial"/>
              </a:rPr>
              <a:t>Take a range of values of k and calculate the mean error rate of all these Ks.</a:t>
            </a:r>
            <a:endParaRPr sz="2300">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2"/>
          <p:cNvSpPr txBox="1"/>
          <p:nvPr>
            <p:ph type="title"/>
          </p:nvPr>
        </p:nvSpPr>
        <p:spPr>
          <a:xfrm>
            <a:off x="151525" y="286600"/>
            <a:ext cx="117780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Calibri"/>
              <a:buNone/>
            </a:pPr>
            <a:r>
              <a:rPr lang="en-US" sz="2900"/>
              <a:t>Suppose we have a new data point and we need to put it in the required category. Consider the below image:</a:t>
            </a:r>
            <a:endParaRPr sz="2900"/>
          </a:p>
        </p:txBody>
      </p:sp>
      <p:pic>
        <p:nvPicPr>
          <p:cNvPr descr="K-Nearest Neighbor(KNN) Algorithm for Machine Learning" id="440" name="Google Shape;440;p62"/>
          <p:cNvPicPr preferRelativeResize="0"/>
          <p:nvPr>
            <p:ph idx="1" type="body"/>
          </p:nvPr>
        </p:nvPicPr>
        <p:blipFill rotWithShape="1">
          <a:blip r:embed="rId3">
            <a:alphaModFix/>
          </a:blip>
          <a:srcRect b="0" l="0" r="0" t="0"/>
          <a:stretch/>
        </p:blipFill>
        <p:spPr>
          <a:xfrm>
            <a:off x="3744913" y="1952625"/>
            <a:ext cx="4762500" cy="3810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3"/>
          <p:cNvSpPr txBox="1"/>
          <p:nvPr>
            <p:ph type="title"/>
          </p:nvPr>
        </p:nvSpPr>
        <p:spPr>
          <a:xfrm>
            <a:off x="1097277" y="286600"/>
            <a:ext cx="61248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Euclidean Distance</a:t>
            </a:r>
            <a:endParaRPr/>
          </a:p>
        </p:txBody>
      </p:sp>
      <p:sp>
        <p:nvSpPr>
          <p:cNvPr id="446" name="Google Shape;446;p63"/>
          <p:cNvSpPr txBox="1"/>
          <p:nvPr>
            <p:ph idx="1" type="body"/>
          </p:nvPr>
        </p:nvSpPr>
        <p:spPr>
          <a:xfrm>
            <a:off x="211600" y="1737350"/>
            <a:ext cx="5911500" cy="2595600"/>
          </a:xfrm>
          <a:prstGeom prst="rect">
            <a:avLst/>
          </a:prstGeom>
          <a:noFill/>
          <a:ln>
            <a:noFill/>
          </a:ln>
        </p:spPr>
        <p:txBody>
          <a:bodyPr anchorCtr="0" anchor="t" bIns="45700" lIns="0" spcFirstLastPara="1" rIns="0" wrap="square" tIns="45700">
            <a:normAutofit/>
          </a:bodyPr>
          <a:lstStyle/>
          <a:p>
            <a:pPr indent="-116840" lvl="0" marL="91440" rtl="0" algn="l">
              <a:lnSpc>
                <a:spcPct val="90000"/>
              </a:lnSpc>
              <a:spcBef>
                <a:spcPts val="0"/>
              </a:spcBef>
              <a:spcAft>
                <a:spcPts val="0"/>
              </a:spcAft>
              <a:buSzPts val="2400"/>
              <a:buChar char=" "/>
            </a:pPr>
            <a:r>
              <a:rPr lang="en-US" sz="2400"/>
              <a:t>Firstly, we will choose the number of neighbors, so we will choose the k=5.</a:t>
            </a:r>
            <a:endParaRPr sz="2400"/>
          </a:p>
          <a:p>
            <a:pPr indent="-116840" lvl="0" marL="91440" rtl="0" algn="l">
              <a:lnSpc>
                <a:spcPct val="90000"/>
              </a:lnSpc>
              <a:spcBef>
                <a:spcPts val="1400"/>
              </a:spcBef>
              <a:spcAft>
                <a:spcPts val="0"/>
              </a:spcAft>
              <a:buSzPts val="2400"/>
              <a:buChar char=" "/>
            </a:pPr>
            <a:r>
              <a:rPr lang="en-US" sz="2400"/>
              <a:t>Next, we will calculate the </a:t>
            </a:r>
            <a:r>
              <a:rPr b="1" lang="en-US" sz="2400"/>
              <a:t>Euclidean distance</a:t>
            </a:r>
            <a:r>
              <a:rPr lang="en-US" sz="2400"/>
              <a:t> between the data points. The Euclidean distance is the distance between two points, which we have already studied in geometry. It can be calculated as given.</a:t>
            </a:r>
            <a:endParaRPr/>
          </a:p>
        </p:txBody>
      </p:sp>
      <p:pic>
        <p:nvPicPr>
          <p:cNvPr descr="K-Nearest Neighbor(KNN) Algorithm for Machine Learning" id="447" name="Google Shape;447;p63"/>
          <p:cNvPicPr preferRelativeResize="0"/>
          <p:nvPr/>
        </p:nvPicPr>
        <p:blipFill rotWithShape="1">
          <a:blip r:embed="rId3">
            <a:alphaModFix/>
          </a:blip>
          <a:srcRect b="0" l="0" r="0" t="0"/>
          <a:stretch/>
        </p:blipFill>
        <p:spPr>
          <a:xfrm>
            <a:off x="6649301" y="-2"/>
            <a:ext cx="5542700" cy="3820000"/>
          </a:xfrm>
          <a:prstGeom prst="rect">
            <a:avLst/>
          </a:prstGeom>
          <a:noFill/>
          <a:ln>
            <a:noFill/>
          </a:ln>
        </p:spPr>
      </p:pic>
      <p:sp>
        <p:nvSpPr>
          <p:cNvPr id="448" name="Google Shape;448;p63"/>
          <p:cNvSpPr txBox="1"/>
          <p:nvPr/>
        </p:nvSpPr>
        <p:spPr>
          <a:xfrm>
            <a:off x="211600" y="4394875"/>
            <a:ext cx="6003000" cy="150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300" u="none" cap="none" strike="noStrike">
                <a:solidFill>
                  <a:schemeClr val="dk1"/>
                </a:solidFill>
                <a:latin typeface="Calibri"/>
                <a:ea typeface="Calibri"/>
                <a:cs typeface="Calibri"/>
                <a:sym typeface="Calibri"/>
              </a:rPr>
              <a:t>The equation at the heart of this distance is the</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300" u="none" cap="none" strike="noStrike">
                <a:solidFill>
                  <a:schemeClr val="dk1"/>
                </a:solidFill>
                <a:latin typeface="Calibri"/>
                <a:ea typeface="Calibri"/>
                <a:cs typeface="Calibri"/>
                <a:sym typeface="Calibri"/>
              </a:rPr>
              <a:t> </a:t>
            </a:r>
            <a:r>
              <a:rPr b="0" i="1" lang="en-US" sz="2300" u="none" cap="none" strike="noStrike">
                <a:solidFill>
                  <a:schemeClr val="dk1"/>
                </a:solidFill>
                <a:latin typeface="Calibri"/>
                <a:ea typeface="Calibri"/>
                <a:cs typeface="Calibri"/>
                <a:sym typeface="Calibri"/>
              </a:rPr>
              <a:t>Pythagorean theorem</a:t>
            </a:r>
            <a:r>
              <a:rPr b="0" i="0" lang="en-US" sz="2300" u="none" cap="none" strike="noStrike">
                <a:solidFill>
                  <a:schemeClr val="dk1"/>
                </a:solidFill>
                <a:latin typeface="Calibri"/>
                <a:ea typeface="Calibri"/>
                <a:cs typeface="Calibri"/>
                <a:sym typeface="Calibri"/>
              </a:rPr>
              <a:t>!: 𝑎2+𝑏2=𝑐2.</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300" u="none" cap="none" strike="noStrike">
                <a:solidFill>
                  <a:schemeClr val="dk1"/>
                </a:solidFill>
                <a:latin typeface="Calibri"/>
                <a:ea typeface="Calibri"/>
                <a:cs typeface="Calibri"/>
                <a:sym typeface="Calibri"/>
              </a:rPr>
              <a:t>The formula to calculate Euclidean distance is:</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300" u="none" cap="none" strike="noStrike">
              <a:solidFill>
                <a:schemeClr val="dk1"/>
              </a:solidFill>
              <a:latin typeface="Calibri"/>
              <a:ea typeface="Calibri"/>
              <a:cs typeface="Calibri"/>
              <a:sym typeface="Calibri"/>
            </a:endParaRPr>
          </a:p>
        </p:txBody>
      </p:sp>
      <p:pic>
        <p:nvPicPr>
          <p:cNvPr descr="https://miro.medium.com/v2/resize:fit:700/1*yjxwoNqIwb1fXW26HvK_Kw.png" id="449" name="Google Shape;449;p63"/>
          <p:cNvPicPr preferRelativeResize="0"/>
          <p:nvPr>
            <p:ph idx="1" type="body"/>
          </p:nvPr>
        </p:nvPicPr>
        <p:blipFill rotWithShape="1">
          <a:blip r:embed="rId4">
            <a:alphaModFix/>
          </a:blip>
          <a:srcRect b="0" l="0" r="0" t="0"/>
          <a:stretch/>
        </p:blipFill>
        <p:spPr>
          <a:xfrm>
            <a:off x="6444000" y="4591801"/>
            <a:ext cx="5748000" cy="2266200"/>
          </a:xfrm>
          <a:prstGeom prst="rect">
            <a:avLst/>
          </a:prstGeom>
          <a:noFill/>
          <a:ln>
            <a:noFill/>
          </a:ln>
        </p:spPr>
      </p:pic>
      <p:pic>
        <p:nvPicPr>
          <p:cNvPr descr="https://miro.medium.com/v2/resize:fit:462/1*iOeYwCWRuobMFDm9bReFgg.png" id="450" name="Google Shape;450;p63"/>
          <p:cNvPicPr preferRelativeResize="0"/>
          <p:nvPr/>
        </p:nvPicPr>
        <p:blipFill rotWithShape="1">
          <a:blip r:embed="rId5">
            <a:alphaModFix/>
          </a:blip>
          <a:srcRect b="0" l="0" r="0" t="0"/>
          <a:stretch/>
        </p:blipFill>
        <p:spPr>
          <a:xfrm>
            <a:off x="1097275" y="5548500"/>
            <a:ext cx="3804951" cy="13095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5"/>
          <p:cNvSpPr txBox="1"/>
          <p:nvPr>
            <p:ph type="title"/>
          </p:nvPr>
        </p:nvSpPr>
        <p:spPr>
          <a:xfrm>
            <a:off x="166525" y="0"/>
            <a:ext cx="11759700" cy="8592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sz="3800"/>
              <a:t>https://www.omnicalculator.com/math/euclidean-distance</a:t>
            </a:r>
            <a:endParaRPr sz="3800"/>
          </a:p>
        </p:txBody>
      </p:sp>
      <p:sp>
        <p:nvSpPr>
          <p:cNvPr id="456" name="Google Shape;456;p65"/>
          <p:cNvSpPr txBox="1"/>
          <p:nvPr>
            <p:ph idx="1" type="body"/>
          </p:nvPr>
        </p:nvSpPr>
        <p:spPr>
          <a:xfrm>
            <a:off x="309625" y="1003150"/>
            <a:ext cx="11473500" cy="1344300"/>
          </a:xfrm>
          <a:prstGeom prst="rect">
            <a:avLst/>
          </a:prstGeom>
          <a:noFill/>
          <a:ln>
            <a:noFill/>
          </a:ln>
        </p:spPr>
        <p:txBody>
          <a:bodyPr anchorCtr="0" anchor="t" bIns="45700" lIns="0" spcFirstLastPara="1" rIns="0" wrap="square" tIns="45700">
            <a:normAutofit/>
          </a:bodyPr>
          <a:lstStyle/>
          <a:p>
            <a:pPr indent="-123190" lvl="0" marL="91440" rtl="0" algn="l">
              <a:lnSpc>
                <a:spcPct val="90000"/>
              </a:lnSpc>
              <a:spcBef>
                <a:spcPts val="0"/>
              </a:spcBef>
              <a:spcAft>
                <a:spcPts val="0"/>
              </a:spcAft>
              <a:buSzPts val="2500"/>
              <a:buChar char=" "/>
            </a:pPr>
            <a:r>
              <a:rPr lang="en-US" sz="2500"/>
              <a:t>By calculating the Euclidean distance we got the nearest neighbors, as three nearest neighbors in category A and two nearest neighbors in category B. Consider the below image:</a:t>
            </a:r>
            <a:endParaRPr sz="2500"/>
          </a:p>
        </p:txBody>
      </p:sp>
      <p:pic>
        <p:nvPicPr>
          <p:cNvPr descr="K-Nearest Neighbor(KNN) Algorithm for Machine Learning" id="457" name="Google Shape;457;p65"/>
          <p:cNvPicPr preferRelativeResize="0"/>
          <p:nvPr/>
        </p:nvPicPr>
        <p:blipFill rotWithShape="1">
          <a:blip r:embed="rId3">
            <a:alphaModFix/>
          </a:blip>
          <a:srcRect b="0" l="0" r="0" t="0"/>
          <a:stretch/>
        </p:blipFill>
        <p:spPr>
          <a:xfrm>
            <a:off x="3070823" y="1669703"/>
            <a:ext cx="6050344" cy="48402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b="1" lang="en-US"/>
              <a:t>Naive Bayes Classification</a:t>
            </a:r>
            <a:br>
              <a:rPr b="1" lang="en-US"/>
            </a:br>
            <a:endParaRPr/>
          </a:p>
        </p:txBody>
      </p:sp>
      <p:sp>
        <p:nvSpPr>
          <p:cNvPr id="463" name="Google Shape;463;p66"/>
          <p:cNvSpPr txBox="1"/>
          <p:nvPr>
            <p:ph idx="1" type="body"/>
          </p:nvPr>
        </p:nvSpPr>
        <p:spPr>
          <a:xfrm>
            <a:off x="236374" y="1882350"/>
            <a:ext cx="11583300" cy="4023300"/>
          </a:xfrm>
          <a:prstGeom prst="rect">
            <a:avLst/>
          </a:prstGeom>
          <a:noFill/>
          <a:ln>
            <a:noFill/>
          </a:ln>
        </p:spPr>
        <p:txBody>
          <a:bodyPr anchorCtr="0" anchor="t" bIns="45700" lIns="0" spcFirstLastPara="1" rIns="0" wrap="square" tIns="45700">
            <a:normAutofit/>
          </a:bodyPr>
          <a:lstStyle/>
          <a:p>
            <a:pPr indent="-110490" lvl="0" marL="91440" rtl="0" algn="l">
              <a:lnSpc>
                <a:spcPct val="90000"/>
              </a:lnSpc>
              <a:spcBef>
                <a:spcPts val="0"/>
              </a:spcBef>
              <a:spcAft>
                <a:spcPts val="0"/>
              </a:spcAft>
              <a:buSzPts val="2300"/>
              <a:buChar char=" "/>
            </a:pPr>
            <a:r>
              <a:rPr lang="en-US" sz="2300"/>
              <a:t>Suppose you are a product manager, you want to classify customer reviews in positive and negative classes. Or As a loan manager, you want to identify which loan applicants are safe or risky?</a:t>
            </a:r>
            <a:endParaRPr sz="2300"/>
          </a:p>
          <a:p>
            <a:pPr indent="-110490" lvl="0" marL="91440" rtl="0" algn="l">
              <a:lnSpc>
                <a:spcPct val="90000"/>
              </a:lnSpc>
              <a:spcBef>
                <a:spcPts val="1400"/>
              </a:spcBef>
              <a:spcAft>
                <a:spcPts val="0"/>
              </a:spcAft>
              <a:buSzPts val="2300"/>
              <a:buChar char=" "/>
            </a:pPr>
            <a:r>
              <a:rPr lang="en-US" sz="2300"/>
              <a:t> As a healthcare analyst, you want to predict which patients can suffer from diabetes disease. All the examples have the same kind of problem to classify reviews, loan applicants, and patients.</a:t>
            </a:r>
            <a:endParaRPr sz="2300"/>
          </a:p>
          <a:p>
            <a:pPr indent="-110490" lvl="0" marL="91440" rtl="0" algn="l">
              <a:lnSpc>
                <a:spcPct val="90000"/>
              </a:lnSpc>
              <a:spcBef>
                <a:spcPts val="1400"/>
              </a:spcBef>
              <a:spcAft>
                <a:spcPts val="0"/>
              </a:spcAft>
              <a:buSzPts val="2300"/>
              <a:buChar char=" "/>
            </a:pPr>
            <a:r>
              <a:rPr lang="en-US" sz="2300"/>
              <a:t>Naive Bayes is the most straightforward and</a:t>
            </a:r>
            <a:r>
              <a:rPr b="1" lang="en-US" sz="2300"/>
              <a:t> fast</a:t>
            </a:r>
            <a:r>
              <a:rPr lang="en-US" sz="2300"/>
              <a:t> classification algorithm, which is suitable for a </a:t>
            </a:r>
            <a:r>
              <a:rPr b="1" lang="en-US" sz="2300"/>
              <a:t>large chunk of data</a:t>
            </a:r>
            <a:r>
              <a:rPr lang="en-US" sz="2300"/>
              <a:t>. Naive Bayes classifier is successfully used in various applications such as </a:t>
            </a:r>
            <a:r>
              <a:rPr b="1" lang="en-US" sz="2300"/>
              <a:t>spam filtering, text classification, sentiment analysis, and recommender systems</a:t>
            </a:r>
            <a:r>
              <a:rPr lang="en-US" sz="2300"/>
              <a:t>. </a:t>
            </a:r>
            <a:endParaRPr sz="2300"/>
          </a:p>
          <a:p>
            <a:pPr indent="-110490" lvl="0" marL="91440" rtl="0" algn="l">
              <a:lnSpc>
                <a:spcPct val="90000"/>
              </a:lnSpc>
              <a:spcBef>
                <a:spcPts val="1400"/>
              </a:spcBef>
              <a:spcAft>
                <a:spcPts val="0"/>
              </a:spcAft>
              <a:buSzPts val="2300"/>
              <a:buChar char=" "/>
            </a:pPr>
            <a:r>
              <a:rPr b="1" lang="en-US" sz="2300"/>
              <a:t>It uses Bayes theorem of probability for prediction of unknown class.</a:t>
            </a:r>
            <a:endParaRPr b="1" sz="2300"/>
          </a:p>
        </p:txBody>
      </p:sp>
      <p:sp>
        <p:nvSpPr>
          <p:cNvPr id="464" name="Google Shape;464;p66"/>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Naive Bayes Classification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b="1" lang="en-US"/>
              <a:t>What is Naive Bayes Classifier?</a:t>
            </a:r>
            <a:br>
              <a:rPr b="1" lang="en-US"/>
            </a:br>
            <a:endParaRPr/>
          </a:p>
        </p:txBody>
      </p:sp>
      <p:sp>
        <p:nvSpPr>
          <p:cNvPr id="470" name="Google Shape;470;p68"/>
          <p:cNvSpPr txBox="1"/>
          <p:nvPr>
            <p:ph idx="1" type="body"/>
          </p:nvPr>
        </p:nvSpPr>
        <p:spPr>
          <a:xfrm>
            <a:off x="261450" y="1845725"/>
            <a:ext cx="11576400" cy="4023300"/>
          </a:xfrm>
          <a:prstGeom prst="rect">
            <a:avLst/>
          </a:prstGeom>
          <a:noFill/>
          <a:ln>
            <a:noFill/>
          </a:ln>
        </p:spPr>
        <p:txBody>
          <a:bodyPr anchorCtr="0" anchor="t" bIns="45700" lIns="0" spcFirstLastPara="1" rIns="0" wrap="square" tIns="45700">
            <a:noAutofit/>
          </a:bodyPr>
          <a:lstStyle/>
          <a:p>
            <a:pPr indent="-129540" lvl="0" marL="91440" rtl="0" algn="l">
              <a:lnSpc>
                <a:spcPct val="90000"/>
              </a:lnSpc>
              <a:spcBef>
                <a:spcPts val="0"/>
              </a:spcBef>
              <a:spcAft>
                <a:spcPts val="0"/>
              </a:spcAft>
              <a:buSzPts val="2600"/>
              <a:buChar char=" "/>
            </a:pPr>
            <a:r>
              <a:rPr lang="en-US" sz="2600"/>
              <a:t>Naive Bayes is a </a:t>
            </a:r>
            <a:r>
              <a:rPr b="1" lang="en-US" sz="2600"/>
              <a:t>statistical classification</a:t>
            </a:r>
            <a:r>
              <a:rPr lang="en-US" sz="2600"/>
              <a:t> technique based on Bayes Theorem. Naive Bayes classifier is the </a:t>
            </a:r>
            <a:r>
              <a:rPr b="1" lang="en-US" sz="2600"/>
              <a:t>fast, accurate and reliable algorithm</a:t>
            </a:r>
            <a:r>
              <a:rPr lang="en-US" sz="2600"/>
              <a:t>. Naive Bayes classifiers have </a:t>
            </a:r>
            <a:r>
              <a:rPr b="1" lang="en-US" sz="2600"/>
              <a:t>high accuracy and speed on large datasets</a:t>
            </a:r>
            <a:r>
              <a:rPr lang="en-US" sz="2600"/>
              <a:t>.</a:t>
            </a:r>
            <a:endParaRPr sz="2600"/>
          </a:p>
          <a:p>
            <a:pPr indent="0" lvl="0" marL="91440" rtl="0" algn="l">
              <a:lnSpc>
                <a:spcPct val="90000"/>
              </a:lnSpc>
              <a:spcBef>
                <a:spcPts val="1400"/>
              </a:spcBef>
              <a:spcAft>
                <a:spcPts val="0"/>
              </a:spcAft>
              <a:buSzPts val="2000"/>
              <a:buNone/>
            </a:pPr>
            <a:r>
              <a:t/>
            </a:r>
            <a:endParaRPr sz="2600"/>
          </a:p>
          <a:p>
            <a:pPr indent="-129540" lvl="0" marL="91440" rtl="0" algn="l">
              <a:lnSpc>
                <a:spcPct val="90000"/>
              </a:lnSpc>
              <a:spcBef>
                <a:spcPts val="1400"/>
              </a:spcBef>
              <a:spcAft>
                <a:spcPts val="0"/>
              </a:spcAft>
              <a:buSzPts val="2600"/>
              <a:buChar char=" "/>
            </a:pPr>
            <a:r>
              <a:rPr lang="en-US" sz="2600"/>
              <a:t>Naive Bayes classifier </a:t>
            </a:r>
            <a:r>
              <a:rPr b="1" lang="en-US" sz="2600"/>
              <a:t>assumes that the effect of a particular feature in a class is independent of other features.</a:t>
            </a:r>
            <a:r>
              <a:rPr lang="en-US" sz="2600"/>
              <a:t> For example, a loan applicant is desirable or not depending on his/her income, previous loan and transaction history, age, and location. Even if these features are interdependent, these features are still considered independently. This assumption </a:t>
            </a:r>
            <a:r>
              <a:rPr b="1" lang="en-US" sz="2600"/>
              <a:t>simplifies computation, and that's why it is considered as naive. </a:t>
            </a:r>
            <a:r>
              <a:rPr lang="en-US" sz="2600"/>
              <a:t>This assumption is called class </a:t>
            </a:r>
            <a:r>
              <a:rPr b="1" lang="en-US" sz="2600"/>
              <a:t>conditional independence.</a:t>
            </a:r>
            <a:endParaRPr b="1" sz="2600"/>
          </a:p>
        </p:txBody>
      </p:sp>
      <p:sp>
        <p:nvSpPr>
          <p:cNvPr id="471" name="Google Shape;471;p68"/>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Naive Bayes Classification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477" name="Google Shape;477;p69"/>
          <p:cNvSpPr txBox="1"/>
          <p:nvPr/>
        </p:nvSpPr>
        <p:spPr>
          <a:xfrm>
            <a:off x="305850" y="1988250"/>
            <a:ext cx="11580300" cy="363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300" u="none" cap="none" strike="noStrike">
                <a:solidFill>
                  <a:schemeClr val="dk1"/>
                </a:solidFill>
                <a:latin typeface="Calibri"/>
                <a:ea typeface="Calibri"/>
                <a:cs typeface="Calibri"/>
                <a:sym typeface="Calibri"/>
              </a:rPr>
              <a:t>P(h): the probability of hypothesis h being true (regardless of the data). This is known as the prior probability of h.</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2300" u="none" cap="none" strike="noStrike">
                <a:solidFill>
                  <a:schemeClr val="dk1"/>
                </a:solidFill>
                <a:latin typeface="Calibri"/>
                <a:ea typeface="Calibri"/>
                <a:cs typeface="Calibri"/>
                <a:sym typeface="Calibri"/>
              </a:rPr>
              <a:t>P(D): the probability of the data (regardless of the hypothesis). This is known as the prior probability.</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2300" u="none" cap="none" strike="noStrike">
                <a:solidFill>
                  <a:schemeClr val="dk1"/>
                </a:solidFill>
                <a:latin typeface="Calibri"/>
                <a:ea typeface="Calibri"/>
                <a:cs typeface="Calibri"/>
                <a:sym typeface="Calibri"/>
              </a:rPr>
              <a:t>P(h|D): the probability of hypothesis h given the data D. This is known as posterior probability.</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2300" u="none" cap="none" strike="noStrike">
                <a:solidFill>
                  <a:schemeClr val="dk1"/>
                </a:solidFill>
                <a:latin typeface="Calibri"/>
                <a:ea typeface="Calibri"/>
                <a:cs typeface="Calibri"/>
                <a:sym typeface="Calibri"/>
              </a:rPr>
              <a:t>P(D|h): the probability of data d given that the hypothesis h was true. This is known as posterior probability.</a:t>
            </a:r>
            <a:endParaRPr b="0" i="0" sz="2300" u="none" cap="none" strike="noStrike">
              <a:solidFill>
                <a:schemeClr val="dk1"/>
              </a:solidFill>
              <a:latin typeface="Calibri"/>
              <a:ea typeface="Calibri"/>
              <a:cs typeface="Calibri"/>
              <a:sym typeface="Calibri"/>
            </a:endParaRPr>
          </a:p>
        </p:txBody>
      </p:sp>
      <p:sp>
        <p:nvSpPr>
          <p:cNvPr id="478" name="Google Shape;478;p69"/>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Naive Bayes Classification</a:t>
            </a:r>
            <a:endParaRPr/>
          </a:p>
        </p:txBody>
      </p:sp>
      <p:pic>
        <p:nvPicPr>
          <p:cNvPr id="479" name="Google Shape;479;p69"/>
          <p:cNvPicPr preferRelativeResize="0"/>
          <p:nvPr>
            <p:ph idx="1" type="body"/>
          </p:nvPr>
        </p:nvPicPr>
        <p:blipFill rotWithShape="1">
          <a:blip r:embed="rId3">
            <a:alphaModFix/>
          </a:blip>
          <a:srcRect b="0" l="0" r="0" t="0"/>
          <a:stretch/>
        </p:blipFill>
        <p:spPr>
          <a:xfrm>
            <a:off x="7284081" y="467913"/>
            <a:ext cx="4908000" cy="12639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7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b="1" lang="en-US"/>
              <a:t>How Naive Bayes Classifier Works?</a:t>
            </a:r>
            <a:br>
              <a:rPr b="1" lang="en-US"/>
            </a:br>
            <a:endParaRPr/>
          </a:p>
        </p:txBody>
      </p:sp>
      <p:sp>
        <p:nvSpPr>
          <p:cNvPr id="485" name="Google Shape;485;p70"/>
          <p:cNvSpPr txBox="1"/>
          <p:nvPr>
            <p:ph idx="1" type="body"/>
          </p:nvPr>
        </p:nvSpPr>
        <p:spPr>
          <a:xfrm>
            <a:off x="298075" y="1845725"/>
            <a:ext cx="11521500" cy="4023300"/>
          </a:xfrm>
          <a:prstGeom prst="rect">
            <a:avLst/>
          </a:prstGeom>
          <a:noFill/>
          <a:ln>
            <a:noFill/>
          </a:ln>
        </p:spPr>
        <p:txBody>
          <a:bodyPr anchorCtr="0" anchor="t" bIns="45700" lIns="0" spcFirstLastPara="1" rIns="0" wrap="square" tIns="45700">
            <a:noAutofit/>
          </a:bodyPr>
          <a:lstStyle/>
          <a:p>
            <a:pPr indent="-116840" lvl="0" marL="91440" rtl="0" algn="l">
              <a:lnSpc>
                <a:spcPct val="90000"/>
              </a:lnSpc>
              <a:spcBef>
                <a:spcPts val="0"/>
              </a:spcBef>
              <a:spcAft>
                <a:spcPts val="0"/>
              </a:spcAft>
              <a:buSzPts val="2400"/>
              <a:buChar char=" "/>
            </a:pPr>
            <a:r>
              <a:rPr lang="en-US" sz="2400"/>
              <a:t>Given an example of weather conditions and playing sports. You need to calculate the probability of playing sports. Now, you need to classify whether players will play or not, based on the weather condition.</a:t>
            </a:r>
            <a:endParaRPr sz="2400"/>
          </a:p>
          <a:p>
            <a:pPr indent="-116840" lvl="0" marL="91440" rtl="0" algn="l">
              <a:lnSpc>
                <a:spcPct val="90000"/>
              </a:lnSpc>
              <a:spcBef>
                <a:spcPts val="1400"/>
              </a:spcBef>
              <a:spcAft>
                <a:spcPts val="0"/>
              </a:spcAft>
              <a:buSzPts val="2400"/>
              <a:buChar char=" "/>
            </a:pPr>
            <a:r>
              <a:rPr b="1" lang="en-US" sz="2400"/>
              <a:t>Step 1</a:t>
            </a:r>
            <a:r>
              <a:rPr lang="en-US" sz="2400"/>
              <a:t>: Calculate the prior probability for given class labels</a:t>
            </a:r>
            <a:endParaRPr sz="2400"/>
          </a:p>
          <a:p>
            <a:pPr indent="-116840" lvl="0" marL="91440" rtl="0" algn="l">
              <a:lnSpc>
                <a:spcPct val="90000"/>
              </a:lnSpc>
              <a:spcBef>
                <a:spcPts val="1400"/>
              </a:spcBef>
              <a:spcAft>
                <a:spcPts val="0"/>
              </a:spcAft>
              <a:buSzPts val="2400"/>
              <a:buChar char=" "/>
            </a:pPr>
            <a:r>
              <a:rPr b="1" lang="en-US" sz="2400"/>
              <a:t>Step 2</a:t>
            </a:r>
            <a:r>
              <a:rPr lang="en-US" sz="2400"/>
              <a:t>: Find Likelihood probability with each attribute for each class</a:t>
            </a:r>
            <a:endParaRPr sz="2400"/>
          </a:p>
          <a:p>
            <a:pPr indent="-116840" lvl="0" marL="91440" rtl="0" algn="l">
              <a:lnSpc>
                <a:spcPct val="90000"/>
              </a:lnSpc>
              <a:spcBef>
                <a:spcPts val="1400"/>
              </a:spcBef>
              <a:spcAft>
                <a:spcPts val="0"/>
              </a:spcAft>
              <a:buSzPts val="2400"/>
              <a:buChar char=" "/>
            </a:pPr>
            <a:r>
              <a:rPr b="1" lang="en-US" sz="2400"/>
              <a:t>Step 3</a:t>
            </a:r>
            <a:r>
              <a:rPr lang="en-US" sz="2400"/>
              <a:t>: Put these value in Bayes Formula and calculate posterior probability.</a:t>
            </a:r>
            <a:endParaRPr sz="2400"/>
          </a:p>
          <a:p>
            <a:pPr indent="-116840" lvl="0" marL="91440" rtl="0" algn="l">
              <a:lnSpc>
                <a:spcPct val="90000"/>
              </a:lnSpc>
              <a:spcBef>
                <a:spcPts val="1400"/>
              </a:spcBef>
              <a:spcAft>
                <a:spcPts val="0"/>
              </a:spcAft>
              <a:buSzPts val="2400"/>
              <a:buChar char=" "/>
            </a:pPr>
            <a:r>
              <a:rPr b="1" lang="en-US" sz="2400"/>
              <a:t>Step 4</a:t>
            </a:r>
            <a:r>
              <a:rPr lang="en-US" sz="2400"/>
              <a:t>: See which class has a higher probability, given the input belongs to the higher probability class.</a:t>
            </a:r>
            <a:endParaRPr sz="2400"/>
          </a:p>
          <a:p>
            <a:pPr indent="0" lvl="0" marL="91440" rtl="0" algn="l">
              <a:lnSpc>
                <a:spcPct val="90000"/>
              </a:lnSpc>
              <a:spcBef>
                <a:spcPts val="1400"/>
              </a:spcBef>
              <a:spcAft>
                <a:spcPts val="0"/>
              </a:spcAft>
              <a:buSzPts val="2000"/>
              <a:buNone/>
            </a:pPr>
            <a:r>
              <a:t/>
            </a:r>
            <a:endParaRPr sz="2400"/>
          </a:p>
        </p:txBody>
      </p:sp>
      <p:sp>
        <p:nvSpPr>
          <p:cNvPr id="486" name="Google Shape;486;p70"/>
          <p:cNvSpPr txBox="1"/>
          <p:nvPr>
            <p:ph type="title"/>
          </p:nvPr>
        </p:nvSpPr>
        <p:spPr>
          <a:xfrm>
            <a:off x="0" y="0"/>
            <a:ext cx="12192000" cy="17319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How</a:t>
            </a:r>
            <a:r>
              <a:rPr lang="en-US">
                <a:solidFill>
                  <a:schemeClr val="lt1"/>
                </a:solidFill>
              </a:rPr>
              <a:t> Naive Bayes Classifier Works?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p72"/>
          <p:cNvPicPr preferRelativeResize="0"/>
          <p:nvPr/>
        </p:nvPicPr>
        <p:blipFill rotWithShape="1">
          <a:blip r:embed="rId3">
            <a:alphaModFix/>
          </a:blip>
          <a:srcRect b="0" l="0" r="0" t="0"/>
          <a:stretch/>
        </p:blipFill>
        <p:spPr>
          <a:xfrm>
            <a:off x="3302100" y="1345275"/>
            <a:ext cx="8889901" cy="5037000"/>
          </a:xfrm>
          <a:prstGeom prst="rect">
            <a:avLst/>
          </a:prstGeom>
          <a:noFill/>
          <a:ln>
            <a:noFill/>
          </a:ln>
        </p:spPr>
      </p:pic>
      <p:sp>
        <p:nvSpPr>
          <p:cNvPr id="492" name="Google Shape;492;p72"/>
          <p:cNvSpPr txBox="1"/>
          <p:nvPr>
            <p:ph idx="4294967295" type="body"/>
          </p:nvPr>
        </p:nvSpPr>
        <p:spPr>
          <a:xfrm>
            <a:off x="36635" y="1347300"/>
            <a:ext cx="3302100" cy="503700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None/>
            </a:pPr>
            <a:r>
              <a:rPr lang="en-US" sz="2200"/>
              <a:t>For simplifying prior &amp; posterior probability calculation, you can use 2 tables frequency &amp; likelihood tables. Both of these tables will help you to calculate the prior &amp; posterior probability. The Frequency table contains the occurrence of labels for all features. There are 2 likelihood tables. Likelihood Table 1 is showing prior probabilities of labels &amp; Likelihood Table 2 is showing the posterior probability.</a:t>
            </a:r>
            <a:endParaRPr sz="2200"/>
          </a:p>
        </p:txBody>
      </p:sp>
      <p:sp>
        <p:nvSpPr>
          <p:cNvPr id="493" name="Google Shape;493;p72"/>
          <p:cNvSpPr txBox="1"/>
          <p:nvPr>
            <p:ph idx="4294967295" type="title"/>
          </p:nvPr>
        </p:nvSpPr>
        <p:spPr>
          <a:xfrm>
            <a:off x="0" y="0"/>
            <a:ext cx="12192000" cy="13473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How Naive Bayes Classifier Works?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3"/>
          <p:cNvSpPr txBox="1"/>
          <p:nvPr>
            <p:ph type="title"/>
          </p:nvPr>
        </p:nvSpPr>
        <p:spPr>
          <a:xfrm>
            <a:off x="224800" y="286600"/>
            <a:ext cx="117780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320"/>
              <a:buFont typeface="Calibri"/>
              <a:buNone/>
            </a:pPr>
            <a:r>
              <a:rPr lang="en-US" sz="3320"/>
              <a:t>Now suppose you want to calculate the probability of playing when the weather is overcast.</a:t>
            </a:r>
            <a:endParaRPr sz="3320"/>
          </a:p>
        </p:txBody>
      </p:sp>
      <p:sp>
        <p:nvSpPr>
          <p:cNvPr id="499" name="Google Shape;499;p73"/>
          <p:cNvSpPr txBox="1"/>
          <p:nvPr>
            <p:ph idx="1" type="body"/>
          </p:nvPr>
        </p:nvSpPr>
        <p:spPr>
          <a:xfrm>
            <a:off x="224800" y="1882350"/>
            <a:ext cx="10807200" cy="4023300"/>
          </a:xfrm>
          <a:prstGeom prst="rect">
            <a:avLst/>
          </a:prstGeom>
          <a:noFill/>
          <a:ln>
            <a:noFill/>
          </a:ln>
        </p:spPr>
        <p:txBody>
          <a:bodyPr anchorCtr="0" anchor="t" bIns="45700" lIns="0" spcFirstLastPara="1" rIns="0" wrap="square" tIns="45700">
            <a:noAutofit/>
          </a:bodyPr>
          <a:lstStyle/>
          <a:p>
            <a:pPr indent="-152400" lvl="0" marL="91440" rtl="0" algn="l">
              <a:lnSpc>
                <a:spcPct val="70000"/>
              </a:lnSpc>
              <a:spcBef>
                <a:spcPts val="0"/>
              </a:spcBef>
              <a:spcAft>
                <a:spcPts val="0"/>
              </a:spcAft>
              <a:buSzPts val="2400"/>
              <a:buChar char=" "/>
            </a:pPr>
            <a:r>
              <a:rPr b="1" lang="en-US" sz="2400"/>
              <a:t>Probability of playing:</a:t>
            </a:r>
            <a:endParaRPr sz="2400"/>
          </a:p>
          <a:p>
            <a:pPr indent="-152400" lvl="0" marL="91440" rtl="0" algn="l">
              <a:lnSpc>
                <a:spcPct val="70000"/>
              </a:lnSpc>
              <a:spcBef>
                <a:spcPts val="1400"/>
              </a:spcBef>
              <a:spcAft>
                <a:spcPts val="0"/>
              </a:spcAft>
              <a:buSzPts val="2400"/>
              <a:buChar char=" "/>
            </a:pPr>
            <a:r>
              <a:rPr i="1" lang="en-US" sz="2400"/>
              <a:t>P(Yes | Overcast) = P(Overcast | Yes) </a:t>
            </a:r>
            <a:r>
              <a:rPr lang="en-US" sz="2400"/>
              <a:t>P(Yes) / P (Overcast) .....................(1)</a:t>
            </a:r>
            <a:endParaRPr sz="2400"/>
          </a:p>
          <a:p>
            <a:pPr indent="-152400" lvl="0" marL="91440" rtl="0" algn="l">
              <a:lnSpc>
                <a:spcPct val="70000"/>
              </a:lnSpc>
              <a:spcBef>
                <a:spcPts val="1400"/>
              </a:spcBef>
              <a:spcAft>
                <a:spcPts val="0"/>
              </a:spcAft>
              <a:buSzPts val="2400"/>
              <a:buChar char=" "/>
            </a:pPr>
            <a:r>
              <a:rPr b="1" lang="en-US" sz="2400"/>
              <a:t>Calculate Prior Probabilities:</a:t>
            </a:r>
            <a:endParaRPr b="1" sz="2400"/>
          </a:p>
          <a:p>
            <a:pPr indent="-152400" lvl="0" marL="91440" rtl="0" algn="l">
              <a:lnSpc>
                <a:spcPct val="70000"/>
              </a:lnSpc>
              <a:spcBef>
                <a:spcPts val="1400"/>
              </a:spcBef>
              <a:spcAft>
                <a:spcPts val="0"/>
              </a:spcAft>
              <a:buSzPts val="2400"/>
              <a:buChar char=" "/>
            </a:pPr>
            <a:r>
              <a:rPr lang="en-US" sz="2400"/>
              <a:t>P(Overcast) = 4/14 = 0.29</a:t>
            </a:r>
            <a:endParaRPr sz="2400"/>
          </a:p>
          <a:p>
            <a:pPr indent="-152400" lvl="0" marL="91440" rtl="0" algn="l">
              <a:lnSpc>
                <a:spcPct val="70000"/>
              </a:lnSpc>
              <a:spcBef>
                <a:spcPts val="1400"/>
              </a:spcBef>
              <a:spcAft>
                <a:spcPts val="0"/>
              </a:spcAft>
              <a:buSzPts val="2400"/>
              <a:buChar char=" "/>
            </a:pPr>
            <a:r>
              <a:rPr lang="en-US" sz="2400"/>
              <a:t>P(Yes)= 9/14 = 0.64</a:t>
            </a:r>
            <a:endParaRPr sz="2400"/>
          </a:p>
          <a:p>
            <a:pPr indent="-152400" lvl="0" marL="91440" rtl="0" algn="l">
              <a:lnSpc>
                <a:spcPct val="70000"/>
              </a:lnSpc>
              <a:spcBef>
                <a:spcPts val="1400"/>
              </a:spcBef>
              <a:spcAft>
                <a:spcPts val="0"/>
              </a:spcAft>
              <a:buSzPts val="2400"/>
              <a:buChar char=" "/>
            </a:pPr>
            <a:r>
              <a:rPr b="1" lang="en-US" sz="2400"/>
              <a:t> Calculate Posterior Probabilities:</a:t>
            </a:r>
            <a:endParaRPr b="1" sz="2400"/>
          </a:p>
          <a:p>
            <a:pPr indent="-152400" lvl="0" marL="91440" rtl="0" algn="l">
              <a:lnSpc>
                <a:spcPct val="70000"/>
              </a:lnSpc>
              <a:spcBef>
                <a:spcPts val="1400"/>
              </a:spcBef>
              <a:spcAft>
                <a:spcPts val="0"/>
              </a:spcAft>
              <a:buSzPts val="2400"/>
              <a:buChar char=" "/>
            </a:pPr>
            <a:r>
              <a:rPr lang="en-US" sz="2400"/>
              <a:t>P(Overcast |Yes) = 4/9 = 0.44</a:t>
            </a:r>
            <a:endParaRPr sz="2400"/>
          </a:p>
          <a:p>
            <a:pPr indent="-152400" lvl="0" marL="91440" rtl="0" algn="l">
              <a:lnSpc>
                <a:spcPct val="70000"/>
              </a:lnSpc>
              <a:spcBef>
                <a:spcPts val="1400"/>
              </a:spcBef>
              <a:spcAft>
                <a:spcPts val="0"/>
              </a:spcAft>
              <a:buSzPts val="2400"/>
              <a:buChar char=" "/>
            </a:pPr>
            <a:r>
              <a:rPr lang="en-US" sz="2400"/>
              <a:t> Put Prior and Posterior probabilities in equation (1)</a:t>
            </a:r>
            <a:endParaRPr sz="2400"/>
          </a:p>
          <a:p>
            <a:pPr indent="-152400" lvl="0" marL="91440" rtl="0" algn="l">
              <a:lnSpc>
                <a:spcPct val="70000"/>
              </a:lnSpc>
              <a:spcBef>
                <a:spcPts val="1400"/>
              </a:spcBef>
              <a:spcAft>
                <a:spcPts val="0"/>
              </a:spcAft>
              <a:buSzPts val="2400"/>
              <a:buChar char=" "/>
            </a:pPr>
            <a:r>
              <a:rPr lang="en-US" sz="2400"/>
              <a:t>P (Yes | Overcast) = 0.44 * 0.64 / 0.29 = 0.98(Higher)</a:t>
            </a:r>
            <a:endParaRPr sz="2400"/>
          </a:p>
          <a:p>
            <a:pPr indent="-152400" lvl="0" marL="91440" rtl="0" algn="l">
              <a:lnSpc>
                <a:spcPct val="70000"/>
              </a:lnSpc>
              <a:spcBef>
                <a:spcPts val="1400"/>
              </a:spcBef>
              <a:spcAft>
                <a:spcPts val="0"/>
              </a:spcAft>
              <a:buSzPts val="2400"/>
              <a:buChar char=" "/>
            </a:pPr>
            <a:r>
              <a:rPr lang="en-US" sz="2400"/>
              <a:t>Similarly, you can calculate the probability of not playing:</a:t>
            </a:r>
            <a:endParaRPr sz="2400"/>
          </a:p>
          <a:p>
            <a:pPr indent="0" lvl="0" marL="91440" rtl="0" algn="l">
              <a:lnSpc>
                <a:spcPct val="70000"/>
              </a:lnSpc>
              <a:spcBef>
                <a:spcPts val="1400"/>
              </a:spcBef>
              <a:spcAft>
                <a:spcPts val="0"/>
              </a:spcAft>
              <a:buSzPts val="1850"/>
              <a:buNone/>
            </a:pPr>
            <a:r>
              <a:t/>
            </a:r>
            <a:endParaRPr sz="24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4"/>
          <p:cNvSpPr txBox="1"/>
          <p:nvPr>
            <p:ph idx="1" type="body"/>
          </p:nvPr>
        </p:nvSpPr>
        <p:spPr>
          <a:xfrm>
            <a:off x="261450" y="746675"/>
            <a:ext cx="11393400" cy="402330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t>Probability of not playing:</a:t>
            </a:r>
            <a:endParaRPr sz="2400"/>
          </a:p>
          <a:p>
            <a:pPr indent="-152400" lvl="0" marL="91440" rtl="0" algn="l">
              <a:lnSpc>
                <a:spcPct val="90000"/>
              </a:lnSpc>
              <a:spcBef>
                <a:spcPts val="1400"/>
              </a:spcBef>
              <a:spcAft>
                <a:spcPts val="0"/>
              </a:spcAft>
              <a:buSzPts val="2400"/>
              <a:buChar char=" "/>
            </a:pPr>
            <a:r>
              <a:rPr i="1" lang="en-US" sz="2400"/>
              <a:t>P(No | Overcast) = P(Overcast | No) </a:t>
            </a:r>
            <a:r>
              <a:rPr lang="en-US" sz="2400"/>
              <a:t>P(No) / P (Overcast) .....................(2)</a:t>
            </a:r>
            <a:endParaRPr sz="2400"/>
          </a:p>
          <a:p>
            <a:pPr indent="-152400" lvl="0" marL="91440" rtl="0" algn="l">
              <a:lnSpc>
                <a:spcPct val="90000"/>
              </a:lnSpc>
              <a:spcBef>
                <a:spcPts val="1400"/>
              </a:spcBef>
              <a:spcAft>
                <a:spcPts val="0"/>
              </a:spcAft>
              <a:buSzPts val="2400"/>
              <a:buChar char=" "/>
            </a:pPr>
            <a:r>
              <a:rPr lang="en-US" sz="2400"/>
              <a:t>Calculate Prior Probabilities:</a:t>
            </a:r>
            <a:endParaRPr sz="2400"/>
          </a:p>
          <a:p>
            <a:pPr indent="-152400" lvl="0" marL="91440" rtl="0" algn="l">
              <a:lnSpc>
                <a:spcPct val="90000"/>
              </a:lnSpc>
              <a:spcBef>
                <a:spcPts val="1400"/>
              </a:spcBef>
              <a:spcAft>
                <a:spcPts val="0"/>
              </a:spcAft>
              <a:buSzPts val="2400"/>
              <a:buChar char=" "/>
            </a:pPr>
            <a:r>
              <a:rPr lang="en-US" sz="2400"/>
              <a:t>P(Overcast) = 4/14 = 0.29</a:t>
            </a:r>
            <a:endParaRPr sz="2400"/>
          </a:p>
          <a:p>
            <a:pPr indent="-152400" lvl="0" marL="91440" rtl="0" algn="l">
              <a:lnSpc>
                <a:spcPct val="90000"/>
              </a:lnSpc>
              <a:spcBef>
                <a:spcPts val="1400"/>
              </a:spcBef>
              <a:spcAft>
                <a:spcPts val="0"/>
              </a:spcAft>
              <a:buSzPts val="2400"/>
              <a:buChar char=" "/>
            </a:pPr>
            <a:r>
              <a:rPr lang="en-US" sz="2400"/>
              <a:t>P(No)= 5/14 = 0.36</a:t>
            </a:r>
            <a:endParaRPr sz="2400"/>
          </a:p>
          <a:p>
            <a:pPr indent="-152400" lvl="0" marL="91440" rtl="0" algn="l">
              <a:lnSpc>
                <a:spcPct val="90000"/>
              </a:lnSpc>
              <a:spcBef>
                <a:spcPts val="1400"/>
              </a:spcBef>
              <a:spcAft>
                <a:spcPts val="0"/>
              </a:spcAft>
              <a:buSzPts val="2400"/>
              <a:buChar char=" "/>
            </a:pPr>
            <a:r>
              <a:rPr lang="en-US" sz="2400"/>
              <a:t> Calculate Posterior Probabilities:</a:t>
            </a:r>
            <a:endParaRPr sz="2400"/>
          </a:p>
          <a:p>
            <a:pPr indent="-152400" lvl="0" marL="91440" rtl="0" algn="l">
              <a:lnSpc>
                <a:spcPct val="90000"/>
              </a:lnSpc>
              <a:spcBef>
                <a:spcPts val="1400"/>
              </a:spcBef>
              <a:spcAft>
                <a:spcPts val="0"/>
              </a:spcAft>
              <a:buSzPts val="2400"/>
              <a:buChar char=" "/>
            </a:pPr>
            <a:r>
              <a:rPr lang="en-US" sz="2400"/>
              <a:t>P(Overcast |No) = 0/9 = 0</a:t>
            </a:r>
            <a:endParaRPr sz="2400"/>
          </a:p>
          <a:p>
            <a:pPr indent="-152400" lvl="0" marL="91440" rtl="0" algn="l">
              <a:lnSpc>
                <a:spcPct val="90000"/>
              </a:lnSpc>
              <a:spcBef>
                <a:spcPts val="1400"/>
              </a:spcBef>
              <a:spcAft>
                <a:spcPts val="0"/>
              </a:spcAft>
              <a:buSzPts val="2400"/>
              <a:buChar char=" "/>
            </a:pPr>
            <a:r>
              <a:rPr lang="en-US" sz="2400"/>
              <a:t> Put Prior and Posterior probabilities in equation (2)</a:t>
            </a:r>
            <a:endParaRPr sz="2400"/>
          </a:p>
          <a:p>
            <a:pPr indent="-152400" lvl="0" marL="91440" rtl="0" algn="l">
              <a:lnSpc>
                <a:spcPct val="90000"/>
              </a:lnSpc>
              <a:spcBef>
                <a:spcPts val="1400"/>
              </a:spcBef>
              <a:spcAft>
                <a:spcPts val="0"/>
              </a:spcAft>
              <a:buSzPts val="2400"/>
              <a:buChar char=" "/>
            </a:pPr>
            <a:r>
              <a:rPr lang="en-US" sz="2400"/>
              <a:t>P (No | Overcast) = 0 * 0.36 / 0.29 = 0</a:t>
            </a:r>
            <a:endParaRPr sz="2400"/>
          </a:p>
          <a:p>
            <a:pPr indent="-152400" lvl="0" marL="91440" rtl="0" algn="l">
              <a:lnSpc>
                <a:spcPct val="90000"/>
              </a:lnSpc>
              <a:spcBef>
                <a:spcPts val="1400"/>
              </a:spcBef>
              <a:spcAft>
                <a:spcPts val="0"/>
              </a:spcAft>
              <a:buSzPts val="2400"/>
              <a:buChar char=" "/>
            </a:pPr>
            <a:r>
              <a:rPr i="1" lang="en-US" sz="2400"/>
              <a:t>The probability of a 'Yes' class is higher. So you can determine here if the weather is overcast than players will play the sport.</a:t>
            </a:r>
            <a:endParaRPr sz="2400"/>
          </a:p>
          <a:p>
            <a:pPr indent="0" lvl="0" marL="91440" rtl="0" algn="l">
              <a:lnSpc>
                <a:spcPct val="90000"/>
              </a:lnSpc>
              <a:spcBef>
                <a:spcPts val="1400"/>
              </a:spcBef>
              <a:spcAft>
                <a:spcPts val="0"/>
              </a:spcAft>
              <a:buSzPts val="2000"/>
              <a:buNone/>
            </a:pPr>
            <a:r>
              <a:t/>
            </a:r>
            <a:endParaRPr sz="2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5"/>
          <p:cNvSpPr txBox="1"/>
          <p:nvPr>
            <p:ph type="title"/>
          </p:nvPr>
        </p:nvSpPr>
        <p:spPr>
          <a:xfrm>
            <a:off x="371350" y="286600"/>
            <a:ext cx="11539800" cy="1450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b="1" lang="en-US"/>
              <a:t>Second Approach (In case of multiple features)</a:t>
            </a:r>
            <a:br>
              <a:rPr b="1" lang="en-US"/>
            </a:br>
            <a:br>
              <a:rPr lang="en-US"/>
            </a:br>
            <a:endParaRPr/>
          </a:p>
        </p:txBody>
      </p:sp>
      <p:pic>
        <p:nvPicPr>
          <p:cNvPr id="510" name="Google Shape;510;p75"/>
          <p:cNvPicPr preferRelativeResize="0"/>
          <p:nvPr>
            <p:ph idx="1" type="body"/>
          </p:nvPr>
        </p:nvPicPr>
        <p:blipFill rotWithShape="1">
          <a:blip r:embed="rId3">
            <a:alphaModFix/>
          </a:blip>
          <a:srcRect b="0" l="0" r="0" t="0"/>
          <a:stretch/>
        </p:blipFill>
        <p:spPr>
          <a:xfrm>
            <a:off x="1097280" y="617965"/>
            <a:ext cx="9657156" cy="62090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6"/>
          <p:cNvSpPr txBox="1"/>
          <p:nvPr>
            <p:ph idx="1" type="body"/>
          </p:nvPr>
        </p:nvSpPr>
        <p:spPr>
          <a:xfrm>
            <a:off x="234450" y="486250"/>
            <a:ext cx="11723100" cy="556590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lang="en-US" sz="2400"/>
              <a:t>Now suppose you want to calculate the probability of playing when the weather is overcast, and the temperature is mild.</a:t>
            </a:r>
            <a:endParaRPr sz="2400"/>
          </a:p>
          <a:p>
            <a:pPr indent="-152400" lvl="0" marL="91440" rtl="0" algn="l">
              <a:lnSpc>
                <a:spcPct val="90000"/>
              </a:lnSpc>
              <a:spcBef>
                <a:spcPts val="1400"/>
              </a:spcBef>
              <a:spcAft>
                <a:spcPts val="0"/>
              </a:spcAft>
              <a:buSzPts val="2400"/>
              <a:buChar char=" "/>
            </a:pPr>
            <a:r>
              <a:rPr b="1" lang="en-US" sz="2400"/>
              <a:t>Probability of playing:</a:t>
            </a:r>
            <a:endParaRPr sz="2400"/>
          </a:p>
          <a:p>
            <a:pPr indent="-152400" lvl="0" marL="91440" rtl="0" algn="l">
              <a:lnSpc>
                <a:spcPct val="90000"/>
              </a:lnSpc>
              <a:spcBef>
                <a:spcPts val="1400"/>
              </a:spcBef>
              <a:spcAft>
                <a:spcPts val="0"/>
              </a:spcAft>
              <a:buSzPts val="2400"/>
              <a:buChar char=" "/>
            </a:pPr>
            <a:r>
              <a:rPr i="1" lang="en-US" sz="2400"/>
              <a:t>P(Play= Yes | Weather=Overcast, Temp=Mild) = P(Weather=Overcast, Temp=Mild | Play= Yes)</a:t>
            </a:r>
            <a:r>
              <a:rPr lang="en-US" sz="2400"/>
              <a:t>P(Play=Yes) ..........(1)</a:t>
            </a:r>
            <a:endParaRPr sz="2400"/>
          </a:p>
          <a:p>
            <a:pPr indent="-152400" lvl="0" marL="91440" rtl="0" algn="l">
              <a:lnSpc>
                <a:spcPct val="90000"/>
              </a:lnSpc>
              <a:spcBef>
                <a:spcPts val="1400"/>
              </a:spcBef>
              <a:spcAft>
                <a:spcPts val="0"/>
              </a:spcAft>
              <a:buSzPts val="2400"/>
              <a:buChar char=" "/>
            </a:pPr>
            <a:r>
              <a:rPr i="1" lang="en-US" sz="2400"/>
              <a:t>P(Weather=Overcast, Temp=Mild | Play= Yes)= P(Overcast |Yes)</a:t>
            </a:r>
            <a:r>
              <a:rPr lang="en-US" sz="2400"/>
              <a:t> P(Mild |Yes) ………..(2)</a:t>
            </a:r>
            <a:endParaRPr sz="2400"/>
          </a:p>
          <a:p>
            <a:pPr indent="-152400" lvl="0" marL="91440" rtl="0" algn="l">
              <a:lnSpc>
                <a:spcPct val="90000"/>
              </a:lnSpc>
              <a:spcBef>
                <a:spcPts val="1400"/>
              </a:spcBef>
              <a:spcAft>
                <a:spcPts val="0"/>
              </a:spcAft>
              <a:buSzPts val="2400"/>
              <a:buChar char=" "/>
            </a:pPr>
            <a:r>
              <a:rPr lang="en-US" sz="2400"/>
              <a:t>Calculate Prior Probabilities: P(Yes)= 9/14 = 0.64</a:t>
            </a:r>
            <a:endParaRPr sz="2400"/>
          </a:p>
          <a:p>
            <a:pPr indent="-152400" lvl="0" marL="91440" rtl="0" algn="l">
              <a:lnSpc>
                <a:spcPct val="90000"/>
              </a:lnSpc>
              <a:spcBef>
                <a:spcPts val="1400"/>
              </a:spcBef>
              <a:spcAft>
                <a:spcPts val="0"/>
              </a:spcAft>
              <a:buSzPts val="2400"/>
              <a:buChar char=" "/>
            </a:pPr>
            <a:r>
              <a:rPr lang="en-US" sz="2400"/>
              <a:t>Calculate Posterior Probabilities: P(Overcast |Yes) = 4/9 = 0.44 P(Mild |Yes) = 4/9 = 0.44</a:t>
            </a:r>
            <a:endParaRPr sz="2400"/>
          </a:p>
          <a:p>
            <a:pPr indent="-152400" lvl="0" marL="91440" rtl="0" algn="l">
              <a:lnSpc>
                <a:spcPct val="90000"/>
              </a:lnSpc>
              <a:spcBef>
                <a:spcPts val="1400"/>
              </a:spcBef>
              <a:spcAft>
                <a:spcPts val="0"/>
              </a:spcAft>
              <a:buSzPts val="2400"/>
              <a:buChar char=" "/>
            </a:pPr>
            <a:r>
              <a:rPr lang="en-US" sz="2400"/>
              <a:t>Put Posterior probabilities in equation (2) P(Weather=Overcast, Temp=Mild | Play= Yes) = 0.44 * 0.44 = 0.1936(Higher)</a:t>
            </a:r>
            <a:endParaRPr sz="2400"/>
          </a:p>
          <a:p>
            <a:pPr indent="-152400" lvl="0" marL="91440" rtl="0" algn="l">
              <a:lnSpc>
                <a:spcPct val="90000"/>
              </a:lnSpc>
              <a:spcBef>
                <a:spcPts val="1400"/>
              </a:spcBef>
              <a:spcAft>
                <a:spcPts val="0"/>
              </a:spcAft>
              <a:buSzPts val="2400"/>
              <a:buChar char=" "/>
            </a:pPr>
            <a:r>
              <a:rPr lang="en-US" sz="2400"/>
              <a:t>Put Prior and Posterior probabilities in equation (1) P(Play= Yes | Weather=Overcast, Temp=Mild) = 0.1936*0.64 = 0.124</a:t>
            </a:r>
            <a:endParaRPr sz="24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7"/>
          <p:cNvSpPr txBox="1"/>
          <p:nvPr>
            <p:ph idx="1" type="body"/>
          </p:nvPr>
        </p:nvSpPr>
        <p:spPr>
          <a:xfrm>
            <a:off x="273000" y="343700"/>
            <a:ext cx="11418600" cy="609570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t>Probability of not playing:</a:t>
            </a:r>
            <a:endParaRPr sz="2400"/>
          </a:p>
          <a:p>
            <a:pPr indent="-152400" lvl="0" marL="91440" rtl="0" algn="l">
              <a:lnSpc>
                <a:spcPct val="90000"/>
              </a:lnSpc>
              <a:spcBef>
                <a:spcPts val="1400"/>
              </a:spcBef>
              <a:spcAft>
                <a:spcPts val="0"/>
              </a:spcAft>
              <a:buSzPts val="2400"/>
              <a:buChar char=" "/>
            </a:pPr>
            <a:r>
              <a:rPr i="1" lang="en-US" sz="2400"/>
              <a:t>P(Play= No | Weather=Overcast, Temp=Mild) = P(Weather=Overcast, Temp=Mild | Play= No)</a:t>
            </a:r>
            <a:r>
              <a:rPr lang="en-US" sz="2400"/>
              <a:t>P(Play=No) ..........(3)</a:t>
            </a:r>
            <a:endParaRPr sz="2400"/>
          </a:p>
          <a:p>
            <a:pPr indent="-152400" lvl="0" marL="91440" rtl="0" algn="l">
              <a:lnSpc>
                <a:spcPct val="90000"/>
              </a:lnSpc>
              <a:spcBef>
                <a:spcPts val="1400"/>
              </a:spcBef>
              <a:spcAft>
                <a:spcPts val="0"/>
              </a:spcAft>
              <a:buSzPts val="2400"/>
              <a:buChar char=" "/>
            </a:pPr>
            <a:r>
              <a:rPr i="1" lang="en-US" sz="2400"/>
              <a:t>P(Weather=Overcast, Temp=Mild | Play= No)= P(Weather=Overcast |Play=No)</a:t>
            </a:r>
            <a:r>
              <a:rPr lang="en-US" sz="2400"/>
              <a:t> P(Temp=Mild | Play=No) ………..(4)</a:t>
            </a:r>
            <a:endParaRPr sz="2400"/>
          </a:p>
          <a:p>
            <a:pPr indent="-152400" lvl="0" marL="91440" rtl="0" algn="l">
              <a:lnSpc>
                <a:spcPct val="90000"/>
              </a:lnSpc>
              <a:spcBef>
                <a:spcPts val="1400"/>
              </a:spcBef>
              <a:spcAft>
                <a:spcPts val="0"/>
              </a:spcAft>
              <a:buSzPts val="2400"/>
              <a:buChar char=" "/>
            </a:pPr>
            <a:r>
              <a:rPr lang="en-US" sz="2400"/>
              <a:t>Calculate Prior Probabilities: P(No)= 5/14 = 0.36</a:t>
            </a:r>
            <a:endParaRPr sz="2400"/>
          </a:p>
          <a:p>
            <a:pPr indent="-152400" lvl="0" marL="91440" rtl="0" algn="l">
              <a:lnSpc>
                <a:spcPct val="90000"/>
              </a:lnSpc>
              <a:spcBef>
                <a:spcPts val="1400"/>
              </a:spcBef>
              <a:spcAft>
                <a:spcPts val="0"/>
              </a:spcAft>
              <a:buSzPts val="2400"/>
              <a:buChar char=" "/>
            </a:pPr>
            <a:r>
              <a:rPr lang="en-US" sz="2400"/>
              <a:t>Calculate Posterior Probabilities: P(Weather=Overcast |Play=No) = 0/9 = 0 P(Temp=Mild | Play=No)=2/5=0.4</a:t>
            </a:r>
            <a:endParaRPr sz="2400"/>
          </a:p>
          <a:p>
            <a:pPr indent="-152400" lvl="0" marL="91440" rtl="0" algn="l">
              <a:lnSpc>
                <a:spcPct val="90000"/>
              </a:lnSpc>
              <a:spcBef>
                <a:spcPts val="1400"/>
              </a:spcBef>
              <a:spcAft>
                <a:spcPts val="0"/>
              </a:spcAft>
              <a:buSzPts val="2400"/>
              <a:buChar char=" "/>
            </a:pPr>
            <a:r>
              <a:rPr lang="en-US" sz="2400"/>
              <a:t>Put posterior probabilities in equation (4) P(Weather=Overcast, Temp=Mild | Play= No) = 0 * 0.4= 0</a:t>
            </a:r>
            <a:endParaRPr sz="2400"/>
          </a:p>
          <a:p>
            <a:pPr indent="-152400" lvl="0" marL="91440" rtl="0" algn="l">
              <a:lnSpc>
                <a:spcPct val="90000"/>
              </a:lnSpc>
              <a:spcBef>
                <a:spcPts val="1400"/>
              </a:spcBef>
              <a:spcAft>
                <a:spcPts val="0"/>
              </a:spcAft>
              <a:buSzPts val="2400"/>
              <a:buChar char=" "/>
            </a:pPr>
            <a:r>
              <a:rPr lang="en-US" sz="2400"/>
              <a:t>Put prior and posterior probabilities in equation (3) P(Play= No | Weather=Overcast, Temp=Mild) = 0*0.36=0</a:t>
            </a:r>
            <a:endParaRPr sz="2400"/>
          </a:p>
          <a:p>
            <a:pPr indent="-152400" lvl="0" marL="91440" rtl="0" algn="l">
              <a:lnSpc>
                <a:spcPct val="90000"/>
              </a:lnSpc>
              <a:spcBef>
                <a:spcPts val="1400"/>
              </a:spcBef>
              <a:spcAft>
                <a:spcPts val="0"/>
              </a:spcAft>
              <a:buSzPts val="2400"/>
              <a:buChar char=" "/>
            </a:pPr>
            <a:r>
              <a:rPr i="1" lang="en-US" sz="2400"/>
              <a:t>The probability of a 'Yes' class is higher. So you can say here that if the weather is overcast than players will play the sport.</a:t>
            </a:r>
            <a:endParaRPr sz="2400"/>
          </a:p>
          <a:p>
            <a:pPr indent="0" lvl="0" marL="91440" rtl="0" algn="l">
              <a:lnSpc>
                <a:spcPct val="90000"/>
              </a:lnSpc>
              <a:spcBef>
                <a:spcPts val="1400"/>
              </a:spcBef>
              <a:spcAft>
                <a:spcPts val="0"/>
              </a:spcAft>
              <a:buSzPts val="2000"/>
              <a:buNone/>
            </a:pPr>
            <a:r>
              <a:t/>
            </a:r>
            <a:endParaRPr sz="24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Support Vector Machine Algorithm</a:t>
            </a:r>
            <a:br>
              <a:rPr lang="en-US"/>
            </a:br>
            <a:endParaRPr/>
          </a:p>
        </p:txBody>
      </p:sp>
      <p:sp>
        <p:nvSpPr>
          <p:cNvPr id="527" name="Google Shape;527;p78"/>
          <p:cNvSpPr txBox="1"/>
          <p:nvPr>
            <p:ph idx="1" type="body"/>
          </p:nvPr>
        </p:nvSpPr>
        <p:spPr>
          <a:xfrm>
            <a:off x="188175" y="1845725"/>
            <a:ext cx="11613300" cy="2102400"/>
          </a:xfrm>
          <a:prstGeom prst="rect">
            <a:avLst/>
          </a:prstGeom>
          <a:noFill/>
          <a:ln>
            <a:noFill/>
          </a:ln>
        </p:spPr>
        <p:txBody>
          <a:bodyPr anchorCtr="0" anchor="t" bIns="45700" lIns="0" spcFirstLastPara="1" rIns="0" wrap="square" tIns="45700">
            <a:noAutofit/>
          </a:bodyPr>
          <a:lstStyle/>
          <a:p>
            <a:pPr indent="-116840" lvl="0" marL="91440" rtl="0" algn="l">
              <a:lnSpc>
                <a:spcPct val="90000"/>
              </a:lnSpc>
              <a:spcBef>
                <a:spcPts val="0"/>
              </a:spcBef>
              <a:spcAft>
                <a:spcPts val="0"/>
              </a:spcAft>
              <a:buSzPts val="2400"/>
              <a:buChar char=" "/>
            </a:pPr>
            <a:r>
              <a:rPr lang="en-US" sz="2400"/>
              <a:t>Support Vector Machine or SVM is one of the most popular Supervised Learning algorithms, which is used for </a:t>
            </a:r>
            <a:r>
              <a:rPr b="1" lang="en-US" sz="2400"/>
              <a:t>Classification as well as Regression</a:t>
            </a:r>
            <a:r>
              <a:rPr lang="en-US" sz="2400"/>
              <a:t> problems. However, primarily, it is used for Classification problems in Machine Learning.</a:t>
            </a:r>
            <a:endParaRPr sz="2400"/>
          </a:p>
          <a:p>
            <a:pPr indent="-116840" lvl="0" marL="91440" rtl="0" algn="l">
              <a:lnSpc>
                <a:spcPct val="90000"/>
              </a:lnSpc>
              <a:spcBef>
                <a:spcPts val="1400"/>
              </a:spcBef>
              <a:spcAft>
                <a:spcPts val="0"/>
              </a:spcAft>
              <a:buSzPts val="2400"/>
              <a:buChar char=" "/>
            </a:pPr>
            <a:r>
              <a:rPr lang="en-US" sz="2400"/>
              <a:t>The goal of the SVM algorithm is to </a:t>
            </a:r>
            <a:r>
              <a:rPr b="1" lang="en-US" sz="2400"/>
              <a:t>create the best line or decision boundary that can segregate n-dimensional space into classes</a:t>
            </a:r>
            <a:r>
              <a:rPr lang="en-US" sz="2400"/>
              <a:t> so that we can easily put the new data point in the correct category in the future. </a:t>
            </a:r>
            <a:r>
              <a:rPr b="1" lang="en-US" sz="2400"/>
              <a:t>This best decision boundary is called a hyperplane.</a:t>
            </a:r>
            <a:endParaRPr sz="2400"/>
          </a:p>
        </p:txBody>
      </p:sp>
      <p:sp>
        <p:nvSpPr>
          <p:cNvPr id="528" name="Google Shape;528;p78"/>
          <p:cNvSpPr txBox="1"/>
          <p:nvPr>
            <p:ph type="title"/>
          </p:nvPr>
        </p:nvSpPr>
        <p:spPr>
          <a:xfrm>
            <a:off x="0" y="0"/>
            <a:ext cx="12192000" cy="17373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Support Vector Machine Algorithm</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9"/>
          <p:cNvSpPr txBox="1"/>
          <p:nvPr>
            <p:ph type="title"/>
          </p:nvPr>
        </p:nvSpPr>
        <p:spPr>
          <a:xfrm>
            <a:off x="1097276" y="286600"/>
            <a:ext cx="79383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Hyperplane</a:t>
            </a:r>
            <a:endParaRPr/>
          </a:p>
        </p:txBody>
      </p:sp>
      <p:sp>
        <p:nvSpPr>
          <p:cNvPr id="534" name="Google Shape;534;p79"/>
          <p:cNvSpPr txBox="1"/>
          <p:nvPr>
            <p:ph idx="1" type="body"/>
          </p:nvPr>
        </p:nvSpPr>
        <p:spPr>
          <a:xfrm>
            <a:off x="291325" y="1827425"/>
            <a:ext cx="4677600" cy="4392300"/>
          </a:xfrm>
          <a:prstGeom prst="rect">
            <a:avLst/>
          </a:prstGeom>
          <a:noFill/>
          <a:ln>
            <a:noFill/>
          </a:ln>
        </p:spPr>
        <p:txBody>
          <a:bodyPr anchorCtr="0" anchor="t" bIns="45700" lIns="0" spcFirstLastPara="1" rIns="0" wrap="square" tIns="45700">
            <a:normAutofit/>
          </a:bodyPr>
          <a:lstStyle/>
          <a:p>
            <a:pPr indent="-116840" lvl="0" marL="91440" rtl="0" algn="l">
              <a:lnSpc>
                <a:spcPct val="90000"/>
              </a:lnSpc>
              <a:spcBef>
                <a:spcPts val="0"/>
              </a:spcBef>
              <a:spcAft>
                <a:spcPts val="0"/>
              </a:spcAft>
              <a:buSzPts val="2400"/>
              <a:buChar char=" "/>
            </a:pPr>
            <a:r>
              <a:rPr lang="en-US" sz="2400"/>
              <a:t>SVM chooses the extreme points/vectors that help in creating the hyperplane. These extreme cases are called as support vectors, and hence algorithm is termed as Support Vector Machine. Consider the below diagram in which there are two different categories that are classified using a decision boundary or hyperplane:</a:t>
            </a:r>
            <a:endParaRPr sz="2400"/>
          </a:p>
        </p:txBody>
      </p:sp>
      <p:pic>
        <p:nvPicPr>
          <p:cNvPr id="535" name="Google Shape;535;p79"/>
          <p:cNvPicPr preferRelativeResize="0"/>
          <p:nvPr/>
        </p:nvPicPr>
        <p:blipFill rotWithShape="1">
          <a:blip r:embed="rId3">
            <a:alphaModFix/>
          </a:blip>
          <a:srcRect b="0" l="0" r="0" t="0"/>
          <a:stretch/>
        </p:blipFill>
        <p:spPr>
          <a:xfrm>
            <a:off x="5421074" y="1737348"/>
            <a:ext cx="6588417" cy="4392300"/>
          </a:xfrm>
          <a:prstGeom prst="rect">
            <a:avLst/>
          </a:prstGeom>
          <a:noFill/>
          <a:ln>
            <a:noFill/>
          </a:ln>
        </p:spPr>
      </p:pic>
      <p:sp>
        <p:nvSpPr>
          <p:cNvPr id="536" name="Google Shape;536;p79"/>
          <p:cNvSpPr txBox="1"/>
          <p:nvPr>
            <p:ph type="title"/>
          </p:nvPr>
        </p:nvSpPr>
        <p:spPr>
          <a:xfrm>
            <a:off x="0" y="0"/>
            <a:ext cx="12192000" cy="17373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Support Vector Machine - HyperPlane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Example.</a:t>
            </a:r>
            <a:endParaRPr/>
          </a:p>
        </p:txBody>
      </p:sp>
      <p:sp>
        <p:nvSpPr>
          <p:cNvPr id="542" name="Google Shape;542;p8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p>
            <a:pPr indent="-116840" lvl="0" marL="91440" rtl="0" algn="l">
              <a:lnSpc>
                <a:spcPct val="90000"/>
              </a:lnSpc>
              <a:spcBef>
                <a:spcPts val="0"/>
              </a:spcBef>
              <a:spcAft>
                <a:spcPts val="0"/>
              </a:spcAft>
              <a:buSzPts val="2400"/>
              <a:buChar char=" "/>
            </a:pPr>
            <a:r>
              <a:rPr lang="en-US" sz="2400"/>
              <a:t>SVM can be understood with the example that we have used in the KNN classifier. Suppose we see a strange cat that also has some features of dogs, so if we want a model that can accurately identify whether it is a cat or dog, so such a model can be created by using the SVM algorithm. </a:t>
            </a:r>
            <a:endParaRPr sz="2400"/>
          </a:p>
          <a:p>
            <a:pPr indent="-116840" lvl="0" marL="91440" rtl="0" algn="l">
              <a:lnSpc>
                <a:spcPct val="90000"/>
              </a:lnSpc>
              <a:spcBef>
                <a:spcPts val="0"/>
              </a:spcBef>
              <a:spcAft>
                <a:spcPts val="0"/>
              </a:spcAft>
              <a:buSzPts val="2400"/>
              <a:buChar char=" "/>
            </a:pPr>
            <a:r>
              <a:rPr lang="en-US" sz="2400"/>
              <a:t>We will first train our model with lots of images of cats and dogs so that it can learn about different features of cats and dogs, and then we test it with this strange creature.</a:t>
            </a:r>
            <a:endParaRPr sz="2400"/>
          </a:p>
          <a:p>
            <a:pPr indent="-116840" lvl="0" marL="91440" rtl="0" algn="l">
              <a:lnSpc>
                <a:spcPct val="90000"/>
              </a:lnSpc>
              <a:spcBef>
                <a:spcPts val="1400"/>
              </a:spcBef>
              <a:spcAft>
                <a:spcPts val="0"/>
              </a:spcAft>
              <a:buSzPts val="2400"/>
              <a:buChar char=" "/>
            </a:pPr>
            <a:r>
              <a:rPr lang="en-US" sz="2400"/>
              <a:t> So as support vector creates a decision boundary between these two data (cat and dog) and choose extreme cases (support vectors), it will see the extreme case of cat and dog. On the basis of the support vectors, it will classify it as a cat. Consider the below diagram:</a:t>
            </a:r>
            <a:endParaRPr sz="24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descr="Support Vector Machine Algorithm" id="547" name="Google Shape;547;p81"/>
          <p:cNvPicPr preferRelativeResize="0"/>
          <p:nvPr/>
        </p:nvPicPr>
        <p:blipFill rotWithShape="1">
          <a:blip r:embed="rId3">
            <a:alphaModFix/>
          </a:blip>
          <a:srcRect b="0" l="0" r="0" t="0"/>
          <a:stretch/>
        </p:blipFill>
        <p:spPr>
          <a:xfrm>
            <a:off x="1471415" y="654250"/>
            <a:ext cx="9249175" cy="5549500"/>
          </a:xfrm>
          <a:prstGeom prst="rect">
            <a:avLst/>
          </a:prstGeom>
          <a:noFill/>
          <a:ln>
            <a:noFill/>
          </a:ln>
        </p:spPr>
      </p:pic>
      <p:sp>
        <p:nvSpPr>
          <p:cNvPr id="548" name="Google Shape;548;p81"/>
          <p:cNvSpPr txBox="1"/>
          <p:nvPr/>
        </p:nvSpPr>
        <p:spPr>
          <a:xfrm>
            <a:off x="243600" y="100525"/>
            <a:ext cx="11704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400" u="none" cap="none" strike="noStrike">
                <a:solidFill>
                  <a:schemeClr val="dk1"/>
                </a:solidFill>
                <a:latin typeface="Calibri"/>
                <a:ea typeface="Calibri"/>
                <a:cs typeface="Calibri"/>
                <a:sym typeface="Calibri"/>
              </a:rPr>
              <a:t>SVM algorithm can be used for </a:t>
            </a:r>
            <a:r>
              <a:rPr b="1" i="0" lang="en-US" sz="2400" u="none" cap="none" strike="noStrike">
                <a:solidFill>
                  <a:schemeClr val="dk1"/>
                </a:solidFill>
                <a:latin typeface="Calibri"/>
                <a:ea typeface="Calibri"/>
                <a:cs typeface="Calibri"/>
                <a:sym typeface="Calibri"/>
              </a:rPr>
              <a:t>Face detection, image classification, text categorization,</a:t>
            </a:r>
            <a:r>
              <a:rPr b="0" i="0" lang="en-US" sz="2400" u="none" cap="none" strike="noStrike">
                <a:solidFill>
                  <a:schemeClr val="dk1"/>
                </a:solidFill>
                <a:latin typeface="Calibri"/>
                <a:ea typeface="Calibri"/>
                <a:cs typeface="Calibri"/>
                <a:sym typeface="Calibri"/>
              </a:rPr>
              <a:t> etc.</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82"/>
          <p:cNvSpPr txBox="1"/>
          <p:nvPr>
            <p:ph type="title"/>
          </p:nvPr>
        </p:nvSpPr>
        <p:spPr>
          <a:xfrm>
            <a:off x="236355" y="249978"/>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Types of SVM</a:t>
            </a:r>
            <a:endParaRPr/>
          </a:p>
        </p:txBody>
      </p:sp>
      <p:sp>
        <p:nvSpPr>
          <p:cNvPr id="554" name="Google Shape;554;p82"/>
          <p:cNvSpPr txBox="1"/>
          <p:nvPr>
            <p:ph idx="1" type="body"/>
          </p:nvPr>
        </p:nvSpPr>
        <p:spPr>
          <a:xfrm>
            <a:off x="481250" y="1845725"/>
            <a:ext cx="11155200" cy="2358900"/>
          </a:xfrm>
          <a:prstGeom prst="rect">
            <a:avLst/>
          </a:prstGeom>
          <a:noFill/>
          <a:ln>
            <a:noFill/>
          </a:ln>
        </p:spPr>
        <p:txBody>
          <a:bodyPr anchorCtr="0" anchor="t" bIns="45700" lIns="0" spcFirstLastPara="1" rIns="0" wrap="square" tIns="45700">
            <a:normAutofit/>
          </a:bodyPr>
          <a:lstStyle/>
          <a:p>
            <a:pPr indent="-116840" lvl="0" marL="91440" rtl="0" algn="l">
              <a:lnSpc>
                <a:spcPct val="90000"/>
              </a:lnSpc>
              <a:spcBef>
                <a:spcPts val="0"/>
              </a:spcBef>
              <a:spcAft>
                <a:spcPts val="0"/>
              </a:spcAft>
              <a:buSzPts val="2400"/>
              <a:buChar char=" "/>
            </a:pPr>
            <a:r>
              <a:rPr b="1" lang="en-US" sz="2400"/>
              <a:t>Linear SVM:</a:t>
            </a:r>
            <a:r>
              <a:rPr lang="en-US" sz="2400"/>
              <a:t> Linear SVM is used for linearly separable data, which means if a dataset can be classified into two classes by using a single straight line, then such data is termed as linearly separable data, and classifier is used called as Linear SVM classifier.</a:t>
            </a:r>
            <a:endParaRPr sz="2400"/>
          </a:p>
          <a:p>
            <a:pPr indent="-116840" lvl="0" marL="91440" rtl="0" algn="l">
              <a:lnSpc>
                <a:spcPct val="90000"/>
              </a:lnSpc>
              <a:spcBef>
                <a:spcPts val="1400"/>
              </a:spcBef>
              <a:spcAft>
                <a:spcPts val="0"/>
              </a:spcAft>
              <a:buSzPts val="2400"/>
              <a:buChar char=" "/>
            </a:pPr>
            <a:r>
              <a:rPr b="1" lang="en-US" sz="2400"/>
              <a:t>Non-linear SVM:</a:t>
            </a:r>
            <a:r>
              <a:rPr lang="en-US" sz="2400"/>
              <a:t> Non-Linear SVM is used for non-linearly separated data, which means if a dataset cannot be classified by using a straight line, then such data is termed as non-linear data and classifier used is called as Non-linear SVM classifier.</a:t>
            </a:r>
            <a:endParaRPr sz="2400"/>
          </a:p>
        </p:txBody>
      </p:sp>
      <p:sp>
        <p:nvSpPr>
          <p:cNvPr id="555" name="Google Shape;555;p82"/>
          <p:cNvSpPr txBox="1"/>
          <p:nvPr>
            <p:ph type="title"/>
          </p:nvPr>
        </p:nvSpPr>
        <p:spPr>
          <a:xfrm>
            <a:off x="0" y="0"/>
            <a:ext cx="12192000" cy="17373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Types of SVM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83"/>
          <p:cNvSpPr txBox="1"/>
          <p:nvPr>
            <p:ph type="title"/>
          </p:nvPr>
        </p:nvSpPr>
        <p:spPr>
          <a:xfrm>
            <a:off x="243125" y="231648"/>
            <a:ext cx="116316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sz="4600"/>
              <a:t>Hyperplane &amp; Support Vectors in the SVM algo:</a:t>
            </a:r>
            <a:endParaRPr sz="4600"/>
          </a:p>
        </p:txBody>
      </p:sp>
      <p:sp>
        <p:nvSpPr>
          <p:cNvPr id="561" name="Google Shape;561;p83"/>
          <p:cNvSpPr txBox="1"/>
          <p:nvPr>
            <p:ph idx="1" type="body"/>
          </p:nvPr>
        </p:nvSpPr>
        <p:spPr>
          <a:xfrm>
            <a:off x="243125" y="1845725"/>
            <a:ext cx="11631600" cy="3201600"/>
          </a:xfrm>
          <a:prstGeom prst="rect">
            <a:avLst/>
          </a:prstGeom>
          <a:noFill/>
          <a:ln>
            <a:noFill/>
          </a:ln>
        </p:spPr>
        <p:txBody>
          <a:bodyPr anchorCtr="0" anchor="t" bIns="45700" lIns="0" spcFirstLastPara="1" rIns="0" wrap="square" tIns="45700">
            <a:noAutofit/>
          </a:bodyPr>
          <a:lstStyle/>
          <a:p>
            <a:pPr indent="-116840" lvl="0" marL="91440" rtl="0" algn="l">
              <a:lnSpc>
                <a:spcPct val="90000"/>
              </a:lnSpc>
              <a:spcBef>
                <a:spcPts val="0"/>
              </a:spcBef>
              <a:spcAft>
                <a:spcPts val="0"/>
              </a:spcAft>
              <a:buSzPts val="2400"/>
              <a:buChar char=" "/>
            </a:pPr>
            <a:r>
              <a:rPr b="1" lang="en-US" sz="2400"/>
              <a:t>Hyperplane:</a:t>
            </a:r>
            <a:r>
              <a:rPr lang="en-US" sz="2400"/>
              <a:t> There can be multiple lines/decision boundaries to segregate the classes in n-dimensional space, but we need to find out the best decision boundary that helps to classify the data points. This best boundary is known as the hyperplane of SVM.</a:t>
            </a:r>
            <a:endParaRPr sz="2400"/>
          </a:p>
          <a:p>
            <a:pPr indent="-116840" lvl="0" marL="91440" rtl="0" algn="l">
              <a:lnSpc>
                <a:spcPct val="90000"/>
              </a:lnSpc>
              <a:spcBef>
                <a:spcPts val="1400"/>
              </a:spcBef>
              <a:spcAft>
                <a:spcPts val="0"/>
              </a:spcAft>
              <a:buSzPts val="2400"/>
              <a:buChar char=" "/>
            </a:pPr>
            <a:r>
              <a:rPr lang="en-US" sz="2400"/>
              <a:t>The dimensions of the hyperplane depend on the features present in the dataset, which means if there are 2 features (as shown in image), then hyperplane will be a straight line. And if there are 3 features, then hyperplane will be a 2-dimension plane.</a:t>
            </a:r>
            <a:endParaRPr sz="2400"/>
          </a:p>
          <a:p>
            <a:pPr indent="-116840" lvl="0" marL="91440" rtl="0" algn="l">
              <a:lnSpc>
                <a:spcPct val="90000"/>
              </a:lnSpc>
              <a:spcBef>
                <a:spcPts val="1400"/>
              </a:spcBef>
              <a:spcAft>
                <a:spcPts val="0"/>
              </a:spcAft>
              <a:buSzPts val="2400"/>
              <a:buChar char=" "/>
            </a:pPr>
            <a:r>
              <a:rPr lang="en-US" sz="2400"/>
              <a:t>We always create a hyperplane that has a maximum margin, which means the maximum distance between the data points.</a:t>
            </a:r>
            <a:endParaRPr sz="2400"/>
          </a:p>
        </p:txBody>
      </p:sp>
      <p:sp>
        <p:nvSpPr>
          <p:cNvPr id="562" name="Google Shape;562;p83"/>
          <p:cNvSpPr txBox="1"/>
          <p:nvPr>
            <p:ph type="title"/>
          </p:nvPr>
        </p:nvSpPr>
        <p:spPr>
          <a:xfrm>
            <a:off x="0" y="0"/>
            <a:ext cx="12192000" cy="17373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Hyperplane &amp; Support Vectors in the SVM algo:</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84"/>
          <p:cNvSpPr txBox="1"/>
          <p:nvPr>
            <p:ph type="title"/>
          </p:nvPr>
        </p:nvSpPr>
        <p:spPr>
          <a:xfrm>
            <a:off x="224800" y="286600"/>
            <a:ext cx="11741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en-US" sz="4100"/>
              <a:t>How Does a Support Vector Machine / SVM Work?</a:t>
            </a:r>
            <a:endParaRPr sz="4400"/>
          </a:p>
        </p:txBody>
      </p:sp>
      <p:sp>
        <p:nvSpPr>
          <p:cNvPr id="568" name="Google Shape;568;p84"/>
          <p:cNvSpPr txBox="1"/>
          <p:nvPr>
            <p:ph idx="1" type="body"/>
          </p:nvPr>
        </p:nvSpPr>
        <p:spPr>
          <a:xfrm>
            <a:off x="224800" y="1845725"/>
            <a:ext cx="10930800" cy="857400"/>
          </a:xfrm>
          <a:prstGeom prst="rect">
            <a:avLst/>
          </a:prstGeom>
          <a:noFill/>
          <a:ln>
            <a:noFill/>
          </a:ln>
        </p:spPr>
        <p:txBody>
          <a:bodyPr anchorCtr="0" anchor="t" bIns="45700" lIns="0" spcFirstLastPara="1" rIns="0" wrap="square" tIns="45700">
            <a:normAutofit/>
          </a:bodyPr>
          <a:lstStyle/>
          <a:p>
            <a:pPr indent="-116840" lvl="0" marL="91440" rtl="0" algn="l">
              <a:lnSpc>
                <a:spcPct val="90000"/>
              </a:lnSpc>
              <a:spcBef>
                <a:spcPts val="0"/>
              </a:spcBef>
              <a:spcAft>
                <a:spcPts val="0"/>
              </a:spcAft>
              <a:buSzPts val="2400"/>
              <a:buChar char=" "/>
            </a:pPr>
            <a:r>
              <a:rPr b="1" lang="en-US" sz="2400"/>
              <a:t>Identify the right hyper-plane (Scenario-1): </a:t>
            </a:r>
            <a:r>
              <a:rPr lang="en-US" sz="2400"/>
              <a:t>Here, we have three hyper-planes (A, B, and C). Now, identify the right hyper-plane to classify stars and circles.</a:t>
            </a:r>
            <a:endParaRPr sz="2400"/>
          </a:p>
        </p:txBody>
      </p:sp>
      <p:pic>
        <p:nvPicPr>
          <p:cNvPr descr="three hyper planes_1 | svm" id="569" name="Google Shape;569;p84"/>
          <p:cNvPicPr preferRelativeResize="0"/>
          <p:nvPr/>
        </p:nvPicPr>
        <p:blipFill rotWithShape="1">
          <a:blip r:embed="rId3">
            <a:alphaModFix/>
          </a:blip>
          <a:srcRect b="0" l="2745" r="3857" t="6480"/>
          <a:stretch/>
        </p:blipFill>
        <p:spPr>
          <a:xfrm>
            <a:off x="0" y="2811450"/>
            <a:ext cx="4863475" cy="3439765"/>
          </a:xfrm>
          <a:prstGeom prst="rect">
            <a:avLst/>
          </a:prstGeom>
          <a:noFill/>
          <a:ln>
            <a:noFill/>
          </a:ln>
        </p:spPr>
      </p:pic>
      <p:sp>
        <p:nvSpPr>
          <p:cNvPr id="570" name="Google Shape;570;p84"/>
          <p:cNvSpPr txBox="1"/>
          <p:nvPr/>
        </p:nvSpPr>
        <p:spPr>
          <a:xfrm>
            <a:off x="4863475" y="2702975"/>
            <a:ext cx="71028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400" u="none" cap="none" strike="noStrike">
                <a:solidFill>
                  <a:schemeClr val="dk1"/>
                </a:solidFill>
                <a:latin typeface="Calibri"/>
                <a:ea typeface="Calibri"/>
                <a:cs typeface="Calibri"/>
                <a:sym typeface="Calibri"/>
              </a:rPr>
              <a:t>You need to remember a thumb rule to identify the right hyper-plane: “Select the hyper-plane which segregates the two classes better.” In this scenario, hyper-plane “B” has excellently performed this job.</a:t>
            </a:r>
            <a:endParaRPr b="0" i="0" sz="2400" u="none" cap="none" strike="noStrike">
              <a:solidFill>
                <a:schemeClr val="dk1"/>
              </a:solidFill>
              <a:latin typeface="Calibri"/>
              <a:ea typeface="Calibri"/>
              <a:cs typeface="Calibri"/>
              <a:sym typeface="Calibri"/>
            </a:endParaRPr>
          </a:p>
        </p:txBody>
      </p:sp>
      <p:sp>
        <p:nvSpPr>
          <p:cNvPr id="571" name="Google Shape;571;p84"/>
          <p:cNvSpPr txBox="1"/>
          <p:nvPr>
            <p:ph type="title"/>
          </p:nvPr>
        </p:nvSpPr>
        <p:spPr>
          <a:xfrm>
            <a:off x="0" y="0"/>
            <a:ext cx="12192000" cy="1737300"/>
          </a:xfrm>
          <a:prstGeom prst="rect">
            <a:avLst/>
          </a:prstGeom>
          <a:solidFill>
            <a:schemeClr val="accent2"/>
          </a:solidFill>
          <a:ln cap="flat" cmpd="sng" w="15875">
            <a:solidFill>
              <a:srgbClr val="894020"/>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r>
              <a:rPr lang="en-US">
                <a:solidFill>
                  <a:schemeClr val="lt1"/>
                </a:solidFill>
              </a:rPr>
              <a:t> How does Support Vector Machine Work?</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br>
              <a:rPr lang="en-US"/>
            </a:br>
            <a:endParaRPr/>
          </a:p>
        </p:txBody>
      </p:sp>
      <p:sp>
        <p:nvSpPr>
          <p:cNvPr id="577" name="Google Shape;577;p85"/>
          <p:cNvSpPr txBox="1"/>
          <p:nvPr>
            <p:ph idx="1" type="body"/>
          </p:nvPr>
        </p:nvSpPr>
        <p:spPr>
          <a:xfrm>
            <a:off x="0" y="0"/>
            <a:ext cx="6397800" cy="3032100"/>
          </a:xfrm>
          <a:prstGeom prst="rect">
            <a:avLst/>
          </a:prstGeom>
          <a:noFill/>
          <a:ln>
            <a:noFill/>
          </a:ln>
        </p:spPr>
        <p:txBody>
          <a:bodyPr anchorCtr="0" anchor="t" bIns="45700" lIns="0" spcFirstLastPara="1" rIns="0" wrap="square" tIns="45700">
            <a:normAutofit/>
          </a:bodyPr>
          <a:lstStyle/>
          <a:p>
            <a:pPr indent="-123190" lvl="0" marL="91440" rtl="0" algn="l">
              <a:lnSpc>
                <a:spcPct val="90000"/>
              </a:lnSpc>
              <a:spcBef>
                <a:spcPts val="0"/>
              </a:spcBef>
              <a:spcAft>
                <a:spcPts val="0"/>
              </a:spcAft>
              <a:buSzPts val="2500"/>
              <a:buChar char=" "/>
            </a:pPr>
            <a:r>
              <a:rPr b="1" lang="en-US" sz="2500"/>
              <a:t>Identify the right hyper-plane (Scenario-2): </a:t>
            </a:r>
            <a:r>
              <a:rPr lang="en-US" sz="2500"/>
              <a:t>Here, we have three hyper-planes (A, B, and C), and all segregate the classes well. Now, How can we identify the right hyper-plane?</a:t>
            </a:r>
            <a:endParaRPr sz="2500"/>
          </a:p>
        </p:txBody>
      </p:sp>
      <p:pic>
        <p:nvPicPr>
          <p:cNvPr descr="three hyperplanes_2 | svm" id="578" name="Google Shape;578;p85"/>
          <p:cNvPicPr preferRelativeResize="0"/>
          <p:nvPr/>
        </p:nvPicPr>
        <p:blipFill rotWithShape="1">
          <a:blip r:embed="rId3">
            <a:alphaModFix/>
          </a:blip>
          <a:srcRect b="0" l="0" r="0" t="0"/>
          <a:stretch/>
        </p:blipFill>
        <p:spPr>
          <a:xfrm>
            <a:off x="0" y="1516650"/>
            <a:ext cx="5518437" cy="3301500"/>
          </a:xfrm>
          <a:prstGeom prst="rect">
            <a:avLst/>
          </a:prstGeom>
          <a:noFill/>
          <a:ln>
            <a:noFill/>
          </a:ln>
        </p:spPr>
      </p:pic>
      <p:sp>
        <p:nvSpPr>
          <p:cNvPr id="579" name="Google Shape;579;p85"/>
          <p:cNvSpPr txBox="1"/>
          <p:nvPr/>
        </p:nvSpPr>
        <p:spPr>
          <a:xfrm>
            <a:off x="0" y="4827325"/>
            <a:ext cx="6397800" cy="1514700"/>
          </a:xfrm>
          <a:prstGeom prst="rect">
            <a:avLst/>
          </a:prstGeom>
          <a:noFill/>
          <a:ln>
            <a:noFill/>
          </a:ln>
        </p:spPr>
        <p:txBody>
          <a:bodyPr anchorCtr="0" anchor="t" bIns="91425" lIns="91425" spcFirstLastPara="1" rIns="91425" wrap="square" tIns="91425">
            <a:spAutoFit/>
          </a:bodyPr>
          <a:lstStyle/>
          <a:p>
            <a:pPr indent="-116840" lvl="0" marL="91440" rtl="0" algn="l">
              <a:lnSpc>
                <a:spcPct val="90000"/>
              </a:lnSpc>
              <a:spcBef>
                <a:spcPts val="0"/>
              </a:spcBef>
              <a:spcAft>
                <a:spcPts val="0"/>
              </a:spcAft>
              <a:buClr>
                <a:schemeClr val="accent1"/>
              </a:buClr>
              <a:buSzPts val="2400"/>
              <a:buFont typeface="Calibri"/>
              <a:buChar char=" "/>
            </a:pPr>
            <a:r>
              <a:rPr lang="en-US" sz="2400">
                <a:solidFill>
                  <a:srgbClr val="3F3F3F"/>
                </a:solidFill>
                <a:latin typeface="Calibri"/>
                <a:ea typeface="Calibri"/>
                <a:cs typeface="Calibri"/>
                <a:sym typeface="Calibri"/>
              </a:rPr>
              <a:t>Here, maximizing the distances between the nearest data point (either class) and the hyper-plane will help us to decide the right hyper-plane. This distance is called a </a:t>
            </a:r>
            <a:r>
              <a:rPr b="1" lang="en-US" sz="2400">
                <a:solidFill>
                  <a:srgbClr val="3F3F3F"/>
                </a:solidFill>
                <a:latin typeface="Calibri"/>
                <a:ea typeface="Calibri"/>
                <a:cs typeface="Calibri"/>
                <a:sym typeface="Calibri"/>
              </a:rPr>
              <a:t>Margin</a:t>
            </a:r>
            <a:r>
              <a:rPr lang="en-US" sz="2400">
                <a:solidFill>
                  <a:srgbClr val="3F3F3F"/>
                </a:solidFill>
                <a:latin typeface="Calibri"/>
                <a:ea typeface="Calibri"/>
                <a:cs typeface="Calibri"/>
                <a:sym typeface="Calibri"/>
              </a:rPr>
              <a:t>.</a:t>
            </a:r>
            <a:endParaRPr sz="2400"/>
          </a:p>
        </p:txBody>
      </p:sp>
      <p:sp>
        <p:nvSpPr>
          <p:cNvPr id="580" name="Google Shape;580;p85"/>
          <p:cNvSpPr txBox="1"/>
          <p:nvPr/>
        </p:nvSpPr>
        <p:spPr>
          <a:xfrm>
            <a:off x="6397725" y="119900"/>
            <a:ext cx="5696700" cy="3301500"/>
          </a:xfrm>
          <a:prstGeom prst="rect">
            <a:avLst/>
          </a:prstGeom>
          <a:noFill/>
          <a:ln>
            <a:noFill/>
          </a:ln>
        </p:spPr>
        <p:txBody>
          <a:bodyPr anchorCtr="0" anchor="t" bIns="91425" lIns="91425" spcFirstLastPara="1" rIns="91425" wrap="square" tIns="91425">
            <a:spAutoFit/>
          </a:bodyPr>
          <a:lstStyle/>
          <a:p>
            <a:pPr indent="-387350" lvl="0" marL="457200" rtl="0" algn="l">
              <a:lnSpc>
                <a:spcPct val="90000"/>
              </a:lnSpc>
              <a:spcBef>
                <a:spcPts val="0"/>
              </a:spcBef>
              <a:spcAft>
                <a:spcPts val="0"/>
              </a:spcAft>
              <a:buClr>
                <a:schemeClr val="accent1"/>
              </a:buClr>
              <a:buSzPts val="2500"/>
              <a:buFont typeface="Calibri"/>
              <a:buChar char=" "/>
            </a:pPr>
            <a:r>
              <a:rPr lang="en-US" sz="2500">
                <a:solidFill>
                  <a:srgbClr val="3F3F3F"/>
                </a:solidFill>
                <a:latin typeface="Calibri"/>
                <a:ea typeface="Calibri"/>
                <a:cs typeface="Calibri"/>
                <a:sym typeface="Calibri"/>
              </a:rPr>
              <a:t>Y</a:t>
            </a:r>
            <a:r>
              <a:rPr lang="en-US" sz="2500">
                <a:solidFill>
                  <a:srgbClr val="3F3F3F"/>
                </a:solidFill>
                <a:latin typeface="Calibri"/>
                <a:ea typeface="Calibri"/>
                <a:cs typeface="Calibri"/>
                <a:sym typeface="Calibri"/>
              </a:rPr>
              <a:t>ou can see that the margin for hyper-plane C is high as compared to both A and B. Hence, we name the right hyper-plane as C. Another lightning reason for selecting the hyper-plane with a higher margin is robustness. If we select a hyper-plane having a low margin, then there is a high chance of misclassification.</a:t>
            </a:r>
            <a:endParaRPr sz="2500"/>
          </a:p>
        </p:txBody>
      </p:sp>
      <p:pic>
        <p:nvPicPr>
          <p:cNvPr id="581" name="Google Shape;581;p85"/>
          <p:cNvPicPr preferRelativeResize="0"/>
          <p:nvPr/>
        </p:nvPicPr>
        <p:blipFill rotWithShape="1">
          <a:blip r:embed="rId4">
            <a:alphaModFix/>
          </a:blip>
          <a:srcRect b="0" l="5285" r="0" t="7791"/>
          <a:stretch/>
        </p:blipFill>
        <p:spPr>
          <a:xfrm>
            <a:off x="7313600" y="3396825"/>
            <a:ext cx="4878400" cy="3461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2023-09-21T10:33:12Z</dcterms:created>
  <dc:creator>Radhe</dc:creator>
</cp:coreProperties>
</file>