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357" r:id="rId2"/>
    <p:sldId id="408" r:id="rId3"/>
    <p:sldId id="613" r:id="rId4"/>
    <p:sldId id="612" r:id="rId5"/>
    <p:sldId id="600" r:id="rId6"/>
    <p:sldId id="614" r:id="rId7"/>
    <p:sldId id="591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5">
          <p15:clr>
            <a:srgbClr val="A4A3A4"/>
          </p15:clr>
        </p15:guide>
        <p15:guide id="2" pos="28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48"/>
      </p:cViewPr>
      <p:guideLst>
        <p:guide orient="horz" pos="2145"/>
        <p:guide pos="28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06D20-265A-45AE-8D7F-1100293F805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54D4B-AC91-4CBF-9F06-E2874E0FB78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900093-A566-4883-87EB-6E6022A9D2E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791192"/>
          </a:xfrm>
        </p:spPr>
        <p:txBody>
          <a:bodyPr>
            <a:normAutofit fontScale="85000" lnSpcReduction="20000"/>
          </a:bodyPr>
          <a:lstStyle/>
          <a:p>
            <a:endParaRPr lang="en-IN" sz="4800" b="1" dirty="0">
              <a:solidFill>
                <a:schemeClr val="tx1"/>
              </a:solidFill>
            </a:endParaRPr>
          </a:p>
          <a:p>
            <a:r>
              <a:rPr lang="en-IN" sz="4800" b="1" dirty="0">
                <a:solidFill>
                  <a:schemeClr val="tx1"/>
                </a:solidFill>
              </a:rPr>
              <a:t>Mobile Phone Security 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Dr. </a:t>
            </a:r>
            <a:r>
              <a:rPr lang="en-US" sz="2000" b="1" dirty="0" err="1">
                <a:solidFill>
                  <a:schemeClr val="tx1"/>
                </a:solidFill>
              </a:rPr>
              <a:t>Digvijaysinh</a:t>
            </a:r>
            <a:r>
              <a:rPr lang="en-US" sz="2000" b="1" dirty="0">
                <a:solidFill>
                  <a:schemeClr val="tx1"/>
                </a:solidFill>
              </a:rPr>
              <a:t> Rathod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Associate Professor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(Cyber Security and Digital Forensics)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National Forensic Sciences University with status of Institution of National Importance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anose="020F0502020204030204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860" y="1928802"/>
            <a:ext cx="4909738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 descr="GFSU: Courses, Admissions, Placements, Scholarships, Fee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45495" y="0"/>
            <a:ext cx="1120496" cy="142873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1594" y="1372504"/>
            <a:ext cx="8546121" cy="5467320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r>
              <a:rPr lang="en-IN" alt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 </a:t>
            </a:r>
          </a:p>
          <a:p>
            <a:pPr lvl="1">
              <a:lnSpc>
                <a:spcPct val="150000"/>
              </a:lnSpc>
            </a:pPr>
            <a:r>
              <a:rPr lang="en-IN" alt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Interception</a:t>
            </a:r>
          </a:p>
          <a:p>
            <a:pPr lvl="1">
              <a:lnSpc>
                <a:spcPct val="150000"/>
              </a:lnSpc>
            </a:pPr>
            <a:r>
              <a:rPr lang="en-IN" alt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BurpSuit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lnSpc>
                <a:spcPct val="150000"/>
              </a:lnSpc>
            </a:pPr>
            <a:r>
              <a:rPr lang="en-IN" altLang="en-US" sz="2400" b="1" dirty="0">
                <a:sym typeface="+mn-ea"/>
              </a:rPr>
              <a:t>Web Application Request and Response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B7982C-9067-4E1A-9C70-7881D615E8C6}"/>
              </a:ext>
            </a:extLst>
          </p:cNvPr>
          <p:cNvSpPr/>
          <p:nvPr/>
        </p:nvSpPr>
        <p:spPr>
          <a:xfrm>
            <a:off x="944243" y="2694140"/>
            <a:ext cx="1872208" cy="93610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Web Browser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AF7B3DC-26D8-44C1-AEF2-B77F0999DE1B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2816451" y="3162192"/>
            <a:ext cx="268386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33C1B08A-88EC-409D-8598-6772E0ECEC59}"/>
              </a:ext>
            </a:extLst>
          </p:cNvPr>
          <p:cNvSpPr/>
          <p:nvPr/>
        </p:nvSpPr>
        <p:spPr>
          <a:xfrm>
            <a:off x="5504832" y="2694140"/>
            <a:ext cx="1872208" cy="93610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Web Server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5D48DA-DB7F-44CC-85D5-4E83623710AE}"/>
              </a:ext>
            </a:extLst>
          </p:cNvPr>
          <p:cNvSpPr txBox="1"/>
          <p:nvPr/>
        </p:nvSpPr>
        <p:spPr>
          <a:xfrm>
            <a:off x="3484093" y="697900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Web Application</a:t>
            </a:r>
          </a:p>
        </p:txBody>
      </p:sp>
      <p:sp>
        <p:nvSpPr>
          <p:cNvPr id="16" name="Cylinder 15">
            <a:extLst>
              <a:ext uri="{FF2B5EF4-FFF2-40B4-BE49-F238E27FC236}">
                <a16:creationId xmlns:a16="http://schemas.microsoft.com/office/drawing/2014/main" id="{E27AF1C6-CA22-4CC0-8A8B-6E5CFCE9DF58}"/>
              </a:ext>
            </a:extLst>
          </p:cNvPr>
          <p:cNvSpPr/>
          <p:nvPr/>
        </p:nvSpPr>
        <p:spPr>
          <a:xfrm>
            <a:off x="8092605" y="3767426"/>
            <a:ext cx="648072" cy="1080120"/>
          </a:xfrm>
          <a:prstGeom prst="can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Database</a:t>
            </a:r>
          </a:p>
        </p:txBody>
      </p:sp>
      <p:sp>
        <p:nvSpPr>
          <p:cNvPr id="17" name="&quot;Not Allowed&quot; Symbol 16">
            <a:extLst>
              <a:ext uri="{FF2B5EF4-FFF2-40B4-BE49-F238E27FC236}">
                <a16:creationId xmlns:a16="http://schemas.microsoft.com/office/drawing/2014/main" id="{26FC3D71-00D6-40E7-B12A-34C4C9C34A56}"/>
              </a:ext>
            </a:extLst>
          </p:cNvPr>
          <p:cNvSpPr/>
          <p:nvPr/>
        </p:nvSpPr>
        <p:spPr>
          <a:xfrm>
            <a:off x="8018826" y="2014794"/>
            <a:ext cx="648072" cy="582898"/>
          </a:xfrm>
          <a:prstGeom prst="noSmoking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886FB26-292A-44D7-8C35-860B78086C63}"/>
              </a:ext>
            </a:extLst>
          </p:cNvPr>
          <p:cNvCxnSpPr>
            <a:endCxn id="17" idx="3"/>
          </p:cNvCxnSpPr>
          <p:nvPr/>
        </p:nvCxnSpPr>
        <p:spPr>
          <a:xfrm flipV="1">
            <a:off x="7377040" y="2512329"/>
            <a:ext cx="736694" cy="3910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8690874-ADC5-4B65-9C8B-89388AECB865}"/>
              </a:ext>
            </a:extLst>
          </p:cNvPr>
          <p:cNvCxnSpPr/>
          <p:nvPr/>
        </p:nvCxnSpPr>
        <p:spPr>
          <a:xfrm>
            <a:off x="7377040" y="3407386"/>
            <a:ext cx="715565" cy="4320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F9E28C6-E54D-4244-8010-B2C93F823598}"/>
              </a:ext>
            </a:extLst>
          </p:cNvPr>
          <p:cNvCxnSpPr>
            <a:cxnSpLocks/>
          </p:cNvCxnSpPr>
          <p:nvPr/>
        </p:nvCxnSpPr>
        <p:spPr>
          <a:xfrm flipH="1">
            <a:off x="2816451" y="3407386"/>
            <a:ext cx="268386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6911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6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lnSpc>
                <a:spcPct val="150000"/>
              </a:lnSpc>
            </a:pPr>
            <a:r>
              <a:rPr lang="en-IN" altLang="en-US" sz="2400" b="1" dirty="0">
                <a:sym typeface="+mn-ea"/>
              </a:rPr>
              <a:t>Web Application with Proxy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5D48DA-DB7F-44CC-85D5-4E83623710AE}"/>
              </a:ext>
            </a:extLst>
          </p:cNvPr>
          <p:cNvSpPr txBox="1"/>
          <p:nvPr/>
        </p:nvSpPr>
        <p:spPr>
          <a:xfrm>
            <a:off x="3484093" y="697900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Web Application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8E99120-7174-4BAF-9E46-A31550604745}"/>
              </a:ext>
            </a:extLst>
          </p:cNvPr>
          <p:cNvSpPr/>
          <p:nvPr/>
        </p:nvSpPr>
        <p:spPr>
          <a:xfrm>
            <a:off x="2019186" y="1906989"/>
            <a:ext cx="1368152" cy="4762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Edit Request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5E74888-E86E-48B1-B410-3AAAE70281EB}"/>
              </a:ext>
            </a:extLst>
          </p:cNvPr>
          <p:cNvSpPr/>
          <p:nvPr/>
        </p:nvSpPr>
        <p:spPr>
          <a:xfrm>
            <a:off x="4203099" y="1966762"/>
            <a:ext cx="1368152" cy="4762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Forward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EA6855E-6AA1-4FD3-A80B-810D5A9F4F5E}"/>
              </a:ext>
            </a:extLst>
          </p:cNvPr>
          <p:cNvSpPr/>
          <p:nvPr/>
        </p:nvSpPr>
        <p:spPr>
          <a:xfrm>
            <a:off x="577342" y="2968962"/>
            <a:ext cx="1872208" cy="93610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Web Browser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6B6E26B-DCF3-41AF-995A-4FEE808F27CA}"/>
              </a:ext>
            </a:extLst>
          </p:cNvPr>
          <p:cNvSpPr/>
          <p:nvPr/>
        </p:nvSpPr>
        <p:spPr>
          <a:xfrm>
            <a:off x="5137931" y="2968962"/>
            <a:ext cx="1872208" cy="93610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Web Server</a:t>
            </a:r>
          </a:p>
        </p:txBody>
      </p:sp>
      <p:sp>
        <p:nvSpPr>
          <p:cNvPr id="40" name="Cylinder 39">
            <a:extLst>
              <a:ext uri="{FF2B5EF4-FFF2-40B4-BE49-F238E27FC236}">
                <a16:creationId xmlns:a16="http://schemas.microsoft.com/office/drawing/2014/main" id="{391114AA-A0B0-4368-95F1-FA5059BA5A5A}"/>
              </a:ext>
            </a:extLst>
          </p:cNvPr>
          <p:cNvSpPr/>
          <p:nvPr/>
        </p:nvSpPr>
        <p:spPr>
          <a:xfrm>
            <a:off x="7725704" y="4042248"/>
            <a:ext cx="648072" cy="1080120"/>
          </a:xfrm>
          <a:prstGeom prst="can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Database</a:t>
            </a:r>
          </a:p>
        </p:txBody>
      </p:sp>
      <p:sp>
        <p:nvSpPr>
          <p:cNvPr id="41" name="&quot;Not Allowed&quot; Symbol 40">
            <a:extLst>
              <a:ext uri="{FF2B5EF4-FFF2-40B4-BE49-F238E27FC236}">
                <a16:creationId xmlns:a16="http://schemas.microsoft.com/office/drawing/2014/main" id="{B81EE312-B5B2-48D8-87CF-9DFB310A439F}"/>
              </a:ext>
            </a:extLst>
          </p:cNvPr>
          <p:cNvSpPr/>
          <p:nvPr/>
        </p:nvSpPr>
        <p:spPr>
          <a:xfrm>
            <a:off x="7651925" y="2289616"/>
            <a:ext cx="648072" cy="582898"/>
          </a:xfrm>
          <a:prstGeom prst="noSmoking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0A22ACA-0C45-4DBA-9367-8978B5B4ED06}"/>
              </a:ext>
            </a:extLst>
          </p:cNvPr>
          <p:cNvCxnSpPr>
            <a:endCxn id="41" idx="3"/>
          </p:cNvCxnSpPr>
          <p:nvPr/>
        </p:nvCxnSpPr>
        <p:spPr>
          <a:xfrm flipV="1">
            <a:off x="7010139" y="2787151"/>
            <a:ext cx="736694" cy="3910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6AB014F-9DB9-413B-B5A1-E08023908D54}"/>
              </a:ext>
            </a:extLst>
          </p:cNvPr>
          <p:cNvCxnSpPr/>
          <p:nvPr/>
        </p:nvCxnSpPr>
        <p:spPr>
          <a:xfrm>
            <a:off x="7010139" y="3682208"/>
            <a:ext cx="715565" cy="4320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4" name="Rectangle: Folded Corner 43">
            <a:extLst>
              <a:ext uri="{FF2B5EF4-FFF2-40B4-BE49-F238E27FC236}">
                <a16:creationId xmlns:a16="http://schemas.microsoft.com/office/drawing/2014/main" id="{F77208DE-4F94-4554-9DC5-886B4F44C6BF}"/>
              </a:ext>
            </a:extLst>
          </p:cNvPr>
          <p:cNvSpPr/>
          <p:nvPr/>
        </p:nvSpPr>
        <p:spPr>
          <a:xfrm>
            <a:off x="3189200" y="2289616"/>
            <a:ext cx="1212037" cy="2304080"/>
          </a:xfrm>
          <a:prstGeom prst="foldedCorne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Proxy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087B693-3A51-48AA-8B01-9D8A83D7E933}"/>
              </a:ext>
            </a:extLst>
          </p:cNvPr>
          <p:cNvCxnSpPr>
            <a:stCxn id="38" idx="3"/>
            <a:endCxn id="44" idx="1"/>
          </p:cNvCxnSpPr>
          <p:nvPr/>
        </p:nvCxnSpPr>
        <p:spPr>
          <a:xfrm>
            <a:off x="2449550" y="3437014"/>
            <a:ext cx="739650" cy="46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40A182C-A005-4968-9476-6C6E4E69E360}"/>
              </a:ext>
            </a:extLst>
          </p:cNvPr>
          <p:cNvCxnSpPr/>
          <p:nvPr/>
        </p:nvCxnSpPr>
        <p:spPr>
          <a:xfrm>
            <a:off x="4389195" y="3432372"/>
            <a:ext cx="739650" cy="46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98D71C8-B2E9-4CB1-8A9F-44C01E1D942F}"/>
              </a:ext>
            </a:extLst>
          </p:cNvPr>
          <p:cNvCxnSpPr/>
          <p:nvPr/>
        </p:nvCxnSpPr>
        <p:spPr>
          <a:xfrm flipH="1">
            <a:off x="4401237" y="3682208"/>
            <a:ext cx="7366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6B2AE5D-3A8C-4493-A8DF-C8D3BAAE2739}"/>
              </a:ext>
            </a:extLst>
          </p:cNvPr>
          <p:cNvCxnSpPr/>
          <p:nvPr/>
        </p:nvCxnSpPr>
        <p:spPr>
          <a:xfrm flipH="1">
            <a:off x="2449550" y="3682208"/>
            <a:ext cx="7366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0021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5" grpId="0" animBg="1"/>
      <p:bldP spid="38" grpId="0" animBg="1"/>
      <p:bldP spid="39" grpId="0" animBg="1"/>
      <p:bldP spid="40" grpId="0" animBg="1"/>
      <p:bldP spid="41" grpId="0" animBg="1"/>
      <p:bldP spid="4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lnSpc>
                <a:spcPct val="150000"/>
              </a:lnSpc>
            </a:pPr>
            <a:r>
              <a:rPr lang="en-US" sz="2400" b="1" dirty="0">
                <a:sym typeface="+mn-ea"/>
              </a:rPr>
              <a:t>Mobile Application Request and Response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9" name="Rectangle: Rounded Corners 8"/>
          <p:cNvSpPr/>
          <p:nvPr/>
        </p:nvSpPr>
        <p:spPr>
          <a:xfrm>
            <a:off x="323528" y="1556792"/>
            <a:ext cx="2088232" cy="280831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: Rounded Corners 10"/>
          <p:cNvSpPr/>
          <p:nvPr/>
        </p:nvSpPr>
        <p:spPr>
          <a:xfrm>
            <a:off x="804414" y="2985528"/>
            <a:ext cx="1427980" cy="106420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Mobile Application</a:t>
            </a:r>
          </a:p>
        </p:txBody>
      </p:sp>
      <p:sp>
        <p:nvSpPr>
          <p:cNvPr id="12" name="Flowchart: Magnetic Disk 11"/>
          <p:cNvSpPr/>
          <p:nvPr/>
        </p:nvSpPr>
        <p:spPr>
          <a:xfrm>
            <a:off x="1331640" y="3710728"/>
            <a:ext cx="904136" cy="566304"/>
          </a:xfrm>
          <a:prstGeom prst="flowChartMagneticDisk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Database</a:t>
            </a:r>
          </a:p>
        </p:txBody>
      </p:sp>
      <p:sp>
        <p:nvSpPr>
          <p:cNvPr id="13" name="Oval 12"/>
          <p:cNvSpPr/>
          <p:nvPr/>
        </p:nvSpPr>
        <p:spPr>
          <a:xfrm>
            <a:off x="323528" y="1438742"/>
            <a:ext cx="459746" cy="4267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274" y="1515464"/>
            <a:ext cx="1709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Mobile Phone</a:t>
            </a:r>
          </a:p>
        </p:txBody>
      </p:sp>
      <p:sp>
        <p:nvSpPr>
          <p:cNvPr id="17" name="Rounded Rectangle 1"/>
          <p:cNvSpPr/>
          <p:nvPr/>
        </p:nvSpPr>
        <p:spPr>
          <a:xfrm>
            <a:off x="5141265" y="1147466"/>
            <a:ext cx="3276600" cy="3200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Windows Server </a:t>
            </a:r>
          </a:p>
          <a:p>
            <a:pPr algn="ctr"/>
            <a:r>
              <a:rPr lang="en-US" b="1" dirty="0"/>
              <a:t>/ Linux Server</a:t>
            </a:r>
          </a:p>
        </p:txBody>
      </p:sp>
      <p:sp>
        <p:nvSpPr>
          <p:cNvPr id="18" name="Rounded Rectangle 13"/>
          <p:cNvSpPr/>
          <p:nvPr/>
        </p:nvSpPr>
        <p:spPr>
          <a:xfrm>
            <a:off x="5312063" y="2518007"/>
            <a:ext cx="2580554" cy="160662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Web Server</a:t>
            </a:r>
          </a:p>
          <a:p>
            <a:pPr algn="ctr"/>
            <a:endParaRPr lang="en-US" b="1" dirty="0"/>
          </a:p>
        </p:txBody>
      </p:sp>
      <p:sp>
        <p:nvSpPr>
          <p:cNvPr id="19" name="Flowchart: Magnetic Disk 18"/>
          <p:cNvSpPr/>
          <p:nvPr/>
        </p:nvSpPr>
        <p:spPr>
          <a:xfrm>
            <a:off x="5373471" y="4434879"/>
            <a:ext cx="1551702" cy="1257281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Database Engine</a:t>
            </a:r>
          </a:p>
        </p:txBody>
      </p:sp>
      <p:cxnSp>
        <p:nvCxnSpPr>
          <p:cNvPr id="20" name="Straight Arrow Connector 19"/>
          <p:cNvCxnSpPr>
            <a:stCxn id="19" idx="1"/>
          </p:cNvCxnSpPr>
          <p:nvPr/>
        </p:nvCxnSpPr>
        <p:spPr>
          <a:xfrm flipV="1">
            <a:off x="6149322" y="4277032"/>
            <a:ext cx="357422" cy="15784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1" name="Flowchart: Or 20"/>
          <p:cNvSpPr/>
          <p:nvPr/>
        </p:nvSpPr>
        <p:spPr>
          <a:xfrm>
            <a:off x="7392936" y="4634904"/>
            <a:ext cx="1821835" cy="1057256"/>
          </a:xfrm>
          <a:prstGeom prst="flowChar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Third Party API</a:t>
            </a:r>
          </a:p>
        </p:txBody>
      </p:sp>
      <p:cxnSp>
        <p:nvCxnSpPr>
          <p:cNvPr id="22" name="Straight Arrow Connector 21"/>
          <p:cNvCxnSpPr>
            <a:stCxn id="21" idx="0"/>
          </p:cNvCxnSpPr>
          <p:nvPr/>
        </p:nvCxnSpPr>
        <p:spPr>
          <a:xfrm flipH="1" flipV="1">
            <a:off x="6506744" y="4277032"/>
            <a:ext cx="1797110" cy="357872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Rounded Rectangle 34"/>
          <p:cNvSpPr/>
          <p:nvPr/>
        </p:nvSpPr>
        <p:spPr>
          <a:xfrm>
            <a:off x="5520013" y="2984357"/>
            <a:ext cx="2285347" cy="992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Application Framework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24406" y="3660939"/>
            <a:ext cx="2116517" cy="5413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</a:rPr>
              <a:t>Web Application</a:t>
            </a:r>
          </a:p>
        </p:txBody>
      </p:sp>
      <p:sp>
        <p:nvSpPr>
          <p:cNvPr id="25" name="Arrow: Right 24"/>
          <p:cNvSpPr/>
          <p:nvPr/>
        </p:nvSpPr>
        <p:spPr>
          <a:xfrm>
            <a:off x="2411760" y="2984357"/>
            <a:ext cx="2239106" cy="162915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&quot;Not Allowed&quot; Symbol 26"/>
          <p:cNvSpPr/>
          <p:nvPr/>
        </p:nvSpPr>
        <p:spPr>
          <a:xfrm>
            <a:off x="4699172" y="2545868"/>
            <a:ext cx="820358" cy="1058261"/>
          </a:xfrm>
          <a:prstGeom prst="noSmok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355976" y="2176536"/>
            <a:ext cx="1454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Web Services</a:t>
            </a:r>
          </a:p>
        </p:txBody>
      </p:sp>
      <p:sp>
        <p:nvSpPr>
          <p:cNvPr id="29" name="Arrow: Left 28"/>
          <p:cNvSpPr/>
          <p:nvPr/>
        </p:nvSpPr>
        <p:spPr>
          <a:xfrm>
            <a:off x="2403992" y="3344591"/>
            <a:ext cx="2337384" cy="175129"/>
          </a:xfrm>
          <a:prstGeom prst="lef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0" name="Oval 29"/>
          <p:cNvSpPr/>
          <p:nvPr/>
        </p:nvSpPr>
        <p:spPr>
          <a:xfrm>
            <a:off x="5143598" y="1055038"/>
            <a:ext cx="459746" cy="42675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13" grpId="0" animBg="1"/>
      <p:bldP spid="14" grpId="0"/>
      <p:bldP spid="17" grpId="0" animBg="1"/>
      <p:bldP spid="18" grpId="0" animBg="1"/>
      <p:bldP spid="19" grpId="0" animBg="1"/>
      <p:bldP spid="21" grpId="0" animBg="1"/>
      <p:bldP spid="23" grpId="0" animBg="1"/>
      <p:bldP spid="24" grpId="0" animBg="1"/>
      <p:bldP spid="25" grpId="0" animBg="1"/>
      <p:bldP spid="27" grpId="0" animBg="1"/>
      <p:bldP spid="28" grpId="0"/>
      <p:bldP spid="29" grpId="0" animBg="1"/>
      <p:bldP spid="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040CED5E-9EB4-45FA-B7AB-1CC164B54A8B}"/>
              </a:ext>
            </a:extLst>
          </p:cNvPr>
          <p:cNvSpPr/>
          <p:nvPr/>
        </p:nvSpPr>
        <p:spPr>
          <a:xfrm>
            <a:off x="1912479" y="642093"/>
            <a:ext cx="1368152" cy="47620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Edit Request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095F376-A136-469A-AF9A-51D79124C4F8}"/>
              </a:ext>
            </a:extLst>
          </p:cNvPr>
          <p:cNvSpPr/>
          <p:nvPr/>
        </p:nvSpPr>
        <p:spPr>
          <a:xfrm>
            <a:off x="4096392" y="701866"/>
            <a:ext cx="1368152" cy="47620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Forward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lnSpc>
                <a:spcPct val="150000"/>
              </a:lnSpc>
            </a:pPr>
            <a:r>
              <a:rPr lang="en-US" sz="2400" b="1" dirty="0">
                <a:sym typeface="+mn-ea"/>
              </a:rPr>
              <a:t>Mobile Application with Proxy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9" name="Rectangle: Rounded Corners 8"/>
          <p:cNvSpPr/>
          <p:nvPr/>
        </p:nvSpPr>
        <p:spPr>
          <a:xfrm>
            <a:off x="38673" y="1614858"/>
            <a:ext cx="2088232" cy="280831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: Rounded Corners 10"/>
          <p:cNvSpPr/>
          <p:nvPr/>
        </p:nvSpPr>
        <p:spPr>
          <a:xfrm>
            <a:off x="519559" y="3043594"/>
            <a:ext cx="1427980" cy="106420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Mobile Application</a:t>
            </a:r>
          </a:p>
        </p:txBody>
      </p:sp>
      <p:sp>
        <p:nvSpPr>
          <p:cNvPr id="12" name="Flowchart: Magnetic Disk 11"/>
          <p:cNvSpPr/>
          <p:nvPr/>
        </p:nvSpPr>
        <p:spPr>
          <a:xfrm>
            <a:off x="1046785" y="3768794"/>
            <a:ext cx="904136" cy="566304"/>
          </a:xfrm>
          <a:prstGeom prst="flowChartMagneticDisk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Database</a:t>
            </a:r>
          </a:p>
        </p:txBody>
      </p:sp>
      <p:sp>
        <p:nvSpPr>
          <p:cNvPr id="13" name="Oval 12"/>
          <p:cNvSpPr/>
          <p:nvPr/>
        </p:nvSpPr>
        <p:spPr>
          <a:xfrm>
            <a:off x="38673" y="1496808"/>
            <a:ext cx="459746" cy="4267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419" y="1573530"/>
            <a:ext cx="1709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Mobile Phone</a:t>
            </a:r>
          </a:p>
        </p:txBody>
      </p:sp>
      <p:sp>
        <p:nvSpPr>
          <p:cNvPr id="17" name="Rounded Rectangle 1"/>
          <p:cNvSpPr/>
          <p:nvPr/>
        </p:nvSpPr>
        <p:spPr>
          <a:xfrm>
            <a:off x="5402558" y="1222770"/>
            <a:ext cx="3276600" cy="3200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Windows Server </a:t>
            </a:r>
          </a:p>
          <a:p>
            <a:pPr algn="ctr"/>
            <a:r>
              <a:rPr lang="en-US" b="1" dirty="0"/>
              <a:t>/ Linux Server</a:t>
            </a:r>
          </a:p>
        </p:txBody>
      </p:sp>
      <p:sp>
        <p:nvSpPr>
          <p:cNvPr id="18" name="Rounded Rectangle 13"/>
          <p:cNvSpPr/>
          <p:nvPr/>
        </p:nvSpPr>
        <p:spPr>
          <a:xfrm>
            <a:off x="5901129" y="2359435"/>
            <a:ext cx="2580554" cy="160662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Web Server</a:t>
            </a:r>
          </a:p>
          <a:p>
            <a:pPr algn="ctr"/>
            <a:endParaRPr lang="en-US" b="1" dirty="0"/>
          </a:p>
        </p:txBody>
      </p:sp>
      <p:sp>
        <p:nvSpPr>
          <p:cNvPr id="19" name="Flowchart: Magnetic Disk 18"/>
          <p:cNvSpPr/>
          <p:nvPr/>
        </p:nvSpPr>
        <p:spPr>
          <a:xfrm>
            <a:off x="5050334" y="4725042"/>
            <a:ext cx="1551702" cy="1257281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Database Engine</a:t>
            </a:r>
          </a:p>
        </p:txBody>
      </p:sp>
      <p:cxnSp>
        <p:nvCxnSpPr>
          <p:cNvPr id="20" name="Straight Arrow Connector 19"/>
          <p:cNvCxnSpPr>
            <a:cxnSpLocks/>
            <a:stCxn id="19" idx="1"/>
          </p:cNvCxnSpPr>
          <p:nvPr/>
        </p:nvCxnSpPr>
        <p:spPr>
          <a:xfrm flipV="1">
            <a:off x="5826185" y="4432410"/>
            <a:ext cx="524003" cy="292632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1" name="Flowchart: Or 20"/>
          <p:cNvSpPr/>
          <p:nvPr/>
        </p:nvSpPr>
        <p:spPr>
          <a:xfrm>
            <a:off x="7040858" y="4663911"/>
            <a:ext cx="1821835" cy="1057256"/>
          </a:xfrm>
          <a:prstGeom prst="flowChar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Third Party API</a:t>
            </a:r>
          </a:p>
        </p:txBody>
      </p:sp>
      <p:cxnSp>
        <p:nvCxnSpPr>
          <p:cNvPr id="22" name="Straight Arrow Connector 21"/>
          <p:cNvCxnSpPr>
            <a:cxnSpLocks/>
          </p:cNvCxnSpPr>
          <p:nvPr/>
        </p:nvCxnSpPr>
        <p:spPr>
          <a:xfrm flipH="1" flipV="1">
            <a:off x="6748310" y="4402779"/>
            <a:ext cx="629577" cy="322263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Rounded Rectangle 34"/>
          <p:cNvSpPr/>
          <p:nvPr/>
        </p:nvSpPr>
        <p:spPr>
          <a:xfrm>
            <a:off x="6109079" y="2825785"/>
            <a:ext cx="2285347" cy="992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Application Framework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13472" y="3502367"/>
            <a:ext cx="2116517" cy="5413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</a:rPr>
              <a:t>Web Application</a:t>
            </a:r>
          </a:p>
        </p:txBody>
      </p:sp>
      <p:sp>
        <p:nvSpPr>
          <p:cNvPr id="25" name="Arrow: Right 24"/>
          <p:cNvSpPr/>
          <p:nvPr/>
        </p:nvSpPr>
        <p:spPr>
          <a:xfrm>
            <a:off x="2126905" y="2691899"/>
            <a:ext cx="827601" cy="206327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Z</a:t>
            </a:r>
          </a:p>
        </p:txBody>
      </p:sp>
      <p:sp>
        <p:nvSpPr>
          <p:cNvPr id="27" name="&quot;Not Allowed&quot; Symbol 26"/>
          <p:cNvSpPr/>
          <p:nvPr/>
        </p:nvSpPr>
        <p:spPr>
          <a:xfrm>
            <a:off x="5288238" y="2387296"/>
            <a:ext cx="820358" cy="1058261"/>
          </a:xfrm>
          <a:prstGeom prst="noSmok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737909" y="1923402"/>
            <a:ext cx="1454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Web Services</a:t>
            </a:r>
          </a:p>
        </p:txBody>
      </p:sp>
      <p:sp>
        <p:nvSpPr>
          <p:cNvPr id="29" name="Arrow: Left 28"/>
          <p:cNvSpPr/>
          <p:nvPr/>
        </p:nvSpPr>
        <p:spPr>
          <a:xfrm>
            <a:off x="2126905" y="3277812"/>
            <a:ext cx="788246" cy="206326"/>
          </a:xfrm>
          <a:prstGeom prst="lef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0" name="Oval 29"/>
          <p:cNvSpPr/>
          <p:nvPr/>
        </p:nvSpPr>
        <p:spPr>
          <a:xfrm>
            <a:off x="5732664" y="982029"/>
            <a:ext cx="459746" cy="42675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26" name="Rectangle: Folded Corner 25">
            <a:extLst>
              <a:ext uri="{FF2B5EF4-FFF2-40B4-BE49-F238E27FC236}">
                <a16:creationId xmlns:a16="http://schemas.microsoft.com/office/drawing/2014/main" id="{CEC7109C-9A4D-4EAF-B590-F97EC57EFF64}"/>
              </a:ext>
            </a:extLst>
          </p:cNvPr>
          <p:cNvSpPr/>
          <p:nvPr/>
        </p:nvSpPr>
        <p:spPr>
          <a:xfrm>
            <a:off x="2927628" y="982029"/>
            <a:ext cx="1627629" cy="4823235"/>
          </a:xfrm>
          <a:prstGeom prst="foldedCorner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4000" b="1" dirty="0"/>
              <a:t>Proxy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77D1F6DF-8619-45FE-8C1B-EBA61342E920}"/>
              </a:ext>
            </a:extLst>
          </p:cNvPr>
          <p:cNvSpPr/>
          <p:nvPr/>
        </p:nvSpPr>
        <p:spPr>
          <a:xfrm>
            <a:off x="4587183" y="2601027"/>
            <a:ext cx="827601" cy="206327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Z</a:t>
            </a:r>
          </a:p>
        </p:txBody>
      </p:sp>
      <p:sp>
        <p:nvSpPr>
          <p:cNvPr id="32" name="Arrow: Left 31">
            <a:extLst>
              <a:ext uri="{FF2B5EF4-FFF2-40B4-BE49-F238E27FC236}">
                <a16:creationId xmlns:a16="http://schemas.microsoft.com/office/drawing/2014/main" id="{B7BCB4A2-C256-4DD7-80CC-580A6B621D19}"/>
              </a:ext>
            </a:extLst>
          </p:cNvPr>
          <p:cNvSpPr/>
          <p:nvPr/>
        </p:nvSpPr>
        <p:spPr>
          <a:xfrm>
            <a:off x="4587183" y="3186940"/>
            <a:ext cx="788246" cy="206326"/>
          </a:xfrm>
          <a:prstGeom prst="lef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874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9" grpId="0" animBg="1"/>
      <p:bldP spid="11" grpId="0" animBg="1"/>
      <p:bldP spid="12" grpId="0" animBg="1"/>
      <p:bldP spid="13" grpId="0" animBg="1"/>
      <p:bldP spid="14" grpId="0"/>
      <p:bldP spid="17" grpId="0" animBg="1"/>
      <p:bldP spid="18" grpId="0" animBg="1"/>
      <p:bldP spid="19" grpId="0" animBg="1"/>
      <p:bldP spid="21" grpId="0" animBg="1"/>
      <p:bldP spid="23" grpId="0" animBg="1"/>
      <p:bldP spid="24" grpId="0" animBg="1"/>
      <p:bldP spid="25" grpId="0" animBg="1"/>
      <p:bldP spid="27" grpId="0" animBg="1"/>
      <p:bldP spid="29" grpId="0" animBg="1"/>
      <p:bldP spid="30" grpId="0" animBg="1"/>
      <p:bldP spid="26" grpId="0" animBg="1"/>
      <p:bldP spid="31" grpId="0" animBg="1"/>
      <p:bldP spid="3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Interception of request</a:t>
            </a:r>
          </a:p>
          <a:p>
            <a:pPr marL="1428750" lvl="2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Santoku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8750" lvl="2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 machine</a:t>
            </a:r>
          </a:p>
          <a:p>
            <a:pPr lvl="2" algn="just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428750" lvl="2" indent="-514350" algn="just">
              <a:lnSpc>
                <a:spcPct val="150000"/>
              </a:lnSpc>
              <a:buFont typeface="+mj-lt"/>
              <a:buAutoNum type="arabicPeriod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lnSpc>
                <a:spcPct val="150000"/>
              </a:lnSpc>
            </a:pPr>
            <a:r>
              <a:rPr lang="en-US" sz="2400" b="1" dirty="0">
                <a:sym typeface="+mn-ea"/>
              </a:rPr>
              <a:t>Mobile Application </a:t>
            </a:r>
            <a:r>
              <a:rPr lang="en-US" sz="2400" b="1">
                <a:sym typeface="+mn-ea"/>
              </a:rPr>
              <a:t>– Burp </a:t>
            </a:r>
            <a:r>
              <a:rPr lang="en-US" sz="2400" b="1" dirty="0">
                <a:sym typeface="+mn-ea"/>
              </a:rPr>
              <a:t>Suite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168</Words>
  <Application>Microsoft Office PowerPoint</Application>
  <PresentationFormat>On-screen Show (4:3)</PresentationFormat>
  <Paragraphs>79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digvijay</dc:creator>
  <cp:lastModifiedBy>Aastha Thakker</cp:lastModifiedBy>
  <cp:revision>671</cp:revision>
  <dcterms:created xsi:type="dcterms:W3CDTF">2018-03-30T10:15:00Z</dcterms:created>
  <dcterms:modified xsi:type="dcterms:W3CDTF">2026-04-20T11:10:47Z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1033-11.2.0.9684</vt:lpwstr>
  </property>
</Properties>
</file>