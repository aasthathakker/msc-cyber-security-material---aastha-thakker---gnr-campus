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5" r:id="rId10"/>
  </p:sldIdLst>
  <p:sldSz cx="14630400" cy="8229600"/>
  <p:notesSz cx="8229600" cy="14630400"/>
  <p:embeddedFontLst>
    <p:embeddedFont>
      <p:font typeface="Roboto" panose="02000000000000000000" pitchFamily="2" charset="0"/>
      <p:regular r:id="rId12"/>
    </p:embeddedFont>
    <p:embeddedFont>
      <p:font typeface="Roboto Slab"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7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283607" y="2704624"/>
            <a:ext cx="4919186" cy="2820353"/>
          </a:xfrm>
          <a:prstGeom prst="rect">
            <a:avLst/>
          </a:prstGeom>
        </p:spPr>
      </p:pic>
      <p:sp>
        <p:nvSpPr>
          <p:cNvPr id="6" name="Text 2"/>
          <p:cNvSpPr/>
          <p:nvPr/>
        </p:nvSpPr>
        <p:spPr>
          <a:xfrm>
            <a:off x="6280190" y="1021976"/>
            <a:ext cx="7556421" cy="3356547"/>
          </a:xfrm>
          <a:prstGeom prst="rect">
            <a:avLst/>
          </a:prstGeom>
          <a:noFill/>
          <a:ln/>
        </p:spPr>
        <p:txBody>
          <a:bodyPr wrap="square" lIns="0" tIns="0" rIns="0" bIns="0" rtlCol="0" anchor="t"/>
          <a:lstStyle/>
          <a:p>
            <a:pPr marL="0" indent="0">
              <a:lnSpc>
                <a:spcPts val="7700"/>
              </a:lnSpc>
              <a:buNone/>
            </a:pPr>
            <a:r>
              <a:rPr lang="en-US" sz="6150" dirty="0">
                <a:solidFill>
                  <a:srgbClr val="3257B8"/>
                </a:solidFill>
                <a:latin typeface="Roboto Slab" pitchFamily="34" charset="0"/>
                <a:ea typeface="Roboto Slab" pitchFamily="34" charset="-122"/>
                <a:cs typeface="Roboto Slab" pitchFamily="34" charset="-120"/>
              </a:rPr>
              <a:t>Common Cyber Attacks and countermeasures</a:t>
            </a:r>
            <a:endParaRPr lang="en-US" sz="6150" dirty="0"/>
          </a:p>
        </p:txBody>
      </p:sp>
      <p:sp>
        <p:nvSpPr>
          <p:cNvPr id="7" name="Text 3"/>
          <p:cNvSpPr/>
          <p:nvPr/>
        </p:nvSpPr>
        <p:spPr>
          <a:xfrm>
            <a:off x="6280190" y="4718684"/>
            <a:ext cx="7556421" cy="2241513"/>
          </a:xfrm>
          <a:prstGeom prst="rect">
            <a:avLst/>
          </a:prstGeom>
          <a:noFill/>
          <a:ln/>
        </p:spPr>
        <p:txBody>
          <a:bodyPr wrap="square" lIns="0" tIns="0" rIns="0" bIns="0" rtlCol="0" anchor="t"/>
          <a:lstStyle/>
          <a:p>
            <a:pPr marL="0" indent="0" algn="just">
              <a:lnSpc>
                <a:spcPts val="2850"/>
              </a:lnSpc>
              <a:buNone/>
            </a:pPr>
            <a:r>
              <a:rPr lang="en-US" sz="2800" dirty="0">
                <a:solidFill>
                  <a:srgbClr val="15213F"/>
                </a:solidFill>
                <a:latin typeface="Roboto" pitchFamily="34" charset="0"/>
                <a:ea typeface="Roboto" pitchFamily="34" charset="-122"/>
                <a:cs typeface="Roboto" pitchFamily="34" charset="-120"/>
              </a:rPr>
              <a:t>Cyberattacks pose a significant threat to individuals and organizations. Understanding common attack methods and defense strategies is crucial for protecting sensitive data and maintaining online security.</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373791" y="2648664"/>
            <a:ext cx="5026700" cy="2932271"/>
          </a:xfrm>
          <a:prstGeom prst="rect">
            <a:avLst/>
          </a:prstGeom>
        </p:spPr>
      </p:pic>
      <p:sp>
        <p:nvSpPr>
          <p:cNvPr id="6" name="Text 2"/>
          <p:cNvSpPr/>
          <p:nvPr/>
        </p:nvSpPr>
        <p:spPr>
          <a:xfrm>
            <a:off x="643652" y="1381363"/>
            <a:ext cx="7856696" cy="1149429"/>
          </a:xfrm>
          <a:prstGeom prst="rect">
            <a:avLst/>
          </a:prstGeom>
          <a:noFill/>
          <a:ln/>
        </p:spPr>
        <p:txBody>
          <a:bodyPr wrap="square" lIns="0" tIns="0" rIns="0" bIns="0" rtlCol="0" anchor="t"/>
          <a:lstStyle/>
          <a:p>
            <a:pPr marL="0" indent="0">
              <a:lnSpc>
                <a:spcPts val="4500"/>
              </a:lnSpc>
              <a:buNone/>
            </a:pPr>
            <a:r>
              <a:rPr lang="en-US" sz="3600" dirty="0">
                <a:solidFill>
                  <a:srgbClr val="3257B8"/>
                </a:solidFill>
                <a:latin typeface="Roboto Slab" pitchFamily="34" charset="0"/>
                <a:ea typeface="Roboto Slab" pitchFamily="34" charset="-122"/>
                <a:cs typeface="Roboto Slab" pitchFamily="34" charset="-120"/>
              </a:rPr>
              <a:t>Phishing Attacks: Techniques and Countermeasures</a:t>
            </a:r>
            <a:endParaRPr lang="en-US" sz="3600" dirty="0"/>
          </a:p>
        </p:txBody>
      </p:sp>
      <p:sp>
        <p:nvSpPr>
          <p:cNvPr id="7" name="Shape 3"/>
          <p:cNvSpPr/>
          <p:nvPr/>
        </p:nvSpPr>
        <p:spPr>
          <a:xfrm>
            <a:off x="643652" y="3013472"/>
            <a:ext cx="413742" cy="413742"/>
          </a:xfrm>
          <a:prstGeom prst="roundRect">
            <a:avLst>
              <a:gd name="adj" fmla="val 6668"/>
            </a:avLst>
          </a:prstGeom>
          <a:solidFill>
            <a:srgbClr val="E9ECF2"/>
          </a:solidFill>
          <a:ln/>
        </p:spPr>
      </p:sp>
      <p:sp>
        <p:nvSpPr>
          <p:cNvPr id="8" name="Text 4"/>
          <p:cNvSpPr/>
          <p:nvPr/>
        </p:nvSpPr>
        <p:spPr>
          <a:xfrm>
            <a:off x="793671" y="3082409"/>
            <a:ext cx="113705" cy="275868"/>
          </a:xfrm>
          <a:prstGeom prst="rect">
            <a:avLst/>
          </a:prstGeom>
          <a:noFill/>
          <a:ln/>
        </p:spPr>
        <p:txBody>
          <a:bodyPr wrap="none" lIns="0" tIns="0" rIns="0" bIns="0" rtlCol="0" anchor="t"/>
          <a:lstStyle/>
          <a:p>
            <a:pPr marL="0" indent="0" algn="ctr">
              <a:lnSpc>
                <a:spcPts val="2150"/>
              </a:lnSpc>
              <a:buNone/>
            </a:pPr>
            <a:r>
              <a:rPr lang="en-US" sz="2150" dirty="0">
                <a:solidFill>
                  <a:srgbClr val="15213F"/>
                </a:solidFill>
                <a:latin typeface="Roboto Slab" pitchFamily="34" charset="0"/>
                <a:ea typeface="Roboto Slab" pitchFamily="34" charset="-122"/>
                <a:cs typeface="Roboto Slab" pitchFamily="34" charset="-120"/>
              </a:rPr>
              <a:t>1</a:t>
            </a:r>
            <a:endParaRPr lang="en-US" sz="2150" dirty="0"/>
          </a:p>
        </p:txBody>
      </p:sp>
      <p:sp>
        <p:nvSpPr>
          <p:cNvPr id="9" name="Text 5"/>
          <p:cNvSpPr/>
          <p:nvPr/>
        </p:nvSpPr>
        <p:spPr>
          <a:xfrm>
            <a:off x="1241227" y="3013472"/>
            <a:ext cx="2298859" cy="287298"/>
          </a:xfrm>
          <a:prstGeom prst="rect">
            <a:avLst/>
          </a:prstGeom>
          <a:noFill/>
          <a:ln/>
        </p:spPr>
        <p:txBody>
          <a:bodyPr wrap="none" lIns="0" tIns="0" rIns="0" bIns="0" rtlCol="0" anchor="t"/>
          <a:lstStyle/>
          <a:p>
            <a:pPr marL="0" indent="0">
              <a:lnSpc>
                <a:spcPts val="2250"/>
              </a:lnSpc>
              <a:buNone/>
            </a:pPr>
            <a:r>
              <a:rPr lang="en-US" sz="1800" dirty="0">
                <a:solidFill>
                  <a:srgbClr val="15213F"/>
                </a:solidFill>
                <a:latin typeface="Roboto Slab" pitchFamily="34" charset="0"/>
                <a:ea typeface="Roboto Slab" pitchFamily="34" charset="-122"/>
                <a:cs typeface="Roboto Slab" pitchFamily="34" charset="-120"/>
              </a:rPr>
              <a:t>Email Spoofing</a:t>
            </a:r>
            <a:endParaRPr lang="en-US" sz="1800" dirty="0"/>
          </a:p>
        </p:txBody>
      </p:sp>
      <p:sp>
        <p:nvSpPr>
          <p:cNvPr id="10" name="Text 6"/>
          <p:cNvSpPr/>
          <p:nvPr/>
        </p:nvSpPr>
        <p:spPr>
          <a:xfrm>
            <a:off x="1241227" y="3411022"/>
            <a:ext cx="3238857" cy="1177290"/>
          </a:xfrm>
          <a:prstGeom prst="rect">
            <a:avLst/>
          </a:prstGeom>
          <a:noFill/>
          <a:ln/>
        </p:spPr>
        <p:txBody>
          <a:bodyPr wrap="square" lIns="0" tIns="0" rIns="0" bIns="0" rtlCol="0" anchor="t"/>
          <a:lstStyle/>
          <a:p>
            <a:pPr marL="0" indent="0">
              <a:lnSpc>
                <a:spcPts val="2300"/>
              </a:lnSpc>
              <a:buNone/>
            </a:pPr>
            <a:r>
              <a:rPr lang="en-US" sz="1400" dirty="0">
                <a:solidFill>
                  <a:srgbClr val="15213F"/>
                </a:solidFill>
                <a:latin typeface="Roboto" pitchFamily="34" charset="0"/>
                <a:ea typeface="Roboto" pitchFamily="34" charset="-122"/>
                <a:cs typeface="Roboto" pitchFamily="34" charset="-120"/>
              </a:rPr>
              <a:t>Attackers impersonate legitimate entities, such as banks or social media platforms, to trick victims into revealing sensitive information.</a:t>
            </a:r>
            <a:endParaRPr lang="en-US" sz="1400" dirty="0"/>
          </a:p>
        </p:txBody>
      </p:sp>
      <p:sp>
        <p:nvSpPr>
          <p:cNvPr id="11" name="Shape 7"/>
          <p:cNvSpPr/>
          <p:nvPr/>
        </p:nvSpPr>
        <p:spPr>
          <a:xfrm>
            <a:off x="4663916" y="3013472"/>
            <a:ext cx="413742" cy="413742"/>
          </a:xfrm>
          <a:prstGeom prst="roundRect">
            <a:avLst>
              <a:gd name="adj" fmla="val 6668"/>
            </a:avLst>
          </a:prstGeom>
          <a:solidFill>
            <a:srgbClr val="E9ECF2"/>
          </a:solidFill>
          <a:ln/>
        </p:spPr>
      </p:sp>
      <p:sp>
        <p:nvSpPr>
          <p:cNvPr id="12" name="Text 8"/>
          <p:cNvSpPr/>
          <p:nvPr/>
        </p:nvSpPr>
        <p:spPr>
          <a:xfrm>
            <a:off x="4794528" y="3082409"/>
            <a:ext cx="152400" cy="275868"/>
          </a:xfrm>
          <a:prstGeom prst="rect">
            <a:avLst/>
          </a:prstGeom>
          <a:noFill/>
          <a:ln/>
        </p:spPr>
        <p:txBody>
          <a:bodyPr wrap="none" lIns="0" tIns="0" rIns="0" bIns="0" rtlCol="0" anchor="t"/>
          <a:lstStyle/>
          <a:p>
            <a:pPr marL="0" indent="0" algn="ctr">
              <a:lnSpc>
                <a:spcPts val="2150"/>
              </a:lnSpc>
              <a:buNone/>
            </a:pPr>
            <a:r>
              <a:rPr lang="en-US" sz="2150" dirty="0">
                <a:solidFill>
                  <a:srgbClr val="15213F"/>
                </a:solidFill>
                <a:latin typeface="Roboto Slab" pitchFamily="34" charset="0"/>
                <a:ea typeface="Roboto Slab" pitchFamily="34" charset="-122"/>
                <a:cs typeface="Roboto Slab" pitchFamily="34" charset="-120"/>
              </a:rPr>
              <a:t>2</a:t>
            </a:r>
            <a:endParaRPr lang="en-US" sz="2150" dirty="0"/>
          </a:p>
        </p:txBody>
      </p:sp>
      <p:sp>
        <p:nvSpPr>
          <p:cNvPr id="13" name="Text 9"/>
          <p:cNvSpPr/>
          <p:nvPr/>
        </p:nvSpPr>
        <p:spPr>
          <a:xfrm>
            <a:off x="5261491" y="3013472"/>
            <a:ext cx="2298859" cy="287298"/>
          </a:xfrm>
          <a:prstGeom prst="rect">
            <a:avLst/>
          </a:prstGeom>
          <a:noFill/>
          <a:ln/>
        </p:spPr>
        <p:txBody>
          <a:bodyPr wrap="none" lIns="0" tIns="0" rIns="0" bIns="0" rtlCol="0" anchor="t"/>
          <a:lstStyle/>
          <a:p>
            <a:pPr marL="0" indent="0">
              <a:lnSpc>
                <a:spcPts val="2250"/>
              </a:lnSpc>
              <a:buNone/>
            </a:pPr>
            <a:r>
              <a:rPr lang="en-US" sz="1800" dirty="0">
                <a:solidFill>
                  <a:srgbClr val="15213F"/>
                </a:solidFill>
                <a:latin typeface="Roboto Slab" pitchFamily="34" charset="0"/>
                <a:ea typeface="Roboto Slab" pitchFamily="34" charset="-122"/>
                <a:cs typeface="Roboto Slab" pitchFamily="34" charset="-120"/>
              </a:rPr>
              <a:t>URL Manipulation</a:t>
            </a:r>
            <a:endParaRPr lang="en-US" sz="1800" dirty="0"/>
          </a:p>
        </p:txBody>
      </p:sp>
      <p:sp>
        <p:nvSpPr>
          <p:cNvPr id="14" name="Text 10"/>
          <p:cNvSpPr/>
          <p:nvPr/>
        </p:nvSpPr>
        <p:spPr>
          <a:xfrm>
            <a:off x="5261491" y="3411022"/>
            <a:ext cx="3238857" cy="1177290"/>
          </a:xfrm>
          <a:prstGeom prst="rect">
            <a:avLst/>
          </a:prstGeom>
          <a:noFill/>
          <a:ln/>
        </p:spPr>
        <p:txBody>
          <a:bodyPr wrap="square" lIns="0" tIns="0" rIns="0" bIns="0" rtlCol="0" anchor="t"/>
          <a:lstStyle/>
          <a:p>
            <a:pPr marL="0" indent="0">
              <a:lnSpc>
                <a:spcPts val="2300"/>
              </a:lnSpc>
              <a:buNone/>
            </a:pPr>
            <a:r>
              <a:rPr lang="en-US" sz="1400" dirty="0">
                <a:solidFill>
                  <a:srgbClr val="15213F"/>
                </a:solidFill>
                <a:latin typeface="Roboto" pitchFamily="34" charset="0"/>
                <a:ea typeface="Roboto" pitchFamily="34" charset="-122"/>
                <a:cs typeface="Roboto" pitchFamily="34" charset="-120"/>
              </a:rPr>
              <a:t>Phishing emails often contain links that redirect users to malicious websites designed to steal login credentials or other personal data.</a:t>
            </a:r>
            <a:endParaRPr lang="en-US" sz="1400" dirty="0"/>
          </a:p>
        </p:txBody>
      </p:sp>
      <p:sp>
        <p:nvSpPr>
          <p:cNvPr id="15" name="Shape 11"/>
          <p:cNvSpPr/>
          <p:nvPr/>
        </p:nvSpPr>
        <p:spPr>
          <a:xfrm>
            <a:off x="643652" y="4978956"/>
            <a:ext cx="413742" cy="413742"/>
          </a:xfrm>
          <a:prstGeom prst="roundRect">
            <a:avLst>
              <a:gd name="adj" fmla="val 6668"/>
            </a:avLst>
          </a:prstGeom>
          <a:solidFill>
            <a:srgbClr val="E9ECF2"/>
          </a:solidFill>
          <a:ln/>
        </p:spPr>
      </p:sp>
      <p:sp>
        <p:nvSpPr>
          <p:cNvPr id="16" name="Text 12"/>
          <p:cNvSpPr/>
          <p:nvPr/>
        </p:nvSpPr>
        <p:spPr>
          <a:xfrm>
            <a:off x="776049" y="5047893"/>
            <a:ext cx="148947" cy="275868"/>
          </a:xfrm>
          <a:prstGeom prst="rect">
            <a:avLst/>
          </a:prstGeom>
          <a:noFill/>
          <a:ln/>
        </p:spPr>
        <p:txBody>
          <a:bodyPr wrap="none" lIns="0" tIns="0" rIns="0" bIns="0" rtlCol="0" anchor="t"/>
          <a:lstStyle/>
          <a:p>
            <a:pPr marL="0" indent="0" algn="ctr">
              <a:lnSpc>
                <a:spcPts val="2150"/>
              </a:lnSpc>
              <a:buNone/>
            </a:pPr>
            <a:r>
              <a:rPr lang="en-US" sz="2150" dirty="0">
                <a:solidFill>
                  <a:srgbClr val="15213F"/>
                </a:solidFill>
                <a:latin typeface="Roboto Slab" pitchFamily="34" charset="0"/>
                <a:ea typeface="Roboto Slab" pitchFamily="34" charset="-122"/>
                <a:cs typeface="Roboto Slab" pitchFamily="34" charset="-120"/>
              </a:rPr>
              <a:t>3</a:t>
            </a:r>
            <a:endParaRPr lang="en-US" sz="2150" dirty="0"/>
          </a:p>
        </p:txBody>
      </p:sp>
      <p:sp>
        <p:nvSpPr>
          <p:cNvPr id="17" name="Text 13"/>
          <p:cNvSpPr/>
          <p:nvPr/>
        </p:nvSpPr>
        <p:spPr>
          <a:xfrm>
            <a:off x="1241227" y="4978956"/>
            <a:ext cx="2298859" cy="287298"/>
          </a:xfrm>
          <a:prstGeom prst="rect">
            <a:avLst/>
          </a:prstGeom>
          <a:noFill/>
          <a:ln/>
        </p:spPr>
        <p:txBody>
          <a:bodyPr wrap="none" lIns="0" tIns="0" rIns="0" bIns="0" rtlCol="0" anchor="t"/>
          <a:lstStyle/>
          <a:p>
            <a:pPr marL="0" indent="0">
              <a:lnSpc>
                <a:spcPts val="2250"/>
              </a:lnSpc>
              <a:buNone/>
            </a:pPr>
            <a:r>
              <a:rPr lang="en-US" sz="1800" dirty="0">
                <a:solidFill>
                  <a:srgbClr val="15213F"/>
                </a:solidFill>
                <a:latin typeface="Roboto Slab" pitchFamily="34" charset="0"/>
                <a:ea typeface="Roboto Slab" pitchFamily="34" charset="-122"/>
                <a:cs typeface="Roboto Slab" pitchFamily="34" charset="-120"/>
              </a:rPr>
              <a:t>Social Engineering</a:t>
            </a:r>
            <a:endParaRPr lang="en-US" sz="1800" dirty="0"/>
          </a:p>
        </p:txBody>
      </p:sp>
      <p:sp>
        <p:nvSpPr>
          <p:cNvPr id="18" name="Text 14"/>
          <p:cNvSpPr/>
          <p:nvPr/>
        </p:nvSpPr>
        <p:spPr>
          <a:xfrm>
            <a:off x="1241227" y="5376505"/>
            <a:ext cx="3238857" cy="1471612"/>
          </a:xfrm>
          <a:prstGeom prst="rect">
            <a:avLst/>
          </a:prstGeom>
          <a:noFill/>
          <a:ln/>
        </p:spPr>
        <p:txBody>
          <a:bodyPr wrap="square" lIns="0" tIns="0" rIns="0" bIns="0" rtlCol="0" anchor="t"/>
          <a:lstStyle/>
          <a:p>
            <a:pPr marL="0" indent="0">
              <a:lnSpc>
                <a:spcPts val="2300"/>
              </a:lnSpc>
              <a:buNone/>
            </a:pPr>
            <a:r>
              <a:rPr lang="en-US" sz="1400" dirty="0">
                <a:solidFill>
                  <a:srgbClr val="15213F"/>
                </a:solidFill>
                <a:latin typeface="Roboto" pitchFamily="34" charset="0"/>
                <a:ea typeface="Roboto" pitchFamily="34" charset="-122"/>
                <a:cs typeface="Roboto" pitchFamily="34" charset="-120"/>
              </a:rPr>
              <a:t>Attackers employ psychological tactics to exploit human vulnerabilities, such as curiosity, trust, or fear, to induce victims into clicking malicious links or downloading malware.</a:t>
            </a:r>
            <a:endParaRPr lang="en-US" sz="1400" dirty="0"/>
          </a:p>
        </p:txBody>
      </p:sp>
      <p:sp>
        <p:nvSpPr>
          <p:cNvPr id="19" name="Shape 15"/>
          <p:cNvSpPr/>
          <p:nvPr/>
        </p:nvSpPr>
        <p:spPr>
          <a:xfrm>
            <a:off x="4663916" y="4978956"/>
            <a:ext cx="413742" cy="413742"/>
          </a:xfrm>
          <a:prstGeom prst="roundRect">
            <a:avLst>
              <a:gd name="adj" fmla="val 6668"/>
            </a:avLst>
          </a:prstGeom>
          <a:solidFill>
            <a:srgbClr val="E9ECF2"/>
          </a:solidFill>
          <a:ln/>
        </p:spPr>
      </p:sp>
      <p:sp>
        <p:nvSpPr>
          <p:cNvPr id="20" name="Text 16"/>
          <p:cNvSpPr/>
          <p:nvPr/>
        </p:nvSpPr>
        <p:spPr>
          <a:xfrm>
            <a:off x="4790837" y="5047893"/>
            <a:ext cx="159901" cy="275868"/>
          </a:xfrm>
          <a:prstGeom prst="rect">
            <a:avLst/>
          </a:prstGeom>
          <a:noFill/>
          <a:ln/>
        </p:spPr>
        <p:txBody>
          <a:bodyPr wrap="none" lIns="0" tIns="0" rIns="0" bIns="0" rtlCol="0" anchor="t"/>
          <a:lstStyle/>
          <a:p>
            <a:pPr marL="0" indent="0" algn="ctr">
              <a:lnSpc>
                <a:spcPts val="2150"/>
              </a:lnSpc>
              <a:buNone/>
            </a:pPr>
            <a:r>
              <a:rPr lang="en-US" sz="2150" dirty="0">
                <a:solidFill>
                  <a:srgbClr val="15213F"/>
                </a:solidFill>
                <a:latin typeface="Roboto Slab" pitchFamily="34" charset="0"/>
                <a:ea typeface="Roboto Slab" pitchFamily="34" charset="-122"/>
                <a:cs typeface="Roboto Slab" pitchFamily="34" charset="-120"/>
              </a:rPr>
              <a:t>4</a:t>
            </a:r>
            <a:endParaRPr lang="en-US" sz="2150" dirty="0"/>
          </a:p>
        </p:txBody>
      </p:sp>
      <p:sp>
        <p:nvSpPr>
          <p:cNvPr id="21" name="Text 17"/>
          <p:cNvSpPr/>
          <p:nvPr/>
        </p:nvSpPr>
        <p:spPr>
          <a:xfrm>
            <a:off x="5261491" y="4978956"/>
            <a:ext cx="2298859" cy="287298"/>
          </a:xfrm>
          <a:prstGeom prst="rect">
            <a:avLst/>
          </a:prstGeom>
          <a:noFill/>
          <a:ln/>
        </p:spPr>
        <p:txBody>
          <a:bodyPr wrap="none" lIns="0" tIns="0" rIns="0" bIns="0" rtlCol="0" anchor="t"/>
          <a:lstStyle/>
          <a:p>
            <a:pPr marL="0" indent="0">
              <a:lnSpc>
                <a:spcPts val="2250"/>
              </a:lnSpc>
              <a:buNone/>
            </a:pPr>
            <a:r>
              <a:rPr lang="en-US" sz="1800" dirty="0">
                <a:solidFill>
                  <a:srgbClr val="15213F"/>
                </a:solidFill>
                <a:latin typeface="Roboto Slab" pitchFamily="34" charset="0"/>
                <a:ea typeface="Roboto Slab" pitchFamily="34" charset="-122"/>
                <a:cs typeface="Roboto Slab" pitchFamily="34" charset="-120"/>
              </a:rPr>
              <a:t>Countermeasures</a:t>
            </a:r>
            <a:endParaRPr lang="en-US" sz="1800" dirty="0"/>
          </a:p>
        </p:txBody>
      </p:sp>
      <p:sp>
        <p:nvSpPr>
          <p:cNvPr id="22" name="Text 18"/>
          <p:cNvSpPr/>
          <p:nvPr/>
        </p:nvSpPr>
        <p:spPr>
          <a:xfrm>
            <a:off x="5261491" y="5376505"/>
            <a:ext cx="3238857" cy="1471612"/>
          </a:xfrm>
          <a:prstGeom prst="rect">
            <a:avLst/>
          </a:prstGeom>
          <a:noFill/>
          <a:ln/>
        </p:spPr>
        <p:txBody>
          <a:bodyPr wrap="square" lIns="0" tIns="0" rIns="0" bIns="0" rtlCol="0" anchor="t"/>
          <a:lstStyle/>
          <a:p>
            <a:pPr marL="0" indent="0">
              <a:lnSpc>
                <a:spcPts val="2300"/>
              </a:lnSpc>
              <a:buNone/>
            </a:pPr>
            <a:r>
              <a:rPr lang="en-US" sz="1400" dirty="0">
                <a:solidFill>
                  <a:srgbClr val="15213F"/>
                </a:solidFill>
                <a:latin typeface="Roboto" pitchFamily="34" charset="0"/>
                <a:ea typeface="Roboto" pitchFamily="34" charset="-122"/>
                <a:cs typeface="Roboto" pitchFamily="34" charset="-120"/>
              </a:rPr>
              <a:t>Be cautious of suspicious emails, verify the sender's identity, avoid clicking on links from unknown sources, and use strong passwords and multi-factor authentication.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
        <p:nvSpPr>
          <p:cNvPr id="4" name="Text 2"/>
          <p:cNvSpPr/>
          <p:nvPr/>
        </p:nvSpPr>
        <p:spPr>
          <a:xfrm>
            <a:off x="793790" y="1255633"/>
            <a:ext cx="13042821" cy="1417558"/>
          </a:xfrm>
          <a:prstGeom prst="rect">
            <a:avLst/>
          </a:prstGeom>
          <a:noFill/>
          <a:ln/>
        </p:spPr>
        <p:txBody>
          <a:bodyPr wrap="square" lIns="0" tIns="0" rIns="0" bIns="0" rtlCol="0" anchor="t"/>
          <a:lstStyle/>
          <a:p>
            <a:pPr marL="0" indent="0">
              <a:lnSpc>
                <a:spcPts val="5550"/>
              </a:lnSpc>
              <a:buNone/>
            </a:pPr>
            <a:r>
              <a:rPr lang="en-US" sz="4450" dirty="0">
                <a:solidFill>
                  <a:srgbClr val="3257B8"/>
                </a:solidFill>
                <a:latin typeface="Roboto Slab" pitchFamily="34" charset="0"/>
                <a:ea typeface="Roboto Slab" pitchFamily="34" charset="-122"/>
                <a:cs typeface="Roboto Slab" pitchFamily="34" charset="-120"/>
              </a:rPr>
              <a:t>ARP Poisoning: Exploits and Mitigation Strategies</a:t>
            </a:r>
            <a:endParaRPr lang="en-US" sz="4450" dirty="0"/>
          </a:p>
        </p:txBody>
      </p:sp>
      <p:sp>
        <p:nvSpPr>
          <p:cNvPr id="5" name="Text 3"/>
          <p:cNvSpPr/>
          <p:nvPr/>
        </p:nvSpPr>
        <p:spPr>
          <a:xfrm>
            <a:off x="793790" y="324016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257B8"/>
                </a:solidFill>
                <a:latin typeface="Roboto Slab" pitchFamily="34" charset="0"/>
                <a:ea typeface="Roboto Slab" pitchFamily="34" charset="-122"/>
                <a:cs typeface="Roboto Slab" pitchFamily="34" charset="-120"/>
              </a:rPr>
              <a:t>ARP Poisoning</a:t>
            </a:r>
            <a:endParaRPr lang="en-US" sz="2200" dirty="0"/>
          </a:p>
        </p:txBody>
      </p:sp>
      <p:sp>
        <p:nvSpPr>
          <p:cNvPr id="6" name="Text 4"/>
          <p:cNvSpPr/>
          <p:nvPr/>
        </p:nvSpPr>
        <p:spPr>
          <a:xfrm>
            <a:off x="793790" y="3821311"/>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15213F"/>
                </a:solidFill>
                <a:latin typeface="Roboto" pitchFamily="34" charset="0"/>
                <a:ea typeface="Roboto" pitchFamily="34" charset="-122"/>
                <a:cs typeface="Roboto" pitchFamily="34" charset="-120"/>
              </a:rPr>
              <a:t>Attackers send forged Address Resolution Protocol (ARP) messages to associate their own MAC address with a legitimate IP address on the network.</a:t>
            </a:r>
            <a:endParaRPr lang="en-US" sz="1750" dirty="0"/>
          </a:p>
        </p:txBody>
      </p:sp>
      <p:sp>
        <p:nvSpPr>
          <p:cNvPr id="7" name="Text 5"/>
          <p:cNvSpPr/>
          <p:nvPr/>
        </p:nvSpPr>
        <p:spPr>
          <a:xfrm>
            <a:off x="793790" y="5114092"/>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15213F"/>
                </a:solidFill>
                <a:latin typeface="Roboto" pitchFamily="34" charset="0"/>
                <a:ea typeface="Roboto" pitchFamily="34" charset="-122"/>
                <a:cs typeface="Roboto" pitchFamily="34" charset="-120"/>
              </a:rPr>
              <a:t>This allows them to intercept network traffic intended for other devices, potentially stealing sensitive data or launching further attacks.</a:t>
            </a:r>
            <a:endParaRPr lang="en-US" sz="1750" dirty="0"/>
          </a:p>
        </p:txBody>
      </p:sp>
      <p:sp>
        <p:nvSpPr>
          <p:cNvPr id="8" name="Text 6"/>
          <p:cNvSpPr/>
          <p:nvPr/>
        </p:nvSpPr>
        <p:spPr>
          <a:xfrm>
            <a:off x="7599521" y="324016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3257B8"/>
                </a:solidFill>
                <a:latin typeface="Roboto Slab" pitchFamily="34" charset="0"/>
                <a:ea typeface="Roboto Slab" pitchFamily="34" charset="-122"/>
                <a:cs typeface="Roboto Slab" pitchFamily="34" charset="-120"/>
              </a:rPr>
              <a:t>Mitigation Strategies</a:t>
            </a:r>
            <a:endParaRPr lang="en-US" sz="2200" dirty="0"/>
          </a:p>
        </p:txBody>
      </p:sp>
      <p:sp>
        <p:nvSpPr>
          <p:cNvPr id="9" name="Text 7"/>
          <p:cNvSpPr/>
          <p:nvPr/>
        </p:nvSpPr>
        <p:spPr>
          <a:xfrm>
            <a:off x="7599521" y="3821311"/>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15213F"/>
                </a:solidFill>
                <a:latin typeface="Roboto" pitchFamily="34" charset="0"/>
                <a:ea typeface="Roboto" pitchFamily="34" charset="-122"/>
                <a:cs typeface="Roboto" pitchFamily="34" charset="-120"/>
              </a:rPr>
              <a:t>Use static ARP entries to bind specific MAC addresses to IP addresses, preventing attackers from forging ARP messages.</a:t>
            </a:r>
            <a:endParaRPr lang="en-US" sz="1750" dirty="0"/>
          </a:p>
        </p:txBody>
      </p:sp>
      <p:sp>
        <p:nvSpPr>
          <p:cNvPr id="10" name="Text 8"/>
          <p:cNvSpPr/>
          <p:nvPr/>
        </p:nvSpPr>
        <p:spPr>
          <a:xfrm>
            <a:off x="7599521" y="4751189"/>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15213F"/>
                </a:solidFill>
                <a:latin typeface="Roboto" pitchFamily="34" charset="0"/>
                <a:ea typeface="Roboto" pitchFamily="34" charset="-122"/>
                <a:cs typeface="Roboto" pitchFamily="34" charset="-120"/>
              </a:rPr>
              <a:t>Enable ARP inspection on network devices to detect and block forged ARP packets.</a:t>
            </a:r>
            <a:endParaRPr lang="en-US" sz="1750" dirty="0"/>
          </a:p>
        </p:txBody>
      </p:sp>
      <p:sp>
        <p:nvSpPr>
          <p:cNvPr id="11" name="Text 9"/>
          <p:cNvSpPr/>
          <p:nvPr/>
        </p:nvSpPr>
        <p:spPr>
          <a:xfrm>
            <a:off x="7599521" y="5681067"/>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15213F"/>
                </a:solidFill>
                <a:latin typeface="Roboto" pitchFamily="34" charset="0"/>
                <a:ea typeface="Roboto" pitchFamily="34" charset="-122"/>
                <a:cs typeface="Roboto" pitchFamily="34" charset="-120"/>
              </a:rPr>
              <a:t>Use secure network protocols, such as HTTPS, to encrypt data transmitted over the network, making it more difficult for attackers to intercept and exploit.</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262533" y="2719388"/>
            <a:ext cx="4961215" cy="2790706"/>
          </a:xfrm>
          <a:prstGeom prst="rect">
            <a:avLst/>
          </a:prstGeom>
        </p:spPr>
      </p:pic>
      <p:sp>
        <p:nvSpPr>
          <p:cNvPr id="6" name="Text 2"/>
          <p:cNvSpPr/>
          <p:nvPr/>
        </p:nvSpPr>
        <p:spPr>
          <a:xfrm>
            <a:off x="6221730" y="678418"/>
            <a:ext cx="7673340" cy="1313259"/>
          </a:xfrm>
          <a:prstGeom prst="rect">
            <a:avLst/>
          </a:prstGeom>
          <a:noFill/>
          <a:ln/>
        </p:spPr>
        <p:txBody>
          <a:bodyPr wrap="square" lIns="0" tIns="0" rIns="0" bIns="0" rtlCol="0" anchor="t"/>
          <a:lstStyle/>
          <a:p>
            <a:pPr marL="0" indent="0">
              <a:lnSpc>
                <a:spcPts val="5150"/>
              </a:lnSpc>
              <a:buNone/>
            </a:pPr>
            <a:r>
              <a:rPr lang="en-US" sz="4100" dirty="0">
                <a:solidFill>
                  <a:srgbClr val="3257B8"/>
                </a:solidFill>
                <a:latin typeface="Roboto Slab" pitchFamily="34" charset="0"/>
                <a:ea typeface="Roboto Slab" pitchFamily="34" charset="-122"/>
                <a:cs typeface="Roboto Slab" pitchFamily="34" charset="-120"/>
              </a:rPr>
              <a:t>MAC Flooding: Attacks and Protective Measures</a:t>
            </a:r>
            <a:endParaRPr lang="en-US" sz="4100" dirty="0"/>
          </a:p>
        </p:txBody>
      </p:sp>
      <p:pic>
        <p:nvPicPr>
          <p:cNvPr id="7" name="Image 2" descr="preencoded.png"/>
          <p:cNvPicPr>
            <a:picLocks noChangeAspect="1"/>
          </p:cNvPicPr>
          <p:nvPr/>
        </p:nvPicPr>
        <p:blipFill>
          <a:blip r:embed="rId5"/>
          <a:stretch>
            <a:fillRect/>
          </a:stretch>
        </p:blipFill>
        <p:spPr>
          <a:xfrm>
            <a:off x="6221730" y="2306717"/>
            <a:ext cx="1050488" cy="1680686"/>
          </a:xfrm>
          <a:prstGeom prst="rect">
            <a:avLst/>
          </a:prstGeom>
        </p:spPr>
      </p:pic>
      <p:sp>
        <p:nvSpPr>
          <p:cNvPr id="8" name="Text 3"/>
          <p:cNvSpPr/>
          <p:nvPr/>
        </p:nvSpPr>
        <p:spPr>
          <a:xfrm>
            <a:off x="7587258" y="2516743"/>
            <a:ext cx="2864406" cy="328255"/>
          </a:xfrm>
          <a:prstGeom prst="rect">
            <a:avLst/>
          </a:prstGeom>
          <a:noFill/>
          <a:ln/>
        </p:spPr>
        <p:txBody>
          <a:bodyPr wrap="none" lIns="0" tIns="0" rIns="0" bIns="0" rtlCol="0" anchor="t"/>
          <a:lstStyle/>
          <a:p>
            <a:pPr marL="0" indent="0" algn="l">
              <a:lnSpc>
                <a:spcPts val="2550"/>
              </a:lnSpc>
              <a:buNone/>
            </a:pPr>
            <a:r>
              <a:rPr lang="en-US" sz="2050" dirty="0">
                <a:solidFill>
                  <a:srgbClr val="15213F"/>
                </a:solidFill>
                <a:latin typeface="Roboto Slab" pitchFamily="34" charset="0"/>
                <a:ea typeface="Roboto Slab" pitchFamily="34" charset="-122"/>
                <a:cs typeface="Roboto Slab" pitchFamily="34" charset="-120"/>
              </a:rPr>
              <a:t>Attacker Sends Frames</a:t>
            </a:r>
            <a:endParaRPr lang="en-US" sz="2050" dirty="0"/>
          </a:p>
        </p:txBody>
      </p:sp>
      <p:sp>
        <p:nvSpPr>
          <p:cNvPr id="9" name="Text 4"/>
          <p:cNvSpPr/>
          <p:nvPr/>
        </p:nvSpPr>
        <p:spPr>
          <a:xfrm>
            <a:off x="7587258" y="2970967"/>
            <a:ext cx="6307812" cy="672465"/>
          </a:xfrm>
          <a:prstGeom prst="rect">
            <a:avLst/>
          </a:prstGeom>
          <a:noFill/>
          <a:ln/>
        </p:spPr>
        <p:txBody>
          <a:bodyPr wrap="square" lIns="0" tIns="0" rIns="0" bIns="0" rtlCol="0" anchor="t"/>
          <a:lstStyle/>
          <a:p>
            <a:pPr marL="0" indent="0" algn="l">
              <a:lnSpc>
                <a:spcPts val="2600"/>
              </a:lnSpc>
              <a:buNone/>
            </a:pPr>
            <a:r>
              <a:rPr lang="en-US" sz="1650" dirty="0">
                <a:solidFill>
                  <a:srgbClr val="15213F"/>
                </a:solidFill>
                <a:latin typeface="Roboto" pitchFamily="34" charset="0"/>
                <a:ea typeface="Roboto" pitchFamily="34" charset="-122"/>
                <a:cs typeface="Roboto" pitchFamily="34" charset="-120"/>
              </a:rPr>
              <a:t>The attacker sends a large number of frames with unique MAC addresses, flooding the switch's MAC address table.</a:t>
            </a:r>
            <a:endParaRPr lang="en-US" sz="1650" dirty="0"/>
          </a:p>
        </p:txBody>
      </p:sp>
      <p:pic>
        <p:nvPicPr>
          <p:cNvPr id="10" name="Image 3" descr="preencoded.png"/>
          <p:cNvPicPr>
            <a:picLocks noChangeAspect="1"/>
          </p:cNvPicPr>
          <p:nvPr/>
        </p:nvPicPr>
        <p:blipFill>
          <a:blip r:embed="rId6"/>
          <a:stretch>
            <a:fillRect/>
          </a:stretch>
        </p:blipFill>
        <p:spPr>
          <a:xfrm>
            <a:off x="6221730" y="3987403"/>
            <a:ext cx="1050488" cy="1680686"/>
          </a:xfrm>
          <a:prstGeom prst="rect">
            <a:avLst/>
          </a:prstGeom>
        </p:spPr>
      </p:pic>
      <p:sp>
        <p:nvSpPr>
          <p:cNvPr id="11" name="Text 5"/>
          <p:cNvSpPr/>
          <p:nvPr/>
        </p:nvSpPr>
        <p:spPr>
          <a:xfrm>
            <a:off x="7587258" y="4197429"/>
            <a:ext cx="2673787" cy="328255"/>
          </a:xfrm>
          <a:prstGeom prst="rect">
            <a:avLst/>
          </a:prstGeom>
          <a:noFill/>
          <a:ln/>
        </p:spPr>
        <p:txBody>
          <a:bodyPr wrap="none" lIns="0" tIns="0" rIns="0" bIns="0" rtlCol="0" anchor="t"/>
          <a:lstStyle/>
          <a:p>
            <a:pPr marL="0" indent="0" algn="l">
              <a:lnSpc>
                <a:spcPts val="2550"/>
              </a:lnSpc>
              <a:buNone/>
            </a:pPr>
            <a:r>
              <a:rPr lang="en-US" sz="2050" dirty="0">
                <a:solidFill>
                  <a:srgbClr val="15213F"/>
                </a:solidFill>
                <a:latin typeface="Roboto Slab" pitchFamily="34" charset="0"/>
                <a:ea typeface="Roboto Slab" pitchFamily="34" charset="-122"/>
                <a:cs typeface="Roboto Slab" pitchFamily="34" charset="-120"/>
              </a:rPr>
              <a:t>Switch Overwhelmed</a:t>
            </a:r>
            <a:endParaRPr lang="en-US" sz="2050" dirty="0"/>
          </a:p>
        </p:txBody>
      </p:sp>
      <p:sp>
        <p:nvSpPr>
          <p:cNvPr id="12" name="Text 6"/>
          <p:cNvSpPr/>
          <p:nvPr/>
        </p:nvSpPr>
        <p:spPr>
          <a:xfrm>
            <a:off x="7587258" y="4651653"/>
            <a:ext cx="6307812" cy="672465"/>
          </a:xfrm>
          <a:prstGeom prst="rect">
            <a:avLst/>
          </a:prstGeom>
          <a:noFill/>
          <a:ln/>
        </p:spPr>
        <p:txBody>
          <a:bodyPr wrap="square" lIns="0" tIns="0" rIns="0" bIns="0" rtlCol="0" anchor="t"/>
          <a:lstStyle/>
          <a:p>
            <a:pPr marL="0" indent="0" algn="l">
              <a:lnSpc>
                <a:spcPts val="2600"/>
              </a:lnSpc>
              <a:buNone/>
            </a:pPr>
            <a:r>
              <a:rPr lang="en-US" sz="1650" dirty="0">
                <a:solidFill>
                  <a:srgbClr val="15213F"/>
                </a:solidFill>
                <a:latin typeface="Roboto" pitchFamily="34" charset="0"/>
                <a:ea typeface="Roboto" pitchFamily="34" charset="-122"/>
                <a:cs typeface="Roboto" pitchFamily="34" charset="-120"/>
              </a:rPr>
              <a:t>The switch's MAC address table becomes saturated and unable to process new entries, leading to a denial-of-service attack.</a:t>
            </a:r>
            <a:endParaRPr lang="en-US" sz="1650" dirty="0"/>
          </a:p>
        </p:txBody>
      </p:sp>
      <p:pic>
        <p:nvPicPr>
          <p:cNvPr id="13" name="Image 4" descr="preencoded.png"/>
          <p:cNvPicPr>
            <a:picLocks noChangeAspect="1"/>
          </p:cNvPicPr>
          <p:nvPr/>
        </p:nvPicPr>
        <p:blipFill>
          <a:blip r:embed="rId7"/>
          <a:stretch>
            <a:fillRect/>
          </a:stretch>
        </p:blipFill>
        <p:spPr>
          <a:xfrm>
            <a:off x="6221730" y="5668089"/>
            <a:ext cx="1050488" cy="1882973"/>
          </a:xfrm>
          <a:prstGeom prst="rect">
            <a:avLst/>
          </a:prstGeom>
        </p:spPr>
      </p:pic>
      <p:sp>
        <p:nvSpPr>
          <p:cNvPr id="14" name="Text 7"/>
          <p:cNvSpPr/>
          <p:nvPr/>
        </p:nvSpPr>
        <p:spPr>
          <a:xfrm>
            <a:off x="7587258" y="5878116"/>
            <a:ext cx="2626162" cy="328255"/>
          </a:xfrm>
          <a:prstGeom prst="rect">
            <a:avLst/>
          </a:prstGeom>
          <a:noFill/>
          <a:ln/>
        </p:spPr>
        <p:txBody>
          <a:bodyPr wrap="none" lIns="0" tIns="0" rIns="0" bIns="0" rtlCol="0" anchor="t"/>
          <a:lstStyle/>
          <a:p>
            <a:pPr marL="0" indent="0" algn="l">
              <a:lnSpc>
                <a:spcPts val="2550"/>
              </a:lnSpc>
              <a:buNone/>
            </a:pPr>
            <a:r>
              <a:rPr lang="en-US" sz="2050" dirty="0">
                <a:solidFill>
                  <a:srgbClr val="15213F"/>
                </a:solidFill>
                <a:latin typeface="Roboto Slab" pitchFamily="34" charset="0"/>
                <a:ea typeface="Roboto Slab" pitchFamily="34" charset="-122"/>
                <a:cs typeface="Roboto Slab" pitchFamily="34" charset="-120"/>
              </a:rPr>
              <a:t>Network Disrupted</a:t>
            </a:r>
            <a:endParaRPr lang="en-US" sz="2050" dirty="0"/>
          </a:p>
        </p:txBody>
      </p:sp>
      <p:sp>
        <p:nvSpPr>
          <p:cNvPr id="15" name="Text 8"/>
          <p:cNvSpPr/>
          <p:nvPr/>
        </p:nvSpPr>
        <p:spPr>
          <a:xfrm>
            <a:off x="7587258" y="6332339"/>
            <a:ext cx="6307812" cy="1008698"/>
          </a:xfrm>
          <a:prstGeom prst="rect">
            <a:avLst/>
          </a:prstGeom>
          <a:noFill/>
          <a:ln/>
        </p:spPr>
        <p:txBody>
          <a:bodyPr wrap="square" lIns="0" tIns="0" rIns="0" bIns="0" rtlCol="0" anchor="t"/>
          <a:lstStyle/>
          <a:p>
            <a:pPr marL="0" indent="0" algn="l">
              <a:lnSpc>
                <a:spcPts val="2600"/>
              </a:lnSpc>
              <a:buNone/>
            </a:pPr>
            <a:r>
              <a:rPr lang="en-US" sz="1650" dirty="0">
                <a:solidFill>
                  <a:srgbClr val="15213F"/>
                </a:solidFill>
                <a:latin typeface="Roboto" pitchFamily="34" charset="0"/>
                <a:ea typeface="Roboto" pitchFamily="34" charset="-122"/>
                <a:cs typeface="Roboto" pitchFamily="34" charset="-120"/>
              </a:rPr>
              <a:t>The switch cannot properly route traffic, causing network performance to degrade and potentially preventing legitimate users from accessing resources.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365218" y="1790343"/>
            <a:ext cx="5043845" cy="4648795"/>
          </a:xfrm>
          <a:prstGeom prst="rect">
            <a:avLst/>
          </a:prstGeom>
        </p:spPr>
      </p:pic>
      <p:sp>
        <p:nvSpPr>
          <p:cNvPr id="6" name="Text 2"/>
          <p:cNvSpPr/>
          <p:nvPr/>
        </p:nvSpPr>
        <p:spPr>
          <a:xfrm>
            <a:off x="619482" y="1329452"/>
            <a:ext cx="7905036" cy="1106329"/>
          </a:xfrm>
          <a:prstGeom prst="rect">
            <a:avLst/>
          </a:prstGeom>
          <a:noFill/>
          <a:ln/>
        </p:spPr>
        <p:txBody>
          <a:bodyPr wrap="square" lIns="0" tIns="0" rIns="0" bIns="0" rtlCol="0" anchor="t"/>
          <a:lstStyle/>
          <a:p>
            <a:pPr marL="0" indent="0">
              <a:lnSpc>
                <a:spcPts val="4350"/>
              </a:lnSpc>
              <a:buNone/>
            </a:pPr>
            <a:r>
              <a:rPr lang="en-US" sz="3450" dirty="0">
                <a:solidFill>
                  <a:srgbClr val="3257B8"/>
                </a:solidFill>
                <a:latin typeface="Roboto Slab" pitchFamily="34" charset="0"/>
                <a:ea typeface="Roboto Slab" pitchFamily="34" charset="-122"/>
                <a:cs typeface="Roboto Slab" pitchFamily="34" charset="-120"/>
              </a:rPr>
              <a:t>Denial of Service (DoS) Attacks: Types and Defenses</a:t>
            </a:r>
            <a:endParaRPr lang="en-US" sz="3450" dirty="0"/>
          </a:p>
        </p:txBody>
      </p:sp>
      <p:sp>
        <p:nvSpPr>
          <p:cNvPr id="7" name="Shape 3"/>
          <p:cNvSpPr/>
          <p:nvPr/>
        </p:nvSpPr>
        <p:spPr>
          <a:xfrm>
            <a:off x="619482" y="2701171"/>
            <a:ext cx="3864054" cy="1869400"/>
          </a:xfrm>
          <a:prstGeom prst="roundRect">
            <a:avLst>
              <a:gd name="adj" fmla="val 1420"/>
            </a:avLst>
          </a:prstGeom>
          <a:solidFill>
            <a:srgbClr val="E9ECF2"/>
          </a:solidFill>
          <a:ln/>
        </p:spPr>
      </p:sp>
      <p:sp>
        <p:nvSpPr>
          <p:cNvPr id="8" name="Text 4"/>
          <p:cNvSpPr/>
          <p:nvPr/>
        </p:nvSpPr>
        <p:spPr>
          <a:xfrm>
            <a:off x="796409" y="2878098"/>
            <a:ext cx="2212538" cy="276463"/>
          </a:xfrm>
          <a:prstGeom prst="rect">
            <a:avLst/>
          </a:prstGeom>
          <a:noFill/>
          <a:ln/>
        </p:spPr>
        <p:txBody>
          <a:bodyPr wrap="none" lIns="0" tIns="0" rIns="0" bIns="0" rtlCol="0" anchor="t"/>
          <a:lstStyle/>
          <a:p>
            <a:pPr marL="0" indent="0">
              <a:lnSpc>
                <a:spcPts val="2150"/>
              </a:lnSpc>
              <a:buNone/>
            </a:pPr>
            <a:r>
              <a:rPr lang="en-US" sz="1700" dirty="0">
                <a:solidFill>
                  <a:srgbClr val="15213F"/>
                </a:solidFill>
                <a:latin typeface="Roboto Slab" pitchFamily="34" charset="0"/>
                <a:ea typeface="Roboto Slab" pitchFamily="34" charset="-122"/>
                <a:cs typeface="Roboto Slab" pitchFamily="34" charset="-120"/>
              </a:rPr>
              <a:t>SYN Flood</a:t>
            </a:r>
            <a:endParaRPr lang="en-US" sz="1700" dirty="0"/>
          </a:p>
        </p:txBody>
      </p:sp>
      <p:sp>
        <p:nvSpPr>
          <p:cNvPr id="9" name="Text 5"/>
          <p:cNvSpPr/>
          <p:nvPr/>
        </p:nvSpPr>
        <p:spPr>
          <a:xfrm>
            <a:off x="796409" y="3260646"/>
            <a:ext cx="3510201" cy="1132999"/>
          </a:xfrm>
          <a:prstGeom prst="rect">
            <a:avLst/>
          </a:prstGeom>
          <a:noFill/>
          <a:ln/>
        </p:spPr>
        <p:txBody>
          <a:bodyPr wrap="square" lIns="0" tIns="0" rIns="0" bIns="0" rtlCol="0" anchor="t"/>
          <a:lstStyle/>
          <a:p>
            <a:pPr marL="0" indent="0">
              <a:lnSpc>
                <a:spcPts val="2200"/>
              </a:lnSpc>
              <a:buNone/>
            </a:pPr>
            <a:r>
              <a:rPr lang="en-US" sz="1350" dirty="0">
                <a:solidFill>
                  <a:srgbClr val="15213F"/>
                </a:solidFill>
                <a:latin typeface="Roboto" pitchFamily="34" charset="0"/>
                <a:ea typeface="Roboto" pitchFamily="34" charset="-122"/>
                <a:cs typeface="Roboto" pitchFamily="34" charset="-120"/>
              </a:rPr>
              <a:t>Attackers send a large number of SYN packets, overwhelming the target server's resources and preventing legitimate connections from being established.</a:t>
            </a:r>
            <a:endParaRPr lang="en-US" sz="1350" dirty="0"/>
          </a:p>
        </p:txBody>
      </p:sp>
      <p:sp>
        <p:nvSpPr>
          <p:cNvPr id="10" name="Shape 6"/>
          <p:cNvSpPr/>
          <p:nvPr/>
        </p:nvSpPr>
        <p:spPr>
          <a:xfrm>
            <a:off x="4660463" y="2701171"/>
            <a:ext cx="3864054" cy="1869400"/>
          </a:xfrm>
          <a:prstGeom prst="roundRect">
            <a:avLst>
              <a:gd name="adj" fmla="val 1420"/>
            </a:avLst>
          </a:prstGeom>
          <a:solidFill>
            <a:srgbClr val="E9ECF2"/>
          </a:solidFill>
          <a:ln/>
        </p:spPr>
      </p:sp>
      <p:sp>
        <p:nvSpPr>
          <p:cNvPr id="11" name="Text 7"/>
          <p:cNvSpPr/>
          <p:nvPr/>
        </p:nvSpPr>
        <p:spPr>
          <a:xfrm>
            <a:off x="4837390" y="2878098"/>
            <a:ext cx="2212538" cy="276463"/>
          </a:xfrm>
          <a:prstGeom prst="rect">
            <a:avLst/>
          </a:prstGeom>
          <a:noFill/>
          <a:ln/>
        </p:spPr>
        <p:txBody>
          <a:bodyPr wrap="none" lIns="0" tIns="0" rIns="0" bIns="0" rtlCol="0" anchor="t"/>
          <a:lstStyle/>
          <a:p>
            <a:pPr marL="0" indent="0">
              <a:lnSpc>
                <a:spcPts val="2150"/>
              </a:lnSpc>
              <a:buNone/>
            </a:pPr>
            <a:r>
              <a:rPr lang="en-US" sz="1700" dirty="0">
                <a:solidFill>
                  <a:srgbClr val="15213F"/>
                </a:solidFill>
                <a:latin typeface="Roboto Slab" pitchFamily="34" charset="0"/>
                <a:ea typeface="Roboto Slab" pitchFamily="34" charset="-122"/>
                <a:cs typeface="Roboto Slab" pitchFamily="34" charset="-120"/>
              </a:rPr>
              <a:t>Ping of Death</a:t>
            </a:r>
            <a:endParaRPr lang="en-US" sz="1700" dirty="0"/>
          </a:p>
        </p:txBody>
      </p:sp>
      <p:sp>
        <p:nvSpPr>
          <p:cNvPr id="12" name="Text 8"/>
          <p:cNvSpPr/>
          <p:nvPr/>
        </p:nvSpPr>
        <p:spPr>
          <a:xfrm>
            <a:off x="4837390" y="3260646"/>
            <a:ext cx="3510201" cy="1132999"/>
          </a:xfrm>
          <a:prstGeom prst="rect">
            <a:avLst/>
          </a:prstGeom>
          <a:noFill/>
          <a:ln/>
        </p:spPr>
        <p:txBody>
          <a:bodyPr wrap="square" lIns="0" tIns="0" rIns="0" bIns="0" rtlCol="0" anchor="t"/>
          <a:lstStyle/>
          <a:p>
            <a:pPr marL="0" indent="0">
              <a:lnSpc>
                <a:spcPts val="2200"/>
              </a:lnSpc>
              <a:buNone/>
            </a:pPr>
            <a:r>
              <a:rPr lang="en-US" sz="1350" dirty="0">
                <a:solidFill>
                  <a:srgbClr val="15213F"/>
                </a:solidFill>
                <a:latin typeface="Roboto" pitchFamily="34" charset="0"/>
                <a:ea typeface="Roboto" pitchFamily="34" charset="-122"/>
                <a:cs typeface="Roboto" pitchFamily="34" charset="-120"/>
              </a:rPr>
              <a:t>Attackers send oversized ICMP packets, causing the target system to crash or freeze, effectively denying service to legitimate users.</a:t>
            </a:r>
            <a:endParaRPr lang="en-US" sz="1350" dirty="0"/>
          </a:p>
        </p:txBody>
      </p:sp>
      <p:sp>
        <p:nvSpPr>
          <p:cNvPr id="13" name="Shape 9"/>
          <p:cNvSpPr/>
          <p:nvPr/>
        </p:nvSpPr>
        <p:spPr>
          <a:xfrm>
            <a:off x="619482" y="4747498"/>
            <a:ext cx="3864054" cy="2152650"/>
          </a:xfrm>
          <a:prstGeom prst="roundRect">
            <a:avLst>
              <a:gd name="adj" fmla="val 1233"/>
            </a:avLst>
          </a:prstGeom>
          <a:solidFill>
            <a:srgbClr val="E9ECF2"/>
          </a:solidFill>
          <a:ln/>
        </p:spPr>
      </p:sp>
      <p:sp>
        <p:nvSpPr>
          <p:cNvPr id="14" name="Text 10"/>
          <p:cNvSpPr/>
          <p:nvPr/>
        </p:nvSpPr>
        <p:spPr>
          <a:xfrm>
            <a:off x="796409" y="4924425"/>
            <a:ext cx="2212538" cy="276463"/>
          </a:xfrm>
          <a:prstGeom prst="rect">
            <a:avLst/>
          </a:prstGeom>
          <a:noFill/>
          <a:ln/>
        </p:spPr>
        <p:txBody>
          <a:bodyPr wrap="none" lIns="0" tIns="0" rIns="0" bIns="0" rtlCol="0" anchor="t"/>
          <a:lstStyle/>
          <a:p>
            <a:pPr marL="0" indent="0">
              <a:lnSpc>
                <a:spcPts val="2150"/>
              </a:lnSpc>
              <a:buNone/>
            </a:pPr>
            <a:r>
              <a:rPr lang="en-US" sz="1700" dirty="0">
                <a:solidFill>
                  <a:srgbClr val="15213F"/>
                </a:solidFill>
                <a:latin typeface="Roboto Slab" pitchFamily="34" charset="0"/>
                <a:ea typeface="Roboto Slab" pitchFamily="34" charset="-122"/>
                <a:cs typeface="Roboto Slab" pitchFamily="34" charset="-120"/>
              </a:rPr>
              <a:t>Smurf Attack</a:t>
            </a:r>
            <a:endParaRPr lang="en-US" sz="1700" dirty="0"/>
          </a:p>
        </p:txBody>
      </p:sp>
      <p:sp>
        <p:nvSpPr>
          <p:cNvPr id="15" name="Text 11"/>
          <p:cNvSpPr/>
          <p:nvPr/>
        </p:nvSpPr>
        <p:spPr>
          <a:xfrm>
            <a:off x="796409" y="5306973"/>
            <a:ext cx="3510201" cy="1132999"/>
          </a:xfrm>
          <a:prstGeom prst="rect">
            <a:avLst/>
          </a:prstGeom>
          <a:noFill/>
          <a:ln/>
        </p:spPr>
        <p:txBody>
          <a:bodyPr wrap="square" lIns="0" tIns="0" rIns="0" bIns="0" rtlCol="0" anchor="t"/>
          <a:lstStyle/>
          <a:p>
            <a:pPr marL="0" indent="0">
              <a:lnSpc>
                <a:spcPts val="2200"/>
              </a:lnSpc>
              <a:buNone/>
            </a:pPr>
            <a:r>
              <a:rPr lang="en-US" sz="1350" dirty="0">
                <a:solidFill>
                  <a:srgbClr val="15213F"/>
                </a:solidFill>
                <a:latin typeface="Roboto" pitchFamily="34" charset="0"/>
                <a:ea typeface="Roboto" pitchFamily="34" charset="-122"/>
                <a:cs typeface="Roboto" pitchFamily="34" charset="-120"/>
              </a:rPr>
              <a:t>Attackers send ICMP echo requests to a network broadcast address, flooding the target system with responses, causing it to become overloaded.</a:t>
            </a:r>
            <a:endParaRPr lang="en-US" sz="1350" dirty="0"/>
          </a:p>
        </p:txBody>
      </p:sp>
      <p:sp>
        <p:nvSpPr>
          <p:cNvPr id="16" name="Shape 12"/>
          <p:cNvSpPr/>
          <p:nvPr/>
        </p:nvSpPr>
        <p:spPr>
          <a:xfrm>
            <a:off x="4660463" y="4747498"/>
            <a:ext cx="3864054" cy="2152650"/>
          </a:xfrm>
          <a:prstGeom prst="roundRect">
            <a:avLst>
              <a:gd name="adj" fmla="val 1233"/>
            </a:avLst>
          </a:prstGeom>
          <a:solidFill>
            <a:srgbClr val="E9ECF2"/>
          </a:solidFill>
          <a:ln/>
        </p:spPr>
      </p:sp>
      <p:sp>
        <p:nvSpPr>
          <p:cNvPr id="17" name="Text 13"/>
          <p:cNvSpPr/>
          <p:nvPr/>
        </p:nvSpPr>
        <p:spPr>
          <a:xfrm>
            <a:off x="4837390" y="4924425"/>
            <a:ext cx="2212538" cy="276463"/>
          </a:xfrm>
          <a:prstGeom prst="rect">
            <a:avLst/>
          </a:prstGeom>
          <a:noFill/>
          <a:ln/>
        </p:spPr>
        <p:txBody>
          <a:bodyPr wrap="none" lIns="0" tIns="0" rIns="0" bIns="0" rtlCol="0" anchor="t"/>
          <a:lstStyle/>
          <a:p>
            <a:pPr marL="0" indent="0">
              <a:lnSpc>
                <a:spcPts val="2150"/>
              </a:lnSpc>
              <a:buNone/>
            </a:pPr>
            <a:r>
              <a:rPr lang="en-US" sz="1700" dirty="0">
                <a:solidFill>
                  <a:srgbClr val="15213F"/>
                </a:solidFill>
                <a:latin typeface="Roboto Slab" pitchFamily="34" charset="0"/>
                <a:ea typeface="Roboto Slab" pitchFamily="34" charset="-122"/>
                <a:cs typeface="Roboto Slab" pitchFamily="34" charset="-120"/>
              </a:rPr>
              <a:t>Defenses</a:t>
            </a:r>
            <a:endParaRPr lang="en-US" sz="1700" dirty="0"/>
          </a:p>
        </p:txBody>
      </p:sp>
      <p:sp>
        <p:nvSpPr>
          <p:cNvPr id="18" name="Text 14"/>
          <p:cNvSpPr/>
          <p:nvPr/>
        </p:nvSpPr>
        <p:spPr>
          <a:xfrm>
            <a:off x="4837390" y="5306973"/>
            <a:ext cx="3510201" cy="1416248"/>
          </a:xfrm>
          <a:prstGeom prst="rect">
            <a:avLst/>
          </a:prstGeom>
          <a:noFill/>
          <a:ln/>
        </p:spPr>
        <p:txBody>
          <a:bodyPr wrap="square" lIns="0" tIns="0" rIns="0" bIns="0" rtlCol="0" anchor="t"/>
          <a:lstStyle/>
          <a:p>
            <a:pPr marL="0" indent="0">
              <a:lnSpc>
                <a:spcPts val="2200"/>
              </a:lnSpc>
              <a:buNone/>
            </a:pPr>
            <a:r>
              <a:rPr lang="en-US" sz="1350" dirty="0">
                <a:solidFill>
                  <a:srgbClr val="15213F"/>
                </a:solidFill>
                <a:latin typeface="Roboto" pitchFamily="34" charset="0"/>
                <a:ea typeface="Roboto" pitchFamily="34" charset="-122"/>
                <a:cs typeface="Roboto" pitchFamily="34" charset="-120"/>
              </a:rPr>
              <a:t>Use firewalls to block known attack traffic, implement rate limiting to prevent excessive traffic from reaching the server, and employ intrusion detection systems to identify and block malicious activity.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356646" y="1689735"/>
            <a:ext cx="5060990" cy="4850130"/>
          </a:xfrm>
          <a:prstGeom prst="rect">
            <a:avLst/>
          </a:prstGeom>
        </p:spPr>
      </p:pic>
      <p:sp>
        <p:nvSpPr>
          <p:cNvPr id="6" name="Text 2"/>
          <p:cNvSpPr/>
          <p:nvPr/>
        </p:nvSpPr>
        <p:spPr>
          <a:xfrm>
            <a:off x="595313" y="1141452"/>
            <a:ext cx="7953375" cy="1594842"/>
          </a:xfrm>
          <a:prstGeom prst="rect">
            <a:avLst/>
          </a:prstGeom>
          <a:noFill/>
          <a:ln/>
        </p:spPr>
        <p:txBody>
          <a:bodyPr wrap="square" lIns="0" tIns="0" rIns="0" bIns="0" rtlCol="0" anchor="t"/>
          <a:lstStyle/>
          <a:p>
            <a:pPr marL="0" indent="0">
              <a:lnSpc>
                <a:spcPts val="4150"/>
              </a:lnSpc>
              <a:buNone/>
            </a:pPr>
            <a:r>
              <a:rPr lang="en-US" sz="3300" dirty="0">
                <a:solidFill>
                  <a:srgbClr val="3257B8"/>
                </a:solidFill>
                <a:latin typeface="Roboto Slab" pitchFamily="34" charset="0"/>
                <a:ea typeface="Roboto Slab" pitchFamily="34" charset="-122"/>
                <a:cs typeface="Roboto Slab" pitchFamily="34" charset="-120"/>
              </a:rPr>
              <a:t>Distributed Denial of Service (DDoS) Attacks: Strategies and Countermeasures</a:t>
            </a:r>
            <a:endParaRPr lang="en-US" sz="3300" dirty="0"/>
          </a:p>
        </p:txBody>
      </p:sp>
      <p:sp>
        <p:nvSpPr>
          <p:cNvPr id="7" name="Shape 3"/>
          <p:cNvSpPr/>
          <p:nvPr/>
        </p:nvSpPr>
        <p:spPr>
          <a:xfrm>
            <a:off x="839033" y="2991445"/>
            <a:ext cx="22860" cy="4096583"/>
          </a:xfrm>
          <a:prstGeom prst="roundRect">
            <a:avLst>
              <a:gd name="adj" fmla="val 111628"/>
            </a:avLst>
          </a:prstGeom>
          <a:solidFill>
            <a:srgbClr val="CFD2D8"/>
          </a:solidFill>
          <a:ln/>
        </p:spPr>
      </p:sp>
      <p:sp>
        <p:nvSpPr>
          <p:cNvPr id="8" name="Shape 4"/>
          <p:cNvSpPr/>
          <p:nvPr/>
        </p:nvSpPr>
        <p:spPr>
          <a:xfrm>
            <a:off x="1018937" y="3362682"/>
            <a:ext cx="595313" cy="22860"/>
          </a:xfrm>
          <a:prstGeom prst="roundRect">
            <a:avLst>
              <a:gd name="adj" fmla="val 111628"/>
            </a:avLst>
          </a:prstGeom>
          <a:solidFill>
            <a:srgbClr val="CFD2D8"/>
          </a:solidFill>
          <a:ln/>
        </p:spPr>
      </p:sp>
      <p:sp>
        <p:nvSpPr>
          <p:cNvPr id="9" name="Shape 5"/>
          <p:cNvSpPr/>
          <p:nvPr/>
        </p:nvSpPr>
        <p:spPr>
          <a:xfrm>
            <a:off x="659130" y="3182779"/>
            <a:ext cx="382667" cy="382667"/>
          </a:xfrm>
          <a:prstGeom prst="roundRect">
            <a:avLst>
              <a:gd name="adj" fmla="val 6669"/>
            </a:avLst>
          </a:prstGeom>
          <a:solidFill>
            <a:srgbClr val="E9ECF2"/>
          </a:solidFill>
          <a:ln/>
        </p:spPr>
      </p:sp>
      <p:sp>
        <p:nvSpPr>
          <p:cNvPr id="10" name="Text 6"/>
          <p:cNvSpPr/>
          <p:nvPr/>
        </p:nvSpPr>
        <p:spPr>
          <a:xfrm>
            <a:off x="797838" y="3246477"/>
            <a:ext cx="105132" cy="255151"/>
          </a:xfrm>
          <a:prstGeom prst="rect">
            <a:avLst/>
          </a:prstGeom>
          <a:noFill/>
          <a:ln/>
        </p:spPr>
        <p:txBody>
          <a:bodyPr wrap="none" lIns="0" tIns="0" rIns="0" bIns="0" rtlCol="0" anchor="t"/>
          <a:lstStyle/>
          <a:p>
            <a:pPr marL="0" indent="0" algn="ctr">
              <a:lnSpc>
                <a:spcPts val="2000"/>
              </a:lnSpc>
              <a:buNone/>
            </a:pPr>
            <a:r>
              <a:rPr lang="en-US" sz="2000" dirty="0">
                <a:solidFill>
                  <a:srgbClr val="15213F"/>
                </a:solidFill>
                <a:latin typeface="Roboto Slab" pitchFamily="34" charset="0"/>
                <a:ea typeface="Roboto Slab" pitchFamily="34" charset="-122"/>
                <a:cs typeface="Roboto Slab" pitchFamily="34" charset="-120"/>
              </a:rPr>
              <a:t>1</a:t>
            </a:r>
            <a:endParaRPr lang="en-US" sz="2000" dirty="0"/>
          </a:p>
        </p:txBody>
      </p:sp>
      <p:sp>
        <p:nvSpPr>
          <p:cNvPr id="11" name="Text 7"/>
          <p:cNvSpPr/>
          <p:nvPr/>
        </p:nvSpPr>
        <p:spPr>
          <a:xfrm>
            <a:off x="1786057" y="3161467"/>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Botnet Creation</a:t>
            </a:r>
            <a:endParaRPr lang="en-US" sz="1650" dirty="0"/>
          </a:p>
        </p:txBody>
      </p:sp>
      <p:sp>
        <p:nvSpPr>
          <p:cNvPr id="12" name="Text 8"/>
          <p:cNvSpPr/>
          <p:nvPr/>
        </p:nvSpPr>
        <p:spPr>
          <a:xfrm>
            <a:off x="1786057" y="3529251"/>
            <a:ext cx="6762631" cy="544354"/>
          </a:xfrm>
          <a:prstGeom prst="rect">
            <a:avLst/>
          </a:prstGeom>
          <a:noFill/>
          <a:ln/>
        </p:spPr>
        <p:txBody>
          <a:bodyPr wrap="squar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Attackers compromise a large number of computers, known as bots, and create a botnet, which they can control remotely.</a:t>
            </a:r>
            <a:endParaRPr lang="en-US" sz="1300" dirty="0"/>
          </a:p>
        </p:txBody>
      </p:sp>
      <p:sp>
        <p:nvSpPr>
          <p:cNvPr id="13" name="Shape 9"/>
          <p:cNvSpPr/>
          <p:nvPr/>
        </p:nvSpPr>
        <p:spPr>
          <a:xfrm>
            <a:off x="1018937" y="4784884"/>
            <a:ext cx="595313" cy="22860"/>
          </a:xfrm>
          <a:prstGeom prst="roundRect">
            <a:avLst>
              <a:gd name="adj" fmla="val 111628"/>
            </a:avLst>
          </a:prstGeom>
          <a:solidFill>
            <a:srgbClr val="CFD2D8"/>
          </a:solidFill>
          <a:ln/>
        </p:spPr>
      </p:sp>
      <p:sp>
        <p:nvSpPr>
          <p:cNvPr id="14" name="Shape 10"/>
          <p:cNvSpPr/>
          <p:nvPr/>
        </p:nvSpPr>
        <p:spPr>
          <a:xfrm>
            <a:off x="659130" y="4604980"/>
            <a:ext cx="382667" cy="382667"/>
          </a:xfrm>
          <a:prstGeom prst="roundRect">
            <a:avLst>
              <a:gd name="adj" fmla="val 6669"/>
            </a:avLst>
          </a:prstGeom>
          <a:solidFill>
            <a:srgbClr val="E9ECF2"/>
          </a:solidFill>
          <a:ln/>
        </p:spPr>
      </p:sp>
      <p:sp>
        <p:nvSpPr>
          <p:cNvPr id="15" name="Text 11"/>
          <p:cNvSpPr/>
          <p:nvPr/>
        </p:nvSpPr>
        <p:spPr>
          <a:xfrm>
            <a:off x="779978" y="4668679"/>
            <a:ext cx="140851" cy="255151"/>
          </a:xfrm>
          <a:prstGeom prst="rect">
            <a:avLst/>
          </a:prstGeom>
          <a:noFill/>
          <a:ln/>
        </p:spPr>
        <p:txBody>
          <a:bodyPr wrap="none" lIns="0" tIns="0" rIns="0" bIns="0" rtlCol="0" anchor="t"/>
          <a:lstStyle/>
          <a:p>
            <a:pPr marL="0" indent="0" algn="ctr">
              <a:lnSpc>
                <a:spcPts val="2000"/>
              </a:lnSpc>
              <a:buNone/>
            </a:pPr>
            <a:r>
              <a:rPr lang="en-US" sz="2000" dirty="0">
                <a:solidFill>
                  <a:srgbClr val="15213F"/>
                </a:solidFill>
                <a:latin typeface="Roboto Slab" pitchFamily="34" charset="0"/>
                <a:ea typeface="Roboto Slab" pitchFamily="34" charset="-122"/>
                <a:cs typeface="Roboto Slab" pitchFamily="34" charset="-120"/>
              </a:rPr>
              <a:t>2</a:t>
            </a:r>
            <a:endParaRPr lang="en-US" sz="2000" dirty="0"/>
          </a:p>
        </p:txBody>
      </p:sp>
      <p:sp>
        <p:nvSpPr>
          <p:cNvPr id="16" name="Text 12"/>
          <p:cNvSpPr/>
          <p:nvPr/>
        </p:nvSpPr>
        <p:spPr>
          <a:xfrm>
            <a:off x="1786057" y="4583668"/>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Attack Launch</a:t>
            </a:r>
            <a:endParaRPr lang="en-US" sz="1650" dirty="0"/>
          </a:p>
        </p:txBody>
      </p:sp>
      <p:sp>
        <p:nvSpPr>
          <p:cNvPr id="17" name="Text 13"/>
          <p:cNvSpPr/>
          <p:nvPr/>
        </p:nvSpPr>
        <p:spPr>
          <a:xfrm>
            <a:off x="1786057" y="4951452"/>
            <a:ext cx="6762631" cy="544354"/>
          </a:xfrm>
          <a:prstGeom prst="rect">
            <a:avLst/>
          </a:prstGeom>
          <a:noFill/>
          <a:ln/>
        </p:spPr>
        <p:txBody>
          <a:bodyPr wrap="squar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The attacker sends commands to the botnet, directing it to launch a coordinated attack against the target server, overwhelming it with traffic.</a:t>
            </a:r>
            <a:endParaRPr lang="en-US" sz="1300" dirty="0"/>
          </a:p>
        </p:txBody>
      </p:sp>
      <p:sp>
        <p:nvSpPr>
          <p:cNvPr id="18" name="Shape 14"/>
          <p:cNvSpPr/>
          <p:nvPr/>
        </p:nvSpPr>
        <p:spPr>
          <a:xfrm>
            <a:off x="1018937" y="6207085"/>
            <a:ext cx="595313" cy="22860"/>
          </a:xfrm>
          <a:prstGeom prst="roundRect">
            <a:avLst>
              <a:gd name="adj" fmla="val 111628"/>
            </a:avLst>
          </a:prstGeom>
          <a:solidFill>
            <a:srgbClr val="CFD2D8"/>
          </a:solidFill>
          <a:ln/>
        </p:spPr>
      </p:sp>
      <p:sp>
        <p:nvSpPr>
          <p:cNvPr id="19" name="Shape 15"/>
          <p:cNvSpPr/>
          <p:nvPr/>
        </p:nvSpPr>
        <p:spPr>
          <a:xfrm>
            <a:off x="659130" y="6027182"/>
            <a:ext cx="382667" cy="382667"/>
          </a:xfrm>
          <a:prstGeom prst="roundRect">
            <a:avLst>
              <a:gd name="adj" fmla="val 6669"/>
            </a:avLst>
          </a:prstGeom>
          <a:solidFill>
            <a:srgbClr val="E9ECF2"/>
          </a:solidFill>
          <a:ln/>
        </p:spPr>
      </p:sp>
      <p:sp>
        <p:nvSpPr>
          <p:cNvPr id="20" name="Text 16"/>
          <p:cNvSpPr/>
          <p:nvPr/>
        </p:nvSpPr>
        <p:spPr>
          <a:xfrm>
            <a:off x="781526" y="6090880"/>
            <a:ext cx="137755" cy="255151"/>
          </a:xfrm>
          <a:prstGeom prst="rect">
            <a:avLst/>
          </a:prstGeom>
          <a:noFill/>
          <a:ln/>
        </p:spPr>
        <p:txBody>
          <a:bodyPr wrap="none" lIns="0" tIns="0" rIns="0" bIns="0" rtlCol="0" anchor="t"/>
          <a:lstStyle/>
          <a:p>
            <a:pPr marL="0" indent="0" algn="ctr">
              <a:lnSpc>
                <a:spcPts val="2000"/>
              </a:lnSpc>
              <a:buNone/>
            </a:pPr>
            <a:r>
              <a:rPr lang="en-US" sz="2000" dirty="0">
                <a:solidFill>
                  <a:srgbClr val="15213F"/>
                </a:solidFill>
                <a:latin typeface="Roboto Slab" pitchFamily="34" charset="0"/>
                <a:ea typeface="Roboto Slab" pitchFamily="34" charset="-122"/>
                <a:cs typeface="Roboto Slab" pitchFamily="34" charset="-120"/>
              </a:rPr>
              <a:t>3</a:t>
            </a:r>
            <a:endParaRPr lang="en-US" sz="2000" dirty="0"/>
          </a:p>
        </p:txBody>
      </p:sp>
      <p:sp>
        <p:nvSpPr>
          <p:cNvPr id="21" name="Text 17"/>
          <p:cNvSpPr/>
          <p:nvPr/>
        </p:nvSpPr>
        <p:spPr>
          <a:xfrm>
            <a:off x="1786057" y="6005870"/>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5213F"/>
                </a:solidFill>
                <a:latin typeface="Roboto Slab" pitchFamily="34" charset="0"/>
                <a:ea typeface="Roboto Slab" pitchFamily="34" charset="-122"/>
                <a:cs typeface="Roboto Slab" pitchFamily="34" charset="-120"/>
              </a:rPr>
              <a:t>Target Overwhelmed</a:t>
            </a:r>
            <a:endParaRPr lang="en-US" sz="1650" dirty="0"/>
          </a:p>
        </p:txBody>
      </p:sp>
      <p:sp>
        <p:nvSpPr>
          <p:cNvPr id="22" name="Text 18"/>
          <p:cNvSpPr/>
          <p:nvPr/>
        </p:nvSpPr>
        <p:spPr>
          <a:xfrm>
            <a:off x="1786057" y="6373654"/>
            <a:ext cx="6762631" cy="544354"/>
          </a:xfrm>
          <a:prstGeom prst="rect">
            <a:avLst/>
          </a:prstGeom>
          <a:noFill/>
          <a:ln/>
        </p:spPr>
        <p:txBody>
          <a:bodyPr wrap="squar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The target server becomes unable to handle the massive volume of traffic, resulting in a denial of service for legitimate users.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377839" y="2441853"/>
            <a:ext cx="5018603" cy="3345775"/>
          </a:xfrm>
          <a:prstGeom prst="rect">
            <a:avLst/>
          </a:prstGeom>
        </p:spPr>
      </p:pic>
      <p:sp>
        <p:nvSpPr>
          <p:cNvPr id="6" name="Text 2"/>
          <p:cNvSpPr/>
          <p:nvPr/>
        </p:nvSpPr>
        <p:spPr>
          <a:xfrm>
            <a:off x="654963" y="1105733"/>
            <a:ext cx="7834074" cy="1169670"/>
          </a:xfrm>
          <a:prstGeom prst="rect">
            <a:avLst/>
          </a:prstGeom>
          <a:noFill/>
          <a:ln/>
        </p:spPr>
        <p:txBody>
          <a:bodyPr wrap="square" lIns="0" tIns="0" rIns="0" bIns="0" rtlCol="0" anchor="t"/>
          <a:lstStyle/>
          <a:p>
            <a:pPr marL="0" indent="0">
              <a:lnSpc>
                <a:spcPts val="4600"/>
              </a:lnSpc>
              <a:buNone/>
            </a:pPr>
            <a:r>
              <a:rPr lang="en-US" sz="3650" dirty="0">
                <a:solidFill>
                  <a:srgbClr val="3257B8"/>
                </a:solidFill>
                <a:latin typeface="Roboto Slab" pitchFamily="34" charset="0"/>
                <a:ea typeface="Roboto Slab" pitchFamily="34" charset="-122"/>
                <a:cs typeface="Roboto Slab" pitchFamily="34" charset="-120"/>
              </a:rPr>
              <a:t>Social Engineering Tactics in Cyber Attacks</a:t>
            </a:r>
            <a:endParaRPr lang="en-US" sz="3650" dirty="0"/>
          </a:p>
        </p:txBody>
      </p:sp>
      <p:sp>
        <p:nvSpPr>
          <p:cNvPr id="7" name="Shape 3"/>
          <p:cNvSpPr/>
          <p:nvPr/>
        </p:nvSpPr>
        <p:spPr>
          <a:xfrm>
            <a:off x="654963" y="2556034"/>
            <a:ext cx="7834074" cy="4567714"/>
          </a:xfrm>
          <a:prstGeom prst="roundRect">
            <a:avLst>
              <a:gd name="adj" fmla="val 615"/>
            </a:avLst>
          </a:prstGeom>
          <a:noFill/>
          <a:ln w="7620">
            <a:solidFill>
              <a:srgbClr val="000000">
                <a:alpha val="8000"/>
              </a:srgbClr>
            </a:solidFill>
            <a:prstDash val="solid"/>
          </a:ln>
        </p:spPr>
      </p:sp>
      <p:sp>
        <p:nvSpPr>
          <p:cNvPr id="8" name="Shape 4"/>
          <p:cNvSpPr/>
          <p:nvPr/>
        </p:nvSpPr>
        <p:spPr>
          <a:xfrm>
            <a:off x="662583" y="2563654"/>
            <a:ext cx="7818834" cy="1138118"/>
          </a:xfrm>
          <a:prstGeom prst="rect">
            <a:avLst/>
          </a:prstGeom>
          <a:solidFill>
            <a:srgbClr val="FFFFFF">
              <a:alpha val="4000"/>
            </a:srgbClr>
          </a:solidFill>
          <a:ln/>
        </p:spPr>
      </p:sp>
      <p:sp>
        <p:nvSpPr>
          <p:cNvPr id="9" name="Text 5"/>
          <p:cNvSpPr/>
          <p:nvPr/>
        </p:nvSpPr>
        <p:spPr>
          <a:xfrm>
            <a:off x="849630" y="2683550"/>
            <a:ext cx="3531513" cy="299442"/>
          </a:xfrm>
          <a:prstGeom prst="rect">
            <a:avLst/>
          </a:prstGeom>
          <a:noFill/>
          <a:ln/>
        </p:spPr>
        <p:txBody>
          <a:bodyPr wrap="non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Baiting</a:t>
            </a:r>
            <a:endParaRPr lang="en-US" sz="1450" dirty="0"/>
          </a:p>
        </p:txBody>
      </p:sp>
      <p:sp>
        <p:nvSpPr>
          <p:cNvPr id="10" name="Text 6"/>
          <p:cNvSpPr/>
          <p:nvPr/>
        </p:nvSpPr>
        <p:spPr>
          <a:xfrm>
            <a:off x="4762857" y="2683550"/>
            <a:ext cx="3531513" cy="898327"/>
          </a:xfrm>
          <a:prstGeom prst="rect">
            <a:avLst/>
          </a:prstGeom>
          <a:noFill/>
          <a:ln/>
        </p:spPr>
        <p:txBody>
          <a:bodyPr wrap="squar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Offering enticing rewards or incentives to trick victims into clicking malicious links or downloading malware.</a:t>
            </a:r>
            <a:endParaRPr lang="en-US" sz="1450" dirty="0"/>
          </a:p>
        </p:txBody>
      </p:sp>
      <p:sp>
        <p:nvSpPr>
          <p:cNvPr id="11" name="Shape 7"/>
          <p:cNvSpPr/>
          <p:nvPr/>
        </p:nvSpPr>
        <p:spPr>
          <a:xfrm>
            <a:off x="662583" y="3701772"/>
            <a:ext cx="7818834" cy="838676"/>
          </a:xfrm>
          <a:prstGeom prst="rect">
            <a:avLst/>
          </a:prstGeom>
          <a:solidFill>
            <a:srgbClr val="000000">
              <a:alpha val="4000"/>
            </a:srgbClr>
          </a:solidFill>
          <a:ln/>
        </p:spPr>
      </p:sp>
      <p:sp>
        <p:nvSpPr>
          <p:cNvPr id="12" name="Text 8"/>
          <p:cNvSpPr/>
          <p:nvPr/>
        </p:nvSpPr>
        <p:spPr>
          <a:xfrm>
            <a:off x="849630" y="3821668"/>
            <a:ext cx="3531513" cy="299442"/>
          </a:xfrm>
          <a:prstGeom prst="rect">
            <a:avLst/>
          </a:prstGeom>
          <a:noFill/>
          <a:ln/>
        </p:spPr>
        <p:txBody>
          <a:bodyPr wrap="non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Pretexting</a:t>
            </a:r>
            <a:endParaRPr lang="en-US" sz="1450" dirty="0"/>
          </a:p>
        </p:txBody>
      </p:sp>
      <p:sp>
        <p:nvSpPr>
          <p:cNvPr id="13" name="Text 9"/>
          <p:cNvSpPr/>
          <p:nvPr/>
        </p:nvSpPr>
        <p:spPr>
          <a:xfrm>
            <a:off x="4762857" y="3821668"/>
            <a:ext cx="3531513" cy="598884"/>
          </a:xfrm>
          <a:prstGeom prst="rect">
            <a:avLst/>
          </a:prstGeom>
          <a:noFill/>
          <a:ln/>
        </p:spPr>
        <p:txBody>
          <a:bodyPr wrap="squar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Creating a believable story or scenario to gain access to sensitive information.</a:t>
            </a:r>
            <a:endParaRPr lang="en-US" sz="1450" dirty="0"/>
          </a:p>
        </p:txBody>
      </p:sp>
      <p:sp>
        <p:nvSpPr>
          <p:cNvPr id="14" name="Shape 10"/>
          <p:cNvSpPr/>
          <p:nvPr/>
        </p:nvSpPr>
        <p:spPr>
          <a:xfrm>
            <a:off x="662583" y="4540448"/>
            <a:ext cx="7818834" cy="1138118"/>
          </a:xfrm>
          <a:prstGeom prst="rect">
            <a:avLst/>
          </a:prstGeom>
          <a:solidFill>
            <a:srgbClr val="FFFFFF">
              <a:alpha val="4000"/>
            </a:srgbClr>
          </a:solidFill>
          <a:ln/>
        </p:spPr>
      </p:sp>
      <p:sp>
        <p:nvSpPr>
          <p:cNvPr id="15" name="Text 11"/>
          <p:cNvSpPr/>
          <p:nvPr/>
        </p:nvSpPr>
        <p:spPr>
          <a:xfrm>
            <a:off x="849630" y="4660344"/>
            <a:ext cx="3531513" cy="299442"/>
          </a:xfrm>
          <a:prstGeom prst="rect">
            <a:avLst/>
          </a:prstGeom>
          <a:noFill/>
          <a:ln/>
        </p:spPr>
        <p:txBody>
          <a:bodyPr wrap="non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Scare Tactics</a:t>
            </a:r>
            <a:endParaRPr lang="en-US" sz="1450" dirty="0"/>
          </a:p>
        </p:txBody>
      </p:sp>
      <p:sp>
        <p:nvSpPr>
          <p:cNvPr id="16" name="Text 12"/>
          <p:cNvSpPr/>
          <p:nvPr/>
        </p:nvSpPr>
        <p:spPr>
          <a:xfrm>
            <a:off x="4762857" y="4660344"/>
            <a:ext cx="3531513" cy="898327"/>
          </a:xfrm>
          <a:prstGeom prst="rect">
            <a:avLst/>
          </a:prstGeom>
          <a:noFill/>
          <a:ln/>
        </p:spPr>
        <p:txBody>
          <a:bodyPr wrap="squar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Using fear or urgency to manipulate victims into revealing personal information or making rash decisions.</a:t>
            </a:r>
            <a:endParaRPr lang="en-US" sz="1450" dirty="0"/>
          </a:p>
        </p:txBody>
      </p:sp>
      <p:sp>
        <p:nvSpPr>
          <p:cNvPr id="17" name="Shape 13"/>
          <p:cNvSpPr/>
          <p:nvPr/>
        </p:nvSpPr>
        <p:spPr>
          <a:xfrm>
            <a:off x="662583" y="5678567"/>
            <a:ext cx="7818834" cy="1437561"/>
          </a:xfrm>
          <a:prstGeom prst="rect">
            <a:avLst/>
          </a:prstGeom>
          <a:solidFill>
            <a:srgbClr val="000000">
              <a:alpha val="4000"/>
            </a:srgbClr>
          </a:solidFill>
          <a:ln/>
        </p:spPr>
      </p:sp>
      <p:sp>
        <p:nvSpPr>
          <p:cNvPr id="18" name="Text 14"/>
          <p:cNvSpPr/>
          <p:nvPr/>
        </p:nvSpPr>
        <p:spPr>
          <a:xfrm>
            <a:off x="849630" y="5798463"/>
            <a:ext cx="3531513" cy="299442"/>
          </a:xfrm>
          <a:prstGeom prst="rect">
            <a:avLst/>
          </a:prstGeom>
          <a:noFill/>
          <a:ln/>
        </p:spPr>
        <p:txBody>
          <a:bodyPr wrap="non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Impersonation</a:t>
            </a:r>
            <a:endParaRPr lang="en-US" sz="1450" dirty="0"/>
          </a:p>
        </p:txBody>
      </p:sp>
      <p:sp>
        <p:nvSpPr>
          <p:cNvPr id="19" name="Text 15"/>
          <p:cNvSpPr/>
          <p:nvPr/>
        </p:nvSpPr>
        <p:spPr>
          <a:xfrm>
            <a:off x="4762857" y="5798463"/>
            <a:ext cx="3531513" cy="1197769"/>
          </a:xfrm>
          <a:prstGeom prst="rect">
            <a:avLst/>
          </a:prstGeom>
          <a:noFill/>
          <a:ln/>
        </p:spPr>
        <p:txBody>
          <a:bodyPr wrap="square" lIns="0" tIns="0" rIns="0" bIns="0" rtlCol="0" anchor="t"/>
          <a:lstStyle/>
          <a:p>
            <a:pPr marL="0" indent="0">
              <a:lnSpc>
                <a:spcPts val="2350"/>
              </a:lnSpc>
              <a:buNone/>
            </a:pPr>
            <a:r>
              <a:rPr lang="en-US" sz="1450" dirty="0">
                <a:solidFill>
                  <a:srgbClr val="15213F"/>
                </a:solidFill>
                <a:latin typeface="Roboto" pitchFamily="34" charset="0"/>
                <a:ea typeface="Roboto" pitchFamily="34" charset="-122"/>
                <a:cs typeface="Roboto" pitchFamily="34" charset="-120"/>
              </a:rPr>
              <a:t>Pretending to be someone trustworthy, such as a colleague, IT support, or a government official, to gain access to confidential data.</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01294" y="1436013"/>
            <a:ext cx="4971693" cy="5357455"/>
          </a:xfrm>
          <a:prstGeom prst="rect">
            <a:avLst/>
          </a:prstGeom>
        </p:spPr>
      </p:pic>
      <p:sp>
        <p:nvSpPr>
          <p:cNvPr id="6" name="Text 2"/>
          <p:cNvSpPr/>
          <p:nvPr/>
        </p:nvSpPr>
        <p:spPr>
          <a:xfrm>
            <a:off x="720447" y="894755"/>
            <a:ext cx="7703106" cy="1286589"/>
          </a:xfrm>
          <a:prstGeom prst="rect">
            <a:avLst/>
          </a:prstGeom>
          <a:noFill/>
          <a:ln/>
        </p:spPr>
        <p:txBody>
          <a:bodyPr wrap="square" lIns="0" tIns="0" rIns="0" bIns="0" rtlCol="0" anchor="t"/>
          <a:lstStyle/>
          <a:p>
            <a:pPr marL="0" indent="0">
              <a:lnSpc>
                <a:spcPts val="5050"/>
              </a:lnSpc>
              <a:buNone/>
            </a:pPr>
            <a:r>
              <a:rPr lang="en-US" sz="4050" dirty="0">
                <a:solidFill>
                  <a:srgbClr val="3257B8"/>
                </a:solidFill>
                <a:latin typeface="Roboto Slab" pitchFamily="34" charset="0"/>
                <a:ea typeface="Roboto Slab" pitchFamily="34" charset="-122"/>
                <a:cs typeface="Roboto Slab" pitchFamily="34" charset="-120"/>
              </a:rPr>
              <a:t>Best Practices for Network Security and Monitoring</a:t>
            </a:r>
            <a:endParaRPr lang="en-US" sz="4050" dirty="0"/>
          </a:p>
        </p:txBody>
      </p:sp>
      <p:sp>
        <p:nvSpPr>
          <p:cNvPr id="7" name="Shape 3"/>
          <p:cNvSpPr/>
          <p:nvPr/>
        </p:nvSpPr>
        <p:spPr>
          <a:xfrm>
            <a:off x="720447" y="2721650"/>
            <a:ext cx="463153" cy="463153"/>
          </a:xfrm>
          <a:prstGeom prst="roundRect">
            <a:avLst>
              <a:gd name="adj" fmla="val 6667"/>
            </a:avLst>
          </a:prstGeom>
          <a:solidFill>
            <a:srgbClr val="E9ECF2"/>
          </a:solidFill>
          <a:ln/>
        </p:spPr>
      </p:sp>
      <p:sp>
        <p:nvSpPr>
          <p:cNvPr id="8" name="Text 4"/>
          <p:cNvSpPr/>
          <p:nvPr/>
        </p:nvSpPr>
        <p:spPr>
          <a:xfrm>
            <a:off x="888325" y="2798802"/>
            <a:ext cx="127278" cy="308848"/>
          </a:xfrm>
          <a:prstGeom prst="rect">
            <a:avLst/>
          </a:prstGeom>
          <a:noFill/>
          <a:ln/>
        </p:spPr>
        <p:txBody>
          <a:bodyPr wrap="none" lIns="0" tIns="0" rIns="0" bIns="0" rtlCol="0" anchor="t"/>
          <a:lstStyle/>
          <a:p>
            <a:pPr marL="0" indent="0" algn="ctr">
              <a:lnSpc>
                <a:spcPts val="2400"/>
              </a:lnSpc>
              <a:buNone/>
            </a:pPr>
            <a:r>
              <a:rPr lang="en-US" sz="2400" dirty="0">
                <a:solidFill>
                  <a:srgbClr val="15213F"/>
                </a:solidFill>
                <a:latin typeface="Roboto Slab" pitchFamily="34" charset="0"/>
                <a:ea typeface="Roboto Slab" pitchFamily="34" charset="-122"/>
                <a:cs typeface="Roboto Slab" pitchFamily="34" charset="-120"/>
              </a:rPr>
              <a:t>1</a:t>
            </a:r>
            <a:endParaRPr lang="en-US" sz="2400" dirty="0"/>
          </a:p>
        </p:txBody>
      </p:sp>
      <p:sp>
        <p:nvSpPr>
          <p:cNvPr id="9" name="Text 5"/>
          <p:cNvSpPr/>
          <p:nvPr/>
        </p:nvSpPr>
        <p:spPr>
          <a:xfrm>
            <a:off x="1389459" y="2721650"/>
            <a:ext cx="2573179" cy="321588"/>
          </a:xfrm>
          <a:prstGeom prst="rect">
            <a:avLst/>
          </a:prstGeom>
          <a:noFill/>
          <a:ln/>
        </p:spPr>
        <p:txBody>
          <a:bodyPr wrap="none" lIns="0" tIns="0" rIns="0" bIns="0" rtlCol="0" anchor="t"/>
          <a:lstStyle/>
          <a:p>
            <a:pPr marL="0" indent="0">
              <a:lnSpc>
                <a:spcPts val="2500"/>
              </a:lnSpc>
              <a:buNone/>
            </a:pPr>
            <a:r>
              <a:rPr lang="en-US" sz="2000" dirty="0">
                <a:solidFill>
                  <a:srgbClr val="15213F"/>
                </a:solidFill>
                <a:latin typeface="Roboto Slab" pitchFamily="34" charset="0"/>
                <a:ea typeface="Roboto Slab" pitchFamily="34" charset="-122"/>
                <a:cs typeface="Roboto Slab" pitchFamily="34" charset="-120"/>
              </a:rPr>
              <a:t>Firewall</a:t>
            </a:r>
            <a:endParaRPr lang="en-US" sz="2000" dirty="0"/>
          </a:p>
        </p:txBody>
      </p:sp>
      <p:sp>
        <p:nvSpPr>
          <p:cNvPr id="10" name="Text 6"/>
          <p:cNvSpPr/>
          <p:nvPr/>
        </p:nvSpPr>
        <p:spPr>
          <a:xfrm>
            <a:off x="1389459" y="3166705"/>
            <a:ext cx="3079671" cy="1317308"/>
          </a:xfrm>
          <a:prstGeom prst="rect">
            <a:avLst/>
          </a:prstGeom>
          <a:noFill/>
          <a:ln/>
        </p:spPr>
        <p:txBody>
          <a:bodyPr wrap="square" lIns="0" tIns="0" rIns="0" bIns="0" rtlCol="0" anchor="t"/>
          <a:lstStyle/>
          <a:p>
            <a:pPr marL="0" indent="0">
              <a:lnSpc>
                <a:spcPts val="2550"/>
              </a:lnSpc>
              <a:buNone/>
            </a:pPr>
            <a:r>
              <a:rPr lang="en-US" sz="1600" dirty="0">
                <a:solidFill>
                  <a:srgbClr val="15213F"/>
                </a:solidFill>
                <a:latin typeface="Roboto" pitchFamily="34" charset="0"/>
                <a:ea typeface="Roboto" pitchFamily="34" charset="-122"/>
                <a:cs typeface="Roboto" pitchFamily="34" charset="-120"/>
              </a:rPr>
              <a:t>Implement a firewall to block unauthorized access to the network and filter incoming and outgoing traffic.</a:t>
            </a:r>
            <a:endParaRPr lang="en-US" sz="1600" dirty="0"/>
          </a:p>
        </p:txBody>
      </p:sp>
      <p:sp>
        <p:nvSpPr>
          <p:cNvPr id="11" name="Shape 7"/>
          <p:cNvSpPr/>
          <p:nvPr/>
        </p:nvSpPr>
        <p:spPr>
          <a:xfrm>
            <a:off x="4674989" y="2721650"/>
            <a:ext cx="463153" cy="463153"/>
          </a:xfrm>
          <a:prstGeom prst="roundRect">
            <a:avLst>
              <a:gd name="adj" fmla="val 6667"/>
            </a:avLst>
          </a:prstGeom>
          <a:solidFill>
            <a:srgbClr val="E9ECF2"/>
          </a:solidFill>
          <a:ln/>
        </p:spPr>
      </p:sp>
      <p:sp>
        <p:nvSpPr>
          <p:cNvPr id="12" name="Text 8"/>
          <p:cNvSpPr/>
          <p:nvPr/>
        </p:nvSpPr>
        <p:spPr>
          <a:xfrm>
            <a:off x="4821317" y="2798802"/>
            <a:ext cx="170497" cy="308848"/>
          </a:xfrm>
          <a:prstGeom prst="rect">
            <a:avLst/>
          </a:prstGeom>
          <a:noFill/>
          <a:ln/>
        </p:spPr>
        <p:txBody>
          <a:bodyPr wrap="none" lIns="0" tIns="0" rIns="0" bIns="0" rtlCol="0" anchor="t"/>
          <a:lstStyle/>
          <a:p>
            <a:pPr marL="0" indent="0" algn="ctr">
              <a:lnSpc>
                <a:spcPts val="2400"/>
              </a:lnSpc>
              <a:buNone/>
            </a:pPr>
            <a:r>
              <a:rPr lang="en-US" sz="2400" dirty="0">
                <a:solidFill>
                  <a:srgbClr val="15213F"/>
                </a:solidFill>
                <a:latin typeface="Roboto Slab" pitchFamily="34" charset="0"/>
                <a:ea typeface="Roboto Slab" pitchFamily="34" charset="-122"/>
                <a:cs typeface="Roboto Slab" pitchFamily="34" charset="-120"/>
              </a:rPr>
              <a:t>2</a:t>
            </a:r>
            <a:endParaRPr lang="en-US" sz="2400" dirty="0"/>
          </a:p>
        </p:txBody>
      </p:sp>
      <p:sp>
        <p:nvSpPr>
          <p:cNvPr id="13" name="Text 9"/>
          <p:cNvSpPr/>
          <p:nvPr/>
        </p:nvSpPr>
        <p:spPr>
          <a:xfrm>
            <a:off x="5344001" y="2721650"/>
            <a:ext cx="3079671" cy="643176"/>
          </a:xfrm>
          <a:prstGeom prst="rect">
            <a:avLst/>
          </a:prstGeom>
          <a:noFill/>
          <a:ln/>
        </p:spPr>
        <p:txBody>
          <a:bodyPr wrap="square" lIns="0" tIns="0" rIns="0" bIns="0" rtlCol="0" anchor="t"/>
          <a:lstStyle/>
          <a:p>
            <a:pPr marL="0" indent="0">
              <a:lnSpc>
                <a:spcPts val="2500"/>
              </a:lnSpc>
              <a:buNone/>
            </a:pPr>
            <a:r>
              <a:rPr lang="en-US" sz="2000" dirty="0">
                <a:solidFill>
                  <a:srgbClr val="15213F"/>
                </a:solidFill>
                <a:latin typeface="Roboto Slab" pitchFamily="34" charset="0"/>
                <a:ea typeface="Roboto Slab" pitchFamily="34" charset="-122"/>
                <a:cs typeface="Roboto Slab" pitchFamily="34" charset="-120"/>
              </a:rPr>
              <a:t>Intrusion Detection System (IDS)</a:t>
            </a:r>
            <a:endParaRPr lang="en-US" sz="2000" dirty="0"/>
          </a:p>
        </p:txBody>
      </p:sp>
      <p:sp>
        <p:nvSpPr>
          <p:cNvPr id="14" name="Text 10"/>
          <p:cNvSpPr/>
          <p:nvPr/>
        </p:nvSpPr>
        <p:spPr>
          <a:xfrm>
            <a:off x="5344001" y="3488293"/>
            <a:ext cx="3079671" cy="1317308"/>
          </a:xfrm>
          <a:prstGeom prst="rect">
            <a:avLst/>
          </a:prstGeom>
          <a:noFill/>
          <a:ln/>
        </p:spPr>
        <p:txBody>
          <a:bodyPr wrap="square" lIns="0" tIns="0" rIns="0" bIns="0" rtlCol="0" anchor="t"/>
          <a:lstStyle/>
          <a:p>
            <a:pPr marL="0" indent="0">
              <a:lnSpc>
                <a:spcPts val="2550"/>
              </a:lnSpc>
              <a:buNone/>
            </a:pPr>
            <a:r>
              <a:rPr lang="en-US" sz="1600" dirty="0">
                <a:solidFill>
                  <a:srgbClr val="15213F"/>
                </a:solidFill>
                <a:latin typeface="Roboto" pitchFamily="34" charset="0"/>
                <a:ea typeface="Roboto" pitchFamily="34" charset="-122"/>
                <a:cs typeface="Roboto" pitchFamily="34" charset="-120"/>
              </a:rPr>
              <a:t>Deploy an IDS to monitor network traffic for suspicious activity and alert administrators to potential threats.</a:t>
            </a:r>
            <a:endParaRPr lang="en-US" sz="1600" dirty="0"/>
          </a:p>
        </p:txBody>
      </p:sp>
      <p:sp>
        <p:nvSpPr>
          <p:cNvPr id="15" name="Shape 11"/>
          <p:cNvSpPr/>
          <p:nvPr/>
        </p:nvSpPr>
        <p:spPr>
          <a:xfrm>
            <a:off x="720447" y="5243036"/>
            <a:ext cx="463153" cy="463153"/>
          </a:xfrm>
          <a:prstGeom prst="roundRect">
            <a:avLst>
              <a:gd name="adj" fmla="val 6667"/>
            </a:avLst>
          </a:prstGeom>
          <a:solidFill>
            <a:srgbClr val="E9ECF2"/>
          </a:solidFill>
          <a:ln/>
        </p:spPr>
      </p:sp>
      <p:sp>
        <p:nvSpPr>
          <p:cNvPr id="16" name="Text 12"/>
          <p:cNvSpPr/>
          <p:nvPr/>
        </p:nvSpPr>
        <p:spPr>
          <a:xfrm>
            <a:off x="868561" y="5320189"/>
            <a:ext cx="166807" cy="308848"/>
          </a:xfrm>
          <a:prstGeom prst="rect">
            <a:avLst/>
          </a:prstGeom>
          <a:noFill/>
          <a:ln/>
        </p:spPr>
        <p:txBody>
          <a:bodyPr wrap="none" lIns="0" tIns="0" rIns="0" bIns="0" rtlCol="0" anchor="t"/>
          <a:lstStyle/>
          <a:p>
            <a:pPr marL="0" indent="0" algn="ctr">
              <a:lnSpc>
                <a:spcPts val="2400"/>
              </a:lnSpc>
              <a:buNone/>
            </a:pPr>
            <a:r>
              <a:rPr lang="en-US" sz="2400" dirty="0">
                <a:solidFill>
                  <a:srgbClr val="15213F"/>
                </a:solidFill>
                <a:latin typeface="Roboto Slab" pitchFamily="34" charset="0"/>
                <a:ea typeface="Roboto Slab" pitchFamily="34" charset="-122"/>
                <a:cs typeface="Roboto Slab" pitchFamily="34" charset="-120"/>
              </a:rPr>
              <a:t>3</a:t>
            </a:r>
            <a:endParaRPr lang="en-US" sz="2400" dirty="0"/>
          </a:p>
        </p:txBody>
      </p:sp>
      <p:sp>
        <p:nvSpPr>
          <p:cNvPr id="17" name="Text 13"/>
          <p:cNvSpPr/>
          <p:nvPr/>
        </p:nvSpPr>
        <p:spPr>
          <a:xfrm>
            <a:off x="1389459" y="5243036"/>
            <a:ext cx="2877860" cy="321588"/>
          </a:xfrm>
          <a:prstGeom prst="rect">
            <a:avLst/>
          </a:prstGeom>
          <a:noFill/>
          <a:ln/>
        </p:spPr>
        <p:txBody>
          <a:bodyPr wrap="none" lIns="0" tIns="0" rIns="0" bIns="0" rtlCol="0" anchor="t"/>
          <a:lstStyle/>
          <a:p>
            <a:pPr marL="0" indent="0">
              <a:lnSpc>
                <a:spcPts val="2500"/>
              </a:lnSpc>
              <a:buNone/>
            </a:pPr>
            <a:r>
              <a:rPr lang="en-US" sz="2000" dirty="0">
                <a:solidFill>
                  <a:srgbClr val="15213F"/>
                </a:solidFill>
                <a:latin typeface="Roboto Slab" pitchFamily="34" charset="0"/>
                <a:ea typeface="Roboto Slab" pitchFamily="34" charset="-122"/>
                <a:cs typeface="Roboto Slab" pitchFamily="34" charset="-120"/>
              </a:rPr>
              <a:t>Regular Security Audits</a:t>
            </a:r>
            <a:endParaRPr lang="en-US" sz="2000" dirty="0"/>
          </a:p>
        </p:txBody>
      </p:sp>
      <p:sp>
        <p:nvSpPr>
          <p:cNvPr id="18" name="Text 14"/>
          <p:cNvSpPr/>
          <p:nvPr/>
        </p:nvSpPr>
        <p:spPr>
          <a:xfrm>
            <a:off x="1389459" y="5688092"/>
            <a:ext cx="3079671" cy="987981"/>
          </a:xfrm>
          <a:prstGeom prst="rect">
            <a:avLst/>
          </a:prstGeom>
          <a:noFill/>
          <a:ln/>
        </p:spPr>
        <p:txBody>
          <a:bodyPr wrap="square" lIns="0" tIns="0" rIns="0" bIns="0" rtlCol="0" anchor="t"/>
          <a:lstStyle/>
          <a:p>
            <a:pPr marL="0" indent="0">
              <a:lnSpc>
                <a:spcPts val="2550"/>
              </a:lnSpc>
              <a:buNone/>
            </a:pPr>
            <a:r>
              <a:rPr lang="en-US" sz="1600" dirty="0">
                <a:solidFill>
                  <a:srgbClr val="15213F"/>
                </a:solidFill>
                <a:latin typeface="Roboto" pitchFamily="34" charset="0"/>
                <a:ea typeface="Roboto" pitchFamily="34" charset="-122"/>
                <a:cs typeface="Roboto" pitchFamily="34" charset="-120"/>
              </a:rPr>
              <a:t>Conduct regular security audits to identify vulnerabilities and ensure security measures are effective.</a:t>
            </a:r>
            <a:endParaRPr lang="en-US" sz="1600" dirty="0"/>
          </a:p>
        </p:txBody>
      </p:sp>
      <p:sp>
        <p:nvSpPr>
          <p:cNvPr id="19" name="Shape 15"/>
          <p:cNvSpPr/>
          <p:nvPr/>
        </p:nvSpPr>
        <p:spPr>
          <a:xfrm>
            <a:off x="4674989" y="5243036"/>
            <a:ext cx="463153" cy="463153"/>
          </a:xfrm>
          <a:prstGeom prst="roundRect">
            <a:avLst>
              <a:gd name="adj" fmla="val 6667"/>
            </a:avLst>
          </a:prstGeom>
          <a:solidFill>
            <a:srgbClr val="E9ECF2"/>
          </a:solidFill>
          <a:ln/>
        </p:spPr>
      </p:sp>
      <p:sp>
        <p:nvSpPr>
          <p:cNvPr id="20" name="Text 16"/>
          <p:cNvSpPr/>
          <p:nvPr/>
        </p:nvSpPr>
        <p:spPr>
          <a:xfrm>
            <a:off x="4817031" y="5320189"/>
            <a:ext cx="178951" cy="308848"/>
          </a:xfrm>
          <a:prstGeom prst="rect">
            <a:avLst/>
          </a:prstGeom>
          <a:noFill/>
          <a:ln/>
        </p:spPr>
        <p:txBody>
          <a:bodyPr wrap="none" lIns="0" tIns="0" rIns="0" bIns="0" rtlCol="0" anchor="t"/>
          <a:lstStyle/>
          <a:p>
            <a:pPr marL="0" indent="0" algn="ctr">
              <a:lnSpc>
                <a:spcPts val="2400"/>
              </a:lnSpc>
              <a:buNone/>
            </a:pPr>
            <a:r>
              <a:rPr lang="en-US" sz="2400" dirty="0">
                <a:solidFill>
                  <a:srgbClr val="15213F"/>
                </a:solidFill>
                <a:latin typeface="Roboto Slab" pitchFamily="34" charset="0"/>
                <a:ea typeface="Roboto Slab" pitchFamily="34" charset="-122"/>
                <a:cs typeface="Roboto Slab" pitchFamily="34" charset="-120"/>
              </a:rPr>
              <a:t>4</a:t>
            </a:r>
            <a:endParaRPr lang="en-US" sz="2400" dirty="0"/>
          </a:p>
        </p:txBody>
      </p:sp>
      <p:sp>
        <p:nvSpPr>
          <p:cNvPr id="21" name="Text 17"/>
          <p:cNvSpPr/>
          <p:nvPr/>
        </p:nvSpPr>
        <p:spPr>
          <a:xfrm>
            <a:off x="5344001" y="5243036"/>
            <a:ext cx="2573179" cy="321588"/>
          </a:xfrm>
          <a:prstGeom prst="rect">
            <a:avLst/>
          </a:prstGeom>
          <a:noFill/>
          <a:ln/>
        </p:spPr>
        <p:txBody>
          <a:bodyPr wrap="none" lIns="0" tIns="0" rIns="0" bIns="0" rtlCol="0" anchor="t"/>
          <a:lstStyle/>
          <a:p>
            <a:pPr marL="0" indent="0">
              <a:lnSpc>
                <a:spcPts val="2500"/>
              </a:lnSpc>
              <a:buNone/>
            </a:pPr>
            <a:r>
              <a:rPr lang="en-US" sz="2000" dirty="0">
                <a:solidFill>
                  <a:srgbClr val="15213F"/>
                </a:solidFill>
                <a:latin typeface="Roboto Slab" pitchFamily="34" charset="0"/>
                <a:ea typeface="Roboto Slab" pitchFamily="34" charset="-122"/>
                <a:cs typeface="Roboto Slab" pitchFamily="34" charset="-120"/>
              </a:rPr>
              <a:t>Security Patching</a:t>
            </a:r>
            <a:endParaRPr lang="en-US" sz="2000" dirty="0"/>
          </a:p>
        </p:txBody>
      </p:sp>
      <p:sp>
        <p:nvSpPr>
          <p:cNvPr id="22" name="Text 18"/>
          <p:cNvSpPr/>
          <p:nvPr/>
        </p:nvSpPr>
        <p:spPr>
          <a:xfrm>
            <a:off x="5344001" y="5688092"/>
            <a:ext cx="3079671" cy="1646634"/>
          </a:xfrm>
          <a:prstGeom prst="rect">
            <a:avLst/>
          </a:prstGeom>
          <a:noFill/>
          <a:ln/>
        </p:spPr>
        <p:txBody>
          <a:bodyPr wrap="square" lIns="0" tIns="0" rIns="0" bIns="0" rtlCol="0" anchor="t"/>
          <a:lstStyle/>
          <a:p>
            <a:pPr marL="0" indent="0">
              <a:lnSpc>
                <a:spcPts val="2550"/>
              </a:lnSpc>
              <a:buNone/>
            </a:pPr>
            <a:r>
              <a:rPr lang="en-US" sz="1600" dirty="0">
                <a:solidFill>
                  <a:srgbClr val="15213F"/>
                </a:solidFill>
                <a:latin typeface="Roboto" pitchFamily="34" charset="0"/>
                <a:ea typeface="Roboto" pitchFamily="34" charset="-122"/>
                <a:cs typeface="Roboto" pitchFamily="34" charset="-120"/>
              </a:rPr>
              <a:t>Patch software and operating systems promptly to address security vulnerabilities and prevent attackers from exploiting known weaknesses.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rotWithShape="1">
          <a:blip r:embed="rId4"/>
          <a:srcRect b="6970"/>
          <a:stretch/>
        </p:blipFill>
        <p:spPr>
          <a:xfrm>
            <a:off x="9607037" y="115788"/>
            <a:ext cx="4560325" cy="7998024"/>
          </a:xfrm>
          <a:prstGeom prst="rect">
            <a:avLst/>
          </a:prstGeom>
        </p:spPr>
      </p:pic>
      <p:sp>
        <p:nvSpPr>
          <p:cNvPr id="6" name="Text 2"/>
          <p:cNvSpPr/>
          <p:nvPr/>
        </p:nvSpPr>
        <p:spPr>
          <a:xfrm>
            <a:off x="793790" y="2155746"/>
            <a:ext cx="7556421" cy="2126337"/>
          </a:xfrm>
          <a:prstGeom prst="rect">
            <a:avLst/>
          </a:prstGeom>
          <a:noFill/>
          <a:ln/>
        </p:spPr>
        <p:txBody>
          <a:bodyPr wrap="square" lIns="0" tIns="0" rIns="0" bIns="0" rtlCol="0" anchor="t"/>
          <a:lstStyle/>
          <a:p>
            <a:pPr marL="0" indent="0">
              <a:lnSpc>
                <a:spcPts val="5550"/>
              </a:lnSpc>
              <a:buNone/>
            </a:pPr>
            <a:r>
              <a:rPr lang="en-US" sz="4450">
                <a:solidFill>
                  <a:srgbClr val="3257B8"/>
                </a:solidFill>
                <a:latin typeface="Roboto Slab" pitchFamily="34" charset="0"/>
                <a:ea typeface="Roboto Slab" pitchFamily="34" charset="-122"/>
                <a:cs typeface="Roboto Slab" pitchFamily="34" charset="-120"/>
              </a:rPr>
              <a:t>Proactive </a:t>
            </a:r>
            <a:r>
              <a:rPr lang="en-US" sz="4450" dirty="0">
                <a:solidFill>
                  <a:srgbClr val="3257B8"/>
                </a:solidFill>
                <a:latin typeface="Roboto Slab" pitchFamily="34" charset="0"/>
                <a:ea typeface="Roboto Slab" pitchFamily="34" charset="-122"/>
                <a:cs typeface="Roboto Slab" pitchFamily="34" charset="-120"/>
              </a:rPr>
              <a:t>Approach to Cyber Attack Prevention</a:t>
            </a:r>
            <a:endParaRPr lang="en-US" sz="4450" dirty="0"/>
          </a:p>
        </p:txBody>
      </p:sp>
      <p:sp>
        <p:nvSpPr>
          <p:cNvPr id="7" name="Text 3"/>
          <p:cNvSpPr/>
          <p:nvPr/>
        </p:nvSpPr>
        <p:spPr>
          <a:xfrm>
            <a:off x="793790" y="4622244"/>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15213F"/>
                </a:solidFill>
                <a:latin typeface="Roboto" pitchFamily="34" charset="0"/>
                <a:ea typeface="Roboto" pitchFamily="34" charset="-122"/>
                <a:cs typeface="Roboto" pitchFamily="34" charset="-120"/>
              </a:rPr>
              <a:t>Proactive cybersecurity measures are essential for mitigating the risks of cyber attacks. Organizations and individuals must stay vigilant, adopt best practices, and stay informed about emerging threats to stay ahead of attackers.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775</Words>
  <Application>Microsoft Office PowerPoint</Application>
  <PresentationFormat>Custom</PresentationFormat>
  <Paragraphs>82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Roboto</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Nilesh Panchal</cp:lastModifiedBy>
  <cp:revision>12</cp:revision>
  <dcterms:created xsi:type="dcterms:W3CDTF">2024-08-30T05:16:17Z</dcterms:created>
  <dcterms:modified xsi:type="dcterms:W3CDTF">2024-08-30T05:23:45Z</dcterms:modified>
</cp:coreProperties>
</file>