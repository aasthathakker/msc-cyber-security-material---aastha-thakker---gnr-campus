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joMV3rH8ip9UQqegPpq3rbVjpw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 name="Google Shape;5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 name="Google Shape;6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 name="Google Shape;6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 name="Google Shape;7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 name="Google Shape;8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 name="Google Shape;8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 name="Google Shape;9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 name="Google Shape;9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e9527a3a4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2e9527a3a4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e9527a3a4b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2e9527a3a4b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e9527a3a4b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2e9527a3a4b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e9527a3a4b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2e9527a3a4b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g3aef507c2ad_0_128"/>
          <p:cNvSpPr txBox="1"/>
          <p:nvPr>
            <p:ph type="ctrTitle"/>
          </p:nvPr>
        </p:nvSpPr>
        <p:spPr>
          <a:xfrm>
            <a:off x="415611" y="992767"/>
            <a:ext cx="11360700" cy="2736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1" name="Google Shape;11;g3aef507c2ad_0_128"/>
          <p:cNvSpPr txBox="1"/>
          <p:nvPr>
            <p:ph idx="1" type="subTitle"/>
          </p:nvPr>
        </p:nvSpPr>
        <p:spPr>
          <a:xfrm>
            <a:off x="415600" y="3778833"/>
            <a:ext cx="113607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2" name="Google Shape;12;g3aef507c2ad_0_12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g3aef507c2ad_0_132"/>
          <p:cNvSpPr txBox="1"/>
          <p:nvPr>
            <p:ph type="title"/>
          </p:nvPr>
        </p:nvSpPr>
        <p:spPr>
          <a:xfrm>
            <a:off x="415600" y="2867800"/>
            <a:ext cx="11360700" cy="11223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g3aef507c2ad_0_13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g3aef507c2ad_0_135"/>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8" name="Google Shape;18;g3aef507c2ad_0_135"/>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19" name="Google Shape;19;g3aef507c2ad_0_13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g3aef507c2ad_0_139"/>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2" name="Google Shape;22;g3aef507c2ad_0_139"/>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3" name="Google Shape;23;g3aef507c2ad_0_139"/>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4" name="Google Shape;24;g3aef507c2ad_0_13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g3aef507c2ad_0_144"/>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7" name="Google Shape;27;g3aef507c2ad_0_14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g3aef507c2ad_0_147"/>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0" name="Google Shape;30;g3aef507c2ad_0_147"/>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1" name="Google Shape;31;g3aef507c2ad_0_14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g3aef507c2ad_0_151"/>
          <p:cNvSpPr txBox="1"/>
          <p:nvPr>
            <p:ph type="title"/>
          </p:nvPr>
        </p:nvSpPr>
        <p:spPr>
          <a:xfrm>
            <a:off x="653667" y="600200"/>
            <a:ext cx="84903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4" name="Google Shape;34;g3aef507c2ad_0_15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g3aef507c2ad_0_154"/>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 name="Google Shape;37;g3aef507c2ad_0_154"/>
          <p:cNvSpPr txBox="1"/>
          <p:nvPr>
            <p:ph type="title"/>
          </p:nvPr>
        </p:nvSpPr>
        <p:spPr>
          <a:xfrm>
            <a:off x="354000" y="1644233"/>
            <a:ext cx="53937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38" name="Google Shape;38;g3aef507c2ad_0_154"/>
          <p:cNvSpPr txBox="1"/>
          <p:nvPr>
            <p:ph idx="1" type="subTitle"/>
          </p:nvPr>
        </p:nvSpPr>
        <p:spPr>
          <a:xfrm>
            <a:off x="354000" y="3737433"/>
            <a:ext cx="5393700" cy="1646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9" name="Google Shape;39;g3aef507c2ad_0_154"/>
          <p:cNvSpPr txBox="1"/>
          <p:nvPr>
            <p:ph idx="2" type="body"/>
          </p:nvPr>
        </p:nvSpPr>
        <p:spPr>
          <a:xfrm>
            <a:off x="6586000" y="965433"/>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0" name="Google Shape;40;g3aef507c2ad_0_15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g3aef507c2ad_0_160"/>
          <p:cNvSpPr txBox="1"/>
          <p:nvPr>
            <p:ph idx="1" type="body"/>
          </p:nvPr>
        </p:nvSpPr>
        <p:spPr>
          <a:xfrm>
            <a:off x="415600" y="5640767"/>
            <a:ext cx="7998300" cy="8067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43" name="Google Shape;43;g3aef507c2ad_0_16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g3aef507c2ad_0_163"/>
          <p:cNvSpPr txBox="1"/>
          <p:nvPr>
            <p:ph hasCustomPrompt="1" type="title"/>
          </p:nvPr>
        </p:nvSpPr>
        <p:spPr>
          <a:xfrm>
            <a:off x="415600" y="1474833"/>
            <a:ext cx="11360700" cy="2618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g3aef507c2ad_0_163"/>
          <p:cNvSpPr txBox="1"/>
          <p:nvPr>
            <p:ph idx="1" type="body"/>
          </p:nvPr>
        </p:nvSpPr>
        <p:spPr>
          <a:xfrm>
            <a:off x="415600" y="4202967"/>
            <a:ext cx="11360700" cy="17343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47" name="Google Shape;47;g3aef507c2ad_0_16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g3aef507c2ad_0_16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g3aef507c2ad_0_16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g3aef507c2ad_0_16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g3aef507c2ad_0_16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g3aef507c2ad_0_16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g3aef507c2ad_0_16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3aef507c2ad_0_12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7" name="Google Shape;7;g3aef507c2ad_0_124"/>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8" name="Google Shape;8;g3aef507c2ad_0_12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idx="1" type="body"/>
          </p:nvPr>
        </p:nvSpPr>
        <p:spPr>
          <a:xfrm>
            <a:off x="584850" y="1833875"/>
            <a:ext cx="11022300" cy="3611400"/>
          </a:xfrm>
          <a:prstGeom prst="rect">
            <a:avLst/>
          </a:prstGeom>
          <a:noFill/>
          <a:ln>
            <a:noFill/>
          </a:ln>
        </p:spPr>
        <p:txBody>
          <a:bodyPr anchorCtr="0" anchor="t" bIns="45700" lIns="91425" spcFirstLastPara="1" rIns="91425" wrap="square" tIns="45700">
            <a:normAutofit/>
          </a:bodyPr>
          <a:lstStyle/>
          <a:p>
            <a:pPr indent="-234950" lvl="0" marL="228600" rtl="0" algn="l">
              <a:lnSpc>
                <a:spcPct val="90000"/>
              </a:lnSpc>
              <a:spcBef>
                <a:spcPts val="0"/>
              </a:spcBef>
              <a:spcAft>
                <a:spcPts val="0"/>
              </a:spcAft>
              <a:buClr>
                <a:schemeClr val="dk1"/>
              </a:buClr>
              <a:buSzPts val="2900"/>
              <a:buFont typeface="Calibri"/>
              <a:buChar char="•"/>
            </a:pPr>
            <a:r>
              <a:rPr lang="en-US" sz="2900">
                <a:latin typeface="Calibri"/>
                <a:ea typeface="Calibri"/>
                <a:cs typeface="Calibri"/>
                <a:sym typeface="Calibri"/>
              </a:rPr>
              <a:t>Computer Vision is a subfield of Deep Learning and AI where humans teach computers to see and interpret the world around them.</a:t>
            </a:r>
            <a:endParaRPr sz="2900">
              <a:latin typeface="Calibri"/>
              <a:ea typeface="Calibri"/>
              <a:cs typeface="Calibri"/>
              <a:sym typeface="Calibri"/>
            </a:endParaRPr>
          </a:p>
          <a:p>
            <a:pPr indent="-234950" lvl="0" marL="228600" rtl="0" algn="l">
              <a:lnSpc>
                <a:spcPct val="90000"/>
              </a:lnSpc>
              <a:spcBef>
                <a:spcPts val="1000"/>
              </a:spcBef>
              <a:spcAft>
                <a:spcPts val="0"/>
              </a:spcAft>
              <a:buClr>
                <a:schemeClr val="dk1"/>
              </a:buClr>
              <a:buSzPts val="2900"/>
              <a:buFont typeface="Calibri"/>
              <a:buChar char="•"/>
            </a:pPr>
            <a:r>
              <a:rPr lang="en-US" sz="2900">
                <a:latin typeface="Calibri"/>
                <a:ea typeface="Calibri"/>
                <a:cs typeface="Calibri"/>
                <a:sym typeface="Calibri"/>
              </a:rPr>
              <a:t>While humans and animals naturally solve vision as a problem from a very young age, helping machines interpret and perceive their surroundings via vision remains a largely unsolved problem.</a:t>
            </a:r>
            <a:endParaRPr sz="2900">
              <a:latin typeface="Calibri"/>
              <a:ea typeface="Calibri"/>
              <a:cs typeface="Calibri"/>
              <a:sym typeface="Calibri"/>
            </a:endParaRPr>
          </a:p>
          <a:p>
            <a:pPr indent="-234950" lvl="0" marL="228600" rtl="0" algn="l">
              <a:lnSpc>
                <a:spcPct val="90000"/>
              </a:lnSpc>
              <a:spcBef>
                <a:spcPts val="1000"/>
              </a:spcBef>
              <a:spcAft>
                <a:spcPts val="0"/>
              </a:spcAft>
              <a:buClr>
                <a:schemeClr val="dk1"/>
              </a:buClr>
              <a:buSzPts val="2900"/>
              <a:buFont typeface="Calibri"/>
              <a:buChar char="•"/>
            </a:pPr>
            <a:r>
              <a:rPr lang="en-US" sz="2900">
                <a:latin typeface="Calibri"/>
                <a:ea typeface="Calibri"/>
                <a:cs typeface="Calibri"/>
                <a:sym typeface="Calibri"/>
              </a:rPr>
              <a:t>Limited perception of the human vision along with the infinitely varying scenery of our dynamic world is what makes Machine Vision complex at its core.</a:t>
            </a:r>
            <a:endParaRPr sz="2900">
              <a:latin typeface="Calibri"/>
              <a:ea typeface="Calibri"/>
              <a:cs typeface="Calibri"/>
              <a:sym typeface="Calibri"/>
            </a:endParaRPr>
          </a:p>
        </p:txBody>
      </p:sp>
      <p:sp>
        <p:nvSpPr>
          <p:cNvPr id="61" name="Google Shape;61;p2"/>
          <p:cNvSpPr txBox="1"/>
          <p:nvPr>
            <p:ph idx="4294967295" type="ctrTitle"/>
          </p:nvPr>
        </p:nvSpPr>
        <p:spPr>
          <a:xfrm>
            <a:off x="2825550" y="338250"/>
            <a:ext cx="6540900" cy="10578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r>
              <a:rPr lang="en-US" sz="6000"/>
              <a:t>Computer Vision</a:t>
            </a:r>
            <a:endParaRPr sz="6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3"/>
          <p:cNvPicPr preferRelativeResize="0"/>
          <p:nvPr/>
        </p:nvPicPr>
        <p:blipFill rotWithShape="1">
          <a:blip r:embed="rId3">
            <a:alphaModFix/>
          </a:blip>
          <a:srcRect b="6436" l="10538" r="9262" t="5387"/>
          <a:stretch/>
        </p:blipFill>
        <p:spPr>
          <a:xfrm>
            <a:off x="1642388" y="110863"/>
            <a:ext cx="8907224" cy="6636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4"/>
          <p:cNvSpPr txBox="1"/>
          <p:nvPr>
            <p:ph type="title"/>
          </p:nvPr>
        </p:nvSpPr>
        <p:spPr>
          <a:xfrm>
            <a:off x="2133600" y="380975"/>
            <a:ext cx="7924800" cy="799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 brief history of computer vision</a:t>
            </a:r>
            <a:endParaRPr/>
          </a:p>
        </p:txBody>
      </p:sp>
      <p:sp>
        <p:nvSpPr>
          <p:cNvPr id="72" name="Google Shape;72;p4"/>
          <p:cNvSpPr txBox="1"/>
          <p:nvPr>
            <p:ph idx="1" type="body"/>
          </p:nvPr>
        </p:nvSpPr>
        <p:spPr>
          <a:xfrm>
            <a:off x="283875" y="1337425"/>
            <a:ext cx="4566900" cy="51837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Like all great things in the world of technology, computer vision started with a cat. </a:t>
            </a:r>
            <a:endParaRPr/>
          </a:p>
          <a:p>
            <a:pPr indent="0" lvl="0" marL="457200" rtl="0" algn="l">
              <a:lnSpc>
                <a:spcPct val="90000"/>
              </a:lnSpc>
              <a:spcBef>
                <a:spcPts val="0"/>
              </a:spcBef>
              <a:spcAft>
                <a:spcPts val="0"/>
              </a:spcAft>
              <a:buNone/>
            </a:pPr>
            <a:r>
              <a:t/>
            </a:r>
            <a:endParaRPr/>
          </a:p>
          <a:p>
            <a:pPr indent="-228600" lvl="0" marL="228600" rtl="0" algn="l">
              <a:lnSpc>
                <a:spcPct val="90000"/>
              </a:lnSpc>
              <a:spcBef>
                <a:spcPts val="0"/>
              </a:spcBef>
              <a:spcAft>
                <a:spcPts val="0"/>
              </a:spcAft>
              <a:buClr>
                <a:schemeClr val="dk1"/>
              </a:buClr>
              <a:buSzPts val="2800"/>
              <a:buChar char="•"/>
            </a:pPr>
            <a:r>
              <a:rPr lang="en-US"/>
              <a:t>Two Swedish scientists, </a:t>
            </a:r>
            <a:r>
              <a:rPr b="1" lang="en-US"/>
              <a:t>Hubel and Wiesel</a:t>
            </a:r>
            <a:r>
              <a:rPr lang="en-US"/>
              <a:t>, placed a cat in a restricting harness and an electrode in its visual cortex. The scientists showed the cat a series of images through a projector, hoping its brain cells in the visual cortex would start firing.</a:t>
            </a:r>
            <a:endParaRPr/>
          </a:p>
        </p:txBody>
      </p:sp>
      <p:pic>
        <p:nvPicPr>
          <p:cNvPr id="73" name="Google Shape;73;p4"/>
          <p:cNvPicPr preferRelativeResize="0"/>
          <p:nvPr/>
        </p:nvPicPr>
        <p:blipFill rotWithShape="1">
          <a:blip r:embed="rId3">
            <a:alphaModFix/>
          </a:blip>
          <a:srcRect b="0" l="0" r="0" t="0"/>
          <a:stretch/>
        </p:blipFill>
        <p:spPr>
          <a:xfrm>
            <a:off x="5009175" y="1180776"/>
            <a:ext cx="7066076" cy="48005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7"/>
          <p:cNvPicPr preferRelativeResize="0"/>
          <p:nvPr/>
        </p:nvPicPr>
        <p:blipFill rotWithShape="1">
          <a:blip r:embed="rId3">
            <a:alphaModFix/>
          </a:blip>
          <a:srcRect b="0" l="5231" r="0" t="3818"/>
          <a:stretch/>
        </p:blipFill>
        <p:spPr>
          <a:xfrm>
            <a:off x="3051525" y="0"/>
            <a:ext cx="6088924" cy="685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6"/>
          <p:cNvSpPr txBox="1"/>
          <p:nvPr>
            <p:ph idx="1" type="body"/>
          </p:nvPr>
        </p:nvSpPr>
        <p:spPr>
          <a:xfrm>
            <a:off x="838200" y="12533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With no avail with images, the eureka moment happened when a projector slide was removed, and a single horizontal line of light appeared on the wall</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Neurons fired, emitting a crackling electrical noise.</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The scientists had just realized that the early layers of the visual cortex respond to simple shapes, like lines and curves, much like those in the early layers of a deep neural network.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8"/>
          <p:cNvSpPr txBox="1"/>
          <p:nvPr>
            <p:ph idx="1" type="body"/>
          </p:nvPr>
        </p:nvSpPr>
        <p:spPr>
          <a:xfrm>
            <a:off x="838200" y="1253325"/>
            <a:ext cx="10515600" cy="4351200"/>
          </a:xfrm>
          <a:prstGeom prst="rect">
            <a:avLst/>
          </a:prstGeom>
          <a:noFill/>
          <a:ln>
            <a:noFill/>
          </a:ln>
        </p:spPr>
        <p:txBody>
          <a:bodyPr anchorCtr="0" anchor="t" bIns="45700" lIns="91425" spcFirstLastPara="1" rIns="91425" wrap="square" tIns="45700">
            <a:normAutofit lnSpcReduction="10000"/>
          </a:bodyPr>
          <a:lstStyle/>
          <a:p>
            <a:pPr indent="-241934" lvl="0" marL="228600" rtl="0" algn="l">
              <a:lnSpc>
                <a:spcPct val="90000"/>
              </a:lnSpc>
              <a:spcBef>
                <a:spcPts val="0"/>
              </a:spcBef>
              <a:spcAft>
                <a:spcPts val="0"/>
              </a:spcAft>
              <a:buClr>
                <a:schemeClr val="dk1"/>
              </a:buClr>
              <a:buSzPts val="2800"/>
              <a:buChar char="•"/>
            </a:pPr>
            <a:r>
              <a:rPr lang="en-US"/>
              <a:t>The notion that machine vision must be derived from the animal vision was predominant as early as 1959—when the neurophysiologists mentioned above tried to understand cat vision.</a:t>
            </a:r>
            <a:endParaRPr/>
          </a:p>
          <a:p>
            <a:pPr indent="-241934" lvl="0" marL="228600" rtl="0" algn="l">
              <a:lnSpc>
                <a:spcPct val="90000"/>
              </a:lnSpc>
              <a:spcBef>
                <a:spcPts val="1000"/>
              </a:spcBef>
              <a:spcAft>
                <a:spcPts val="0"/>
              </a:spcAft>
              <a:buClr>
                <a:schemeClr val="dk1"/>
              </a:buClr>
              <a:buSzPts val="2800"/>
              <a:buChar char="•"/>
            </a:pPr>
            <a:r>
              <a:rPr lang="en-US"/>
              <a:t>Since then, the history of computer vision is dotted with milestones formed by the rapid development of image capturing and scanning instruments complemented by state-of-the-art image processing algorithms’ design.</a:t>
            </a:r>
            <a:endParaRPr/>
          </a:p>
          <a:p>
            <a:pPr indent="-241934" lvl="0" marL="228600" rtl="0" algn="l">
              <a:lnSpc>
                <a:spcPct val="90000"/>
              </a:lnSpc>
              <a:spcBef>
                <a:spcPts val="1000"/>
              </a:spcBef>
              <a:spcAft>
                <a:spcPts val="0"/>
              </a:spcAft>
              <a:buClr>
                <a:schemeClr val="dk1"/>
              </a:buClr>
              <a:buSzPts val="2800"/>
              <a:buChar char="•"/>
            </a:pPr>
            <a:r>
              <a:rPr lang="en-US"/>
              <a:t>The 1960s saw the emergence of AI as an academic field of study, followed by the development of the first robust Optical Character Recognition system in 1974.</a:t>
            </a:r>
            <a:endParaRPr/>
          </a:p>
          <a:p>
            <a:pPr indent="-241934" lvl="0" marL="228600" rtl="0" algn="l">
              <a:lnSpc>
                <a:spcPct val="90000"/>
              </a:lnSpc>
              <a:spcBef>
                <a:spcPts val="1000"/>
              </a:spcBef>
              <a:spcAft>
                <a:spcPts val="0"/>
              </a:spcAft>
              <a:buClr>
                <a:schemeClr val="dk1"/>
              </a:buClr>
              <a:buSzPts val="2800"/>
              <a:buChar char="•"/>
            </a:pPr>
            <a:r>
              <a:rPr lang="en-US"/>
              <a:t>By the 2000s, the focus of Computer Vision has been shifted to much more complex topics, including:</a:t>
            </a:r>
            <a:endParaRPr/>
          </a:p>
          <a:p>
            <a:pPr indent="-64135"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Object Recognition</a:t>
            </a:r>
            <a:endParaRPr/>
          </a:p>
        </p:txBody>
      </p:sp>
      <p:sp>
        <p:nvSpPr>
          <p:cNvPr id="94" name="Google Shape;94;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Object recognition is the technique of identifying the object present in images and videos. It is one of the most important applications of machine learning and deep learning. </a:t>
            </a:r>
            <a:endParaRPr/>
          </a:p>
          <a:p>
            <a:pPr indent="-228600" lvl="0" marL="228600" rtl="0" algn="l">
              <a:lnSpc>
                <a:spcPct val="90000"/>
              </a:lnSpc>
              <a:spcBef>
                <a:spcPts val="1000"/>
              </a:spcBef>
              <a:spcAft>
                <a:spcPts val="0"/>
              </a:spcAft>
              <a:buClr>
                <a:schemeClr val="dk1"/>
              </a:buClr>
              <a:buSzPts val="2800"/>
              <a:buChar char="•"/>
            </a:pPr>
            <a:r>
              <a:rPr lang="en-US"/>
              <a:t>The goal of this field is to teach machines to understand (recognize) the content of an image just like humans do.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10"/>
          <p:cNvPicPr preferRelativeResize="0"/>
          <p:nvPr>
            <p:ph idx="1" type="body"/>
          </p:nvPr>
        </p:nvPicPr>
        <p:blipFill rotWithShape="1">
          <a:blip r:embed="rId3">
            <a:alphaModFix/>
          </a:blip>
          <a:srcRect b="0" l="0" r="0" t="0"/>
          <a:stretch/>
        </p:blipFill>
        <p:spPr>
          <a:xfrm>
            <a:off x="0" y="251706"/>
            <a:ext cx="12192000" cy="6354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11"/>
          <p:cNvPicPr preferRelativeResize="0"/>
          <p:nvPr/>
        </p:nvPicPr>
        <p:blipFill rotWithShape="1">
          <a:blip r:embed="rId3">
            <a:alphaModFix/>
          </a:blip>
          <a:srcRect b="0" l="0" r="0" t="0"/>
          <a:stretch/>
        </p:blipFill>
        <p:spPr>
          <a:xfrm>
            <a:off x="1219200" y="1285875"/>
            <a:ext cx="9753600" cy="4286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Object Recognition Using Machine Learning</a:t>
            </a:r>
            <a:br>
              <a:rPr b="1" lang="en-US"/>
            </a:br>
            <a:endParaRPr/>
          </a:p>
        </p:txBody>
      </p:sp>
      <p:sp>
        <p:nvSpPr>
          <p:cNvPr id="110" name="Google Shape;110;p12"/>
          <p:cNvSpPr txBox="1"/>
          <p:nvPr>
            <p:ph idx="1" type="body"/>
          </p:nvPr>
        </p:nvSpPr>
        <p:spPr>
          <a:xfrm>
            <a:off x="838200" y="1377901"/>
            <a:ext cx="10515600" cy="47991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lang="en-US"/>
              <a:t>HOG (Histogram of oriented Gradients) feature Extractor and SVM (Support Vector Machine) model</a:t>
            </a:r>
            <a:r>
              <a:rPr lang="en-US"/>
              <a:t>: Before the era of deep learning, it was a state-of-the-art method for object detection.</a:t>
            </a:r>
            <a:endParaRPr/>
          </a:p>
          <a:p>
            <a:pPr indent="-228600" lvl="0" marL="228600" rtl="0" algn="l">
              <a:lnSpc>
                <a:spcPct val="90000"/>
              </a:lnSpc>
              <a:spcBef>
                <a:spcPts val="1000"/>
              </a:spcBef>
              <a:spcAft>
                <a:spcPts val="0"/>
              </a:spcAft>
              <a:buClr>
                <a:schemeClr val="dk1"/>
              </a:buClr>
              <a:buSzPts val="2800"/>
              <a:buChar char="•"/>
            </a:pPr>
            <a:r>
              <a:rPr lang="en-US"/>
              <a:t> It takes histogram descriptors of both positive ( images that contain   objects) and negative (images that does not contain objects) samples and trains our SVM model on that.  </a:t>
            </a:r>
            <a:endParaRPr/>
          </a:p>
          <a:p>
            <a:pPr indent="0" lvl="0" marL="0" rtl="0" algn="l">
              <a:lnSpc>
                <a:spcPct val="90000"/>
              </a:lnSpc>
              <a:spcBef>
                <a:spcPts val="1000"/>
              </a:spcBef>
              <a:spcAft>
                <a:spcPts val="0"/>
              </a:spcAft>
              <a:buNone/>
            </a:pPr>
            <a:r>
              <a:t/>
            </a:r>
            <a:endParaRPr/>
          </a:p>
          <a:p>
            <a:pPr indent="-342900" lvl="0" marL="457200" rtl="0" algn="l">
              <a:spcBef>
                <a:spcPts val="0"/>
              </a:spcBef>
              <a:spcAft>
                <a:spcPts val="0"/>
              </a:spcAft>
              <a:buSzPts val="1800"/>
              <a:buChar char="●"/>
            </a:pPr>
            <a:r>
              <a:rPr b="1" lang="en-US"/>
              <a:t>Bag of features model</a:t>
            </a:r>
            <a:r>
              <a:rPr lang="en-US"/>
              <a:t>: Just like bag of words considers document as an orderless collection of words, this approach also represents an image as an orderless collection of image features. Examples of this are SIFT, MSER, etc.</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2e9527a3a4b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SIFT (Scale-Invariant Feature Transform):</a:t>
            </a:r>
            <a:endParaRPr/>
          </a:p>
        </p:txBody>
      </p:sp>
      <p:sp>
        <p:nvSpPr>
          <p:cNvPr id="116" name="Google Shape;116;g2e9527a3a4b_0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1000"/>
              </a:spcBef>
              <a:spcAft>
                <a:spcPts val="0"/>
              </a:spcAft>
              <a:buSzPts val="1800"/>
              <a:buNone/>
            </a:pPr>
            <a:r>
              <a:rPr b="1" lang="en-US"/>
              <a:t>What it does:</a:t>
            </a:r>
            <a:r>
              <a:rPr lang="en-US"/>
              <a:t> SIFT is a powerful algorithm known for its robustness to scale and rotation changes. It excels at finding distinctive keypoints in an image that remain stable even under these variations.</a:t>
            </a:r>
            <a:endParaRPr/>
          </a:p>
          <a:p>
            <a:pPr indent="0" lvl="0" marL="0" rtl="0" algn="l">
              <a:lnSpc>
                <a:spcPct val="90000"/>
              </a:lnSpc>
              <a:spcBef>
                <a:spcPts val="1000"/>
              </a:spcBef>
              <a:spcAft>
                <a:spcPts val="0"/>
              </a:spcAft>
              <a:buSzPts val="1800"/>
              <a:buNone/>
            </a:pPr>
            <a:r>
              <a:rPr lang="en-US"/>
              <a:t>How it works: </a:t>
            </a:r>
            <a:r>
              <a:rPr b="1" lang="en-US"/>
              <a:t>SIFT works by identifying locations in the image with high local contrast in all directions.</a:t>
            </a:r>
            <a:r>
              <a:rPr lang="en-US"/>
              <a:t> It then assigns a descriptor to each keypoint, capturing the gradient information around it. This descriptor allows matching keypoints between images despite changes in scale or rotation.</a:t>
            </a:r>
            <a:endParaRPr/>
          </a:p>
          <a:p>
            <a:pPr indent="0" lvl="0" marL="0" rtl="0" algn="l">
              <a:lnSpc>
                <a:spcPct val="90000"/>
              </a:lnSpc>
              <a:spcBef>
                <a:spcPts val="1000"/>
              </a:spcBef>
              <a:spcAft>
                <a:spcPts val="0"/>
              </a:spcAft>
              <a:buSzPts val="1800"/>
              <a:buNone/>
            </a:pPr>
            <a:r>
              <a:rPr lang="en-US"/>
              <a:t>Pros: Highly accurate, robust to scale and rotation, widely used and implemented in many computer vision libraries.</a:t>
            </a:r>
            <a:endParaRPr/>
          </a:p>
          <a:p>
            <a:pPr indent="0" lvl="0" marL="0" rtl="0" algn="l">
              <a:lnSpc>
                <a:spcPct val="90000"/>
              </a:lnSpc>
              <a:spcBef>
                <a:spcPts val="1000"/>
              </a:spcBef>
              <a:spcAft>
                <a:spcPts val="0"/>
              </a:spcAft>
              <a:buSzPts val="1800"/>
              <a:buNone/>
            </a:pPr>
            <a:r>
              <a:rPr lang="en-US"/>
              <a:t>Cons: Computationally expensive, can be slow for real-time applications.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2e9527a3a4b_0_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SURF (Speeded-Up Robust Features):</a:t>
            </a:r>
            <a:endParaRPr/>
          </a:p>
        </p:txBody>
      </p:sp>
      <p:sp>
        <p:nvSpPr>
          <p:cNvPr id="122" name="Google Shape;122;g2e9527a3a4b_0_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1000"/>
              </a:spcBef>
              <a:spcAft>
                <a:spcPts val="0"/>
              </a:spcAft>
              <a:buSzPts val="1800"/>
              <a:buNone/>
            </a:pPr>
            <a:r>
              <a:rPr b="1" lang="en-US"/>
              <a:t>What it does:</a:t>
            </a:r>
            <a:r>
              <a:rPr lang="en-US"/>
              <a:t> SURF is a faster alternative to SIFT, designed for real-time applications. It achieves good levels of accuracy and robustness while being significantly faster than SIFT.</a:t>
            </a:r>
            <a:endParaRPr/>
          </a:p>
          <a:p>
            <a:pPr indent="0" lvl="0" marL="0" rtl="0" algn="l">
              <a:lnSpc>
                <a:spcPct val="90000"/>
              </a:lnSpc>
              <a:spcBef>
                <a:spcPts val="1000"/>
              </a:spcBef>
              <a:spcAft>
                <a:spcPts val="0"/>
              </a:spcAft>
              <a:buSzPts val="1800"/>
              <a:buNone/>
            </a:pPr>
            <a:r>
              <a:rPr b="1" lang="en-US"/>
              <a:t>How it works</a:t>
            </a:r>
            <a:r>
              <a:rPr lang="en-US"/>
              <a:t>: Similar to SIFT, SURF identifies keypoints based on local contrast but uses simpler mathematical operations to achieve speed. It also uses integral images for efficient computation.</a:t>
            </a:r>
            <a:endParaRPr/>
          </a:p>
          <a:p>
            <a:pPr indent="0" lvl="0" marL="0" rtl="0" algn="l">
              <a:lnSpc>
                <a:spcPct val="90000"/>
              </a:lnSpc>
              <a:spcBef>
                <a:spcPts val="1000"/>
              </a:spcBef>
              <a:spcAft>
                <a:spcPts val="0"/>
              </a:spcAft>
              <a:buSzPts val="1800"/>
              <a:buNone/>
            </a:pPr>
            <a:r>
              <a:rPr b="1" lang="en-US"/>
              <a:t>Pros:</a:t>
            </a:r>
            <a:r>
              <a:rPr lang="en-US"/>
              <a:t> Much faster than SIFT, good accuracy and robustness for many tasks.</a:t>
            </a:r>
            <a:endParaRPr/>
          </a:p>
          <a:p>
            <a:pPr indent="0" lvl="0" marL="0" rtl="0" algn="l">
              <a:lnSpc>
                <a:spcPct val="90000"/>
              </a:lnSpc>
              <a:spcBef>
                <a:spcPts val="1000"/>
              </a:spcBef>
              <a:spcAft>
                <a:spcPts val="0"/>
              </a:spcAft>
              <a:buSzPts val="1800"/>
              <a:buNone/>
            </a:pPr>
            <a:r>
              <a:rPr b="1" lang="en-US"/>
              <a:t>Cons:</a:t>
            </a:r>
            <a:r>
              <a:rPr lang="en-US"/>
              <a:t> Less accurate than SIFT, may not be suitable for highly demanding applications.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2e9527a3a4b_0_1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ORB (Oriented FAST and Rotated BRIEF):</a:t>
            </a:r>
            <a:endParaRPr/>
          </a:p>
        </p:txBody>
      </p:sp>
      <p:sp>
        <p:nvSpPr>
          <p:cNvPr id="128" name="Google Shape;128;g2e9527a3a4b_0_1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b="1" lang="en-US"/>
              <a:t>What it does:</a:t>
            </a:r>
            <a:r>
              <a:rPr lang="en-US"/>
              <a:t> ORB offers a good balance between speed and accuracy. It's faster than SIFT and SURF while providing reasonable feature detection capabilities.</a:t>
            </a:r>
            <a:endParaRPr/>
          </a:p>
          <a:p>
            <a:pPr indent="0" lvl="0" marL="0" rtl="0" algn="l">
              <a:lnSpc>
                <a:spcPct val="90000"/>
              </a:lnSpc>
              <a:spcBef>
                <a:spcPts val="1000"/>
              </a:spcBef>
              <a:spcAft>
                <a:spcPts val="0"/>
              </a:spcAft>
              <a:buSzPts val="1800"/>
              <a:buNone/>
            </a:pPr>
            <a:r>
              <a:rPr b="1" lang="en-US"/>
              <a:t>How it works</a:t>
            </a:r>
            <a:r>
              <a:rPr lang="en-US"/>
              <a:t>: ORB combines FAST (Features from Accelerated Segment Test) for fast keypoint detection with BRIEF (Binary Robust Independent Elementary Features) for efficient descriptor generation.</a:t>
            </a:r>
            <a:endParaRPr/>
          </a:p>
          <a:p>
            <a:pPr indent="0" lvl="0" marL="0" rtl="0" algn="l">
              <a:lnSpc>
                <a:spcPct val="90000"/>
              </a:lnSpc>
              <a:spcBef>
                <a:spcPts val="1000"/>
              </a:spcBef>
              <a:spcAft>
                <a:spcPts val="0"/>
              </a:spcAft>
              <a:buSzPts val="1800"/>
              <a:buNone/>
            </a:pPr>
            <a:r>
              <a:rPr b="1" lang="en-US"/>
              <a:t>Pros:</a:t>
            </a:r>
            <a:r>
              <a:rPr lang="en-US"/>
              <a:t> Very fast, offers a good trade-off between speed and accuracy.</a:t>
            </a:r>
            <a:endParaRPr/>
          </a:p>
          <a:p>
            <a:pPr indent="0" lvl="0" marL="0" rtl="0" algn="l">
              <a:lnSpc>
                <a:spcPct val="90000"/>
              </a:lnSpc>
              <a:spcBef>
                <a:spcPts val="1000"/>
              </a:spcBef>
              <a:spcAft>
                <a:spcPts val="0"/>
              </a:spcAft>
              <a:buSzPts val="1800"/>
              <a:buNone/>
            </a:pPr>
            <a:r>
              <a:rPr b="1" lang="en-US"/>
              <a:t>Cons:</a:t>
            </a:r>
            <a:r>
              <a:rPr lang="en-US"/>
              <a:t> Not as robust as SIFT or SURF for challenging scenarios.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id="133" name="Google Shape;133;g2e9527a3a4b_0_24"/>
          <p:cNvPicPr preferRelativeResize="0"/>
          <p:nvPr/>
        </p:nvPicPr>
        <p:blipFill rotWithShape="1">
          <a:blip r:embed="rId3">
            <a:alphaModFix/>
          </a:blip>
          <a:srcRect b="0" l="0" r="0" t="0"/>
          <a:stretch/>
        </p:blipFill>
        <p:spPr>
          <a:xfrm>
            <a:off x="2009775" y="634600"/>
            <a:ext cx="7723575" cy="5414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Viola-Jones algorithm:</a:t>
            </a:r>
            <a:r>
              <a:rPr lang="en-US"/>
              <a:t>  This algorithm is widely used for face detection in the image or real-time. It performs Haar-like feature extraction from the image. This generates a large number of features. These features are then passed into a boosting classifier. This generates a cascade of the boosted classifier to perform image detection. An image needs to pass to each of the classifiers to generate a positive (face found) result. The advantage of Viola-Jones is that it has a detection time of 2 fps which can be used in a real-time face recognition system.</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Object Recognition Using Deep Learning</a:t>
            </a:r>
            <a:br>
              <a:rPr b="1" lang="en-US"/>
            </a:br>
            <a:endParaRPr/>
          </a:p>
        </p:txBody>
      </p:sp>
      <p:sp>
        <p:nvSpPr>
          <p:cNvPr id="144" name="Google Shape;144;p15"/>
          <p:cNvSpPr txBox="1"/>
          <p:nvPr>
            <p:ph idx="1" type="body"/>
          </p:nvPr>
        </p:nvSpPr>
        <p:spPr>
          <a:xfrm>
            <a:off x="838200" y="1524700"/>
            <a:ext cx="10515600" cy="43512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Convolution Neural Network (CNN) is one of the most popular ways of doing object recognition. </a:t>
            </a:r>
            <a:br>
              <a:rPr lang="en-US"/>
            </a:br>
            <a:endParaRPr/>
          </a:p>
          <a:p>
            <a:pPr indent="-228600" lvl="0" marL="228600" rtl="0" algn="l">
              <a:lnSpc>
                <a:spcPct val="90000"/>
              </a:lnSpc>
              <a:spcBef>
                <a:spcPts val="0"/>
              </a:spcBef>
              <a:spcAft>
                <a:spcPts val="0"/>
              </a:spcAft>
              <a:buClr>
                <a:schemeClr val="dk1"/>
              </a:buClr>
              <a:buSzPts val="2800"/>
              <a:buChar char="•"/>
            </a:pPr>
            <a:r>
              <a:rPr lang="en-US"/>
              <a:t>It is widely used and most state-of-the-art neural networks used this method for various object recognition related tasks such as image classification. This CNN network takes an image as input and outputs the probability of the different classes. </a:t>
            </a:r>
            <a:br>
              <a:rPr lang="en-US"/>
            </a:br>
            <a:endParaRPr/>
          </a:p>
          <a:p>
            <a:pPr indent="-228600" lvl="0" marL="228600" rtl="0" algn="l">
              <a:lnSpc>
                <a:spcPct val="90000"/>
              </a:lnSpc>
              <a:spcBef>
                <a:spcPts val="0"/>
              </a:spcBef>
              <a:spcAft>
                <a:spcPts val="0"/>
              </a:spcAft>
              <a:buClr>
                <a:schemeClr val="dk1"/>
              </a:buClr>
              <a:buSzPts val="2800"/>
              <a:buChar char="•"/>
            </a:pPr>
            <a:r>
              <a:rPr lang="en-US"/>
              <a:t>If the object present in the image then it’s output probability is high else the output probability of the rest of classes is either negligible or low. The advantage of Deep learning is that we don’t need to do feature extraction from data as compared to machine learning.</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p16"/>
          <p:cNvPicPr preferRelativeResize="0"/>
          <p:nvPr>
            <p:ph idx="1" type="body"/>
          </p:nvPr>
        </p:nvPicPr>
        <p:blipFill rotWithShape="1">
          <a:blip r:embed="rId3">
            <a:alphaModFix/>
          </a:blip>
          <a:srcRect b="0" l="0" r="0" t="0"/>
          <a:stretch/>
        </p:blipFill>
        <p:spPr>
          <a:xfrm>
            <a:off x="526900" y="522650"/>
            <a:ext cx="10621500" cy="4995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Challenges of Object Recognition:</a:t>
            </a:r>
            <a:endParaRPr/>
          </a:p>
        </p:txBody>
      </p:sp>
      <p:sp>
        <p:nvSpPr>
          <p:cNvPr id="155" name="Google Shape;155;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Since we take the output generated by last (fully connected) layer of the CNN model is a single class label. So, a simple CNN approach will not work if more than one class labels are present in the image.</a:t>
            </a:r>
            <a:endParaRPr b="1"/>
          </a:p>
          <a:p>
            <a:pPr indent="-228600" lvl="0" marL="228600" rtl="0" algn="l">
              <a:lnSpc>
                <a:spcPct val="90000"/>
              </a:lnSpc>
              <a:spcBef>
                <a:spcPts val="1000"/>
              </a:spcBef>
              <a:spcAft>
                <a:spcPts val="0"/>
              </a:spcAft>
              <a:buClr>
                <a:schemeClr val="dk1"/>
              </a:buClr>
              <a:buSzPts val="2800"/>
              <a:buChar char="•"/>
            </a:pPr>
            <a:r>
              <a:rPr b="1" lang="en-US"/>
              <a:t>If we want to localize the presence of an object in the bounding box, we need to try a different approach that not only outputs the class label but also outputs the bounding box locations</a:t>
            </a:r>
            <a:endParaRPr b="1"/>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8"/>
          <p:cNvSpPr txBox="1"/>
          <p:nvPr>
            <p:ph idx="1" type="body"/>
          </p:nvPr>
        </p:nvSpPr>
        <p:spPr>
          <a:xfrm>
            <a:off x="838200" y="1044600"/>
            <a:ext cx="10515600" cy="41748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Image Classification :</a:t>
            </a:r>
            <a:r>
              <a:rPr lang="en-US"/>
              <a:t> It takes an image as an input and outputs the classification label of that image with some metric (probability, loss, accuracy, etc). For Example: An image of a cat can be classified as a class label “cat” or an image of Dog can be classified as a class label “dog” with some probability.</a:t>
            </a:r>
            <a:br>
              <a:rPr lang="en-US"/>
            </a:br>
            <a:endParaRPr/>
          </a:p>
          <a:p>
            <a:pPr indent="-228600" lvl="0" marL="228600" rtl="0" algn="l">
              <a:lnSpc>
                <a:spcPct val="90000"/>
              </a:lnSpc>
              <a:spcBef>
                <a:spcPts val="0"/>
              </a:spcBef>
              <a:spcAft>
                <a:spcPts val="0"/>
              </a:spcAft>
              <a:buClr>
                <a:schemeClr val="dk1"/>
              </a:buClr>
              <a:buSzPts val="2800"/>
              <a:buChar char="•"/>
            </a:pPr>
            <a:r>
              <a:rPr b="1" lang="en-US"/>
              <a:t>Object Localization: </a:t>
            </a:r>
            <a:r>
              <a:rPr lang="en-US"/>
              <a:t>This algorithm locates the presence of an object in the image and represents it with a bounding box. It takes an image as input and outputs the location of the bounding box in the form of (position, height, and width).</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0"/>
          <p:cNvSpPr txBox="1"/>
          <p:nvPr>
            <p:ph type="title"/>
          </p:nvPr>
        </p:nvSpPr>
        <p:spPr>
          <a:xfrm>
            <a:off x="838200" y="270100"/>
            <a:ext cx="10515600" cy="641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Object Detection:</a:t>
            </a:r>
            <a:endParaRPr/>
          </a:p>
        </p:txBody>
      </p:sp>
      <p:sp>
        <p:nvSpPr>
          <p:cNvPr id="166" name="Google Shape;166;p20"/>
          <p:cNvSpPr txBox="1"/>
          <p:nvPr>
            <p:ph idx="1" type="body"/>
          </p:nvPr>
        </p:nvSpPr>
        <p:spPr>
          <a:xfrm>
            <a:off x="838200" y="931338"/>
            <a:ext cx="10515600" cy="26133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1000"/>
              </a:spcBef>
              <a:spcAft>
                <a:spcPts val="0"/>
              </a:spcAft>
              <a:buClr>
                <a:schemeClr val="dk1"/>
              </a:buClr>
              <a:buSzPts val="2800"/>
              <a:buChar char="•"/>
            </a:pPr>
            <a:r>
              <a:rPr lang="en-US"/>
              <a:t>Its algorithm act as a combination of image classification and object localization. It takes an image as input and produces one or more bounding boxes with the class label attached to each bounding box. These algorithms are capable enough to deal with multi-class classification and localization as well as to deal with the objects with multiple occurrences.</a:t>
            </a:r>
            <a:endParaRPr/>
          </a:p>
        </p:txBody>
      </p:sp>
      <p:sp>
        <p:nvSpPr>
          <p:cNvPr id="167" name="Google Shape;167;p20"/>
          <p:cNvSpPr txBox="1"/>
          <p:nvPr>
            <p:ph type="title"/>
          </p:nvPr>
        </p:nvSpPr>
        <p:spPr>
          <a:xfrm>
            <a:off x="838200" y="3564475"/>
            <a:ext cx="10515600" cy="90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Challenges of Object Detection:</a:t>
            </a:r>
            <a:endParaRPr/>
          </a:p>
        </p:txBody>
      </p:sp>
      <p:sp>
        <p:nvSpPr>
          <p:cNvPr id="168" name="Google Shape;168;p20"/>
          <p:cNvSpPr txBox="1"/>
          <p:nvPr>
            <p:ph idx="1" type="body"/>
          </p:nvPr>
        </p:nvSpPr>
        <p:spPr>
          <a:xfrm>
            <a:off x="774825" y="4391425"/>
            <a:ext cx="10515600" cy="2316900"/>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1000"/>
              </a:spcBef>
              <a:spcAft>
                <a:spcPts val="0"/>
              </a:spcAft>
              <a:buClr>
                <a:schemeClr val="dk1"/>
              </a:buClr>
              <a:buSzPts val="2800"/>
              <a:buChar char="•"/>
            </a:pPr>
            <a:r>
              <a:rPr lang="en-US"/>
              <a:t>In object detection, the bounding boxes are always rectangular. So, it does not help with determining the shape of objects if the object contains the curvature part.</a:t>
            </a:r>
            <a:endParaRPr/>
          </a:p>
          <a:p>
            <a:pPr indent="-228600" lvl="0" marL="228600" rtl="0" algn="l">
              <a:lnSpc>
                <a:spcPct val="90000"/>
              </a:lnSpc>
              <a:spcBef>
                <a:spcPts val="1000"/>
              </a:spcBef>
              <a:spcAft>
                <a:spcPts val="0"/>
              </a:spcAft>
              <a:buClr>
                <a:schemeClr val="dk1"/>
              </a:buClr>
              <a:buSzPts val="2800"/>
              <a:buChar char="•"/>
            </a:pPr>
            <a:r>
              <a:rPr lang="en-US"/>
              <a:t>Object detection cannot accurately estimate some measurements such as the area of an object, perimeter of an object from image.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22"/>
          <p:cNvPicPr preferRelativeResize="0"/>
          <p:nvPr/>
        </p:nvPicPr>
        <p:blipFill rotWithShape="1">
          <a:blip r:embed="rId3">
            <a:alphaModFix/>
          </a:blip>
          <a:srcRect b="0" l="0" r="0" t="0"/>
          <a:stretch/>
        </p:blipFill>
        <p:spPr>
          <a:xfrm>
            <a:off x="719288" y="944291"/>
            <a:ext cx="10753425" cy="4969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Image Segmentation:</a:t>
            </a:r>
            <a:endParaRPr/>
          </a:p>
        </p:txBody>
      </p:sp>
      <p:sp>
        <p:nvSpPr>
          <p:cNvPr id="179" name="Google Shape;17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20000"/>
          </a:bodyPr>
          <a:lstStyle/>
          <a:p>
            <a:pPr indent="-260984" lvl="0" marL="228600" rtl="0" algn="l">
              <a:lnSpc>
                <a:spcPct val="90000"/>
              </a:lnSpc>
              <a:spcBef>
                <a:spcPts val="0"/>
              </a:spcBef>
              <a:spcAft>
                <a:spcPts val="0"/>
              </a:spcAft>
              <a:buClr>
                <a:schemeClr val="dk1"/>
              </a:buClr>
              <a:buSzPts val="3100"/>
              <a:buChar char="•"/>
            </a:pPr>
            <a:r>
              <a:rPr lang="en-US" sz="2700"/>
              <a:t>Image segmentation is a further extension of object detection in which we mark the presence of an object through pixel-wise masks generated for each object in the image. </a:t>
            </a:r>
            <a:endParaRPr sz="2700"/>
          </a:p>
          <a:p>
            <a:pPr indent="-260984" lvl="0" marL="228600" rtl="0" algn="l">
              <a:lnSpc>
                <a:spcPct val="90000"/>
              </a:lnSpc>
              <a:spcBef>
                <a:spcPts val="1000"/>
              </a:spcBef>
              <a:spcAft>
                <a:spcPts val="0"/>
              </a:spcAft>
              <a:buClr>
                <a:schemeClr val="dk1"/>
              </a:buClr>
              <a:buSzPts val="3100"/>
              <a:buChar char="•"/>
            </a:pPr>
            <a:r>
              <a:rPr lang="en-US" sz="2700"/>
              <a:t>This technique is more granular than bounding box generation because this can helps us in determining the shape of each object present in the image because instead of drawing bounding boxes , segmentation helps to figure out pixels that are making that object. This granularity helps us in various fields such as medical image processing, satellite imaging, etc. </a:t>
            </a:r>
            <a:endParaRPr sz="2700"/>
          </a:p>
          <a:p>
            <a:pPr indent="-260984" lvl="0" marL="228600" rtl="0" algn="l">
              <a:lnSpc>
                <a:spcPct val="90000"/>
              </a:lnSpc>
              <a:spcBef>
                <a:spcPts val="1000"/>
              </a:spcBef>
              <a:spcAft>
                <a:spcPts val="0"/>
              </a:spcAft>
              <a:buClr>
                <a:schemeClr val="dk1"/>
              </a:buClr>
              <a:buSzPts val="3100"/>
              <a:buChar char="•"/>
            </a:pPr>
            <a:r>
              <a:rPr lang="en-US" sz="2700"/>
              <a:t>There are many image segmentation approaches proposed recently. One of the most popular is Mask R-CNN proposed by</a:t>
            </a:r>
            <a:r>
              <a:rPr i="1" lang="en-US" sz="2700"/>
              <a:t> K He et al</a:t>
            </a:r>
            <a:r>
              <a:rPr lang="en-US" sz="2700"/>
              <a:t>. in 2017.</a:t>
            </a:r>
            <a:endParaRPr sz="27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24"/>
          <p:cNvPicPr preferRelativeResize="0"/>
          <p:nvPr/>
        </p:nvPicPr>
        <p:blipFill rotWithShape="1">
          <a:blip r:embed="rId3">
            <a:alphaModFix/>
          </a:blip>
          <a:srcRect b="0" l="0" r="0" t="0"/>
          <a:stretch/>
        </p:blipFill>
        <p:spPr>
          <a:xfrm>
            <a:off x="1910278" y="768199"/>
            <a:ext cx="8371450" cy="54693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There are primarily two types of segmentation:</a:t>
            </a:r>
            <a:br>
              <a:rPr lang="en-US"/>
            </a:br>
            <a:endParaRPr/>
          </a:p>
        </p:txBody>
      </p:sp>
      <p:sp>
        <p:nvSpPr>
          <p:cNvPr id="190" name="Google Shape;190;p25"/>
          <p:cNvSpPr txBox="1"/>
          <p:nvPr>
            <p:ph idx="1" type="body"/>
          </p:nvPr>
        </p:nvSpPr>
        <p:spPr>
          <a:xfrm>
            <a:off x="743175" y="1366300"/>
            <a:ext cx="10515600" cy="29661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1000"/>
              </a:spcBef>
              <a:spcAft>
                <a:spcPts val="0"/>
              </a:spcAft>
              <a:buClr>
                <a:schemeClr val="dk1"/>
              </a:buClr>
              <a:buSzPts val="2800"/>
              <a:buChar char="•"/>
            </a:pPr>
            <a:r>
              <a:rPr b="1" lang="en-US"/>
              <a:t>Instance Segmentation:</a:t>
            </a:r>
            <a:r>
              <a:rPr lang="en-US"/>
              <a:t> Multiple instances of same class are separate segments i.e.  objects of same class are treated as different. Therefore, all the objects are coloured with different colour even if they belong to same class.</a:t>
            </a:r>
            <a:endParaRPr/>
          </a:p>
          <a:p>
            <a:pPr indent="-228600" lvl="0" marL="228600" rtl="0" algn="l">
              <a:lnSpc>
                <a:spcPct val="90000"/>
              </a:lnSpc>
              <a:spcBef>
                <a:spcPts val="1000"/>
              </a:spcBef>
              <a:spcAft>
                <a:spcPts val="0"/>
              </a:spcAft>
              <a:buClr>
                <a:schemeClr val="dk1"/>
              </a:buClr>
              <a:buSzPts val="2800"/>
              <a:buChar char="•"/>
            </a:pPr>
            <a:r>
              <a:rPr b="1" lang="en-US"/>
              <a:t>Semantic Segmentation:</a:t>
            </a:r>
            <a:r>
              <a:rPr lang="en-US"/>
              <a:t> All objects of same class form a single classification ,therefore , all objects of same class are coloured by same colour.</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6"/>
          <p:cNvSpPr txBox="1"/>
          <p:nvPr>
            <p:ph type="title"/>
          </p:nvPr>
        </p:nvSpPr>
        <p:spPr>
          <a:xfrm>
            <a:off x="838200" y="237450"/>
            <a:ext cx="10515600" cy="864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Applications:</a:t>
            </a:r>
            <a:endParaRPr/>
          </a:p>
        </p:txBody>
      </p:sp>
      <p:sp>
        <p:nvSpPr>
          <p:cNvPr id="196" name="Google Shape;196;p26"/>
          <p:cNvSpPr txBox="1"/>
          <p:nvPr>
            <p:ph idx="1" type="body"/>
          </p:nvPr>
        </p:nvSpPr>
        <p:spPr>
          <a:xfrm>
            <a:off x="838200" y="1212300"/>
            <a:ext cx="10515600" cy="5547600"/>
          </a:xfrm>
          <a:prstGeom prst="rect">
            <a:avLst/>
          </a:prstGeom>
          <a:noFill/>
          <a:ln>
            <a:noFill/>
          </a:ln>
        </p:spPr>
        <p:txBody>
          <a:bodyPr anchorCtr="0" anchor="t" bIns="45700" lIns="91425" spcFirstLastPara="1" rIns="91425" wrap="square" tIns="45700">
            <a:normAutofit lnSpcReduction="10000"/>
          </a:bodyPr>
          <a:lstStyle/>
          <a:p>
            <a:pPr indent="-241934" lvl="0" marL="228600" rtl="0" algn="l">
              <a:lnSpc>
                <a:spcPct val="90000"/>
              </a:lnSpc>
              <a:spcBef>
                <a:spcPts val="0"/>
              </a:spcBef>
              <a:spcAft>
                <a:spcPts val="0"/>
              </a:spcAft>
              <a:buClr>
                <a:schemeClr val="dk1"/>
              </a:buClr>
              <a:buSzPts val="2800"/>
              <a:buChar char="•"/>
            </a:pPr>
            <a:r>
              <a:rPr lang="en-US"/>
              <a:t>The above-discussed object recognition techniques can be utilized in many fields such as:</a:t>
            </a:r>
            <a:endParaRPr/>
          </a:p>
          <a:p>
            <a:pPr indent="-241934" lvl="0" marL="228600" rtl="0" algn="l">
              <a:lnSpc>
                <a:spcPct val="90000"/>
              </a:lnSpc>
              <a:spcBef>
                <a:spcPts val="1000"/>
              </a:spcBef>
              <a:spcAft>
                <a:spcPts val="0"/>
              </a:spcAft>
              <a:buClr>
                <a:schemeClr val="dk1"/>
              </a:buClr>
              <a:buSzPts val="2800"/>
              <a:buChar char="•"/>
            </a:pPr>
            <a:r>
              <a:rPr b="1" lang="en-US"/>
              <a:t>Driverless</a:t>
            </a:r>
            <a:r>
              <a:rPr b="1" lang="en-US"/>
              <a:t> Cars:</a:t>
            </a:r>
            <a:r>
              <a:rPr lang="en-US"/>
              <a:t> Object Recognition is used for detecting road signs, other vehicles, etc.</a:t>
            </a:r>
            <a:endParaRPr/>
          </a:p>
          <a:p>
            <a:pPr indent="-241934" lvl="0" marL="228600" rtl="0" algn="l">
              <a:lnSpc>
                <a:spcPct val="90000"/>
              </a:lnSpc>
              <a:spcBef>
                <a:spcPts val="1000"/>
              </a:spcBef>
              <a:spcAft>
                <a:spcPts val="0"/>
              </a:spcAft>
              <a:buClr>
                <a:schemeClr val="dk1"/>
              </a:buClr>
              <a:buSzPts val="2800"/>
              <a:buChar char="•"/>
            </a:pPr>
            <a:r>
              <a:rPr b="1" lang="en-US"/>
              <a:t>Medical Image Processing:</a:t>
            </a:r>
            <a:r>
              <a:rPr lang="en-US"/>
              <a:t> Object Recognition and Image Processing techniques can help detect disease more accurately.  Image segmentation helps to detect the shape of the defect present in the body . For Example, Google AI for breast cancer detection detects more accurately than doctors. </a:t>
            </a:r>
            <a:endParaRPr/>
          </a:p>
          <a:p>
            <a:pPr indent="-241934" lvl="0" marL="228600" rtl="0" algn="l">
              <a:lnSpc>
                <a:spcPct val="90000"/>
              </a:lnSpc>
              <a:spcBef>
                <a:spcPts val="1000"/>
              </a:spcBef>
              <a:spcAft>
                <a:spcPts val="0"/>
              </a:spcAft>
              <a:buClr>
                <a:schemeClr val="dk1"/>
              </a:buClr>
              <a:buSzPts val="2800"/>
              <a:buChar char="•"/>
            </a:pPr>
            <a:r>
              <a:rPr b="1" lang="en-US"/>
              <a:t>Surveillance and Security:</a:t>
            </a:r>
            <a:r>
              <a:rPr lang="en-US"/>
              <a:t> such as Face Recognition, Object Tracking, Activity Recognition, etc</a:t>
            </a:r>
            <a:endParaRPr/>
          </a:p>
          <a:p>
            <a:pPr indent="0" lvl="0" marL="0" rtl="0" algn="l">
              <a:lnSpc>
                <a:spcPct val="90000"/>
              </a:lnSpc>
              <a:spcBef>
                <a:spcPts val="1000"/>
              </a:spcBef>
              <a:spcAft>
                <a:spcPts val="0"/>
              </a:spcAft>
              <a:buNone/>
            </a:pPr>
            <a:r>
              <a:t/>
            </a:r>
            <a:endParaRPr/>
          </a:p>
          <a:p>
            <a:pPr indent="0" lvl="0" marL="0" rtl="0" algn="l">
              <a:lnSpc>
                <a:spcPct val="90000"/>
              </a:lnSpc>
              <a:spcBef>
                <a:spcPts val="1000"/>
              </a:spcBef>
              <a:spcAft>
                <a:spcPts val="0"/>
              </a:spcAft>
              <a:buNone/>
            </a:pPr>
            <a:r>
              <a:t/>
            </a:r>
            <a:endParaRPr/>
          </a:p>
          <a:p>
            <a:pPr indent="-228600" lvl="0" marL="228600" rtl="0" algn="l">
              <a:spcBef>
                <a:spcPts val="0"/>
              </a:spcBef>
              <a:spcAft>
                <a:spcPts val="0"/>
              </a:spcAft>
              <a:buSzPts val="2800"/>
              <a:buChar char="•"/>
            </a:pPr>
            <a:r>
              <a:rPr lang="en-US"/>
              <a:t>https://www.v7labs.com/blog/what-is-computer-vision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2023-12-22T06:37:59Z</dcterms:created>
  <dc:creator>Radhe</dc:creator>
</cp:coreProperties>
</file>