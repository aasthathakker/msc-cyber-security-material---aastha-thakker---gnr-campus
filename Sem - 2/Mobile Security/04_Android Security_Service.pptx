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57" r:id="rId2"/>
    <p:sldId id="467" r:id="rId3"/>
    <p:sldId id="465" r:id="rId4"/>
    <p:sldId id="448" r:id="rId5"/>
    <p:sldId id="449" r:id="rId6"/>
    <p:sldId id="468" r:id="rId7"/>
    <p:sldId id="451" r:id="rId8"/>
    <p:sldId id="469" r:id="rId9"/>
    <p:sldId id="452" r:id="rId10"/>
    <p:sldId id="453" r:id="rId11"/>
    <p:sldId id="454" r:id="rId12"/>
    <p:sldId id="455" r:id="rId13"/>
    <p:sldId id="456" r:id="rId14"/>
    <p:sldId id="459" r:id="rId15"/>
    <p:sldId id="460" r:id="rId16"/>
    <p:sldId id="461" r:id="rId17"/>
    <p:sldId id="462" r:id="rId18"/>
    <p:sldId id="46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pPr/>
              <a:t>4/26/2026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586034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3883223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671102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354341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pPr/>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3056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pPr/>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1668757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pPr/>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66176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178026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512211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410559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pPr/>
              <a:t>‹#›</a:t>
            </a:fld>
            <a:endParaRPr lang="en-US"/>
          </a:p>
        </p:txBody>
      </p:sp>
    </p:spTree>
    <p:extLst>
      <p:ext uri="{BB962C8B-B14F-4D97-AF65-F5344CB8AC3E}">
        <p14:creationId xmlns:p14="http://schemas.microsoft.com/office/powerpoint/2010/main" val="2063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pPr/>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pPr/>
              <a:t>‹#›</a:t>
            </a:fld>
            <a:endParaRPr lang="en-US"/>
          </a:p>
        </p:txBody>
      </p:sp>
    </p:spTree>
    <p:extLst>
      <p:ext uri="{BB962C8B-B14F-4D97-AF65-F5344CB8AC3E}">
        <p14:creationId xmlns:p14="http://schemas.microsoft.com/office/powerpoint/2010/main" val="779698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p>
          <a:p>
            <a:r>
              <a:rPr lang="en-US" sz="2000" b="1" dirty="0">
                <a:solidFill>
                  <a:schemeClr val="tx1"/>
                </a:solidFill>
              </a:rPr>
              <a:t>(Cyber Security and Digital Forensics)</a:t>
            </a:r>
          </a:p>
          <a:p>
            <a:r>
              <a:rPr lang="en-US" sz="2000" b="1" dirty="0">
                <a:solidFill>
                  <a:schemeClr val="tx1"/>
                </a:solidFill>
              </a:rPr>
              <a:t>Institute of Forensic Science </a:t>
            </a:r>
          </a:p>
          <a:p>
            <a:r>
              <a:rPr lang="en-US" sz="2000" b="1" dirty="0">
                <a:solidFill>
                  <a:schemeClr val="tx1"/>
                </a:solidFill>
              </a:rPr>
              <a:t>Gujarat Forensic Sciences University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1029" name="Picture 5" descr="GFSU: Courses, Admissions, Placements, Scholarships, Fees"/>
          <p:cNvPicPr>
            <a:picLocks noChangeAspect="1" noChangeArrowheads="1"/>
          </p:cNvPicPr>
          <p:nvPr/>
        </p:nvPicPr>
        <p:blipFill>
          <a:blip r:embed="rId3"/>
          <a:srcRect/>
          <a:stretch>
            <a:fillRect/>
          </a:stretch>
        </p:blipFill>
        <p:spPr bwMode="auto">
          <a:xfrm>
            <a:off x="4045495" y="0"/>
            <a:ext cx="1120496" cy="1428736"/>
          </a:xfrm>
          <a:prstGeom prst="rect">
            <a:avLst/>
          </a:prstGeom>
          <a:noFill/>
        </p:spPr>
      </p:pic>
    </p:spTree>
    <p:extLst>
      <p:ext uri="{BB962C8B-B14F-4D97-AF65-F5344CB8AC3E}">
        <p14:creationId xmlns:p14="http://schemas.microsoft.com/office/powerpoint/2010/main" val="482015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1371600" lvl="2" indent="-457200" algn="just">
              <a:lnSpc>
                <a:spcPct val="150000"/>
              </a:lnSpc>
            </a:pPr>
            <a:endParaRPr lang="en-IN" sz="2200" dirty="0">
              <a:solidFill>
                <a:schemeClr val="tx1"/>
              </a:solidFill>
              <a:latin typeface="Times New Roman" pitchFamily="18" charset="0"/>
              <a:cs typeface="Times New Roman" pitchFamily="18" charset="0"/>
            </a:endParaRPr>
          </a:p>
          <a:p>
            <a:pPr marL="1371600" lvl="2" indent="-457200" algn="just">
              <a:lnSpc>
                <a:spcPct val="150000"/>
              </a:lnSpc>
            </a:pPr>
            <a:endParaRPr lang="en-IN" sz="2200" dirty="0">
              <a:solidFill>
                <a:schemeClr val="tx1"/>
              </a:solidFill>
              <a:latin typeface="Times New Roman" pitchFamily="18" charset="0"/>
              <a:cs typeface="Times New Roman" pitchFamily="18" charset="0"/>
            </a:endParaRPr>
          </a:p>
          <a:p>
            <a:pPr marL="1371600" lvl="2" indent="-457200" algn="just">
              <a:lnSpc>
                <a:spcPct val="150000"/>
              </a:lnSpc>
            </a:pPr>
            <a:endParaRPr lang="en-IN" sz="2200" dirty="0">
              <a:solidFill>
                <a:schemeClr val="tx1"/>
              </a:solidFill>
              <a:latin typeface="Times New Roman" pitchFamily="18" charset="0"/>
              <a:cs typeface="Times New Roman" pitchFamily="18" charset="0"/>
            </a:endParaRPr>
          </a:p>
          <a:p>
            <a:pPr marL="1371600" lvl="2" indent="-457200">
              <a:lnSpc>
                <a:spcPct val="150000"/>
              </a:lnSpc>
            </a:pPr>
            <a:r>
              <a:rPr lang="en-IN" sz="6600" dirty="0">
                <a:solidFill>
                  <a:schemeClr val="tx1"/>
                </a:solidFill>
                <a:latin typeface="Times New Roman" pitchFamily="18" charset="0"/>
                <a:cs typeface="Times New Roman" pitchFamily="18" charset="0"/>
              </a:rPr>
              <a:t>Android Service</a:t>
            </a:r>
            <a:endParaRPr lang="en-US" sz="6600"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Android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467320"/>
          </a:xfrm>
        </p:spPr>
        <p:txBody>
          <a:bodyPr>
            <a:normAutofit/>
          </a:bodyPr>
          <a:lstStyle/>
          <a:p>
            <a:endParaRPr lang="en-IN" sz="4400" b="1" dirty="0">
              <a:solidFill>
                <a:schemeClr val="tx1"/>
              </a:solidFill>
            </a:endParaRPr>
          </a:p>
          <a:p>
            <a:r>
              <a:rPr lang="en-IN" sz="4400" b="1" dirty="0">
                <a:solidFill>
                  <a:schemeClr val="tx1"/>
                </a:solidFill>
              </a:rPr>
              <a:t>Reference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b="1" dirty="0">
              <a:solidFill>
                <a:schemeClr val="tx1"/>
              </a:solidFill>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1" name="Picture 5" descr="GFSU: Courses, Admissions, Placements, Scholarships, Fees"/>
          <p:cNvPicPr>
            <a:picLocks noChangeAspect="1" noChangeArrowheads="1"/>
          </p:cNvPicPr>
          <p:nvPr/>
        </p:nvPicPr>
        <p:blipFill>
          <a:blip r:embed="rId2"/>
          <a:srcRect/>
          <a:stretch>
            <a:fillRect/>
          </a:stretch>
        </p:blipFill>
        <p:spPr bwMode="auto">
          <a:xfrm>
            <a:off x="3786183" y="0"/>
            <a:ext cx="1120496" cy="1428736"/>
          </a:xfrm>
          <a:prstGeom prst="rect">
            <a:avLst/>
          </a:prstGeom>
          <a:noFill/>
        </p:spPr>
      </p:pic>
      <p:sp>
        <p:nvSpPr>
          <p:cNvPr id="12" name="Rectangle 11"/>
          <p:cNvSpPr/>
          <p:nvPr/>
        </p:nvSpPr>
        <p:spPr>
          <a:xfrm>
            <a:off x="5500694" y="2660884"/>
            <a:ext cx="3357586" cy="1214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www.developer.google.com</a:t>
            </a:r>
            <a:endParaRPr lang="en-US" dirty="0"/>
          </a:p>
        </p:txBody>
      </p:sp>
      <p:sp>
        <p:nvSpPr>
          <p:cNvPr id="14" name="Rectangle 13"/>
          <p:cNvSpPr/>
          <p:nvPr/>
        </p:nvSpPr>
        <p:spPr>
          <a:xfrm>
            <a:off x="5500694" y="4232520"/>
            <a:ext cx="3429024" cy="1214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Times New Roman" pitchFamily="18" charset="0"/>
                <a:cs typeface="Times New Roman" pitchFamily="18" charset="0"/>
              </a:rPr>
              <a:t>https://data-flair.training/blogs/android-service-tutorial/</a:t>
            </a:r>
          </a:p>
        </p:txBody>
      </p:sp>
      <p:pic>
        <p:nvPicPr>
          <p:cNvPr id="13313" name="Picture 1"/>
          <p:cNvPicPr>
            <a:picLocks noChangeAspect="1" noChangeArrowheads="1"/>
          </p:cNvPicPr>
          <p:nvPr/>
        </p:nvPicPr>
        <p:blipFill>
          <a:blip r:embed="rId3"/>
          <a:srcRect/>
          <a:stretch>
            <a:fillRect/>
          </a:stretch>
        </p:blipFill>
        <p:spPr bwMode="auto">
          <a:xfrm>
            <a:off x="40944" y="2402428"/>
            <a:ext cx="2686892" cy="3214710"/>
          </a:xfrm>
          <a:prstGeom prst="rect">
            <a:avLst/>
          </a:prstGeom>
          <a:noFill/>
          <a:ln w="9525">
            <a:noFill/>
            <a:miter lim="800000"/>
            <a:headEnd/>
            <a:tailEnd/>
          </a:ln>
          <a:effectLst/>
        </p:spPr>
      </p:pic>
      <p:pic>
        <p:nvPicPr>
          <p:cNvPr id="13314" name="Picture 2"/>
          <p:cNvPicPr>
            <a:picLocks noChangeAspect="1" noChangeArrowheads="1"/>
          </p:cNvPicPr>
          <p:nvPr/>
        </p:nvPicPr>
        <p:blipFill>
          <a:blip r:embed="rId4"/>
          <a:srcRect/>
          <a:stretch>
            <a:fillRect/>
          </a:stretch>
        </p:blipFill>
        <p:spPr bwMode="auto">
          <a:xfrm>
            <a:off x="2857488" y="2446570"/>
            <a:ext cx="2448240" cy="3214710"/>
          </a:xfrm>
          <a:prstGeom prst="rect">
            <a:avLst/>
          </a:prstGeom>
          <a:noFill/>
          <a:ln w="9525">
            <a:noFill/>
            <a:miter lim="800000"/>
            <a:headEnd/>
            <a:tailEnd/>
          </a:ln>
          <a:effectLst/>
        </p:spPr>
      </p:pic>
    </p:spTree>
    <p:extLst>
      <p:ext uri="{BB962C8B-B14F-4D97-AF65-F5344CB8AC3E}">
        <p14:creationId xmlns:p14="http://schemas.microsoft.com/office/powerpoint/2010/main" val="482015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Android Services are the application components that </a:t>
            </a:r>
            <a:r>
              <a:rPr lang="en-US" sz="2600" b="1" dirty="0">
                <a:solidFill>
                  <a:schemeClr val="tx1"/>
                </a:solidFill>
                <a:latin typeface="Times New Roman" pitchFamily="18" charset="0"/>
                <a:cs typeface="Times New Roman" pitchFamily="18" charset="0"/>
              </a:rPr>
              <a:t>run in the background</a:t>
            </a:r>
            <a:r>
              <a:rPr lang="en-US" sz="2600" dirty="0">
                <a:solidFill>
                  <a:schemeClr val="tx1"/>
                </a:solidFill>
                <a:latin typeface="Times New Roman" pitchFamily="18" charset="0"/>
                <a:cs typeface="Times New Roman" pitchFamily="18" charset="0"/>
              </a:rPr>
              <a:t>.</a:t>
            </a:r>
          </a:p>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We can understand it as a process that </a:t>
            </a:r>
            <a:r>
              <a:rPr lang="en-US" sz="2600" b="1" dirty="0">
                <a:solidFill>
                  <a:schemeClr val="tx1"/>
                </a:solidFill>
                <a:latin typeface="Times New Roman" pitchFamily="18" charset="0"/>
                <a:cs typeface="Times New Roman" pitchFamily="18" charset="0"/>
              </a:rPr>
              <a:t>doesn’t need any direct user interaction.</a:t>
            </a:r>
          </a:p>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As they perform </a:t>
            </a:r>
            <a:r>
              <a:rPr lang="en-US" sz="2600" b="1" dirty="0">
                <a:solidFill>
                  <a:schemeClr val="tx1"/>
                </a:solidFill>
                <a:latin typeface="Times New Roman" pitchFamily="18" charset="0"/>
                <a:cs typeface="Times New Roman" pitchFamily="18" charset="0"/>
              </a:rPr>
              <a:t>long-running processes </a:t>
            </a:r>
            <a:r>
              <a:rPr lang="en-US" sz="2600" dirty="0">
                <a:solidFill>
                  <a:schemeClr val="tx1"/>
                </a:solidFill>
                <a:latin typeface="Times New Roman" pitchFamily="18" charset="0"/>
                <a:cs typeface="Times New Roman" pitchFamily="18" charset="0"/>
              </a:rPr>
              <a:t>without user intervention, they have no User Interface. </a:t>
            </a:r>
          </a:p>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They can be connected to other components and do inter-process communication (IPC).</a:t>
            </a:r>
          </a:p>
          <a:p>
            <a:pPr marL="1371600" lvl="2" indent="-457200" algn="just">
              <a:lnSpc>
                <a:spcPct val="150000"/>
              </a:lnSpc>
            </a:pPr>
            <a:r>
              <a:rPr lang="en-US" sz="2200" dirty="0">
                <a:solidFill>
                  <a:srgbClr val="3333FF"/>
                </a:solidFill>
                <a:latin typeface="Times New Roman" pitchFamily="18" charset="0"/>
                <a:cs typeface="Times New Roman" pitchFamily="18" charset="0"/>
              </a:rPr>
              <a:t>	</a:t>
            </a:r>
          </a:p>
          <a:p>
            <a:pPr marL="1371600" lvl="2" indent="-457200" algn="just">
              <a:lnSpc>
                <a:spcPct val="150000"/>
              </a:lnSpc>
            </a:pPr>
            <a:endParaRPr lang="en-US" sz="2200" dirty="0">
              <a:solidFill>
                <a:srgbClr val="3333FF"/>
              </a:solidFill>
              <a:latin typeface="Times New Roman" pitchFamily="18" charset="0"/>
              <a:cs typeface="Times New Roman" pitchFamily="18" charset="0"/>
            </a:endParaRPr>
          </a:p>
          <a:p>
            <a:pPr marL="1371600" lvl="2" indent="-457200" algn="just">
              <a:lnSpc>
                <a:spcPct val="150000"/>
              </a:lnSpc>
            </a:pPr>
            <a:endParaRPr lang="en-US" sz="2200" dirty="0">
              <a:solidFill>
                <a:srgbClr val="3333FF"/>
              </a:solidFill>
              <a:latin typeface="Times New Roman" pitchFamily="18" charset="0"/>
              <a:cs typeface="Times New Roman" pitchFamily="18" charset="0"/>
            </a:endParaRPr>
          </a:p>
          <a:p>
            <a:pPr marL="1371600" lvl="2" indent="-457200" algn="just">
              <a:lnSpc>
                <a:spcPct val="150000"/>
              </a:lnSpc>
              <a:buFont typeface="+mj-lt"/>
              <a:buAutoNum type="arabicPeriod"/>
            </a:pPr>
            <a:endParaRPr lang="en-US" sz="2200"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Types of Android Services</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When we talk about services, they can be of three types as shown in the figure below:</a:t>
            </a:r>
          </a:p>
          <a:p>
            <a:pPr lvl="2" algn="just">
              <a:lnSpc>
                <a:spcPct val="150000"/>
              </a:lnSpc>
            </a:pPr>
            <a:endParaRPr lang="en-US" sz="1800"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11" name="Rounded Rectangle 10"/>
          <p:cNvSpPr/>
          <p:nvPr/>
        </p:nvSpPr>
        <p:spPr>
          <a:xfrm>
            <a:off x="3500430" y="2571744"/>
            <a:ext cx="1285884" cy="7858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b="1" dirty="0"/>
              <a:t>Service</a:t>
            </a:r>
            <a:endParaRPr lang="en-US" sz="2400" b="1" dirty="0"/>
          </a:p>
        </p:txBody>
      </p:sp>
      <p:sp>
        <p:nvSpPr>
          <p:cNvPr id="12" name="Rounded Rectangle 11"/>
          <p:cNvSpPr/>
          <p:nvPr/>
        </p:nvSpPr>
        <p:spPr>
          <a:xfrm>
            <a:off x="1000100" y="4061492"/>
            <a:ext cx="1928826" cy="7858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Foreground</a:t>
            </a:r>
            <a:endParaRPr lang="en-US" b="1" dirty="0"/>
          </a:p>
        </p:txBody>
      </p:sp>
      <p:cxnSp>
        <p:nvCxnSpPr>
          <p:cNvPr id="14" name="Elbow Connector 13"/>
          <p:cNvCxnSpPr>
            <a:endCxn id="12" idx="0"/>
          </p:cNvCxnSpPr>
          <p:nvPr/>
        </p:nvCxnSpPr>
        <p:spPr>
          <a:xfrm rot="10800000" flipV="1">
            <a:off x="1964514" y="2957400"/>
            <a:ext cx="1522271" cy="1104092"/>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15" name="Rounded Rectangle 14"/>
          <p:cNvSpPr/>
          <p:nvPr/>
        </p:nvSpPr>
        <p:spPr>
          <a:xfrm>
            <a:off x="3523672" y="4055096"/>
            <a:ext cx="1619832" cy="7858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Background</a:t>
            </a:r>
            <a:endParaRPr lang="en-US" b="1" dirty="0"/>
          </a:p>
        </p:txBody>
      </p:sp>
      <p:cxnSp>
        <p:nvCxnSpPr>
          <p:cNvPr id="16" name="Elbow Connector 15"/>
          <p:cNvCxnSpPr/>
          <p:nvPr/>
        </p:nvCxnSpPr>
        <p:spPr>
          <a:xfrm rot="5400000">
            <a:off x="3810218" y="3717156"/>
            <a:ext cx="71438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1" name="Rounded Rectangle 20"/>
          <p:cNvSpPr/>
          <p:nvPr/>
        </p:nvSpPr>
        <p:spPr>
          <a:xfrm>
            <a:off x="5500694" y="4071942"/>
            <a:ext cx="1285884" cy="7858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Bound</a:t>
            </a:r>
            <a:endParaRPr lang="en-US" b="1" dirty="0"/>
          </a:p>
        </p:txBody>
      </p:sp>
      <p:cxnSp>
        <p:nvCxnSpPr>
          <p:cNvPr id="22" name="Elbow Connector 21"/>
          <p:cNvCxnSpPr>
            <a:stCxn id="11" idx="3"/>
            <a:endCxn id="21" idx="0"/>
          </p:cNvCxnSpPr>
          <p:nvPr/>
        </p:nvCxnSpPr>
        <p:spPr>
          <a:xfrm>
            <a:off x="4786314" y="2964653"/>
            <a:ext cx="1357322" cy="1107289"/>
          </a:xfrm>
          <a:prstGeom prst="bentConnector2">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67950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The working of these three services is below:</a:t>
            </a:r>
          </a:p>
          <a:p>
            <a:pPr lvl="2" algn="just">
              <a:lnSpc>
                <a:spcPct val="150000"/>
              </a:lnSpc>
              <a:buFont typeface="Wingdings" pitchFamily="2" charset="2"/>
              <a:buChar char="ü"/>
            </a:pPr>
            <a:r>
              <a:rPr lang="en-US" sz="2200" b="1" dirty="0">
                <a:solidFill>
                  <a:schemeClr val="tx1"/>
                </a:solidFill>
                <a:latin typeface="Times New Roman" pitchFamily="18" charset="0"/>
                <a:cs typeface="Times New Roman" pitchFamily="18" charset="0"/>
              </a:rPr>
              <a:t>Foreground services</a:t>
            </a:r>
            <a:r>
              <a:rPr lang="en-US" sz="2200" dirty="0">
                <a:solidFill>
                  <a:schemeClr val="tx1"/>
                </a:solidFill>
                <a:latin typeface="Times New Roman" pitchFamily="18" charset="0"/>
                <a:cs typeface="Times New Roman" pitchFamily="18" charset="0"/>
              </a:rPr>
              <a:t> are those services that are </a:t>
            </a:r>
            <a:r>
              <a:rPr lang="en-US" sz="2200" b="1" dirty="0">
                <a:solidFill>
                  <a:schemeClr val="tx1"/>
                </a:solidFill>
                <a:latin typeface="Times New Roman" pitchFamily="18" charset="0"/>
                <a:cs typeface="Times New Roman" pitchFamily="18" charset="0"/>
              </a:rPr>
              <a:t>visible to the users</a:t>
            </a:r>
            <a:r>
              <a:rPr lang="en-US" sz="2200" dirty="0">
                <a:solidFill>
                  <a:schemeClr val="tx1"/>
                </a:solidFill>
                <a:latin typeface="Times New Roman" pitchFamily="18" charset="0"/>
                <a:cs typeface="Times New Roman" pitchFamily="18" charset="0"/>
              </a:rPr>
              <a:t>. </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The users can interact with them at ease and track what’s happening. </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These services continue to </a:t>
            </a:r>
            <a:r>
              <a:rPr lang="en-US" sz="2200" b="1" dirty="0">
                <a:solidFill>
                  <a:schemeClr val="tx1"/>
                </a:solidFill>
                <a:latin typeface="Times New Roman" pitchFamily="18" charset="0"/>
                <a:cs typeface="Times New Roman" pitchFamily="18" charset="0"/>
              </a:rPr>
              <a:t>run even when users are</a:t>
            </a:r>
            <a:r>
              <a:rPr lang="en-US" sz="2200" dirty="0">
                <a:solidFill>
                  <a:schemeClr val="tx1"/>
                </a:solidFill>
                <a:latin typeface="Times New Roman" pitchFamily="18" charset="0"/>
                <a:cs typeface="Times New Roman" pitchFamily="18" charset="0"/>
              </a:rPr>
              <a:t> using other applications.</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Example: The perfect example of this is </a:t>
            </a:r>
            <a:r>
              <a:rPr lang="en-US" sz="2200" b="1" dirty="0">
                <a:solidFill>
                  <a:schemeClr val="tx1"/>
                </a:solidFill>
                <a:latin typeface="Times New Roman" pitchFamily="18" charset="0"/>
                <a:cs typeface="Times New Roman" pitchFamily="18" charset="0"/>
              </a:rPr>
              <a:t>Music Player and Downloading.</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The working of these three services is below:</a:t>
            </a:r>
          </a:p>
          <a:p>
            <a:pPr lvl="2" algn="just">
              <a:lnSpc>
                <a:spcPct val="150000"/>
              </a:lnSpc>
              <a:buFont typeface="Wingdings" pitchFamily="2" charset="2"/>
              <a:buChar char="ü"/>
            </a:pPr>
            <a:r>
              <a:rPr lang="en-US" sz="2200" b="1" dirty="0">
                <a:solidFill>
                  <a:schemeClr val="tx1"/>
                </a:solidFill>
                <a:latin typeface="Times New Roman" pitchFamily="18" charset="0"/>
                <a:cs typeface="Times New Roman" pitchFamily="18" charset="0"/>
              </a:rPr>
              <a:t>Background Services: </a:t>
            </a:r>
            <a:r>
              <a:rPr lang="en-US" sz="2200" dirty="0">
                <a:solidFill>
                  <a:schemeClr val="tx1"/>
                </a:solidFill>
                <a:latin typeface="Times New Roman" pitchFamily="18" charset="0"/>
                <a:cs typeface="Times New Roman" pitchFamily="18" charset="0"/>
              </a:rPr>
              <a:t>These services run in the </a:t>
            </a:r>
            <a:r>
              <a:rPr lang="en-US" sz="2200" b="1" dirty="0">
                <a:solidFill>
                  <a:schemeClr val="tx1"/>
                </a:solidFill>
                <a:latin typeface="Times New Roman" pitchFamily="18" charset="0"/>
                <a:cs typeface="Times New Roman" pitchFamily="18" charset="0"/>
              </a:rPr>
              <a:t>background,</a:t>
            </a:r>
            <a:r>
              <a:rPr lang="en-US" sz="2200" dirty="0">
                <a:solidFill>
                  <a:schemeClr val="tx1"/>
                </a:solidFill>
                <a:latin typeface="Times New Roman" pitchFamily="18" charset="0"/>
                <a:cs typeface="Times New Roman" pitchFamily="18" charset="0"/>
              </a:rPr>
              <a:t> such that the user </a:t>
            </a:r>
            <a:r>
              <a:rPr lang="en-US" sz="2200" b="1" dirty="0">
                <a:solidFill>
                  <a:schemeClr val="tx1"/>
                </a:solidFill>
                <a:latin typeface="Times New Roman" pitchFamily="18" charset="0"/>
                <a:cs typeface="Times New Roman" pitchFamily="18" charset="0"/>
              </a:rPr>
              <a:t>can’t see or access them</a:t>
            </a:r>
            <a:r>
              <a:rPr lang="en-US" sz="2200" dirty="0">
                <a:solidFill>
                  <a:schemeClr val="tx1"/>
                </a:solidFill>
                <a:latin typeface="Times New Roman" pitchFamily="18" charset="0"/>
                <a:cs typeface="Times New Roman" pitchFamily="18" charset="0"/>
              </a:rPr>
              <a:t>. </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These are the tasks that don’t need the user to know them.</a:t>
            </a:r>
          </a:p>
          <a:p>
            <a:pPr lvl="2" algn="just">
              <a:lnSpc>
                <a:spcPct val="150000"/>
              </a:lnSpc>
              <a:buFont typeface="Wingdings" pitchFamily="2" charset="2"/>
              <a:buChar char="ü"/>
            </a:pPr>
            <a:r>
              <a:rPr lang="en-US" sz="2200" b="1" dirty="0">
                <a:solidFill>
                  <a:schemeClr val="tx1"/>
                </a:solidFill>
                <a:latin typeface="Times New Roman" pitchFamily="18" charset="0"/>
                <a:cs typeface="Times New Roman" pitchFamily="18" charset="0"/>
              </a:rPr>
              <a:t>Syncing and Storing data can be the best example.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pic>
        <p:nvPicPr>
          <p:cNvPr id="17411" name="Picture 3"/>
          <p:cNvPicPr>
            <a:picLocks noChangeAspect="1" noChangeArrowheads="1"/>
          </p:cNvPicPr>
          <p:nvPr/>
        </p:nvPicPr>
        <p:blipFill>
          <a:blip r:embed="rId2"/>
          <a:srcRect/>
          <a:stretch>
            <a:fillRect/>
          </a:stretch>
        </p:blipFill>
        <p:spPr bwMode="auto">
          <a:xfrm>
            <a:off x="2928926" y="928670"/>
            <a:ext cx="2595574" cy="5191148"/>
          </a:xfrm>
          <a:prstGeom prst="rect">
            <a:avLst/>
          </a:prstGeom>
          <a:noFill/>
          <a:ln w="9525">
            <a:noFill/>
            <a:miter lim="800000"/>
            <a:headEnd/>
            <a:tailEnd/>
          </a:ln>
          <a:effectLst/>
        </p:spPr>
      </p:pic>
    </p:spTree>
    <p:extLst>
      <p:ext uri="{BB962C8B-B14F-4D97-AF65-F5344CB8AC3E}">
        <p14:creationId xmlns:p14="http://schemas.microsoft.com/office/powerpoint/2010/main" val="2767950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lvl="1"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The working of these three services is below:</a:t>
            </a:r>
          </a:p>
          <a:p>
            <a:pPr lvl="2" algn="just">
              <a:lnSpc>
                <a:spcPct val="150000"/>
              </a:lnSpc>
              <a:buFont typeface="Wingdings" pitchFamily="2" charset="2"/>
              <a:buChar char="ü"/>
            </a:pPr>
            <a:r>
              <a:rPr lang="en-US" sz="2200" b="1" dirty="0">
                <a:solidFill>
                  <a:schemeClr val="tx1"/>
                </a:solidFill>
                <a:latin typeface="Times New Roman" pitchFamily="18" charset="0"/>
                <a:cs typeface="Times New Roman" pitchFamily="18" charset="0"/>
              </a:rPr>
              <a:t>Bound Services : </a:t>
            </a:r>
            <a:r>
              <a:rPr lang="en-US" sz="2200" dirty="0">
                <a:solidFill>
                  <a:schemeClr val="tx1"/>
                </a:solidFill>
                <a:latin typeface="Times New Roman" pitchFamily="18" charset="0"/>
                <a:cs typeface="Times New Roman" pitchFamily="18" charset="0"/>
              </a:rPr>
              <a:t>Bound service runs as long as some other application component is bound to it. </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Many components can bind to one service at a time, but once they all unbind, the service will destroy.</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To bind an application component to the service, </a:t>
            </a:r>
            <a:r>
              <a:rPr lang="en-US" sz="2200" dirty="0" err="1">
                <a:solidFill>
                  <a:schemeClr val="tx1"/>
                </a:solidFill>
                <a:latin typeface="Times New Roman" pitchFamily="18" charset="0"/>
                <a:cs typeface="Times New Roman" pitchFamily="18" charset="0"/>
              </a:rPr>
              <a:t>bindService</a:t>
            </a:r>
            <a:r>
              <a:rPr lang="en-US" sz="2200" dirty="0">
                <a:solidFill>
                  <a:schemeClr val="tx1"/>
                </a:solidFill>
                <a:latin typeface="Times New Roman" pitchFamily="18" charset="0"/>
                <a:cs typeface="Times New Roman" pitchFamily="18" charset="0"/>
              </a:rPr>
              <a:t>() is used.</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Lifecycle of Android Services</a:t>
            </a:r>
            <a:r>
              <a:rPr lang="en-US" sz="2600" dirty="0">
                <a:solidFill>
                  <a:schemeClr val="tx1"/>
                </a:solidFill>
                <a:latin typeface="Times New Roman" pitchFamily="18" charset="0"/>
                <a:cs typeface="Times New Roman" pitchFamily="18" charset="0"/>
              </a:rPr>
              <a:t>:</a:t>
            </a:r>
          </a:p>
          <a:p>
            <a:pPr lvl="2" algn="just">
              <a:lnSpc>
                <a:spcPct val="150000"/>
              </a:lnSpc>
              <a:buFont typeface="Wingdings" pitchFamily="2" charset="2"/>
              <a:buChar char="ü"/>
            </a:pPr>
            <a:r>
              <a:rPr lang="en-US" sz="2200" dirty="0">
                <a:solidFill>
                  <a:schemeClr val="tx1"/>
                </a:solidFill>
                <a:latin typeface="Times New Roman" pitchFamily="18" charset="0"/>
                <a:cs typeface="Times New Roman" pitchFamily="18" charset="0"/>
              </a:rPr>
              <a:t>Android services life-cycle can have two forms of services and they follow two paths, that are:</a:t>
            </a:r>
          </a:p>
          <a:p>
            <a:pPr marL="1714500" lvl="3" indent="-342900" algn="just">
              <a:lnSpc>
                <a:spcPct val="150000"/>
              </a:lnSpc>
              <a:buFont typeface="+mj-lt"/>
              <a:buAutoNum type="arabicPeriod"/>
            </a:pPr>
            <a:r>
              <a:rPr lang="en-US" sz="2400" dirty="0">
                <a:solidFill>
                  <a:schemeClr val="tx1"/>
                </a:solidFill>
                <a:latin typeface="Times New Roman" pitchFamily="18" charset="0"/>
                <a:cs typeface="Times New Roman" pitchFamily="18" charset="0"/>
              </a:rPr>
              <a:t>Started Service</a:t>
            </a:r>
          </a:p>
          <a:p>
            <a:pPr marL="1714500" lvl="3" indent="-342900" algn="just">
              <a:lnSpc>
                <a:spcPct val="150000"/>
              </a:lnSpc>
              <a:buFont typeface="+mj-lt"/>
              <a:buAutoNum type="arabicPeriod"/>
            </a:pPr>
            <a:r>
              <a:rPr lang="en-US" sz="2400" dirty="0">
                <a:solidFill>
                  <a:schemeClr val="tx1"/>
                </a:solidFill>
                <a:latin typeface="Times New Roman" pitchFamily="18" charset="0"/>
                <a:cs typeface="Times New Roman" pitchFamily="18" charset="0"/>
              </a:rPr>
              <a:t>Bounded Service</a:t>
            </a:r>
          </a:p>
          <a:p>
            <a:pPr lvl="3" algn="just">
              <a:lnSpc>
                <a:spcPct val="150000"/>
              </a:lnSpc>
              <a:buFont typeface="Wingdings" pitchFamily="2" charset="2"/>
              <a:buChar char="ü"/>
            </a:pPr>
            <a:endParaRPr lang="en-US" sz="1800"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828938"/>
          </a:xfrm>
        </p:spPr>
        <p:txBody>
          <a:bodyPr>
            <a:noAutofit/>
          </a:bodyPr>
          <a:lstStyle/>
          <a:p>
            <a:pPr marL="914400" lvl="1" indent="-457200" algn="just">
              <a:lnSpc>
                <a:spcPct val="150000"/>
              </a:lnSpc>
              <a:buFont typeface="+mj-lt"/>
              <a:buAutoNum type="arabicPeriod"/>
            </a:pPr>
            <a:r>
              <a:rPr lang="en-US" sz="2400" b="1" dirty="0">
                <a:solidFill>
                  <a:schemeClr val="tx1"/>
                </a:solidFill>
                <a:latin typeface="Times New Roman" pitchFamily="18" charset="0"/>
                <a:cs typeface="Times New Roman" pitchFamily="18" charset="0"/>
              </a:rPr>
              <a:t>Started Service</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A service becomes started only when an </a:t>
            </a:r>
            <a:r>
              <a:rPr lang="en-US" sz="2400" b="1" dirty="0">
                <a:solidFill>
                  <a:schemeClr val="tx1"/>
                </a:solidFill>
                <a:latin typeface="Times New Roman" pitchFamily="18" charset="0"/>
                <a:cs typeface="Times New Roman" pitchFamily="18" charset="0"/>
              </a:rPr>
              <a:t>application component calls </a:t>
            </a:r>
            <a:r>
              <a:rPr lang="en-US" sz="2400" b="1" dirty="0" err="1">
                <a:solidFill>
                  <a:schemeClr val="tx1"/>
                </a:solidFill>
                <a:latin typeface="Times New Roman" pitchFamily="18" charset="0"/>
                <a:cs typeface="Times New Roman" pitchFamily="18" charset="0"/>
              </a:rPr>
              <a:t>startService</a:t>
            </a:r>
            <a:r>
              <a:rPr lang="en-US" sz="2400" b="1" dirty="0">
                <a:solidFill>
                  <a:schemeClr val="tx1"/>
                </a:solidFill>
                <a:latin typeface="Times New Roman" pitchFamily="18" charset="0"/>
                <a:cs typeface="Times New Roman" pitchFamily="18" charset="0"/>
              </a:rPr>
              <a:t>()</a:t>
            </a:r>
            <a:r>
              <a:rPr lang="en-US" sz="2400" dirty="0">
                <a:solidFill>
                  <a:schemeClr val="tx1"/>
                </a:solidFill>
                <a:latin typeface="Times New Roman" pitchFamily="18" charset="0"/>
                <a:cs typeface="Times New Roman" pitchFamily="18" charset="0"/>
              </a:rPr>
              <a:t>. </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It performs a single operation and doesn’t return any result to the caller. </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Once this service starts, it runs in the background even if the component that created it destroys. </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This service can be stopped only in one of the two cases:</a:t>
            </a:r>
          </a:p>
          <a:p>
            <a:pPr lvl="2" algn="just">
              <a:lnSpc>
                <a:spcPct val="150000"/>
              </a:lnSpc>
              <a:buFont typeface="Wingdings" pitchFamily="2" charset="2"/>
              <a:buChar char="ü"/>
            </a:pPr>
            <a:r>
              <a:rPr lang="en-US" sz="2000" dirty="0">
                <a:solidFill>
                  <a:schemeClr val="tx1"/>
                </a:solidFill>
                <a:latin typeface="Times New Roman" pitchFamily="18" charset="0"/>
                <a:cs typeface="Times New Roman" pitchFamily="18" charset="0"/>
              </a:rPr>
              <a:t>By using the </a:t>
            </a:r>
            <a:r>
              <a:rPr lang="en-US" sz="2000" b="1" dirty="0" err="1">
                <a:solidFill>
                  <a:schemeClr val="tx1"/>
                </a:solidFill>
                <a:latin typeface="Times New Roman" pitchFamily="18" charset="0"/>
                <a:cs typeface="Times New Roman" pitchFamily="18" charset="0"/>
              </a:rPr>
              <a:t>stopService</a:t>
            </a:r>
            <a:r>
              <a:rPr lang="en-US" sz="2000" b="1" dirty="0">
                <a:solidFill>
                  <a:schemeClr val="tx1"/>
                </a:solidFill>
                <a:latin typeface="Times New Roman" pitchFamily="18" charset="0"/>
                <a:cs typeface="Times New Roman" pitchFamily="18" charset="0"/>
              </a:rPr>
              <a:t>()</a:t>
            </a:r>
            <a:r>
              <a:rPr lang="en-US" sz="2000" dirty="0">
                <a:solidFill>
                  <a:schemeClr val="tx1"/>
                </a:solidFill>
                <a:latin typeface="Times New Roman" pitchFamily="18" charset="0"/>
                <a:cs typeface="Times New Roman" pitchFamily="18" charset="0"/>
              </a:rPr>
              <a:t> method.</a:t>
            </a:r>
          </a:p>
          <a:p>
            <a:pPr lvl="2" algn="just">
              <a:lnSpc>
                <a:spcPct val="150000"/>
              </a:lnSpc>
              <a:buFont typeface="Wingdings" pitchFamily="2" charset="2"/>
              <a:buChar char="ü"/>
            </a:pPr>
            <a:r>
              <a:rPr lang="en-US" sz="2000" dirty="0">
                <a:solidFill>
                  <a:schemeClr val="tx1"/>
                </a:solidFill>
                <a:latin typeface="Times New Roman" pitchFamily="18" charset="0"/>
                <a:cs typeface="Times New Roman" pitchFamily="18" charset="0"/>
              </a:rPr>
              <a:t>By stopping itself using the </a:t>
            </a:r>
            <a:r>
              <a:rPr lang="en-US" sz="2000" b="1" dirty="0" err="1">
                <a:solidFill>
                  <a:schemeClr val="tx1"/>
                </a:solidFill>
                <a:latin typeface="Times New Roman" pitchFamily="18" charset="0"/>
                <a:cs typeface="Times New Roman" pitchFamily="18" charset="0"/>
              </a:rPr>
              <a:t>stopSelf</a:t>
            </a:r>
            <a:r>
              <a:rPr lang="en-US" sz="2000" b="1" dirty="0">
                <a:solidFill>
                  <a:schemeClr val="tx1"/>
                </a:solidFill>
                <a:latin typeface="Times New Roman" pitchFamily="18" charset="0"/>
                <a:cs typeface="Times New Roman" pitchFamily="18" charset="0"/>
              </a:rPr>
              <a:t>()</a:t>
            </a:r>
            <a:r>
              <a:rPr lang="en-US" sz="2000" dirty="0">
                <a:solidFill>
                  <a:schemeClr val="tx1"/>
                </a:solidFill>
                <a:latin typeface="Times New Roman" pitchFamily="18" charset="0"/>
                <a:cs typeface="Times New Roman" pitchFamily="18" charset="0"/>
              </a:rPr>
              <a:t> method.</a:t>
            </a:r>
            <a:endParaRPr lang="en-US" sz="1400" dirty="0">
              <a:solidFill>
                <a:schemeClr val="tx1"/>
              </a:solidFill>
              <a:latin typeface="Times New Roman" pitchFamily="18" charset="0"/>
              <a:cs typeface="Times New Roman" pitchFamily="18" charset="0"/>
            </a:endParaRPr>
          </a:p>
          <a:p>
            <a:pPr lvl="3" algn="just">
              <a:lnSpc>
                <a:spcPct val="150000"/>
              </a:lnSpc>
              <a:buFont typeface="Wingdings" pitchFamily="2" charset="2"/>
              <a:buChar char="ü"/>
            </a:pPr>
            <a:endParaRPr lang="en-US" sz="1800"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14400" lvl="1" indent="-457200" algn="just">
              <a:lnSpc>
                <a:spcPct val="150000"/>
              </a:lnSpc>
            </a:pPr>
            <a:r>
              <a:rPr lang="en-US" sz="2400" b="1" dirty="0">
                <a:solidFill>
                  <a:schemeClr val="tx1"/>
                </a:solidFill>
                <a:latin typeface="Times New Roman" pitchFamily="18" charset="0"/>
                <a:cs typeface="Times New Roman" pitchFamily="18" charset="0"/>
              </a:rPr>
              <a:t>2.  Bound Service</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A service is bound only if an application component binds to it </a:t>
            </a:r>
            <a:r>
              <a:rPr lang="en-US" sz="2400" b="1" dirty="0">
                <a:solidFill>
                  <a:schemeClr val="tx1"/>
                </a:solidFill>
                <a:latin typeface="Times New Roman" pitchFamily="18" charset="0"/>
                <a:cs typeface="Times New Roman" pitchFamily="18" charset="0"/>
              </a:rPr>
              <a:t>using </a:t>
            </a:r>
            <a:r>
              <a:rPr lang="en-US" sz="2400" b="1" dirty="0" err="1">
                <a:solidFill>
                  <a:schemeClr val="tx1"/>
                </a:solidFill>
                <a:latin typeface="Times New Roman" pitchFamily="18" charset="0"/>
                <a:cs typeface="Times New Roman" pitchFamily="18" charset="0"/>
              </a:rPr>
              <a:t>bindService</a:t>
            </a:r>
            <a:r>
              <a:rPr lang="en-US" sz="2400" b="1" dirty="0">
                <a:solidFill>
                  <a:schemeClr val="tx1"/>
                </a:solidFill>
                <a:latin typeface="Times New Roman" pitchFamily="18" charset="0"/>
                <a:cs typeface="Times New Roman" pitchFamily="18" charset="0"/>
              </a:rPr>
              <a:t>(). </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It gives a </a:t>
            </a:r>
            <a:r>
              <a:rPr lang="en-US" sz="2400" b="1" dirty="0">
                <a:solidFill>
                  <a:schemeClr val="tx1"/>
                </a:solidFill>
                <a:latin typeface="Times New Roman" pitchFamily="18" charset="0"/>
                <a:cs typeface="Times New Roman" pitchFamily="18" charset="0"/>
              </a:rPr>
              <a:t>client-server relation</a:t>
            </a:r>
            <a:r>
              <a:rPr lang="en-US" sz="2400" dirty="0">
                <a:solidFill>
                  <a:schemeClr val="tx1"/>
                </a:solidFill>
                <a:latin typeface="Times New Roman" pitchFamily="18" charset="0"/>
                <a:cs typeface="Times New Roman" pitchFamily="18" charset="0"/>
              </a:rPr>
              <a:t> that lets the components interact with the service. </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The components can send requests to services and get results.</a:t>
            </a:r>
          </a:p>
          <a:p>
            <a:pPr lvl="1"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This service runs in the background as long as another application is bound to it. Or it can be unbound according to our requirement by using the </a:t>
            </a:r>
            <a:r>
              <a:rPr lang="en-US" sz="2400" b="1" dirty="0" err="1">
                <a:solidFill>
                  <a:schemeClr val="tx1"/>
                </a:solidFill>
                <a:latin typeface="Times New Roman" pitchFamily="18" charset="0"/>
                <a:cs typeface="Times New Roman" pitchFamily="18" charset="0"/>
              </a:rPr>
              <a:t>unbindService</a:t>
            </a:r>
            <a:r>
              <a:rPr lang="en-US" sz="2400" b="1" dirty="0">
                <a:solidFill>
                  <a:schemeClr val="tx1"/>
                </a:solidFill>
                <a:latin typeface="Times New Roman" pitchFamily="18" charset="0"/>
                <a:cs typeface="Times New Roman" pitchFamily="18" charset="0"/>
              </a:rPr>
              <a:t>() method.</a:t>
            </a:r>
            <a:endParaRPr lang="en-US" sz="1800" b="1"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The application framework : Explicit Intent with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Life Cycle of Android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pic>
        <p:nvPicPr>
          <p:cNvPr id="3076" name="Picture 4" descr="Android Service lifecycle"/>
          <p:cNvPicPr>
            <a:picLocks noChangeAspect="1" noChangeArrowheads="1"/>
          </p:cNvPicPr>
          <p:nvPr/>
        </p:nvPicPr>
        <p:blipFill>
          <a:blip r:embed="rId2"/>
          <a:srcRect/>
          <a:stretch>
            <a:fillRect/>
          </a:stretch>
        </p:blipFill>
        <p:spPr bwMode="auto">
          <a:xfrm>
            <a:off x="1714480" y="642918"/>
            <a:ext cx="6072230" cy="5715040"/>
          </a:xfrm>
          <a:prstGeom prst="rect">
            <a:avLst/>
          </a:prstGeom>
          <a:noFill/>
        </p:spPr>
      </p:pic>
    </p:spTree>
    <p:extLst>
      <p:ext uri="{BB962C8B-B14F-4D97-AF65-F5344CB8AC3E}">
        <p14:creationId xmlns:p14="http://schemas.microsoft.com/office/powerpoint/2010/main" val="2767950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206" y="439880"/>
            <a:ext cx="8546121" cy="5467320"/>
          </a:xfrm>
        </p:spPr>
        <p:txBody>
          <a:bodyPr>
            <a:noAutofit/>
          </a:bodyPr>
          <a:lstStyle/>
          <a:p>
            <a:pPr marL="914400" lvl="1" indent="-457200" algn="just">
              <a:lnSpc>
                <a:spcPct val="150000"/>
              </a:lnSpc>
              <a:buFont typeface="Wingdings" pitchFamily="2" charset="2"/>
              <a:buChar char="ü"/>
            </a:pPr>
            <a:r>
              <a:rPr lang="en-US" sz="2400" b="1" dirty="0">
                <a:solidFill>
                  <a:schemeClr val="tx1"/>
                </a:solidFill>
                <a:latin typeface="Times New Roman" pitchFamily="18" charset="0"/>
                <a:cs typeface="Times New Roman" pitchFamily="18" charset="0"/>
              </a:rPr>
              <a:t>Methods of Android Services</a:t>
            </a:r>
          </a:p>
          <a:p>
            <a:pPr marL="1371600" lvl="2" indent="-457200" algn="just">
              <a:lnSpc>
                <a:spcPct val="150000"/>
              </a:lnSpc>
              <a:buFont typeface="Wingdings" pitchFamily="2" charset="2"/>
              <a:buChar char="ü"/>
            </a:pPr>
            <a:r>
              <a:rPr lang="en-US" sz="2000" dirty="0">
                <a:solidFill>
                  <a:schemeClr val="tx1"/>
                </a:solidFill>
                <a:latin typeface="Times New Roman" pitchFamily="18" charset="0"/>
                <a:cs typeface="Times New Roman" pitchFamily="18" charset="0"/>
              </a:rPr>
              <a:t>The service base class defines certain callback methods to perform operations on applications. When we talk about Android services it becomes quite obvious that these services will do some operations and they’ll be used. The following are a few important methods of Android services :</a:t>
            </a:r>
          </a:p>
          <a:p>
            <a:pPr marL="1371600" lvl="2" indent="-457200" algn="just">
              <a:lnSpc>
                <a:spcPct val="150000"/>
              </a:lnSpc>
              <a:buFont typeface="Wingdings" pitchFamily="2" charset="2"/>
              <a:buChar char="ü"/>
            </a:pPr>
            <a:r>
              <a:rPr lang="en-US" sz="2000" dirty="0" err="1">
                <a:solidFill>
                  <a:schemeClr val="tx1"/>
                </a:solidFill>
                <a:latin typeface="Times New Roman" pitchFamily="18" charset="0"/>
                <a:cs typeface="Times New Roman" pitchFamily="18" charset="0"/>
              </a:rPr>
              <a:t>onStartCommand</a:t>
            </a:r>
            <a:r>
              <a:rPr lang="en-US" sz="2000" dirty="0">
                <a:solidFill>
                  <a:schemeClr val="tx1"/>
                </a:solidFill>
                <a:latin typeface="Times New Roman" pitchFamily="18" charset="0"/>
                <a:cs typeface="Times New Roman" pitchFamily="18" charset="0"/>
              </a:rPr>
              <a:t>()</a:t>
            </a:r>
          </a:p>
          <a:p>
            <a:pPr marL="1371600" lvl="2" indent="-457200" algn="just">
              <a:lnSpc>
                <a:spcPct val="150000"/>
              </a:lnSpc>
              <a:buFont typeface="Wingdings" pitchFamily="2" charset="2"/>
              <a:buChar char="ü"/>
            </a:pPr>
            <a:r>
              <a:rPr lang="en-US" sz="2000" dirty="0" err="1">
                <a:solidFill>
                  <a:schemeClr val="tx1"/>
                </a:solidFill>
                <a:latin typeface="Times New Roman" pitchFamily="18" charset="0"/>
                <a:cs typeface="Times New Roman" pitchFamily="18" charset="0"/>
              </a:rPr>
              <a:t>onBind</a:t>
            </a:r>
            <a:r>
              <a:rPr lang="en-US" sz="2000" dirty="0">
                <a:solidFill>
                  <a:schemeClr val="tx1"/>
                </a:solidFill>
                <a:latin typeface="Times New Roman" pitchFamily="18" charset="0"/>
                <a:cs typeface="Times New Roman" pitchFamily="18" charset="0"/>
              </a:rPr>
              <a:t>()</a:t>
            </a:r>
          </a:p>
          <a:p>
            <a:pPr marL="1371600" lvl="2" indent="-457200" algn="just">
              <a:lnSpc>
                <a:spcPct val="150000"/>
              </a:lnSpc>
              <a:buFont typeface="Wingdings" pitchFamily="2" charset="2"/>
              <a:buChar char="ü"/>
            </a:pPr>
            <a:r>
              <a:rPr lang="en-US" sz="2000" dirty="0" err="1">
                <a:solidFill>
                  <a:schemeClr val="tx1"/>
                </a:solidFill>
                <a:latin typeface="Times New Roman" pitchFamily="18" charset="0"/>
                <a:cs typeface="Times New Roman" pitchFamily="18" charset="0"/>
              </a:rPr>
              <a:t>onCreate</a:t>
            </a:r>
            <a:r>
              <a:rPr lang="en-US" sz="2000" dirty="0">
                <a:solidFill>
                  <a:schemeClr val="tx1"/>
                </a:solidFill>
                <a:latin typeface="Times New Roman" pitchFamily="18" charset="0"/>
                <a:cs typeface="Times New Roman" pitchFamily="18" charset="0"/>
              </a:rPr>
              <a:t>()</a:t>
            </a:r>
          </a:p>
          <a:p>
            <a:pPr marL="1371600" lvl="2" indent="-457200" algn="just">
              <a:lnSpc>
                <a:spcPct val="150000"/>
              </a:lnSpc>
              <a:buFont typeface="Wingdings" pitchFamily="2" charset="2"/>
              <a:buChar char="ü"/>
            </a:pPr>
            <a:r>
              <a:rPr lang="en-US" sz="2000" dirty="0" err="1">
                <a:solidFill>
                  <a:schemeClr val="tx1"/>
                </a:solidFill>
                <a:latin typeface="Times New Roman" pitchFamily="18" charset="0"/>
                <a:cs typeface="Times New Roman" pitchFamily="18" charset="0"/>
              </a:rPr>
              <a:t>onUnbind</a:t>
            </a:r>
            <a:r>
              <a:rPr lang="en-US" sz="2000" dirty="0">
                <a:solidFill>
                  <a:schemeClr val="tx1"/>
                </a:solidFill>
                <a:latin typeface="Times New Roman" pitchFamily="18" charset="0"/>
                <a:cs typeface="Times New Roman" pitchFamily="18" charset="0"/>
              </a:rPr>
              <a:t>()</a:t>
            </a:r>
          </a:p>
          <a:p>
            <a:pPr marL="1371600" lvl="2" indent="-457200" algn="just">
              <a:lnSpc>
                <a:spcPct val="150000"/>
              </a:lnSpc>
              <a:buFont typeface="Wingdings" pitchFamily="2" charset="2"/>
              <a:buChar char="ü"/>
            </a:pPr>
            <a:r>
              <a:rPr lang="en-US" sz="2000" dirty="0" err="1">
                <a:solidFill>
                  <a:schemeClr val="tx1"/>
                </a:solidFill>
                <a:latin typeface="Times New Roman" pitchFamily="18" charset="0"/>
                <a:cs typeface="Times New Roman" pitchFamily="18" charset="0"/>
              </a:rPr>
              <a:t>onDestroy</a:t>
            </a:r>
            <a:r>
              <a:rPr lang="en-US" sz="2000" dirty="0">
                <a:solidFill>
                  <a:schemeClr val="tx1"/>
                </a:solidFill>
                <a:latin typeface="Times New Roman" pitchFamily="18" charset="0"/>
                <a:cs typeface="Times New Roman" pitchFamily="18" charset="0"/>
              </a:rPr>
              <a:t>()</a:t>
            </a:r>
          </a:p>
          <a:p>
            <a:pPr marL="1371600" lvl="2" indent="-457200" algn="just">
              <a:lnSpc>
                <a:spcPct val="150000"/>
              </a:lnSpc>
              <a:buFont typeface="Wingdings" pitchFamily="2" charset="2"/>
              <a:buChar char="ü"/>
            </a:pPr>
            <a:r>
              <a:rPr lang="en-US" sz="2000" dirty="0" err="1">
                <a:solidFill>
                  <a:schemeClr val="tx1"/>
                </a:solidFill>
                <a:latin typeface="Times New Roman" pitchFamily="18" charset="0"/>
                <a:cs typeface="Times New Roman" pitchFamily="18" charset="0"/>
              </a:rPr>
              <a:t>onRebind</a:t>
            </a:r>
            <a:r>
              <a:rPr lang="en-US" sz="2000" dirty="0">
                <a:solidFill>
                  <a:schemeClr val="tx1"/>
                </a:solidFill>
                <a:latin typeface="Times New Roman" pitchFamily="18" charset="0"/>
                <a:cs typeface="Times New Roman" pitchFamily="18" charset="0"/>
              </a:rPr>
              <a:t>()</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Life Cycle of Android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206" y="576360"/>
            <a:ext cx="8546121" cy="5467320"/>
          </a:xfrm>
        </p:spPr>
        <p:txBody>
          <a:bodyPr>
            <a:noAutofit/>
          </a:bodyPr>
          <a:lstStyle/>
          <a:p>
            <a:pPr marL="914400" lvl="1" indent="-457200" algn="just">
              <a:lnSpc>
                <a:spcPct val="150000"/>
              </a:lnSpc>
            </a:pPr>
            <a:r>
              <a:rPr lang="en-US" sz="2400" b="1" dirty="0">
                <a:solidFill>
                  <a:schemeClr val="tx1"/>
                </a:solidFill>
                <a:latin typeface="Times New Roman" pitchFamily="18" charset="0"/>
                <a:cs typeface="Times New Roman" pitchFamily="18" charset="0"/>
              </a:rPr>
              <a:t>1. </a:t>
            </a:r>
            <a:r>
              <a:rPr lang="en-US" sz="2400" b="1" dirty="0" err="1">
                <a:solidFill>
                  <a:schemeClr val="tx1"/>
                </a:solidFill>
                <a:latin typeface="Times New Roman" pitchFamily="18" charset="0"/>
                <a:cs typeface="Times New Roman" pitchFamily="18" charset="0"/>
              </a:rPr>
              <a:t>onStartCommand</a:t>
            </a:r>
            <a:r>
              <a:rPr lang="en-US" sz="24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The system calls this method whenever a component, say an activity requests</a:t>
            </a:r>
            <a:r>
              <a:rPr lang="en-US" sz="2400" b="1" dirty="0">
                <a:solidFill>
                  <a:schemeClr val="tx1"/>
                </a:solidFill>
                <a:latin typeface="Times New Roman" pitchFamily="18" charset="0"/>
                <a:cs typeface="Times New Roman" pitchFamily="18" charset="0"/>
              </a:rPr>
              <a:t> ‘start’ to a service, using </a:t>
            </a:r>
            <a:r>
              <a:rPr lang="en-US" sz="2400" b="1" dirty="0" err="1">
                <a:solidFill>
                  <a:schemeClr val="tx1"/>
                </a:solidFill>
                <a:latin typeface="Times New Roman" pitchFamily="18" charset="0"/>
                <a:cs typeface="Times New Roman" pitchFamily="18" charset="0"/>
              </a:rPr>
              <a:t>startService</a:t>
            </a:r>
            <a:r>
              <a:rPr lang="en-US" sz="24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Once we use this method it’s our duty to stop the service using </a:t>
            </a:r>
            <a:r>
              <a:rPr lang="en-US" sz="2400" b="1" dirty="0" err="1">
                <a:solidFill>
                  <a:schemeClr val="tx1"/>
                </a:solidFill>
                <a:latin typeface="Times New Roman" pitchFamily="18" charset="0"/>
                <a:cs typeface="Times New Roman" pitchFamily="18" charset="0"/>
              </a:rPr>
              <a:t>stopService</a:t>
            </a:r>
            <a:r>
              <a:rPr lang="en-US" sz="2400" b="1" dirty="0">
                <a:solidFill>
                  <a:schemeClr val="tx1"/>
                </a:solidFill>
                <a:latin typeface="Times New Roman" pitchFamily="18" charset="0"/>
                <a:cs typeface="Times New Roman" pitchFamily="18" charset="0"/>
              </a:rPr>
              <a:t>() or </a:t>
            </a:r>
            <a:r>
              <a:rPr lang="en-US" sz="2400" b="1" dirty="0" err="1">
                <a:solidFill>
                  <a:schemeClr val="tx1"/>
                </a:solidFill>
                <a:latin typeface="Times New Roman" pitchFamily="18" charset="0"/>
                <a:cs typeface="Times New Roman" pitchFamily="18" charset="0"/>
              </a:rPr>
              <a:t>stopSelf</a:t>
            </a:r>
            <a:r>
              <a:rPr lang="en-US" sz="2400" b="1" dirty="0">
                <a:solidFill>
                  <a:schemeClr val="tx1"/>
                </a:solidFill>
                <a:latin typeface="Times New Roman" pitchFamily="18" charset="0"/>
                <a:cs typeface="Times New Roman" pitchFamily="18" charset="0"/>
              </a:rPr>
              <a:t>().</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Life Cycle of Android  Service</a:t>
            </a:r>
            <a:endParaRPr lang="fr-CA"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206" y="576360"/>
            <a:ext cx="8546121" cy="5467320"/>
          </a:xfrm>
        </p:spPr>
        <p:txBody>
          <a:bodyPr>
            <a:noAutofit/>
          </a:bodyPr>
          <a:lstStyle/>
          <a:p>
            <a:pPr marL="914400" lvl="1" indent="-457200" algn="just">
              <a:lnSpc>
                <a:spcPct val="150000"/>
              </a:lnSpc>
            </a:pPr>
            <a:r>
              <a:rPr lang="en-US" sz="2400" b="1" dirty="0">
                <a:solidFill>
                  <a:schemeClr val="tx1"/>
                </a:solidFill>
                <a:latin typeface="Times New Roman" pitchFamily="18" charset="0"/>
                <a:cs typeface="Times New Roman" pitchFamily="18" charset="0"/>
              </a:rPr>
              <a:t>2. </a:t>
            </a:r>
            <a:r>
              <a:rPr lang="en-US" sz="2400" b="1" dirty="0" err="1">
                <a:solidFill>
                  <a:schemeClr val="tx1"/>
                </a:solidFill>
                <a:latin typeface="Times New Roman" pitchFamily="18" charset="0"/>
                <a:cs typeface="Times New Roman" pitchFamily="18" charset="0"/>
              </a:rPr>
              <a:t>onBind</a:t>
            </a:r>
            <a:r>
              <a:rPr lang="en-US" sz="24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This is invoked when a component wants to bind with the service by calling </a:t>
            </a:r>
            <a:r>
              <a:rPr lang="en-US" sz="2400" b="1" dirty="0" err="1">
                <a:solidFill>
                  <a:schemeClr val="tx1"/>
                </a:solidFill>
                <a:latin typeface="Times New Roman" pitchFamily="18" charset="0"/>
                <a:cs typeface="Times New Roman" pitchFamily="18" charset="0"/>
              </a:rPr>
              <a:t>bindService</a:t>
            </a:r>
            <a:r>
              <a:rPr lang="en-US" sz="2400" b="1" dirty="0">
                <a:solidFill>
                  <a:schemeClr val="tx1"/>
                </a:solidFill>
                <a:latin typeface="Times New Roman" pitchFamily="18" charset="0"/>
                <a:cs typeface="Times New Roman" pitchFamily="18" charset="0"/>
              </a:rPr>
              <a:t>()</a:t>
            </a:r>
            <a:r>
              <a:rPr lang="en-US" sz="2400" dirty="0">
                <a:solidFill>
                  <a:schemeClr val="tx1"/>
                </a:solidFill>
                <a:latin typeface="Times New Roman" pitchFamily="18" charset="0"/>
                <a:cs typeface="Times New Roman" pitchFamily="18" charset="0"/>
              </a:rPr>
              <a:t>. </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In this, we must provide an interface for clients to communicate with the service. For </a:t>
            </a:r>
            <a:r>
              <a:rPr lang="en-US" sz="2400" b="1" dirty="0" err="1">
                <a:solidFill>
                  <a:schemeClr val="tx1"/>
                </a:solidFill>
                <a:latin typeface="Times New Roman" pitchFamily="18" charset="0"/>
                <a:cs typeface="Times New Roman" pitchFamily="18" charset="0"/>
              </a:rPr>
              <a:t>interprocess</a:t>
            </a:r>
            <a:r>
              <a:rPr lang="en-US" sz="2400" b="1" dirty="0">
                <a:solidFill>
                  <a:schemeClr val="tx1"/>
                </a:solidFill>
                <a:latin typeface="Times New Roman" pitchFamily="18" charset="0"/>
                <a:cs typeface="Times New Roman" pitchFamily="18" charset="0"/>
              </a:rPr>
              <a:t> communication, </a:t>
            </a:r>
            <a:r>
              <a:rPr lang="en-US" sz="2400" dirty="0">
                <a:solidFill>
                  <a:schemeClr val="tx1"/>
                </a:solidFill>
                <a:latin typeface="Times New Roman" pitchFamily="18" charset="0"/>
                <a:cs typeface="Times New Roman" pitchFamily="18" charset="0"/>
              </a:rPr>
              <a:t>we use the </a:t>
            </a:r>
            <a:r>
              <a:rPr lang="en-US" sz="2400" dirty="0" err="1">
                <a:solidFill>
                  <a:schemeClr val="tx1"/>
                </a:solidFill>
                <a:latin typeface="Times New Roman" pitchFamily="18" charset="0"/>
                <a:cs typeface="Times New Roman" pitchFamily="18" charset="0"/>
              </a:rPr>
              <a:t>IBinder</a:t>
            </a:r>
            <a:r>
              <a:rPr lang="en-US" sz="2400" dirty="0">
                <a:solidFill>
                  <a:schemeClr val="tx1"/>
                </a:solidFill>
                <a:latin typeface="Times New Roman" pitchFamily="18" charset="0"/>
                <a:cs typeface="Times New Roman" pitchFamily="18" charset="0"/>
              </a:rPr>
              <a:t> object.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It is a must to implement this method. </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If in case binding is not required, we should return null as implementation is mandatory.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567375"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Life Cycle of Android  Service</a:t>
            </a:r>
            <a:endParaRPr lang="fr-CA" sz="2400" b="1" dirty="0"/>
          </a:p>
        </p:txBody>
      </p:sp>
      <p:sp>
        <p:nvSpPr>
          <p:cNvPr id="7" name="Right Triangle 6"/>
          <p:cNvSpPr/>
          <p:nvPr/>
        </p:nvSpPr>
        <p:spPr>
          <a:xfrm rot="10800000">
            <a:off x="8350649" y="-23186"/>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206" y="576360"/>
            <a:ext cx="8546121" cy="5467320"/>
          </a:xfrm>
        </p:spPr>
        <p:txBody>
          <a:bodyPr>
            <a:noAutofit/>
          </a:bodyPr>
          <a:lstStyle/>
          <a:p>
            <a:pPr marL="914400" lvl="1" indent="-457200" algn="just">
              <a:lnSpc>
                <a:spcPct val="150000"/>
              </a:lnSpc>
            </a:pPr>
            <a:r>
              <a:rPr lang="en-US" sz="2600" b="1" dirty="0">
                <a:solidFill>
                  <a:schemeClr val="tx1"/>
                </a:solidFill>
                <a:latin typeface="Times New Roman" pitchFamily="18" charset="0"/>
                <a:cs typeface="Times New Roman" pitchFamily="18" charset="0"/>
              </a:rPr>
              <a:t>3. </a:t>
            </a:r>
            <a:r>
              <a:rPr lang="en-US" sz="2600" b="1" dirty="0" err="1">
                <a:solidFill>
                  <a:schemeClr val="tx1"/>
                </a:solidFill>
                <a:latin typeface="Times New Roman" pitchFamily="18" charset="0"/>
                <a:cs typeface="Times New Roman" pitchFamily="18" charset="0"/>
              </a:rPr>
              <a:t>onUnbind</a:t>
            </a:r>
            <a:r>
              <a:rPr lang="en-US" sz="26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The system invokes this when all the clients disconnect from the interface published by the service.</a:t>
            </a:r>
          </a:p>
          <a:p>
            <a:pPr marL="914400" lvl="1" indent="-457200" algn="just">
              <a:lnSpc>
                <a:spcPct val="150000"/>
              </a:lnSpc>
            </a:pPr>
            <a:endParaRPr lang="en-US" sz="2400" dirty="0">
              <a:solidFill>
                <a:schemeClr val="tx1"/>
              </a:solidFill>
              <a:latin typeface="Times New Roman" pitchFamily="18" charset="0"/>
              <a:cs typeface="Times New Roman" pitchFamily="18" charset="0"/>
            </a:endParaRPr>
          </a:p>
          <a:p>
            <a:pPr marL="914400" lvl="1" indent="-457200" algn="just">
              <a:lnSpc>
                <a:spcPct val="150000"/>
              </a:lnSpc>
            </a:pPr>
            <a:r>
              <a:rPr lang="en-US" sz="2600" b="1" dirty="0">
                <a:solidFill>
                  <a:schemeClr val="tx1"/>
                </a:solidFill>
                <a:latin typeface="Times New Roman" pitchFamily="18" charset="0"/>
                <a:cs typeface="Times New Roman" pitchFamily="18" charset="0"/>
              </a:rPr>
              <a:t>4. </a:t>
            </a:r>
            <a:r>
              <a:rPr lang="en-US" sz="2600" b="1" dirty="0" err="1">
                <a:solidFill>
                  <a:schemeClr val="tx1"/>
                </a:solidFill>
                <a:latin typeface="Times New Roman" pitchFamily="18" charset="0"/>
                <a:cs typeface="Times New Roman" pitchFamily="18" charset="0"/>
              </a:rPr>
              <a:t>onRebind</a:t>
            </a:r>
            <a:r>
              <a:rPr lang="en-US" sz="26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The system calls this method when new clients connect to the service. The system calls it after the </a:t>
            </a:r>
            <a:r>
              <a:rPr lang="en-US" sz="2400" dirty="0" err="1">
                <a:solidFill>
                  <a:schemeClr val="tx1"/>
                </a:solidFill>
                <a:latin typeface="Times New Roman" pitchFamily="18" charset="0"/>
                <a:cs typeface="Times New Roman" pitchFamily="18" charset="0"/>
              </a:rPr>
              <a:t>onBind</a:t>
            </a:r>
            <a:r>
              <a:rPr lang="en-US" sz="2400" dirty="0">
                <a:solidFill>
                  <a:schemeClr val="tx1"/>
                </a:solidFill>
                <a:latin typeface="Times New Roman" pitchFamily="18" charset="0"/>
                <a:cs typeface="Times New Roman" pitchFamily="18" charset="0"/>
              </a:rPr>
              <a:t>() method.</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567375"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Life Cycle of Android  Service</a:t>
            </a:r>
            <a:endParaRPr lang="fr-CA" sz="2400" b="1" dirty="0"/>
          </a:p>
        </p:txBody>
      </p:sp>
      <p:sp>
        <p:nvSpPr>
          <p:cNvPr id="7" name="Right Triangle 6"/>
          <p:cNvSpPr/>
          <p:nvPr/>
        </p:nvSpPr>
        <p:spPr>
          <a:xfrm rot="10800000">
            <a:off x="8371431" y="-1"/>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206" y="576360"/>
            <a:ext cx="8546121" cy="5467320"/>
          </a:xfrm>
        </p:spPr>
        <p:txBody>
          <a:bodyPr>
            <a:noAutofit/>
          </a:bodyPr>
          <a:lstStyle/>
          <a:p>
            <a:pPr marL="914400" lvl="1" indent="-457200" algn="just">
              <a:lnSpc>
                <a:spcPct val="150000"/>
              </a:lnSpc>
            </a:pPr>
            <a:r>
              <a:rPr lang="en-US" sz="2600" b="1" dirty="0">
                <a:solidFill>
                  <a:schemeClr val="tx1"/>
                </a:solidFill>
                <a:latin typeface="Times New Roman" pitchFamily="18" charset="0"/>
                <a:cs typeface="Times New Roman" pitchFamily="18" charset="0"/>
              </a:rPr>
              <a:t>5. </a:t>
            </a:r>
            <a:r>
              <a:rPr lang="en-US" sz="2600" b="1" dirty="0" err="1">
                <a:solidFill>
                  <a:schemeClr val="tx1"/>
                </a:solidFill>
                <a:latin typeface="Times New Roman" pitchFamily="18" charset="0"/>
                <a:cs typeface="Times New Roman" pitchFamily="18" charset="0"/>
              </a:rPr>
              <a:t>onCreate</a:t>
            </a:r>
            <a:r>
              <a:rPr lang="en-US" sz="26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This is the first callback method that the system calls when a </a:t>
            </a:r>
            <a:r>
              <a:rPr lang="en-US" sz="2400" b="1" dirty="0">
                <a:solidFill>
                  <a:schemeClr val="tx1"/>
                </a:solidFill>
                <a:latin typeface="Times New Roman" pitchFamily="18" charset="0"/>
                <a:cs typeface="Times New Roman" pitchFamily="18" charset="0"/>
              </a:rPr>
              <a:t>new component starts the service. </a:t>
            </a:r>
          </a:p>
          <a:p>
            <a:pPr marL="914400" lvl="1" indent="-457200" algn="just">
              <a:lnSpc>
                <a:spcPct val="150000"/>
              </a:lnSpc>
              <a:buFont typeface="Wingdings" pitchFamily="2" charset="2"/>
              <a:buChar char="ü"/>
            </a:pPr>
            <a:r>
              <a:rPr lang="en-US" sz="2400" dirty="0">
                <a:solidFill>
                  <a:schemeClr val="tx1"/>
                </a:solidFill>
                <a:latin typeface="Times New Roman" pitchFamily="18" charset="0"/>
                <a:cs typeface="Times New Roman" pitchFamily="18" charset="0"/>
              </a:rPr>
              <a:t>We need this method for a one-time set-up.</a:t>
            </a:r>
          </a:p>
          <a:p>
            <a:pPr marL="914400" lvl="1" indent="-457200" algn="just">
              <a:lnSpc>
                <a:spcPct val="150000"/>
              </a:lnSpc>
            </a:pPr>
            <a:r>
              <a:rPr lang="en-US" sz="2600" b="1" dirty="0">
                <a:solidFill>
                  <a:schemeClr val="tx1"/>
                </a:solidFill>
                <a:latin typeface="Times New Roman" pitchFamily="18" charset="0"/>
                <a:cs typeface="Times New Roman" pitchFamily="18" charset="0"/>
              </a:rPr>
              <a:t>6. </a:t>
            </a:r>
            <a:r>
              <a:rPr lang="en-US" sz="2600" b="1" dirty="0" err="1">
                <a:solidFill>
                  <a:schemeClr val="tx1"/>
                </a:solidFill>
                <a:latin typeface="Times New Roman" pitchFamily="18" charset="0"/>
                <a:cs typeface="Times New Roman" pitchFamily="18" charset="0"/>
              </a:rPr>
              <a:t>onDestroy</a:t>
            </a:r>
            <a:r>
              <a:rPr lang="en-US" sz="2600" b="1" dirty="0">
                <a:solidFill>
                  <a:schemeClr val="tx1"/>
                </a:solidFill>
                <a:latin typeface="Times New Roman" pitchFamily="18" charset="0"/>
                <a:cs typeface="Times New Roman" pitchFamily="18" charset="0"/>
              </a:rPr>
              <a:t>()</a:t>
            </a:r>
          </a:p>
          <a:p>
            <a:pPr marL="914400" lvl="1" indent="-457200"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This method is the final clean up call for the system. </a:t>
            </a:r>
          </a:p>
          <a:p>
            <a:pPr marL="914400" lvl="1" indent="-457200"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The system invokes it just before the service destroys. </a:t>
            </a:r>
          </a:p>
          <a:p>
            <a:pPr marL="914400" lvl="1" indent="-457200" algn="just">
              <a:lnSpc>
                <a:spcPct val="150000"/>
              </a:lnSpc>
              <a:buFont typeface="Wingdings" pitchFamily="2" charset="2"/>
              <a:buChar char="ü"/>
            </a:pPr>
            <a:r>
              <a:rPr lang="en-US" sz="2600" dirty="0">
                <a:solidFill>
                  <a:schemeClr val="tx1"/>
                </a:solidFill>
                <a:latin typeface="Times New Roman" pitchFamily="18" charset="0"/>
                <a:cs typeface="Times New Roman" pitchFamily="18" charset="0"/>
              </a:rPr>
              <a:t>It cleans up resources like threads, receivers, registered listeners, etc.</a:t>
            </a:r>
            <a:endParaRPr lang="en-US" sz="2400" dirty="0">
              <a:solidFill>
                <a:schemeClr val="tx1"/>
              </a:solidFill>
              <a:latin typeface="Times New Roman" pitchFamily="18" charset="0"/>
              <a:cs typeface="Times New Roman"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567375"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Life Cycle of Android  Service</a:t>
            </a:r>
            <a:endParaRPr lang="fr-CA" sz="2400" b="1" dirty="0"/>
          </a:p>
        </p:txBody>
      </p:sp>
      <p:sp>
        <p:nvSpPr>
          <p:cNvPr id="7" name="Right Triangle 6"/>
          <p:cNvSpPr/>
          <p:nvPr/>
        </p:nvSpPr>
        <p:spPr>
          <a:xfrm rot="10800000">
            <a:off x="8350649" y="-22626"/>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767950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30884</TotalTime>
  <Words>967</Words>
  <Application>Microsoft Office PowerPoint</Application>
  <PresentationFormat>On-screen Show (4:3)</PresentationFormat>
  <Paragraphs>137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Aastha Thakker</cp:lastModifiedBy>
  <cp:revision>558</cp:revision>
  <dcterms:created xsi:type="dcterms:W3CDTF">2018-03-30T10:15:50Z</dcterms:created>
  <dcterms:modified xsi:type="dcterms:W3CDTF">2026-04-26T13:03:57Z</dcterms:modified>
</cp:coreProperties>
</file>