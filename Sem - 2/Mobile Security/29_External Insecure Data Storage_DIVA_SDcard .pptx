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658" r:id="rId2"/>
    <p:sldId id="408" r:id="rId3"/>
    <p:sldId id="593" r:id="rId4"/>
    <p:sldId id="659" r:id="rId5"/>
    <p:sldId id="660" r:id="rId6"/>
    <p:sldId id="661" r:id="rId7"/>
    <p:sldId id="662" r:id="rId8"/>
    <p:sldId id="663" r:id="rId9"/>
    <p:sldId id="664" r:id="rId10"/>
    <p:sldId id="665" r:id="rId11"/>
    <p:sldId id="666" r:id="rId12"/>
    <p:sldId id="626"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5">
          <p15:clr>
            <a:srgbClr val="A4A3A4"/>
          </p15:clr>
        </p15:guide>
        <p15:guide id="2" pos="28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66"/>
      </p:cViewPr>
      <p:guideLst>
        <p:guide orient="horz" pos="2145"/>
        <p:guide pos="28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B806D20-265A-45AE-8D7F-1100293F805F}" type="datetimeFigureOut">
              <a:rPr lang="en-US" smtClean="0"/>
              <a:t>10/30/2020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854D4B-AC91-4CBF-9F06-E2874E0FB789}"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4900093-A566-4883-87EB-6E6022A9D2E1}" type="datetimeFigureOut">
              <a:rPr lang="en-US" smtClean="0"/>
              <a:t>10/30/2020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900093-A566-4883-87EB-6E6022A9D2E1}" type="datetimeFigureOut">
              <a:rPr lang="en-US" smtClean="0"/>
              <a:t>10/30/2020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900093-A566-4883-87EB-6E6022A9D2E1}" type="datetimeFigureOut">
              <a:rPr lang="en-US" smtClean="0"/>
              <a:t>10/30/2020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4900093-A566-4883-87EB-6E6022A9D2E1}" type="datetimeFigureOut">
              <a:rPr lang="en-US" smtClean="0"/>
              <a:t>10/30/2020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4900093-A566-4883-87EB-6E6022A9D2E1}" type="datetimeFigureOut">
              <a:rPr lang="en-US" smtClean="0"/>
              <a:t>10/30/2020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4900093-A566-4883-87EB-6E6022A9D2E1}" type="datetimeFigureOut">
              <a:rPr lang="en-US" smtClean="0"/>
              <a:t>10/30/2020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900093-A566-4883-87EB-6E6022A9D2E1}" type="datetimeFigureOut">
              <a:rPr lang="en-US" smtClean="0"/>
              <a:t>10/30/2020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900093-A566-4883-87EB-6E6022A9D2E1}" type="datetimeFigureOut">
              <a:rPr lang="en-US" smtClean="0"/>
              <a:t>10/30/2020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900093-A566-4883-87EB-6E6022A9D2E1}" type="datetimeFigureOut">
              <a:rPr lang="en-US" smtClean="0"/>
              <a:t>10/30/2020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900093-A566-4883-87EB-6E6022A9D2E1}" type="datetimeFigureOut">
              <a:rPr lang="en-US" smtClean="0"/>
              <a:t>10/30/2020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900093-A566-4883-87EB-6E6022A9D2E1}" type="datetimeFigureOut">
              <a:rPr lang="en-US" smtClean="0"/>
              <a:t>10/30/2020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900093-A566-4883-87EB-6E6022A9D2E1}" type="datetimeFigureOut">
              <a:rPr lang="en-US" smtClean="0"/>
              <a:t>10/30/2020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41F41E-2724-4E8B-A7C1-40819B11D8A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781080"/>
            <a:ext cx="8546121" cy="5791192"/>
          </a:xfrm>
        </p:spPr>
        <p:txBody>
          <a:bodyPr>
            <a:normAutofit fontScale="85000" lnSpcReduction="20000"/>
          </a:bodyPr>
          <a:lstStyle/>
          <a:p>
            <a:endParaRPr lang="en-IN" sz="4800" b="1" dirty="0">
              <a:solidFill>
                <a:schemeClr val="tx1"/>
              </a:solidFill>
            </a:endParaRPr>
          </a:p>
          <a:p>
            <a:r>
              <a:rPr lang="en-IN" sz="4800" b="1" dirty="0">
                <a:solidFill>
                  <a:schemeClr val="tx1"/>
                </a:solidFill>
              </a:rPr>
              <a:t>Mobile Phone Security </a:t>
            </a: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US" sz="2000" dirty="0">
              <a:solidFill>
                <a:schemeClr val="tx1"/>
              </a:solidFill>
            </a:endParaRPr>
          </a:p>
          <a:p>
            <a:endParaRPr lang="en-US" sz="2000" dirty="0">
              <a:solidFill>
                <a:schemeClr val="tx1"/>
              </a:solidFill>
            </a:endParaRPr>
          </a:p>
          <a:p>
            <a:endParaRPr lang="en-US" sz="2000" dirty="0">
              <a:solidFill>
                <a:schemeClr val="tx1"/>
              </a:solidFill>
            </a:endParaRPr>
          </a:p>
          <a:p>
            <a:endParaRPr lang="en-IN" sz="2000" b="1" dirty="0">
              <a:solidFill>
                <a:schemeClr val="tx1"/>
              </a:solidFill>
            </a:endParaRPr>
          </a:p>
          <a:p>
            <a:endParaRPr lang="en-IN" sz="2000" b="1" dirty="0">
              <a:solidFill>
                <a:schemeClr val="tx1"/>
              </a:solidFill>
            </a:endParaRPr>
          </a:p>
          <a:p>
            <a:endParaRPr lang="en-IN" sz="2000" b="1" dirty="0">
              <a:solidFill>
                <a:schemeClr val="tx1"/>
              </a:solidFill>
            </a:endParaRPr>
          </a:p>
          <a:p>
            <a:endParaRPr lang="en-US" sz="2000" b="1" dirty="0">
              <a:solidFill>
                <a:schemeClr val="tx1"/>
              </a:solidFill>
            </a:endParaRPr>
          </a:p>
          <a:p>
            <a:r>
              <a:rPr lang="en-US" sz="2000" b="1" dirty="0">
                <a:solidFill>
                  <a:schemeClr val="tx1"/>
                </a:solidFill>
              </a:rPr>
              <a:t>Dr. </a:t>
            </a:r>
            <a:r>
              <a:rPr lang="en-US" sz="2000" b="1" dirty="0" err="1">
                <a:solidFill>
                  <a:schemeClr val="tx1"/>
                </a:solidFill>
              </a:rPr>
              <a:t>Digvijaysinh</a:t>
            </a:r>
            <a:r>
              <a:rPr lang="en-US" sz="2000" b="1" dirty="0">
                <a:solidFill>
                  <a:schemeClr val="tx1"/>
                </a:solidFill>
              </a:rPr>
              <a:t> Rathod</a:t>
            </a:r>
          </a:p>
          <a:p>
            <a:r>
              <a:rPr lang="en-US" sz="2000" b="1" dirty="0">
                <a:solidFill>
                  <a:schemeClr val="tx1"/>
                </a:solidFill>
              </a:rPr>
              <a:t>Associate Professor </a:t>
            </a:r>
            <a:r>
              <a:rPr lang="en-IN" altLang="en-US" sz="2000" b="1" dirty="0">
                <a:solidFill>
                  <a:schemeClr val="tx1"/>
                </a:solidFill>
              </a:rPr>
              <a:t>&amp; Associate Dean</a:t>
            </a:r>
            <a:r>
              <a:rPr lang="en-US" sz="2000" b="1" dirty="0">
                <a:solidFill>
                  <a:schemeClr val="tx1"/>
                </a:solidFill>
              </a:rPr>
              <a:t> </a:t>
            </a:r>
          </a:p>
          <a:p>
            <a:r>
              <a:rPr lang="en-IN" altLang="en-US" sz="2000" b="1" dirty="0">
                <a:solidFill>
                  <a:schemeClr val="tx1"/>
                </a:solidFill>
              </a:rPr>
              <a:t>School of Cyber Security and Digital Forensics</a:t>
            </a:r>
            <a:endParaRPr lang="en-US" sz="2000" b="1" dirty="0">
              <a:solidFill>
                <a:schemeClr val="tx1"/>
              </a:solidFill>
            </a:endParaRPr>
          </a:p>
          <a:p>
            <a:r>
              <a:rPr lang="en-US" sz="2000" b="1" dirty="0">
                <a:solidFill>
                  <a:schemeClr val="tx1"/>
                </a:solidFill>
              </a:rPr>
              <a:t>National Forensic Sciences University with status of Institution of National Importance </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b="1" dirty="0">
              <a:latin typeface="Calibri" panose="020F0502020204030204" pitchFamily="34" charset="0"/>
            </a:endParaRP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digvijay.rathod@gfsu.edu.in</a:t>
            </a:r>
          </a:p>
        </p:txBody>
      </p:sp>
      <p:pic>
        <p:nvPicPr>
          <p:cNvPr id="1027" name="Picture 3"/>
          <p:cNvPicPr>
            <a:picLocks noChangeAspect="1" noChangeArrowheads="1"/>
          </p:cNvPicPr>
          <p:nvPr/>
        </p:nvPicPr>
        <p:blipFill>
          <a:blip r:embed="rId2" cstate="print"/>
          <a:srcRect/>
          <a:stretch>
            <a:fillRect/>
          </a:stretch>
        </p:blipFill>
        <p:spPr bwMode="auto">
          <a:xfrm>
            <a:off x="2428860" y="1928802"/>
            <a:ext cx="4909738" cy="3000396"/>
          </a:xfrm>
          <a:prstGeom prst="rect">
            <a:avLst/>
          </a:prstGeom>
          <a:noFill/>
          <a:ln w="9525">
            <a:noFill/>
            <a:miter lim="800000"/>
            <a:headEnd/>
            <a:tailEnd/>
          </a:ln>
          <a:effectLst/>
        </p:spPr>
      </p:pic>
      <p:pic>
        <p:nvPicPr>
          <p:cNvPr id="2" name="Picture 1">
            <a:extLst>
              <a:ext uri="{FF2B5EF4-FFF2-40B4-BE49-F238E27FC236}">
                <a16:creationId xmlns:a16="http://schemas.microsoft.com/office/drawing/2014/main" id="{A5AAE2C0-19BC-4DB3-87F8-786B52506785}"/>
              </a:ext>
            </a:extLst>
          </p:cNvPr>
          <p:cNvPicPr>
            <a:picLocks noChangeAspect="1"/>
          </p:cNvPicPr>
          <p:nvPr/>
        </p:nvPicPr>
        <p:blipFill>
          <a:blip r:embed="rId3"/>
          <a:stretch>
            <a:fillRect/>
          </a:stretch>
        </p:blipFill>
        <p:spPr>
          <a:xfrm>
            <a:off x="2909882" y="-5152"/>
            <a:ext cx="3667125" cy="124777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717956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00816" y="1167365"/>
            <a:ext cx="8546121" cy="904368"/>
          </a:xfrm>
        </p:spPr>
        <p:txBody>
          <a:bodyPr>
            <a:noAutofit/>
          </a:bodyPr>
          <a:lstStyle/>
          <a:p>
            <a:r>
              <a:rPr lang="en-IN" sz="4000" b="1" dirty="0">
                <a:solidFill>
                  <a:schemeClr val="tx1"/>
                </a:solidFill>
                <a:latin typeface="Times New Roman" panose="02020603050405020304" pitchFamily="18" charset="0"/>
                <a:cs typeface="Times New Roman" panose="02020603050405020304" pitchFamily="18" charset="0"/>
              </a:rPr>
              <a:t>External Insecure Data Storage </a:t>
            </a:r>
          </a:p>
          <a:p>
            <a:r>
              <a:rPr lang="en-IN" sz="4000" b="1" dirty="0">
                <a:solidFill>
                  <a:schemeClr val="tx1"/>
                </a:solidFill>
                <a:latin typeface="Times New Roman" panose="02020603050405020304" pitchFamily="18" charset="0"/>
                <a:cs typeface="Times New Roman" panose="02020603050405020304" pitchFamily="18" charset="0"/>
              </a:rPr>
              <a:t>(SD Card )</a:t>
            </a:r>
          </a:p>
          <a:p>
            <a:endParaRPr lang="en-IN" b="1" dirty="0">
              <a:solidFill>
                <a:schemeClr val="tx1"/>
              </a:solidFill>
            </a:endParaRPr>
          </a:p>
          <a:p>
            <a:r>
              <a:rPr lang="en-US" altLang="en-US" sz="4000" b="1" dirty="0">
                <a:solidFill>
                  <a:schemeClr val="tx1"/>
                </a:solidFill>
                <a:latin typeface="Times New Roman" panose="02020603050405020304" pitchFamily="18" charset="0"/>
                <a:cs typeface="Times New Roman" panose="02020603050405020304" pitchFamily="18" charset="0"/>
              </a:rPr>
              <a:t>Do not store sensitive information on external storage (SD card) unless encrypted first</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External Insecure Data Storage </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67588" y="434001"/>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Android provides several options to save persistent application data, one of which is External Storage (/</a:t>
            </a:r>
            <a:r>
              <a:rPr lang="en-US" sz="2600" dirty="0" err="1">
                <a:solidFill>
                  <a:schemeClr val="tx1"/>
                </a:solidFill>
                <a:latin typeface="Times New Roman" panose="02020603050405020304" pitchFamily="18" charset="0"/>
                <a:cs typeface="Times New Roman" panose="02020603050405020304" pitchFamily="18" charset="0"/>
              </a:rPr>
              <a:t>sdcard</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mnt</a:t>
            </a:r>
            <a:r>
              <a:rPr lang="en-US" sz="2600" dirty="0">
                <a:solidFill>
                  <a:schemeClr val="tx1"/>
                </a:solidFill>
                <a:latin typeface="Times New Roman" panose="02020603050405020304" pitchFamily="18" charset="0"/>
                <a:cs typeface="Times New Roman" panose="02020603050405020304" pitchFamily="18" charset="0"/>
              </a:rPr>
              <a:t>/</a:t>
            </a:r>
            <a:r>
              <a:rPr lang="en-US" sz="2600" dirty="0" err="1">
                <a:solidFill>
                  <a:schemeClr val="tx1"/>
                </a:solidFill>
                <a:latin typeface="Times New Roman" panose="02020603050405020304" pitchFamily="18" charset="0"/>
                <a:cs typeface="Times New Roman" panose="02020603050405020304" pitchFamily="18" charset="0"/>
              </a:rPr>
              <a:t>sdcard</a:t>
            </a:r>
            <a:r>
              <a:rPr lang="en-US" sz="2600" dirty="0">
                <a:solidFill>
                  <a:schemeClr val="tx1"/>
                </a:solidFill>
                <a:latin typeface="Times New Roman" panose="02020603050405020304" pitchFamily="18" charset="0"/>
                <a:cs typeface="Times New Roman" panose="02020603050405020304" pitchFamily="18" charset="0"/>
              </a:rPr>
              <a:t>). "External storage" </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examples include a micro- or standard-sized SD card internal to the device, Android device storage mounted to a PC, and the Android/</a:t>
            </a:r>
            <a:r>
              <a:rPr lang="en-US" sz="2600" dirty="0" err="1">
                <a:solidFill>
                  <a:schemeClr val="tx1"/>
                </a:solidFill>
                <a:latin typeface="Times New Roman" panose="02020603050405020304" pitchFamily="18" charset="0"/>
                <a:cs typeface="Times New Roman" panose="02020603050405020304" pitchFamily="18" charset="0"/>
              </a:rPr>
              <a:t>obb</a:t>
            </a:r>
            <a:r>
              <a:rPr lang="en-US" sz="2600" dirty="0">
                <a:solidFill>
                  <a:schemeClr val="tx1"/>
                </a:solidFill>
                <a:latin typeface="Times New Roman" panose="02020603050405020304" pitchFamily="18" charset="0"/>
                <a:cs typeface="Times New Roman" panose="02020603050405020304" pitchFamily="18" charset="0"/>
              </a:rPr>
              <a:t> directory.</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Files saved to the external storage prior to Android 4.1 are world-readable. Prior to Android 1, files saved to external storage are world-writable. </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External Insecure Data Storage </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67588" y="434001"/>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From Android 1 to Android 4.3, only the WRITE_EXTERNAL_STORAGE permission is required for an app to write to any external storage file stored by any app. </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Starting with Android 4.4, groups and modes of files are created based on a directory structure, which allows an app permission to manage/read/write files within a directory structure based on its package name. </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External Insecure Data Storage </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1516568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67588" y="434001"/>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Starting with Android 4.4, users (including apps as users) are isolated from primary external storage spaces of other apps controlled by the Android device.</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Consequent to the lack of restrictions described above, files written to external storage can be modified or read by other apps installed on the device (for the Android versions which allow read/write) and by anyone with access to the files if stored on an off-device external storage device such as a PC (or if the in-device external storage media is removed and mounted elsewhere).</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External Insecure Data Storage </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2637577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67588" y="434001"/>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Developers should not store sensitive data to external storage devices unless encrypted first, because files stored externally have no guarantee of availability, integrity, and confidentiality.</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External Insecure Data Storage </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813893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67588" y="434001"/>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a.Sometimes</a:t>
            </a:r>
            <a:r>
              <a:rPr lang="en-US" sz="2600" dirty="0">
                <a:solidFill>
                  <a:schemeClr val="tx1"/>
                </a:solidFill>
                <a:latin typeface="Times New Roman" panose="02020603050405020304" pitchFamily="18" charset="0"/>
                <a:cs typeface="Times New Roman" panose="02020603050405020304" pitchFamily="18" charset="0"/>
              </a:rPr>
              <a:t> android developers stores sensitive information without encryption.</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b.Application</a:t>
            </a:r>
            <a:r>
              <a:rPr lang="en-US" sz="2600" dirty="0">
                <a:solidFill>
                  <a:schemeClr val="tx1"/>
                </a:solidFill>
                <a:latin typeface="Times New Roman" panose="02020603050405020304" pitchFamily="18" charset="0"/>
                <a:cs typeface="Times New Roman" panose="02020603050405020304" pitchFamily="18" charset="0"/>
              </a:rPr>
              <a:t> might stores </a:t>
            </a:r>
            <a:r>
              <a:rPr lang="en-US" sz="2600" dirty="0" err="1">
                <a:solidFill>
                  <a:schemeClr val="tx1"/>
                </a:solidFill>
                <a:latin typeface="Times New Roman" panose="02020603050405020304" pitchFamily="18" charset="0"/>
                <a:cs typeface="Times New Roman" panose="02020603050405020304" pitchFamily="18" charset="0"/>
              </a:rPr>
              <a:t>dta</a:t>
            </a:r>
            <a:r>
              <a:rPr lang="en-US" sz="2600" dirty="0">
                <a:solidFill>
                  <a:schemeClr val="tx1"/>
                </a:solidFill>
                <a:latin typeface="Times New Roman" panose="02020603050405020304" pitchFamily="18" charset="0"/>
                <a:cs typeface="Times New Roman" panose="02020603050405020304" pitchFamily="18" charset="0"/>
              </a:rPr>
              <a:t> in external storage (SD card)</a:t>
            </a:r>
          </a:p>
          <a:p>
            <a:pPr marL="1428750" lvl="2" indent="-514350" algn="just">
              <a:lnSpc>
                <a:spcPct val="150000"/>
              </a:lnSpc>
              <a:buFont typeface="Wingdings" panose="05000000000000000000" pitchFamily="2" charset="2"/>
              <a:buChar char="ü"/>
            </a:pPr>
            <a:r>
              <a:rPr lang="en-US" sz="2200" dirty="0" err="1">
                <a:solidFill>
                  <a:schemeClr val="tx1"/>
                </a:solidFill>
                <a:latin typeface="Times New Roman" panose="02020603050405020304" pitchFamily="18" charset="0"/>
                <a:cs typeface="Times New Roman" panose="02020603050405020304" pitchFamily="18" charset="0"/>
              </a:rPr>
              <a:t>i</a:t>
            </a:r>
            <a:r>
              <a:rPr lang="en-US" sz="2200" dirty="0">
                <a:solidFill>
                  <a:schemeClr val="tx1"/>
                </a:solidFill>
                <a:latin typeface="Times New Roman" panose="02020603050405020304" pitchFamily="18" charset="0"/>
                <a:cs typeface="Times New Roman" panose="02020603050405020304" pitchFamily="18" charset="0"/>
              </a:rPr>
              <a:t>./</a:t>
            </a:r>
            <a:r>
              <a:rPr lang="en-US" sz="2200" dirty="0" err="1">
                <a:solidFill>
                  <a:schemeClr val="tx1"/>
                </a:solidFill>
                <a:latin typeface="Times New Roman" panose="02020603050405020304" pitchFamily="18" charset="0"/>
                <a:cs typeface="Times New Roman" panose="02020603050405020304" pitchFamily="18" charset="0"/>
              </a:rPr>
              <a:t>dara</a:t>
            </a:r>
            <a:r>
              <a:rPr lang="en-US" sz="2200" dirty="0">
                <a:solidFill>
                  <a:schemeClr val="tx1"/>
                </a:solidFill>
                <a:latin typeface="Times New Roman" panose="02020603050405020304" pitchFamily="18" charset="0"/>
                <a:cs typeface="Times New Roman" panose="02020603050405020304" pitchFamily="18" charset="0"/>
              </a:rPr>
              <a:t>/data/[package name]/</a:t>
            </a:r>
            <a:r>
              <a:rPr lang="en-US" sz="2200" dirty="0" err="1">
                <a:solidFill>
                  <a:schemeClr val="tx1"/>
                </a:solidFill>
                <a:latin typeface="Times New Roman" panose="02020603050405020304" pitchFamily="18" charset="0"/>
                <a:cs typeface="Times New Roman" panose="02020603050405020304" pitchFamily="18" charset="0"/>
              </a:rPr>
              <a:t>shared_preferences</a:t>
            </a:r>
            <a:endParaRPr lang="en-US" sz="2200" dirty="0">
              <a:solidFill>
                <a:schemeClr val="tx1"/>
              </a:solidFill>
              <a:latin typeface="Times New Roman" panose="02020603050405020304" pitchFamily="18" charset="0"/>
              <a:cs typeface="Times New Roman" panose="02020603050405020304" pitchFamily="18" charset="0"/>
            </a:endParaRPr>
          </a:p>
          <a:p>
            <a:pPr marL="1428750" lvl="2" indent="-514350" algn="just">
              <a:lnSpc>
                <a:spcPct val="150000"/>
              </a:lnSpc>
              <a:buFont typeface="Wingdings" panose="05000000000000000000" pitchFamily="2" charset="2"/>
              <a:buChar char="ü"/>
            </a:pPr>
            <a:r>
              <a:rPr lang="en-US" sz="2200" dirty="0" err="1">
                <a:solidFill>
                  <a:schemeClr val="tx1"/>
                </a:solidFill>
                <a:latin typeface="Times New Roman" panose="02020603050405020304" pitchFamily="18" charset="0"/>
                <a:cs typeface="Times New Roman" panose="02020603050405020304" pitchFamily="18" charset="0"/>
              </a:rPr>
              <a:t>ii.Databases</a:t>
            </a:r>
            <a:endParaRPr lang="en-US" sz="2200" dirty="0">
              <a:solidFill>
                <a:schemeClr val="tx1"/>
              </a:solidFill>
              <a:latin typeface="Times New Roman" panose="02020603050405020304" pitchFamily="18" charset="0"/>
              <a:cs typeface="Times New Roman" panose="02020603050405020304" pitchFamily="18" charset="0"/>
            </a:endParaRPr>
          </a:p>
          <a:p>
            <a:pPr marL="1428750" lvl="2" indent="-514350" algn="just">
              <a:lnSpc>
                <a:spcPct val="150000"/>
              </a:lnSpc>
              <a:buFont typeface="Wingdings" panose="05000000000000000000" pitchFamily="2" charset="2"/>
              <a:buChar char="ü"/>
            </a:pPr>
            <a:r>
              <a:rPr lang="en-US" sz="2200" dirty="0" err="1">
                <a:solidFill>
                  <a:schemeClr val="tx1"/>
                </a:solidFill>
                <a:latin typeface="Times New Roman" panose="02020603050405020304" pitchFamily="18" charset="0"/>
                <a:cs typeface="Times New Roman" panose="02020603050405020304" pitchFamily="18" charset="0"/>
              </a:rPr>
              <a:t>iii.Temporary</a:t>
            </a:r>
            <a:r>
              <a:rPr lang="en-US" sz="2200" dirty="0">
                <a:solidFill>
                  <a:schemeClr val="tx1"/>
                </a:solidFill>
                <a:latin typeface="Times New Roman" panose="02020603050405020304" pitchFamily="18" charset="0"/>
                <a:cs typeface="Times New Roman" panose="02020603050405020304" pitchFamily="18" charset="0"/>
              </a:rPr>
              <a:t> files</a:t>
            </a:r>
          </a:p>
          <a:p>
            <a:pPr marL="1428750" lvl="2" indent="-514350" algn="just">
              <a:lnSpc>
                <a:spcPct val="150000"/>
              </a:lnSpc>
              <a:buFont typeface="Wingdings" panose="05000000000000000000" pitchFamily="2" charset="2"/>
              <a:buChar char="ü"/>
            </a:pPr>
            <a:r>
              <a:rPr lang="en-US" sz="2200" dirty="0" err="1">
                <a:solidFill>
                  <a:schemeClr val="tx1"/>
                </a:solidFill>
                <a:latin typeface="Times New Roman" panose="02020603050405020304" pitchFamily="18" charset="0"/>
                <a:cs typeface="Times New Roman" panose="02020603050405020304" pitchFamily="18" charset="0"/>
              </a:rPr>
              <a:t>iv.External</a:t>
            </a:r>
            <a:r>
              <a:rPr lang="en-US" sz="2200" dirty="0">
                <a:solidFill>
                  <a:schemeClr val="tx1"/>
                </a:solidFill>
                <a:latin typeface="Times New Roman" panose="02020603050405020304" pitchFamily="18" charset="0"/>
                <a:cs typeface="Times New Roman" panose="02020603050405020304" pitchFamily="18" charset="0"/>
              </a:rPr>
              <a:t> Storage</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External Insecure Data Storage – SD Card </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1818878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11594" y="381597"/>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b.Click</a:t>
            </a:r>
            <a:r>
              <a:rPr lang="en-US" sz="2600" dirty="0">
                <a:solidFill>
                  <a:schemeClr val="tx1"/>
                </a:solidFill>
                <a:latin typeface="Times New Roman" panose="02020603050405020304" pitchFamily="18" charset="0"/>
                <a:cs typeface="Times New Roman" panose="02020603050405020304" pitchFamily="18" charset="0"/>
              </a:rPr>
              <a:t> Insecure Data Storage – Part 4 and read the objective </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c.Open</a:t>
            </a:r>
            <a:r>
              <a:rPr lang="en-US" sz="2600" dirty="0">
                <a:solidFill>
                  <a:schemeClr val="tx1"/>
                </a:solidFill>
                <a:latin typeface="Times New Roman" panose="02020603050405020304" pitchFamily="18" charset="0"/>
                <a:cs typeface="Times New Roman" panose="02020603050405020304" pitchFamily="18" charset="0"/>
              </a:rPr>
              <a:t> the InsecureDataStorage4Activity.class, now do the analysis of the code and found that data is stored in the database</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a.If</a:t>
            </a:r>
            <a:r>
              <a:rPr lang="en-US" sz="2600" dirty="0">
                <a:solidFill>
                  <a:schemeClr val="tx1"/>
                </a:solidFill>
                <a:latin typeface="Times New Roman" panose="02020603050405020304" pitchFamily="18" charset="0"/>
                <a:cs typeface="Times New Roman" panose="02020603050405020304" pitchFamily="18" charset="0"/>
              </a:rPr>
              <a:t> check the source code we found that </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b.File</a:t>
            </a:r>
            <a:r>
              <a:rPr lang="en-US" sz="2600" dirty="0">
                <a:solidFill>
                  <a:schemeClr val="tx1"/>
                </a:solidFill>
                <a:latin typeface="Times New Roman" panose="02020603050405020304" pitchFamily="18" charset="0"/>
                <a:cs typeface="Times New Roman" panose="02020603050405020304" pitchFamily="18" charset="0"/>
              </a:rPr>
              <a:t> localFile1 = </a:t>
            </a:r>
            <a:r>
              <a:rPr lang="en-US" sz="2600" dirty="0" err="1">
                <a:solidFill>
                  <a:schemeClr val="tx1"/>
                </a:solidFill>
                <a:latin typeface="Times New Roman" panose="02020603050405020304" pitchFamily="18" charset="0"/>
                <a:cs typeface="Times New Roman" panose="02020603050405020304" pitchFamily="18" charset="0"/>
              </a:rPr>
              <a:t>Environment.getExternalStorageDirectory</a:t>
            </a:r>
            <a:r>
              <a:rPr lang="en-US" sz="2600" dirty="0">
                <a:solidFill>
                  <a:schemeClr val="tx1"/>
                </a:solidFill>
                <a:latin typeface="Times New Roman" panose="02020603050405020304" pitchFamily="18" charset="0"/>
                <a:cs typeface="Times New Roman" panose="02020603050405020304" pitchFamily="18" charset="0"/>
              </a:rPr>
              <a:t>(); shows that localFile1 object is created and reference of external stored is stored with it.</a:t>
            </a:r>
            <a:endParaRPr lang="en-US" sz="2200"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External Insecure Data Storage – SD Card </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1209329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11594" y="381597"/>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c.If</a:t>
            </a:r>
            <a:r>
              <a:rPr lang="en-US" sz="2600" dirty="0">
                <a:solidFill>
                  <a:schemeClr val="tx1"/>
                </a:solidFill>
                <a:latin typeface="Times New Roman" panose="02020603050405020304" pitchFamily="18" charset="0"/>
                <a:cs typeface="Times New Roman" panose="02020603050405020304" pitchFamily="18" charset="0"/>
              </a:rPr>
              <a:t> we go ahead we found that</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d.File</a:t>
            </a:r>
            <a:r>
              <a:rPr lang="en-US" sz="2600" dirty="0">
                <a:solidFill>
                  <a:schemeClr val="tx1"/>
                </a:solidFill>
                <a:latin typeface="Times New Roman" panose="02020603050405020304" pitchFamily="18" charset="0"/>
                <a:cs typeface="Times New Roman" panose="02020603050405020304" pitchFamily="18" charset="0"/>
              </a:rPr>
              <a:t> localFile2 = new File(localFile1.getAbsolutPath() + “/.uinfo.txt”);</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e.Which</a:t>
            </a:r>
            <a:r>
              <a:rPr lang="en-US" sz="2600" dirty="0">
                <a:solidFill>
                  <a:schemeClr val="tx1"/>
                </a:solidFill>
                <a:latin typeface="Times New Roman" panose="02020603050405020304" pitchFamily="18" charset="0"/>
                <a:cs typeface="Times New Roman" panose="02020603050405020304" pitchFamily="18" charset="0"/>
              </a:rPr>
              <a:t> means that uinfo.txt file is created inside the external storage and may contain important information.</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f.Lets</a:t>
            </a:r>
            <a:r>
              <a:rPr lang="en-US" sz="2600" dirty="0">
                <a:solidFill>
                  <a:schemeClr val="tx1"/>
                </a:solidFill>
                <a:latin typeface="Times New Roman" panose="02020603050405020304" pitchFamily="18" charset="0"/>
                <a:cs typeface="Times New Roman" panose="02020603050405020304" pitchFamily="18" charset="0"/>
              </a:rPr>
              <a:t> try to find it in the </a:t>
            </a:r>
            <a:r>
              <a:rPr lang="en-US" sz="2600" dirty="0" err="1">
                <a:solidFill>
                  <a:schemeClr val="tx1"/>
                </a:solidFill>
                <a:latin typeface="Times New Roman" panose="02020603050405020304" pitchFamily="18" charset="0"/>
                <a:cs typeface="Times New Roman" panose="02020603050405020304" pitchFamily="18" charset="0"/>
              </a:rPr>
              <a:t>jakhar.aseem.diva</a:t>
            </a:r>
            <a:r>
              <a:rPr lang="en-US" sz="2600" dirty="0">
                <a:solidFill>
                  <a:schemeClr val="tx1"/>
                </a:solidFill>
                <a:latin typeface="Times New Roman" panose="02020603050405020304" pitchFamily="18" charset="0"/>
                <a:cs typeface="Times New Roman" panose="02020603050405020304" pitchFamily="18" charset="0"/>
              </a:rPr>
              <a:t> directory if we can find it</a:t>
            </a:r>
            <a:endParaRPr lang="en-US" sz="2200"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External Insecure Data Storage – SD Card </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42011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11594" y="442033"/>
            <a:ext cx="8546121" cy="5467320"/>
          </a:xfrm>
        </p:spPr>
        <p:txBody>
          <a:bodyPr>
            <a:noAutofit/>
          </a:bodyPr>
          <a:lstStyle/>
          <a:p>
            <a:pPr marL="971550" lvl="1" indent="-514350" algn="just">
              <a:lnSpc>
                <a:spcPct val="150000"/>
              </a:lnSpc>
              <a:buFont typeface="Wingdings" panose="05000000000000000000" pitchFamily="2" charset="2"/>
              <a:buChar char="ü"/>
            </a:pPr>
            <a:r>
              <a:rPr lang="fr-FR" sz="2600" dirty="0" err="1">
                <a:solidFill>
                  <a:schemeClr val="tx1"/>
                </a:solidFill>
                <a:latin typeface="Times New Roman" panose="02020603050405020304" pitchFamily="18" charset="0"/>
                <a:cs typeface="Times New Roman" panose="02020603050405020304" pitchFamily="18" charset="0"/>
              </a:rPr>
              <a:t>g.santoku@santoku</a:t>
            </a:r>
            <a:r>
              <a:rPr lang="fr-FR" sz="2600" dirty="0">
                <a:solidFill>
                  <a:schemeClr val="tx1"/>
                </a:solidFill>
                <a:latin typeface="Times New Roman" panose="02020603050405020304" pitchFamily="18" charset="0"/>
                <a:cs typeface="Times New Roman" panose="02020603050405020304" pitchFamily="18" charset="0"/>
              </a:rPr>
              <a:t>:-$ </a:t>
            </a:r>
            <a:r>
              <a:rPr lang="fr-FR" sz="2600" dirty="0" err="1">
                <a:solidFill>
                  <a:schemeClr val="tx1"/>
                </a:solidFill>
                <a:latin typeface="Times New Roman" panose="02020603050405020304" pitchFamily="18" charset="0"/>
                <a:cs typeface="Times New Roman" panose="02020603050405020304" pitchFamily="18" charset="0"/>
              </a:rPr>
              <a:t>adb</a:t>
            </a:r>
            <a:r>
              <a:rPr lang="fr-FR" sz="2600" dirty="0">
                <a:solidFill>
                  <a:schemeClr val="tx1"/>
                </a:solidFill>
                <a:latin typeface="Times New Roman" panose="02020603050405020304" pitchFamily="18" charset="0"/>
                <a:cs typeface="Times New Roman" panose="02020603050405020304" pitchFamily="18" charset="0"/>
              </a:rPr>
              <a:t> </a:t>
            </a:r>
            <a:r>
              <a:rPr lang="fr-FR" sz="2600" dirty="0" err="1">
                <a:solidFill>
                  <a:schemeClr val="tx1"/>
                </a:solidFill>
                <a:latin typeface="Times New Roman" panose="02020603050405020304" pitchFamily="18" charset="0"/>
                <a:cs typeface="Times New Roman" panose="02020603050405020304" pitchFamily="18" charset="0"/>
              </a:rPr>
              <a:t>shell</a:t>
            </a:r>
            <a:endParaRPr lang="fr-FR" sz="2600" dirty="0">
              <a:solidFill>
                <a:schemeClr val="tx1"/>
              </a:solidFill>
              <a:latin typeface="Times New Roman" panose="02020603050405020304" pitchFamily="18" charset="0"/>
              <a:cs typeface="Times New Roman" panose="02020603050405020304" pitchFamily="18" charset="0"/>
            </a:endParaRPr>
          </a:p>
          <a:p>
            <a:pPr marL="971550" lvl="1" indent="-514350" algn="just">
              <a:lnSpc>
                <a:spcPct val="150000"/>
              </a:lnSpc>
              <a:buFont typeface="Wingdings" panose="05000000000000000000" pitchFamily="2" charset="2"/>
              <a:buChar char="ü"/>
            </a:pPr>
            <a:r>
              <a:rPr lang="fr-FR" sz="2600" dirty="0" err="1">
                <a:solidFill>
                  <a:schemeClr val="tx1"/>
                </a:solidFill>
                <a:latin typeface="Times New Roman" panose="02020603050405020304" pitchFamily="18" charset="0"/>
                <a:cs typeface="Times New Roman" panose="02020603050405020304" pitchFamily="18" charset="0"/>
              </a:rPr>
              <a:t>h.root@santoku</a:t>
            </a:r>
            <a:r>
              <a:rPr lang="fr-FR" sz="2600" dirty="0">
                <a:solidFill>
                  <a:schemeClr val="tx1"/>
                </a:solidFill>
                <a:latin typeface="Times New Roman" panose="02020603050405020304" pitchFamily="18" charset="0"/>
                <a:cs typeface="Times New Roman" panose="02020603050405020304" pitchFamily="18" charset="0"/>
              </a:rPr>
              <a:t>:/ # cd /data/data/</a:t>
            </a:r>
          </a:p>
          <a:p>
            <a:pPr marL="971550" lvl="1" indent="-514350" algn="just">
              <a:lnSpc>
                <a:spcPct val="150000"/>
              </a:lnSpc>
              <a:buFont typeface="Wingdings" panose="05000000000000000000" pitchFamily="2" charset="2"/>
              <a:buChar char="ü"/>
            </a:pPr>
            <a:r>
              <a:rPr lang="fr-FR" sz="2600" dirty="0" err="1">
                <a:solidFill>
                  <a:schemeClr val="tx1"/>
                </a:solidFill>
                <a:latin typeface="Times New Roman" panose="02020603050405020304" pitchFamily="18" charset="0"/>
                <a:cs typeface="Times New Roman" panose="02020603050405020304" pitchFamily="18" charset="0"/>
              </a:rPr>
              <a:t>i.root@santoku</a:t>
            </a:r>
            <a:r>
              <a:rPr lang="fr-FR" sz="2600" dirty="0">
                <a:solidFill>
                  <a:schemeClr val="tx1"/>
                </a:solidFill>
                <a:latin typeface="Times New Roman" panose="02020603050405020304" pitchFamily="18" charset="0"/>
                <a:cs typeface="Times New Roman" panose="02020603050405020304" pitchFamily="18" charset="0"/>
              </a:rPr>
              <a:t>:/data/data # cd </a:t>
            </a:r>
            <a:r>
              <a:rPr lang="fr-FR" sz="2600" dirty="0" err="1">
                <a:solidFill>
                  <a:schemeClr val="tx1"/>
                </a:solidFill>
                <a:latin typeface="Times New Roman" panose="02020603050405020304" pitchFamily="18" charset="0"/>
                <a:cs typeface="Times New Roman" panose="02020603050405020304" pitchFamily="18" charset="0"/>
              </a:rPr>
              <a:t>jakhar.aseem.diva</a:t>
            </a:r>
            <a:r>
              <a:rPr lang="fr-FR" sz="2600" dirty="0">
                <a:solidFill>
                  <a:schemeClr val="tx1"/>
                </a:solidFill>
                <a:latin typeface="Times New Roman" panose="02020603050405020304" pitchFamily="18" charset="0"/>
                <a:cs typeface="Times New Roman" panose="02020603050405020304" pitchFamily="18" charset="0"/>
              </a:rPr>
              <a:t>/</a:t>
            </a:r>
          </a:p>
          <a:p>
            <a:pPr marL="971550" lvl="1" indent="-514350" algn="just">
              <a:lnSpc>
                <a:spcPct val="150000"/>
              </a:lnSpc>
              <a:buFont typeface="Wingdings" panose="05000000000000000000" pitchFamily="2" charset="2"/>
              <a:buChar char="ü"/>
            </a:pPr>
            <a:r>
              <a:rPr lang="fr-FR" sz="2600" dirty="0" err="1">
                <a:solidFill>
                  <a:schemeClr val="tx1"/>
                </a:solidFill>
                <a:latin typeface="Times New Roman" panose="02020603050405020304" pitchFamily="18" charset="0"/>
                <a:cs typeface="Times New Roman" panose="02020603050405020304" pitchFamily="18" charset="0"/>
              </a:rPr>
              <a:t>j.root@santoku</a:t>
            </a:r>
            <a:r>
              <a:rPr lang="fr-FR" sz="2600" dirty="0">
                <a:solidFill>
                  <a:schemeClr val="tx1"/>
                </a:solidFill>
                <a:latin typeface="Times New Roman" panose="02020603050405020304" pitchFamily="18" charset="0"/>
                <a:cs typeface="Times New Roman" panose="02020603050405020304" pitchFamily="18" charset="0"/>
              </a:rPr>
              <a:t>:/data/data/</a:t>
            </a:r>
            <a:r>
              <a:rPr lang="fr-FR" sz="2600" dirty="0" err="1">
                <a:solidFill>
                  <a:schemeClr val="tx1"/>
                </a:solidFill>
                <a:latin typeface="Times New Roman" panose="02020603050405020304" pitchFamily="18" charset="0"/>
                <a:cs typeface="Times New Roman" panose="02020603050405020304" pitchFamily="18" charset="0"/>
              </a:rPr>
              <a:t>jakhar.aseem.diva</a:t>
            </a:r>
            <a:r>
              <a:rPr lang="fr-FR" sz="2600" dirty="0">
                <a:solidFill>
                  <a:schemeClr val="tx1"/>
                </a:solidFill>
                <a:latin typeface="Times New Roman" panose="02020603050405020304" pitchFamily="18" charset="0"/>
                <a:cs typeface="Times New Roman" panose="02020603050405020304" pitchFamily="18" charset="0"/>
              </a:rPr>
              <a:t>/ # ls –la</a:t>
            </a:r>
          </a:p>
          <a:p>
            <a:pPr marL="971550" lvl="1" indent="-514350" algn="just">
              <a:lnSpc>
                <a:spcPct val="150000"/>
              </a:lnSpc>
              <a:buFont typeface="Wingdings" panose="05000000000000000000" pitchFamily="2" charset="2"/>
              <a:buChar char="ü"/>
            </a:pPr>
            <a:r>
              <a:rPr lang="en-US" sz="2200" dirty="0" err="1">
                <a:solidFill>
                  <a:schemeClr val="tx1"/>
                </a:solidFill>
                <a:latin typeface="Times New Roman" panose="02020603050405020304" pitchFamily="18" charset="0"/>
                <a:cs typeface="Times New Roman" panose="02020603050405020304" pitchFamily="18" charset="0"/>
              </a:rPr>
              <a:t>k.There</a:t>
            </a:r>
            <a:r>
              <a:rPr lang="en-US" sz="2200" dirty="0">
                <a:solidFill>
                  <a:schemeClr val="tx1"/>
                </a:solidFill>
                <a:latin typeface="Times New Roman" panose="02020603050405020304" pitchFamily="18" charset="0"/>
                <a:cs typeface="Times New Roman" panose="02020603050405020304" pitchFamily="18" charset="0"/>
              </a:rPr>
              <a:t> is no file is available.</a:t>
            </a:r>
          </a:p>
          <a:p>
            <a:pPr marL="971550" lvl="1" indent="-514350" algn="just">
              <a:lnSpc>
                <a:spcPct val="150000"/>
              </a:lnSpc>
              <a:buFont typeface="Wingdings" panose="05000000000000000000" pitchFamily="2" charset="2"/>
              <a:buChar char="ü"/>
            </a:pPr>
            <a:r>
              <a:rPr lang="en-US" sz="2200" dirty="0" err="1">
                <a:solidFill>
                  <a:schemeClr val="tx1"/>
                </a:solidFill>
                <a:latin typeface="Times New Roman" panose="02020603050405020304" pitchFamily="18" charset="0"/>
                <a:cs typeface="Times New Roman" panose="02020603050405020304" pitchFamily="18" charset="0"/>
              </a:rPr>
              <a:t>l.root@santoku</a:t>
            </a:r>
            <a:r>
              <a:rPr lang="en-US" sz="2200" dirty="0">
                <a:solidFill>
                  <a:schemeClr val="tx1"/>
                </a:solidFill>
                <a:latin typeface="Times New Roman" panose="02020603050405020304" pitchFamily="18" charset="0"/>
                <a:cs typeface="Times New Roman" panose="02020603050405020304" pitchFamily="18" charset="0"/>
              </a:rPr>
              <a:t>:/ cd /</a:t>
            </a:r>
            <a:r>
              <a:rPr lang="en-US" sz="2200" dirty="0" err="1">
                <a:solidFill>
                  <a:schemeClr val="tx1"/>
                </a:solidFill>
                <a:latin typeface="Times New Roman" panose="02020603050405020304" pitchFamily="18" charset="0"/>
                <a:cs typeface="Times New Roman" panose="02020603050405020304" pitchFamily="18" charset="0"/>
              </a:rPr>
              <a:t>mnt</a:t>
            </a:r>
            <a:r>
              <a:rPr lang="en-US" sz="2200" dirty="0">
                <a:solidFill>
                  <a:schemeClr val="tx1"/>
                </a:solidFill>
                <a:latin typeface="Times New Roman" panose="02020603050405020304" pitchFamily="18" charset="0"/>
                <a:cs typeface="Times New Roman" panose="02020603050405020304" pitchFamily="18" charset="0"/>
              </a:rPr>
              <a:t>/</a:t>
            </a:r>
            <a:r>
              <a:rPr lang="en-US" sz="2200" dirty="0" err="1">
                <a:solidFill>
                  <a:schemeClr val="tx1"/>
                </a:solidFill>
                <a:latin typeface="Times New Roman" panose="02020603050405020304" pitchFamily="18" charset="0"/>
                <a:cs typeface="Times New Roman" panose="02020603050405020304" pitchFamily="18" charset="0"/>
              </a:rPr>
              <a:t>sdcard</a:t>
            </a:r>
            <a:r>
              <a:rPr lang="en-US" sz="2200" dirty="0">
                <a:solidFill>
                  <a:schemeClr val="tx1"/>
                </a:solidFill>
                <a:latin typeface="Times New Roman" panose="02020603050405020304" pitchFamily="18" charset="0"/>
                <a:cs typeface="Times New Roman" panose="02020603050405020304" pitchFamily="18" charset="0"/>
              </a:rPr>
              <a:t>/</a:t>
            </a:r>
          </a:p>
          <a:p>
            <a:pPr marL="971550" lvl="1" indent="-514350" algn="just">
              <a:lnSpc>
                <a:spcPct val="150000"/>
              </a:lnSpc>
              <a:buFont typeface="Wingdings" panose="05000000000000000000" pitchFamily="2" charset="2"/>
              <a:buChar char="ü"/>
            </a:pPr>
            <a:r>
              <a:rPr lang="en-US" sz="2200" dirty="0" err="1">
                <a:solidFill>
                  <a:schemeClr val="tx1"/>
                </a:solidFill>
                <a:latin typeface="Times New Roman" panose="02020603050405020304" pitchFamily="18" charset="0"/>
                <a:cs typeface="Times New Roman" panose="02020603050405020304" pitchFamily="18" charset="0"/>
              </a:rPr>
              <a:t>m.root@santoku</a:t>
            </a:r>
            <a:r>
              <a:rPr lang="en-US" sz="2200" dirty="0">
                <a:solidFill>
                  <a:schemeClr val="tx1"/>
                </a:solidFill>
                <a:latin typeface="Times New Roman" panose="02020603050405020304" pitchFamily="18" charset="0"/>
                <a:cs typeface="Times New Roman" panose="02020603050405020304" pitchFamily="18" charset="0"/>
              </a:rPr>
              <a:t>/cd /</a:t>
            </a:r>
            <a:r>
              <a:rPr lang="en-US" sz="2200" dirty="0" err="1">
                <a:solidFill>
                  <a:schemeClr val="tx1"/>
                </a:solidFill>
                <a:latin typeface="Times New Roman" panose="02020603050405020304" pitchFamily="18" charset="0"/>
                <a:cs typeface="Times New Roman" panose="02020603050405020304" pitchFamily="18" charset="0"/>
              </a:rPr>
              <a:t>mnt</a:t>
            </a:r>
            <a:r>
              <a:rPr lang="en-US" sz="2200" dirty="0">
                <a:solidFill>
                  <a:schemeClr val="tx1"/>
                </a:solidFill>
                <a:latin typeface="Times New Roman" panose="02020603050405020304" pitchFamily="18" charset="0"/>
                <a:cs typeface="Times New Roman" panose="02020603050405020304" pitchFamily="18" charset="0"/>
              </a:rPr>
              <a:t>/</a:t>
            </a:r>
            <a:r>
              <a:rPr lang="en-US" sz="2200" dirty="0" err="1">
                <a:solidFill>
                  <a:schemeClr val="tx1"/>
                </a:solidFill>
                <a:latin typeface="Times New Roman" panose="02020603050405020304" pitchFamily="18" charset="0"/>
                <a:cs typeface="Times New Roman" panose="02020603050405020304" pitchFamily="18" charset="0"/>
              </a:rPr>
              <a:t>sdcard</a:t>
            </a:r>
            <a:r>
              <a:rPr lang="en-US" sz="2200" dirty="0">
                <a:solidFill>
                  <a:schemeClr val="tx1"/>
                </a:solidFill>
                <a:latin typeface="Times New Roman" panose="02020603050405020304" pitchFamily="18" charset="0"/>
                <a:cs typeface="Times New Roman" panose="02020603050405020304" pitchFamily="18" charset="0"/>
              </a:rPr>
              <a:t>/ : #ls // but you do not finds that file</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External Insecure Data Storage – SD Card </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2929447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11594" y="442033"/>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n.if</a:t>
            </a:r>
            <a:r>
              <a:rPr lang="en-US" sz="2600" dirty="0">
                <a:solidFill>
                  <a:schemeClr val="tx1"/>
                </a:solidFill>
                <a:latin typeface="Times New Roman" panose="02020603050405020304" pitchFamily="18" charset="0"/>
                <a:cs typeface="Times New Roman" panose="02020603050405020304" pitchFamily="18" charset="0"/>
              </a:rPr>
              <a:t> you check the source code it shows that “./</a:t>
            </a:r>
            <a:r>
              <a:rPr lang="en-US" sz="2600" dirty="0" err="1">
                <a:solidFill>
                  <a:schemeClr val="tx1"/>
                </a:solidFill>
                <a:latin typeface="Times New Roman" panose="02020603050405020304" pitchFamily="18" charset="0"/>
                <a:cs typeface="Times New Roman" panose="02020603050405020304" pitchFamily="18" charset="0"/>
              </a:rPr>
              <a:t>uinfo</a:t>
            </a:r>
            <a:r>
              <a:rPr lang="en-US" sz="2600" dirty="0">
                <a:solidFill>
                  <a:schemeClr val="tx1"/>
                </a:solidFill>
                <a:latin typeface="Times New Roman" panose="02020603050405020304" pitchFamily="18" charset="0"/>
                <a:cs typeface="Times New Roman" panose="02020603050405020304" pitchFamily="18" charset="0"/>
              </a:rPr>
              <a:t>” where “./” shows that it is hidden file.</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o.root@santoku</a:t>
            </a:r>
            <a:r>
              <a:rPr lang="en-US" sz="2600" dirty="0">
                <a:solidFill>
                  <a:schemeClr val="tx1"/>
                </a:solidFill>
                <a:latin typeface="Times New Roman" panose="02020603050405020304" pitchFamily="18" charset="0"/>
                <a:cs typeface="Times New Roman" panose="02020603050405020304" pitchFamily="18" charset="0"/>
              </a:rPr>
              <a:t>/cd /</a:t>
            </a:r>
            <a:r>
              <a:rPr lang="en-US" sz="2600" dirty="0" err="1">
                <a:solidFill>
                  <a:schemeClr val="tx1"/>
                </a:solidFill>
                <a:latin typeface="Times New Roman" panose="02020603050405020304" pitchFamily="18" charset="0"/>
                <a:cs typeface="Times New Roman" panose="02020603050405020304" pitchFamily="18" charset="0"/>
              </a:rPr>
              <a:t>mnt</a:t>
            </a:r>
            <a:r>
              <a:rPr lang="en-US" sz="2600" dirty="0">
                <a:solidFill>
                  <a:schemeClr val="tx1"/>
                </a:solidFill>
                <a:latin typeface="Times New Roman" panose="02020603050405020304" pitchFamily="18" charset="0"/>
                <a:cs typeface="Times New Roman" panose="02020603050405020304" pitchFamily="18" charset="0"/>
              </a:rPr>
              <a:t>/</a:t>
            </a:r>
            <a:r>
              <a:rPr lang="en-US" sz="2600" dirty="0" err="1">
                <a:solidFill>
                  <a:schemeClr val="tx1"/>
                </a:solidFill>
                <a:latin typeface="Times New Roman" panose="02020603050405020304" pitchFamily="18" charset="0"/>
                <a:cs typeface="Times New Roman" panose="02020603050405020304" pitchFamily="18" charset="0"/>
              </a:rPr>
              <a:t>sdcard</a:t>
            </a:r>
            <a:r>
              <a:rPr lang="en-US" sz="2600" dirty="0">
                <a:solidFill>
                  <a:schemeClr val="tx1"/>
                </a:solidFill>
                <a:latin typeface="Times New Roman" panose="02020603050405020304" pitchFamily="18" charset="0"/>
                <a:cs typeface="Times New Roman" panose="02020603050405020304" pitchFamily="18" charset="0"/>
              </a:rPr>
              <a:t>/ : # ls –a </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p.now</a:t>
            </a:r>
            <a:r>
              <a:rPr lang="en-US" sz="2600" dirty="0">
                <a:solidFill>
                  <a:schemeClr val="tx1"/>
                </a:solidFill>
                <a:latin typeface="Times New Roman" panose="02020603050405020304" pitchFamily="18" charset="0"/>
                <a:cs typeface="Times New Roman" panose="02020603050405020304" pitchFamily="18" charset="0"/>
              </a:rPr>
              <a:t> we can find /uinfo.txt</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q.root@santoku</a:t>
            </a:r>
            <a:r>
              <a:rPr lang="en-US" sz="2600" dirty="0">
                <a:solidFill>
                  <a:schemeClr val="tx1"/>
                </a:solidFill>
                <a:latin typeface="Times New Roman" panose="02020603050405020304" pitchFamily="18" charset="0"/>
                <a:cs typeface="Times New Roman" panose="02020603050405020304" pitchFamily="18" charset="0"/>
              </a:rPr>
              <a:t>/cd /</a:t>
            </a:r>
            <a:r>
              <a:rPr lang="en-US" sz="2600" dirty="0" err="1">
                <a:solidFill>
                  <a:schemeClr val="tx1"/>
                </a:solidFill>
                <a:latin typeface="Times New Roman" panose="02020603050405020304" pitchFamily="18" charset="0"/>
                <a:cs typeface="Times New Roman" panose="02020603050405020304" pitchFamily="18" charset="0"/>
              </a:rPr>
              <a:t>mnt</a:t>
            </a:r>
            <a:r>
              <a:rPr lang="en-US" sz="2600" dirty="0">
                <a:solidFill>
                  <a:schemeClr val="tx1"/>
                </a:solidFill>
                <a:latin typeface="Times New Roman" panose="02020603050405020304" pitchFamily="18" charset="0"/>
                <a:cs typeface="Times New Roman" panose="02020603050405020304" pitchFamily="18" charset="0"/>
              </a:rPr>
              <a:t>/</a:t>
            </a:r>
            <a:r>
              <a:rPr lang="en-US" sz="2600" dirty="0" err="1">
                <a:solidFill>
                  <a:schemeClr val="tx1"/>
                </a:solidFill>
                <a:latin typeface="Times New Roman" panose="02020603050405020304" pitchFamily="18" charset="0"/>
                <a:cs typeface="Times New Roman" panose="02020603050405020304" pitchFamily="18" charset="0"/>
              </a:rPr>
              <a:t>sdcard</a:t>
            </a:r>
            <a:r>
              <a:rPr lang="en-US" sz="2600" dirty="0">
                <a:solidFill>
                  <a:schemeClr val="tx1"/>
                </a:solidFill>
                <a:latin typeface="Times New Roman" panose="02020603050405020304" pitchFamily="18" charset="0"/>
                <a:cs typeface="Times New Roman" panose="02020603050405020304" pitchFamily="18" charset="0"/>
              </a:rPr>
              <a:t>/ : #  cat ./uinfo.txt</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r.now</a:t>
            </a:r>
            <a:r>
              <a:rPr lang="en-US" sz="2600" dirty="0">
                <a:solidFill>
                  <a:schemeClr val="tx1"/>
                </a:solidFill>
                <a:latin typeface="Times New Roman" panose="02020603050405020304" pitchFamily="18" charset="0"/>
                <a:cs typeface="Times New Roman" panose="02020603050405020304" pitchFamily="18" charset="0"/>
              </a:rPr>
              <a:t> you can see the username and password</a:t>
            </a:r>
            <a:endParaRPr lang="en-US" sz="2200"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External Insecure Data Storage – SD Card </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1054868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781080"/>
            <a:ext cx="8546121" cy="5791192"/>
          </a:xfrm>
        </p:spPr>
        <p:txBody>
          <a:bodyPr>
            <a:normAutofit fontScale="85000" lnSpcReduction="20000"/>
          </a:bodyPr>
          <a:lstStyle/>
          <a:p>
            <a:endParaRPr lang="en-IN" sz="4800" b="1" dirty="0">
              <a:solidFill>
                <a:schemeClr val="tx1"/>
              </a:solidFill>
            </a:endParaRPr>
          </a:p>
          <a:p>
            <a:r>
              <a:rPr lang="en-IN" sz="4800" b="1" dirty="0">
                <a:solidFill>
                  <a:schemeClr val="tx1"/>
                </a:solidFill>
              </a:rPr>
              <a:t>Mobile Phone Security </a:t>
            </a: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US" sz="2000" dirty="0">
              <a:solidFill>
                <a:schemeClr val="tx1"/>
              </a:solidFill>
            </a:endParaRPr>
          </a:p>
          <a:p>
            <a:endParaRPr lang="en-US" sz="2000" dirty="0">
              <a:solidFill>
                <a:schemeClr val="tx1"/>
              </a:solidFill>
            </a:endParaRPr>
          </a:p>
          <a:p>
            <a:endParaRPr lang="en-US" sz="2000" dirty="0">
              <a:solidFill>
                <a:schemeClr val="tx1"/>
              </a:solidFill>
            </a:endParaRPr>
          </a:p>
          <a:p>
            <a:endParaRPr lang="en-IN" sz="2000" b="1" dirty="0">
              <a:solidFill>
                <a:schemeClr val="tx1"/>
              </a:solidFill>
            </a:endParaRPr>
          </a:p>
          <a:p>
            <a:endParaRPr lang="en-IN" sz="2000" b="1" dirty="0">
              <a:solidFill>
                <a:schemeClr val="tx1"/>
              </a:solidFill>
            </a:endParaRPr>
          </a:p>
          <a:p>
            <a:endParaRPr lang="en-IN" sz="2000" b="1" dirty="0">
              <a:solidFill>
                <a:schemeClr val="tx1"/>
              </a:solidFill>
            </a:endParaRPr>
          </a:p>
          <a:p>
            <a:endParaRPr lang="en-US" sz="2000" b="1" dirty="0">
              <a:solidFill>
                <a:schemeClr val="tx1"/>
              </a:solidFill>
            </a:endParaRPr>
          </a:p>
          <a:p>
            <a:r>
              <a:rPr lang="en-US" sz="2000" b="1" dirty="0">
                <a:solidFill>
                  <a:schemeClr val="tx1"/>
                </a:solidFill>
              </a:rPr>
              <a:t>Dr. </a:t>
            </a:r>
            <a:r>
              <a:rPr lang="en-US" sz="2000" b="1" dirty="0" err="1">
                <a:solidFill>
                  <a:schemeClr val="tx1"/>
                </a:solidFill>
              </a:rPr>
              <a:t>Digvijaysinh</a:t>
            </a:r>
            <a:r>
              <a:rPr lang="en-US" sz="2000" b="1" dirty="0">
                <a:solidFill>
                  <a:schemeClr val="tx1"/>
                </a:solidFill>
              </a:rPr>
              <a:t> Rathod</a:t>
            </a:r>
          </a:p>
          <a:p>
            <a:r>
              <a:rPr lang="en-US" sz="2000" b="1" dirty="0">
                <a:solidFill>
                  <a:schemeClr val="tx1"/>
                </a:solidFill>
              </a:rPr>
              <a:t>Associate Professor </a:t>
            </a:r>
            <a:r>
              <a:rPr lang="en-IN" altLang="en-US" sz="2000" b="1" dirty="0">
                <a:solidFill>
                  <a:schemeClr val="tx1"/>
                </a:solidFill>
              </a:rPr>
              <a:t>&amp; Associate Dean</a:t>
            </a:r>
            <a:r>
              <a:rPr lang="en-US" sz="2000" b="1" dirty="0">
                <a:solidFill>
                  <a:schemeClr val="tx1"/>
                </a:solidFill>
              </a:rPr>
              <a:t> </a:t>
            </a:r>
          </a:p>
          <a:p>
            <a:r>
              <a:rPr lang="en-IN" altLang="en-US" sz="2000" b="1" dirty="0">
                <a:solidFill>
                  <a:schemeClr val="tx1"/>
                </a:solidFill>
              </a:rPr>
              <a:t>School of Cyber Security and Digital Forensics</a:t>
            </a:r>
            <a:endParaRPr lang="en-US" sz="2000" b="1" dirty="0">
              <a:solidFill>
                <a:schemeClr val="tx1"/>
              </a:solidFill>
            </a:endParaRPr>
          </a:p>
          <a:p>
            <a:r>
              <a:rPr lang="en-US" sz="2000" b="1" dirty="0">
                <a:solidFill>
                  <a:schemeClr val="tx1"/>
                </a:solidFill>
              </a:rPr>
              <a:t>National Forensic Sciences University with status of Institution of National Importance </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b="1" dirty="0">
              <a:latin typeface="Calibri" panose="020F0502020204030204" pitchFamily="34" charset="0"/>
            </a:endParaRP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digvijay.rathod@gfsu.edu.in</a:t>
            </a:r>
          </a:p>
        </p:txBody>
      </p:sp>
      <p:pic>
        <p:nvPicPr>
          <p:cNvPr id="1027" name="Picture 3"/>
          <p:cNvPicPr>
            <a:picLocks noChangeAspect="1" noChangeArrowheads="1"/>
          </p:cNvPicPr>
          <p:nvPr/>
        </p:nvPicPr>
        <p:blipFill>
          <a:blip r:embed="rId2" cstate="print"/>
          <a:srcRect/>
          <a:stretch>
            <a:fillRect/>
          </a:stretch>
        </p:blipFill>
        <p:spPr bwMode="auto">
          <a:xfrm>
            <a:off x="2428860" y="1928802"/>
            <a:ext cx="4909738" cy="3000396"/>
          </a:xfrm>
          <a:prstGeom prst="rect">
            <a:avLst/>
          </a:prstGeom>
          <a:noFill/>
          <a:ln w="9525">
            <a:noFill/>
            <a:miter lim="800000"/>
            <a:headEnd/>
            <a:tailEnd/>
          </a:ln>
          <a:effectLst/>
        </p:spPr>
      </p:pic>
      <p:pic>
        <p:nvPicPr>
          <p:cNvPr id="2" name="Picture 1">
            <a:extLst>
              <a:ext uri="{FF2B5EF4-FFF2-40B4-BE49-F238E27FC236}">
                <a16:creationId xmlns:a16="http://schemas.microsoft.com/office/drawing/2014/main" id="{A5AAE2C0-19BC-4DB3-87F8-786B52506785}"/>
              </a:ext>
            </a:extLst>
          </p:cNvPr>
          <p:cNvPicPr>
            <a:picLocks noChangeAspect="1"/>
          </p:cNvPicPr>
          <p:nvPr/>
        </p:nvPicPr>
        <p:blipFill>
          <a:blip r:embed="rId3"/>
          <a:stretch>
            <a:fillRect/>
          </a:stretch>
        </p:blipFill>
        <p:spPr>
          <a:xfrm>
            <a:off x="2909882" y="-5152"/>
            <a:ext cx="3667125" cy="1247775"/>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846</Words>
  <Application>Microsoft Office PowerPoint</Application>
  <PresentationFormat>On-screen Show (4:3)</PresentationFormat>
  <Paragraphs>96</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digvijay</dc:creator>
  <cp:lastModifiedBy>Windows User</cp:lastModifiedBy>
  <cp:revision>760</cp:revision>
  <dcterms:created xsi:type="dcterms:W3CDTF">2018-03-30T10:15:00Z</dcterms:created>
  <dcterms:modified xsi:type="dcterms:W3CDTF">2020-10-30T10:56:25Z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1033-11.2.0.9718</vt:lpwstr>
  </property>
</Properties>
</file>