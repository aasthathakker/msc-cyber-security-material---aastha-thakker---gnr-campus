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658" r:id="rId2"/>
    <p:sldId id="408" r:id="rId3"/>
    <p:sldId id="659" r:id="rId4"/>
    <p:sldId id="593" r:id="rId5"/>
    <p:sldId id="660" r:id="rId6"/>
    <p:sldId id="661" r:id="rId7"/>
    <p:sldId id="662" r:id="rId8"/>
    <p:sldId id="663" r:id="rId9"/>
    <p:sldId id="664" r:id="rId10"/>
    <p:sldId id="665" r:id="rId11"/>
    <p:sldId id="666" r:id="rId12"/>
    <p:sldId id="667" r:id="rId13"/>
    <p:sldId id="668" r:id="rId14"/>
    <p:sldId id="669" r:id="rId15"/>
    <p:sldId id="670" r:id="rId16"/>
    <p:sldId id="671" r:id="rId17"/>
    <p:sldId id="62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6"/>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11/11/2020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11/11/2020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11/11/2020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11/11/2020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11/11/2020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11/11/2020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11/11/2020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11/11/2020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1795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0816" y="1167365"/>
            <a:ext cx="8546121" cy="904368"/>
          </a:xfrm>
        </p:spPr>
        <p:txBody>
          <a:bodyPr>
            <a:noAutofit/>
          </a:bodyPr>
          <a:lstStyle/>
          <a:p>
            <a:pPr>
              <a:lnSpc>
                <a:spcPct val="150000"/>
              </a:lnSpc>
            </a:pPr>
            <a:r>
              <a:rPr lang="en-US" sz="4000" b="1" dirty="0">
                <a:solidFill>
                  <a:schemeClr val="tx1"/>
                </a:solidFill>
                <a:latin typeface="Times New Roman" panose="02020603050405020304" pitchFamily="18" charset="0"/>
                <a:cs typeface="Times New Roman" panose="02020603050405020304" pitchFamily="18" charset="0"/>
              </a:rPr>
              <a:t>Authentication </a:t>
            </a:r>
          </a:p>
          <a:p>
            <a:pPr>
              <a:lnSpc>
                <a:spcPct val="150000"/>
              </a:lnSpc>
            </a:pPr>
            <a:r>
              <a:rPr lang="en-US" sz="4000" b="1" dirty="0">
                <a:solidFill>
                  <a:schemeClr val="tx1"/>
                </a:solidFill>
                <a:latin typeface="Times New Roman" panose="02020603050405020304" pitchFamily="18" charset="0"/>
                <a:cs typeface="Times New Roman" panose="02020603050405020304" pitchFamily="18" charset="0"/>
              </a:rPr>
              <a:t>Based Access </a:t>
            </a:r>
          </a:p>
          <a:p>
            <a:pPr>
              <a:lnSpc>
                <a:spcPct val="150000"/>
              </a:lnSpc>
            </a:pPr>
            <a:r>
              <a:rPr lang="en-US" sz="4000" b="1" dirty="0">
                <a:solidFill>
                  <a:schemeClr val="tx1"/>
                </a:solidFill>
                <a:latin typeface="Times New Roman" panose="02020603050405020304" pitchFamily="18" charset="0"/>
                <a:cs typeface="Times New Roman" panose="02020603050405020304" pitchFamily="18" charset="0"/>
              </a:rPr>
              <a:t>Control Issues Part - II</a:t>
            </a:r>
            <a:endParaRPr lang="en-US" altLang="en-US" sz="4000" b="1"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Activity</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a.In</a:t>
            </a:r>
            <a:r>
              <a:rPr lang="en-US" sz="2600" dirty="0">
                <a:solidFill>
                  <a:schemeClr val="tx1"/>
                </a:solidFill>
                <a:latin typeface="Times New Roman" panose="02020603050405020304" pitchFamily="18" charset="0"/>
                <a:cs typeface="Times New Roman" panose="02020603050405020304" pitchFamily="18" charset="0"/>
              </a:rPr>
              <a:t> this case the attacker authenticate him or herself and somehow get the access to protected resources or sensitive information that this issues comes under the authentication based access control issues.</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In this challenge is same as before but this case we have to access the protected resources which contain the twitter API credential but only difference is that you can access Twitter API credential after entering the PIN number,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783424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which means that you are authenticated and then only you can access the sensitive information with the option register now or already registered.</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c.Now</a:t>
            </a:r>
            <a:r>
              <a:rPr lang="en-US" sz="2600" dirty="0">
                <a:solidFill>
                  <a:schemeClr val="tx1"/>
                </a:solidFill>
                <a:latin typeface="Times New Roman" panose="02020603050405020304" pitchFamily="18" charset="0"/>
                <a:cs typeface="Times New Roman" panose="02020603050405020304" pitchFamily="18" charset="0"/>
              </a:rPr>
              <a:t> our job is to abuse this mechanism and by pass the authenticate check. </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d.DIVA</a:t>
            </a:r>
            <a:r>
              <a:rPr lang="en-US" sz="2600" dirty="0">
                <a:solidFill>
                  <a:schemeClr val="tx1"/>
                </a:solidFill>
                <a:latin typeface="Times New Roman" panose="02020603050405020304" pitchFamily="18" charset="0"/>
                <a:cs typeface="Times New Roman" panose="02020603050405020304" pitchFamily="18" charset="0"/>
              </a:rPr>
              <a:t>: Access Control Issues Part – 2. In this case to view the view twitter API Credentials either by register now or by already registered.</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e.If</a:t>
            </a:r>
            <a:r>
              <a:rPr lang="en-US" sz="2600" dirty="0">
                <a:solidFill>
                  <a:schemeClr val="tx1"/>
                </a:solidFill>
                <a:latin typeface="Times New Roman" panose="02020603050405020304" pitchFamily="18" charset="0"/>
                <a:cs typeface="Times New Roman" panose="02020603050405020304" pitchFamily="18" charset="0"/>
              </a:rPr>
              <a:t> you click on register now then it as for register with http://payatu.com to get you pin and then login with the PIN.</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f.In</a:t>
            </a:r>
            <a:r>
              <a:rPr lang="en-US" sz="2600" dirty="0">
                <a:solidFill>
                  <a:schemeClr val="tx1"/>
                </a:solidFill>
                <a:latin typeface="Times New Roman" panose="02020603050405020304" pitchFamily="18" charset="0"/>
                <a:cs typeface="Times New Roman" panose="02020603050405020304" pitchFamily="18" charset="0"/>
              </a:rPr>
              <a:t> the second scenario Already Register then we are able to see the Twitter API credential.</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g.Now</a:t>
            </a:r>
            <a:r>
              <a:rPr lang="en-US" sz="2600" dirty="0">
                <a:solidFill>
                  <a:schemeClr val="tx1"/>
                </a:solidFill>
                <a:latin typeface="Times New Roman" panose="02020603050405020304" pitchFamily="18" charset="0"/>
                <a:cs typeface="Times New Roman" panose="02020603050405020304" pitchFamily="18" charset="0"/>
              </a:rPr>
              <a:t> we can invoke the activity which shows twitter API credential directly,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01283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h.santoku@santoku:Desktop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/bin/diva:#</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i.santoku@santoku:Desktop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 # vim AdndroidManifest.xml</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j.you</a:t>
            </a:r>
            <a:r>
              <a:rPr lang="en-US" sz="2600" dirty="0">
                <a:solidFill>
                  <a:schemeClr val="tx1"/>
                </a:solidFill>
                <a:latin typeface="Times New Roman" panose="02020603050405020304" pitchFamily="18" charset="0"/>
                <a:cs typeface="Times New Roman" panose="02020603050405020304" pitchFamily="18" charset="0"/>
              </a:rPr>
              <a:t> can finds all the activity with their respective permission in the manifest file.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277995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k.Find</a:t>
            </a:r>
            <a:r>
              <a:rPr lang="en-US" sz="2600" dirty="0">
                <a:solidFill>
                  <a:schemeClr val="tx1"/>
                </a:solidFill>
                <a:latin typeface="Times New Roman" panose="02020603050405020304" pitchFamily="18" charset="0"/>
                <a:cs typeface="Times New Roman" panose="02020603050405020304" pitchFamily="18" charset="0"/>
              </a:rPr>
              <a:t> the activity entry android name=”jakhar.aseem.diva.AccessControl2Activity”, this activity which contain button label with </a:t>
            </a:r>
            <a:r>
              <a:rPr lang="en-US" sz="2600" dirty="0" err="1">
                <a:solidFill>
                  <a:schemeClr val="tx1"/>
                </a:solidFill>
                <a:latin typeface="Times New Roman" panose="02020603050405020304" pitchFamily="18" charset="0"/>
                <a:cs typeface="Times New Roman" panose="02020603050405020304" pitchFamily="18" charset="0"/>
              </a:rPr>
              <a:t>ViewAPICredentials</a:t>
            </a:r>
            <a:r>
              <a:rPr lang="en-US" sz="2600" dirty="0">
                <a:solidFill>
                  <a:schemeClr val="tx1"/>
                </a:solidFill>
                <a:latin typeface="Times New Roman" panose="02020603050405020304" pitchFamily="18" charset="0"/>
                <a:cs typeface="Times New Roman" panose="02020603050405020304" pitchFamily="18" charset="0"/>
              </a:rPr>
              <a:t> and when we click on it as we observed it will open one more activity which is registered as android name=”jakhar.aseem.diva.APICreds2Activity” in the manifest.xml file. This activity contain sensitive information related to API.</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72263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l.Now</a:t>
            </a:r>
            <a:r>
              <a:rPr lang="en-US" sz="2600" dirty="0">
                <a:solidFill>
                  <a:schemeClr val="tx1"/>
                </a:solidFill>
                <a:latin typeface="Times New Roman" panose="02020603050405020304" pitchFamily="18" charset="0"/>
                <a:cs typeface="Times New Roman" panose="02020603050405020304" pitchFamily="18" charset="0"/>
              </a:rPr>
              <a:t> AccessControl1Activity invokes the </a:t>
            </a:r>
            <a:r>
              <a:rPr lang="en-US" sz="2600" dirty="0" err="1">
                <a:solidFill>
                  <a:schemeClr val="tx1"/>
                </a:solidFill>
                <a:latin typeface="Times New Roman" panose="02020603050405020304" pitchFamily="18" charset="0"/>
                <a:cs typeface="Times New Roman" panose="02020603050405020304" pitchFamily="18" charset="0"/>
              </a:rPr>
              <a:t>APICredsActivity</a:t>
            </a:r>
            <a:r>
              <a:rPr lang="en-US" sz="2600" dirty="0">
                <a:solidFill>
                  <a:schemeClr val="tx1"/>
                </a:solidFill>
                <a:latin typeface="Times New Roman" panose="02020603050405020304" pitchFamily="18" charset="0"/>
                <a:cs typeface="Times New Roman" panose="02020603050405020304" pitchFamily="18" charset="0"/>
              </a:rPr>
              <a:t> activity using &lt;intent-filter&gt; activity</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&lt;action android name=”jakhar.aseem.diva.action.VIEW_CREDS2” which contain API sensitive data.</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m.Now</a:t>
            </a:r>
            <a:r>
              <a:rPr lang="en-US" sz="2600" dirty="0">
                <a:solidFill>
                  <a:schemeClr val="tx1"/>
                </a:solidFill>
                <a:latin typeface="Times New Roman" panose="02020603050405020304" pitchFamily="18" charset="0"/>
                <a:cs typeface="Times New Roman" panose="02020603050405020304" pitchFamily="18" charset="0"/>
              </a:rPr>
              <a:t> copy the above filter intent and opens using activity manger directly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295483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Every android has activity manger and we will use same.</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santoku@santoku</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adb</a:t>
            </a:r>
            <a:r>
              <a:rPr lang="en-US" sz="2600" dirty="0">
                <a:solidFill>
                  <a:schemeClr val="tx1"/>
                </a:solidFill>
                <a:latin typeface="Times New Roman" panose="02020603050405020304" pitchFamily="18" charset="0"/>
                <a:cs typeface="Times New Roman" panose="02020603050405020304" pitchFamily="18" charset="0"/>
              </a:rPr>
              <a:t> shell</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root@santoku</a:t>
            </a:r>
            <a:r>
              <a:rPr lang="en-US" sz="2600" dirty="0">
                <a:solidFill>
                  <a:schemeClr val="tx1"/>
                </a:solidFill>
                <a:latin typeface="Times New Roman" panose="02020603050405020304" pitchFamily="18" charset="0"/>
                <a:cs typeface="Times New Roman" panose="02020603050405020304" pitchFamily="18" charset="0"/>
              </a:rPr>
              <a:t>:/am // and you can see all the help / information related to activity </a:t>
            </a:r>
            <a:r>
              <a:rPr lang="en-US" sz="2600" dirty="0" err="1">
                <a:solidFill>
                  <a:schemeClr val="tx1"/>
                </a:solidFill>
                <a:latin typeface="Times New Roman" panose="02020603050405020304" pitchFamily="18" charset="0"/>
                <a:cs typeface="Times New Roman" panose="02020603050405020304" pitchFamily="18" charset="0"/>
              </a:rPr>
              <a:t>mangar</a:t>
            </a:r>
            <a:r>
              <a:rPr lang="en-US" sz="26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root@santoku</a:t>
            </a:r>
            <a:r>
              <a:rPr lang="en-US" sz="2600" dirty="0">
                <a:solidFill>
                  <a:schemeClr val="tx1"/>
                </a:solidFill>
                <a:latin typeface="Times New Roman" panose="02020603050405020304" pitchFamily="18" charset="0"/>
                <a:cs typeface="Times New Roman" panose="02020603050405020304" pitchFamily="18" charset="0"/>
              </a:rPr>
              <a:t>:$: am start –a jakhar.aseem.diva.action.VIEW_CREDS2 // intent filter</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893616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hit enter and see in the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that the said activity has not opened because the said activity which contain Twitter API information can be open after entering the PIN number only. So it is protected and we can not access the said activity directly through Android Manger with start option.</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06154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s.Let</a:t>
            </a:r>
            <a:r>
              <a:rPr lang="en-US" sz="2600" dirty="0">
                <a:solidFill>
                  <a:schemeClr val="tx1"/>
                </a:solidFill>
                <a:latin typeface="Times New Roman" panose="02020603050405020304" pitchFamily="18" charset="0"/>
                <a:cs typeface="Times New Roman" panose="02020603050405020304" pitchFamily="18" charset="0"/>
              </a:rPr>
              <a:t> wee the source code so we can get inside of it.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t.santoku@santoku:Desktop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 # cd diva</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u.santoku@santoku:Desktop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/bin/diva:# cd </a:t>
            </a:r>
            <a:r>
              <a:rPr lang="en-US" sz="2600" dirty="0" err="1">
                <a:solidFill>
                  <a:schemeClr val="tx1"/>
                </a:solidFill>
                <a:latin typeface="Times New Roman" panose="02020603050405020304" pitchFamily="18" charset="0"/>
                <a:cs typeface="Times New Roman" panose="02020603050405020304" pitchFamily="18" charset="0"/>
              </a:rPr>
              <a:t>jakhar</a:t>
            </a:r>
            <a:r>
              <a:rPr lang="en-US" sz="26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v.santoku@santoku:Desktop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/bin/diva/</a:t>
            </a:r>
            <a:r>
              <a:rPr lang="en-US" sz="2600" dirty="0" err="1">
                <a:solidFill>
                  <a:schemeClr val="tx1"/>
                </a:solidFill>
                <a:latin typeface="Times New Roman" panose="02020603050405020304" pitchFamily="18" charset="0"/>
                <a:cs typeface="Times New Roman" panose="02020603050405020304" pitchFamily="18" charset="0"/>
              </a:rPr>
              <a:t>jakhar</a:t>
            </a:r>
            <a:r>
              <a:rPr lang="en-US" sz="2600" dirty="0">
                <a:solidFill>
                  <a:schemeClr val="tx1"/>
                </a:solidFill>
                <a:latin typeface="Times New Roman" panose="02020603050405020304" pitchFamily="18" charset="0"/>
                <a:cs typeface="Times New Roman" panose="02020603050405020304" pitchFamily="18" charset="0"/>
              </a:rPr>
              <a:t>/: #cd </a:t>
            </a:r>
            <a:r>
              <a:rPr lang="en-US" sz="2600" dirty="0" err="1">
                <a:solidFill>
                  <a:schemeClr val="tx1"/>
                </a:solidFill>
                <a:latin typeface="Times New Roman" panose="02020603050405020304" pitchFamily="18" charset="0"/>
                <a:cs typeface="Times New Roman" panose="02020603050405020304" pitchFamily="18" charset="0"/>
              </a:rPr>
              <a:t>assem</a:t>
            </a:r>
            <a:r>
              <a:rPr lang="en-US" sz="26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w.santoku@santoku:Desktop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/bin/diva/</a:t>
            </a:r>
            <a:r>
              <a:rPr lang="en-US" sz="2600" dirty="0" err="1">
                <a:solidFill>
                  <a:schemeClr val="tx1"/>
                </a:solidFill>
                <a:latin typeface="Times New Roman" panose="02020603050405020304" pitchFamily="18" charset="0"/>
                <a:cs typeface="Times New Roman" panose="02020603050405020304" pitchFamily="18" charset="0"/>
              </a:rPr>
              <a:t>jakhar</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assem</a:t>
            </a:r>
            <a:r>
              <a:rPr lang="en-US" sz="2600" dirty="0">
                <a:solidFill>
                  <a:schemeClr val="tx1"/>
                </a:solidFill>
                <a:latin typeface="Times New Roman" panose="02020603050405020304" pitchFamily="18" charset="0"/>
                <a:cs typeface="Times New Roman" panose="02020603050405020304" pitchFamily="18" charset="0"/>
              </a:rPr>
              <a:t>/: #cd diva</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x.santoku@santoku:Desktop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/bin/diva/</a:t>
            </a:r>
            <a:r>
              <a:rPr lang="en-US" sz="2600" dirty="0" err="1">
                <a:solidFill>
                  <a:schemeClr val="tx1"/>
                </a:solidFill>
                <a:latin typeface="Times New Roman" panose="02020603050405020304" pitchFamily="18" charset="0"/>
                <a:cs typeface="Times New Roman" panose="02020603050405020304" pitchFamily="18" charset="0"/>
              </a:rPr>
              <a:t>jakhar</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assem</a:t>
            </a:r>
            <a:r>
              <a:rPr lang="en-US" sz="2600" dirty="0">
                <a:solidFill>
                  <a:schemeClr val="tx1"/>
                </a:solidFill>
                <a:latin typeface="Times New Roman" panose="02020603050405020304" pitchFamily="18" charset="0"/>
                <a:cs typeface="Times New Roman" panose="02020603050405020304" pitchFamily="18" charset="0"/>
              </a:rPr>
              <a:t>/diva: #ls</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y.find</a:t>
            </a:r>
            <a:r>
              <a:rPr lang="en-US" sz="2600" dirty="0">
                <a:solidFill>
                  <a:schemeClr val="tx1"/>
                </a:solidFill>
                <a:latin typeface="Times New Roman" panose="02020603050405020304" pitchFamily="18" charset="0"/>
                <a:cs typeface="Times New Roman" panose="02020603050405020304" pitchFamily="18" charset="0"/>
              </a:rPr>
              <a:t> the activity name AccessControl2Activity.java</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561064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z.santoku@santoku:Desktop</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jadx</a:t>
            </a:r>
            <a:r>
              <a:rPr lang="en-US" sz="2600" dirty="0">
                <a:solidFill>
                  <a:schemeClr val="tx1"/>
                </a:solidFill>
                <a:latin typeface="Times New Roman" panose="02020603050405020304" pitchFamily="18" charset="0"/>
                <a:cs typeface="Times New Roman" panose="02020603050405020304" pitchFamily="18" charset="0"/>
              </a:rPr>
              <a:t>/bin/diva/</a:t>
            </a:r>
            <a:r>
              <a:rPr lang="en-US" sz="2600" dirty="0" err="1">
                <a:solidFill>
                  <a:schemeClr val="tx1"/>
                </a:solidFill>
                <a:latin typeface="Times New Roman" panose="02020603050405020304" pitchFamily="18" charset="0"/>
                <a:cs typeface="Times New Roman" panose="02020603050405020304" pitchFamily="18" charset="0"/>
              </a:rPr>
              <a:t>jakhar</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assem</a:t>
            </a:r>
            <a:r>
              <a:rPr lang="en-US" sz="2600" dirty="0">
                <a:solidFill>
                  <a:schemeClr val="tx1"/>
                </a:solidFill>
                <a:latin typeface="Times New Roman" panose="02020603050405020304" pitchFamily="18" charset="0"/>
                <a:cs typeface="Times New Roman" panose="02020603050405020304" pitchFamily="18" charset="0"/>
              </a:rPr>
              <a:t>/diva:# vim AccessControl2Activity.java</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aa.he</a:t>
            </a:r>
            <a:r>
              <a:rPr lang="en-US" sz="2600" dirty="0">
                <a:solidFill>
                  <a:schemeClr val="tx1"/>
                </a:solidFill>
                <a:latin typeface="Times New Roman" panose="02020603050405020304" pitchFamily="18" charset="0"/>
                <a:cs typeface="Times New Roman" panose="02020603050405020304" pitchFamily="18" charset="0"/>
              </a:rPr>
              <a:t> in the source code we finds function public void </a:t>
            </a:r>
            <a:r>
              <a:rPr lang="en-US" sz="2600" dirty="0" err="1">
                <a:solidFill>
                  <a:schemeClr val="tx1"/>
                </a:solidFill>
                <a:latin typeface="Times New Roman" panose="02020603050405020304" pitchFamily="18" charset="0"/>
                <a:cs typeface="Times New Roman" panose="02020603050405020304" pitchFamily="18" charset="0"/>
              </a:rPr>
              <a:t>viewAPICredentials</a:t>
            </a:r>
            <a:r>
              <a:rPr lang="en-US" sz="2600" dirty="0">
                <a:solidFill>
                  <a:schemeClr val="tx1"/>
                </a:solidFill>
                <a:latin typeface="Times New Roman" panose="02020603050405020304" pitchFamily="18" charset="0"/>
                <a:cs typeface="Times New Roman" panose="02020603050405020304" pitchFamily="18" charset="0"/>
              </a:rPr>
              <a:t>(View view)</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it has one variable </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 which is of Boolean type. So every thing is controlled by the </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 value that is true or false.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686066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ab.So</a:t>
            </a:r>
            <a:r>
              <a:rPr lang="en-US" sz="2600" dirty="0">
                <a:solidFill>
                  <a:schemeClr val="tx1"/>
                </a:solidFill>
                <a:latin typeface="Times New Roman" panose="02020603050405020304" pitchFamily="18" charset="0"/>
                <a:cs typeface="Times New Roman" panose="02020603050405020304" pitchFamily="18" charset="0"/>
              </a:rPr>
              <a:t> we need to pass the value of </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 with android manager  but it is not that much easy.</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ac.Now</a:t>
            </a:r>
            <a:r>
              <a:rPr lang="en-US" sz="2600" dirty="0">
                <a:solidFill>
                  <a:schemeClr val="tx1"/>
                </a:solidFill>
                <a:latin typeface="Times New Roman" panose="02020603050405020304" pitchFamily="18" charset="0"/>
                <a:cs typeface="Times New Roman" panose="02020603050405020304" pitchFamily="18" charset="0"/>
              </a:rPr>
              <a:t> remember </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 is not actual string but string.xml file contain the reference of string and actual value of </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 is different.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ad.Now</a:t>
            </a:r>
            <a:r>
              <a:rPr lang="en-US" sz="2600" dirty="0">
                <a:solidFill>
                  <a:schemeClr val="tx1"/>
                </a:solidFill>
                <a:latin typeface="Times New Roman" panose="02020603050405020304" pitchFamily="18" charset="0"/>
                <a:cs typeface="Times New Roman" panose="02020603050405020304" pitchFamily="18" charset="0"/>
              </a:rPr>
              <a:t> open the source code of diva-android from https://github.com/payatu/diva-android, from which we can download the source code.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729540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ae.Click</a:t>
            </a:r>
            <a:r>
              <a:rPr lang="en-US" sz="2600" dirty="0">
                <a:solidFill>
                  <a:schemeClr val="tx1"/>
                </a:solidFill>
                <a:latin typeface="Times New Roman" panose="02020603050405020304" pitchFamily="18" charset="0"/>
                <a:cs typeface="Times New Roman" panose="02020603050405020304" pitchFamily="18" charset="0"/>
              </a:rPr>
              <a:t> on app folder and </a:t>
            </a:r>
            <a:r>
              <a:rPr lang="en-US" sz="2600" dirty="0" err="1">
                <a:solidFill>
                  <a:schemeClr val="tx1"/>
                </a:solidFill>
                <a:latin typeface="Times New Roman" panose="02020603050405020304" pitchFamily="18" charset="0"/>
                <a:cs typeface="Times New Roman" panose="02020603050405020304" pitchFamily="18" charset="0"/>
              </a:rPr>
              <a:t>src</a:t>
            </a:r>
            <a:r>
              <a:rPr lang="en-US" sz="2600" dirty="0">
                <a:solidFill>
                  <a:schemeClr val="tx1"/>
                </a:solidFill>
                <a:latin typeface="Times New Roman" panose="02020603050405020304" pitchFamily="18" charset="0"/>
                <a:cs typeface="Times New Roman" panose="02020603050405020304" pitchFamily="18" charset="0"/>
              </a:rPr>
              <a:t> (source)  main  res (resources)  values  string.xml. </a:t>
            </a:r>
            <a:r>
              <a:rPr lang="en-US" sz="2600" dirty="0" err="1">
                <a:solidFill>
                  <a:schemeClr val="tx1"/>
                </a:solidFill>
                <a:latin typeface="Times New Roman" panose="02020603050405020304" pitchFamily="18" charset="0"/>
                <a:cs typeface="Times New Roman" panose="02020603050405020304" pitchFamily="18" charset="0"/>
              </a:rPr>
              <a:t>itcontain</a:t>
            </a:r>
            <a:r>
              <a:rPr lang="en-US" sz="2600" dirty="0">
                <a:solidFill>
                  <a:schemeClr val="tx1"/>
                </a:solidFill>
                <a:latin typeface="Times New Roman" panose="02020603050405020304" pitchFamily="18" charset="0"/>
                <a:cs typeface="Times New Roman" panose="02020603050405020304" pitchFamily="18" charset="0"/>
              </a:rPr>
              <a:t> all the string with the values.</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af.Now</a:t>
            </a:r>
            <a:r>
              <a:rPr lang="en-US" sz="2600" dirty="0">
                <a:solidFill>
                  <a:schemeClr val="tx1"/>
                </a:solidFill>
                <a:latin typeface="Times New Roman" panose="02020603050405020304" pitchFamily="18" charset="0"/>
                <a:cs typeface="Times New Roman" panose="02020603050405020304" pitchFamily="18" charset="0"/>
              </a:rPr>
              <a:t> search for </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 and found the following entry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ag.&lt;</a:t>
            </a:r>
            <a:r>
              <a:rPr lang="en-US" sz="2600" dirty="0" err="1">
                <a:solidFill>
                  <a:schemeClr val="tx1"/>
                </a:solidFill>
                <a:latin typeface="Times New Roman" panose="02020603050405020304" pitchFamily="18" charset="0"/>
                <a:cs typeface="Times New Roman" panose="02020603050405020304" pitchFamily="18" charset="0"/>
              </a:rPr>
              <a:t>stringname</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chk_pin</a:t>
            </a:r>
            <a:r>
              <a:rPr lang="en-US" sz="2600" dirty="0">
                <a:solidFill>
                  <a:schemeClr val="tx1"/>
                </a:solidFill>
                <a:latin typeface="Times New Roman" panose="02020603050405020304" pitchFamily="18" charset="0"/>
                <a:cs typeface="Times New Roman" panose="02020603050405020304" pitchFamily="18" charset="0"/>
              </a:rPr>
              <a:t>"&gt;</a:t>
            </a:r>
            <a:r>
              <a:rPr lang="en-US" sz="2600" dirty="0" err="1">
                <a:solidFill>
                  <a:schemeClr val="tx1"/>
                </a:solidFill>
                <a:latin typeface="Times New Roman" panose="02020603050405020304" pitchFamily="18" charset="0"/>
                <a:cs typeface="Times New Roman" panose="02020603050405020304" pitchFamily="18" charset="0"/>
              </a:rPr>
              <a:t>check_pin</a:t>
            </a:r>
            <a:r>
              <a:rPr lang="en-US" sz="2600" dirty="0">
                <a:solidFill>
                  <a:schemeClr val="tx1"/>
                </a:solidFill>
                <a:latin typeface="Times New Roman" panose="02020603050405020304" pitchFamily="18" charset="0"/>
                <a:cs typeface="Times New Roman" panose="02020603050405020304" pitchFamily="18" charset="0"/>
              </a:rPr>
              <a:t>&lt;/string&gt;</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ah.santoku@santoku</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adb</a:t>
            </a:r>
            <a:r>
              <a:rPr lang="en-US" sz="2600" dirty="0">
                <a:solidFill>
                  <a:schemeClr val="tx1"/>
                </a:solidFill>
                <a:latin typeface="Times New Roman" panose="02020603050405020304" pitchFamily="18" charset="0"/>
                <a:cs typeface="Times New Roman" panose="02020603050405020304" pitchFamily="18" charset="0"/>
              </a:rPr>
              <a:t> shell</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37569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ai.root@santoku</a:t>
            </a:r>
            <a:r>
              <a:rPr lang="en-US" sz="2600" dirty="0">
                <a:solidFill>
                  <a:schemeClr val="tx1"/>
                </a:solidFill>
                <a:latin typeface="Times New Roman" panose="02020603050405020304" pitchFamily="18" charset="0"/>
                <a:cs typeface="Times New Roman" panose="02020603050405020304" pitchFamily="18" charset="0"/>
              </a:rPr>
              <a:t>: check the option. Check the option of &lt;INTENT&gt; to pass the parameter we need to use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-e (for string value), -</a:t>
            </a:r>
            <a:r>
              <a:rPr lang="en-US" sz="2600" dirty="0" err="1">
                <a:solidFill>
                  <a:schemeClr val="tx1"/>
                </a:solidFill>
                <a:latin typeface="Times New Roman" panose="02020603050405020304" pitchFamily="18" charset="0"/>
                <a:cs typeface="Times New Roman" panose="02020603050405020304" pitchFamily="18" charset="0"/>
              </a:rPr>
              <a:t>ez</a:t>
            </a:r>
            <a:r>
              <a:rPr lang="en-US" sz="2600" dirty="0">
                <a:solidFill>
                  <a:schemeClr val="tx1"/>
                </a:solidFill>
                <a:latin typeface="Times New Roman" panose="02020603050405020304" pitchFamily="18" charset="0"/>
                <a:cs typeface="Times New Roman" panose="02020603050405020304" pitchFamily="18" charset="0"/>
              </a:rPr>
              <a:t> (&lt;EXTRA_KEY&gt;&lt;EXTRA_BOOLEAN_VALUE&gt;) with –a. For other value check other options.</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aj.root@santoku</a:t>
            </a:r>
            <a:r>
              <a:rPr lang="en-US" sz="2600" dirty="0">
                <a:solidFill>
                  <a:schemeClr val="tx1"/>
                </a:solidFill>
                <a:latin typeface="Times New Roman" panose="02020603050405020304" pitchFamily="18" charset="0"/>
                <a:cs typeface="Times New Roman" panose="02020603050405020304" pitchFamily="18" charset="0"/>
              </a:rPr>
              <a:t>:$: am start –a jakhar.aseem.diva.action.VIEW_CREDS2 –</a:t>
            </a:r>
            <a:r>
              <a:rPr lang="en-US" sz="2600" dirty="0" err="1">
                <a:solidFill>
                  <a:schemeClr val="tx1"/>
                </a:solidFill>
                <a:latin typeface="Times New Roman" panose="02020603050405020304" pitchFamily="18" charset="0"/>
                <a:cs typeface="Times New Roman" panose="02020603050405020304" pitchFamily="18" charset="0"/>
              </a:rPr>
              <a:t>ez</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check_pin</a:t>
            </a:r>
            <a:r>
              <a:rPr lang="en-US" sz="2600" dirty="0">
                <a:solidFill>
                  <a:schemeClr val="tx1"/>
                </a:solidFill>
                <a:latin typeface="Times New Roman" panose="02020603050405020304" pitchFamily="18" charset="0"/>
                <a:cs typeface="Times New Roman" panose="02020603050405020304" pitchFamily="18" charset="0"/>
              </a:rPr>
              <a:t>” false</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564564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678249"/>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ak.Now</a:t>
            </a:r>
            <a:r>
              <a:rPr lang="en-US" sz="2600" dirty="0">
                <a:solidFill>
                  <a:schemeClr val="tx1"/>
                </a:solidFill>
                <a:latin typeface="Times New Roman" panose="02020603050405020304" pitchFamily="18" charset="0"/>
                <a:cs typeface="Times New Roman" panose="02020603050405020304" pitchFamily="18" charset="0"/>
              </a:rPr>
              <a:t> check in the </a:t>
            </a:r>
            <a:r>
              <a:rPr lang="en-US" sz="2600" dirty="0" err="1">
                <a:solidFill>
                  <a:schemeClr val="tx1"/>
                </a:solidFill>
                <a:latin typeface="Times New Roman" panose="02020603050405020304" pitchFamily="18" charset="0"/>
                <a:cs typeface="Times New Roman" panose="02020603050405020304" pitchFamily="18" charset="0"/>
              </a:rPr>
              <a:t>Gynimotion</a:t>
            </a:r>
            <a:r>
              <a:rPr lang="en-US" sz="2600" dirty="0">
                <a:solidFill>
                  <a:schemeClr val="tx1"/>
                </a:solidFill>
                <a:latin typeface="Times New Roman" panose="02020603050405020304" pitchFamily="18" charset="0"/>
                <a:cs typeface="Times New Roman" panose="02020603050405020304" pitchFamily="18" charset="0"/>
              </a:rPr>
              <a:t> and found </a:t>
            </a:r>
            <a:r>
              <a:rPr lang="en-US" sz="2600">
                <a:solidFill>
                  <a:schemeClr val="tx1"/>
                </a:solidFill>
                <a:latin typeface="Times New Roman" panose="02020603050405020304" pitchFamily="18" charset="0"/>
                <a:cs typeface="Times New Roman" panose="02020603050405020304" pitchFamily="18" charset="0"/>
              </a:rPr>
              <a:t>that activity </a:t>
            </a:r>
            <a:r>
              <a:rPr lang="en-US" sz="2600" dirty="0">
                <a:solidFill>
                  <a:schemeClr val="tx1"/>
                </a:solidFill>
                <a:latin typeface="Times New Roman" panose="02020603050405020304" pitchFamily="18" charset="0"/>
                <a:cs typeface="Times New Roman" panose="02020603050405020304" pitchFamily="18" charset="0"/>
              </a:rPr>
              <a:t>is stared and shown the sensitive information of Twitter API without authentication.</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62739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1110</Words>
  <Application>Microsoft Office PowerPoint</Application>
  <PresentationFormat>On-screen Show (4:3)</PresentationFormat>
  <Paragraphs>112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Windows User</cp:lastModifiedBy>
  <cp:revision>765</cp:revision>
  <dcterms:created xsi:type="dcterms:W3CDTF">2018-03-30T10:15:00Z</dcterms:created>
  <dcterms:modified xsi:type="dcterms:W3CDTF">2020-11-11T06:43:57Z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