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658" r:id="rId2"/>
    <p:sldId id="408" r:id="rId3"/>
    <p:sldId id="659" r:id="rId4"/>
    <p:sldId id="672" r:id="rId5"/>
    <p:sldId id="673" r:id="rId6"/>
    <p:sldId id="674" r:id="rId7"/>
    <p:sldId id="675" r:id="rId8"/>
    <p:sldId id="660" r:id="rId9"/>
    <p:sldId id="626"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6"/>
      </p:cViewPr>
      <p:guideLst>
        <p:guide orient="horz" pos="2145"/>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t>11/9/2020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t>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t>11/9/2020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t>11/9/2020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t>11/9/2020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17956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0816" y="1167365"/>
            <a:ext cx="8546121" cy="904368"/>
          </a:xfrm>
        </p:spPr>
        <p:txBody>
          <a:bodyPr>
            <a:noAutofit/>
          </a:bodyPr>
          <a:lstStyle/>
          <a:p>
            <a:pPr>
              <a:lnSpc>
                <a:spcPct val="150000"/>
              </a:lnSpc>
            </a:pPr>
            <a:r>
              <a:rPr lang="en-US" sz="4000" b="1" dirty="0">
                <a:solidFill>
                  <a:schemeClr val="tx1"/>
                </a:solidFill>
                <a:latin typeface="Times New Roman" panose="02020603050405020304" pitchFamily="18" charset="0"/>
                <a:cs typeface="Times New Roman" panose="02020603050405020304" pitchFamily="18" charset="0"/>
              </a:rPr>
              <a:t>Access Control Issues: </a:t>
            </a:r>
            <a:endParaRPr lang="en-US" altLang="en-US" sz="4000" b="1"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Access Control Issues: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62225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 This challenge deals with accessing a PIN protected notes storage without knowing the PIN.</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b.A</a:t>
            </a:r>
            <a:r>
              <a:rPr lang="en-US" sz="2600" dirty="0">
                <a:solidFill>
                  <a:schemeClr val="tx1"/>
                </a:solidFill>
                <a:latin typeface="Times New Roman" panose="02020603050405020304" pitchFamily="18" charset="0"/>
                <a:cs typeface="Times New Roman" panose="02020603050405020304" pitchFamily="18" charset="0"/>
              </a:rPr>
              <a:t> good way to know if we can bypass PIN-based authorization screens is by using </a:t>
            </a: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with its automated vulnerability detection and support in exploiting those weaknesses.</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c.Thus</a:t>
            </a:r>
            <a:r>
              <a:rPr lang="en-US" sz="2600" dirty="0">
                <a:solidFill>
                  <a:schemeClr val="tx1"/>
                </a:solidFill>
                <a:latin typeface="Times New Roman" panose="02020603050405020304" pitchFamily="18" charset="0"/>
                <a:cs typeface="Times New Roman" panose="02020603050405020304" pitchFamily="18" charset="0"/>
              </a:rPr>
              <a:t>, we will start </a:t>
            </a: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and search for vulnerabilities in the DIVA app:</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783424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62225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d.dz&gt; run </a:t>
            </a:r>
            <a:r>
              <a:rPr lang="en-US" sz="2600" dirty="0" err="1">
                <a:solidFill>
                  <a:schemeClr val="tx1"/>
                </a:solidFill>
                <a:latin typeface="Times New Roman" panose="02020603050405020304" pitchFamily="18" charset="0"/>
                <a:cs typeface="Times New Roman" panose="02020603050405020304" pitchFamily="18" charset="0"/>
              </a:rPr>
              <a:t>app.package.attacksurfacejakhar.aseem.diva</a:t>
            </a:r>
            <a:endParaRPr lang="en-US" sz="2600" dirty="0">
              <a:solidFill>
                <a:schemeClr val="tx1"/>
              </a:solidFill>
              <a:latin typeface="Times New Roman" panose="02020603050405020304" pitchFamily="18" charset="0"/>
              <a:cs typeface="Times New Roman" panose="02020603050405020304" pitchFamily="18" charset="0"/>
            </a:endParaRP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a. Attack Surface:</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b.  3 activities exported</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  0 broadcast receivers exported</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d.  1 content providers exported</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e.  0 services exported</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f.    is </a:t>
            </a:r>
            <a:r>
              <a:rPr lang="en-US" sz="2200" dirty="0" err="1">
                <a:solidFill>
                  <a:schemeClr val="tx1"/>
                </a:solidFill>
                <a:latin typeface="Times New Roman" panose="02020603050405020304" pitchFamily="18" charset="0"/>
                <a:cs typeface="Times New Roman" panose="02020603050405020304" pitchFamily="18" charset="0"/>
              </a:rPr>
              <a:t>debuggable</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852916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62225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e.This</a:t>
            </a:r>
            <a:r>
              <a:rPr lang="en-US" sz="2600" dirty="0">
                <a:solidFill>
                  <a:schemeClr val="tx1"/>
                </a:solidFill>
                <a:latin typeface="Times New Roman" panose="02020603050405020304" pitchFamily="18" charset="0"/>
                <a:cs typeface="Times New Roman" panose="02020603050405020304" pitchFamily="18" charset="0"/>
              </a:rPr>
              <a:t> results shows us already, that the app has 3 exported activities (activities that we could access directly from outside the app) and one exported content provider.</a:t>
            </a:r>
          </a:p>
          <a:p>
            <a:pPr marL="971550" lvl="1"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f.</a:t>
            </a:r>
            <a:r>
              <a:rPr lang="en-US" sz="2600" dirty="0" err="1">
                <a:solidFill>
                  <a:schemeClr val="tx1"/>
                </a:solidFill>
                <a:latin typeface="Times New Roman" panose="02020603050405020304" pitchFamily="18" charset="0"/>
                <a:cs typeface="Times New Roman" panose="02020603050405020304" pitchFamily="18" charset="0"/>
              </a:rPr>
              <a:t>For</a:t>
            </a:r>
            <a:r>
              <a:rPr lang="en-US" sz="2600" dirty="0">
                <a:solidFill>
                  <a:schemeClr val="tx1"/>
                </a:solidFill>
                <a:latin typeface="Times New Roman" panose="02020603050405020304" pitchFamily="18" charset="0"/>
                <a:cs typeface="Times New Roman" panose="02020603050405020304" pitchFamily="18" charset="0"/>
              </a:rPr>
              <a:t> this challenge, the exported content provider seems to be very interesting as it allows access to a database – now let’s hope that it is the right one. To find out which database the app is exporting through this content provider, we use again </a:t>
            </a: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078982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622251"/>
            <a:ext cx="8546121" cy="5467320"/>
          </a:xfrm>
        </p:spPr>
        <p:txBody>
          <a:bodyPr>
            <a:noAutofit/>
          </a:bodyPr>
          <a:lstStyle/>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graphicFrame>
        <p:nvGraphicFramePr>
          <p:cNvPr id="2" name="Table 1">
            <a:extLst>
              <a:ext uri="{FF2B5EF4-FFF2-40B4-BE49-F238E27FC236}">
                <a16:creationId xmlns:a16="http://schemas.microsoft.com/office/drawing/2014/main" id="{011CDA09-1703-4A5B-B689-8082B30AC8C1}"/>
              </a:ext>
            </a:extLst>
          </p:cNvPr>
          <p:cNvGraphicFramePr>
            <a:graphicFrameLocks noGrp="1"/>
          </p:cNvGraphicFramePr>
          <p:nvPr>
            <p:extLst>
              <p:ext uri="{D42A27DB-BD31-4B8C-83A1-F6EECF244321}">
                <p14:modId xmlns:p14="http://schemas.microsoft.com/office/powerpoint/2010/main" val="3018880285"/>
              </p:ext>
            </p:extLst>
          </p:nvPr>
        </p:nvGraphicFramePr>
        <p:xfrm>
          <a:off x="783273" y="768429"/>
          <a:ext cx="8030435" cy="5099898"/>
        </p:xfrm>
        <a:graphic>
          <a:graphicData uri="http://schemas.openxmlformats.org/drawingml/2006/table">
            <a:tbl>
              <a:tblPr>
                <a:tableStyleId>{5C22544A-7EE6-4342-B048-85BDC9FD1C3A}</a:tableStyleId>
              </a:tblPr>
              <a:tblGrid>
                <a:gridCol w="404351">
                  <a:extLst>
                    <a:ext uri="{9D8B030D-6E8A-4147-A177-3AD203B41FA5}">
                      <a16:colId xmlns:a16="http://schemas.microsoft.com/office/drawing/2014/main" val="996714289"/>
                    </a:ext>
                  </a:extLst>
                </a:gridCol>
                <a:gridCol w="7626084">
                  <a:extLst>
                    <a:ext uri="{9D8B030D-6E8A-4147-A177-3AD203B41FA5}">
                      <a16:colId xmlns:a16="http://schemas.microsoft.com/office/drawing/2014/main" val="2397858317"/>
                    </a:ext>
                  </a:extLst>
                </a:gridCol>
              </a:tblGrid>
              <a:tr h="5099898">
                <a:tc>
                  <a:txBody>
                    <a:bodyPr/>
                    <a:lstStyle/>
                    <a:p>
                      <a:pPr algn="ctr">
                        <a:lnSpc>
                          <a:spcPct val="114000"/>
                        </a:lnSpc>
                        <a:spcAft>
                          <a:spcPts val="0"/>
                        </a:spcAft>
                      </a:pPr>
                      <a:r>
                        <a:rPr lang="en-IN" sz="2000">
                          <a:effectLst/>
                        </a:rPr>
                        <a:t>1</a:t>
                      </a:r>
                      <a:endParaRPr lang="en-IN" sz="3200">
                        <a:effectLst/>
                      </a:endParaRPr>
                    </a:p>
                    <a:p>
                      <a:pPr algn="ctr">
                        <a:lnSpc>
                          <a:spcPct val="114000"/>
                        </a:lnSpc>
                        <a:spcAft>
                          <a:spcPts val="0"/>
                        </a:spcAft>
                      </a:pPr>
                      <a:r>
                        <a:rPr lang="en-IN" sz="2000">
                          <a:effectLst/>
                        </a:rPr>
                        <a:t>2</a:t>
                      </a:r>
                      <a:endParaRPr lang="en-IN" sz="3200">
                        <a:effectLst/>
                      </a:endParaRPr>
                    </a:p>
                    <a:p>
                      <a:pPr algn="ctr">
                        <a:lnSpc>
                          <a:spcPct val="114000"/>
                        </a:lnSpc>
                        <a:spcAft>
                          <a:spcPts val="0"/>
                        </a:spcAft>
                      </a:pPr>
                      <a:r>
                        <a:rPr lang="en-IN" sz="2000">
                          <a:effectLst/>
                        </a:rPr>
                        <a:t>3</a:t>
                      </a:r>
                      <a:endParaRPr lang="en-IN" sz="3200">
                        <a:effectLst/>
                      </a:endParaRPr>
                    </a:p>
                    <a:p>
                      <a:pPr algn="ctr">
                        <a:lnSpc>
                          <a:spcPct val="114000"/>
                        </a:lnSpc>
                        <a:spcAft>
                          <a:spcPts val="0"/>
                        </a:spcAft>
                      </a:pPr>
                      <a:r>
                        <a:rPr lang="en-IN" sz="2000">
                          <a:effectLst/>
                        </a:rPr>
                        <a:t>4</a:t>
                      </a:r>
                      <a:endParaRPr lang="en-IN" sz="3200">
                        <a:effectLst/>
                      </a:endParaRPr>
                    </a:p>
                    <a:p>
                      <a:pPr algn="ctr">
                        <a:lnSpc>
                          <a:spcPct val="114000"/>
                        </a:lnSpc>
                        <a:spcAft>
                          <a:spcPts val="0"/>
                        </a:spcAft>
                      </a:pPr>
                      <a:r>
                        <a:rPr lang="en-IN" sz="2000">
                          <a:effectLst/>
                        </a:rPr>
                        <a:t>5</a:t>
                      </a:r>
                      <a:endParaRPr lang="en-IN" sz="3200">
                        <a:effectLst/>
                      </a:endParaRPr>
                    </a:p>
                    <a:p>
                      <a:pPr algn="ctr">
                        <a:lnSpc>
                          <a:spcPct val="114000"/>
                        </a:lnSpc>
                        <a:spcAft>
                          <a:spcPts val="0"/>
                        </a:spcAft>
                      </a:pPr>
                      <a:r>
                        <a:rPr lang="en-IN" sz="2000">
                          <a:effectLst/>
                        </a:rPr>
                        <a:t>6</a:t>
                      </a:r>
                      <a:endParaRPr lang="en-IN" sz="3200">
                        <a:effectLst/>
                      </a:endParaRPr>
                    </a:p>
                    <a:p>
                      <a:pPr algn="ctr">
                        <a:lnSpc>
                          <a:spcPct val="114000"/>
                        </a:lnSpc>
                        <a:spcAft>
                          <a:spcPts val="0"/>
                        </a:spcAft>
                      </a:pPr>
                      <a:r>
                        <a:rPr lang="en-IN" sz="2000">
                          <a:effectLst/>
                        </a:rPr>
                        <a:t>7</a:t>
                      </a:r>
                      <a:endParaRPr lang="en-IN" sz="3200">
                        <a:effectLst/>
                      </a:endParaRPr>
                    </a:p>
                    <a:p>
                      <a:pPr algn="ctr">
                        <a:lnSpc>
                          <a:spcPct val="114000"/>
                        </a:lnSpc>
                        <a:spcAft>
                          <a:spcPts val="0"/>
                        </a:spcAft>
                      </a:pPr>
                      <a:r>
                        <a:rPr lang="en-IN" sz="2000">
                          <a:effectLst/>
                        </a:rPr>
                        <a:t>8</a:t>
                      </a:r>
                      <a:endParaRPr lang="en-IN" sz="3200">
                        <a:effectLst/>
                      </a:endParaRPr>
                    </a:p>
                    <a:p>
                      <a:pPr algn="ctr">
                        <a:lnSpc>
                          <a:spcPct val="114000"/>
                        </a:lnSpc>
                        <a:spcAft>
                          <a:spcPts val="0"/>
                        </a:spcAft>
                      </a:pPr>
                      <a:r>
                        <a:rPr lang="en-IN" sz="2000">
                          <a:effectLst/>
                        </a:rPr>
                        <a:t>9</a:t>
                      </a:r>
                      <a:endParaRPr lang="en-IN" sz="3200">
                        <a:effectLst/>
                      </a:endParaRPr>
                    </a:p>
                    <a:p>
                      <a:pPr algn="ctr">
                        <a:lnSpc>
                          <a:spcPct val="114000"/>
                        </a:lnSpc>
                        <a:spcAft>
                          <a:spcPts val="0"/>
                        </a:spcAft>
                      </a:pPr>
                      <a:r>
                        <a:rPr lang="en-IN" sz="2000">
                          <a:effectLst/>
                        </a:rPr>
                        <a:t>10</a:t>
                      </a:r>
                      <a:endParaRPr lang="en-IN" sz="32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4000"/>
                        </a:lnSpc>
                        <a:spcAft>
                          <a:spcPts val="0"/>
                        </a:spcAft>
                      </a:pPr>
                      <a:r>
                        <a:rPr lang="en-IN" sz="2800" dirty="0" err="1">
                          <a:effectLst/>
                        </a:rPr>
                        <a:t>dz</a:t>
                      </a:r>
                      <a:r>
                        <a:rPr lang="en-IN" sz="2800" dirty="0">
                          <a:effectLst/>
                        </a:rPr>
                        <a:t>&gt; run </a:t>
                      </a:r>
                      <a:r>
                        <a:rPr lang="en-IN" sz="2800" dirty="0" err="1">
                          <a:effectLst/>
                        </a:rPr>
                        <a:t>scanner.provider.finduris</a:t>
                      </a:r>
                      <a:r>
                        <a:rPr lang="en-IN" sz="2800" dirty="0">
                          <a:effectLst/>
                        </a:rPr>
                        <a:t> -a </a:t>
                      </a:r>
                      <a:r>
                        <a:rPr lang="en-IN" sz="2800" dirty="0" err="1">
                          <a:effectLst/>
                        </a:rPr>
                        <a:t>jakhar.aseem.diva</a:t>
                      </a:r>
                      <a:endParaRPr lang="en-IN" sz="2400" dirty="0">
                        <a:effectLst/>
                      </a:endParaRPr>
                    </a:p>
                    <a:p>
                      <a:pPr>
                        <a:lnSpc>
                          <a:spcPct val="114000"/>
                        </a:lnSpc>
                        <a:spcAft>
                          <a:spcPts val="0"/>
                        </a:spcAft>
                      </a:pPr>
                      <a:r>
                        <a:rPr lang="en-IN" sz="2000" dirty="0">
                          <a:effectLst/>
                        </a:rPr>
                        <a:t>Scanning </a:t>
                      </a:r>
                      <a:r>
                        <a:rPr lang="en-IN" sz="2000" dirty="0" err="1">
                          <a:effectLst/>
                        </a:rPr>
                        <a:t>jakhar.aseem.diva</a:t>
                      </a:r>
                      <a:r>
                        <a:rPr lang="en-IN" sz="2000" dirty="0">
                          <a:effectLst/>
                        </a:rPr>
                        <a:t>...</a:t>
                      </a:r>
                      <a:endParaRPr lang="en-IN" sz="3200" dirty="0">
                        <a:effectLst/>
                      </a:endParaRPr>
                    </a:p>
                    <a:p>
                      <a:pPr>
                        <a:lnSpc>
                          <a:spcPct val="114000"/>
                        </a:lnSpc>
                        <a:spcAft>
                          <a:spcPts val="0"/>
                        </a:spcAft>
                      </a:pPr>
                      <a:r>
                        <a:rPr lang="en-IN" sz="2000" dirty="0">
                          <a:effectLst/>
                        </a:rPr>
                        <a:t>Able to Query    content://jakhar.aseem.diva.provider.notesprovider/notes/</a:t>
                      </a:r>
                      <a:endParaRPr lang="en-IN" sz="3200" dirty="0">
                        <a:effectLst/>
                      </a:endParaRPr>
                    </a:p>
                    <a:p>
                      <a:pPr>
                        <a:lnSpc>
                          <a:spcPct val="114000"/>
                        </a:lnSpc>
                        <a:spcAft>
                          <a:spcPts val="0"/>
                        </a:spcAft>
                      </a:pPr>
                      <a:r>
                        <a:rPr lang="en-IN" sz="2000" dirty="0">
                          <a:effectLst/>
                        </a:rPr>
                        <a:t>Unable to Query  content://jakhar.aseem.diva.provider.notesprovider</a:t>
                      </a:r>
                      <a:endParaRPr lang="en-IN" sz="3200" dirty="0">
                        <a:effectLst/>
                      </a:endParaRPr>
                    </a:p>
                    <a:p>
                      <a:pPr>
                        <a:lnSpc>
                          <a:spcPct val="114000"/>
                        </a:lnSpc>
                        <a:spcAft>
                          <a:spcPts val="0"/>
                        </a:spcAft>
                      </a:pPr>
                      <a:r>
                        <a:rPr lang="en-IN" sz="2000" dirty="0">
                          <a:effectLst/>
                        </a:rPr>
                        <a:t>Unable to Query  content://jakhar.aseem.diva.provider.notesprovider/</a:t>
                      </a:r>
                      <a:endParaRPr lang="en-IN" sz="3200" dirty="0">
                        <a:effectLst/>
                      </a:endParaRPr>
                    </a:p>
                    <a:p>
                      <a:pPr>
                        <a:lnSpc>
                          <a:spcPct val="114000"/>
                        </a:lnSpc>
                        <a:spcAft>
                          <a:spcPts val="0"/>
                        </a:spcAft>
                      </a:pPr>
                      <a:r>
                        <a:rPr lang="en-IN" sz="2000" dirty="0">
                          <a:effectLst/>
                        </a:rPr>
                        <a:t>Able to Query    content://jakhar.aseem.diva.provider.notesprovider/notes</a:t>
                      </a:r>
                      <a:endParaRPr lang="en-IN" sz="3200" dirty="0">
                        <a:effectLst/>
                      </a:endParaRPr>
                    </a:p>
                    <a:p>
                      <a:pPr>
                        <a:lnSpc>
                          <a:spcPct val="114000"/>
                        </a:lnSpc>
                        <a:spcAft>
                          <a:spcPts val="0"/>
                        </a:spcAft>
                      </a:pPr>
                      <a:r>
                        <a:rPr lang="en-IN" sz="2000" dirty="0">
                          <a:effectLst/>
                        </a:rPr>
                        <a:t> Accessible content URIs:</a:t>
                      </a:r>
                      <a:endParaRPr lang="en-IN" sz="3200" dirty="0">
                        <a:effectLst/>
                      </a:endParaRPr>
                    </a:p>
                    <a:p>
                      <a:pPr>
                        <a:lnSpc>
                          <a:spcPct val="114000"/>
                        </a:lnSpc>
                        <a:spcAft>
                          <a:spcPts val="0"/>
                        </a:spcAft>
                      </a:pPr>
                      <a:r>
                        <a:rPr lang="en-IN" sz="2000" dirty="0">
                          <a:effectLst/>
                        </a:rPr>
                        <a:t>  content://jakhar.aseem.diva.provider.notesprovider/notes/</a:t>
                      </a:r>
                      <a:endParaRPr lang="en-IN" sz="3200" dirty="0">
                        <a:effectLst/>
                      </a:endParaRPr>
                    </a:p>
                    <a:p>
                      <a:pPr>
                        <a:lnSpc>
                          <a:spcPct val="114000"/>
                        </a:lnSpc>
                        <a:spcAft>
                          <a:spcPts val="0"/>
                        </a:spcAft>
                      </a:pPr>
                      <a:r>
                        <a:rPr lang="en-IN" sz="2000" dirty="0">
                          <a:effectLst/>
                        </a:rPr>
                        <a:t>  content://jakhar.aseem.diva.provider.notesprovider/notes</a:t>
                      </a:r>
                      <a:endParaRPr lang="en-IN" sz="3200" dirty="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16413679"/>
                  </a:ext>
                </a:extLst>
              </a:tr>
            </a:tbl>
          </a:graphicData>
        </a:graphic>
      </p:graphicFrame>
    </p:spTree>
    <p:extLst>
      <p:ext uri="{BB962C8B-B14F-4D97-AF65-F5344CB8AC3E}">
        <p14:creationId xmlns:p14="http://schemas.microsoft.com/office/powerpoint/2010/main" val="1289411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62225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As we can see here, the exported content provider is the right one, it allows access to the secret notes. To gain access to it, we will query it through the URI and </a:t>
            </a: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graphicFrame>
        <p:nvGraphicFramePr>
          <p:cNvPr id="2" name="Table 1">
            <a:extLst>
              <a:ext uri="{FF2B5EF4-FFF2-40B4-BE49-F238E27FC236}">
                <a16:creationId xmlns:a16="http://schemas.microsoft.com/office/drawing/2014/main" id="{A55D9881-FB9C-4A16-8F14-B3DF4BFF892D}"/>
              </a:ext>
            </a:extLst>
          </p:cNvPr>
          <p:cNvGraphicFramePr>
            <a:graphicFrameLocks noGrp="1"/>
          </p:cNvGraphicFramePr>
          <p:nvPr>
            <p:extLst>
              <p:ext uri="{D42A27DB-BD31-4B8C-83A1-F6EECF244321}">
                <p14:modId xmlns:p14="http://schemas.microsoft.com/office/powerpoint/2010/main" val="4020943381"/>
              </p:ext>
            </p:extLst>
          </p:nvPr>
        </p:nvGraphicFramePr>
        <p:xfrm>
          <a:off x="1208262" y="3140968"/>
          <a:ext cx="7209603" cy="3128582"/>
        </p:xfrm>
        <a:graphic>
          <a:graphicData uri="http://schemas.openxmlformats.org/drawingml/2006/table">
            <a:tbl>
              <a:tblPr>
                <a:tableStyleId>{5C22544A-7EE6-4342-B048-85BDC9FD1C3A}</a:tableStyleId>
              </a:tblPr>
              <a:tblGrid>
                <a:gridCol w="339402">
                  <a:extLst>
                    <a:ext uri="{9D8B030D-6E8A-4147-A177-3AD203B41FA5}">
                      <a16:colId xmlns:a16="http://schemas.microsoft.com/office/drawing/2014/main" val="2593544250"/>
                    </a:ext>
                  </a:extLst>
                </a:gridCol>
                <a:gridCol w="6870201">
                  <a:extLst>
                    <a:ext uri="{9D8B030D-6E8A-4147-A177-3AD203B41FA5}">
                      <a16:colId xmlns:a16="http://schemas.microsoft.com/office/drawing/2014/main" val="2699616810"/>
                    </a:ext>
                  </a:extLst>
                </a:gridCol>
              </a:tblGrid>
              <a:tr h="3090855">
                <a:tc>
                  <a:txBody>
                    <a:bodyPr/>
                    <a:lstStyle/>
                    <a:p>
                      <a:pPr algn="ctr">
                        <a:lnSpc>
                          <a:spcPct val="114000"/>
                        </a:lnSpc>
                        <a:spcAft>
                          <a:spcPts val="0"/>
                        </a:spcAft>
                      </a:pPr>
                      <a:r>
                        <a:rPr lang="en-IN" sz="1800">
                          <a:effectLst/>
                        </a:rPr>
                        <a:t>1</a:t>
                      </a:r>
                      <a:endParaRPr lang="en-IN" sz="2800">
                        <a:effectLst/>
                      </a:endParaRPr>
                    </a:p>
                    <a:p>
                      <a:pPr algn="ctr">
                        <a:lnSpc>
                          <a:spcPct val="114000"/>
                        </a:lnSpc>
                        <a:spcAft>
                          <a:spcPts val="0"/>
                        </a:spcAft>
                      </a:pPr>
                      <a:r>
                        <a:rPr lang="en-IN" sz="1800">
                          <a:effectLst/>
                        </a:rPr>
                        <a:t>2</a:t>
                      </a:r>
                      <a:endParaRPr lang="en-IN" sz="2800">
                        <a:effectLst/>
                      </a:endParaRPr>
                    </a:p>
                    <a:p>
                      <a:pPr algn="ctr">
                        <a:lnSpc>
                          <a:spcPct val="114000"/>
                        </a:lnSpc>
                        <a:spcAft>
                          <a:spcPts val="0"/>
                        </a:spcAft>
                      </a:pPr>
                      <a:r>
                        <a:rPr lang="en-IN" sz="1800">
                          <a:effectLst/>
                        </a:rPr>
                        <a:t>3</a:t>
                      </a:r>
                      <a:endParaRPr lang="en-IN" sz="2800">
                        <a:effectLst/>
                      </a:endParaRPr>
                    </a:p>
                    <a:p>
                      <a:pPr algn="ctr">
                        <a:lnSpc>
                          <a:spcPct val="114000"/>
                        </a:lnSpc>
                        <a:spcAft>
                          <a:spcPts val="0"/>
                        </a:spcAft>
                      </a:pPr>
                      <a:r>
                        <a:rPr lang="en-IN" sz="1800">
                          <a:effectLst/>
                        </a:rPr>
                        <a:t>4</a:t>
                      </a:r>
                      <a:endParaRPr lang="en-IN" sz="2800">
                        <a:effectLst/>
                      </a:endParaRPr>
                    </a:p>
                    <a:p>
                      <a:pPr algn="ctr">
                        <a:lnSpc>
                          <a:spcPct val="114000"/>
                        </a:lnSpc>
                        <a:spcAft>
                          <a:spcPts val="0"/>
                        </a:spcAft>
                      </a:pPr>
                      <a:r>
                        <a:rPr lang="en-IN" sz="1800">
                          <a:effectLst/>
                        </a:rPr>
                        <a:t>5</a:t>
                      </a:r>
                      <a:endParaRPr lang="en-IN" sz="2800">
                        <a:effectLst/>
                      </a:endParaRPr>
                    </a:p>
                    <a:p>
                      <a:pPr algn="ctr">
                        <a:lnSpc>
                          <a:spcPct val="114000"/>
                        </a:lnSpc>
                        <a:spcAft>
                          <a:spcPts val="0"/>
                        </a:spcAft>
                      </a:pPr>
                      <a:r>
                        <a:rPr lang="en-IN" sz="1800">
                          <a:effectLst/>
                        </a:rPr>
                        <a:t>6</a:t>
                      </a:r>
                      <a:endParaRPr lang="en-IN" sz="2800">
                        <a:effectLst/>
                      </a:endParaRPr>
                    </a:p>
                    <a:p>
                      <a:pPr algn="ctr">
                        <a:lnSpc>
                          <a:spcPct val="114000"/>
                        </a:lnSpc>
                        <a:spcAft>
                          <a:spcPts val="0"/>
                        </a:spcAft>
                      </a:pPr>
                      <a:r>
                        <a:rPr lang="en-IN" sz="1800">
                          <a:effectLst/>
                        </a:rPr>
                        <a:t>7</a:t>
                      </a:r>
                      <a:endParaRPr lang="en-IN" sz="2800">
                        <a:effectLst/>
                      </a:endParaRPr>
                    </a:p>
                    <a:p>
                      <a:pPr algn="ctr">
                        <a:lnSpc>
                          <a:spcPct val="114000"/>
                        </a:lnSpc>
                        <a:spcAft>
                          <a:spcPts val="0"/>
                        </a:spcAft>
                      </a:pPr>
                      <a:r>
                        <a:rPr lang="en-IN" sz="1800">
                          <a:effectLst/>
                        </a:rPr>
                        <a:t>8</a:t>
                      </a:r>
                      <a:endParaRPr lang="en-IN" sz="28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4000"/>
                        </a:lnSpc>
                        <a:spcAft>
                          <a:spcPts val="0"/>
                        </a:spcAft>
                      </a:pPr>
                      <a:r>
                        <a:rPr lang="en-IN" sz="1800" dirty="0" err="1">
                          <a:effectLst/>
                        </a:rPr>
                        <a:t>dz</a:t>
                      </a:r>
                      <a:r>
                        <a:rPr lang="en-IN" sz="1800" dirty="0">
                          <a:effectLst/>
                        </a:rPr>
                        <a:t>&gt; run </a:t>
                      </a:r>
                      <a:r>
                        <a:rPr lang="en-IN" sz="1800" dirty="0" err="1">
                          <a:effectLst/>
                        </a:rPr>
                        <a:t>app.provider.query</a:t>
                      </a:r>
                      <a:r>
                        <a:rPr lang="en-IN" sz="1800" dirty="0">
                          <a:effectLst/>
                        </a:rPr>
                        <a:t> content://jakhar.aseem.diva.provider.notesprovider/notes/ --projection "* FROM notes;--"</a:t>
                      </a:r>
                      <a:endParaRPr lang="en-IN" sz="2800" dirty="0">
                        <a:effectLst/>
                      </a:endParaRPr>
                    </a:p>
                    <a:p>
                      <a:pPr>
                        <a:lnSpc>
                          <a:spcPct val="114000"/>
                        </a:lnSpc>
                        <a:spcAft>
                          <a:spcPts val="0"/>
                        </a:spcAft>
                      </a:pPr>
                      <a:r>
                        <a:rPr lang="en-IN" sz="1800" dirty="0">
                          <a:effectLst/>
                        </a:rPr>
                        <a:t>| _id | title    | note                                 |</a:t>
                      </a:r>
                      <a:endParaRPr lang="en-IN" sz="2800" dirty="0">
                        <a:effectLst/>
                      </a:endParaRPr>
                    </a:p>
                    <a:p>
                      <a:pPr>
                        <a:lnSpc>
                          <a:spcPct val="114000"/>
                        </a:lnSpc>
                        <a:spcAft>
                          <a:spcPts val="0"/>
                        </a:spcAft>
                      </a:pPr>
                      <a:r>
                        <a:rPr lang="en-IN" sz="1800" dirty="0">
                          <a:effectLst/>
                        </a:rPr>
                        <a:t>| 1   | office   | 10 Meetings. 5 Calls. Lunch with CEO |</a:t>
                      </a:r>
                      <a:endParaRPr lang="en-IN" sz="2800" dirty="0">
                        <a:effectLst/>
                      </a:endParaRPr>
                    </a:p>
                    <a:p>
                      <a:pPr>
                        <a:lnSpc>
                          <a:spcPct val="114000"/>
                        </a:lnSpc>
                        <a:spcAft>
                          <a:spcPts val="0"/>
                        </a:spcAft>
                      </a:pPr>
                      <a:r>
                        <a:rPr lang="en-IN" sz="1800" dirty="0">
                          <a:effectLst/>
                        </a:rPr>
                        <a:t>| 2   | home     | Buy toys for baby, Order dinner      |</a:t>
                      </a:r>
                      <a:endParaRPr lang="en-IN" sz="2800" dirty="0">
                        <a:effectLst/>
                      </a:endParaRPr>
                    </a:p>
                    <a:p>
                      <a:pPr>
                        <a:lnSpc>
                          <a:spcPct val="114000"/>
                        </a:lnSpc>
                        <a:spcAft>
                          <a:spcPts val="0"/>
                        </a:spcAft>
                      </a:pPr>
                      <a:r>
                        <a:rPr lang="en-IN" sz="1800" dirty="0">
                          <a:effectLst/>
                        </a:rPr>
                        <a:t>| 3   | holiday  | Either Goa or Amsterdam              |</a:t>
                      </a:r>
                      <a:endParaRPr lang="en-IN" sz="2800" dirty="0">
                        <a:effectLst/>
                      </a:endParaRPr>
                    </a:p>
                    <a:p>
                      <a:pPr>
                        <a:lnSpc>
                          <a:spcPct val="114000"/>
                        </a:lnSpc>
                        <a:spcAft>
                          <a:spcPts val="0"/>
                        </a:spcAft>
                      </a:pPr>
                      <a:r>
                        <a:rPr lang="en-IN" sz="1800" dirty="0">
                          <a:effectLst/>
                        </a:rPr>
                        <a:t>| 4   | Expense  | Spent too much on home </a:t>
                      </a:r>
                      <a:r>
                        <a:rPr lang="en-IN" sz="1800" dirty="0" err="1">
                          <a:effectLst/>
                        </a:rPr>
                        <a:t>theater</a:t>
                      </a:r>
                      <a:r>
                        <a:rPr lang="en-IN" sz="1800" dirty="0">
                          <a:effectLst/>
                        </a:rPr>
                        <a:t>       |</a:t>
                      </a:r>
                      <a:endParaRPr lang="en-IN" sz="2800" dirty="0">
                        <a:effectLst/>
                      </a:endParaRPr>
                    </a:p>
                    <a:p>
                      <a:pPr>
                        <a:lnSpc>
                          <a:spcPct val="114000"/>
                        </a:lnSpc>
                        <a:spcAft>
                          <a:spcPts val="0"/>
                        </a:spcAft>
                      </a:pPr>
                      <a:r>
                        <a:rPr lang="en-IN" sz="1800" dirty="0">
                          <a:effectLst/>
                        </a:rPr>
                        <a:t>| 5   | Exercise | Alternate days running               |</a:t>
                      </a:r>
                      <a:endParaRPr lang="en-IN" sz="2800" dirty="0">
                        <a:effectLst/>
                      </a:endParaRPr>
                    </a:p>
                    <a:p>
                      <a:pPr>
                        <a:lnSpc>
                          <a:spcPct val="114000"/>
                        </a:lnSpc>
                        <a:spcAft>
                          <a:spcPts val="0"/>
                        </a:spcAft>
                      </a:pPr>
                      <a:r>
                        <a:rPr lang="en-IN" sz="1800" dirty="0">
                          <a:effectLst/>
                        </a:rPr>
                        <a:t>| 6   | Weekend  | b333333333333r                       |</a:t>
                      </a:r>
                      <a:endParaRPr lang="en-IN" sz="2800" dirty="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58835360"/>
                  </a:ext>
                </a:extLst>
              </a:tr>
            </a:tbl>
          </a:graphicData>
        </a:graphic>
      </p:graphicFrame>
    </p:spTree>
    <p:extLst>
      <p:ext uri="{BB962C8B-B14F-4D97-AF65-F5344CB8AC3E}">
        <p14:creationId xmlns:p14="http://schemas.microsoft.com/office/powerpoint/2010/main" val="2676398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588" y="434001"/>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e.If</a:t>
            </a:r>
            <a:r>
              <a:rPr lang="en-US" sz="2600" dirty="0">
                <a:solidFill>
                  <a:schemeClr val="tx1"/>
                </a:solidFill>
                <a:latin typeface="Times New Roman" panose="02020603050405020304" pitchFamily="18" charset="0"/>
                <a:cs typeface="Times New Roman" panose="02020603050405020304" pitchFamily="18" charset="0"/>
              </a:rPr>
              <a:t> you click on register now then it as for register with http://payatu.com to get you pin and then login with the PIN.</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f.In</a:t>
            </a:r>
            <a:r>
              <a:rPr lang="en-US" sz="2600" dirty="0">
                <a:solidFill>
                  <a:schemeClr val="tx1"/>
                </a:solidFill>
                <a:latin typeface="Times New Roman" panose="02020603050405020304" pitchFamily="18" charset="0"/>
                <a:cs typeface="Times New Roman" panose="02020603050405020304" pitchFamily="18" charset="0"/>
              </a:rPr>
              <a:t> the second scenario Already Register then we are able to see the Twitter API credential.</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g.Now</a:t>
            </a:r>
            <a:r>
              <a:rPr lang="en-US" sz="2600" dirty="0">
                <a:solidFill>
                  <a:schemeClr val="tx1"/>
                </a:solidFill>
                <a:latin typeface="Times New Roman" panose="02020603050405020304" pitchFamily="18" charset="0"/>
                <a:cs typeface="Times New Roman" panose="02020603050405020304" pitchFamily="18" charset="0"/>
              </a:rPr>
              <a:t> we can invoke the activity which shows twitter API credential directly,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Authentication Based Access Control Issues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01283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A5AAE2C0-19BC-4DB3-87F8-786B52506785}"/>
              </a:ext>
            </a:extLst>
          </p:cNvPr>
          <p:cNvPicPr>
            <a:picLocks noChangeAspect="1"/>
          </p:cNvPicPr>
          <p:nvPr/>
        </p:nvPicPr>
        <p:blipFill>
          <a:blip r:embed="rId3"/>
          <a:stretch>
            <a:fillRect/>
          </a:stretch>
        </p:blipFill>
        <p:spPr>
          <a:xfrm>
            <a:off x="2909882" y="-5152"/>
            <a:ext cx="3667125" cy="124777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679</Words>
  <Application>Microsoft Office PowerPoint</Application>
  <PresentationFormat>On-screen Show (4:3)</PresentationFormat>
  <Paragraphs>104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Windows User</cp:lastModifiedBy>
  <cp:revision>767</cp:revision>
  <dcterms:created xsi:type="dcterms:W3CDTF">2018-03-30T10:15:00Z</dcterms:created>
  <dcterms:modified xsi:type="dcterms:W3CDTF">2020-11-09T06:08:36Z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1033-11.2.0.9718</vt:lpwstr>
  </property>
</Properties>
</file>