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57" r:id="rId2"/>
    <p:sldId id="408" r:id="rId3"/>
    <p:sldId id="404" r:id="rId4"/>
    <p:sldId id="442" r:id="rId5"/>
    <p:sldId id="499" r:id="rId6"/>
    <p:sldId id="500" r:id="rId7"/>
    <p:sldId id="501" r:id="rId8"/>
    <p:sldId id="503" r:id="rId9"/>
    <p:sldId id="504" r:id="rId10"/>
    <p:sldId id="505" r:id="rId11"/>
    <p:sldId id="507" r:id="rId12"/>
    <p:sldId id="506" r:id="rId13"/>
    <p:sldId id="508" r:id="rId14"/>
    <p:sldId id="509" r:id="rId15"/>
    <p:sldId id="510" r:id="rId16"/>
    <p:sldId id="465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3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22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0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1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6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75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76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6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21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59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pPr/>
              <a:t>4/29/2021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98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82015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boot process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767950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467320"/>
          </a:xfrm>
        </p:spPr>
        <p:txBody>
          <a:bodyPr>
            <a:normAutofit/>
          </a:bodyPr>
          <a:lstStyle/>
          <a:p>
            <a:endParaRPr lang="en-IN" sz="4400" b="1" dirty="0">
              <a:solidFill>
                <a:schemeClr val="tx1"/>
              </a:solidFill>
            </a:endParaRPr>
          </a:p>
          <a:p>
            <a:r>
              <a:rPr lang="en-IN" sz="4400" b="1" dirty="0">
                <a:solidFill>
                  <a:schemeClr val="tx1"/>
                </a:solidFill>
              </a:rPr>
              <a:t>Reference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1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786183" y="0"/>
            <a:ext cx="1120496" cy="1428736"/>
          </a:xfrm>
          <a:prstGeom prst="rect">
            <a:avLst/>
          </a:prstGeom>
          <a:noFill/>
        </p:spPr>
      </p:pic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28662" y="2285992"/>
            <a:ext cx="3436155" cy="41434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000628" y="2214554"/>
            <a:ext cx="3328985" cy="41528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1588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When an Android device is first powered on, there is a sequence of steps that are executed, helping the device to load necessary firmware, OS, application data, and so on into memory.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767950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sequence of steps involved in Android boot process is as follows: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1. Boot ROM code execution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2. The boot loader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3. The Linux kernel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4. The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process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5. Zygote and Dalvik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6. The system server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269446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CE7A52BD-A5B5-46E0-9245-BBB6C72DE3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0B2668-2F3C-4D18-A678-5C29A1867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" y="781081"/>
            <a:ext cx="7527744" cy="530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844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252F0F0-D8E6-4D0C-B71B-179C04574B6F}"/>
              </a:ext>
            </a:extLst>
          </p:cNvPr>
          <p:cNvSpPr/>
          <p:nvPr/>
        </p:nvSpPr>
        <p:spPr>
          <a:xfrm>
            <a:off x="323528" y="980728"/>
            <a:ext cx="1656184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Android Power On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F90D6D8-5E7C-4FB3-8D1B-5E9C31D9D9F7}"/>
              </a:ext>
            </a:extLst>
          </p:cNvPr>
          <p:cNvSpPr/>
          <p:nvPr/>
        </p:nvSpPr>
        <p:spPr>
          <a:xfrm>
            <a:off x="2699792" y="980728"/>
            <a:ext cx="1656184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Boot ROM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9DFE51-375D-4EC6-93ED-FC95C1D3ABF8}"/>
              </a:ext>
            </a:extLst>
          </p:cNvPr>
          <p:cNvCxnSpPr>
            <a:stCxn id="2" idx="3"/>
            <a:endCxn id="12" idx="1"/>
          </p:cNvCxnSpPr>
          <p:nvPr/>
        </p:nvCxnSpPr>
        <p:spPr>
          <a:xfrm>
            <a:off x="1979712" y="1278601"/>
            <a:ext cx="7200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3C1DBC-ACCC-4770-B6F2-A89E2E56E5A7}"/>
              </a:ext>
            </a:extLst>
          </p:cNvPr>
          <p:cNvSpPr txBox="1"/>
          <p:nvPr/>
        </p:nvSpPr>
        <p:spPr>
          <a:xfrm>
            <a:off x="1983239" y="914175"/>
            <a:ext cx="722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Starts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75B0984-B803-4DE1-9AE8-E3D22A0FD47F}"/>
              </a:ext>
            </a:extLst>
          </p:cNvPr>
          <p:cNvSpPr/>
          <p:nvPr/>
        </p:nvSpPr>
        <p:spPr>
          <a:xfrm>
            <a:off x="5610614" y="682855"/>
            <a:ext cx="2129738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device hardware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3BE081-D50D-4C36-B029-F237E5C2E864}"/>
              </a:ext>
            </a:extLst>
          </p:cNvPr>
          <p:cNvSpPr/>
          <p:nvPr/>
        </p:nvSpPr>
        <p:spPr>
          <a:xfrm>
            <a:off x="5610614" y="1365710"/>
            <a:ext cx="2273754" cy="148722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 dirty="0"/>
          </a:p>
          <a:p>
            <a:pPr algn="ctr"/>
            <a:endParaRPr lang="en-IN" b="1" dirty="0"/>
          </a:p>
          <a:p>
            <a:pPr algn="ctr"/>
            <a:r>
              <a:rPr lang="en-IN" b="1" dirty="0"/>
              <a:t>Boot ROM scan till it  detect and finds boot media</a:t>
            </a:r>
          </a:p>
          <a:p>
            <a:pPr marL="342900" indent="-342900" algn="ctr">
              <a:buAutoNum type="arabicPeriod"/>
            </a:pPr>
            <a:r>
              <a:rPr lang="en-IN" b="1" dirty="0"/>
              <a:t>Boot Code</a:t>
            </a:r>
          </a:p>
          <a:p>
            <a:pPr marL="342900" indent="-342900" algn="ctr">
              <a:buAutoNum type="arabicPeriod"/>
            </a:pPr>
            <a:r>
              <a:rPr lang="en-IN" b="1" dirty="0"/>
              <a:t>File System </a:t>
            </a:r>
          </a:p>
          <a:p>
            <a:pPr algn="ctr"/>
            <a:r>
              <a:rPr lang="en-IN" b="1" dirty="0"/>
              <a:t> </a:t>
            </a:r>
            <a:br>
              <a:rPr lang="en-IN" b="1" dirty="0"/>
            </a:br>
            <a:endParaRPr lang="en-IN" b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E85B74E-10EA-4C7D-8996-BB26346667F9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 flipV="1">
            <a:off x="4355976" y="980728"/>
            <a:ext cx="1254638" cy="297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589E574-79AD-4E84-B2BD-A1062103D966}"/>
              </a:ext>
            </a:extLst>
          </p:cNvPr>
          <p:cNvSpPr txBox="1"/>
          <p:nvPr/>
        </p:nvSpPr>
        <p:spPr>
          <a:xfrm>
            <a:off x="4345660" y="612709"/>
            <a:ext cx="1076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initializes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E79FA13-E247-4D5F-992C-0F9187AEB7F3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345660" y="1304135"/>
            <a:ext cx="1264954" cy="8051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1258CB3-1BE7-46BE-8022-D3E7E933D57C}"/>
              </a:ext>
            </a:extLst>
          </p:cNvPr>
          <p:cNvSpPr/>
          <p:nvPr/>
        </p:nvSpPr>
        <p:spPr>
          <a:xfrm>
            <a:off x="5698358" y="3396145"/>
            <a:ext cx="2129738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boot sequence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459D7EA-98E3-4E2D-A2C6-4431498F856A}"/>
              </a:ext>
            </a:extLst>
          </p:cNvPr>
          <p:cNvCxnSpPr>
            <a:stCxn id="16" idx="2"/>
            <a:endCxn id="29" idx="0"/>
          </p:cNvCxnSpPr>
          <p:nvPr/>
        </p:nvCxnSpPr>
        <p:spPr>
          <a:xfrm>
            <a:off x="6747491" y="2852936"/>
            <a:ext cx="15736" cy="5432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407F585-54E7-4973-B98E-523A0019D684}"/>
              </a:ext>
            </a:extLst>
          </p:cNvPr>
          <p:cNvSpPr txBox="1"/>
          <p:nvPr/>
        </p:nvSpPr>
        <p:spPr>
          <a:xfrm>
            <a:off x="6948264" y="2939874"/>
            <a:ext cx="126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Established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1FE43B5-2C38-4252-AC56-333ACE94FD73}"/>
              </a:ext>
            </a:extLst>
          </p:cNvPr>
          <p:cNvSpPr/>
          <p:nvPr/>
        </p:nvSpPr>
        <p:spPr>
          <a:xfrm>
            <a:off x="2442262" y="2327818"/>
            <a:ext cx="2129738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boot loader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7F3208E-F30D-4159-BBDE-90B4AE7394B9}"/>
              </a:ext>
            </a:extLst>
          </p:cNvPr>
          <p:cNvCxnSpPr>
            <a:cxnSpLocks/>
          </p:cNvCxnSpPr>
          <p:nvPr/>
        </p:nvCxnSpPr>
        <p:spPr>
          <a:xfrm>
            <a:off x="3527884" y="1594569"/>
            <a:ext cx="3886" cy="7337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826A4712-20B8-4358-8719-856527345D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243509"/>
              </p:ext>
            </p:extLst>
          </p:nvPr>
        </p:nvGraphicFramePr>
        <p:xfrm>
          <a:off x="2466812" y="3641989"/>
          <a:ext cx="2273754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73754">
                  <a:extLst>
                    <a:ext uri="{9D8B030D-6E8A-4147-A177-3AD203B41FA5}">
                      <a16:colId xmlns:a16="http://schemas.microsoft.com/office/drawing/2014/main" val="973304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Physical Memory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51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Boot ROM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546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Internal 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510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I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External 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446396"/>
                  </a:ext>
                </a:extLst>
              </a:tr>
            </a:tbl>
          </a:graphicData>
        </a:graphic>
      </p:graphicFrame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A7A38EB-999D-4DA6-9E7F-B34C5273C562}"/>
              </a:ext>
            </a:extLst>
          </p:cNvPr>
          <p:cNvCxnSpPr>
            <a:cxnSpLocks/>
          </p:cNvCxnSpPr>
          <p:nvPr/>
        </p:nvCxnSpPr>
        <p:spPr>
          <a:xfrm>
            <a:off x="3575253" y="2923564"/>
            <a:ext cx="3886" cy="7337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6D9F5E85-D2AB-4E5B-8799-EAAB4954316F}"/>
              </a:ext>
            </a:extLst>
          </p:cNvPr>
          <p:cNvSpPr/>
          <p:nvPr/>
        </p:nvSpPr>
        <p:spPr>
          <a:xfrm>
            <a:off x="2699792" y="1438775"/>
            <a:ext cx="391230" cy="4355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A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012CA227-270A-4F95-B26F-93EB7E1BEEEF}"/>
              </a:ext>
            </a:extLst>
          </p:cNvPr>
          <p:cNvSpPr/>
          <p:nvPr/>
        </p:nvSpPr>
        <p:spPr>
          <a:xfrm>
            <a:off x="2442262" y="2722090"/>
            <a:ext cx="391230" cy="4355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234CB4A-592D-42F6-AC37-3330DB8F8B84}"/>
              </a:ext>
            </a:extLst>
          </p:cNvPr>
          <p:cNvSpPr txBox="1"/>
          <p:nvPr/>
        </p:nvSpPr>
        <p:spPr>
          <a:xfrm>
            <a:off x="3695034" y="3124540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Copied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B9A99-CD79-4012-8CAF-D68583A12D69}"/>
              </a:ext>
            </a:extLst>
          </p:cNvPr>
          <p:cNvSpPr txBox="1"/>
          <p:nvPr/>
        </p:nvSpPr>
        <p:spPr>
          <a:xfrm>
            <a:off x="1331640" y="5096059"/>
            <a:ext cx="48826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execution shifts to the code loaded into the RAM. 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2966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boot loader is a piece of program that is executed before the operating system starts to function.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there are two stages—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initial program load (IPL) 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second program load (SPL).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Boot Loader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316409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Boot Loader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7A9C1F6-2B34-4CC7-8844-B3D6631A10FB}"/>
              </a:ext>
            </a:extLst>
          </p:cNvPr>
          <p:cNvSpPr/>
          <p:nvPr/>
        </p:nvSpPr>
        <p:spPr>
          <a:xfrm>
            <a:off x="395536" y="1052736"/>
            <a:ext cx="1080120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IPL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1F447DF-D2CB-4EBB-9D29-B0F435893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398275"/>
              </p:ext>
            </p:extLst>
          </p:nvPr>
        </p:nvGraphicFramePr>
        <p:xfrm>
          <a:off x="2483768" y="781081"/>
          <a:ext cx="2273754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73754">
                  <a:extLst>
                    <a:ext uri="{9D8B030D-6E8A-4147-A177-3AD203B41FA5}">
                      <a16:colId xmlns:a16="http://schemas.microsoft.com/office/drawing/2014/main" val="9733045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Physical Memory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51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Boot ROM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6546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Internal 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510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IN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External 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446396"/>
                  </a:ext>
                </a:extLst>
              </a:tr>
            </a:tbl>
          </a:graphicData>
        </a:graphic>
      </p:graphicFrame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BEDD573-7B65-471E-9ABF-254A103CEC8D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1475656" y="1350607"/>
            <a:ext cx="99586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C7A39A5-D936-49FE-871D-FC4F7BC4A572}"/>
              </a:ext>
            </a:extLst>
          </p:cNvPr>
          <p:cNvSpPr txBox="1"/>
          <p:nvPr/>
        </p:nvSpPr>
        <p:spPr>
          <a:xfrm>
            <a:off x="344145" y="654193"/>
            <a:ext cx="2127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Detecting and set up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F9FDA99-03CE-44BF-BB4C-EEE28E760FDE}"/>
              </a:ext>
            </a:extLst>
          </p:cNvPr>
          <p:cNvSpPr/>
          <p:nvPr/>
        </p:nvSpPr>
        <p:spPr>
          <a:xfrm>
            <a:off x="6324750" y="1587110"/>
            <a:ext cx="1080120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SPL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9F8E30A-BB6D-4484-8A42-EE2D11F5F770}"/>
              </a:ext>
            </a:extLst>
          </p:cNvPr>
          <p:cNvCxnSpPr>
            <a:cxnSpLocks/>
            <a:stCxn id="14" idx="1"/>
          </p:cNvCxnSpPr>
          <p:nvPr/>
        </p:nvCxnSpPr>
        <p:spPr>
          <a:xfrm rot="10800000" flipV="1">
            <a:off x="4738676" y="1884983"/>
            <a:ext cx="1586074" cy="1853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E536500-211E-4D36-9BD3-C9DED76E2807}"/>
              </a:ext>
            </a:extLst>
          </p:cNvPr>
          <p:cNvSpPr txBox="1"/>
          <p:nvPr/>
        </p:nvSpPr>
        <p:spPr>
          <a:xfrm>
            <a:off x="5318235" y="1518955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Copied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0891AD-F8F4-4401-A4E6-0D0347DF0E82}"/>
              </a:ext>
            </a:extLst>
          </p:cNvPr>
          <p:cNvSpPr/>
          <p:nvPr/>
        </p:nvSpPr>
        <p:spPr>
          <a:xfrm>
            <a:off x="2471522" y="2233712"/>
            <a:ext cx="24605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000000"/>
                </a:solidFill>
                <a:latin typeface="TimesNewRomanPSMT"/>
              </a:rPr>
              <a:t>Execution is transferred</a:t>
            </a:r>
            <a:r>
              <a:rPr lang="en-IN" dirty="0"/>
              <a:t> </a:t>
            </a:r>
            <a:br>
              <a:rPr lang="en-IN" dirty="0"/>
            </a:br>
            <a:endParaRPr lang="en-IN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048DD7-DF41-4862-92D1-B94AE0A8A31A}"/>
              </a:ext>
            </a:extLst>
          </p:cNvPr>
          <p:cNvSpPr/>
          <p:nvPr/>
        </p:nvSpPr>
        <p:spPr>
          <a:xfrm>
            <a:off x="2561215" y="2589844"/>
            <a:ext cx="2281132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SPL is copied  in to RAM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DDA13A0-AAC4-4332-A3D3-B3DE92D381BF}"/>
              </a:ext>
            </a:extLst>
          </p:cNvPr>
          <p:cNvSpPr/>
          <p:nvPr/>
        </p:nvSpPr>
        <p:spPr>
          <a:xfrm>
            <a:off x="5580112" y="2593319"/>
            <a:ext cx="1728192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/>
              <a:t>Android OS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EAEB07-77F9-40AC-A216-9FC3C9C710C4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4842347" y="2887717"/>
            <a:ext cx="737765" cy="34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76EA400-4DAF-4FA1-BE46-FD4D9B756847}"/>
              </a:ext>
            </a:extLst>
          </p:cNvPr>
          <p:cNvSpPr txBox="1"/>
          <p:nvPr/>
        </p:nvSpPr>
        <p:spPr>
          <a:xfrm>
            <a:off x="4912675" y="2989775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Load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D0090C0-4652-4B7F-8965-83DEDE9B1056}"/>
              </a:ext>
            </a:extLst>
          </p:cNvPr>
          <p:cNvSpPr/>
          <p:nvPr/>
        </p:nvSpPr>
        <p:spPr>
          <a:xfrm>
            <a:off x="5580112" y="3618523"/>
            <a:ext cx="2520280" cy="59574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boot modes such as </a:t>
            </a:r>
            <a:r>
              <a:rPr lang="en-US" b="1" dirty="0" err="1"/>
              <a:t>fastboot</a:t>
            </a:r>
            <a:r>
              <a:rPr lang="en-US" b="1" dirty="0"/>
              <a:t>, recovery etc.,</a:t>
            </a:r>
            <a:endParaRPr lang="en-IN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8F23789C-A807-4B06-AEA8-A627FF24AFDC}"/>
              </a:ext>
            </a:extLst>
          </p:cNvPr>
          <p:cNvCxnSpPr>
            <a:stCxn id="19" idx="2"/>
            <a:endCxn id="24" idx="1"/>
          </p:cNvCxnSpPr>
          <p:nvPr/>
        </p:nvCxnSpPr>
        <p:spPr>
          <a:xfrm rot="16200000" flipH="1">
            <a:off x="4275543" y="2611827"/>
            <a:ext cx="730806" cy="18783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ADA2E2B-6B9C-43F2-A911-605D43A3F45F}"/>
              </a:ext>
            </a:extLst>
          </p:cNvPr>
          <p:cNvSpPr txBox="1"/>
          <p:nvPr/>
        </p:nvSpPr>
        <p:spPr>
          <a:xfrm>
            <a:off x="3895350" y="3963342"/>
            <a:ext cx="1548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Provide access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12E75AB-6E3F-4A13-A324-7A26BB2157CD}"/>
              </a:ext>
            </a:extLst>
          </p:cNvPr>
          <p:cNvSpPr/>
          <p:nvPr/>
        </p:nvSpPr>
        <p:spPr>
          <a:xfrm>
            <a:off x="0" y="4159042"/>
            <a:ext cx="2273754" cy="148722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 dirty="0"/>
          </a:p>
          <a:p>
            <a:pPr algn="ctr"/>
            <a:endParaRPr lang="en-IN" b="1" dirty="0"/>
          </a:p>
          <a:p>
            <a:pPr algn="ctr"/>
            <a:r>
              <a:rPr lang="en-IN" b="1" dirty="0"/>
              <a:t>Boot media</a:t>
            </a:r>
          </a:p>
          <a:p>
            <a:pPr marL="342900" indent="-342900" algn="ctr">
              <a:buAutoNum type="arabicPeriod"/>
            </a:pPr>
            <a:r>
              <a:rPr lang="en-IN" b="1" dirty="0"/>
              <a:t>Boot Code</a:t>
            </a:r>
          </a:p>
          <a:p>
            <a:pPr marL="342900" indent="-342900" algn="ctr">
              <a:buAutoNum type="arabicPeriod"/>
            </a:pPr>
            <a:r>
              <a:rPr lang="en-IN" b="1" dirty="0"/>
              <a:t>File System </a:t>
            </a:r>
          </a:p>
          <a:p>
            <a:pPr marL="342900" indent="-342900" algn="ctr">
              <a:buAutoNum type="arabicPeriod"/>
            </a:pPr>
            <a:r>
              <a:rPr lang="en-IN" b="1" dirty="0">
                <a:solidFill>
                  <a:srgbClr val="FF0000"/>
                </a:solidFill>
              </a:rPr>
              <a:t>Linux Kernel</a:t>
            </a:r>
          </a:p>
          <a:p>
            <a:pPr algn="ctr"/>
            <a:r>
              <a:rPr lang="en-IN" b="1" dirty="0"/>
              <a:t> </a:t>
            </a:r>
            <a:br>
              <a:rPr lang="en-IN" b="1" dirty="0"/>
            </a:br>
            <a:endParaRPr lang="en-IN" b="1" dirty="0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FF6F622C-D562-465C-A696-29FE4F57537F}"/>
              </a:ext>
            </a:extLst>
          </p:cNvPr>
          <p:cNvCxnSpPr>
            <a:cxnSpLocks/>
            <a:stCxn id="32" idx="0"/>
          </p:cNvCxnSpPr>
          <p:nvPr/>
        </p:nvCxnSpPr>
        <p:spPr>
          <a:xfrm rot="5400000" flipH="1" flipV="1">
            <a:off x="755188" y="2416459"/>
            <a:ext cx="2124273" cy="1360895"/>
          </a:xfrm>
          <a:prstGeom prst="bentConnector3">
            <a:avLst>
              <a:gd name="adj1" fmla="val 10099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5D2520A-90B1-4E31-921C-62795FC9D69B}"/>
              </a:ext>
            </a:extLst>
          </p:cNvPr>
          <p:cNvCxnSpPr/>
          <p:nvPr/>
        </p:nvCxnSpPr>
        <p:spPr>
          <a:xfrm rot="5400000">
            <a:off x="1897016" y="3562327"/>
            <a:ext cx="1899595" cy="1146118"/>
          </a:xfrm>
          <a:prstGeom prst="bentConnector3">
            <a:avLst>
              <a:gd name="adj1" fmla="val 9961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760712B-0154-4614-8CA5-EEE029742F96}"/>
              </a:ext>
            </a:extLst>
          </p:cNvPr>
          <p:cNvSpPr txBox="1"/>
          <p:nvPr/>
        </p:nvSpPr>
        <p:spPr>
          <a:xfrm>
            <a:off x="2505565" y="4694407"/>
            <a:ext cx="9588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look for </a:t>
            </a:r>
            <a:br>
              <a:rPr lang="en-IN" dirty="0"/>
            </a:br>
            <a:endParaRPr lang="en-IN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CE116A-17B0-458C-BE8A-1E7B93F4C0DE}"/>
              </a:ext>
            </a:extLst>
          </p:cNvPr>
          <p:cNvSpPr txBox="1"/>
          <p:nvPr/>
        </p:nvSpPr>
        <p:spPr>
          <a:xfrm>
            <a:off x="-40716" y="2931002"/>
            <a:ext cx="13971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Load Kernel  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29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Linux kernel is the heart of the Android operating system and is responsible for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process management, memory management, 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 enforcing security on the device.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After the kernel is loaded,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mounts the root file system (</a:t>
            </a:r>
            <a:r>
              <a:rPr lang="en-US" sz="22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rootfs</a:t>
            </a:r>
            <a:r>
              <a:rPr lang="en-US" sz="2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) and provides access to system and user data.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Linux </a:t>
            </a:r>
            <a:r>
              <a:rPr lang="en-US" sz="2400" b="1" dirty="0" err="1"/>
              <a:t>Kernal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4235429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When the memory management units and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caches have been initialized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the system can use virtual memory and launch user space processes.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kernel will look in the </a:t>
            </a:r>
            <a:r>
              <a:rPr lang="en-US" sz="2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rootfs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for the </a:t>
            </a:r>
            <a:r>
              <a:rPr lang="en-US" sz="2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process 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 launch it as the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initial user space process.</a:t>
            </a:r>
            <a:endParaRPr lang="en-US" sz="2200" b="1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Linux </a:t>
            </a:r>
            <a:r>
              <a:rPr lang="en-US" sz="2400" b="1" dirty="0" err="1"/>
              <a:t>Kernal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065198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sz="2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is the very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first process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that starts and is the root process of all other processes -  (</a:t>
            </a:r>
            <a:r>
              <a:rPr lang="en-US" sz="2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init.rc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).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process will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parse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the </a:t>
            </a:r>
            <a:r>
              <a:rPr lang="en-US" sz="2600" b="1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init.rc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script and launch the system service processes. 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At this stage, you will see the </a:t>
            </a:r>
            <a:r>
              <a:rPr lang="en-US" sz="26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logo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on the device screen.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endParaRPr lang="en-US" sz="2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The </a:t>
            </a:r>
            <a:r>
              <a:rPr lang="en-US" sz="2400" b="1" dirty="0" err="1"/>
              <a:t>init</a:t>
            </a:r>
            <a:r>
              <a:rPr lang="en-US" sz="2400" b="1" dirty="0"/>
              <a:t> process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664225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Zygote is one of the first </a:t>
            </a:r>
            <a:r>
              <a:rPr lang="en-US" sz="2600" dirty="0" err="1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init</a:t>
            </a: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processes created after the device boots.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initializes the Dalvik virtual machine and tries to create multiple instances to support each android process.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Zygote facilitates using a shared code across the VM, thus helping to save the memory and reduce the burden on the system.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Zygote and Dalvik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363684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All the core features of the device such as telephony, network, and other important functions, are started by the system server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System server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4198875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following core services are started in this process: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 Power Manager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Create Activity Manager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 Telephony Registry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 Package Manager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Set Activity Manager Service as System Process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 Context Manager etc.,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boot process –  System server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1292269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82015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32166</TotalTime>
  <Words>678</Words>
  <Application>Microsoft Office PowerPoint</Application>
  <PresentationFormat>On-screen Show (4:3)</PresentationFormat>
  <Paragraphs>154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Times New Roman</vt:lpstr>
      <vt:lpstr>TimesNewRomanPSMT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566</cp:revision>
  <dcterms:created xsi:type="dcterms:W3CDTF">2018-03-30T10:15:50Z</dcterms:created>
  <dcterms:modified xsi:type="dcterms:W3CDTF">2021-04-29T06:03:18Z</dcterms:modified>
</cp:coreProperties>
</file>