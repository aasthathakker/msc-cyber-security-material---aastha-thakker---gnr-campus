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625" r:id="rId2"/>
    <p:sldId id="408" r:id="rId3"/>
    <p:sldId id="593" r:id="rId4"/>
    <p:sldId id="637" r:id="rId5"/>
    <p:sldId id="627" r:id="rId6"/>
    <p:sldId id="629" r:id="rId7"/>
    <p:sldId id="636" r:id="rId8"/>
    <p:sldId id="628" r:id="rId9"/>
    <p:sldId id="630" r:id="rId10"/>
    <p:sldId id="634" r:id="rId11"/>
    <p:sldId id="635" r:id="rId12"/>
    <p:sldId id="633" r:id="rId13"/>
    <p:sldId id="632" r:id="rId14"/>
    <p:sldId id="631" r:id="rId15"/>
    <p:sldId id="638" r:id="rId16"/>
    <p:sldId id="639" r:id="rId17"/>
    <p:sldId id="640" r:id="rId18"/>
    <p:sldId id="641" r:id="rId19"/>
    <p:sldId id="642" r:id="rId20"/>
    <p:sldId id="643" r:id="rId21"/>
    <p:sldId id="644" r:id="rId22"/>
    <p:sldId id="647" r:id="rId23"/>
    <p:sldId id="64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p15:clr>
            <a:srgbClr val="A4A3A4"/>
          </p15:clr>
        </p15:guide>
        <p15:guide id="2" pos="28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48"/>
      </p:cViewPr>
      <p:guideLst>
        <p:guide orient="horz" pos="2145"/>
        <p:guide pos="2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806D20-265A-45AE-8D7F-1100293F805F}" type="datetimeFigureOut">
              <a:rPr lang="en-US" smtClean="0"/>
              <a:t>4/26/2026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854D4B-AC91-4CBF-9F06-E2874E0FB78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900093-A566-4883-87EB-6E6022A9D2E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900093-A566-4883-87EB-6E6022A9D2E1}"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900093-A566-4883-87EB-6E6022A9D2E1}"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00093-A566-4883-87EB-6E6022A9D2E1}"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900093-A566-4883-87EB-6E6022A9D2E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900093-A566-4883-87EB-6E6022A9D2E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1F41E-2724-4E8B-A7C1-40819B11D8A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00093-A566-4883-87EB-6E6022A9D2E1}" type="datetimeFigureOut">
              <a:rPr lang="en-US" smtClean="0"/>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1F41E-2724-4E8B-A7C1-40819B11D8A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labs.f-secure.com/assets/BlogFiles/mwri-drozer-user-guide-2015-03-23.pdf" TargetMode="External"/><Relationship Id="rId2" Type="http://schemas.openxmlformats.org/officeDocument/2006/relationships/hyperlink" Target="https://labs.mwrinfosecurity.com/tools/drozer/" TargetMode="External"/><Relationship Id="rId1" Type="http://schemas.openxmlformats.org/officeDocument/2006/relationships/slideLayout" Target="../slideLayouts/slideLayout1.xml"/><Relationship Id="rId4" Type="http://schemas.openxmlformats.org/officeDocument/2006/relationships/hyperlink" Target="https://github.com/FSecureLABS/drozer"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labs.f-secure.com/tools/drozer/"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781080"/>
            <a:ext cx="8546121" cy="5791192"/>
          </a:xfrm>
        </p:spPr>
        <p:txBody>
          <a:bodyPr>
            <a:normAutofit fontScale="85000" lnSpcReduction="20000"/>
          </a:bodyPr>
          <a:lstStyle/>
          <a:p>
            <a:endParaRPr lang="en-IN" sz="4800" b="1" dirty="0">
              <a:solidFill>
                <a:schemeClr val="tx1"/>
              </a:solidFill>
            </a:endParaRPr>
          </a:p>
          <a:p>
            <a:r>
              <a:rPr lang="en-IN" sz="4800" b="1" dirty="0">
                <a:solidFill>
                  <a:schemeClr val="tx1"/>
                </a:solidFill>
              </a:rPr>
              <a:t>Mobile Phone Security </a:t>
            </a: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IN" sz="2000" dirty="0">
              <a:solidFill>
                <a:schemeClr val="tx1"/>
              </a:solidFill>
            </a:endParaRP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endParaRPr lang="en-IN" sz="2000" b="1" dirty="0">
              <a:solidFill>
                <a:schemeClr val="tx1"/>
              </a:solidFill>
            </a:endParaRPr>
          </a:p>
          <a:p>
            <a:endParaRPr lang="en-IN" sz="2000" b="1" dirty="0">
              <a:solidFill>
                <a:schemeClr val="tx1"/>
              </a:solidFill>
            </a:endParaRPr>
          </a:p>
          <a:p>
            <a:endParaRPr lang="en-IN" sz="2000" b="1" dirty="0">
              <a:solidFill>
                <a:schemeClr val="tx1"/>
              </a:solidFill>
            </a:endParaRPr>
          </a:p>
          <a:p>
            <a:endParaRPr lang="en-US" sz="2000" b="1" dirty="0">
              <a:solidFill>
                <a:schemeClr val="tx1"/>
              </a:solidFill>
            </a:endParaRPr>
          </a:p>
          <a:p>
            <a:r>
              <a:rPr lang="en-US" sz="2000" b="1" dirty="0">
                <a:solidFill>
                  <a:schemeClr val="tx1"/>
                </a:solidFill>
              </a:rPr>
              <a:t>Dr. </a:t>
            </a:r>
            <a:r>
              <a:rPr lang="en-US" sz="2000" b="1" dirty="0" err="1">
                <a:solidFill>
                  <a:schemeClr val="tx1"/>
                </a:solidFill>
              </a:rPr>
              <a:t>Digvijaysinh</a:t>
            </a:r>
            <a:r>
              <a:rPr lang="en-US" sz="2000" b="1" dirty="0">
                <a:solidFill>
                  <a:schemeClr val="tx1"/>
                </a:solidFill>
              </a:rPr>
              <a:t> Rathod</a:t>
            </a:r>
          </a:p>
          <a:p>
            <a:r>
              <a:rPr lang="en-US" sz="2000" b="1" dirty="0">
                <a:solidFill>
                  <a:schemeClr val="tx1"/>
                </a:solidFill>
              </a:rPr>
              <a:t>Associate Professor </a:t>
            </a:r>
            <a:r>
              <a:rPr lang="en-IN" altLang="en-US" sz="2000" b="1" dirty="0">
                <a:solidFill>
                  <a:schemeClr val="tx1"/>
                </a:solidFill>
              </a:rPr>
              <a:t>&amp; Associate Dean</a:t>
            </a:r>
            <a:r>
              <a:rPr lang="en-US" sz="2000" b="1" dirty="0">
                <a:solidFill>
                  <a:schemeClr val="tx1"/>
                </a:solidFill>
              </a:rPr>
              <a:t> </a:t>
            </a:r>
          </a:p>
          <a:p>
            <a:r>
              <a:rPr lang="en-IN" altLang="en-US" sz="2000" b="1" dirty="0">
                <a:solidFill>
                  <a:schemeClr val="tx1"/>
                </a:solidFill>
              </a:rPr>
              <a:t>School of Cyber Security and Digital Forensics</a:t>
            </a:r>
            <a:endParaRPr lang="en-US" sz="2000" b="1" dirty="0">
              <a:solidFill>
                <a:schemeClr val="tx1"/>
              </a:solidFill>
            </a:endParaRPr>
          </a:p>
          <a:p>
            <a:r>
              <a:rPr lang="en-US" sz="2000" b="1" dirty="0">
                <a:solidFill>
                  <a:schemeClr val="tx1"/>
                </a:solidFill>
              </a:rPr>
              <a:t>National Forensic Sciences University with status of Institution of National Importance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b="1" dirty="0">
              <a:latin typeface="Calibri" panose="020F0502020204030204" pitchFamily="34" charset="0"/>
            </a:endParaRP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digvijay.rathod@gfsu.edu.in</a:t>
            </a:r>
          </a:p>
        </p:txBody>
      </p:sp>
      <p:pic>
        <p:nvPicPr>
          <p:cNvPr id="1027" name="Picture 3"/>
          <p:cNvPicPr>
            <a:picLocks noChangeAspect="1" noChangeArrowheads="1"/>
          </p:cNvPicPr>
          <p:nvPr/>
        </p:nvPicPr>
        <p:blipFill>
          <a:blip r:embed="rId2" cstate="print"/>
          <a:srcRect/>
          <a:stretch>
            <a:fillRect/>
          </a:stretch>
        </p:blipFill>
        <p:spPr bwMode="auto">
          <a:xfrm>
            <a:off x="2428860" y="1928802"/>
            <a:ext cx="4909738" cy="3000396"/>
          </a:xfrm>
          <a:prstGeom prst="rect">
            <a:avLst/>
          </a:prstGeom>
          <a:noFill/>
          <a:ln w="9525">
            <a:noFill/>
            <a:miter lim="800000"/>
            <a:headEnd/>
            <a:tailEnd/>
          </a:ln>
          <a:effectLst/>
        </p:spPr>
      </p:pic>
      <p:pic>
        <p:nvPicPr>
          <p:cNvPr id="1029" name="Picture 5" descr="GFSU: Courses, Admissions, Placements, Scholarships, Fees"/>
          <p:cNvPicPr>
            <a:picLocks noChangeAspect="1" noChangeArrowheads="1"/>
          </p:cNvPicPr>
          <p:nvPr/>
        </p:nvPicPr>
        <p:blipFill>
          <a:blip r:embed="rId3"/>
          <a:srcRect/>
          <a:stretch>
            <a:fillRect/>
          </a:stretch>
        </p:blipFill>
        <p:spPr bwMode="auto">
          <a:xfrm>
            <a:off x="4045495" y="0"/>
            <a:ext cx="1120496" cy="1428736"/>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5604" y="982029"/>
            <a:ext cx="8546121" cy="904368"/>
          </a:xfrm>
        </p:spPr>
        <p:txBody>
          <a:bodyPr>
            <a:noAutofit/>
          </a:bodyPr>
          <a:lstStyle/>
          <a:p>
            <a:pPr lvl="1">
              <a:lnSpc>
                <a:spcPct val="150000"/>
              </a:lnSpc>
            </a:pPr>
            <a:r>
              <a:rPr lang="en-US" altLang="en-US" sz="4000" b="1" dirty="0" err="1">
                <a:solidFill>
                  <a:schemeClr val="tx1"/>
                </a:solidFill>
                <a:latin typeface="Times New Roman" panose="02020603050405020304" pitchFamily="18" charset="0"/>
                <a:cs typeface="Times New Roman" panose="02020603050405020304" pitchFamily="18" charset="0"/>
              </a:rPr>
              <a:t>DrozerFramework</a:t>
            </a:r>
            <a:r>
              <a:rPr lang="en-US" altLang="en-US" sz="4000" b="1" dirty="0">
                <a:solidFill>
                  <a:schemeClr val="tx1"/>
                </a:solidFill>
                <a:latin typeface="Times New Roman" panose="02020603050405020304" pitchFamily="18" charset="0"/>
                <a:cs typeface="Times New Roman" panose="02020603050405020304" pitchFamily="18" charset="0"/>
              </a:rPr>
              <a:t>: </a:t>
            </a:r>
          </a:p>
          <a:p>
            <a:pPr lvl="1">
              <a:lnSpc>
                <a:spcPct val="150000"/>
              </a:lnSpc>
            </a:pPr>
            <a:r>
              <a:rPr lang="en-US" altLang="en-US" sz="4000" b="1" dirty="0">
                <a:solidFill>
                  <a:schemeClr val="tx1"/>
                </a:solidFill>
                <a:latin typeface="Times New Roman" panose="02020603050405020304" pitchFamily="18" charset="0"/>
                <a:cs typeface="Times New Roman" panose="02020603050405020304" pitchFamily="18" charset="0"/>
              </a:rPr>
              <a:t>Comprehensive security audit </a:t>
            </a:r>
          </a:p>
          <a:p>
            <a:pPr lvl="1">
              <a:lnSpc>
                <a:spcPct val="150000"/>
              </a:lnSpc>
            </a:pPr>
            <a:r>
              <a:rPr lang="en-US" altLang="en-US" sz="4000" b="1" dirty="0">
                <a:solidFill>
                  <a:schemeClr val="tx1"/>
                </a:solidFill>
                <a:latin typeface="Times New Roman" panose="02020603050405020304" pitchFamily="18" charset="0"/>
                <a:cs typeface="Times New Roman" panose="02020603050405020304" pitchFamily="18" charset="0"/>
              </a:rPr>
              <a:t>and </a:t>
            </a:r>
          </a:p>
          <a:p>
            <a:pPr lvl="1">
              <a:lnSpc>
                <a:spcPct val="150000"/>
              </a:lnSpc>
            </a:pPr>
            <a:r>
              <a:rPr lang="en-US" altLang="en-US" sz="4000" b="1" dirty="0">
                <a:solidFill>
                  <a:schemeClr val="tx1"/>
                </a:solidFill>
                <a:latin typeface="Times New Roman" panose="02020603050405020304" pitchFamily="18" charset="0"/>
                <a:cs typeface="Times New Roman" panose="02020603050405020304" pitchFamily="18" charset="0"/>
              </a:rPr>
              <a:t>attack framework for android</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Secure Source Code Review</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Reverse Engineering ( what if binary code is locked)</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Time consuming process.</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Trail and Error – Through Activity or By intercepting the request </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We need to check each of the functionality</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Time consuming process</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Approaches </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(formerly Mercury) is the leading security testing framework for Android.</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is open-source software, maintained by MWR </a:t>
            </a:r>
            <a:r>
              <a:rPr lang="en-US" sz="2600" dirty="0" err="1">
                <a:solidFill>
                  <a:schemeClr val="tx1"/>
                </a:solidFill>
                <a:latin typeface="Times New Roman" panose="02020603050405020304" pitchFamily="18" charset="0"/>
                <a:cs typeface="Times New Roman" panose="02020603050405020304" pitchFamily="18" charset="0"/>
              </a:rPr>
              <a:t>InfoSecurity</a:t>
            </a:r>
            <a:endParaRPr lang="en-US" sz="26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allows you to search for security vulnerabilities in apps and devices by assuming the role of an app and interacting with the Dalvik VM, other apps' IPC endpoints and the underlying OS.</a:t>
            </a:r>
          </a:p>
        </p:txBody>
      </p:sp>
      <p:sp>
        <p:nvSpPr>
          <p:cNvPr id="4" name="Right Triangle 3"/>
          <p:cNvSpPr/>
          <p:nvPr/>
        </p:nvSpPr>
        <p:spPr>
          <a:xfrm rot="5400000">
            <a:off x="0" y="1085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56928" y="6088745"/>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62000" y="-515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endParaRPr lang="en-US" sz="2400" b="1" dirty="0"/>
          </a:p>
        </p:txBody>
      </p:sp>
      <p:sp>
        <p:nvSpPr>
          <p:cNvPr id="7" name="Right Triangle 6"/>
          <p:cNvSpPr/>
          <p:nvPr/>
        </p:nvSpPr>
        <p:spPr>
          <a:xfrm rot="10800000">
            <a:off x="8367240" y="0"/>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870836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512" y="671896"/>
            <a:ext cx="8735887" cy="5467320"/>
          </a:xfrm>
        </p:spPr>
        <p:txBody>
          <a:bodyPr>
            <a:noAutofit/>
          </a:bodyPr>
          <a:lstStyle/>
          <a:p>
            <a:pPr marL="971550" lvl="1" indent="-514350" algn="just">
              <a:lnSpc>
                <a:spcPct val="150000"/>
              </a:lnSpc>
              <a:buFont typeface="Wingdings" panose="05000000000000000000" pitchFamily="2" charset="2"/>
              <a:buChar char="ü"/>
            </a:pPr>
            <a:r>
              <a:rPr lang="en-US" sz="2400" b="1" dirty="0">
                <a:solidFill>
                  <a:schemeClr val="tx1"/>
                </a:solidFill>
                <a:latin typeface="Times New Roman" panose="02020603050405020304" pitchFamily="18" charset="0"/>
                <a:cs typeface="Times New Roman" panose="02020603050405020304" pitchFamily="18" charset="0"/>
              </a:rPr>
              <a:t>Faster Android Security Assessments</a:t>
            </a:r>
          </a:p>
          <a:p>
            <a:pPr marL="971550" lvl="1" indent="-514350" algn="just">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drozer</a:t>
            </a:r>
            <a:r>
              <a:rPr lang="en-US" sz="2400" dirty="0">
                <a:solidFill>
                  <a:schemeClr val="tx1"/>
                </a:solidFill>
                <a:latin typeface="Times New Roman" panose="02020603050405020304" pitchFamily="18" charset="0"/>
                <a:cs typeface="Times New Roman" panose="02020603050405020304" pitchFamily="18" charset="0"/>
              </a:rPr>
              <a:t> helps to reduce the time taken for Android security assessments by automating the tedious and time-consuming.</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Discover and interact with the attack surface exposed by Android apps.</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Execute dynamic Java-code on a device, to avoid the need to compile and install small test scripts.</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068917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b="1" dirty="0">
                <a:solidFill>
                  <a:schemeClr val="tx1"/>
                </a:solidFill>
                <a:latin typeface="Times New Roman" panose="02020603050405020304" pitchFamily="18" charset="0"/>
                <a:cs typeface="Times New Roman" panose="02020603050405020304" pitchFamily="18" charset="0"/>
              </a:rPr>
              <a:t>Test your Exposure to Public Exploits</a:t>
            </a:r>
          </a:p>
          <a:p>
            <a:pPr marL="1428750" lvl="2" indent="-514350" algn="just">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Drozer</a:t>
            </a:r>
            <a:r>
              <a:rPr lang="en-US" sz="2200" dirty="0">
                <a:solidFill>
                  <a:schemeClr val="tx1"/>
                </a:solidFill>
                <a:latin typeface="Times New Roman" panose="02020603050405020304" pitchFamily="18" charset="0"/>
                <a:cs typeface="Times New Roman" panose="02020603050405020304" pitchFamily="18" charset="0"/>
              </a:rPr>
              <a:t> provides point-and-go implementations of many public Android exploits. </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You can use these to identify vulnerable devices in your organization, and to understand the risk that these pose.</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428739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r>
              <a:rPr lang="en-US" sz="2400" b="1" dirty="0"/>
              <a:t> Configuration</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
        <p:nvSpPr>
          <p:cNvPr id="2" name="Rectangle: Rounded Corners 1">
            <a:extLst>
              <a:ext uri="{FF2B5EF4-FFF2-40B4-BE49-F238E27FC236}">
                <a16:creationId xmlns:a16="http://schemas.microsoft.com/office/drawing/2014/main" id="{8B24088B-DEF7-4B73-8B9D-3B1DD932D5FA}"/>
              </a:ext>
            </a:extLst>
          </p:cNvPr>
          <p:cNvSpPr/>
          <p:nvPr/>
        </p:nvSpPr>
        <p:spPr>
          <a:xfrm>
            <a:off x="611560" y="1628800"/>
            <a:ext cx="1584176" cy="288032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2400" b="1" dirty="0" err="1"/>
              <a:t>Santoku</a:t>
            </a:r>
            <a:r>
              <a:rPr lang="en-IN" sz="2400" b="1" dirty="0"/>
              <a:t> </a:t>
            </a:r>
          </a:p>
        </p:txBody>
      </p:sp>
      <p:sp>
        <p:nvSpPr>
          <p:cNvPr id="9" name="Rectangle: Rounded Corners 8">
            <a:extLst>
              <a:ext uri="{FF2B5EF4-FFF2-40B4-BE49-F238E27FC236}">
                <a16:creationId xmlns:a16="http://schemas.microsoft.com/office/drawing/2014/main" id="{0448AB5F-D3A0-497A-931D-54D3C20AD137}"/>
              </a:ext>
            </a:extLst>
          </p:cNvPr>
          <p:cNvSpPr/>
          <p:nvPr/>
        </p:nvSpPr>
        <p:spPr>
          <a:xfrm>
            <a:off x="1115616" y="3429000"/>
            <a:ext cx="936104"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a:t>Drozer</a:t>
            </a:r>
            <a:endParaRPr lang="en-IN" b="1" dirty="0"/>
          </a:p>
          <a:p>
            <a:pPr algn="ctr"/>
            <a:r>
              <a:rPr lang="en-IN" b="1" dirty="0"/>
              <a:t>Client</a:t>
            </a:r>
          </a:p>
        </p:txBody>
      </p:sp>
      <p:sp>
        <p:nvSpPr>
          <p:cNvPr id="12" name="Rectangle: Rounded Corners 11">
            <a:extLst>
              <a:ext uri="{FF2B5EF4-FFF2-40B4-BE49-F238E27FC236}">
                <a16:creationId xmlns:a16="http://schemas.microsoft.com/office/drawing/2014/main" id="{2010F1FE-4E45-45A9-93E8-DF9A959CA4E7}"/>
              </a:ext>
            </a:extLst>
          </p:cNvPr>
          <p:cNvSpPr/>
          <p:nvPr/>
        </p:nvSpPr>
        <p:spPr>
          <a:xfrm>
            <a:off x="6876256" y="1484784"/>
            <a:ext cx="1584176" cy="3024336"/>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IN" dirty="0"/>
          </a:p>
        </p:txBody>
      </p:sp>
      <p:sp>
        <p:nvSpPr>
          <p:cNvPr id="13" name="Rectangle: Rounded Corners 12">
            <a:extLst>
              <a:ext uri="{FF2B5EF4-FFF2-40B4-BE49-F238E27FC236}">
                <a16:creationId xmlns:a16="http://schemas.microsoft.com/office/drawing/2014/main" id="{EF237690-1E0F-44C0-84FF-4A59419AAA7C}"/>
              </a:ext>
            </a:extLst>
          </p:cNvPr>
          <p:cNvSpPr/>
          <p:nvPr/>
        </p:nvSpPr>
        <p:spPr>
          <a:xfrm>
            <a:off x="7164288" y="1772816"/>
            <a:ext cx="108012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Android App</a:t>
            </a:r>
          </a:p>
        </p:txBody>
      </p:sp>
      <p:sp>
        <p:nvSpPr>
          <p:cNvPr id="14" name="Rectangle: Rounded Corners 13">
            <a:extLst>
              <a:ext uri="{FF2B5EF4-FFF2-40B4-BE49-F238E27FC236}">
                <a16:creationId xmlns:a16="http://schemas.microsoft.com/office/drawing/2014/main" id="{5D72076B-7B6A-469A-BAFB-06528B9CBB15}"/>
              </a:ext>
            </a:extLst>
          </p:cNvPr>
          <p:cNvSpPr/>
          <p:nvPr/>
        </p:nvSpPr>
        <p:spPr>
          <a:xfrm>
            <a:off x="7164288" y="3402958"/>
            <a:ext cx="1080120" cy="9621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err="1"/>
              <a:t>Drozer</a:t>
            </a:r>
            <a:endParaRPr lang="en-IN" b="1" dirty="0"/>
          </a:p>
          <a:p>
            <a:pPr algn="ctr"/>
            <a:r>
              <a:rPr lang="en-IN" b="1" dirty="0"/>
              <a:t>Server</a:t>
            </a:r>
          </a:p>
        </p:txBody>
      </p:sp>
      <p:cxnSp>
        <p:nvCxnSpPr>
          <p:cNvPr id="16" name="Straight Arrow Connector 15">
            <a:extLst>
              <a:ext uri="{FF2B5EF4-FFF2-40B4-BE49-F238E27FC236}">
                <a16:creationId xmlns:a16="http://schemas.microsoft.com/office/drawing/2014/main" id="{2A803410-DC01-453C-BADF-56B825A3CD58}"/>
              </a:ext>
            </a:extLst>
          </p:cNvPr>
          <p:cNvCxnSpPr/>
          <p:nvPr/>
        </p:nvCxnSpPr>
        <p:spPr>
          <a:xfrm>
            <a:off x="2051720" y="3717032"/>
            <a:ext cx="511256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44EAD878-668F-4A65-A5C9-6013728A2A63}"/>
              </a:ext>
            </a:extLst>
          </p:cNvPr>
          <p:cNvCxnSpPr/>
          <p:nvPr/>
        </p:nvCxnSpPr>
        <p:spPr>
          <a:xfrm flipV="1">
            <a:off x="7452320" y="2708920"/>
            <a:ext cx="0" cy="6940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2AF117EE-34DB-4088-AE02-72E7C0ED922E}"/>
              </a:ext>
            </a:extLst>
          </p:cNvPr>
          <p:cNvCxnSpPr/>
          <p:nvPr/>
        </p:nvCxnSpPr>
        <p:spPr>
          <a:xfrm>
            <a:off x="7884368" y="2708920"/>
            <a:ext cx="0" cy="6940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F719AD74-4100-4C4B-81A2-C4FEF4D7495E}"/>
              </a:ext>
            </a:extLst>
          </p:cNvPr>
          <p:cNvCxnSpPr/>
          <p:nvPr/>
        </p:nvCxnSpPr>
        <p:spPr>
          <a:xfrm flipH="1">
            <a:off x="2051720" y="4077072"/>
            <a:ext cx="511256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51875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1594" y="595744"/>
            <a:ext cx="8546121" cy="5785583"/>
          </a:xfrm>
        </p:spPr>
        <p:txBody>
          <a:bodyPr>
            <a:noAutofit/>
          </a:bodyPr>
          <a:lstStyle/>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The client installed in the santoku  is </a:t>
            </a:r>
            <a:r>
              <a:rPr lang="en-US" sz="2400" dirty="0" err="1">
                <a:solidFill>
                  <a:schemeClr val="tx1"/>
                </a:solidFill>
                <a:latin typeface="Times New Roman" panose="02020603050405020304" pitchFamily="18" charset="0"/>
                <a:cs typeface="Times New Roman" panose="02020603050405020304" pitchFamily="18" charset="0"/>
              </a:rPr>
              <a:t>drozer</a:t>
            </a:r>
            <a:r>
              <a:rPr lang="en-US" sz="2400" dirty="0">
                <a:solidFill>
                  <a:schemeClr val="tx1"/>
                </a:solidFill>
                <a:latin typeface="Times New Roman" panose="02020603050405020304" pitchFamily="18" charset="0"/>
                <a:cs typeface="Times New Roman" panose="02020603050405020304" pitchFamily="18" charset="0"/>
              </a:rPr>
              <a:t> v2.4.4</a:t>
            </a:r>
          </a:p>
          <a:p>
            <a:pPr marL="971550" lvl="1" indent="-514350" algn="just">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drozer</a:t>
            </a:r>
            <a:r>
              <a:rPr lang="en-US" sz="2400" dirty="0">
                <a:solidFill>
                  <a:schemeClr val="tx1"/>
                </a:solidFill>
                <a:latin typeface="Times New Roman" panose="02020603050405020304" pitchFamily="18" charset="0"/>
                <a:cs typeface="Times New Roman" panose="02020603050405020304" pitchFamily="18" charset="0"/>
              </a:rPr>
              <a:t> community edition provides the raw power of </a:t>
            </a:r>
            <a:r>
              <a:rPr lang="en-US" sz="2400" dirty="0" err="1">
                <a:solidFill>
                  <a:schemeClr val="tx1"/>
                </a:solidFill>
                <a:latin typeface="Times New Roman" panose="02020603050405020304" pitchFamily="18" charset="0"/>
                <a:cs typeface="Times New Roman" panose="02020603050405020304" pitchFamily="18" charset="0"/>
              </a:rPr>
              <a:t>drozer</a:t>
            </a:r>
            <a:r>
              <a:rPr lang="en-US" sz="2400" dirty="0">
                <a:solidFill>
                  <a:schemeClr val="tx1"/>
                </a:solidFill>
                <a:latin typeface="Times New Roman" panose="02020603050405020304" pitchFamily="18" charset="0"/>
                <a:cs typeface="Times New Roman" panose="02020603050405020304" pitchFamily="18" charset="0"/>
              </a:rPr>
              <a:t>, through a command-line interface. It is open-source software maintained by MWR </a:t>
            </a:r>
            <a:r>
              <a:rPr lang="en-US" sz="2400" dirty="0" err="1">
                <a:solidFill>
                  <a:schemeClr val="tx1"/>
                </a:solidFill>
                <a:latin typeface="Times New Roman" panose="02020603050405020304" pitchFamily="18" charset="0"/>
                <a:cs typeface="Times New Roman" panose="02020603050405020304" pitchFamily="18" charset="0"/>
              </a:rPr>
              <a:t>InfoSecurity</a:t>
            </a:r>
            <a:r>
              <a:rPr lang="en-US" sz="2400" dirty="0">
                <a:solidFill>
                  <a:schemeClr val="tx1"/>
                </a:solidFill>
                <a:latin typeface="Times New Roman" panose="02020603050405020304" pitchFamily="18" charset="0"/>
                <a:cs typeface="Times New Roman" panose="02020603050405020304" pitchFamily="18" charset="0"/>
              </a:rPr>
              <a:t>, released under a 3-clause BSD license, and can be freely downloaded from and is available on </a:t>
            </a:r>
            <a:r>
              <a:rPr lang="en-US" sz="2400" dirty="0" err="1">
                <a:solidFill>
                  <a:schemeClr val="tx1"/>
                </a:solidFill>
                <a:latin typeface="Times New Roman" panose="02020603050405020304" pitchFamily="18" charset="0"/>
                <a:cs typeface="Times New Roman" panose="02020603050405020304" pitchFamily="18" charset="0"/>
              </a:rPr>
              <a:t>Github</a:t>
            </a:r>
            <a:r>
              <a:rPr lang="en-US" sz="24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hlinkClick r:id="rId2"/>
              </a:rPr>
              <a:t>https://labs.mwrinfosecurity.com/tools/drozer/</a:t>
            </a:r>
            <a:endParaRPr lang="en-US" sz="2400"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hlinkClick r:id="rId3"/>
              </a:rPr>
              <a:t>https://labs.f-secure.com/assets/BlogFiles/mwri-drozer-user-guide-2015-03-23.pdf</a:t>
            </a:r>
            <a:r>
              <a:rPr lang="en-US" sz="2400" dirty="0">
                <a:solidFill>
                  <a:schemeClr val="tx1"/>
                </a:solidFill>
                <a:latin typeface="Times New Roman" panose="02020603050405020304" pitchFamily="18" charset="0"/>
                <a:cs typeface="Times New Roman" panose="02020603050405020304" pitchFamily="18" charset="0"/>
              </a:rPr>
              <a:t> </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hlinkClick r:id="rId4"/>
              </a:rPr>
              <a:t>https://github.com/FSecureLABS/drozer</a:t>
            </a:r>
            <a:r>
              <a:rPr lang="en-US" sz="2400" dirty="0">
                <a:solidFill>
                  <a:schemeClr val="tx1"/>
                </a:solidFill>
                <a:latin typeface="Times New Roman" panose="02020603050405020304" pitchFamily="18" charset="0"/>
                <a:cs typeface="Times New Roman" panose="02020603050405020304" pitchFamily="18" charset="0"/>
              </a:rPr>
              <a:t> </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r>
              <a:rPr lang="en-US" sz="2400" b="1" dirty="0"/>
              <a:t> - Installation</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478760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4141" y="524283"/>
            <a:ext cx="8892480"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We need following two things </a:t>
            </a:r>
          </a:p>
          <a:p>
            <a:pPr marL="1428750" lvl="2" indent="-514350" algn="just">
              <a:lnSpc>
                <a:spcPct val="150000"/>
              </a:lnSpc>
              <a:buFont typeface="Wingdings" panose="05000000000000000000" pitchFamily="2" charset="2"/>
              <a:buChar char="ü"/>
            </a:pPr>
            <a:r>
              <a:rPr lang="en-US" dirty="0" err="1">
                <a:solidFill>
                  <a:schemeClr val="tx1"/>
                </a:solidFill>
                <a:latin typeface="Times New Roman" panose="02020603050405020304" pitchFamily="18" charset="0"/>
                <a:cs typeface="Times New Roman" panose="02020603050405020304" pitchFamily="18" charset="0"/>
              </a:rPr>
              <a:t>Drozer</a:t>
            </a:r>
            <a:r>
              <a:rPr lang="en-US" dirty="0">
                <a:solidFill>
                  <a:schemeClr val="tx1"/>
                </a:solidFill>
                <a:latin typeface="Times New Roman" panose="02020603050405020304" pitchFamily="18" charset="0"/>
                <a:cs typeface="Times New Roman" panose="02020603050405020304" pitchFamily="18" charset="0"/>
              </a:rPr>
              <a:t> Client – Which will be using pre-installed and available in the </a:t>
            </a:r>
            <a:r>
              <a:rPr lang="en-US" dirty="0" err="1">
                <a:solidFill>
                  <a:schemeClr val="tx1"/>
                </a:solidFill>
                <a:latin typeface="Times New Roman" panose="02020603050405020304" pitchFamily="18" charset="0"/>
                <a:cs typeface="Times New Roman" panose="02020603050405020304" pitchFamily="18" charset="0"/>
              </a:rPr>
              <a:t>santoku</a:t>
            </a:r>
            <a:r>
              <a:rPr lang="en-US" dirty="0">
                <a:solidFill>
                  <a:schemeClr val="tx1"/>
                </a:solidFill>
                <a:latin typeface="Times New Roman" panose="02020603050405020304" pitchFamily="18" charset="0"/>
                <a:cs typeface="Times New Roman" panose="02020603050405020304" pitchFamily="18" charset="0"/>
              </a:rPr>
              <a:t>.</a:t>
            </a:r>
          </a:p>
          <a:p>
            <a:pPr marL="1428750" lvl="2" indent="-514350" algn="just">
              <a:lnSpc>
                <a:spcPct val="150000"/>
              </a:lnSpc>
              <a:buFont typeface="Wingdings" panose="05000000000000000000" pitchFamily="2" charset="2"/>
              <a:buChar char="ü"/>
            </a:pPr>
            <a:r>
              <a:rPr lang="en-US" dirty="0" err="1">
                <a:solidFill>
                  <a:schemeClr val="tx1"/>
                </a:solidFill>
                <a:latin typeface="Times New Roman" panose="02020603050405020304" pitchFamily="18" charset="0"/>
                <a:cs typeface="Times New Roman" panose="02020603050405020304" pitchFamily="18" charset="0"/>
              </a:rPr>
              <a:t>Drozer</a:t>
            </a:r>
            <a:r>
              <a:rPr lang="en-US" dirty="0">
                <a:solidFill>
                  <a:schemeClr val="tx1"/>
                </a:solidFill>
                <a:latin typeface="Times New Roman" panose="02020603050405020304" pitchFamily="18" charset="0"/>
                <a:cs typeface="Times New Roman" panose="02020603050405020304" pitchFamily="18" charset="0"/>
              </a:rPr>
              <a:t> Server – we will download </a:t>
            </a:r>
            <a:r>
              <a:rPr lang="en-US" dirty="0" err="1">
                <a:solidFill>
                  <a:schemeClr val="tx1"/>
                </a:solidFill>
                <a:latin typeface="Times New Roman" panose="02020603050405020304" pitchFamily="18" charset="0"/>
                <a:cs typeface="Times New Roman" panose="02020603050405020304" pitchFamily="18" charset="0"/>
              </a:rPr>
              <a:t>Drozer</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apk</a:t>
            </a:r>
            <a:r>
              <a:rPr lang="en-US" dirty="0">
                <a:solidFill>
                  <a:schemeClr val="tx1"/>
                </a:solidFill>
                <a:latin typeface="Times New Roman" panose="02020603050405020304" pitchFamily="18" charset="0"/>
                <a:cs typeface="Times New Roman" panose="02020603050405020304" pitchFamily="18" charset="0"/>
              </a:rPr>
              <a:t> from </a:t>
            </a:r>
            <a:r>
              <a:rPr lang="en-US" dirty="0">
                <a:solidFill>
                  <a:schemeClr val="tx1"/>
                </a:solidFill>
                <a:latin typeface="Times New Roman" panose="02020603050405020304" pitchFamily="18" charset="0"/>
                <a:cs typeface="Times New Roman" panose="02020603050405020304" pitchFamily="18" charset="0"/>
                <a:hlinkClick r:id="rId2"/>
              </a:rPr>
              <a:t>https://labs.f-secure.com/tools/drozer/</a:t>
            </a:r>
            <a:r>
              <a:rPr lang="en-US" dirty="0">
                <a:solidFill>
                  <a:schemeClr val="tx1"/>
                </a:solidFill>
                <a:latin typeface="Times New Roman" panose="02020603050405020304" pitchFamily="18" charset="0"/>
                <a:cs typeface="Times New Roman" panose="02020603050405020304" pitchFamily="18" charset="0"/>
              </a:rPr>
              <a:t> and install in the </a:t>
            </a:r>
            <a:r>
              <a:rPr lang="en-US" dirty="0" err="1">
                <a:solidFill>
                  <a:schemeClr val="tx1"/>
                </a:solidFill>
                <a:latin typeface="Times New Roman" panose="02020603050405020304" pitchFamily="18" charset="0"/>
                <a:cs typeface="Times New Roman" panose="02020603050405020304" pitchFamily="18" charset="0"/>
              </a:rPr>
              <a:t>Genymotion</a:t>
            </a:r>
            <a:r>
              <a:rPr lang="en-US" dirty="0">
                <a:solidFill>
                  <a:schemeClr val="tx1"/>
                </a:solidFill>
                <a:latin typeface="Times New Roman" panose="02020603050405020304" pitchFamily="18" charset="0"/>
                <a:cs typeface="Times New Roman" panose="02020603050405020304" pitchFamily="18" charset="0"/>
              </a:rPr>
              <a:t> Emulator.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Run </a:t>
            </a: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apk</a:t>
            </a:r>
            <a:r>
              <a:rPr lang="en-US" sz="2600" dirty="0">
                <a:solidFill>
                  <a:schemeClr val="tx1"/>
                </a:solidFill>
                <a:latin typeface="Times New Roman" panose="02020603050405020304" pitchFamily="18" charset="0"/>
                <a:cs typeface="Times New Roman" panose="02020603050405020304" pitchFamily="18" charset="0"/>
              </a:rPr>
              <a:t> in the </a:t>
            </a:r>
            <a:r>
              <a:rPr lang="en-US" sz="2600" dirty="0" err="1">
                <a:solidFill>
                  <a:schemeClr val="tx1"/>
                </a:solidFill>
                <a:latin typeface="Times New Roman" panose="02020603050405020304" pitchFamily="18" charset="0"/>
                <a:cs typeface="Times New Roman" panose="02020603050405020304" pitchFamily="18" charset="0"/>
              </a:rPr>
              <a:t>Genymotion</a:t>
            </a:r>
            <a:r>
              <a:rPr lang="en-US" sz="2600" dirty="0">
                <a:solidFill>
                  <a:schemeClr val="tx1"/>
                </a:solidFill>
                <a:latin typeface="Times New Roman" panose="02020603050405020304" pitchFamily="18" charset="0"/>
                <a:cs typeface="Times New Roman" panose="02020603050405020304" pitchFamily="18" charset="0"/>
              </a:rPr>
              <a:t> emulator and ON the server. Once you on the server, check the port which is normally 31415</a:t>
            </a:r>
          </a:p>
          <a:p>
            <a:pPr marL="1428750" lvl="2" indent="-514350" algn="just">
              <a:lnSpc>
                <a:spcPct val="15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r>
              <a:rPr lang="en-US" sz="2400" b="1" dirty="0"/>
              <a:t> - Installation</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250987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4141" y="524283"/>
            <a:ext cx="8892480"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Move to </a:t>
            </a:r>
            <a:r>
              <a:rPr lang="en-US" sz="2600" dirty="0" err="1">
                <a:solidFill>
                  <a:schemeClr val="tx1"/>
                </a:solidFill>
                <a:latin typeface="Times New Roman" panose="02020603050405020304" pitchFamily="18" charset="0"/>
                <a:cs typeface="Times New Roman" panose="02020603050405020304" pitchFamily="18" charset="0"/>
              </a:rPr>
              <a:t>santoku</a:t>
            </a:r>
            <a:r>
              <a:rPr lang="en-US" sz="2600" dirty="0">
                <a:solidFill>
                  <a:schemeClr val="tx1"/>
                </a:solidFill>
                <a:latin typeface="Times New Roman" panose="02020603050405020304" pitchFamily="18" charset="0"/>
                <a:cs typeface="Times New Roman" panose="02020603050405020304" pitchFamily="18" charset="0"/>
              </a:rPr>
              <a:t> and start the command prompt / Shell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Write </a:t>
            </a: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Write following commands</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ping  [</a:t>
            </a:r>
            <a:r>
              <a:rPr lang="en-US" sz="2600" dirty="0" err="1">
                <a:solidFill>
                  <a:schemeClr val="tx1"/>
                </a:solidFill>
                <a:latin typeface="Times New Roman" panose="02020603050405020304" pitchFamily="18" charset="0"/>
                <a:cs typeface="Times New Roman" panose="02020603050405020304" pitchFamily="18" charset="0"/>
              </a:rPr>
              <a:t>ip</a:t>
            </a:r>
            <a:r>
              <a:rPr lang="en-US" sz="2600" dirty="0">
                <a:solidFill>
                  <a:schemeClr val="tx1"/>
                </a:solidFill>
                <a:latin typeface="Times New Roman" panose="02020603050405020304" pitchFamily="18" charset="0"/>
                <a:cs typeface="Times New Roman" panose="02020603050405020304" pitchFamily="18" charset="0"/>
              </a:rPr>
              <a:t> of </a:t>
            </a:r>
            <a:r>
              <a:rPr lang="en-US" sz="2600" dirty="0" err="1">
                <a:solidFill>
                  <a:schemeClr val="tx1"/>
                </a:solidFill>
                <a:latin typeface="Times New Roman" panose="02020603050405020304" pitchFamily="18" charset="0"/>
                <a:cs typeface="Times New Roman" panose="02020603050405020304" pitchFamily="18" charset="0"/>
              </a:rPr>
              <a:t>genymotion</a:t>
            </a:r>
            <a:r>
              <a:rPr lang="en-US" sz="2600" dirty="0">
                <a:solidFill>
                  <a:schemeClr val="tx1"/>
                </a:solidFill>
                <a:latin typeface="Times New Roman" panose="02020603050405020304" pitchFamily="18" charset="0"/>
                <a:cs typeface="Times New Roman" panose="02020603050405020304" pitchFamily="18" charset="0"/>
              </a:rPr>
              <a:t> emulator] (if you </a:t>
            </a:r>
            <a:r>
              <a:rPr lang="en-US" sz="2600" dirty="0" err="1">
                <a:solidFill>
                  <a:schemeClr val="tx1"/>
                </a:solidFill>
                <a:latin typeface="Times New Roman" panose="02020603050405020304" pitchFamily="18" charset="0"/>
                <a:cs typeface="Times New Roman" panose="02020603050405020304" pitchFamily="18" charset="0"/>
              </a:rPr>
              <a:t>do’t</a:t>
            </a:r>
            <a:r>
              <a:rPr lang="en-US" sz="2600" dirty="0">
                <a:solidFill>
                  <a:schemeClr val="tx1"/>
                </a:solidFill>
                <a:latin typeface="Times New Roman" panose="02020603050405020304" pitchFamily="18" charset="0"/>
                <a:cs typeface="Times New Roman" panose="02020603050405020304" pitchFamily="18" charset="0"/>
              </a:rPr>
              <a:t> received ping then check the adaptor setting is NAT or NOT if not then change it to NAT and restart the virtual machine.</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adb</a:t>
            </a:r>
            <a:r>
              <a:rPr lang="en-US" sz="2600" dirty="0">
                <a:solidFill>
                  <a:schemeClr val="tx1"/>
                </a:solidFill>
                <a:latin typeface="Times New Roman" panose="02020603050405020304" pitchFamily="18" charset="0"/>
                <a:cs typeface="Times New Roman" panose="02020603050405020304" pitchFamily="18" charset="0"/>
              </a:rPr>
              <a:t> connect [</a:t>
            </a:r>
            <a:r>
              <a:rPr lang="en-US" sz="2600" dirty="0" err="1">
                <a:solidFill>
                  <a:schemeClr val="tx1"/>
                </a:solidFill>
                <a:latin typeface="Times New Roman" panose="02020603050405020304" pitchFamily="18" charset="0"/>
                <a:cs typeface="Times New Roman" panose="02020603050405020304" pitchFamily="18" charset="0"/>
              </a:rPr>
              <a:t>ip</a:t>
            </a:r>
            <a:r>
              <a:rPr lang="en-US" sz="2600" dirty="0">
                <a:solidFill>
                  <a:schemeClr val="tx1"/>
                </a:solidFill>
                <a:latin typeface="Times New Roman" panose="02020603050405020304" pitchFamily="18" charset="0"/>
                <a:cs typeface="Times New Roman" panose="02020603050405020304" pitchFamily="18" charset="0"/>
              </a:rPr>
              <a:t> of emulator]</a:t>
            </a:r>
          </a:p>
          <a:p>
            <a:pPr marL="971550" lvl="1"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adb</a:t>
            </a:r>
            <a:r>
              <a:rPr lang="en-US" sz="2600" dirty="0">
                <a:solidFill>
                  <a:schemeClr val="tx1"/>
                </a:solidFill>
                <a:latin typeface="Times New Roman" panose="02020603050405020304" pitchFamily="18" charset="0"/>
                <a:cs typeface="Times New Roman" panose="02020603050405020304" pitchFamily="18" charset="0"/>
              </a:rPr>
              <a:t> forward tcp:31415 </a:t>
            </a:r>
            <a:r>
              <a:rPr lang="en-US" sz="2600" dirty="0" err="1">
                <a:solidFill>
                  <a:schemeClr val="tx1"/>
                </a:solidFill>
                <a:latin typeface="Times New Roman" panose="02020603050405020304" pitchFamily="18" charset="0"/>
                <a:cs typeface="Times New Roman" panose="02020603050405020304" pitchFamily="18" charset="0"/>
              </a:rPr>
              <a:t>tcp</a:t>
            </a:r>
            <a:r>
              <a:rPr lang="en-US" sz="2600" dirty="0">
                <a:solidFill>
                  <a:schemeClr val="tx1"/>
                </a:solidFill>
                <a:latin typeface="Times New Roman" panose="02020603050405020304" pitchFamily="18" charset="0"/>
                <a:cs typeface="Times New Roman" panose="02020603050405020304" pitchFamily="18" charset="0"/>
              </a:rPr>
              <a:t> 31415</a:t>
            </a:r>
          </a:p>
          <a:p>
            <a:pPr marL="1428750" lvl="2" indent="-514350" algn="just">
              <a:lnSpc>
                <a:spcPct val="150000"/>
              </a:lnSpc>
              <a:buFont typeface="Wingdings" panose="05000000000000000000" pitchFamily="2" charset="2"/>
              <a:buChar char="ü"/>
            </a:pP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r>
              <a:rPr lang="en-US" sz="2400" b="1" dirty="0"/>
              <a:t> - Installation</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1703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4141" y="524283"/>
            <a:ext cx="8892480" cy="5467320"/>
          </a:xfrm>
        </p:spPr>
        <p:txBody>
          <a:bodyPr>
            <a:noAutofit/>
          </a:bodyPr>
          <a:lstStyle/>
          <a:p>
            <a:pPr marL="1428750" lvl="2"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console connect</a:t>
            </a:r>
          </a:p>
          <a:p>
            <a:pPr marL="1428750" lvl="2"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If successful then you will get the prompt of </a:t>
            </a:r>
            <a:r>
              <a:rPr lang="en-US" sz="2600" dirty="0" err="1">
                <a:solidFill>
                  <a:schemeClr val="tx1"/>
                </a:solidFill>
                <a:latin typeface="Times New Roman" panose="02020603050405020304" pitchFamily="18" charset="0"/>
                <a:cs typeface="Times New Roman" panose="02020603050405020304" pitchFamily="18" charset="0"/>
              </a:rPr>
              <a:t>drozer</a:t>
            </a:r>
            <a:r>
              <a:rPr lang="en-US" sz="2600" dirty="0">
                <a:solidFill>
                  <a:schemeClr val="tx1"/>
                </a:solidFill>
                <a:latin typeface="Times New Roman" panose="02020603050405020304" pitchFamily="18" charset="0"/>
                <a:cs typeface="Times New Roman" panose="02020603050405020304" pitchFamily="18" charset="0"/>
              </a:rPr>
              <a:t> like</a:t>
            </a:r>
          </a:p>
          <a:p>
            <a:pPr marL="1428750" lvl="2" indent="-514350" algn="just">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dz</a:t>
            </a:r>
            <a:r>
              <a:rPr lang="en-US" sz="2600" dirty="0">
                <a:solidFill>
                  <a:schemeClr val="tx1"/>
                </a:solidFill>
                <a:latin typeface="Times New Roman" panose="02020603050405020304" pitchFamily="18" charset="0"/>
                <a:cs typeface="Times New Roman" panose="02020603050405020304" pitchFamily="18" charset="0"/>
              </a:rPr>
              <a:t>&gt;</a:t>
            </a:r>
          </a:p>
          <a:p>
            <a:pPr marL="1428750" lvl="2"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done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r>
              <a:rPr lang="en-US" sz="2400" b="1" dirty="0"/>
              <a:t> - Installation</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943193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4141" y="524283"/>
            <a:ext cx="8892480" cy="5467320"/>
          </a:xfrm>
        </p:spPr>
        <p:txBody>
          <a:bodyPr>
            <a:noAutofit/>
          </a:bodyPr>
          <a:lstStyle/>
          <a:p>
            <a:pPr marL="971550" lvl="1" indent="-514350" algn="just">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Drozer</a:t>
            </a:r>
            <a:r>
              <a:rPr lang="en-US" sz="2400" dirty="0">
                <a:solidFill>
                  <a:schemeClr val="tx1"/>
                </a:solidFill>
                <a:latin typeface="Times New Roman" panose="02020603050405020304" pitchFamily="18" charset="0"/>
                <a:cs typeface="Times New Roman" panose="02020603050405020304" pitchFamily="18" charset="0"/>
              </a:rPr>
              <a:t> have so many modules from vulnerability scanning to exploitation.</a:t>
            </a:r>
          </a:p>
          <a:p>
            <a:pPr marL="971550" lvl="1" indent="-514350" algn="just">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&gt;ls // shows all the module of the </a:t>
            </a:r>
            <a:r>
              <a:rPr lang="en-US" sz="2400" dirty="0" err="1">
                <a:solidFill>
                  <a:schemeClr val="tx1"/>
                </a:solidFill>
                <a:latin typeface="Times New Roman" panose="02020603050405020304" pitchFamily="18" charset="0"/>
                <a:cs typeface="Times New Roman" panose="02020603050405020304" pitchFamily="18" charset="0"/>
              </a:rPr>
              <a:t>drozer</a:t>
            </a:r>
            <a:r>
              <a:rPr lang="en-US" sz="2400" dirty="0">
                <a:solidFill>
                  <a:schemeClr val="tx1"/>
                </a:solidFill>
                <a:latin typeface="Times New Roman" panose="02020603050405020304" pitchFamily="18" charset="0"/>
                <a:cs typeface="Times New Roman" panose="02020603050405020304" pitchFamily="18" charset="0"/>
              </a:rPr>
              <a:t>.</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If you wants to list out all the package from the target (which is </a:t>
            </a:r>
            <a:r>
              <a:rPr lang="en-US" sz="2400" dirty="0" err="1">
                <a:solidFill>
                  <a:schemeClr val="tx1"/>
                </a:solidFill>
                <a:latin typeface="Times New Roman" panose="02020603050405020304" pitchFamily="18" charset="0"/>
                <a:cs typeface="Times New Roman" panose="02020603050405020304" pitchFamily="18" charset="0"/>
              </a:rPr>
              <a:t>Genymotion</a:t>
            </a:r>
            <a:r>
              <a:rPr lang="en-US" sz="2400" dirty="0">
                <a:solidFill>
                  <a:schemeClr val="tx1"/>
                </a:solidFill>
                <a:latin typeface="Times New Roman" panose="02020603050405020304" pitchFamily="18" charset="0"/>
                <a:cs typeface="Times New Roman" panose="02020603050405020304" pitchFamily="18" charset="0"/>
              </a:rPr>
              <a:t>  in our case)</a:t>
            </a:r>
          </a:p>
          <a:p>
            <a:pPr marL="971550" lvl="1" indent="-514350" algn="just">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&gt; run (module name) // If we wants to run any module the just use </a:t>
            </a:r>
          </a:p>
          <a:p>
            <a:pPr marL="971550" lvl="1" indent="-514350" algn="just">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&gt;  run </a:t>
            </a:r>
            <a:r>
              <a:rPr lang="en-US" sz="2400" dirty="0" err="1">
                <a:solidFill>
                  <a:schemeClr val="tx1"/>
                </a:solidFill>
                <a:latin typeface="Times New Roman" panose="02020603050405020304" pitchFamily="18" charset="0"/>
                <a:cs typeface="Times New Roman" panose="02020603050405020304" pitchFamily="18" charset="0"/>
              </a:rPr>
              <a:t>app.package.list</a:t>
            </a:r>
            <a:r>
              <a:rPr lang="en-US" sz="2400" dirty="0">
                <a:solidFill>
                  <a:schemeClr val="tx1"/>
                </a:solidFill>
                <a:latin typeface="Times New Roman" panose="02020603050405020304" pitchFamily="18" charset="0"/>
                <a:cs typeface="Times New Roman" panose="02020603050405020304" pitchFamily="18" charset="0"/>
              </a:rPr>
              <a:t> \\ It shows all the package of application available in the target, indirectly it gives the information regarding list of application installed on the target.</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r>
              <a:rPr lang="en-US" sz="2400" b="1" dirty="0"/>
              <a:t> - Installation</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38489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&gt;  run </a:t>
            </a:r>
            <a:r>
              <a:rPr lang="en-US" sz="2400" dirty="0" err="1">
                <a:solidFill>
                  <a:schemeClr val="tx1"/>
                </a:solidFill>
                <a:latin typeface="Times New Roman" panose="02020603050405020304" pitchFamily="18" charset="0"/>
                <a:cs typeface="Times New Roman" panose="02020603050405020304" pitchFamily="18" charset="0"/>
              </a:rPr>
              <a:t>app.package.list</a:t>
            </a:r>
            <a:r>
              <a:rPr lang="en-US" sz="2400" dirty="0">
                <a:solidFill>
                  <a:schemeClr val="tx1"/>
                </a:solidFill>
                <a:latin typeface="Times New Roman" panose="02020603050405020304" pitchFamily="18" charset="0"/>
                <a:cs typeface="Times New Roman" panose="02020603050405020304" pitchFamily="18" charset="0"/>
              </a:rPr>
              <a:t> –f diva	// -f search package which may have string diva from all the packages</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If you check carefully, you can find the </a:t>
            </a:r>
            <a:r>
              <a:rPr lang="en-US" sz="2400" dirty="0" err="1">
                <a:solidFill>
                  <a:schemeClr val="tx1"/>
                </a:solidFill>
                <a:latin typeface="Times New Roman" panose="02020603050405020304" pitchFamily="18" charset="0"/>
                <a:cs typeface="Times New Roman" panose="02020603050405020304" pitchFamily="18" charset="0"/>
              </a:rPr>
              <a:t>jakhar.aseem.diva</a:t>
            </a:r>
            <a:r>
              <a:rPr lang="en-US" sz="2400" dirty="0">
                <a:solidFill>
                  <a:schemeClr val="tx1"/>
                </a:solidFill>
                <a:latin typeface="Times New Roman" panose="02020603050405020304" pitchFamily="18" charset="0"/>
                <a:cs typeface="Times New Roman" panose="02020603050405020304" pitchFamily="18" charset="0"/>
              </a:rPr>
              <a:t> (Diva) mobile application.</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n.dz&gt; run app.package.info – a [package name] // give the information about the package with path and permission also.</a:t>
            </a:r>
          </a:p>
          <a:p>
            <a:pPr marL="971550" lvl="1" indent="-514350" algn="just">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Practical :</a:t>
            </a: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&gt; run </a:t>
            </a:r>
            <a:r>
              <a:rPr lang="en-US" sz="2400" dirty="0" err="1">
                <a:solidFill>
                  <a:schemeClr val="tx1"/>
                </a:solidFill>
                <a:latin typeface="Times New Roman" panose="02020603050405020304" pitchFamily="18" charset="0"/>
                <a:cs typeface="Times New Roman" panose="02020603050405020304" pitchFamily="18" charset="0"/>
              </a:rPr>
              <a:t>app.package.debuggable</a:t>
            </a:r>
            <a:r>
              <a:rPr lang="en-US" sz="2400" dirty="0">
                <a:solidFill>
                  <a:schemeClr val="tx1"/>
                </a:solidFill>
                <a:latin typeface="Times New Roman" panose="02020603050405020304" pitchFamily="18" charset="0"/>
                <a:cs typeface="Times New Roman" panose="02020603050405020304" pitchFamily="18" charset="0"/>
              </a:rPr>
              <a:t>, it again show two application </a:t>
            </a:r>
            <a:r>
              <a:rPr lang="en-US" sz="2400" dirty="0" err="1">
                <a:solidFill>
                  <a:schemeClr val="tx1"/>
                </a:solidFill>
                <a:latin typeface="Times New Roman" panose="02020603050405020304" pitchFamily="18" charset="0"/>
                <a:cs typeface="Times New Roman" panose="02020603050405020304" pitchFamily="18" charset="0"/>
              </a:rPr>
              <a:t>i.e</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 and diva. </a:t>
            </a:r>
          </a:p>
          <a:p>
            <a:pPr marL="971550" lvl="1" indent="-514350" algn="just">
              <a:lnSpc>
                <a:spcPct val="150000"/>
              </a:lnSpc>
              <a:buFont typeface="Wingdings" panose="05000000000000000000" pitchFamily="2" charset="2"/>
              <a:buChar char="ü"/>
            </a:pP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r>
              <a:rPr lang="en-US" sz="2400" b="1" dirty="0"/>
              <a:t> - Installation</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034715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225" dirty="0">
                <a:solidFill>
                  <a:schemeClr val="tx1"/>
                </a:solidFill>
                <a:latin typeface="Times New Roman" panose="02020603050405020304" pitchFamily="18" charset="0"/>
                <a:cs typeface="Times New Roman" panose="02020603050405020304" pitchFamily="18" charset="0"/>
              </a:rPr>
              <a:t>If you wants to know the attack surface, means what kind of attacks you can perform.</a:t>
            </a:r>
          </a:p>
          <a:p>
            <a:pPr marL="971550" lvl="1" indent="-514350" algn="just">
              <a:lnSpc>
                <a:spcPct val="150000"/>
              </a:lnSpc>
              <a:buFont typeface="Wingdings" panose="05000000000000000000" pitchFamily="2" charset="2"/>
              <a:buChar char="ü"/>
            </a:pPr>
            <a:r>
              <a:rPr lang="en-US" sz="2225" dirty="0" err="1">
                <a:solidFill>
                  <a:schemeClr val="tx1"/>
                </a:solidFill>
                <a:latin typeface="Times New Roman" panose="02020603050405020304" pitchFamily="18" charset="0"/>
                <a:cs typeface="Times New Roman" panose="02020603050405020304" pitchFamily="18" charset="0"/>
              </a:rPr>
              <a:t>dz</a:t>
            </a:r>
            <a:r>
              <a:rPr lang="en-US" sz="2225" dirty="0">
                <a:solidFill>
                  <a:schemeClr val="tx1"/>
                </a:solidFill>
                <a:latin typeface="Times New Roman" panose="02020603050405020304" pitchFamily="18" charset="0"/>
                <a:cs typeface="Times New Roman" panose="02020603050405020304" pitchFamily="18" charset="0"/>
              </a:rPr>
              <a:t>&gt; run </a:t>
            </a:r>
            <a:r>
              <a:rPr lang="en-US" sz="2225" dirty="0" err="1">
                <a:solidFill>
                  <a:schemeClr val="tx1"/>
                </a:solidFill>
                <a:latin typeface="Times New Roman" panose="02020603050405020304" pitchFamily="18" charset="0"/>
                <a:cs typeface="Times New Roman" panose="02020603050405020304" pitchFamily="18" charset="0"/>
              </a:rPr>
              <a:t>app.package.attacksurface</a:t>
            </a:r>
            <a:r>
              <a:rPr lang="en-US" sz="2225" dirty="0">
                <a:solidFill>
                  <a:schemeClr val="tx1"/>
                </a:solidFill>
                <a:latin typeface="Times New Roman" panose="02020603050405020304" pitchFamily="18" charset="0"/>
                <a:cs typeface="Times New Roman" panose="02020603050405020304" pitchFamily="18" charset="0"/>
              </a:rPr>
              <a:t> </a:t>
            </a:r>
            <a:r>
              <a:rPr lang="en-US" sz="2225" dirty="0" err="1">
                <a:solidFill>
                  <a:schemeClr val="tx1"/>
                </a:solidFill>
                <a:latin typeface="Times New Roman" panose="02020603050405020304" pitchFamily="18" charset="0"/>
                <a:cs typeface="Times New Roman" panose="02020603050405020304" pitchFamily="18" charset="0"/>
              </a:rPr>
              <a:t>jakhar.aseem.diva</a:t>
            </a:r>
            <a:endParaRPr lang="en-US" sz="2225" dirty="0">
              <a:solidFill>
                <a:schemeClr val="tx1"/>
              </a:solidFill>
              <a:latin typeface="Times New Roman" panose="02020603050405020304" pitchFamily="18" charset="0"/>
              <a:cs typeface="Times New Roman" panose="02020603050405020304" pitchFamily="18" charset="0"/>
            </a:endParaRPr>
          </a:p>
          <a:p>
            <a:pPr marL="971550" lvl="1" indent="-514350" algn="just">
              <a:lnSpc>
                <a:spcPct val="150000"/>
              </a:lnSpc>
              <a:buFont typeface="Wingdings" panose="05000000000000000000" pitchFamily="2" charset="2"/>
              <a:buChar char="ü"/>
            </a:pPr>
            <a:r>
              <a:rPr lang="en-US" sz="2225" dirty="0">
                <a:solidFill>
                  <a:schemeClr val="tx1"/>
                </a:solidFill>
                <a:latin typeface="Times New Roman" panose="02020603050405020304" pitchFamily="18" charset="0"/>
                <a:cs typeface="Times New Roman" panose="02020603050405020304" pitchFamily="18" charset="0"/>
              </a:rPr>
              <a:t>It shows 3 activities and 1 content provider.</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err="1"/>
              <a:t>Drozer</a:t>
            </a:r>
            <a:r>
              <a:rPr lang="en-US" sz="2400" b="1" dirty="0"/>
              <a:t> - Installation</a:t>
            </a:r>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687911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Two ways to identify injection</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Find all the URIs and query them </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dv &gt; run </a:t>
            </a:r>
            <a:r>
              <a:rPr lang="en-US" sz="2600" dirty="0" err="1">
                <a:solidFill>
                  <a:schemeClr val="tx1"/>
                </a:solidFill>
                <a:latin typeface="Times New Roman" panose="02020603050405020304" pitchFamily="18" charset="0"/>
                <a:cs typeface="Times New Roman" panose="02020603050405020304" pitchFamily="18" charset="0"/>
              </a:rPr>
              <a:t>app.provider.finduri</a:t>
            </a:r>
            <a:r>
              <a:rPr lang="en-US" sz="2600" dirty="0">
                <a:solidFill>
                  <a:schemeClr val="tx1"/>
                </a:solidFill>
                <a:latin typeface="Times New Roman" panose="02020603050405020304" pitchFamily="18" charset="0"/>
                <a:cs typeface="Times New Roman" panose="02020603050405020304" pitchFamily="18" charset="0"/>
              </a:rPr>
              <a:t> </a:t>
            </a:r>
            <a:r>
              <a:rPr lang="en-US" sz="2600" dirty="0" err="1">
                <a:solidFill>
                  <a:schemeClr val="tx1"/>
                </a:solidFill>
                <a:latin typeface="Times New Roman" panose="02020603050405020304" pitchFamily="18" charset="0"/>
                <a:cs typeface="Times New Roman" panose="02020603050405020304" pitchFamily="18" charset="0"/>
              </a:rPr>
              <a:t>jakhar.aseem.diva</a:t>
            </a:r>
            <a:endParaRPr lang="en-US" sz="2600" dirty="0">
              <a:solidFill>
                <a:schemeClr val="tx1"/>
              </a:solidFill>
              <a:latin typeface="Times New Roman" panose="02020603050405020304" pitchFamily="18" charset="0"/>
              <a:cs typeface="Times New Roman" panose="02020603050405020304" pitchFamily="18" charset="0"/>
            </a:endParaRP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content://jakhar.aseem.diva.provider.notesprovider/notes/</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content://jakhar.aseem.diva.provider.notesprovider</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content://jakhar.aseem.diva.provider.notesprovider/</a:t>
            </a:r>
          </a:p>
          <a:p>
            <a:pPr marL="1428750" lvl="2" indent="-514350" algn="just">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content://jakhar.aseem.diva.provider.notesprovider/notes</a:t>
            </a:r>
          </a:p>
          <a:p>
            <a:pPr marL="971550" lvl="1" indent="-514350" algn="just">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Now query each of them</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866613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l">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dz</a:t>
            </a:r>
            <a:r>
              <a:rPr lang="en-US" sz="2600" dirty="0">
                <a:solidFill>
                  <a:schemeClr val="tx1"/>
                </a:solidFill>
                <a:latin typeface="Times New Roman" panose="02020603050405020304" pitchFamily="18" charset="0"/>
                <a:cs typeface="Times New Roman" panose="02020603050405020304" pitchFamily="18" charset="0"/>
              </a:rPr>
              <a:t>&gt;run </a:t>
            </a:r>
            <a:r>
              <a:rPr lang="en-US" sz="2600" dirty="0" err="1">
                <a:solidFill>
                  <a:schemeClr val="tx1"/>
                </a:solidFill>
                <a:latin typeface="Times New Roman" panose="02020603050405020304" pitchFamily="18" charset="0"/>
                <a:cs typeface="Times New Roman" panose="02020603050405020304" pitchFamily="18" charset="0"/>
              </a:rPr>
              <a:t>app.provider.query</a:t>
            </a:r>
            <a:r>
              <a:rPr lang="en-US" sz="2600" dirty="0">
                <a:solidFill>
                  <a:schemeClr val="tx1"/>
                </a:solidFill>
                <a:latin typeface="Times New Roman" panose="02020603050405020304" pitchFamily="18" charset="0"/>
                <a:cs typeface="Times New Roman" panose="02020603050405020304" pitchFamily="18" charset="0"/>
              </a:rPr>
              <a:t> content://jakhar.aseem.diva.provider.notesprovider (may not work)</a:t>
            </a: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3.dz&gt; run </a:t>
            </a:r>
            <a:r>
              <a:rPr lang="en-US" sz="2600" dirty="0" err="1">
                <a:solidFill>
                  <a:schemeClr val="tx1"/>
                </a:solidFill>
                <a:latin typeface="Times New Roman" panose="02020603050405020304" pitchFamily="18" charset="0"/>
                <a:cs typeface="Times New Roman" panose="02020603050405020304" pitchFamily="18" charset="0"/>
              </a:rPr>
              <a:t>app.provider.query</a:t>
            </a:r>
            <a:r>
              <a:rPr lang="en-US" sz="2600" dirty="0">
                <a:solidFill>
                  <a:schemeClr val="tx1"/>
                </a:solidFill>
                <a:latin typeface="Times New Roman" panose="02020603050405020304" pitchFamily="18" charset="0"/>
                <a:cs typeface="Times New Roman" panose="02020603050405020304" pitchFamily="18" charset="0"/>
              </a:rPr>
              <a:t> content://jakhar.aseem.diva.provider.notesprovider/notes/</a:t>
            </a: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so we are able to query the URI (local content provider) successfully</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004928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but it is difficulty to query each of the URI and test all in the case when you have huge number of URIs. </a:t>
            </a: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In that case use scanner module to find the injection.</a:t>
            </a:r>
          </a:p>
          <a:p>
            <a:pPr marL="971550" lvl="1" indent="-514350" algn="l">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dz</a:t>
            </a:r>
            <a:r>
              <a:rPr lang="en-US" sz="2600" dirty="0">
                <a:solidFill>
                  <a:schemeClr val="tx1"/>
                </a:solidFill>
                <a:latin typeface="Times New Roman" panose="02020603050405020304" pitchFamily="18" charset="0"/>
                <a:cs typeface="Times New Roman" panose="02020603050405020304" pitchFamily="18" charset="0"/>
              </a:rPr>
              <a:t>&gt; run </a:t>
            </a:r>
            <a:r>
              <a:rPr lang="en-US" sz="2600" dirty="0" err="1">
                <a:solidFill>
                  <a:schemeClr val="tx1"/>
                </a:solidFill>
                <a:latin typeface="Times New Roman" panose="02020603050405020304" pitchFamily="18" charset="0"/>
                <a:cs typeface="Times New Roman" panose="02020603050405020304" pitchFamily="18" charset="0"/>
              </a:rPr>
              <a:t>scanner.provider.injection</a:t>
            </a:r>
            <a:r>
              <a:rPr lang="en-US" sz="2600" dirty="0">
                <a:solidFill>
                  <a:schemeClr val="tx1"/>
                </a:solidFill>
                <a:latin typeface="Times New Roman" panose="02020603050405020304" pitchFamily="18" charset="0"/>
                <a:cs typeface="Times New Roman" panose="02020603050405020304" pitchFamily="18" charset="0"/>
              </a:rPr>
              <a:t> –a </a:t>
            </a:r>
            <a:r>
              <a:rPr lang="en-US" sz="2600" dirty="0" err="1">
                <a:solidFill>
                  <a:schemeClr val="tx1"/>
                </a:solidFill>
                <a:latin typeface="Times New Roman" panose="02020603050405020304" pitchFamily="18" charset="0"/>
                <a:cs typeface="Times New Roman" panose="02020603050405020304" pitchFamily="18" charset="0"/>
              </a:rPr>
              <a:t>jakhar.aseem.diva</a:t>
            </a:r>
            <a:endParaRPr lang="en-US" sz="2600" dirty="0">
              <a:solidFill>
                <a:schemeClr val="tx1"/>
              </a:solidFill>
              <a:latin typeface="Times New Roman" panose="02020603050405020304" pitchFamily="18" charset="0"/>
              <a:cs typeface="Times New Roman" panose="02020603050405020304" pitchFamily="18" charset="0"/>
            </a:endParaRP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it show that not vulnerable, injection projection and injection in selection categories.</a:t>
            </a:r>
          </a:p>
          <a:p>
            <a:pPr marL="971550" lvl="1" indent="-514350" algn="l">
              <a:lnSpc>
                <a:spcPct val="150000"/>
              </a:lnSpc>
              <a:buFont typeface="Wingdings" panose="05000000000000000000" pitchFamily="2" charset="2"/>
              <a:buChar char="ü"/>
            </a:pPr>
            <a:endParaRPr lang="en-US" sz="26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902561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Injection in projection </a:t>
            </a:r>
          </a:p>
          <a:p>
            <a:pPr marL="1428750" lvl="2"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content://jakhar.aseem.diva.provider.notesprovider/notes</a:t>
            </a:r>
          </a:p>
          <a:p>
            <a:pPr marL="1428750" lvl="2"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content://jakhar.aseem.diva.provider.notesprovider/notes/</a:t>
            </a: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Injection in selection</a:t>
            </a:r>
          </a:p>
          <a:p>
            <a:pPr marL="1428750" lvl="2"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content://jakhar.aseem.diva.provider.notesprovider/notes</a:t>
            </a:r>
          </a:p>
          <a:p>
            <a:pPr marL="1428750" lvl="2"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content://jakhar.aseem.diva.provider.notesprovider/notes/</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639392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Understand the selection and projection</a:t>
            </a:r>
          </a:p>
          <a:p>
            <a:pPr marL="1428750" lvl="2"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Projection means choosing which columns (or expressions) the query shall return.</a:t>
            </a: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Selection means which rows are to be returned.</a:t>
            </a:r>
          </a:p>
          <a:p>
            <a:pPr marL="1428750" lvl="2"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If the query is</a:t>
            </a:r>
          </a:p>
          <a:p>
            <a:pPr marL="1428750" lvl="2"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select a, b, c from </a:t>
            </a:r>
            <a:r>
              <a:rPr lang="en-US" sz="2200" dirty="0" err="1">
                <a:solidFill>
                  <a:schemeClr val="tx1"/>
                </a:solidFill>
                <a:latin typeface="Times New Roman" panose="02020603050405020304" pitchFamily="18" charset="0"/>
                <a:cs typeface="Times New Roman" panose="02020603050405020304" pitchFamily="18" charset="0"/>
              </a:rPr>
              <a:t>footbar</a:t>
            </a:r>
            <a:r>
              <a:rPr lang="en-US" sz="2200" dirty="0">
                <a:solidFill>
                  <a:schemeClr val="tx1"/>
                </a:solidFill>
                <a:latin typeface="Times New Roman" panose="02020603050405020304" pitchFamily="18" charset="0"/>
                <a:cs typeface="Times New Roman" panose="02020603050405020304" pitchFamily="18" charset="0"/>
              </a:rPr>
              <a:t> where x=3;</a:t>
            </a:r>
          </a:p>
          <a:p>
            <a:pPr marL="1428750" lvl="2"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Then "a, b, c" is the projection part, "where x=3" the selection part.</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4141613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24544" y="748706"/>
            <a:ext cx="9468544" cy="5272582"/>
          </a:xfrm>
        </p:spPr>
        <p:txBody>
          <a:bodyPr>
            <a:noAutofit/>
          </a:bodyPr>
          <a:lstStyle/>
          <a:p>
            <a:pPr marL="971550" lvl="1" indent="-514350" algn="l">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dz</a:t>
            </a:r>
            <a:r>
              <a:rPr lang="en-US" sz="2200" dirty="0">
                <a:solidFill>
                  <a:schemeClr val="tx1"/>
                </a:solidFill>
                <a:latin typeface="Times New Roman" panose="02020603050405020304" pitchFamily="18" charset="0"/>
                <a:cs typeface="Times New Roman" panose="02020603050405020304" pitchFamily="18" charset="0"/>
              </a:rPr>
              <a:t>&gt;run </a:t>
            </a:r>
            <a:r>
              <a:rPr lang="en-US" sz="2200" dirty="0" err="1">
                <a:solidFill>
                  <a:schemeClr val="tx1"/>
                </a:solidFill>
                <a:latin typeface="Times New Roman" panose="02020603050405020304" pitchFamily="18" charset="0"/>
                <a:cs typeface="Times New Roman" panose="02020603050405020304" pitchFamily="18" charset="0"/>
              </a:rPr>
              <a:t>app.provider.query</a:t>
            </a:r>
            <a:r>
              <a:rPr lang="en-US" sz="2200" dirty="0">
                <a:solidFill>
                  <a:schemeClr val="tx1"/>
                </a:solidFill>
                <a:latin typeface="Times New Roman" panose="02020603050405020304" pitchFamily="18" charset="0"/>
                <a:cs typeface="Times New Roman" panose="02020603050405020304" pitchFamily="18" charset="0"/>
              </a:rPr>
              <a:t> content://jakhar.aseem.diva.provider.notesprovider/notes/ -- selection “’”</a:t>
            </a:r>
          </a:p>
          <a:p>
            <a:pPr marL="971550" lvl="1"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Shows error , means injectable.</a:t>
            </a:r>
          </a:p>
          <a:p>
            <a:pPr marL="971550" lvl="1" indent="-514350" algn="l">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dz</a:t>
            </a:r>
            <a:r>
              <a:rPr lang="en-US" sz="2200" dirty="0">
                <a:solidFill>
                  <a:schemeClr val="tx1"/>
                </a:solidFill>
                <a:latin typeface="Times New Roman" panose="02020603050405020304" pitchFamily="18" charset="0"/>
                <a:cs typeface="Times New Roman" panose="02020603050405020304" pitchFamily="18" charset="0"/>
              </a:rPr>
              <a:t>&gt;run </a:t>
            </a:r>
            <a:r>
              <a:rPr lang="en-US" sz="2200" dirty="0" err="1">
                <a:solidFill>
                  <a:schemeClr val="tx1"/>
                </a:solidFill>
                <a:latin typeface="Times New Roman" panose="02020603050405020304" pitchFamily="18" charset="0"/>
                <a:cs typeface="Times New Roman" panose="02020603050405020304" pitchFamily="18" charset="0"/>
              </a:rPr>
              <a:t>app.provider.query</a:t>
            </a:r>
            <a:r>
              <a:rPr lang="en-US" sz="2200" dirty="0">
                <a:solidFill>
                  <a:schemeClr val="tx1"/>
                </a:solidFill>
                <a:latin typeface="Times New Roman" panose="02020603050405020304" pitchFamily="18" charset="0"/>
                <a:cs typeface="Times New Roman" panose="02020603050405020304" pitchFamily="18" charset="0"/>
              </a:rPr>
              <a:t> content://jakhar.aseem.diva.provider.notesprovider/notes/  -- projection “’”</a:t>
            </a:r>
          </a:p>
          <a:p>
            <a:pPr marL="971550" lvl="1" indent="-514350" algn="l">
              <a:lnSpc>
                <a:spcPct val="150000"/>
              </a:lnSpc>
              <a:buFont typeface="Wingdings" panose="05000000000000000000" pitchFamily="2" charset="2"/>
              <a:buChar char="ü"/>
            </a:pPr>
            <a:r>
              <a:rPr lang="en-US" sz="2200" dirty="0" err="1">
                <a:solidFill>
                  <a:schemeClr val="tx1"/>
                </a:solidFill>
                <a:latin typeface="Times New Roman" panose="02020603050405020304" pitchFamily="18" charset="0"/>
                <a:cs typeface="Times New Roman" panose="02020603050405020304" pitchFamily="18" charset="0"/>
              </a:rPr>
              <a:t>dz</a:t>
            </a:r>
            <a:r>
              <a:rPr lang="en-US" sz="2200" dirty="0">
                <a:solidFill>
                  <a:schemeClr val="tx1"/>
                </a:solidFill>
                <a:latin typeface="Times New Roman" panose="02020603050405020304" pitchFamily="18" charset="0"/>
                <a:cs typeface="Times New Roman" panose="02020603050405020304" pitchFamily="18" charset="0"/>
              </a:rPr>
              <a:t>&gt;run </a:t>
            </a:r>
            <a:r>
              <a:rPr lang="en-US" sz="2200" dirty="0" err="1">
                <a:solidFill>
                  <a:schemeClr val="tx1"/>
                </a:solidFill>
                <a:latin typeface="Times New Roman" panose="02020603050405020304" pitchFamily="18" charset="0"/>
                <a:cs typeface="Times New Roman" panose="02020603050405020304" pitchFamily="18" charset="0"/>
              </a:rPr>
              <a:t>app.provider.query</a:t>
            </a:r>
            <a:r>
              <a:rPr lang="en-US" sz="2200" dirty="0">
                <a:solidFill>
                  <a:schemeClr val="tx1"/>
                </a:solidFill>
                <a:latin typeface="Times New Roman" panose="02020603050405020304" pitchFamily="18" charset="0"/>
                <a:cs typeface="Times New Roman" panose="02020603050405020304" pitchFamily="18" charset="0"/>
              </a:rPr>
              <a:t> content://jakhar.aseem.diva.provider.notesprovider/notes/  -- projection </a:t>
            </a:r>
          </a:p>
          <a:p>
            <a:pPr lvl="1" algn="l">
              <a:lnSpc>
                <a:spcPct val="150000"/>
              </a:lnSpc>
            </a:pPr>
            <a:r>
              <a:rPr lang="en-US" sz="2200" dirty="0">
                <a:solidFill>
                  <a:schemeClr val="tx1"/>
                </a:solidFill>
                <a:latin typeface="Times New Roman" panose="02020603050405020304" pitchFamily="18" charset="0"/>
                <a:cs typeface="Times New Roman" panose="02020603050405020304" pitchFamily="18" charset="0"/>
              </a:rPr>
              <a:t>	‘ ‘</a:t>
            </a:r>
          </a:p>
          <a:p>
            <a:pPr marL="971550" lvl="1" indent="-514350" algn="l">
              <a:lnSpc>
                <a:spcPct val="150000"/>
              </a:lnSpc>
              <a:buFont typeface="Wingdings" panose="05000000000000000000" pitchFamily="2" charset="2"/>
              <a:buChar char="ü"/>
            </a:pPr>
            <a:r>
              <a:rPr lang="en-US" sz="2200" dirty="0">
                <a:solidFill>
                  <a:schemeClr val="tx1"/>
                </a:solidFill>
                <a:latin typeface="Times New Roman" panose="02020603050405020304" pitchFamily="18" charset="0"/>
                <a:cs typeface="Times New Roman" panose="02020603050405020304" pitchFamily="18" charset="0"/>
              </a:rPr>
              <a:t>Show error, means injectable.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2615138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42846" y="697984"/>
            <a:ext cx="9451350" cy="5467320"/>
          </a:xfrm>
        </p:spPr>
        <p:txBody>
          <a:bodyPr>
            <a:noAutofit/>
          </a:bodyPr>
          <a:lstStyle/>
          <a:p>
            <a:pPr marL="971550" lvl="1" indent="-514350" algn="l">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So, there are can be injection in the projection and selection method using ‘ because it shows error message.</a:t>
            </a:r>
          </a:p>
          <a:p>
            <a:pPr marL="971550" lvl="1" indent="-514350" algn="l">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&gt; run </a:t>
            </a:r>
            <a:r>
              <a:rPr lang="en-US" sz="2400" dirty="0" err="1">
                <a:solidFill>
                  <a:schemeClr val="tx1"/>
                </a:solidFill>
                <a:latin typeface="Times New Roman" panose="02020603050405020304" pitchFamily="18" charset="0"/>
                <a:cs typeface="Times New Roman" panose="02020603050405020304" pitchFamily="18" charset="0"/>
              </a:rPr>
              <a:t>app.provider.query</a:t>
            </a:r>
            <a:r>
              <a:rPr lang="en-US" sz="2400" dirty="0">
                <a:solidFill>
                  <a:schemeClr val="tx1"/>
                </a:solidFill>
                <a:latin typeface="Times New Roman" panose="02020603050405020304" pitchFamily="18" charset="0"/>
                <a:cs typeface="Times New Roman" panose="02020603050405020304" pitchFamily="18" charset="0"/>
              </a:rPr>
              <a:t> content://jakhar.aseem.diva.provider.notesprovider/notes/ -- projection “* FROM SQLITE_MASTER WHERE type=’table’; --“</a:t>
            </a:r>
          </a:p>
          <a:p>
            <a:pPr marL="971550" lvl="1" indent="-514350" algn="l">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or this may work</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3934725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5467320"/>
          </a:xfrm>
        </p:spPr>
        <p:txBody>
          <a:bodyPr>
            <a:noAutofit/>
          </a:bodyPr>
          <a:lstStyle/>
          <a:p>
            <a:pPr marL="971550" lvl="1" indent="-514350" algn="l">
              <a:lnSpc>
                <a:spcPct val="150000"/>
              </a:lnSpc>
              <a:buFont typeface="Wingdings" panose="05000000000000000000" pitchFamily="2" charset="2"/>
              <a:buChar char="ü"/>
            </a:pPr>
            <a:r>
              <a:rPr lang="en-US" sz="2600" dirty="0" err="1">
                <a:solidFill>
                  <a:schemeClr val="tx1"/>
                </a:solidFill>
                <a:latin typeface="Times New Roman" panose="02020603050405020304" pitchFamily="18" charset="0"/>
                <a:cs typeface="Times New Roman" panose="02020603050405020304" pitchFamily="18" charset="0"/>
              </a:rPr>
              <a:t>dz</a:t>
            </a:r>
            <a:r>
              <a:rPr lang="en-US" sz="2600" dirty="0">
                <a:solidFill>
                  <a:schemeClr val="tx1"/>
                </a:solidFill>
                <a:latin typeface="Times New Roman" panose="02020603050405020304" pitchFamily="18" charset="0"/>
                <a:cs typeface="Times New Roman" panose="02020603050405020304" pitchFamily="18" charset="0"/>
              </a:rPr>
              <a:t>&gt; run </a:t>
            </a:r>
            <a:r>
              <a:rPr lang="en-US" sz="2600" dirty="0" err="1">
                <a:solidFill>
                  <a:schemeClr val="tx1"/>
                </a:solidFill>
                <a:latin typeface="Times New Roman" panose="02020603050405020304" pitchFamily="18" charset="0"/>
                <a:cs typeface="Times New Roman" panose="02020603050405020304" pitchFamily="18" charset="0"/>
              </a:rPr>
              <a:t>app.provider.query</a:t>
            </a:r>
            <a:r>
              <a:rPr lang="en-US" sz="2600" dirty="0">
                <a:solidFill>
                  <a:schemeClr val="tx1"/>
                </a:solidFill>
                <a:latin typeface="Times New Roman" panose="02020603050405020304" pitchFamily="18" charset="0"/>
                <a:cs typeface="Times New Roman" panose="02020603050405020304" pitchFamily="18" charset="0"/>
              </a:rPr>
              <a:t> content://jakhar.aseem.diva.provider.notesprovider/notes/ -- </a:t>
            </a:r>
            <a:r>
              <a:rPr lang="en-US" sz="2600">
                <a:solidFill>
                  <a:schemeClr val="tx1"/>
                </a:solidFill>
                <a:latin typeface="Times New Roman" panose="02020603050405020304" pitchFamily="18" charset="0"/>
                <a:cs typeface="Times New Roman" panose="02020603050405020304" pitchFamily="18" charset="0"/>
              </a:rPr>
              <a:t>projection  “ ’ ‘ ” “* </a:t>
            </a:r>
            <a:r>
              <a:rPr lang="en-US" sz="2600" dirty="0">
                <a:solidFill>
                  <a:schemeClr val="tx1"/>
                </a:solidFill>
                <a:latin typeface="Times New Roman" panose="02020603050405020304" pitchFamily="18" charset="0"/>
                <a:cs typeface="Times New Roman" panose="02020603050405020304" pitchFamily="18" charset="0"/>
              </a:rPr>
              <a:t>FROM SQLITE_MASTER WHERE type=’table’; --“</a:t>
            </a:r>
          </a:p>
          <a:p>
            <a:pPr marL="971550" lvl="1" indent="-514350" algn="l">
              <a:lnSpc>
                <a:spcPct val="150000"/>
              </a:lnSpc>
              <a:buFont typeface="Wingdings" panose="05000000000000000000" pitchFamily="2" charset="2"/>
              <a:buChar char="ü"/>
            </a:pPr>
            <a:r>
              <a:rPr lang="en-US" sz="2600" dirty="0">
                <a:solidFill>
                  <a:schemeClr val="tx1"/>
                </a:solidFill>
                <a:latin typeface="Times New Roman" panose="02020603050405020304" pitchFamily="18" charset="0"/>
                <a:cs typeface="Times New Roman" panose="02020603050405020304" pitchFamily="18" charset="0"/>
              </a:rPr>
              <a:t>or this may work</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Tree>
    <p:extLst>
      <p:ext uri="{BB962C8B-B14F-4D97-AF65-F5344CB8AC3E}">
        <p14:creationId xmlns:p14="http://schemas.microsoft.com/office/powerpoint/2010/main" val="1054203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9278" y="671896"/>
            <a:ext cx="8546121" cy="2829112"/>
          </a:xfrm>
        </p:spPr>
        <p:txBody>
          <a:bodyPr>
            <a:noAutofit/>
          </a:bodyPr>
          <a:lstStyle/>
          <a:p>
            <a:pPr marL="971550" lvl="1" indent="-514350" algn="l">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&gt; run </a:t>
            </a:r>
            <a:r>
              <a:rPr lang="en-US" sz="2400" dirty="0" err="1">
                <a:solidFill>
                  <a:schemeClr val="tx1"/>
                </a:solidFill>
                <a:latin typeface="Times New Roman" panose="02020603050405020304" pitchFamily="18" charset="0"/>
                <a:cs typeface="Times New Roman" panose="02020603050405020304" pitchFamily="18" charset="0"/>
              </a:rPr>
              <a:t>app.provider.query</a:t>
            </a:r>
            <a:r>
              <a:rPr lang="en-US" sz="2400" dirty="0">
                <a:solidFill>
                  <a:schemeClr val="tx1"/>
                </a:solidFill>
                <a:latin typeface="Times New Roman" panose="02020603050405020304" pitchFamily="18" charset="0"/>
                <a:cs typeface="Times New Roman" panose="02020603050405020304" pitchFamily="18" charset="0"/>
              </a:rPr>
              <a:t> content://jakhar.aseem.diva.provider.notesprovider/notes/ -- selection “* FROM SQLITE_MASTER WHERE type=’table’; --“</a:t>
            </a:r>
          </a:p>
          <a:p>
            <a:pPr marL="971550" lvl="1" indent="-514350" algn="l">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it show the various table but of our interest is note table.</a:t>
            </a:r>
          </a:p>
        </p:txBody>
      </p:sp>
      <p:sp>
        <p:nvSpPr>
          <p:cNvPr id="4" name="Right Triangle 3"/>
          <p:cNvSpPr/>
          <p:nvPr/>
        </p:nvSpPr>
        <p:spPr>
          <a:xfrm rot="5400000">
            <a:off x="-21195" y="4322"/>
            <a:ext cx="780949" cy="772569"/>
          </a:xfrm>
          <a:prstGeom prst="r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ight Triangle 4"/>
          <p:cNvSpPr/>
          <p:nvPr/>
        </p:nvSpPr>
        <p:spPr>
          <a:xfrm rot="16200000">
            <a:off x="8367241" y="6067518"/>
            <a:ext cx="780949" cy="772569"/>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ounded Rectangle 5"/>
          <p:cNvSpPr/>
          <p:nvPr/>
        </p:nvSpPr>
        <p:spPr>
          <a:xfrm>
            <a:off x="783274" y="-1"/>
            <a:ext cx="7620000" cy="5957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SQL Injection using </a:t>
            </a:r>
            <a:r>
              <a:rPr lang="en-US" sz="2400" b="1" dirty="0" err="1"/>
              <a:t>Drozer</a:t>
            </a:r>
            <a:endParaRPr lang="en-US" sz="2400" b="1" dirty="0"/>
          </a:p>
        </p:txBody>
      </p:sp>
      <p:sp>
        <p:nvSpPr>
          <p:cNvPr id="7" name="Right Triangle 6"/>
          <p:cNvSpPr/>
          <p:nvPr/>
        </p:nvSpPr>
        <p:spPr>
          <a:xfrm rot="10800000">
            <a:off x="8417865" y="18177"/>
            <a:ext cx="780949" cy="772569"/>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Triangle 7"/>
          <p:cNvSpPr/>
          <p:nvPr/>
        </p:nvSpPr>
        <p:spPr>
          <a:xfrm>
            <a:off x="-4190" y="6083920"/>
            <a:ext cx="780949" cy="772569"/>
          </a:xfrm>
          <a:prstGeom prst="rtTriangl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ounded Rectangle 9"/>
          <p:cNvSpPr/>
          <p:nvPr/>
        </p:nvSpPr>
        <p:spPr>
          <a:xfrm>
            <a:off x="730649" y="6470204"/>
            <a:ext cx="7620000" cy="3811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Dr.  </a:t>
            </a:r>
            <a:r>
              <a:rPr lang="en-US" b="1" dirty="0" err="1"/>
              <a:t>Digvijaysinh</a:t>
            </a:r>
            <a:r>
              <a:rPr lang="en-US" b="1" dirty="0"/>
              <a:t> Rathod</a:t>
            </a:r>
          </a:p>
        </p:txBody>
      </p:sp>
      <p:sp>
        <p:nvSpPr>
          <p:cNvPr id="9" name="TextBox 8">
            <a:extLst>
              <a:ext uri="{FF2B5EF4-FFF2-40B4-BE49-F238E27FC236}">
                <a16:creationId xmlns:a16="http://schemas.microsoft.com/office/drawing/2014/main" id="{4CB5D427-B455-4CDA-F00E-C58278B11D59}"/>
              </a:ext>
            </a:extLst>
          </p:cNvPr>
          <p:cNvSpPr txBox="1"/>
          <p:nvPr/>
        </p:nvSpPr>
        <p:spPr>
          <a:xfrm>
            <a:off x="369278" y="3586573"/>
            <a:ext cx="8303839" cy="2241960"/>
          </a:xfrm>
          <a:prstGeom prst="rect">
            <a:avLst/>
          </a:prstGeom>
          <a:noFill/>
        </p:spPr>
        <p:txBody>
          <a:bodyPr wrap="square">
            <a:spAutoFit/>
          </a:bodyPr>
          <a:lstStyle/>
          <a:p>
            <a:pPr marL="971550" lvl="1" indent="-514350" algn="l">
              <a:lnSpc>
                <a:spcPct val="150000"/>
              </a:lnSpc>
              <a:buFont typeface="Wingdings" panose="05000000000000000000" pitchFamily="2" charset="2"/>
              <a:buChar char="ü"/>
            </a:pPr>
            <a:r>
              <a:rPr lang="en-US" sz="2400" dirty="0" err="1">
                <a:solidFill>
                  <a:schemeClr val="tx1"/>
                </a:solidFill>
                <a:latin typeface="Times New Roman" panose="02020603050405020304" pitchFamily="18" charset="0"/>
                <a:cs typeface="Times New Roman" panose="02020603050405020304" pitchFamily="18" charset="0"/>
              </a:rPr>
              <a:t>dz</a:t>
            </a:r>
            <a:r>
              <a:rPr lang="en-US" sz="2400" dirty="0">
                <a:solidFill>
                  <a:schemeClr val="tx1"/>
                </a:solidFill>
                <a:latin typeface="Times New Roman" panose="02020603050405020304" pitchFamily="18" charset="0"/>
                <a:cs typeface="Times New Roman" panose="02020603050405020304" pitchFamily="18" charset="0"/>
              </a:rPr>
              <a:t>&gt; run </a:t>
            </a:r>
            <a:r>
              <a:rPr lang="en-US" sz="2400" dirty="0" err="1">
                <a:solidFill>
                  <a:schemeClr val="tx1"/>
                </a:solidFill>
                <a:latin typeface="Times New Roman" panose="02020603050405020304" pitchFamily="18" charset="0"/>
                <a:cs typeface="Times New Roman" panose="02020603050405020304" pitchFamily="18" charset="0"/>
              </a:rPr>
              <a:t>app.provider.query</a:t>
            </a:r>
            <a:r>
              <a:rPr lang="en-US" sz="2400" dirty="0">
                <a:solidFill>
                  <a:schemeClr val="tx1"/>
                </a:solidFill>
                <a:latin typeface="Times New Roman" panose="02020603050405020304" pitchFamily="18" charset="0"/>
                <a:cs typeface="Times New Roman" panose="02020603050405020304" pitchFamily="18" charset="0"/>
              </a:rPr>
              <a:t> content://jakhar.aseem.diva.provider.notesprovider/notes/ -- selection “* FROM notes; --“</a:t>
            </a:r>
          </a:p>
          <a:p>
            <a:pPr marL="971550" lvl="1" indent="-514350" algn="l">
              <a:lnSpc>
                <a:spcPct val="150000"/>
              </a:lnSpc>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It shows that content of the table.</a:t>
            </a:r>
          </a:p>
        </p:txBody>
      </p:sp>
    </p:spTree>
    <p:extLst>
      <p:ext uri="{BB962C8B-B14F-4D97-AF65-F5344CB8AC3E}">
        <p14:creationId xmlns:p14="http://schemas.microsoft.com/office/powerpoint/2010/main" val="2162172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5626</TotalTime>
  <Words>1484</Words>
  <Application>Microsoft Office PowerPoint</Application>
  <PresentationFormat>On-screen Show (4:3)</PresentationFormat>
  <Paragraphs>162</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digvijay</dc:creator>
  <cp:lastModifiedBy>Aastha Thakker</cp:lastModifiedBy>
  <cp:revision>745</cp:revision>
  <dcterms:created xsi:type="dcterms:W3CDTF">2018-03-30T10:15:00Z</dcterms:created>
  <dcterms:modified xsi:type="dcterms:W3CDTF">2026-04-26T18:01:34Z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