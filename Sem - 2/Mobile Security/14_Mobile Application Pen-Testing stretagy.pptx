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57" r:id="rId2"/>
    <p:sldId id="408" r:id="rId3"/>
    <p:sldId id="589" r:id="rId4"/>
    <p:sldId id="601" r:id="rId5"/>
    <p:sldId id="449" r:id="rId6"/>
    <p:sldId id="600" r:id="rId7"/>
    <p:sldId id="60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288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48"/>
      </p:cViewPr>
      <p:guideLst>
        <p:guide orient="horz" pos="2162"/>
        <p:guide pos="28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06D20-265A-45AE-8D7F-1100293F805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54D4B-AC91-4CBF-9F06-E2874E0FB7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00093-A566-4883-87EB-6E6022A9D2E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1F41E-2724-4E8B-A7C1-40819B11D8A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791192"/>
          </a:xfrm>
        </p:spPr>
        <p:txBody>
          <a:bodyPr>
            <a:normAutofit fontScale="85000" lnSpcReduction="20000"/>
          </a:bodyPr>
          <a:lstStyle/>
          <a:p>
            <a:endParaRPr lang="en-IN" sz="4800" b="1" dirty="0">
              <a:solidFill>
                <a:schemeClr val="tx1"/>
              </a:solidFill>
            </a:endParaRPr>
          </a:p>
          <a:p>
            <a:r>
              <a:rPr lang="en-IN" sz="4800" b="1" dirty="0">
                <a:solidFill>
                  <a:schemeClr val="tx1"/>
                </a:solidFill>
              </a:rPr>
              <a:t>Mobile Phone Security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IN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IN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Dr. Digvijaysinh Rathod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Associate Dean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School of Cyber Security and Digital Forensics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National Forensic Sciences University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>
              <a:latin typeface="Calibri" panose="020F0502020204030204" pitchFamily="34" charset="0"/>
            </a:endParaRP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digvijay.rathod@gfsu.edu.in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8860" y="1928802"/>
            <a:ext cx="4909738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GFSU: Courses, Admissions, Placements, Scholarships, Fe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45495" y="0"/>
            <a:ext cx="1120496" cy="1428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3398" y="282668"/>
            <a:ext cx="8546121" cy="5467320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Security Pen-Testing Strategy </a:t>
            </a: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2400" b="1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Pen-Testing Strategy 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 Box – </a:t>
            </a:r>
          </a:p>
          <a:p>
            <a:pPr lvl="2" algn="just">
              <a:lnSpc>
                <a:spcPct val="150000"/>
              </a:lnSpc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Irrespective of what is inside the application or without the knowledge of the source code , pen-tester provide the valid and invalid input and see the response. </a:t>
            </a: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payload through input controls such as text box etc.,</a:t>
            </a: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payload as a part of URL</a:t>
            </a: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the payload as part of any string or variable by intercepting the request. </a:t>
            </a: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In-case developer don't have access of source, its good strategy. 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50000"/>
              </a:lnSpc>
            </a:pP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US" sz="2400" b="1" dirty="0">
                <a:sym typeface="+mn-ea"/>
              </a:rPr>
              <a:t>Mobile Application Security Pen-Testing Strategy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Arrow: Right 1"/>
          <p:cNvSpPr/>
          <p:nvPr/>
        </p:nvSpPr>
        <p:spPr>
          <a:xfrm>
            <a:off x="3074231" y="1887793"/>
            <a:ext cx="1466418" cy="2520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ube 8"/>
          <p:cNvSpPr/>
          <p:nvPr/>
        </p:nvSpPr>
        <p:spPr>
          <a:xfrm>
            <a:off x="4540649" y="1527753"/>
            <a:ext cx="1728192" cy="792088"/>
          </a:xfrm>
          <a:prstGeom prst="cub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Arrow: Curved Left 11"/>
          <p:cNvSpPr/>
          <p:nvPr/>
        </p:nvSpPr>
        <p:spPr>
          <a:xfrm>
            <a:off x="6268841" y="1527753"/>
            <a:ext cx="1152128" cy="79208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47364" y="1799893"/>
            <a:ext cx="1034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Payload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671896"/>
            <a:ext cx="8546121" cy="546732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Pen-Testing Strategy  </a:t>
            </a:r>
          </a:p>
          <a:p>
            <a:pPr lvl="2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White Box – </a:t>
            </a: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Pen-Tester will perform walk through of the application to understand the source code of the application</a:t>
            </a: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Pen-Tester should have access to the source code.</a:t>
            </a: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Pen-Tester should have through knowledge front end and back end (programming language) of the application.</a:t>
            </a: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Pen-Tester should know various reverse engineering techniques.</a:t>
            </a: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also good strategy in the case of Mobile Application as more than 50% code is resides in the mobile phone it self.</a:t>
            </a: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strategy will fail in the case when binaries are locked.</a:t>
            </a: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US" sz="2400" b="1" dirty="0">
                <a:sym typeface="+mn-ea"/>
              </a:rPr>
              <a:t>Mobile Application Security Pen-Testing Strategy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278" y="781080"/>
            <a:ext cx="8546121" cy="546732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</a:rPr>
              <a:t>Why do we have Vulnerability  ? </a:t>
            </a:r>
          </a:p>
          <a:p>
            <a:pPr algn="just"/>
            <a:endParaRPr lang="en-US" b="1" dirty="0">
              <a:solidFill>
                <a:schemeClr val="tx1"/>
              </a:solidFill>
            </a:endParaRPr>
          </a:p>
          <a:p>
            <a:pPr algn="just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5400000">
            <a:off x="-12694" y="12825"/>
            <a:ext cx="780949" cy="755564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5" name="Right Triangle 4"/>
          <p:cNvSpPr/>
          <p:nvPr/>
        </p:nvSpPr>
        <p:spPr>
          <a:xfrm rot="16200000">
            <a:off x="8459778" y="6160054"/>
            <a:ext cx="595877" cy="772568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533142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fr-CA" sz="2400" b="1" dirty="0" err="1">
                <a:latin typeface="Calibri" panose="020F0502020204030204" pitchFamily="34" charset="0"/>
              </a:rPr>
              <a:t>Web Security Pen-Testing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360726" y="-1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8" name="Right Triangle 7"/>
          <p:cNvSpPr/>
          <p:nvPr/>
        </p:nvSpPr>
        <p:spPr>
          <a:xfrm>
            <a:off x="-17828" y="6248399"/>
            <a:ext cx="780233" cy="615872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" name="Rounded Rectangle 9"/>
          <p:cNvSpPr/>
          <p:nvPr/>
        </p:nvSpPr>
        <p:spPr>
          <a:xfrm>
            <a:off x="1331639" y="6351100"/>
            <a:ext cx="6984777" cy="5002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457201" y="1295400"/>
            <a:ext cx="3276600" cy="3200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Windows Server </a:t>
            </a:r>
          </a:p>
          <a:p>
            <a:pPr algn="ctr"/>
            <a:r>
              <a:rPr lang="en-US" b="1" dirty="0"/>
              <a:t>/ Linux Server</a:t>
            </a:r>
          </a:p>
        </p:txBody>
      </p:sp>
      <p:sp>
        <p:nvSpPr>
          <p:cNvPr id="9" name="Oval 8"/>
          <p:cNvSpPr/>
          <p:nvPr/>
        </p:nvSpPr>
        <p:spPr>
          <a:xfrm>
            <a:off x="3174410" y="1695450"/>
            <a:ext cx="945449" cy="40005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77030" y="1695450"/>
            <a:ext cx="1585469" cy="40005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Service</a:t>
            </a:r>
          </a:p>
        </p:txBody>
      </p:sp>
      <p:sp>
        <p:nvSpPr>
          <p:cNvPr id="20" name="Oval 19"/>
          <p:cNvSpPr/>
          <p:nvPr/>
        </p:nvSpPr>
        <p:spPr>
          <a:xfrm>
            <a:off x="3155296" y="2336725"/>
            <a:ext cx="945449" cy="40005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08384" y="2336725"/>
            <a:ext cx="1531751" cy="40005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Service</a:t>
            </a:r>
          </a:p>
        </p:txBody>
      </p:sp>
      <p:sp>
        <p:nvSpPr>
          <p:cNvPr id="21" name="Oval 20"/>
          <p:cNvSpPr/>
          <p:nvPr/>
        </p:nvSpPr>
        <p:spPr>
          <a:xfrm>
            <a:off x="3206496" y="3003100"/>
            <a:ext cx="945449" cy="40005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08384" y="2999887"/>
            <a:ext cx="1478033" cy="40005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Service</a:t>
            </a:r>
          </a:p>
        </p:txBody>
      </p:sp>
      <p:sp>
        <p:nvSpPr>
          <p:cNvPr id="22" name="Oval 21"/>
          <p:cNvSpPr/>
          <p:nvPr/>
        </p:nvSpPr>
        <p:spPr>
          <a:xfrm>
            <a:off x="3261075" y="3693971"/>
            <a:ext cx="945449" cy="40005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0746" y="3679682"/>
            <a:ext cx="1531753" cy="40005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Service 8080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4456" y="2736775"/>
            <a:ext cx="2580554" cy="160662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Web Server</a:t>
            </a:r>
          </a:p>
          <a:p>
            <a:pPr algn="ctr"/>
            <a:endParaRPr lang="en-US" b="1" dirty="0"/>
          </a:p>
        </p:txBody>
      </p:sp>
      <p:sp>
        <p:nvSpPr>
          <p:cNvPr id="23" name="Rounded Rectangle 22"/>
          <p:cNvSpPr/>
          <p:nvPr/>
        </p:nvSpPr>
        <p:spPr>
          <a:xfrm>
            <a:off x="7236644" y="4640661"/>
            <a:ext cx="1447800" cy="990600"/>
          </a:xfrm>
          <a:prstGeom prst="roundRect">
            <a:avLst>
              <a:gd name="adj" fmla="val 34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Web Browser</a:t>
            </a:r>
          </a:p>
        </p:txBody>
      </p:sp>
      <p:sp>
        <p:nvSpPr>
          <p:cNvPr id="24" name="Flowchart: Magnetic Disk 23"/>
          <p:cNvSpPr/>
          <p:nvPr/>
        </p:nvSpPr>
        <p:spPr>
          <a:xfrm>
            <a:off x="615864" y="4653647"/>
            <a:ext cx="1551702" cy="125728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Database Engine</a:t>
            </a:r>
          </a:p>
        </p:txBody>
      </p:sp>
      <p:cxnSp>
        <p:nvCxnSpPr>
          <p:cNvPr id="26" name="Straight Arrow Connector 25"/>
          <p:cNvCxnSpPr>
            <a:stCxn id="24" idx="1"/>
          </p:cNvCxnSpPr>
          <p:nvPr/>
        </p:nvCxnSpPr>
        <p:spPr>
          <a:xfrm flipV="1">
            <a:off x="1391715" y="4495800"/>
            <a:ext cx="357422" cy="15784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Flowchart: Or 26"/>
          <p:cNvSpPr/>
          <p:nvPr/>
        </p:nvSpPr>
        <p:spPr>
          <a:xfrm>
            <a:off x="2635329" y="4853672"/>
            <a:ext cx="1821835" cy="1057256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Third Party API</a:t>
            </a:r>
          </a:p>
        </p:txBody>
      </p:sp>
      <p:cxnSp>
        <p:nvCxnSpPr>
          <p:cNvPr id="28" name="Straight Arrow Connector 27"/>
          <p:cNvCxnSpPr>
            <a:stCxn id="27" idx="0"/>
          </p:cNvCxnSpPr>
          <p:nvPr/>
        </p:nvCxnSpPr>
        <p:spPr>
          <a:xfrm flipH="1" flipV="1">
            <a:off x="1749137" y="4495800"/>
            <a:ext cx="1797110" cy="35787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2406" y="3203125"/>
            <a:ext cx="2285347" cy="992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/>
              <a:t>Application Framework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6799" y="3879707"/>
            <a:ext cx="2116517" cy="5413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Web Application</a:t>
            </a:r>
          </a:p>
        </p:txBody>
      </p:sp>
      <p:cxnSp>
        <p:nvCxnSpPr>
          <p:cNvPr id="46" name="Elbow Connector 45"/>
          <p:cNvCxnSpPr>
            <a:endCxn id="23" idx="0"/>
          </p:cNvCxnSpPr>
          <p:nvPr/>
        </p:nvCxnSpPr>
        <p:spPr>
          <a:xfrm>
            <a:off x="5462499" y="3879707"/>
            <a:ext cx="2498045" cy="760954"/>
          </a:xfrm>
          <a:prstGeom prst="bentConnector2">
            <a:avLst/>
          </a:prstGeom>
          <a:ln>
            <a:headEnd type="arrow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762406" y="1524000"/>
            <a:ext cx="304393" cy="3714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</a:p>
        </p:txBody>
      </p:sp>
      <p:sp>
        <p:nvSpPr>
          <p:cNvPr id="48" name="Oval 47"/>
          <p:cNvSpPr/>
          <p:nvPr/>
        </p:nvSpPr>
        <p:spPr>
          <a:xfrm>
            <a:off x="802752" y="2736775"/>
            <a:ext cx="304393" cy="3714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2</a:t>
            </a:r>
          </a:p>
        </p:txBody>
      </p:sp>
      <p:sp>
        <p:nvSpPr>
          <p:cNvPr id="49" name="Oval 48"/>
          <p:cNvSpPr/>
          <p:nvPr/>
        </p:nvSpPr>
        <p:spPr>
          <a:xfrm>
            <a:off x="884102" y="3353552"/>
            <a:ext cx="304393" cy="3714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3</a:t>
            </a:r>
          </a:p>
        </p:txBody>
      </p:sp>
      <p:sp>
        <p:nvSpPr>
          <p:cNvPr id="50" name="Oval 49"/>
          <p:cNvSpPr/>
          <p:nvPr/>
        </p:nvSpPr>
        <p:spPr>
          <a:xfrm>
            <a:off x="1066799" y="3888497"/>
            <a:ext cx="304393" cy="3714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4</a:t>
            </a:r>
          </a:p>
        </p:txBody>
      </p:sp>
      <p:sp>
        <p:nvSpPr>
          <p:cNvPr id="51" name="Oval 50"/>
          <p:cNvSpPr/>
          <p:nvPr/>
        </p:nvSpPr>
        <p:spPr>
          <a:xfrm>
            <a:off x="1207010" y="4680186"/>
            <a:ext cx="304393" cy="3714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5</a:t>
            </a:r>
          </a:p>
        </p:txBody>
      </p:sp>
      <p:sp>
        <p:nvSpPr>
          <p:cNvPr id="52" name="Oval 51"/>
          <p:cNvSpPr/>
          <p:nvPr/>
        </p:nvSpPr>
        <p:spPr>
          <a:xfrm>
            <a:off x="3003099" y="5383482"/>
            <a:ext cx="304393" cy="3714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6</a:t>
            </a:r>
          </a:p>
        </p:txBody>
      </p:sp>
      <p:sp>
        <p:nvSpPr>
          <p:cNvPr id="53" name="Oval 52"/>
          <p:cNvSpPr/>
          <p:nvPr/>
        </p:nvSpPr>
        <p:spPr>
          <a:xfrm>
            <a:off x="3184279" y="1530811"/>
            <a:ext cx="304393" cy="3714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7</a:t>
            </a:r>
          </a:p>
        </p:txBody>
      </p:sp>
      <p:sp>
        <p:nvSpPr>
          <p:cNvPr id="54" name="Oval 53"/>
          <p:cNvSpPr/>
          <p:nvPr/>
        </p:nvSpPr>
        <p:spPr>
          <a:xfrm>
            <a:off x="3967662" y="1509712"/>
            <a:ext cx="304393" cy="3714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8</a:t>
            </a:r>
          </a:p>
        </p:txBody>
      </p:sp>
      <p:sp>
        <p:nvSpPr>
          <p:cNvPr id="55" name="Oval 54"/>
          <p:cNvSpPr/>
          <p:nvPr/>
        </p:nvSpPr>
        <p:spPr>
          <a:xfrm>
            <a:off x="6623409" y="3513852"/>
            <a:ext cx="304393" cy="3714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6" grpId="0" animBg="1"/>
      <p:bldP spid="20" grpId="0" animBg="1"/>
      <p:bldP spid="17" grpId="0" animBg="1"/>
      <p:bldP spid="21" grpId="0" animBg="1"/>
      <p:bldP spid="18" grpId="0" animBg="1"/>
      <p:bldP spid="22" grpId="0" animBg="1"/>
      <p:bldP spid="19" grpId="0" animBg="1"/>
      <p:bldP spid="14" grpId="0" animBg="1"/>
      <p:bldP spid="23" grpId="0" animBg="1"/>
      <p:bldP spid="24" grpId="0" animBg="1"/>
      <p:bldP spid="27" grpId="0" animBg="1"/>
      <p:bldP spid="35" grpId="0" animBg="1"/>
      <p:bldP spid="15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en-US" sz="2400" b="1" dirty="0">
                <a:sym typeface="+mn-ea"/>
              </a:rPr>
              <a:t>Mobile Application Security Pen-Testing Strategy 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9" name="Rectangle: Rounded Corners 8"/>
          <p:cNvSpPr/>
          <p:nvPr/>
        </p:nvSpPr>
        <p:spPr>
          <a:xfrm>
            <a:off x="323528" y="1556792"/>
            <a:ext cx="2088232" cy="280831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/>
          <p:cNvSpPr/>
          <p:nvPr/>
        </p:nvSpPr>
        <p:spPr>
          <a:xfrm>
            <a:off x="804414" y="2985528"/>
            <a:ext cx="1427980" cy="106420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Mobile Application</a:t>
            </a:r>
          </a:p>
        </p:txBody>
      </p:sp>
      <p:sp>
        <p:nvSpPr>
          <p:cNvPr id="12" name="Flowchart: Magnetic Disk 11"/>
          <p:cNvSpPr/>
          <p:nvPr/>
        </p:nvSpPr>
        <p:spPr>
          <a:xfrm>
            <a:off x="1331640" y="3710728"/>
            <a:ext cx="904136" cy="566304"/>
          </a:xfrm>
          <a:prstGeom prst="flowChartMagneticDisk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Database</a:t>
            </a:r>
          </a:p>
        </p:txBody>
      </p:sp>
      <p:sp>
        <p:nvSpPr>
          <p:cNvPr id="13" name="Oval 12"/>
          <p:cNvSpPr/>
          <p:nvPr/>
        </p:nvSpPr>
        <p:spPr>
          <a:xfrm>
            <a:off x="323528" y="1438742"/>
            <a:ext cx="459746" cy="4267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274" y="1515464"/>
            <a:ext cx="1709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Mobile Phone</a:t>
            </a:r>
          </a:p>
        </p:txBody>
      </p:sp>
      <p:sp>
        <p:nvSpPr>
          <p:cNvPr id="17" name="Rounded Rectangle 1"/>
          <p:cNvSpPr/>
          <p:nvPr/>
        </p:nvSpPr>
        <p:spPr>
          <a:xfrm>
            <a:off x="5141265" y="1147466"/>
            <a:ext cx="3276600" cy="3200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Windows Server </a:t>
            </a:r>
          </a:p>
          <a:p>
            <a:pPr algn="ctr"/>
            <a:r>
              <a:rPr lang="en-US" b="1" dirty="0"/>
              <a:t>/ Linux Server</a:t>
            </a:r>
          </a:p>
        </p:txBody>
      </p:sp>
      <p:sp>
        <p:nvSpPr>
          <p:cNvPr id="18" name="Rounded Rectangle 13"/>
          <p:cNvSpPr/>
          <p:nvPr/>
        </p:nvSpPr>
        <p:spPr>
          <a:xfrm>
            <a:off x="5312063" y="2518007"/>
            <a:ext cx="2580554" cy="160662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Web Server</a:t>
            </a:r>
          </a:p>
          <a:p>
            <a:pPr algn="ctr"/>
            <a:endParaRPr lang="en-US" b="1" dirty="0"/>
          </a:p>
        </p:txBody>
      </p:sp>
      <p:sp>
        <p:nvSpPr>
          <p:cNvPr id="19" name="Flowchart: Magnetic Disk 18"/>
          <p:cNvSpPr/>
          <p:nvPr/>
        </p:nvSpPr>
        <p:spPr>
          <a:xfrm>
            <a:off x="5373471" y="4434879"/>
            <a:ext cx="1551702" cy="125728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Database Engine</a:t>
            </a:r>
          </a:p>
        </p:txBody>
      </p:sp>
      <p:cxnSp>
        <p:nvCxnSpPr>
          <p:cNvPr id="20" name="Straight Arrow Connector 19"/>
          <p:cNvCxnSpPr>
            <a:stCxn id="19" idx="1"/>
          </p:cNvCxnSpPr>
          <p:nvPr/>
        </p:nvCxnSpPr>
        <p:spPr>
          <a:xfrm flipV="1">
            <a:off x="6149322" y="4277032"/>
            <a:ext cx="357422" cy="15784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Flowchart: Or 20"/>
          <p:cNvSpPr/>
          <p:nvPr/>
        </p:nvSpPr>
        <p:spPr>
          <a:xfrm>
            <a:off x="7392936" y="4634904"/>
            <a:ext cx="1821835" cy="1057256"/>
          </a:xfrm>
          <a:prstGeom prst="flowChar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Third Party API</a:t>
            </a:r>
          </a:p>
        </p:txBody>
      </p:sp>
      <p:cxnSp>
        <p:nvCxnSpPr>
          <p:cNvPr id="22" name="Straight Arrow Connector 21"/>
          <p:cNvCxnSpPr>
            <a:stCxn id="21" idx="0"/>
          </p:cNvCxnSpPr>
          <p:nvPr/>
        </p:nvCxnSpPr>
        <p:spPr>
          <a:xfrm flipH="1" flipV="1">
            <a:off x="6506744" y="4277032"/>
            <a:ext cx="1797110" cy="35787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Rounded Rectangle 34"/>
          <p:cNvSpPr/>
          <p:nvPr/>
        </p:nvSpPr>
        <p:spPr>
          <a:xfrm>
            <a:off x="5520013" y="2984357"/>
            <a:ext cx="2285347" cy="9929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Application Framework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24406" y="3660939"/>
            <a:ext cx="2116517" cy="5413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Web Application</a:t>
            </a:r>
          </a:p>
        </p:txBody>
      </p:sp>
      <p:sp>
        <p:nvSpPr>
          <p:cNvPr id="25" name="Arrow: Right 24"/>
          <p:cNvSpPr/>
          <p:nvPr/>
        </p:nvSpPr>
        <p:spPr>
          <a:xfrm>
            <a:off x="2411760" y="2984357"/>
            <a:ext cx="2239106" cy="162915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&quot;Not Allowed&quot; Symbol 26"/>
          <p:cNvSpPr/>
          <p:nvPr/>
        </p:nvSpPr>
        <p:spPr>
          <a:xfrm>
            <a:off x="4699172" y="2545868"/>
            <a:ext cx="820358" cy="1058261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355976" y="2176536"/>
            <a:ext cx="1454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Web Services</a:t>
            </a:r>
          </a:p>
        </p:txBody>
      </p:sp>
      <p:sp>
        <p:nvSpPr>
          <p:cNvPr id="29" name="Arrow: Left 28"/>
          <p:cNvSpPr/>
          <p:nvPr/>
        </p:nvSpPr>
        <p:spPr>
          <a:xfrm>
            <a:off x="2403992" y="3344591"/>
            <a:ext cx="2337384" cy="175129"/>
          </a:xfrm>
          <a:prstGeom prst="lef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Oval 29"/>
          <p:cNvSpPr/>
          <p:nvPr/>
        </p:nvSpPr>
        <p:spPr>
          <a:xfrm>
            <a:off x="5143598" y="1055038"/>
            <a:ext cx="459746" cy="4267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 animBg="1"/>
      <p:bldP spid="14" grpId="0"/>
      <p:bldP spid="17" grpId="0" animBg="1"/>
      <p:bldP spid="18" grpId="0" animBg="1"/>
      <p:bldP spid="19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/>
      <p:bldP spid="29" grpId="0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5400000">
            <a:off x="-21195" y="4322"/>
            <a:ext cx="780949" cy="772569"/>
          </a:xfrm>
          <a:prstGeom prst="rt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6200000">
            <a:off x="8367241" y="6067518"/>
            <a:ext cx="780949" cy="772569"/>
          </a:xfrm>
          <a:prstGeom prst="rt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83274" y="-1"/>
            <a:ext cx="7620000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</a:pPr>
            <a:r>
              <a:rPr lang="en-US" sz="2400" b="1" dirty="0">
                <a:sym typeface="+mn-ea"/>
              </a:rPr>
              <a:t>Reverse Engineering </a:t>
            </a:r>
            <a:r>
              <a:rPr lang="en-IN" altLang="en-US" sz="2400" b="1" dirty="0">
                <a:sym typeface="+mn-ea"/>
              </a:rPr>
              <a:t>Vs Un-Packing</a:t>
            </a:r>
          </a:p>
        </p:txBody>
      </p:sp>
      <p:sp>
        <p:nvSpPr>
          <p:cNvPr id="7" name="Right Triangle 6"/>
          <p:cNvSpPr/>
          <p:nvPr/>
        </p:nvSpPr>
        <p:spPr>
          <a:xfrm rot="10800000">
            <a:off x="8417865" y="18177"/>
            <a:ext cx="780949" cy="772569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>
            <a:off x="-4190" y="6083920"/>
            <a:ext cx="780949" cy="772569"/>
          </a:xfrm>
          <a:prstGeom prst="rt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0649" y="6470204"/>
            <a:ext cx="7620000" cy="3811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Dr.  </a:t>
            </a:r>
            <a:r>
              <a:rPr lang="en-US" b="1" dirty="0" err="1"/>
              <a:t>Digvijaysinh</a:t>
            </a:r>
            <a:r>
              <a:rPr lang="en-US" b="1" dirty="0"/>
              <a:t> Rathod</a:t>
            </a:r>
          </a:p>
        </p:txBody>
      </p:sp>
      <p:sp>
        <p:nvSpPr>
          <p:cNvPr id="2" name="Rectangle: Rounded Corners 1"/>
          <p:cNvSpPr/>
          <p:nvPr/>
        </p:nvSpPr>
        <p:spPr>
          <a:xfrm>
            <a:off x="6444208" y="908720"/>
            <a:ext cx="2304256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Mobile Application</a:t>
            </a:r>
          </a:p>
        </p:txBody>
      </p:sp>
      <p:sp>
        <p:nvSpPr>
          <p:cNvPr id="11" name="Rectangle: Rounded Corners 10"/>
          <p:cNvSpPr/>
          <p:nvPr/>
        </p:nvSpPr>
        <p:spPr>
          <a:xfrm>
            <a:off x="570657" y="731461"/>
            <a:ext cx="2304256" cy="2415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 err="1"/>
              <a:t>Classes.dex</a:t>
            </a:r>
            <a:r>
              <a:rPr lang="en-IN" b="1" dirty="0"/>
              <a:t> (file)</a:t>
            </a:r>
          </a:p>
          <a:p>
            <a:r>
              <a:rPr lang="en-IN" b="1" dirty="0"/>
              <a:t>AndroidMainfest.xml (file)</a:t>
            </a:r>
          </a:p>
          <a:p>
            <a:r>
              <a:rPr lang="en-IN" b="1" dirty="0"/>
              <a:t>META-INF (Folder)</a:t>
            </a:r>
          </a:p>
          <a:p>
            <a:r>
              <a:rPr lang="en-IN" b="1" dirty="0"/>
              <a:t>res (Folder)</a:t>
            </a:r>
          </a:p>
          <a:p>
            <a:r>
              <a:rPr lang="en-IN" b="1" dirty="0"/>
              <a:t>assets (Folder)</a:t>
            </a:r>
          </a:p>
          <a:p>
            <a:r>
              <a:rPr lang="en-IN" b="1" dirty="0"/>
              <a:t>lib (folder)</a:t>
            </a:r>
          </a:p>
        </p:txBody>
      </p:sp>
      <p:sp>
        <p:nvSpPr>
          <p:cNvPr id="9" name="Oval 8"/>
          <p:cNvSpPr/>
          <p:nvPr/>
        </p:nvSpPr>
        <p:spPr>
          <a:xfrm>
            <a:off x="3995936" y="811199"/>
            <a:ext cx="1364102" cy="81760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Un-packing</a:t>
            </a:r>
          </a:p>
        </p:txBody>
      </p:sp>
      <p:sp>
        <p:nvSpPr>
          <p:cNvPr id="13" name="Arrow: Left 12"/>
          <p:cNvSpPr/>
          <p:nvPr/>
        </p:nvSpPr>
        <p:spPr>
          <a:xfrm>
            <a:off x="5360038" y="1124744"/>
            <a:ext cx="1084170" cy="144016"/>
          </a:xfrm>
          <a:prstGeom prst="lef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Arrow: Left 13"/>
          <p:cNvSpPr/>
          <p:nvPr/>
        </p:nvSpPr>
        <p:spPr>
          <a:xfrm>
            <a:off x="2882208" y="1147991"/>
            <a:ext cx="1084170" cy="144016"/>
          </a:xfrm>
          <a:prstGeom prst="lef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Arrow: Left 14"/>
          <p:cNvSpPr/>
          <p:nvPr/>
        </p:nvSpPr>
        <p:spPr>
          <a:xfrm flipH="1">
            <a:off x="2901440" y="2420888"/>
            <a:ext cx="1364102" cy="144016"/>
          </a:xfrm>
          <a:prstGeom prst="lef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Heptagon 15"/>
          <p:cNvSpPr/>
          <p:nvPr/>
        </p:nvSpPr>
        <p:spPr>
          <a:xfrm>
            <a:off x="4265542" y="1734185"/>
            <a:ext cx="1504067" cy="1199193"/>
          </a:xfrm>
          <a:prstGeom prst="heptago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But you don’t have source code</a:t>
            </a:r>
          </a:p>
        </p:txBody>
      </p:sp>
      <p:sp>
        <p:nvSpPr>
          <p:cNvPr id="17" name="Rectangle: Rounded Corners 16"/>
          <p:cNvSpPr/>
          <p:nvPr/>
        </p:nvSpPr>
        <p:spPr>
          <a:xfrm>
            <a:off x="6472808" y="3527298"/>
            <a:ext cx="2304256" cy="595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Mobile Application</a:t>
            </a:r>
          </a:p>
        </p:txBody>
      </p:sp>
      <p:sp>
        <p:nvSpPr>
          <p:cNvPr id="18" name="Rectangle: Rounded Corners 17"/>
          <p:cNvSpPr/>
          <p:nvPr/>
        </p:nvSpPr>
        <p:spPr>
          <a:xfrm>
            <a:off x="599257" y="3350039"/>
            <a:ext cx="2304256" cy="24152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 err="1"/>
              <a:t>Classes.dex</a:t>
            </a:r>
            <a:r>
              <a:rPr lang="en-IN" b="1" dirty="0"/>
              <a:t> (file)</a:t>
            </a:r>
          </a:p>
          <a:p>
            <a:r>
              <a:rPr lang="en-IN" b="1" dirty="0"/>
              <a:t>AndroidMainfest.xml (file)</a:t>
            </a:r>
          </a:p>
          <a:p>
            <a:r>
              <a:rPr lang="en-IN" b="1" dirty="0"/>
              <a:t>META-INF (Folder)</a:t>
            </a:r>
          </a:p>
          <a:p>
            <a:r>
              <a:rPr lang="en-IN" b="1" dirty="0"/>
              <a:t>res (Folder)</a:t>
            </a:r>
          </a:p>
          <a:p>
            <a:r>
              <a:rPr lang="en-IN" b="1" dirty="0"/>
              <a:t>assets (Folder)</a:t>
            </a:r>
          </a:p>
          <a:p>
            <a:r>
              <a:rPr lang="en-IN" b="1" dirty="0"/>
              <a:t>lib (folder)</a:t>
            </a:r>
          </a:p>
        </p:txBody>
      </p:sp>
      <p:sp>
        <p:nvSpPr>
          <p:cNvPr id="19" name="Oval 18"/>
          <p:cNvSpPr/>
          <p:nvPr/>
        </p:nvSpPr>
        <p:spPr>
          <a:xfrm>
            <a:off x="4024536" y="3429777"/>
            <a:ext cx="1364102" cy="81760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De-Compilation</a:t>
            </a:r>
          </a:p>
        </p:txBody>
      </p:sp>
      <p:sp>
        <p:nvSpPr>
          <p:cNvPr id="20" name="Arrow: Left 19"/>
          <p:cNvSpPr/>
          <p:nvPr/>
        </p:nvSpPr>
        <p:spPr>
          <a:xfrm>
            <a:off x="5388638" y="3743322"/>
            <a:ext cx="1084170" cy="144016"/>
          </a:xfrm>
          <a:prstGeom prst="lef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Arrow: Left 20"/>
          <p:cNvSpPr/>
          <p:nvPr/>
        </p:nvSpPr>
        <p:spPr>
          <a:xfrm>
            <a:off x="2910808" y="3766569"/>
            <a:ext cx="1084170" cy="144016"/>
          </a:xfrm>
          <a:prstGeom prst="lef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Arrow: Left 21"/>
          <p:cNvSpPr/>
          <p:nvPr/>
        </p:nvSpPr>
        <p:spPr>
          <a:xfrm flipH="1">
            <a:off x="2930040" y="5039466"/>
            <a:ext cx="1364102" cy="144016"/>
          </a:xfrm>
          <a:prstGeom prst="lef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Heptagon 22"/>
          <p:cNvSpPr/>
          <p:nvPr/>
        </p:nvSpPr>
        <p:spPr>
          <a:xfrm>
            <a:off x="4294142" y="4352763"/>
            <a:ext cx="1475467" cy="1380493"/>
          </a:xfrm>
          <a:prstGeom prst="heptago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You don’t have source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  <p:bldP spid="9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395</Words>
  <Application>Microsoft Office PowerPoint</Application>
  <PresentationFormat>On-screen Show (4:3)</PresentationFormat>
  <Paragraphs>107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digvijay</dc:creator>
  <cp:lastModifiedBy>Aastha Thakker</cp:lastModifiedBy>
  <cp:revision>630</cp:revision>
  <dcterms:created xsi:type="dcterms:W3CDTF">2018-03-30T10:15:00Z</dcterms:created>
  <dcterms:modified xsi:type="dcterms:W3CDTF">2026-04-26T17:05:24Z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1033-11.2.0.9684</vt:lpwstr>
  </property>
</Properties>
</file>