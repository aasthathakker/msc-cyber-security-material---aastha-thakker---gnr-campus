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57" r:id="rId2"/>
    <p:sldId id="408" r:id="rId3"/>
    <p:sldId id="446" r:id="rId4"/>
    <p:sldId id="439" r:id="rId5"/>
    <p:sldId id="482" r:id="rId6"/>
    <p:sldId id="442" r:id="rId7"/>
    <p:sldId id="443" r:id="rId8"/>
    <p:sldId id="466" r:id="rId9"/>
    <p:sldId id="483" r:id="rId10"/>
    <p:sldId id="467" r:id="rId11"/>
    <p:sldId id="488" r:id="rId12"/>
    <p:sldId id="496" r:id="rId13"/>
    <p:sldId id="495" r:id="rId14"/>
    <p:sldId id="489" r:id="rId15"/>
    <p:sldId id="490" r:id="rId16"/>
    <p:sldId id="494" r:id="rId17"/>
    <p:sldId id="468" r:id="rId18"/>
    <p:sldId id="469" r:id="rId19"/>
    <p:sldId id="470" r:id="rId20"/>
    <p:sldId id="471" r:id="rId21"/>
    <p:sldId id="472" r:id="rId22"/>
    <p:sldId id="473" r:id="rId23"/>
    <p:sldId id="474" r:id="rId24"/>
    <p:sldId id="475" r:id="rId25"/>
    <p:sldId id="478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3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23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0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5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63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1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9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Intent</a:t>
            </a: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467320"/>
          </a:xfrm>
        </p:spPr>
        <p:txBody>
          <a:bodyPr>
            <a:normAutofit/>
          </a:bodyPr>
          <a:lstStyle/>
          <a:p>
            <a:endParaRPr lang="en-IN" sz="4400" b="1" dirty="0">
              <a:solidFill>
                <a:schemeClr val="tx1"/>
              </a:solidFill>
            </a:endParaRPr>
          </a:p>
          <a:p>
            <a:r>
              <a:rPr lang="en-IN" sz="4400" b="1" dirty="0">
                <a:solidFill>
                  <a:schemeClr val="tx1"/>
                </a:solidFill>
              </a:rPr>
              <a:t>Reference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1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3" y="0"/>
            <a:ext cx="1120496" cy="1428736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5500694" y="2660884"/>
            <a:ext cx="3357586" cy="12144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www.developer.google.com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500694" y="4232520"/>
            <a:ext cx="3429024" cy="12144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https://data-flair.training/blogs/android-service-tutorial/</a:t>
            </a: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944" y="2402428"/>
            <a:ext cx="2686892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488" y="2446570"/>
            <a:ext cx="2448240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 are two types of intents: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Explicit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This intent satisfies the request within the application component. It takes the fully qualified class name of activities or services that we want to start.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Implicit Intent: 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intent does not specify the component name. It invokes the component of another app to handle it.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3929066"/>
            <a:ext cx="6410325" cy="2405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Intent – </a:t>
            </a: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Communication object.</a:t>
            </a:r>
          </a:p>
          <a:p>
            <a:pPr lvl="1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Intent Filter tells Android that which activity handle which action.</a:t>
            </a:r>
          </a:p>
          <a:p>
            <a:pPr lvl="1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Whenever Android is given an Intent, It has to figure out which activity or activities can  handles it. </a:t>
            </a:r>
          </a:p>
          <a:p>
            <a:pPr lvl="1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process is known as Intent Resolution.</a:t>
            </a:r>
          </a:p>
          <a:p>
            <a:pPr lvl="1">
              <a:lnSpc>
                <a:spcPct val="150000"/>
              </a:lnSpc>
            </a:pPr>
            <a:endParaRPr lang="en-IN" sz="2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/>
              <a:t>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 are two types of intents: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Explicit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This intent satisfies the request within the application component. It takes the fully qualified class name of activities or services that we want to start.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Syntax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Starting the Activity 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US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	Intent </a:t>
            </a:r>
            <a:r>
              <a:rPr lang="en-US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</a:t>
            </a:r>
            <a:r>
              <a:rPr lang="en-US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 = new Intent(</a:t>
            </a:r>
            <a:r>
              <a:rPr lang="en-US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getApplicationContext</a:t>
            </a:r>
            <a:r>
              <a:rPr lang="en-US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(), </a:t>
            </a:r>
            <a:r>
              <a:rPr lang="en-US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ActivityTwo.class</a:t>
            </a:r>
            <a:r>
              <a:rPr lang="en-US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);  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US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startActivity</a:t>
            </a:r>
            <a:r>
              <a:rPr lang="en-US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(intent);  </a:t>
            </a:r>
          </a:p>
          <a:p>
            <a:pPr marL="1371600" lvl="2" indent="-457200" algn="just">
              <a:lnSpc>
                <a:spcPct val="150000"/>
              </a:lnSpc>
            </a:pPr>
            <a:endParaRPr lang="en-US" sz="2200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 algn="just">
              <a:lnSpc>
                <a:spcPct val="150000"/>
              </a:lnSpc>
            </a:pPr>
            <a:endParaRPr lang="en-US" sz="2200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 are two types of intents: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Syntax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Starting the Service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 </a:t>
            </a:r>
            <a:r>
              <a:rPr lang="en-US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</a:t>
            </a:r>
            <a:r>
              <a:rPr lang="en-US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= new Intent(this, </a:t>
            </a:r>
            <a:r>
              <a:rPr lang="en-US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HelloService.class</a:t>
            </a:r>
            <a:r>
              <a:rPr lang="en-US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);</a:t>
            </a:r>
            <a:br>
              <a:rPr lang="en-US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startService</a:t>
            </a:r>
            <a:r>
              <a:rPr lang="en-US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(intent);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Syntax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Delivering Broadcast Receive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IN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 </a:t>
            </a:r>
            <a:r>
              <a:rPr lang="en-IN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</a:t>
            </a:r>
            <a:r>
              <a:rPr lang="en-IN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= new Intent (“unique name”);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IN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context.sendBroadcast</a:t>
            </a:r>
            <a:r>
              <a:rPr lang="en-IN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(intent);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US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1371600" lvl="2" indent="-457200" algn="just">
              <a:lnSpc>
                <a:spcPct val="150000"/>
              </a:lnSpc>
            </a:pPr>
            <a:endParaRPr lang="en-US" sz="2200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671896"/>
            <a:ext cx="8532440" cy="5467320"/>
          </a:xfrm>
        </p:spPr>
        <p:txBody>
          <a:bodyPr>
            <a:noAutofit/>
          </a:bodyPr>
          <a:lstStyle/>
          <a:p>
            <a:pPr lvl="2" algn="just">
              <a:lnSpc>
                <a:spcPct val="150000"/>
              </a:lnSpc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Implicit Intent: 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intent does not specify the component name. It invokes the component of another app to handle it.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Syntax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Starting the Activity 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FR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</a:t>
            </a:r>
            <a:r>
              <a:rPr lang="fr-FR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</a:t>
            </a:r>
            <a:r>
              <a:rPr lang="fr-FR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= new </a:t>
            </a:r>
            <a:r>
              <a:rPr lang="fr-FR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</a:t>
            </a:r>
            <a:r>
              <a:rPr lang="fr-FR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fr-FR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FR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intent.setAction</a:t>
            </a:r>
            <a:r>
              <a:rPr lang="fr-FR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=(</a:t>
            </a:r>
            <a:r>
              <a:rPr lang="fr-FR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Intent.ACTION_DIAL</a:t>
            </a:r>
            <a:r>
              <a:rPr lang="fr-FR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fr-FR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FR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intent.setAction</a:t>
            </a:r>
            <a:r>
              <a:rPr lang="fr-FR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=(</a:t>
            </a:r>
            <a:r>
              <a:rPr lang="fr-FR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Intent.ACTION_VIEW</a:t>
            </a:r>
            <a:r>
              <a:rPr lang="fr-FR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fr-FR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FR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intent.setAction</a:t>
            </a:r>
            <a:r>
              <a:rPr lang="fr-FR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=(</a:t>
            </a:r>
            <a:r>
              <a:rPr lang="fr-FR" sz="22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Intent.ACTION_CALL</a:t>
            </a:r>
            <a:r>
              <a:rPr lang="fr-FR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1371600" lvl="2" indent="-457200" algn="just">
              <a:lnSpc>
                <a:spcPct val="150000"/>
              </a:lnSpc>
            </a:pPr>
            <a:endParaRPr lang="fr-FR" sz="2200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 algn="just">
              <a:lnSpc>
                <a:spcPct val="150000"/>
              </a:lnSpc>
            </a:pPr>
            <a:endParaRPr lang="fr-FR" sz="2200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 algn="just">
              <a:lnSpc>
                <a:spcPct val="150000"/>
              </a:lnSpc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 algn="just">
              <a:lnSpc>
                <a:spcPct val="150000"/>
              </a:lnSpc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1371600" lvl="2" indent="-457200" algn="just">
              <a:lnSpc>
                <a:spcPct val="150000"/>
              </a:lnSpc>
            </a:pPr>
            <a:endParaRPr lang="fr-FR" sz="2200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 algn="just">
              <a:lnSpc>
                <a:spcPct val="150000"/>
              </a:lnSpc>
            </a:pPr>
            <a:endParaRPr lang="fr-FR" sz="2200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 algn="just">
              <a:lnSpc>
                <a:spcPct val="150000"/>
              </a:lnSpc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 algn="just">
              <a:lnSpc>
                <a:spcPct val="150000"/>
              </a:lnSpc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785794"/>
            <a:ext cx="8034709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4189" y="671896"/>
            <a:ext cx="8362404" cy="5467320"/>
          </a:xfrm>
        </p:spPr>
        <p:txBody>
          <a:bodyPr>
            <a:noAutofit/>
          </a:bodyPr>
          <a:lstStyle/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Demonstration of two project (</a:t>
            </a:r>
            <a:r>
              <a:rPr lang="en-IN" sz="2600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Intro_demo_android_master</a:t>
            </a:r>
            <a:r>
              <a:rPr lang="en-IN" sz="26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1828800" lvl="3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Explicit Intent </a:t>
            </a:r>
          </a:p>
          <a:p>
            <a:pPr marL="1828800" lvl="3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Implicit Intent</a:t>
            </a:r>
            <a:endParaRPr lang="en-US" sz="22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785786" y="5786454"/>
            <a:ext cx="7715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Ref: https://github.com/codepath/intro_android_demo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Intent Component</a:t>
            </a:r>
          </a:p>
          <a:p>
            <a:pPr lvl="1">
              <a:lnSpc>
                <a:spcPct val="150000"/>
              </a:lnSpc>
            </a:pPr>
            <a:r>
              <a:rPr lang="en-IN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&amp; </a:t>
            </a:r>
          </a:p>
          <a:p>
            <a:pPr lvl="1">
              <a:lnSpc>
                <a:spcPct val="150000"/>
              </a:lnSpc>
            </a:pPr>
            <a:r>
              <a:rPr lang="en-IN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Intent Filter</a:t>
            </a: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1371600" lvl="2" indent="-457200" algn="just">
              <a:lnSpc>
                <a:spcPct val="150000"/>
              </a:lnSpc>
            </a:pP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FR" sz="18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</a:t>
            </a:r>
            <a:r>
              <a:rPr lang="fr-FR" sz="1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8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</a:t>
            </a:r>
            <a:r>
              <a:rPr lang="fr-FR" sz="1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= new </a:t>
            </a:r>
            <a:r>
              <a:rPr lang="fr-FR" sz="18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</a:t>
            </a:r>
            <a:r>
              <a:rPr lang="fr-FR" sz="1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fr-FR" sz="1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FR" sz="18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intent.setAction</a:t>
            </a:r>
            <a:r>
              <a:rPr lang="fr-FR" sz="1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=(</a:t>
            </a:r>
            <a:r>
              <a:rPr lang="fr-FR" sz="18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Intent.ACTION_DIAL</a:t>
            </a:r>
            <a:r>
              <a:rPr lang="fr-FR" sz="1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fr-FR" sz="1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FR" sz="18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intent.setAction</a:t>
            </a:r>
            <a:r>
              <a:rPr lang="fr-FR" sz="1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=(</a:t>
            </a:r>
            <a:r>
              <a:rPr lang="fr-FR" sz="18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Intent.ACTION_VIEW</a:t>
            </a:r>
            <a:r>
              <a:rPr lang="fr-FR" sz="1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fr-FR" sz="1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FR" sz="18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intent.setAction</a:t>
            </a:r>
            <a:r>
              <a:rPr lang="fr-FR" sz="1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=(</a:t>
            </a:r>
            <a:r>
              <a:rPr lang="fr-FR" sz="18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Intent.ACTION_CALL</a:t>
            </a:r>
            <a:r>
              <a:rPr lang="fr-FR" sz="1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fr-FR" sz="22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1371600" lvl="2" indent="-457200" algn="just">
              <a:lnSpc>
                <a:spcPct val="150000"/>
              </a:lnSpc>
            </a:pPr>
            <a:endParaRPr lang="fr-FR" sz="2200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 algn="just">
              <a:lnSpc>
                <a:spcPct val="150000"/>
              </a:lnSpc>
            </a:pPr>
            <a:endParaRPr lang="fr-FR" sz="2200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 algn="just">
              <a:lnSpc>
                <a:spcPct val="150000"/>
              </a:lnSpc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 algn="just">
              <a:lnSpc>
                <a:spcPct val="150000"/>
              </a:lnSpc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643182"/>
            <a:ext cx="6000792" cy="3681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7686" y="1214422"/>
            <a:ext cx="4786314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357298"/>
            <a:ext cx="4143404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240" y="2786058"/>
            <a:ext cx="4371975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1888" y="4286256"/>
            <a:ext cx="4429124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4" name="Straight Arrow Connector 23"/>
          <p:cNvCxnSpPr/>
          <p:nvPr/>
        </p:nvCxnSpPr>
        <p:spPr>
          <a:xfrm flipV="1">
            <a:off x="2786050" y="4573596"/>
            <a:ext cx="1857388" cy="21272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643174" y="2000240"/>
            <a:ext cx="1785950" cy="21431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71896"/>
            <a:ext cx="8892480" cy="5467320"/>
          </a:xfrm>
        </p:spPr>
        <p:txBody>
          <a:bodyPr>
            <a:noAutofit/>
          </a:bodyPr>
          <a:lstStyle/>
          <a:p>
            <a:pPr marL="1371600" lvl="2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Intent Filters</a:t>
            </a:r>
          </a:p>
          <a:p>
            <a:pPr marL="1828800" lvl="3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Basically, Intent Filters can define the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behavior of Intents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using three Elements, that are-</a:t>
            </a:r>
          </a:p>
          <a:p>
            <a:pPr marL="1828800" lvl="3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&lt;actions&gt; – Action name defines the intent action that it’ll accept.</a:t>
            </a:r>
          </a:p>
          <a:p>
            <a:pPr marL="1828800" lvl="3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&lt;data&gt; – Data defines the data that is acceptable.</a:t>
            </a:r>
          </a:p>
          <a:p>
            <a:pPr marL="1828800" lvl="3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&lt;category&gt; – Category defines the name of the Intent Category that is acceptable.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71896"/>
            <a:ext cx="8915399" cy="5467320"/>
          </a:xfrm>
        </p:spPr>
        <p:txBody>
          <a:bodyPr>
            <a:noAutofit/>
          </a:bodyPr>
          <a:lstStyle/>
          <a:p>
            <a:pPr marL="1371600" lvl="2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Intent Filters</a:t>
            </a:r>
          </a:p>
          <a:p>
            <a:pPr marL="1828800" lvl="3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You have seen how an Intent has been used to call an another activity. </a:t>
            </a:r>
          </a:p>
          <a:p>
            <a:pPr marL="1828800" lvl="3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OS uses filters to pinpoint the set of Activities, Services, and Broadcast receivers that can handle the Intent with help of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specified set of action, categories, data scheme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associated with an Intent. </a:t>
            </a:r>
          </a:p>
          <a:p>
            <a:pPr marL="1828800" lvl="3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You will use 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&lt;intent-filter&gt; 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element in the manifest file to list down actions, categories and data types associated with any activity, service, or broadcast receiver.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Intent Filters</a:t>
            </a:r>
          </a:p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Demo (</a:t>
            </a:r>
            <a:r>
              <a:rPr lang="en-IN" sz="26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IntentFilter_demo</a:t>
            </a:r>
            <a:r>
              <a:rPr lang="en-IN" sz="26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Intent object contains the following six things :</a:t>
            </a:r>
          </a:p>
          <a:p>
            <a:pPr marL="1828800" lvl="3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Component Name</a:t>
            </a:r>
          </a:p>
          <a:p>
            <a:pPr marL="1828800" lvl="3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Action</a:t>
            </a:r>
          </a:p>
          <a:p>
            <a:pPr marL="1828800" lvl="3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</a:t>
            </a:r>
          </a:p>
          <a:p>
            <a:pPr marL="1828800" lvl="3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Category</a:t>
            </a:r>
          </a:p>
          <a:p>
            <a:pPr marL="1828800" lvl="3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Extras</a:t>
            </a:r>
          </a:p>
          <a:p>
            <a:pPr marL="1828800" lvl="3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Flag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82229"/>
            <a:ext cx="9144000" cy="5467320"/>
          </a:xfrm>
        </p:spPr>
        <p:txBody>
          <a:bodyPr>
            <a:noAutofit/>
          </a:bodyPr>
          <a:lstStyle/>
          <a:p>
            <a:pPr lvl="2" algn="l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Intent object contains the following six things :</a:t>
            </a:r>
          </a:p>
          <a:p>
            <a:pPr marL="1828800" lvl="3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Component Name: </a:t>
            </a:r>
          </a:p>
          <a:p>
            <a:pPr marL="1828800" lvl="3" indent="-457200" algn="l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The intent object holds the name of the component of the Android application. Using component names, the system delivers an intent to a particular application component.</a:t>
            </a:r>
          </a:p>
          <a:p>
            <a:pPr marL="2286000" lvl="4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setComponent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2286000" lvl="4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setClass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2286000" lvl="4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setClassName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2286000" lvl="4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Demo of the application (ImplicitIntentOne.apk)</a:t>
            </a:r>
            <a:endParaRPr lang="en-US" sz="22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368565" y="-11721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785786" y="5786454"/>
            <a:ext cx="76438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Ref: https://www.codota.com/code/java/methods/android.content.Intent/setComponent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7005" y="678249"/>
            <a:ext cx="8546121" cy="5467320"/>
          </a:xfrm>
        </p:spPr>
        <p:txBody>
          <a:bodyPr>
            <a:noAutofit/>
          </a:bodyPr>
          <a:lstStyle/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Intent object contains the following six things :</a:t>
            </a:r>
          </a:p>
          <a:p>
            <a:pPr marL="1828800" lvl="3" indent="-4572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Action</a:t>
            </a:r>
          </a:p>
          <a:p>
            <a:pPr marL="1828800" lvl="3" indent="-457200" algn="just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Action defines the general task that is to be performed on components. Now, these actions directly target Activities, Services or Broadcast Receivers. Let’s see a few actions that an intent object stores:</a:t>
            </a:r>
            <a:endParaRPr lang="en-US" sz="22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1" y="676934"/>
            <a:ext cx="8546121" cy="5467320"/>
          </a:xfrm>
        </p:spPr>
        <p:txBody>
          <a:bodyPr>
            <a:noAutofit/>
          </a:bodyPr>
          <a:lstStyle/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Intent object contains the following six things :</a:t>
            </a:r>
          </a:p>
          <a:p>
            <a:pPr marL="1828800" lvl="3" indent="-4572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Action</a:t>
            </a:r>
          </a:p>
          <a:p>
            <a:pPr marL="1828800" lvl="3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ACTION_VIEW content://contacts/people/1 -- Display information about the person whose identifier is "1".</a:t>
            </a:r>
          </a:p>
          <a:p>
            <a:pPr marL="1828800" lvl="3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ACTION_DIAL content://contacts/people/1 -- Display the phone dialer with the person filled in.</a:t>
            </a:r>
          </a:p>
          <a:p>
            <a:pPr marL="1828800" lvl="3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ACTION_DIAL tel:123 -- Display the phone dialer with the given number filled in.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857224" y="6072206"/>
            <a:ext cx="75009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Ref: https://developer.android.com/reference/android/content/Intent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7004" y="604626"/>
            <a:ext cx="8434870" cy="5467320"/>
          </a:xfrm>
        </p:spPr>
        <p:txBody>
          <a:bodyPr>
            <a:noAutofit/>
          </a:bodyPr>
          <a:lstStyle/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Intent object contains the following six things :</a:t>
            </a:r>
          </a:p>
          <a:p>
            <a:pPr marL="1828800" lvl="3" indent="-4572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Action</a:t>
            </a:r>
          </a:p>
          <a:p>
            <a:pPr marL="1828800" lvl="3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ACTION_VIEW tel:123 -- Display the phone dialer with the given number filled in. Note how the VIEW action does what is considered the most reasonable thing for a particular URI.</a:t>
            </a:r>
          </a:p>
          <a:p>
            <a:pPr marL="1828800" lvl="3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ACTION_EDIT content://contacts/people/1 -- Edit information about the person whose identifier is "1".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8521" y="672394"/>
            <a:ext cx="8526385" cy="5467320"/>
          </a:xfrm>
        </p:spPr>
        <p:txBody>
          <a:bodyPr>
            <a:noAutofit/>
          </a:bodyPr>
          <a:lstStyle/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Intent object contains the following six things :</a:t>
            </a:r>
          </a:p>
          <a:p>
            <a:pPr marL="1828800" lvl="3" indent="-4572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Action</a:t>
            </a:r>
          </a:p>
          <a:p>
            <a:pPr marL="1828800" lvl="3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ACTION_VIEW content://contacts/people/ -- Display a list of people, which the user can browse through. This example is a typical top-level entry into the Contacts application, showing you the list of people.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371431" y="-11579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60" y="658983"/>
            <a:ext cx="8546121" cy="5467320"/>
          </a:xfrm>
        </p:spPr>
        <p:txBody>
          <a:bodyPr>
            <a:noAutofit/>
          </a:bodyPr>
          <a:lstStyle/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Intent object contains the following six things :</a:t>
            </a:r>
          </a:p>
          <a:p>
            <a:pPr marL="1885950" lvl="3" indent="-51435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Category</a:t>
            </a:r>
          </a:p>
          <a:p>
            <a:pPr marL="1828800" lvl="3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contains some additional information about what kind of object should hold the intent. An intent object can contain any number of type of categories. </a:t>
            </a:r>
          </a:p>
          <a:p>
            <a:pPr marL="1828800" lvl="3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field is optional in an </a:t>
            </a: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IntentObject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80528" y="655555"/>
            <a:ext cx="9134040" cy="5467320"/>
          </a:xfrm>
        </p:spPr>
        <p:txBody>
          <a:bodyPr>
            <a:noAutofit/>
          </a:bodyPr>
          <a:lstStyle/>
          <a:p>
            <a:pPr marL="1371600" lvl="2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Intent object contains the following six things :</a:t>
            </a:r>
          </a:p>
          <a:p>
            <a:pPr marL="1885950" lvl="3" indent="-514350" algn="l">
              <a:lnSpc>
                <a:spcPct val="150000"/>
              </a:lnSpc>
              <a:buFont typeface="+mj-lt"/>
              <a:buAutoNum type="arabicPeriod" startAt="3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Category : 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Some of the categories included are as follows :</a:t>
            </a:r>
          </a:p>
          <a:p>
            <a:pPr marL="1828800" lvl="3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BROWSABLE: The target components can be invoked in browsers to display data or message.</a:t>
            </a:r>
          </a:p>
          <a:p>
            <a:pPr marL="1828800" lvl="3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ALTERNATIVE: This means the component should be added in the list of alternative actions that the user performs on some data.</a:t>
            </a:r>
          </a:p>
          <a:p>
            <a:pPr marL="1828800" lvl="3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GADGET: This activity can be added inside some other components that host the gadgets.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Intent object contains the following six things :</a:t>
            </a:r>
          </a:p>
          <a:p>
            <a:pPr marL="1885950" lvl="3" indent="-51435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Category : 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Some of the categories included are as follows :</a:t>
            </a:r>
          </a:p>
          <a:p>
            <a:pPr marL="1828800" lvl="3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HOME: This displays the home page of the user’s device.</a:t>
            </a:r>
          </a:p>
          <a:p>
            <a:pPr marL="1828800" lvl="3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LAUNCHER: The target can be an initial task and listed on the top of the application launcher.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32644</TotalTime>
  <Words>1299</Words>
  <Application>Microsoft Office PowerPoint</Application>
  <PresentationFormat>On-screen Show (4:3)</PresentationFormat>
  <Paragraphs>188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594</cp:revision>
  <dcterms:created xsi:type="dcterms:W3CDTF">2018-03-30T10:15:50Z</dcterms:created>
  <dcterms:modified xsi:type="dcterms:W3CDTF">2026-04-26T12:52:35Z</dcterms:modified>
</cp:coreProperties>
</file>