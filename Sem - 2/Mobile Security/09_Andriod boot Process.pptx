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57" r:id="rId2"/>
    <p:sldId id="408" r:id="rId3"/>
    <p:sldId id="404" r:id="rId4"/>
    <p:sldId id="442" r:id="rId5"/>
    <p:sldId id="500" r:id="rId6"/>
    <p:sldId id="501" r:id="rId7"/>
    <p:sldId id="503" r:id="rId8"/>
    <p:sldId id="504" r:id="rId9"/>
    <p:sldId id="505" r:id="rId10"/>
    <p:sldId id="506" r:id="rId11"/>
    <p:sldId id="508" r:id="rId12"/>
    <p:sldId id="51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Fork new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54D4B-AC91-4CBF-9F06-E2874E0FB78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90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3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23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0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5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63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11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9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Institute of Forensic Science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Gujarat Forensic Sciences University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82015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9000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boot process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467320"/>
          </a:xfrm>
        </p:spPr>
        <p:txBody>
          <a:bodyPr>
            <a:normAutofit/>
          </a:bodyPr>
          <a:lstStyle/>
          <a:p>
            <a:endParaRPr lang="en-IN" sz="4400" b="1" dirty="0">
              <a:solidFill>
                <a:schemeClr val="tx1"/>
              </a:solidFill>
            </a:endParaRPr>
          </a:p>
          <a:p>
            <a:r>
              <a:rPr lang="en-IN" sz="4400" b="1" dirty="0">
                <a:solidFill>
                  <a:schemeClr val="tx1"/>
                </a:solidFill>
              </a:rPr>
              <a:t>Reference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1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3" y="0"/>
            <a:ext cx="1120496" cy="1428736"/>
          </a:xfrm>
          <a:prstGeom prst="rect">
            <a:avLst/>
          </a:prstGeom>
          <a:noFill/>
        </p:spPr>
      </p:pic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2285992"/>
            <a:ext cx="3436155" cy="4143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628" y="2214554"/>
            <a:ext cx="3328985" cy="4152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1588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52536" y="548433"/>
            <a:ext cx="9289032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an Android device is first powered on, there is a sequence of steps that are executed, helping the device to load necessary firmware, OS, application data, and so on into memory. The sequence of steps are: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Boot ROM code execution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The boot loader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The Linux kernel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4. The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process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5. Zygote and Dalvik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6. The system server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boot process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boot process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CE7A52BD-A5B5-46E0-9245-BBB6C72DE3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0B2668-2F3C-4D18-A678-5C29A1867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42" y="781081"/>
            <a:ext cx="7527744" cy="530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4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boot process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252F0F0-D8E6-4D0C-B71B-179C04574B6F}"/>
              </a:ext>
            </a:extLst>
          </p:cNvPr>
          <p:cNvSpPr/>
          <p:nvPr/>
        </p:nvSpPr>
        <p:spPr>
          <a:xfrm>
            <a:off x="323528" y="980728"/>
            <a:ext cx="1656184" cy="595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Android Power On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F90D6D8-5E7C-4FB3-8D1B-5E9C31D9D9F7}"/>
              </a:ext>
            </a:extLst>
          </p:cNvPr>
          <p:cNvSpPr/>
          <p:nvPr/>
        </p:nvSpPr>
        <p:spPr>
          <a:xfrm>
            <a:off x="2699792" y="980728"/>
            <a:ext cx="1656184" cy="595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Boot ROM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9DFE51-375D-4EC6-93ED-FC95C1D3ABF8}"/>
              </a:ext>
            </a:extLst>
          </p:cNvPr>
          <p:cNvCxnSpPr>
            <a:stCxn id="2" idx="3"/>
            <a:endCxn id="12" idx="1"/>
          </p:cNvCxnSpPr>
          <p:nvPr/>
        </p:nvCxnSpPr>
        <p:spPr>
          <a:xfrm>
            <a:off x="1979712" y="1278601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3C1DBC-ACCC-4770-B6F2-A89E2E56E5A7}"/>
              </a:ext>
            </a:extLst>
          </p:cNvPr>
          <p:cNvSpPr txBox="1"/>
          <p:nvPr/>
        </p:nvSpPr>
        <p:spPr>
          <a:xfrm>
            <a:off x="1983239" y="914175"/>
            <a:ext cx="72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Starts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75B0984-B803-4DE1-9AE8-E3D22A0FD47F}"/>
              </a:ext>
            </a:extLst>
          </p:cNvPr>
          <p:cNvSpPr/>
          <p:nvPr/>
        </p:nvSpPr>
        <p:spPr>
          <a:xfrm>
            <a:off x="5610614" y="682855"/>
            <a:ext cx="2129738" cy="595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device hardware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B3BE081-D50D-4C36-B029-F237E5C2E864}"/>
              </a:ext>
            </a:extLst>
          </p:cNvPr>
          <p:cNvSpPr/>
          <p:nvPr/>
        </p:nvSpPr>
        <p:spPr>
          <a:xfrm>
            <a:off x="5610614" y="1365710"/>
            <a:ext cx="2273754" cy="14872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r>
              <a:rPr lang="en-IN" b="1" dirty="0"/>
              <a:t>Boot ROM scan till it  detect and finds boot media</a:t>
            </a:r>
          </a:p>
          <a:p>
            <a:pPr marL="342900" indent="-342900" algn="ctr">
              <a:buAutoNum type="arabicPeriod"/>
            </a:pPr>
            <a:r>
              <a:rPr lang="en-IN" b="1" dirty="0"/>
              <a:t>Boot Code</a:t>
            </a:r>
          </a:p>
          <a:p>
            <a:pPr marL="342900" indent="-342900" algn="ctr">
              <a:buAutoNum type="arabicPeriod"/>
            </a:pPr>
            <a:r>
              <a:rPr lang="en-IN" b="1" dirty="0"/>
              <a:t>File System </a:t>
            </a:r>
          </a:p>
          <a:p>
            <a:pPr algn="ctr"/>
            <a:r>
              <a:rPr lang="en-IN" b="1" dirty="0"/>
              <a:t> </a:t>
            </a:r>
            <a:br>
              <a:rPr lang="en-IN" b="1" dirty="0"/>
            </a:br>
            <a:endParaRPr lang="en-IN" b="1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CE85B74E-10EA-4C7D-8996-BB26346667F9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4355976" y="980728"/>
            <a:ext cx="1254638" cy="2978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589E574-79AD-4E84-B2BD-A1062103D966}"/>
              </a:ext>
            </a:extLst>
          </p:cNvPr>
          <p:cNvSpPr txBox="1"/>
          <p:nvPr/>
        </p:nvSpPr>
        <p:spPr>
          <a:xfrm>
            <a:off x="4345660" y="612709"/>
            <a:ext cx="107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initializes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E79FA13-E247-4D5F-992C-0F9187AEB7F3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345660" y="1304135"/>
            <a:ext cx="1264954" cy="80518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1258CB3-1BE7-46BE-8022-D3E7E933D57C}"/>
              </a:ext>
            </a:extLst>
          </p:cNvPr>
          <p:cNvSpPr/>
          <p:nvPr/>
        </p:nvSpPr>
        <p:spPr>
          <a:xfrm>
            <a:off x="5698358" y="3396145"/>
            <a:ext cx="2129738" cy="595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boot sequence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459D7EA-98E3-4E2D-A2C6-4431498F856A}"/>
              </a:ext>
            </a:extLst>
          </p:cNvPr>
          <p:cNvCxnSpPr>
            <a:stCxn id="16" idx="2"/>
            <a:endCxn id="29" idx="0"/>
          </p:cNvCxnSpPr>
          <p:nvPr/>
        </p:nvCxnSpPr>
        <p:spPr>
          <a:xfrm>
            <a:off x="6747491" y="2852936"/>
            <a:ext cx="15736" cy="5432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407F585-54E7-4973-B98E-523A0019D684}"/>
              </a:ext>
            </a:extLst>
          </p:cNvPr>
          <p:cNvSpPr txBox="1"/>
          <p:nvPr/>
        </p:nvSpPr>
        <p:spPr>
          <a:xfrm>
            <a:off x="6948264" y="2939874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Established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1FE43B5-2C38-4252-AC56-333ACE94FD73}"/>
              </a:ext>
            </a:extLst>
          </p:cNvPr>
          <p:cNvSpPr/>
          <p:nvPr/>
        </p:nvSpPr>
        <p:spPr>
          <a:xfrm>
            <a:off x="2442262" y="2327818"/>
            <a:ext cx="2129738" cy="595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boot loader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7F3208E-F30D-4159-BBDE-90B4AE7394B9}"/>
              </a:ext>
            </a:extLst>
          </p:cNvPr>
          <p:cNvCxnSpPr>
            <a:cxnSpLocks/>
          </p:cNvCxnSpPr>
          <p:nvPr/>
        </p:nvCxnSpPr>
        <p:spPr>
          <a:xfrm>
            <a:off x="3527884" y="1594569"/>
            <a:ext cx="3886" cy="7337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826A4712-20B8-4358-8719-856527345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243509"/>
              </p:ext>
            </p:extLst>
          </p:nvPr>
        </p:nvGraphicFramePr>
        <p:xfrm>
          <a:off x="2466812" y="3641989"/>
          <a:ext cx="2273754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3754">
                  <a:extLst>
                    <a:ext uri="{9D8B030D-6E8A-4147-A177-3AD203B41FA5}">
                      <a16:colId xmlns:a16="http://schemas.microsoft.com/office/drawing/2014/main" val="973304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Physical Memory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45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Boot ROM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546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Internal 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510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External 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446396"/>
                  </a:ext>
                </a:extLst>
              </a:tr>
            </a:tbl>
          </a:graphicData>
        </a:graphic>
      </p:graphicFrame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A7A38EB-999D-4DA6-9E7F-B34C5273C562}"/>
              </a:ext>
            </a:extLst>
          </p:cNvPr>
          <p:cNvCxnSpPr>
            <a:cxnSpLocks/>
          </p:cNvCxnSpPr>
          <p:nvPr/>
        </p:nvCxnSpPr>
        <p:spPr>
          <a:xfrm>
            <a:off x="3575253" y="2923564"/>
            <a:ext cx="3886" cy="7337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6D9F5E85-D2AB-4E5B-8799-EAAB4954316F}"/>
              </a:ext>
            </a:extLst>
          </p:cNvPr>
          <p:cNvSpPr/>
          <p:nvPr/>
        </p:nvSpPr>
        <p:spPr>
          <a:xfrm>
            <a:off x="2699792" y="1438775"/>
            <a:ext cx="391230" cy="4355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12CA227-270A-4F95-B26F-93EB7E1BEEEF}"/>
              </a:ext>
            </a:extLst>
          </p:cNvPr>
          <p:cNvSpPr/>
          <p:nvPr/>
        </p:nvSpPr>
        <p:spPr>
          <a:xfrm>
            <a:off x="2442262" y="2722090"/>
            <a:ext cx="391230" cy="4355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34CB4A-592D-42F6-AC37-3330DB8F8B84}"/>
              </a:ext>
            </a:extLst>
          </p:cNvPr>
          <p:cNvSpPr txBox="1"/>
          <p:nvPr/>
        </p:nvSpPr>
        <p:spPr>
          <a:xfrm>
            <a:off x="3695034" y="3124540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Copied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7B9A99-CD79-4012-8CAF-D68583A12D69}"/>
              </a:ext>
            </a:extLst>
          </p:cNvPr>
          <p:cNvSpPr txBox="1"/>
          <p:nvPr/>
        </p:nvSpPr>
        <p:spPr>
          <a:xfrm>
            <a:off x="1331640" y="5096059"/>
            <a:ext cx="48826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execution shifts to the code loaded into the RAM. 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2966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08520" y="671896"/>
            <a:ext cx="9023919" cy="3333168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boot loader is a piece of program that is executed before the operating system starts to function.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 are two stages—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initial program load (IPL) </a:t>
            </a:r>
          </a:p>
          <a:p>
            <a:pPr lvl="2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second program load (SPL).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boot process – Boot Loader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316409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boot process – Boot Loader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A9C1F6-2B34-4CC7-8844-B3D6631A10FB}"/>
              </a:ext>
            </a:extLst>
          </p:cNvPr>
          <p:cNvSpPr/>
          <p:nvPr/>
        </p:nvSpPr>
        <p:spPr>
          <a:xfrm>
            <a:off x="1119820" y="1355748"/>
            <a:ext cx="1080120" cy="595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IPL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1F447DF-D2CB-4EBB-9D29-B0F435893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214630"/>
              </p:ext>
            </p:extLst>
          </p:nvPr>
        </p:nvGraphicFramePr>
        <p:xfrm>
          <a:off x="3208052" y="1084093"/>
          <a:ext cx="2273754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3754">
                  <a:extLst>
                    <a:ext uri="{9D8B030D-6E8A-4147-A177-3AD203B41FA5}">
                      <a16:colId xmlns:a16="http://schemas.microsoft.com/office/drawing/2014/main" val="973304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Physical Memory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45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Boot ROM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546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Internal 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510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External 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446396"/>
                  </a:ext>
                </a:extLst>
              </a:tr>
            </a:tbl>
          </a:graphicData>
        </a:graphic>
      </p:graphicFrame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BEDD573-7B65-471E-9ABF-254A103CEC8D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2199940" y="1653619"/>
            <a:ext cx="995866" cy="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C7A39A5-D936-49FE-871D-FC4F7BC4A572}"/>
              </a:ext>
            </a:extLst>
          </p:cNvPr>
          <p:cNvSpPr txBox="1"/>
          <p:nvPr/>
        </p:nvSpPr>
        <p:spPr>
          <a:xfrm>
            <a:off x="1068429" y="957205"/>
            <a:ext cx="2127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Detecting and set up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F9FDA99-03CE-44BF-BB4C-EEE28E760FDE}"/>
              </a:ext>
            </a:extLst>
          </p:cNvPr>
          <p:cNvSpPr/>
          <p:nvPr/>
        </p:nvSpPr>
        <p:spPr>
          <a:xfrm>
            <a:off x="7049034" y="1890122"/>
            <a:ext cx="1080120" cy="595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SPL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9F8E30A-BB6D-4484-8A42-EE2D11F5F770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 flipV="1">
            <a:off x="5462960" y="2187995"/>
            <a:ext cx="1586074" cy="18539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E536500-211E-4D36-9BD3-C9DED76E2807}"/>
              </a:ext>
            </a:extLst>
          </p:cNvPr>
          <p:cNvSpPr txBox="1"/>
          <p:nvPr/>
        </p:nvSpPr>
        <p:spPr>
          <a:xfrm>
            <a:off x="6042519" y="1821967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Copied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0891AD-F8F4-4401-A4E6-0D0347DF0E82}"/>
              </a:ext>
            </a:extLst>
          </p:cNvPr>
          <p:cNvSpPr/>
          <p:nvPr/>
        </p:nvSpPr>
        <p:spPr>
          <a:xfrm>
            <a:off x="3195806" y="2536724"/>
            <a:ext cx="24605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TimesNewRomanPSMT"/>
              </a:rPr>
              <a:t>Execution is transferred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7048DD7-DF41-4862-92D1-B94AE0A8A31A}"/>
              </a:ext>
            </a:extLst>
          </p:cNvPr>
          <p:cNvSpPr/>
          <p:nvPr/>
        </p:nvSpPr>
        <p:spPr>
          <a:xfrm>
            <a:off x="3285499" y="2892856"/>
            <a:ext cx="2281132" cy="595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SPL is copied  in to RAM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DDA13A0-AAC4-4332-A3D3-B3DE92D381BF}"/>
              </a:ext>
            </a:extLst>
          </p:cNvPr>
          <p:cNvSpPr/>
          <p:nvPr/>
        </p:nvSpPr>
        <p:spPr>
          <a:xfrm>
            <a:off x="6304396" y="2896331"/>
            <a:ext cx="1728192" cy="595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Android OS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EAEB07-77F9-40AC-A216-9FC3C9C710C4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5566631" y="3190729"/>
            <a:ext cx="737765" cy="3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76EA400-4DAF-4FA1-BE46-FD4D9B756847}"/>
              </a:ext>
            </a:extLst>
          </p:cNvPr>
          <p:cNvSpPr txBox="1"/>
          <p:nvPr/>
        </p:nvSpPr>
        <p:spPr>
          <a:xfrm>
            <a:off x="5636959" y="3292787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Load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D0090C0-4652-4B7F-8965-83DEDE9B1056}"/>
              </a:ext>
            </a:extLst>
          </p:cNvPr>
          <p:cNvSpPr/>
          <p:nvPr/>
        </p:nvSpPr>
        <p:spPr>
          <a:xfrm>
            <a:off x="6304396" y="3921535"/>
            <a:ext cx="2520280" cy="5957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boot modes such as </a:t>
            </a:r>
            <a:r>
              <a:rPr lang="en-US" b="1" dirty="0" err="1"/>
              <a:t>fastboot</a:t>
            </a:r>
            <a:r>
              <a:rPr lang="en-US" b="1" dirty="0"/>
              <a:t>, recovery etc.,</a:t>
            </a:r>
            <a:endParaRPr lang="en-IN" b="1" dirty="0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8F23789C-A807-4B06-AEA8-A627FF24AFDC}"/>
              </a:ext>
            </a:extLst>
          </p:cNvPr>
          <p:cNvCxnSpPr>
            <a:stCxn id="19" idx="2"/>
            <a:endCxn id="24" idx="1"/>
          </p:cNvCxnSpPr>
          <p:nvPr/>
        </p:nvCxnSpPr>
        <p:spPr>
          <a:xfrm rot="16200000" flipH="1">
            <a:off x="4999827" y="2914839"/>
            <a:ext cx="730806" cy="18783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ADA2E2B-6B9C-43F2-A911-605D43A3F45F}"/>
              </a:ext>
            </a:extLst>
          </p:cNvPr>
          <p:cNvSpPr txBox="1"/>
          <p:nvPr/>
        </p:nvSpPr>
        <p:spPr>
          <a:xfrm>
            <a:off x="4619634" y="4266354"/>
            <a:ext cx="1548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Provide access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12E75AB-6E3F-4A13-A324-7A26BB2157CD}"/>
              </a:ext>
            </a:extLst>
          </p:cNvPr>
          <p:cNvSpPr/>
          <p:nvPr/>
        </p:nvSpPr>
        <p:spPr>
          <a:xfrm>
            <a:off x="724284" y="4462054"/>
            <a:ext cx="2273754" cy="14872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r>
              <a:rPr lang="en-IN" b="1" dirty="0"/>
              <a:t>Boot media</a:t>
            </a:r>
          </a:p>
          <a:p>
            <a:pPr marL="342900" indent="-342900" algn="ctr">
              <a:buAutoNum type="arabicPeriod"/>
            </a:pPr>
            <a:r>
              <a:rPr lang="en-IN" b="1" dirty="0"/>
              <a:t>Boot Code</a:t>
            </a:r>
          </a:p>
          <a:p>
            <a:pPr marL="342900" indent="-342900" algn="ctr">
              <a:buAutoNum type="arabicPeriod"/>
            </a:pPr>
            <a:r>
              <a:rPr lang="en-IN" b="1" dirty="0"/>
              <a:t>File System </a:t>
            </a:r>
          </a:p>
          <a:p>
            <a:pPr marL="342900" indent="-342900" algn="ctr">
              <a:buAutoNum type="arabicPeriod"/>
            </a:pPr>
            <a:r>
              <a:rPr lang="en-IN" b="1" dirty="0">
                <a:solidFill>
                  <a:srgbClr val="FF0000"/>
                </a:solidFill>
              </a:rPr>
              <a:t>Linux Kernel</a:t>
            </a:r>
          </a:p>
          <a:p>
            <a:pPr algn="ctr"/>
            <a:r>
              <a:rPr lang="en-IN" b="1" dirty="0"/>
              <a:t> </a:t>
            </a:r>
            <a:br>
              <a:rPr lang="en-IN" b="1" dirty="0"/>
            </a:br>
            <a:endParaRPr lang="en-IN" b="1" dirty="0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F6F622C-D562-465C-A696-29FE4F57537F}"/>
              </a:ext>
            </a:extLst>
          </p:cNvPr>
          <p:cNvCxnSpPr>
            <a:cxnSpLocks/>
            <a:stCxn id="32" idx="0"/>
          </p:cNvCxnSpPr>
          <p:nvPr/>
        </p:nvCxnSpPr>
        <p:spPr>
          <a:xfrm rot="5400000" flipH="1" flipV="1">
            <a:off x="1479472" y="2719471"/>
            <a:ext cx="2124273" cy="1360895"/>
          </a:xfrm>
          <a:prstGeom prst="bentConnector3">
            <a:avLst>
              <a:gd name="adj1" fmla="val 10099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15D2520A-90B1-4E31-921C-62795FC9D69B}"/>
              </a:ext>
            </a:extLst>
          </p:cNvPr>
          <p:cNvCxnSpPr/>
          <p:nvPr/>
        </p:nvCxnSpPr>
        <p:spPr>
          <a:xfrm rot="5400000">
            <a:off x="2621300" y="3865339"/>
            <a:ext cx="1899595" cy="1146118"/>
          </a:xfrm>
          <a:prstGeom prst="bentConnector3">
            <a:avLst>
              <a:gd name="adj1" fmla="val 9961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760712B-0154-4614-8CA5-EEE029742F96}"/>
              </a:ext>
            </a:extLst>
          </p:cNvPr>
          <p:cNvSpPr txBox="1"/>
          <p:nvPr/>
        </p:nvSpPr>
        <p:spPr>
          <a:xfrm>
            <a:off x="3229849" y="4997419"/>
            <a:ext cx="9588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look for </a:t>
            </a:r>
            <a:br>
              <a:rPr lang="en-IN" dirty="0"/>
            </a:br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CE116A-17B0-458C-BE8A-1E7B93F4C0DE}"/>
              </a:ext>
            </a:extLst>
          </p:cNvPr>
          <p:cNvSpPr txBox="1"/>
          <p:nvPr/>
        </p:nvSpPr>
        <p:spPr>
          <a:xfrm>
            <a:off x="683568" y="3234014"/>
            <a:ext cx="1397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Load Kernel 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296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32" y="595744"/>
            <a:ext cx="8883234" cy="5713575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Linux kernel is the heart of the Android operating system and is responsible for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process management, memory management,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enforcing security on the device.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After the kernel is loaded, it mounts the root file system (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rootfs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and provides access to system and user data.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the memory management units and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caches have been initialized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the system can use virtual memory and launch user space processes.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kernel will look in the </a:t>
            </a: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rootfs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for the </a:t>
            </a: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init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process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launch it as the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initial user space process.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boot process –  Linux </a:t>
            </a:r>
            <a:r>
              <a:rPr lang="en-US" sz="2400" b="1" dirty="0" err="1"/>
              <a:t>Kernal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4235429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init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the very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first process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that starts and is the root process of all other processes -  (</a:t>
            </a: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init.rc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init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process will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parse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init.rc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script and launch the system service processes. 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 this stage, you will see the 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logo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on the device screen.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boot process –  The </a:t>
            </a:r>
            <a:r>
              <a:rPr lang="en-US" sz="2400" b="1" dirty="0" err="1"/>
              <a:t>init</a:t>
            </a:r>
            <a:r>
              <a:rPr lang="en-US" sz="2400" b="1" dirty="0"/>
              <a:t> process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664225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75" y="695340"/>
            <a:ext cx="8807895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Zygote is one of the first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processes created after the device boots.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initializes the DVM &amp; tries to create multiple instances to support each android process.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Zygote facilitates using a shared code across the VM, thus helping to save the memory and reduce the burden on the system.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All the core features of the device such as telephony, network, and other important functions, are started by the system server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boot process –  Zygote and Dalvik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363684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following core services are started in this process: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Start Power Manager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Create Activity Manager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Start Telephony Registry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Start Package Manager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 Activity Manager Service as System Process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Start Context Manager etc.,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boot process –  System server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29226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32266</TotalTime>
  <Words>619</Words>
  <Application>Microsoft Office PowerPoint</Application>
  <PresentationFormat>On-screen Show (4:3)</PresentationFormat>
  <Paragraphs>128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Times New Roman</vt:lpstr>
      <vt:lpstr>TimesNewRomanPSMT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570</cp:revision>
  <dcterms:created xsi:type="dcterms:W3CDTF">2018-03-30T10:15:50Z</dcterms:created>
  <dcterms:modified xsi:type="dcterms:W3CDTF">2026-04-26T15:09:14Z</dcterms:modified>
</cp:coreProperties>
</file>