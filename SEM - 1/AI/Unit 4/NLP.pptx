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9dsh+QlTrEmOPm2XDHx5wzjGJ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99c724e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2e99c724e3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e99c724e3c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e99c724e3c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99c724e3c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2e99c724e3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99c724e3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99c724e3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Machines create new text using patterns learned from previous data. </a:t>
            </a:r>
            <a:r>
              <a:rPr b="1" lang="en-US" sz="1300">
                <a:solidFill>
                  <a:schemeClr val="dk1"/>
                </a:solidFill>
              </a:rPr>
              <a:t>Applications: </a:t>
            </a:r>
            <a:r>
              <a:rPr lang="en-US">
                <a:solidFill>
                  <a:schemeClr val="dk1"/>
                </a:solidFill>
              </a:rPr>
              <a:t>Chatbots, Auto-summaries, Translation, Story/poem generation</a:t>
            </a:r>
            <a:endParaRPr/>
          </a:p>
        </p:txBody>
      </p:sp>
      <p:sp>
        <p:nvSpPr>
          <p:cNvPr id="188" name="Google Shape;1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a) Markov Chains: Predict next word based only on previous word probabilities.</a:t>
            </a:r>
            <a:endParaRPr/>
          </a:p>
          <a:p>
            <a:pPr indent="0" lvl="0" marL="0" rtl="0" algn="l">
              <a:lnSpc>
                <a:spcPct val="115000"/>
              </a:lnSpc>
              <a:spcBef>
                <a:spcPts val="1200"/>
              </a:spcBef>
              <a:spcAft>
                <a:spcPts val="0"/>
              </a:spcAft>
              <a:buClr>
                <a:schemeClr val="dk1"/>
              </a:buClr>
              <a:buSzPts val="1100"/>
              <a:buFont typeface="Arial"/>
              <a:buNone/>
            </a:pPr>
            <a:r>
              <a:rPr lang="en-US"/>
              <a:t>b) Seq2Seq Models: Have two RNNs – encoder + decoder. Input: “How are you?” Output: “¿Cómo estás?”</a:t>
            </a:r>
            <a:endParaRPr/>
          </a:p>
          <a:p>
            <a:pPr indent="0" lvl="0" marL="0" rtl="0" algn="l">
              <a:lnSpc>
                <a:spcPct val="115000"/>
              </a:lnSpc>
              <a:spcBef>
                <a:spcPts val="1200"/>
              </a:spcBef>
              <a:spcAft>
                <a:spcPts val="0"/>
              </a:spcAft>
              <a:buClr>
                <a:schemeClr val="dk1"/>
              </a:buClr>
              <a:buSzPts val="1100"/>
              <a:buFont typeface="Arial"/>
              <a:buNone/>
            </a:pPr>
            <a:r>
              <a:rPr lang="en-US"/>
              <a:t>c) GANs (Generative Adversarial Networks): Generator produces text; Discriminator checks if fake or real.</a:t>
            </a:r>
            <a:endParaRPr/>
          </a:p>
          <a:p>
            <a:pPr indent="0" lvl="0" marL="0" rtl="0" algn="l">
              <a:lnSpc>
                <a:spcPct val="115000"/>
              </a:lnSpc>
              <a:spcBef>
                <a:spcPts val="1200"/>
              </a:spcBef>
              <a:spcAft>
                <a:spcPts val="1200"/>
              </a:spcAft>
              <a:buSzPts val="1100"/>
              <a:buNone/>
            </a:pPr>
            <a:r>
              <a:rPr lang="en-US"/>
              <a:t>d) Transformer Models: Use “attention mechanism” → focus on relevant words. GPT, BERT, Translation, Summarization, Creative writing</a:t>
            </a:r>
            <a:endParaRPr/>
          </a:p>
        </p:txBody>
      </p:sp>
      <p:sp>
        <p:nvSpPr>
          <p:cNvPr id="194" name="Google Shape;19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p:nvPr>
            <p:ph idx="2" type="pic"/>
          </p:nvPr>
        </p:nvSpPr>
        <p:spPr>
          <a:xfrm>
            <a:off x="5183188" y="987425"/>
            <a:ext cx="6172200" cy="4873625"/>
          </a:xfrm>
          <a:prstGeom prst="rect">
            <a:avLst/>
          </a:prstGeom>
          <a:noFill/>
          <a:ln>
            <a:noFill/>
          </a:ln>
        </p:spPr>
      </p:sp>
      <p:sp>
        <p:nvSpPr>
          <p:cNvPr id="64" name="Google Shape;64;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lang="en-US"/>
              <a:t>Natural Language Processing (NLP)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rPr lang="en-US"/>
              <a:t>By</a:t>
            </a:r>
            <a:endParaRPr/>
          </a:p>
          <a:p>
            <a:pPr indent="0" lvl="0" marL="0" rtl="0" algn="ctr">
              <a:lnSpc>
                <a:spcPct val="90000"/>
              </a:lnSpc>
              <a:spcBef>
                <a:spcPts val="1000"/>
              </a:spcBef>
              <a:spcAft>
                <a:spcPts val="0"/>
              </a:spcAft>
              <a:buClr>
                <a:schemeClr val="dk1"/>
              </a:buClr>
              <a:buSzPts val="2400"/>
              <a:buNone/>
            </a:pPr>
            <a:r>
              <a:rPr lang="en-US"/>
              <a:t>Dr. Ravirajsinh S. Vaghela</a:t>
            </a:r>
            <a:endParaRPr/>
          </a:p>
          <a:p>
            <a:pPr indent="0" lvl="0" marL="0" rtl="0" algn="ctr">
              <a:lnSpc>
                <a:spcPct val="90000"/>
              </a:lnSpc>
              <a:spcBef>
                <a:spcPts val="1000"/>
              </a:spcBef>
              <a:spcAft>
                <a:spcPts val="0"/>
              </a:spcAft>
              <a:buClr>
                <a:schemeClr val="dk1"/>
              </a:buClr>
              <a:buSzPts val="2400"/>
              <a:buNone/>
            </a:pPr>
            <a:r>
              <a:rPr lang="en-US"/>
              <a:t>Assistant Professor, SCSFD.</a:t>
            </a:r>
            <a:endParaRPr/>
          </a:p>
          <a:p>
            <a:pPr indent="0" lvl="0" marL="0" rtl="0" algn="ctr">
              <a:lnSpc>
                <a:spcPct val="90000"/>
              </a:lnSpc>
              <a:spcBef>
                <a:spcPts val="1000"/>
              </a:spcBef>
              <a:spcAft>
                <a:spcPts val="0"/>
              </a:spcAft>
              <a:buClr>
                <a:schemeClr val="dk1"/>
              </a:buClr>
              <a:buSzPts val="2400"/>
              <a:buNone/>
            </a:pPr>
            <a:r>
              <a:rPr lang="en-US"/>
              <a:t>NFSU,Gandhinagar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Introduction</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41934" lvl="0" marL="228600" rtl="0" algn="l">
              <a:lnSpc>
                <a:spcPct val="90000"/>
              </a:lnSpc>
              <a:spcBef>
                <a:spcPts val="0"/>
              </a:spcBef>
              <a:spcAft>
                <a:spcPts val="0"/>
              </a:spcAft>
              <a:buClr>
                <a:schemeClr val="dk1"/>
              </a:buClr>
              <a:buSzPts val="2800"/>
              <a:buChar char="•"/>
            </a:pPr>
            <a:r>
              <a:rPr lang="en-US"/>
              <a:t>Natural Language Processing (NLP) is a </a:t>
            </a:r>
            <a:r>
              <a:rPr b="1" lang="en-US"/>
              <a:t>subfield of machine learning which leverages analysis, generation, and understanding of human languages to derive meaningful insights.</a:t>
            </a:r>
            <a:endParaRPr b="1"/>
          </a:p>
          <a:p>
            <a:pPr indent="-64135" lvl="0" marL="228600" rtl="0" algn="l">
              <a:lnSpc>
                <a:spcPct val="90000"/>
              </a:lnSpc>
              <a:spcBef>
                <a:spcPts val="1000"/>
              </a:spcBef>
              <a:spcAft>
                <a:spcPts val="0"/>
              </a:spcAft>
              <a:buClr>
                <a:schemeClr val="dk1"/>
              </a:buClr>
              <a:buSzPts val="2800"/>
              <a:buNone/>
            </a:pPr>
            <a:r>
              <a:t/>
            </a:r>
            <a:endParaRPr/>
          </a:p>
          <a:p>
            <a:pPr indent="-241934" lvl="0" marL="228600" rtl="0" algn="l">
              <a:lnSpc>
                <a:spcPct val="90000"/>
              </a:lnSpc>
              <a:spcBef>
                <a:spcPts val="1000"/>
              </a:spcBef>
              <a:spcAft>
                <a:spcPts val="0"/>
              </a:spcAft>
              <a:buClr>
                <a:schemeClr val="dk1"/>
              </a:buClr>
              <a:buSzPts val="2800"/>
              <a:buChar char="•"/>
            </a:pPr>
            <a:r>
              <a:rPr lang="en-US"/>
              <a:t>NLP is becoming popular as Large Language Models (LLMs) are growing and used widely in the market. Having foundational knowledge of NLP concepts and techniques can help you become an </a:t>
            </a:r>
            <a:r>
              <a:rPr b="1" lang="en-US"/>
              <a:t>NLP data scientist, NLP engineer, or distinguished ML engineer to stand out in the job market.</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NLP topic to understand</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Text pre-processing</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Text feature extraction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Text sort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Named entity recognition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Parts-of-speech tagging</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Text generation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Text-to-speech and speech-to-text techniques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Text pre-processing</a:t>
            </a:r>
            <a:br>
              <a:rPr lang="en-US"/>
            </a:b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Pre-processing techniques such as tokenization, stemming, and lemmatization, help convert raw text into a format that can be easily analyzed.</a:t>
            </a:r>
            <a:endParaRPr/>
          </a:p>
          <a:p>
            <a:pPr indent="0" lvl="0" marL="0" rtl="0" algn="l">
              <a:lnSpc>
                <a:spcPct val="90000"/>
              </a:lnSpc>
              <a:spcBef>
                <a:spcPts val="1000"/>
              </a:spcBef>
              <a:spcAft>
                <a:spcPts val="0"/>
              </a:spcAft>
              <a:buNone/>
            </a:pPr>
            <a:r>
              <a:t/>
            </a:r>
            <a:endParaRPr/>
          </a:p>
          <a:p>
            <a:pPr indent="-228600" lvl="0" marL="228600" rtl="0" algn="l">
              <a:lnSpc>
                <a:spcPct val="90000"/>
              </a:lnSpc>
              <a:spcBef>
                <a:spcPts val="1000"/>
              </a:spcBef>
              <a:spcAft>
                <a:spcPts val="0"/>
              </a:spcAft>
              <a:buClr>
                <a:schemeClr val="dk1"/>
              </a:buClr>
              <a:buSzPts val="2800"/>
              <a:buChar char="•"/>
            </a:pPr>
            <a:r>
              <a:rPr lang="en-US"/>
              <a:t>The fundamental concept in NLP is tokenization. </a:t>
            </a:r>
            <a:endParaRPr/>
          </a:p>
          <a:p>
            <a:pPr indent="-228600" lvl="0" marL="228600" rtl="0" algn="l">
              <a:lnSpc>
                <a:spcPct val="90000"/>
              </a:lnSpc>
              <a:spcBef>
                <a:spcPts val="1000"/>
              </a:spcBef>
              <a:spcAft>
                <a:spcPts val="0"/>
              </a:spcAft>
              <a:buClr>
                <a:schemeClr val="dk1"/>
              </a:buClr>
              <a:buSzPts val="2800"/>
              <a:buChar char="•"/>
            </a:pPr>
            <a:r>
              <a:rPr lang="en-US"/>
              <a:t>It is the process of breaking down a complex piece of text into smaller units called tokens.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830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200"/>
              <a:t>Stemming</a:t>
            </a:r>
            <a:endParaRPr b="1" sz="4800"/>
          </a:p>
        </p:txBody>
      </p:sp>
      <p:sp>
        <p:nvSpPr>
          <p:cNvPr id="109" name="Google Shape;109;p5"/>
          <p:cNvSpPr txBox="1"/>
          <p:nvPr>
            <p:ph idx="1" type="body"/>
          </p:nvPr>
        </p:nvSpPr>
        <p:spPr>
          <a:xfrm>
            <a:off x="838200" y="1195525"/>
            <a:ext cx="10515600" cy="918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523"/>
              <a:buNone/>
            </a:pPr>
            <a:r>
              <a:rPr lang="en-US" sz="2630"/>
              <a:t>Stemming is the process of reducing words to their base or root form. This can be useful in classification or information retrieval tasks.</a:t>
            </a:r>
            <a:endParaRPr sz="2630"/>
          </a:p>
          <a:p>
            <a:pPr indent="0" lvl="0" marL="0" rtl="0" algn="l">
              <a:lnSpc>
                <a:spcPct val="90000"/>
              </a:lnSpc>
              <a:spcBef>
                <a:spcPts val="1000"/>
              </a:spcBef>
              <a:spcAft>
                <a:spcPts val="0"/>
              </a:spcAft>
              <a:buSzPts val="855"/>
              <a:buNone/>
            </a:pPr>
            <a:r>
              <a:t/>
            </a:r>
            <a:endParaRPr sz="2630"/>
          </a:p>
        </p:txBody>
      </p:sp>
      <p:pic>
        <p:nvPicPr>
          <p:cNvPr id="110" name="Google Shape;110;p5"/>
          <p:cNvPicPr preferRelativeResize="0"/>
          <p:nvPr/>
        </p:nvPicPr>
        <p:blipFill rotWithShape="1">
          <a:blip r:embed="rId3">
            <a:alphaModFix/>
          </a:blip>
          <a:srcRect b="0" l="0" r="0" t="0"/>
          <a:stretch/>
        </p:blipFill>
        <p:spPr>
          <a:xfrm>
            <a:off x="988050" y="2114425"/>
            <a:ext cx="3819175" cy="3823324"/>
          </a:xfrm>
          <a:prstGeom prst="rect">
            <a:avLst/>
          </a:prstGeom>
          <a:noFill/>
          <a:ln>
            <a:noFill/>
          </a:ln>
        </p:spPr>
      </p:pic>
      <p:pic>
        <p:nvPicPr>
          <p:cNvPr id="111" name="Google Shape;111;p5"/>
          <p:cNvPicPr preferRelativeResize="0"/>
          <p:nvPr/>
        </p:nvPicPr>
        <p:blipFill rotWithShape="1">
          <a:blip r:embed="rId4">
            <a:alphaModFix/>
          </a:blip>
          <a:srcRect b="0" l="0" r="0" t="0"/>
          <a:stretch/>
        </p:blipFill>
        <p:spPr>
          <a:xfrm>
            <a:off x="5839776" y="2479313"/>
            <a:ext cx="5155900" cy="3093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e99c724e3c_0_0"/>
          <p:cNvSpPr txBox="1"/>
          <p:nvPr>
            <p:ph type="title"/>
          </p:nvPr>
        </p:nvSpPr>
        <p:spPr>
          <a:xfrm>
            <a:off x="838200" y="365125"/>
            <a:ext cx="10515600" cy="830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None/>
            </a:pPr>
            <a:r>
              <a:rPr b="1" lang="en-US" sz="3300"/>
              <a:t>Lemmatization</a:t>
            </a:r>
            <a:endParaRPr b="1" sz="4900"/>
          </a:p>
        </p:txBody>
      </p:sp>
      <p:sp>
        <p:nvSpPr>
          <p:cNvPr id="117" name="Google Shape;117;g2e99c724e3c_0_0"/>
          <p:cNvSpPr txBox="1"/>
          <p:nvPr>
            <p:ph idx="1" type="body"/>
          </p:nvPr>
        </p:nvSpPr>
        <p:spPr>
          <a:xfrm>
            <a:off x="838200" y="11955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a:t>It is the process of reducing a word to its base or root form, which is known as the lemma. It is a more sophisticated version of stemming, as it takes into account the context and the part of speech of the word.</a:t>
            </a:r>
            <a:endParaRPr/>
          </a:p>
        </p:txBody>
      </p:sp>
      <p:pic>
        <p:nvPicPr>
          <p:cNvPr id="118" name="Google Shape;118;g2e99c724e3c_0_0"/>
          <p:cNvPicPr preferRelativeResize="0"/>
          <p:nvPr/>
        </p:nvPicPr>
        <p:blipFill rotWithShape="1">
          <a:blip r:embed="rId3">
            <a:alphaModFix/>
          </a:blip>
          <a:srcRect b="28850" l="0" r="0" t="2259"/>
          <a:stretch/>
        </p:blipFill>
        <p:spPr>
          <a:xfrm>
            <a:off x="1585075" y="3151325"/>
            <a:ext cx="9021850" cy="34977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g2e99c724e3c_0_9"/>
          <p:cNvPicPr preferRelativeResize="0"/>
          <p:nvPr/>
        </p:nvPicPr>
        <p:blipFill rotWithShape="1">
          <a:blip r:embed="rId3">
            <a:alphaModFix/>
          </a:blip>
          <a:srcRect b="0" l="0" r="0" t="0"/>
          <a:stretch/>
        </p:blipFill>
        <p:spPr>
          <a:xfrm>
            <a:off x="1568050" y="58025"/>
            <a:ext cx="8334375" cy="3486150"/>
          </a:xfrm>
          <a:prstGeom prst="rect">
            <a:avLst/>
          </a:prstGeom>
          <a:noFill/>
          <a:ln>
            <a:noFill/>
          </a:ln>
        </p:spPr>
      </p:pic>
      <p:pic>
        <p:nvPicPr>
          <p:cNvPr id="124" name="Google Shape;124;g2e99c724e3c_0_9"/>
          <p:cNvPicPr preferRelativeResize="0"/>
          <p:nvPr/>
        </p:nvPicPr>
        <p:blipFill rotWithShape="1">
          <a:blip r:embed="rId4">
            <a:alphaModFix/>
          </a:blip>
          <a:srcRect b="0" l="0" r="0" t="0"/>
          <a:stretch/>
        </p:blipFill>
        <p:spPr>
          <a:xfrm>
            <a:off x="3021673" y="3649725"/>
            <a:ext cx="5782577" cy="3208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Text feature extraction</a:t>
            </a:r>
            <a:br>
              <a:rPr lang="en-US"/>
            </a:br>
            <a:endParaRPr/>
          </a:p>
        </p:txBody>
      </p:sp>
      <p:sp>
        <p:nvSpPr>
          <p:cNvPr id="130" name="Google Shape;13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228600" rtl="0" algn="l">
              <a:lnSpc>
                <a:spcPct val="90000"/>
              </a:lnSpc>
              <a:spcBef>
                <a:spcPts val="0"/>
              </a:spcBef>
              <a:spcAft>
                <a:spcPts val="0"/>
              </a:spcAft>
              <a:buSzPts val="1800"/>
              <a:buNone/>
            </a:pPr>
            <a:r>
              <a:rPr lang="en-US"/>
              <a:t>Techniques such as </a:t>
            </a:r>
            <a:endParaRPr/>
          </a:p>
          <a:p>
            <a:pPr indent="-292100" lvl="1" marL="685800" rtl="0" algn="l">
              <a:lnSpc>
                <a:spcPct val="90000"/>
              </a:lnSpc>
              <a:spcBef>
                <a:spcPts val="0"/>
              </a:spcBef>
              <a:spcAft>
                <a:spcPts val="0"/>
              </a:spcAft>
              <a:buClr>
                <a:schemeClr val="dk1"/>
              </a:buClr>
              <a:buSzPts val="2800"/>
              <a:buAutoNum type="alphaLcParenR"/>
            </a:pPr>
            <a:r>
              <a:rPr lang="en-US"/>
              <a:t>Vocabulary/bag-of-words,</a:t>
            </a:r>
            <a:endParaRPr/>
          </a:p>
          <a:p>
            <a:pPr indent="-292100" lvl="1" marL="685800" rtl="0" algn="l">
              <a:lnSpc>
                <a:spcPct val="90000"/>
              </a:lnSpc>
              <a:spcBef>
                <a:spcPts val="0"/>
              </a:spcBef>
              <a:spcAft>
                <a:spcPts val="0"/>
              </a:spcAft>
              <a:buClr>
                <a:schemeClr val="dk1"/>
              </a:buClr>
              <a:buSzPts val="2800"/>
              <a:buAutoNum type="alphaLcParenR"/>
            </a:pPr>
            <a:r>
              <a:rPr lang="en-US"/>
              <a:t>n-grams, </a:t>
            </a:r>
            <a:endParaRPr/>
          </a:p>
          <a:p>
            <a:pPr indent="-292100" lvl="1" marL="685800" rtl="0" algn="l">
              <a:lnSpc>
                <a:spcPct val="90000"/>
              </a:lnSpc>
              <a:spcBef>
                <a:spcPts val="0"/>
              </a:spcBef>
              <a:spcAft>
                <a:spcPts val="0"/>
              </a:spcAft>
              <a:buClr>
                <a:schemeClr val="dk1"/>
              </a:buClr>
              <a:buSzPts val="2800"/>
              <a:buAutoNum type="alphaLcParenR"/>
            </a:pPr>
            <a:r>
              <a:rPr lang="en-US"/>
              <a:t>count vectorization, and </a:t>
            </a:r>
            <a:endParaRPr/>
          </a:p>
          <a:p>
            <a:pPr indent="-292100" lvl="1" marL="685800" rtl="0" algn="l">
              <a:lnSpc>
                <a:spcPct val="90000"/>
              </a:lnSpc>
              <a:spcBef>
                <a:spcPts val="0"/>
              </a:spcBef>
              <a:spcAft>
                <a:spcPts val="0"/>
              </a:spcAft>
              <a:buClr>
                <a:schemeClr val="dk1"/>
              </a:buClr>
              <a:buSzPts val="2800"/>
              <a:buAutoNum type="alphaLcParenR"/>
            </a:pPr>
            <a:r>
              <a:rPr lang="en-US"/>
              <a:t>word embeddings </a:t>
            </a:r>
            <a:endParaRPr/>
          </a:p>
          <a:p>
            <a:pPr indent="0" lvl="0" marL="228600" rtl="0" algn="l">
              <a:lnSpc>
                <a:spcPct val="90000"/>
              </a:lnSpc>
              <a:spcBef>
                <a:spcPts val="0"/>
              </a:spcBef>
              <a:spcAft>
                <a:spcPts val="0"/>
              </a:spcAft>
              <a:buSzPts val="1800"/>
              <a:buNone/>
            </a:pPr>
            <a:r>
              <a:rPr lang="en-US"/>
              <a:t>are used to represent text as numerical features in machine learning models.</a:t>
            </a:r>
            <a:endParaRPr/>
          </a:p>
          <a:p>
            <a:pPr indent="0" lvl="0" marL="228600" rtl="0" algn="l">
              <a:lnSpc>
                <a:spcPct val="90000"/>
              </a:lnSpc>
              <a:spcBef>
                <a:spcPts val="0"/>
              </a:spcBef>
              <a:spcAft>
                <a:spcPts val="0"/>
              </a:spcAft>
              <a:buSzPts val="1800"/>
              <a:buNone/>
            </a:pPr>
            <a:r>
              <a:t/>
            </a:r>
            <a:endParaRPr/>
          </a:p>
          <a:p>
            <a:pPr indent="0" lvl="0" marL="228600" rtl="0" algn="l">
              <a:lnSpc>
                <a:spcPct val="90000"/>
              </a:lnSpc>
              <a:spcBef>
                <a:spcPts val="1000"/>
              </a:spcBef>
              <a:spcAft>
                <a:spcPts val="0"/>
              </a:spcAft>
              <a:buSzPts val="1800"/>
              <a:buNone/>
            </a:pPr>
            <a:r>
              <a:rPr b="1" lang="en-US" sz="3000"/>
              <a:t>Vocabulary or Bag-of-Words</a:t>
            </a:r>
            <a:endParaRPr b="1" sz="3000"/>
          </a:p>
          <a:p>
            <a:pPr indent="0" lvl="0" marL="228600" rtl="0" algn="l">
              <a:lnSpc>
                <a:spcPct val="90000"/>
              </a:lnSpc>
              <a:spcBef>
                <a:spcPts val="1000"/>
              </a:spcBef>
              <a:spcAft>
                <a:spcPts val="0"/>
              </a:spcAft>
              <a:buSzPts val="1800"/>
              <a:buNone/>
            </a:pPr>
            <a:r>
              <a:rPr lang="en-US"/>
              <a:t>Vocabulary in NLP refers to the set of unique words or tokens in a given text or corpus.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N-grams</a:t>
            </a:r>
            <a:br>
              <a:rPr lang="en-US"/>
            </a:br>
            <a:endParaRPr/>
          </a:p>
        </p:txBody>
      </p:sp>
      <p:sp>
        <p:nvSpPr>
          <p:cNvPr id="136" name="Google Shape;136;p7"/>
          <p:cNvSpPr txBox="1"/>
          <p:nvPr>
            <p:ph idx="1" type="body"/>
          </p:nvPr>
        </p:nvSpPr>
        <p:spPr>
          <a:xfrm>
            <a:off x="838200" y="1825625"/>
            <a:ext cx="10515600" cy="1454700"/>
          </a:xfrm>
          <a:prstGeom prst="rect">
            <a:avLst/>
          </a:prstGeom>
          <a:noFill/>
          <a:ln>
            <a:noFill/>
          </a:ln>
        </p:spPr>
        <p:txBody>
          <a:bodyPr anchorCtr="0" anchor="t" bIns="45700" lIns="91425" spcFirstLastPara="1" rIns="91425" wrap="square" tIns="45700">
            <a:noAutofit/>
          </a:bodyPr>
          <a:lstStyle/>
          <a:p>
            <a:pPr indent="-209550" lvl="0" marL="228600" rtl="0" algn="l">
              <a:lnSpc>
                <a:spcPct val="90000"/>
              </a:lnSpc>
              <a:spcBef>
                <a:spcPts val="0"/>
              </a:spcBef>
              <a:spcAft>
                <a:spcPts val="0"/>
              </a:spcAft>
              <a:buClr>
                <a:schemeClr val="dk1"/>
              </a:buClr>
              <a:buSzPts val="2500"/>
              <a:buChar char="•"/>
            </a:pPr>
            <a:r>
              <a:rPr lang="en-US" sz="2500"/>
              <a:t>An n-gram is a contiguous sequence of n items from a given sample of text or speech, where n can be any positive integer. In NLP, n-grams are often used to capture the context of words in a text.</a:t>
            </a:r>
            <a:endParaRPr sz="2500"/>
          </a:p>
          <a:p>
            <a:pPr indent="-209551" lvl="0" marL="228600" rtl="0" algn="l">
              <a:lnSpc>
                <a:spcPct val="90000"/>
              </a:lnSpc>
              <a:spcBef>
                <a:spcPts val="0"/>
              </a:spcBef>
              <a:spcAft>
                <a:spcPts val="0"/>
              </a:spcAft>
              <a:buSzPts val="2500"/>
              <a:buChar char="•"/>
            </a:pPr>
            <a:r>
              <a:rPr lang="en-US" sz="2500"/>
              <a:t> N-grams are simply all combinations of adjacent words or letters of length n that you can find in your source text.</a:t>
            </a:r>
            <a:endParaRPr sz="2500"/>
          </a:p>
        </p:txBody>
      </p:sp>
      <p:pic>
        <p:nvPicPr>
          <p:cNvPr id="137" name="Google Shape;137;p7"/>
          <p:cNvPicPr preferRelativeResize="0"/>
          <p:nvPr/>
        </p:nvPicPr>
        <p:blipFill rotWithShape="1">
          <a:blip r:embed="rId3">
            <a:alphaModFix/>
          </a:blip>
          <a:srcRect b="0" l="0" r="0" t="0"/>
          <a:stretch/>
        </p:blipFill>
        <p:spPr>
          <a:xfrm>
            <a:off x="3017900" y="3726775"/>
            <a:ext cx="6619875" cy="2724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838200" y="365125"/>
            <a:ext cx="10515600" cy="885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100"/>
              <a:t>Count vectorization</a:t>
            </a:r>
            <a:endParaRPr b="1" sz="3100"/>
          </a:p>
        </p:txBody>
      </p:sp>
      <p:sp>
        <p:nvSpPr>
          <p:cNvPr id="143" name="Google Shape;143;p8"/>
          <p:cNvSpPr txBox="1"/>
          <p:nvPr>
            <p:ph idx="1" type="body"/>
          </p:nvPr>
        </p:nvSpPr>
        <p:spPr>
          <a:xfrm>
            <a:off x="838200" y="1250125"/>
            <a:ext cx="10515600" cy="21906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1000"/>
              </a:spcBef>
              <a:spcAft>
                <a:spcPts val="0"/>
              </a:spcAft>
              <a:buClr>
                <a:schemeClr val="dk1"/>
              </a:buClr>
              <a:buSzPts val="2800"/>
              <a:buChar char="•"/>
            </a:pPr>
            <a:r>
              <a:rPr lang="en-US"/>
              <a:t>Text vectorization is the process of converting text data into numerical vectors, which can be used as input for machine learning models.</a:t>
            </a:r>
            <a:endParaRPr/>
          </a:p>
          <a:p>
            <a:pPr indent="-228600" lvl="0" marL="228600" rtl="0" algn="l">
              <a:lnSpc>
                <a:spcPct val="90000"/>
              </a:lnSpc>
              <a:spcBef>
                <a:spcPts val="1000"/>
              </a:spcBef>
              <a:spcAft>
                <a:spcPts val="0"/>
              </a:spcAft>
              <a:buClr>
                <a:schemeClr val="dk1"/>
              </a:buClr>
              <a:buSzPts val="2800"/>
              <a:buChar char="•"/>
            </a:pPr>
            <a:r>
              <a:rPr lang="en-US"/>
              <a:t> One of the most common techniques for text vectorization is bag-of-words, which represents text as a bag (or multiset) of its words, disregarding grammar and word order but keeping track of the number of occurrences of each word.</a:t>
            </a:r>
            <a:endParaRPr/>
          </a:p>
        </p:txBody>
      </p:sp>
      <p:pic>
        <p:nvPicPr>
          <p:cNvPr id="144" name="Google Shape;144;p8"/>
          <p:cNvPicPr preferRelativeResize="0"/>
          <p:nvPr/>
        </p:nvPicPr>
        <p:blipFill rotWithShape="1">
          <a:blip r:embed="rId3">
            <a:alphaModFix/>
          </a:blip>
          <a:srcRect b="0" l="0" r="0" t="0"/>
          <a:stretch/>
        </p:blipFill>
        <p:spPr>
          <a:xfrm>
            <a:off x="1094200" y="3341375"/>
            <a:ext cx="10150700" cy="332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g2e99c724e3c_0_17"/>
          <p:cNvPicPr preferRelativeResize="0"/>
          <p:nvPr/>
        </p:nvPicPr>
        <p:blipFill rotWithShape="1">
          <a:blip r:embed="rId3">
            <a:alphaModFix/>
          </a:blip>
          <a:srcRect b="8554" l="0" r="0" t="23546"/>
          <a:stretch/>
        </p:blipFill>
        <p:spPr>
          <a:xfrm>
            <a:off x="1700925" y="204875"/>
            <a:ext cx="9144000" cy="3492250"/>
          </a:xfrm>
          <a:prstGeom prst="rect">
            <a:avLst/>
          </a:prstGeom>
          <a:noFill/>
          <a:ln>
            <a:noFill/>
          </a:ln>
        </p:spPr>
      </p:pic>
      <p:sp>
        <p:nvSpPr>
          <p:cNvPr id="150" name="Google Shape;150;g2e99c724e3c_0_17"/>
          <p:cNvSpPr txBox="1"/>
          <p:nvPr>
            <p:ph idx="4294967295" type="title"/>
          </p:nvPr>
        </p:nvSpPr>
        <p:spPr>
          <a:xfrm>
            <a:off x="838200" y="3791963"/>
            <a:ext cx="10515600" cy="95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Text sort</a:t>
            </a:r>
            <a:endParaRPr/>
          </a:p>
        </p:txBody>
      </p:sp>
      <p:sp>
        <p:nvSpPr>
          <p:cNvPr id="151" name="Google Shape;151;g2e99c724e3c_0_17"/>
          <p:cNvSpPr txBox="1"/>
          <p:nvPr>
            <p:ph idx="4294967295" type="body"/>
          </p:nvPr>
        </p:nvSpPr>
        <p:spPr>
          <a:xfrm>
            <a:off x="838200" y="4845600"/>
            <a:ext cx="10515600" cy="20124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Techniques for classifying text into predefined categories, such as sentiment analysis and spam detection.</a:t>
            </a:r>
            <a:endParaRPr/>
          </a:p>
          <a:p>
            <a:pPr indent="-228600" lvl="0" marL="228600" rtl="0" algn="l">
              <a:lnSpc>
                <a:spcPct val="90000"/>
              </a:lnSpc>
              <a:spcBef>
                <a:spcPts val="1000"/>
              </a:spcBef>
              <a:spcAft>
                <a:spcPts val="0"/>
              </a:spcAft>
              <a:buClr>
                <a:schemeClr val="dk1"/>
              </a:buClr>
              <a:buSzPts val="2800"/>
              <a:buChar char="•"/>
            </a:pPr>
            <a:r>
              <a:rPr lang="en-US"/>
              <a:t>Text sorting is one of the most important NLP tasks that involves assigning predefined categories or labels to a given piece of text.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Named entity recognition</a:t>
            </a:r>
            <a:br>
              <a:rPr lang="en-US"/>
            </a:br>
            <a:endParaRPr/>
          </a:p>
        </p:txBody>
      </p:sp>
      <p:sp>
        <p:nvSpPr>
          <p:cNvPr id="157" name="Google Shape;157;p10"/>
          <p:cNvSpPr txBox="1"/>
          <p:nvPr>
            <p:ph idx="1" type="body"/>
          </p:nvPr>
        </p:nvSpPr>
        <p:spPr>
          <a:xfrm>
            <a:off x="386800" y="1253325"/>
            <a:ext cx="4453200" cy="4684500"/>
          </a:xfrm>
          <a:prstGeom prst="rect">
            <a:avLst/>
          </a:prstGeom>
          <a:noFill/>
          <a:ln>
            <a:noFill/>
          </a:ln>
        </p:spPr>
        <p:txBody>
          <a:bodyPr anchorCtr="0" anchor="t" bIns="45700" lIns="91425" spcFirstLastPara="1" rIns="91425" wrap="square" tIns="45700">
            <a:normAutofit lnSpcReduction="10000"/>
          </a:bodyPr>
          <a:lstStyle/>
          <a:p>
            <a:pPr indent="-215900" lvl="0" marL="228600" rtl="0" algn="l">
              <a:lnSpc>
                <a:spcPct val="90000"/>
              </a:lnSpc>
              <a:spcBef>
                <a:spcPts val="0"/>
              </a:spcBef>
              <a:spcAft>
                <a:spcPts val="0"/>
              </a:spcAft>
              <a:buClr>
                <a:schemeClr val="dk1"/>
              </a:buClr>
              <a:buSzPts val="2600"/>
              <a:buChar char="•"/>
            </a:pPr>
            <a:r>
              <a:rPr lang="en-US" sz="2600"/>
              <a:t>Named entity recognition are techniques for identifying and extracting named entities from text, such as people, organizations, and locations.</a:t>
            </a:r>
            <a:endParaRPr sz="2600"/>
          </a:p>
          <a:p>
            <a:pPr indent="-215900" lvl="0" marL="228600" rtl="0" algn="l">
              <a:lnSpc>
                <a:spcPct val="90000"/>
              </a:lnSpc>
              <a:spcBef>
                <a:spcPts val="1000"/>
              </a:spcBef>
              <a:spcAft>
                <a:spcPts val="0"/>
              </a:spcAft>
              <a:buClr>
                <a:schemeClr val="dk1"/>
              </a:buClr>
              <a:buSzPts val="2600"/>
              <a:buChar char="•"/>
            </a:pPr>
            <a:r>
              <a:rPr lang="en-US" sz="2600"/>
              <a:t>An entity can be thought of as a category type present in a given text. For example, the name of a certain personality, the name of an organization, location, etc.</a:t>
            </a:r>
            <a:endParaRPr sz="2600"/>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i="1" lang="en-US"/>
              <a:t>https://spacy.io/usage</a:t>
            </a:r>
            <a:endParaRPr i="1"/>
          </a:p>
        </p:txBody>
      </p:sp>
      <p:pic>
        <p:nvPicPr>
          <p:cNvPr id="158" name="Google Shape;158;p10"/>
          <p:cNvPicPr preferRelativeResize="0"/>
          <p:nvPr/>
        </p:nvPicPr>
        <p:blipFill rotWithShape="1">
          <a:blip r:embed="rId3">
            <a:alphaModFix/>
          </a:blip>
          <a:srcRect b="13066" l="3157" r="0" t="12184"/>
          <a:stretch/>
        </p:blipFill>
        <p:spPr>
          <a:xfrm>
            <a:off x="4840000" y="1253325"/>
            <a:ext cx="7352000" cy="3644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99c724e3c_0_24"/>
          <p:cNvSpPr txBox="1"/>
          <p:nvPr>
            <p:ph type="title"/>
          </p:nvPr>
        </p:nvSpPr>
        <p:spPr>
          <a:xfrm>
            <a:off x="838200" y="365125"/>
            <a:ext cx="10515600" cy="84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NER</a:t>
            </a:r>
            <a:endParaRPr/>
          </a:p>
        </p:txBody>
      </p:sp>
      <p:sp>
        <p:nvSpPr>
          <p:cNvPr id="164" name="Google Shape;164;g2e99c724e3c_0_24"/>
          <p:cNvSpPr txBox="1"/>
          <p:nvPr>
            <p:ph idx="1" type="body"/>
          </p:nvPr>
        </p:nvSpPr>
        <p:spPr>
          <a:xfrm>
            <a:off x="382225" y="1213825"/>
            <a:ext cx="11423700" cy="55083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Clr>
                <a:schemeClr val="dk1"/>
              </a:buClr>
              <a:buSzPts val="1100"/>
              <a:buFont typeface="Arial"/>
              <a:buNone/>
            </a:pPr>
            <a:r>
              <a:rPr b="1" lang="en-US" sz="2100">
                <a:solidFill>
                  <a:srgbClr val="05192D"/>
                </a:solidFill>
                <a:highlight>
                  <a:srgbClr val="FFFFFF"/>
                </a:highlight>
                <a:latin typeface="Arial"/>
                <a:ea typeface="Arial"/>
                <a:cs typeface="Arial"/>
                <a:sym typeface="Arial"/>
              </a:rPr>
              <a:t>How it works</a:t>
            </a:r>
            <a:r>
              <a:rPr lang="en-US" sz="2100">
                <a:solidFill>
                  <a:srgbClr val="05192D"/>
                </a:solidFill>
                <a:highlight>
                  <a:srgbClr val="FFFFFF"/>
                </a:highlight>
                <a:latin typeface="Arial"/>
                <a:ea typeface="Arial"/>
                <a:cs typeface="Arial"/>
                <a:sym typeface="Arial"/>
              </a:rPr>
              <a:t>: The intricacies of NER can be broken down into several steps:</a:t>
            </a:r>
            <a:endParaRPr sz="2100">
              <a:solidFill>
                <a:srgbClr val="05192D"/>
              </a:solidFill>
              <a:highlight>
                <a:srgbClr val="FFFFFF"/>
              </a:highlight>
              <a:latin typeface="Arial"/>
              <a:ea typeface="Arial"/>
              <a:cs typeface="Arial"/>
              <a:sym typeface="Arial"/>
            </a:endParaRPr>
          </a:p>
          <a:p>
            <a:pPr indent="-361950" lvl="0" marL="457200" rtl="0" algn="l">
              <a:lnSpc>
                <a:spcPct val="95000"/>
              </a:lnSpc>
              <a:spcBef>
                <a:spcPts val="1100"/>
              </a:spcBef>
              <a:spcAft>
                <a:spcPts val="0"/>
              </a:spcAft>
              <a:buClr>
                <a:srgbClr val="05192D"/>
              </a:buClr>
              <a:buSzPts val="2100"/>
              <a:buAutoNum type="arabicPeriod"/>
            </a:pPr>
            <a:r>
              <a:rPr b="1" lang="en-US" sz="2100">
                <a:solidFill>
                  <a:srgbClr val="05192D"/>
                </a:solidFill>
                <a:highlight>
                  <a:srgbClr val="FFFFFF"/>
                </a:highlight>
                <a:latin typeface="Arial"/>
                <a:ea typeface="Arial"/>
                <a:cs typeface="Arial"/>
                <a:sym typeface="Arial"/>
              </a:rPr>
              <a:t>Tokenization</a:t>
            </a:r>
            <a:r>
              <a:rPr lang="en-US" sz="2100">
                <a:solidFill>
                  <a:srgbClr val="05192D"/>
                </a:solidFill>
                <a:highlight>
                  <a:srgbClr val="FFFFFF"/>
                </a:highlight>
                <a:latin typeface="Arial"/>
                <a:ea typeface="Arial"/>
                <a:cs typeface="Arial"/>
                <a:sym typeface="Arial"/>
              </a:rPr>
              <a:t>. Before identifying entities, the text is split into tokens, which can be words, phrases, or even sentences. For instance, "Steve Jobs co-founded Apple" would be split into tokens like "Steve", "Jobs", "co-founded", "Apple".</a:t>
            </a:r>
            <a:endParaRPr sz="2100">
              <a:solidFill>
                <a:srgbClr val="05192D"/>
              </a:solidFill>
              <a:highlight>
                <a:srgbClr val="FFFFFF"/>
              </a:highlight>
              <a:latin typeface="Arial"/>
              <a:ea typeface="Arial"/>
              <a:cs typeface="Arial"/>
              <a:sym typeface="Arial"/>
            </a:endParaRPr>
          </a:p>
          <a:p>
            <a:pPr indent="-361950" lvl="0" marL="457200" rtl="0" algn="l">
              <a:lnSpc>
                <a:spcPct val="95000"/>
              </a:lnSpc>
              <a:spcBef>
                <a:spcPts val="0"/>
              </a:spcBef>
              <a:spcAft>
                <a:spcPts val="0"/>
              </a:spcAft>
              <a:buClr>
                <a:srgbClr val="05192D"/>
              </a:buClr>
              <a:buSzPts val="2100"/>
              <a:buAutoNum type="arabicPeriod"/>
            </a:pPr>
            <a:r>
              <a:rPr b="1" lang="en-US" sz="2100">
                <a:solidFill>
                  <a:srgbClr val="05192D"/>
                </a:solidFill>
                <a:highlight>
                  <a:srgbClr val="FFFFFF"/>
                </a:highlight>
                <a:latin typeface="Arial"/>
                <a:ea typeface="Arial"/>
                <a:cs typeface="Arial"/>
                <a:sym typeface="Arial"/>
              </a:rPr>
              <a:t>Entity identification</a:t>
            </a:r>
            <a:r>
              <a:rPr lang="en-US" sz="2100">
                <a:solidFill>
                  <a:srgbClr val="05192D"/>
                </a:solidFill>
                <a:highlight>
                  <a:srgbClr val="FFFFFF"/>
                </a:highlight>
                <a:latin typeface="Arial"/>
                <a:ea typeface="Arial"/>
                <a:cs typeface="Arial"/>
                <a:sym typeface="Arial"/>
              </a:rPr>
              <a:t>. Using various linguistic rules or statistical methods, potential named entities are detected. This involves recognizing patterns, such as capitalization in names ("Steve Jobs") or specific formats (like dates).</a:t>
            </a:r>
            <a:endParaRPr sz="2100">
              <a:solidFill>
                <a:srgbClr val="05192D"/>
              </a:solidFill>
              <a:highlight>
                <a:srgbClr val="FFFFFF"/>
              </a:highlight>
              <a:latin typeface="Arial"/>
              <a:ea typeface="Arial"/>
              <a:cs typeface="Arial"/>
              <a:sym typeface="Arial"/>
            </a:endParaRPr>
          </a:p>
          <a:p>
            <a:pPr indent="-361950" lvl="0" marL="457200" rtl="0" algn="l">
              <a:lnSpc>
                <a:spcPct val="95000"/>
              </a:lnSpc>
              <a:spcBef>
                <a:spcPts val="0"/>
              </a:spcBef>
              <a:spcAft>
                <a:spcPts val="0"/>
              </a:spcAft>
              <a:buClr>
                <a:srgbClr val="05192D"/>
              </a:buClr>
              <a:buSzPts val="2100"/>
              <a:buAutoNum type="arabicPeriod"/>
            </a:pPr>
            <a:r>
              <a:rPr b="1" lang="en-US" sz="2100">
                <a:solidFill>
                  <a:srgbClr val="05192D"/>
                </a:solidFill>
                <a:highlight>
                  <a:srgbClr val="FFFFFF"/>
                </a:highlight>
                <a:latin typeface="Arial"/>
                <a:ea typeface="Arial"/>
                <a:cs typeface="Arial"/>
                <a:sym typeface="Arial"/>
              </a:rPr>
              <a:t>Entity classification</a:t>
            </a:r>
            <a:r>
              <a:rPr lang="en-US" sz="2100">
                <a:solidFill>
                  <a:srgbClr val="05192D"/>
                </a:solidFill>
                <a:highlight>
                  <a:srgbClr val="FFFFFF"/>
                </a:highlight>
                <a:latin typeface="Arial"/>
                <a:ea typeface="Arial"/>
                <a:cs typeface="Arial"/>
                <a:sym typeface="Arial"/>
              </a:rPr>
              <a:t>. Once entities are identified, they are categorized into predefined classes such as "Person", "Organization", or "Location". This is often achieved using machine learning models trained on labeled datasets. For our example, "Steve Jobs" would be classified as a "Person" and "Apple" as an "Organization".</a:t>
            </a:r>
            <a:endParaRPr sz="2100">
              <a:solidFill>
                <a:srgbClr val="05192D"/>
              </a:solidFill>
              <a:highlight>
                <a:srgbClr val="FFFFFF"/>
              </a:highlight>
              <a:latin typeface="Arial"/>
              <a:ea typeface="Arial"/>
              <a:cs typeface="Arial"/>
              <a:sym typeface="Arial"/>
            </a:endParaRPr>
          </a:p>
          <a:p>
            <a:pPr indent="-361950" lvl="0" marL="457200" rtl="0" algn="l">
              <a:lnSpc>
                <a:spcPct val="95000"/>
              </a:lnSpc>
              <a:spcBef>
                <a:spcPts val="0"/>
              </a:spcBef>
              <a:spcAft>
                <a:spcPts val="0"/>
              </a:spcAft>
              <a:buClr>
                <a:srgbClr val="05192D"/>
              </a:buClr>
              <a:buSzPts val="2100"/>
              <a:buAutoNum type="arabicPeriod"/>
            </a:pPr>
            <a:r>
              <a:rPr b="1" lang="en-US" sz="2100">
                <a:solidFill>
                  <a:srgbClr val="05192D"/>
                </a:solidFill>
                <a:highlight>
                  <a:srgbClr val="FFFFFF"/>
                </a:highlight>
                <a:latin typeface="Arial"/>
                <a:ea typeface="Arial"/>
                <a:cs typeface="Arial"/>
                <a:sym typeface="Arial"/>
              </a:rPr>
              <a:t>Contextual analysis</a:t>
            </a:r>
            <a:r>
              <a:rPr lang="en-US" sz="2100">
                <a:solidFill>
                  <a:srgbClr val="05192D"/>
                </a:solidFill>
                <a:highlight>
                  <a:srgbClr val="FFFFFF"/>
                </a:highlight>
                <a:latin typeface="Arial"/>
                <a:ea typeface="Arial"/>
                <a:cs typeface="Arial"/>
                <a:sym typeface="Arial"/>
              </a:rPr>
              <a:t>. NER systems often consider the surrounding context to improve accuracy. For instance, in the sentence "Apple released a new iPhone", the context helps the system recognize "Apple" as an organization rather than a fruit.</a:t>
            </a:r>
            <a:endParaRPr sz="2100">
              <a:solidFill>
                <a:srgbClr val="05192D"/>
              </a:solidFill>
              <a:highlight>
                <a:srgbClr val="FFFFFF"/>
              </a:highlight>
              <a:latin typeface="Arial"/>
              <a:ea typeface="Arial"/>
              <a:cs typeface="Arial"/>
              <a:sym typeface="Arial"/>
            </a:endParaRPr>
          </a:p>
          <a:p>
            <a:pPr indent="-361950" lvl="0" marL="457200" rtl="0" algn="l">
              <a:lnSpc>
                <a:spcPct val="95000"/>
              </a:lnSpc>
              <a:spcBef>
                <a:spcPts val="0"/>
              </a:spcBef>
              <a:spcAft>
                <a:spcPts val="0"/>
              </a:spcAft>
              <a:buClr>
                <a:srgbClr val="05192D"/>
              </a:buClr>
              <a:buSzPts val="2100"/>
              <a:buAutoNum type="arabicPeriod"/>
            </a:pPr>
            <a:r>
              <a:rPr b="1" lang="en-US" sz="2100">
                <a:solidFill>
                  <a:srgbClr val="05192D"/>
                </a:solidFill>
                <a:highlight>
                  <a:srgbClr val="FFFFFF"/>
                </a:highlight>
                <a:latin typeface="Arial"/>
                <a:ea typeface="Arial"/>
                <a:cs typeface="Arial"/>
                <a:sym typeface="Arial"/>
              </a:rPr>
              <a:t>Post-processing</a:t>
            </a:r>
            <a:r>
              <a:rPr lang="en-US" sz="2100">
                <a:solidFill>
                  <a:srgbClr val="05192D"/>
                </a:solidFill>
                <a:highlight>
                  <a:srgbClr val="FFFFFF"/>
                </a:highlight>
                <a:latin typeface="Arial"/>
                <a:ea typeface="Arial"/>
                <a:cs typeface="Arial"/>
                <a:sym typeface="Arial"/>
              </a:rPr>
              <a:t>. After initial recognition and classification, post-processing might be applied to refine results. This could involve resolving ambiguities, merging multi-token entities, or using knowledge bases to enhance entity data.</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455175" y="0"/>
            <a:ext cx="10515600" cy="1049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Part-of-speech tagging (P-o-S)</a:t>
            </a:r>
            <a:endParaRPr/>
          </a:p>
        </p:txBody>
      </p:sp>
      <p:sp>
        <p:nvSpPr>
          <p:cNvPr id="170" name="Google Shape;170;p11"/>
          <p:cNvSpPr txBox="1"/>
          <p:nvPr>
            <p:ph idx="1" type="body"/>
          </p:nvPr>
        </p:nvSpPr>
        <p:spPr>
          <a:xfrm>
            <a:off x="205600" y="1049700"/>
            <a:ext cx="11673000" cy="1477200"/>
          </a:xfrm>
          <a:prstGeom prst="rect">
            <a:avLst/>
          </a:prstGeom>
          <a:noFill/>
          <a:ln>
            <a:noFill/>
          </a:ln>
        </p:spPr>
        <p:txBody>
          <a:bodyPr anchorCtr="0" anchor="t" bIns="45700" lIns="91425" spcFirstLastPara="1" rIns="91425" wrap="square" tIns="45700">
            <a:noAutofit/>
          </a:bodyPr>
          <a:lstStyle/>
          <a:p>
            <a:pPr indent="-212090" lvl="0" marL="228600" rtl="0" algn="l">
              <a:lnSpc>
                <a:spcPct val="80000"/>
              </a:lnSpc>
              <a:spcBef>
                <a:spcPts val="0"/>
              </a:spcBef>
              <a:spcAft>
                <a:spcPts val="0"/>
              </a:spcAft>
              <a:buClr>
                <a:schemeClr val="dk1"/>
              </a:buClr>
              <a:buSzPts val="2540"/>
              <a:buChar char="•"/>
            </a:pPr>
            <a:r>
              <a:rPr lang="en-US" sz="2540"/>
              <a:t>Part-of-speech tagging are approaches for identifying the parts of speech of words in a sentence, such as nouns, verbs, and adjectives.</a:t>
            </a:r>
            <a:endParaRPr sz="2540"/>
          </a:p>
          <a:p>
            <a:pPr indent="-212090" lvl="0" marL="228600" rtl="0" algn="l">
              <a:lnSpc>
                <a:spcPct val="80000"/>
              </a:lnSpc>
              <a:spcBef>
                <a:spcPts val="1000"/>
              </a:spcBef>
              <a:spcAft>
                <a:spcPts val="0"/>
              </a:spcAft>
              <a:buClr>
                <a:schemeClr val="dk1"/>
              </a:buClr>
              <a:buSzPts val="2540"/>
              <a:buChar char="•"/>
            </a:pPr>
            <a:r>
              <a:rPr lang="en-US" sz="2540"/>
              <a:t>NLTK library of python has a method called ‘pos_tag’ which allows tagging parts of speech with just one line of code.</a:t>
            </a:r>
            <a:endParaRPr sz="2540"/>
          </a:p>
        </p:txBody>
      </p:sp>
      <p:pic>
        <p:nvPicPr>
          <p:cNvPr id="171" name="Google Shape;171;p11"/>
          <p:cNvPicPr preferRelativeResize="0"/>
          <p:nvPr/>
        </p:nvPicPr>
        <p:blipFill rotWithShape="1">
          <a:blip r:embed="rId3">
            <a:alphaModFix/>
          </a:blip>
          <a:srcRect b="0" l="0" r="0" t="0"/>
          <a:stretch/>
        </p:blipFill>
        <p:spPr>
          <a:xfrm>
            <a:off x="0" y="2526900"/>
            <a:ext cx="5482015" cy="4331100"/>
          </a:xfrm>
          <a:prstGeom prst="rect">
            <a:avLst/>
          </a:prstGeom>
          <a:noFill/>
          <a:ln>
            <a:noFill/>
          </a:ln>
        </p:spPr>
      </p:pic>
      <p:pic>
        <p:nvPicPr>
          <p:cNvPr id="172" name="Google Shape;172;p11"/>
          <p:cNvPicPr preferRelativeResize="0"/>
          <p:nvPr/>
        </p:nvPicPr>
        <p:blipFill rotWithShape="1">
          <a:blip r:embed="rId4">
            <a:alphaModFix/>
          </a:blip>
          <a:srcRect b="0" l="0" r="0" t="0"/>
          <a:stretch/>
        </p:blipFill>
        <p:spPr>
          <a:xfrm>
            <a:off x="5683700" y="3200138"/>
            <a:ext cx="6417900" cy="2984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838200" y="0"/>
            <a:ext cx="10515600" cy="812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The Different Parts of Speech and Their Tags</a:t>
            </a:r>
            <a:endParaRPr/>
          </a:p>
        </p:txBody>
      </p:sp>
      <p:sp>
        <p:nvSpPr>
          <p:cNvPr id="178" name="Google Shape;178;p12"/>
          <p:cNvSpPr txBox="1"/>
          <p:nvPr>
            <p:ph idx="1" type="body"/>
          </p:nvPr>
        </p:nvSpPr>
        <p:spPr>
          <a:xfrm>
            <a:off x="129300" y="812100"/>
            <a:ext cx="11933400" cy="1696500"/>
          </a:xfrm>
          <a:prstGeom prst="rect">
            <a:avLst/>
          </a:prstGeom>
          <a:noFill/>
          <a:ln>
            <a:noFill/>
          </a:ln>
        </p:spPr>
        <p:txBody>
          <a:bodyPr anchorCtr="0" anchor="t" bIns="45700" lIns="91425" spcFirstLastPara="1" rIns="91425" wrap="square" tIns="45700">
            <a:normAutofit/>
          </a:bodyPr>
          <a:lstStyle/>
          <a:p>
            <a:pPr indent="-222250" lvl="0" marL="228600" rtl="0" algn="l">
              <a:lnSpc>
                <a:spcPct val="80000"/>
              </a:lnSpc>
              <a:spcBef>
                <a:spcPts val="0"/>
              </a:spcBef>
              <a:spcAft>
                <a:spcPts val="0"/>
              </a:spcAft>
              <a:buClr>
                <a:schemeClr val="dk1"/>
              </a:buClr>
              <a:buSzPts val="2700"/>
              <a:buChar char="•"/>
            </a:pPr>
            <a:r>
              <a:rPr lang="en-US" sz="2700"/>
              <a:t>There are nine main parts of speech: </a:t>
            </a:r>
            <a:r>
              <a:rPr b="1" lang="en-US" sz="2700"/>
              <a:t>noun, pronoun, verb, adjective, adverb, conjunction, preposition, interjection, and article.</a:t>
            </a:r>
            <a:endParaRPr b="1" sz="2700"/>
          </a:p>
          <a:p>
            <a:pPr indent="-222250" lvl="0" marL="228600" rtl="0" algn="l">
              <a:lnSpc>
                <a:spcPct val="80000"/>
              </a:lnSpc>
              <a:spcBef>
                <a:spcPts val="1000"/>
              </a:spcBef>
              <a:spcAft>
                <a:spcPts val="0"/>
              </a:spcAft>
              <a:buClr>
                <a:schemeClr val="dk1"/>
              </a:buClr>
              <a:buSzPts val="2700"/>
              <a:buChar char="•"/>
            </a:pPr>
            <a:r>
              <a:rPr lang="en-US" sz="2700"/>
              <a:t>Part-of-speech (POS) tags are labels that are assigned to words in a text, indicating their grammatical role in a sentence. The most common types of POS tags include:</a:t>
            </a:r>
            <a:endParaRPr sz="2700"/>
          </a:p>
        </p:txBody>
      </p:sp>
      <p:sp>
        <p:nvSpPr>
          <p:cNvPr id="179" name="Google Shape;179;p12"/>
          <p:cNvSpPr txBox="1"/>
          <p:nvPr>
            <p:ph idx="1" type="body"/>
          </p:nvPr>
        </p:nvSpPr>
        <p:spPr>
          <a:xfrm>
            <a:off x="838200" y="2508600"/>
            <a:ext cx="10515600" cy="4349400"/>
          </a:xfrm>
          <a:prstGeom prst="rect">
            <a:avLst/>
          </a:prstGeom>
          <a:noFill/>
          <a:ln>
            <a:noFill/>
          </a:ln>
        </p:spPr>
        <p:txBody>
          <a:bodyPr anchorCtr="0" anchor="t" bIns="45700" lIns="91425" spcFirstLastPara="1" rIns="91425" wrap="square" tIns="45700">
            <a:normAutofit/>
          </a:bodyPr>
          <a:lstStyle/>
          <a:p>
            <a:pPr indent="-215900" lvl="0" marL="228600" rtl="0" algn="l">
              <a:lnSpc>
                <a:spcPct val="80000"/>
              </a:lnSpc>
              <a:spcBef>
                <a:spcPts val="0"/>
              </a:spcBef>
              <a:spcAft>
                <a:spcPts val="0"/>
              </a:spcAft>
              <a:buClr>
                <a:schemeClr val="dk1"/>
              </a:buClr>
              <a:buSzPts val="2600"/>
              <a:buChar char="•"/>
            </a:pPr>
            <a:r>
              <a:rPr lang="en-US" sz="2600"/>
              <a:t>Noun (NN): A person, place, thing, or idea</a:t>
            </a:r>
            <a:endParaRPr sz="2600"/>
          </a:p>
          <a:p>
            <a:pPr indent="-215900" lvl="0" marL="228600" rtl="0" algn="l">
              <a:lnSpc>
                <a:spcPct val="80000"/>
              </a:lnSpc>
              <a:spcBef>
                <a:spcPts val="1000"/>
              </a:spcBef>
              <a:spcAft>
                <a:spcPts val="0"/>
              </a:spcAft>
              <a:buClr>
                <a:schemeClr val="dk1"/>
              </a:buClr>
              <a:buSzPts val="2600"/>
              <a:buChar char="•"/>
            </a:pPr>
            <a:r>
              <a:rPr lang="en-US" sz="2600"/>
              <a:t>Verb (VB): An action or occurrence</a:t>
            </a:r>
            <a:endParaRPr sz="2600"/>
          </a:p>
          <a:p>
            <a:pPr indent="-215900" lvl="0" marL="228600" rtl="0" algn="l">
              <a:lnSpc>
                <a:spcPct val="80000"/>
              </a:lnSpc>
              <a:spcBef>
                <a:spcPts val="1000"/>
              </a:spcBef>
              <a:spcAft>
                <a:spcPts val="0"/>
              </a:spcAft>
              <a:buClr>
                <a:schemeClr val="dk1"/>
              </a:buClr>
              <a:buSzPts val="2600"/>
              <a:buChar char="•"/>
            </a:pPr>
            <a:r>
              <a:rPr lang="en-US" sz="2600"/>
              <a:t>Adjective (JJ): A word that describes a noun or pronoun</a:t>
            </a:r>
            <a:endParaRPr sz="2600"/>
          </a:p>
          <a:p>
            <a:pPr indent="-215900" lvl="0" marL="228600" rtl="0" algn="l">
              <a:lnSpc>
                <a:spcPct val="80000"/>
              </a:lnSpc>
              <a:spcBef>
                <a:spcPts val="1000"/>
              </a:spcBef>
              <a:spcAft>
                <a:spcPts val="0"/>
              </a:spcAft>
              <a:buClr>
                <a:schemeClr val="dk1"/>
              </a:buClr>
              <a:buSzPts val="2600"/>
              <a:buChar char="•"/>
            </a:pPr>
            <a:r>
              <a:rPr lang="en-US" sz="2600"/>
              <a:t>Adverb (RB): A word that describes a verb, adjective, or other adverb</a:t>
            </a:r>
            <a:endParaRPr sz="2600"/>
          </a:p>
          <a:p>
            <a:pPr indent="-215900" lvl="0" marL="228600" rtl="0" algn="l">
              <a:lnSpc>
                <a:spcPct val="80000"/>
              </a:lnSpc>
              <a:spcBef>
                <a:spcPts val="1000"/>
              </a:spcBef>
              <a:spcAft>
                <a:spcPts val="0"/>
              </a:spcAft>
              <a:buClr>
                <a:schemeClr val="dk1"/>
              </a:buClr>
              <a:buSzPts val="2600"/>
              <a:buChar char="•"/>
            </a:pPr>
            <a:r>
              <a:rPr lang="en-US" sz="2600"/>
              <a:t>Pronoun (PRP): A word that takes the place of a noun</a:t>
            </a:r>
            <a:endParaRPr sz="2600"/>
          </a:p>
          <a:p>
            <a:pPr indent="-215900" lvl="0" marL="228600" rtl="0" algn="l">
              <a:lnSpc>
                <a:spcPct val="80000"/>
              </a:lnSpc>
              <a:spcBef>
                <a:spcPts val="1000"/>
              </a:spcBef>
              <a:spcAft>
                <a:spcPts val="0"/>
              </a:spcAft>
              <a:buClr>
                <a:schemeClr val="dk1"/>
              </a:buClr>
              <a:buSzPts val="2600"/>
              <a:buChar char="•"/>
            </a:pPr>
            <a:r>
              <a:rPr lang="en-US" sz="2600"/>
              <a:t>Conjunction (CC): A word that connects words, phrases, or clauses</a:t>
            </a:r>
            <a:endParaRPr sz="2600"/>
          </a:p>
          <a:p>
            <a:pPr indent="-215900" lvl="0" marL="228600" rtl="0" algn="l">
              <a:lnSpc>
                <a:spcPct val="80000"/>
              </a:lnSpc>
              <a:spcBef>
                <a:spcPts val="1000"/>
              </a:spcBef>
              <a:spcAft>
                <a:spcPts val="0"/>
              </a:spcAft>
              <a:buClr>
                <a:schemeClr val="dk1"/>
              </a:buClr>
              <a:buSzPts val="2600"/>
              <a:buChar char="•"/>
            </a:pPr>
            <a:r>
              <a:rPr lang="en-US" sz="2600"/>
              <a:t>Preposition (IN): A word that shows a relationship between a noun or pronoun and other elements in a sentence</a:t>
            </a:r>
            <a:endParaRPr sz="2600"/>
          </a:p>
          <a:p>
            <a:pPr indent="-215900" lvl="0" marL="228600" rtl="0" algn="l">
              <a:lnSpc>
                <a:spcPct val="80000"/>
              </a:lnSpc>
              <a:spcBef>
                <a:spcPts val="1000"/>
              </a:spcBef>
              <a:spcAft>
                <a:spcPts val="0"/>
              </a:spcAft>
              <a:buClr>
                <a:schemeClr val="dk1"/>
              </a:buClr>
              <a:buSzPts val="2600"/>
              <a:buChar char="•"/>
            </a:pPr>
            <a:r>
              <a:rPr lang="en-US" sz="2600"/>
              <a:t>Interjection (UH): A word or phrase used to express strong emotion</a:t>
            </a:r>
            <a:endParaRPr sz="2600"/>
          </a:p>
          <a:p>
            <a:pPr indent="-215900" lvl="0" marL="228600" rtl="0" algn="l">
              <a:lnSpc>
                <a:spcPct val="80000"/>
              </a:lnSpc>
              <a:spcBef>
                <a:spcPts val="1000"/>
              </a:spcBef>
              <a:spcAft>
                <a:spcPts val="0"/>
              </a:spcAft>
              <a:buSzPts val="2600"/>
              <a:buChar char="•"/>
            </a:pPr>
            <a:r>
              <a:rPr lang="en-US" sz="2600"/>
              <a:t>Article</a:t>
            </a:r>
            <a:endParaRPr sz="2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POS and categorise.</a:t>
            </a:r>
            <a:endParaRPr/>
          </a:p>
        </p:txBody>
      </p:sp>
      <p:sp>
        <p:nvSpPr>
          <p:cNvPr id="185" name="Google Shape;185;p14"/>
          <p:cNvSpPr txBox="1"/>
          <p:nvPr>
            <p:ph idx="1" type="body"/>
          </p:nvPr>
        </p:nvSpPr>
        <p:spPr>
          <a:xfrm>
            <a:off x="838200" y="1432625"/>
            <a:ext cx="10515600" cy="5253000"/>
          </a:xfrm>
          <a:prstGeom prst="rect">
            <a:avLst/>
          </a:prstGeom>
          <a:noFill/>
          <a:ln>
            <a:noFill/>
          </a:ln>
        </p:spPr>
        <p:txBody>
          <a:bodyPr anchorCtr="0" anchor="t" bIns="45700" lIns="91425" spcFirstLastPara="1" rIns="91425" wrap="square" tIns="45700">
            <a:normAutofit/>
          </a:bodyPr>
          <a:lstStyle/>
          <a:p>
            <a:pPr indent="-241934" lvl="0" marL="228600" rtl="0" algn="l">
              <a:lnSpc>
                <a:spcPct val="90000"/>
              </a:lnSpc>
              <a:spcBef>
                <a:spcPts val="0"/>
              </a:spcBef>
              <a:spcAft>
                <a:spcPts val="0"/>
              </a:spcAft>
              <a:buClr>
                <a:schemeClr val="dk1"/>
              </a:buClr>
              <a:buSzPts val="2800"/>
              <a:buChar char="•"/>
            </a:pPr>
            <a:r>
              <a:rPr lang="en-US"/>
              <a:t>This is just a sample of the most common POS tags, different libraries and models may have different sets of tags, but the purpose remains the same — </a:t>
            </a:r>
            <a:r>
              <a:rPr i="1" lang="en-US" u="sng"/>
              <a:t>to categorise words based on their grammatical function</a:t>
            </a:r>
            <a:r>
              <a:rPr lang="en-US"/>
              <a:t>.</a:t>
            </a:r>
            <a:endParaRPr/>
          </a:p>
          <a:p>
            <a:pPr indent="-241934" lvl="0" marL="228600" rtl="0" algn="l">
              <a:lnSpc>
                <a:spcPct val="90000"/>
              </a:lnSpc>
              <a:spcBef>
                <a:spcPts val="1000"/>
              </a:spcBef>
              <a:spcAft>
                <a:spcPts val="0"/>
              </a:spcAft>
              <a:buClr>
                <a:schemeClr val="dk1"/>
              </a:buClr>
              <a:buSzPts val="2800"/>
              <a:buChar char="•"/>
            </a:pPr>
            <a:r>
              <a:rPr lang="en-US"/>
              <a:t>Parts of speech can also be categorised by their grammatical function in a sentence. There are three primary categories: </a:t>
            </a:r>
            <a:br>
              <a:rPr lang="en-US"/>
            </a:br>
            <a:r>
              <a:rPr b="1" lang="en-US"/>
              <a:t>subjects </a:t>
            </a:r>
            <a:r>
              <a:rPr lang="en-US"/>
              <a:t>(which perform the action), </a:t>
            </a:r>
            <a:br>
              <a:rPr lang="en-US"/>
            </a:br>
            <a:r>
              <a:rPr b="1" lang="en-US"/>
              <a:t>objects </a:t>
            </a:r>
            <a:r>
              <a:rPr lang="en-US"/>
              <a:t>(which receive the action), and </a:t>
            </a:r>
            <a:br>
              <a:rPr lang="en-US"/>
            </a:br>
            <a:r>
              <a:rPr b="1" lang="en-US"/>
              <a:t>modifiers </a:t>
            </a:r>
            <a:r>
              <a:rPr lang="en-US"/>
              <a:t>(which describe or modify the subject or object). </a:t>
            </a:r>
            <a:endParaRPr/>
          </a:p>
          <a:p>
            <a:pPr indent="-241934" lvl="0" marL="228600" rtl="0" algn="l">
              <a:lnSpc>
                <a:spcPct val="90000"/>
              </a:lnSpc>
              <a:spcBef>
                <a:spcPts val="1000"/>
              </a:spcBef>
              <a:spcAft>
                <a:spcPts val="0"/>
              </a:spcAft>
              <a:buClr>
                <a:schemeClr val="dk1"/>
              </a:buClr>
              <a:buSzPts val="2800"/>
              <a:buChar char="•"/>
            </a:pPr>
            <a:r>
              <a:rPr lang="en-US"/>
              <a:t>Each primary category can be further divided into subcategories. For example, subjects can be further classified as simple (one word), compound (two or more words), or complex (sentences containing subordinate clauses).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Text generation</a:t>
            </a:r>
            <a:br>
              <a:rPr lang="en-US"/>
            </a:br>
            <a:endParaRPr/>
          </a:p>
        </p:txBody>
      </p:sp>
      <p:sp>
        <p:nvSpPr>
          <p:cNvPr id="191" name="Google Shape;19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Techniques for generating new text based on a given input, such as machine translation and text summarization.</a:t>
            </a:r>
            <a:endParaRPr/>
          </a:p>
          <a:p>
            <a:pPr indent="-228600" lvl="0" marL="228600" rtl="0" algn="l">
              <a:lnSpc>
                <a:spcPct val="90000"/>
              </a:lnSpc>
              <a:spcBef>
                <a:spcPts val="1000"/>
              </a:spcBef>
              <a:spcAft>
                <a:spcPts val="0"/>
              </a:spcAft>
              <a:buClr>
                <a:schemeClr val="dk1"/>
              </a:buClr>
              <a:buSzPts val="2800"/>
              <a:buChar char="•"/>
            </a:pPr>
            <a:r>
              <a:rPr lang="en-US"/>
              <a:t>Text generation is the task of automatically producing new text based on a given input or model. It is a popular area of research in Natural Language Processing (NLP) and has numerous applications such as chatbots, content creation, and language translation.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6"/>
          <p:cNvSpPr txBox="1"/>
          <p:nvPr>
            <p:ph type="title"/>
          </p:nvPr>
        </p:nvSpPr>
        <p:spPr>
          <a:xfrm>
            <a:off x="387900" y="0"/>
            <a:ext cx="10515600" cy="108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Techniques for text generation.</a:t>
            </a:r>
            <a:endParaRPr/>
          </a:p>
        </p:txBody>
      </p:sp>
      <p:sp>
        <p:nvSpPr>
          <p:cNvPr id="197" name="Google Shape;197;p16"/>
          <p:cNvSpPr txBox="1"/>
          <p:nvPr>
            <p:ph idx="1" type="body"/>
          </p:nvPr>
        </p:nvSpPr>
        <p:spPr>
          <a:xfrm>
            <a:off x="387900" y="1164750"/>
            <a:ext cx="11416200" cy="5693100"/>
          </a:xfrm>
          <a:prstGeom prst="rect">
            <a:avLst/>
          </a:prstGeom>
          <a:noFill/>
          <a:ln>
            <a:noFill/>
          </a:ln>
        </p:spPr>
        <p:txBody>
          <a:bodyPr anchorCtr="0" anchor="t" bIns="45700" lIns="91425" spcFirstLastPara="1" rIns="91425" wrap="square" tIns="45700">
            <a:noAutofit/>
          </a:bodyPr>
          <a:lstStyle/>
          <a:p>
            <a:pPr indent="-269240" lvl="0" marL="228600" rtl="0" algn="l">
              <a:lnSpc>
                <a:spcPct val="70000"/>
              </a:lnSpc>
              <a:spcBef>
                <a:spcPts val="0"/>
              </a:spcBef>
              <a:spcAft>
                <a:spcPts val="0"/>
              </a:spcAft>
              <a:buClr>
                <a:schemeClr val="dk1"/>
              </a:buClr>
              <a:buSzPts val="2600"/>
              <a:buChar char="•"/>
            </a:pPr>
            <a:r>
              <a:rPr b="1" lang="en-US" sz="2600"/>
              <a:t>Markov Chain: </a:t>
            </a:r>
            <a:r>
              <a:rPr lang="en-US" sz="2600"/>
              <a:t>A statistical model that predicts the next word based on the probability distribution of the previous words in the text. It generates new text by starting with an initial state, and then repeatedly sampling the next word based on the probability distribution learned from the input text.</a:t>
            </a:r>
            <a:endParaRPr sz="2600"/>
          </a:p>
          <a:p>
            <a:pPr indent="-269240" lvl="0" marL="228600" rtl="0" algn="l">
              <a:lnSpc>
                <a:spcPct val="70000"/>
              </a:lnSpc>
              <a:spcBef>
                <a:spcPts val="1000"/>
              </a:spcBef>
              <a:spcAft>
                <a:spcPts val="0"/>
              </a:spcAft>
              <a:buClr>
                <a:schemeClr val="dk1"/>
              </a:buClr>
              <a:buSzPts val="2600"/>
              <a:buChar char="•"/>
            </a:pPr>
            <a:r>
              <a:rPr b="1" lang="en-US" sz="2600"/>
              <a:t>Sequence-to-Sequence (Seq2Seq) Model: </a:t>
            </a:r>
            <a:r>
              <a:rPr lang="en-US" sz="2600"/>
              <a:t>A deep learning model that consists of two recurrent neural networks (RNNs), an encoder, and a decoder. The encoder takes the input text and produces a fixed-length vector representation, while the decoder generates the output text based on the vector representation.</a:t>
            </a:r>
            <a:endParaRPr sz="2600"/>
          </a:p>
          <a:p>
            <a:pPr indent="-269240" lvl="0" marL="228600" rtl="0" algn="l">
              <a:lnSpc>
                <a:spcPct val="70000"/>
              </a:lnSpc>
              <a:spcBef>
                <a:spcPts val="1000"/>
              </a:spcBef>
              <a:spcAft>
                <a:spcPts val="0"/>
              </a:spcAft>
              <a:buClr>
                <a:schemeClr val="dk1"/>
              </a:buClr>
              <a:buSzPts val="2600"/>
              <a:buChar char="•"/>
            </a:pPr>
            <a:r>
              <a:rPr b="1" lang="en-US" sz="2600"/>
              <a:t>Generative Adversarial Network (GAN): </a:t>
            </a:r>
            <a:r>
              <a:rPr lang="en-US" sz="2600"/>
              <a:t>A deep learning model that consists of two neural networks, a </a:t>
            </a:r>
            <a:r>
              <a:rPr lang="en-US" sz="2600" u="sng"/>
              <a:t>generator</a:t>
            </a:r>
            <a:r>
              <a:rPr lang="en-US" sz="2600"/>
              <a:t>, and a </a:t>
            </a:r>
            <a:r>
              <a:rPr lang="en-US" sz="2600" u="sng"/>
              <a:t>discriminator</a:t>
            </a:r>
            <a:r>
              <a:rPr lang="en-US" sz="2600"/>
              <a:t>. The generator produces new text samples, while the discriminator tries to distinguish between the generated text and the real text. The two networks are trained in an adversarial manner, where the generator tries to produce more realistic text, while the discriminator tries to become better at recognizing fake text.</a:t>
            </a:r>
            <a:endParaRPr sz="2600"/>
          </a:p>
          <a:p>
            <a:pPr indent="-269240" lvl="0" marL="228600" rtl="0" algn="l">
              <a:lnSpc>
                <a:spcPct val="70000"/>
              </a:lnSpc>
              <a:spcBef>
                <a:spcPts val="1000"/>
              </a:spcBef>
              <a:spcAft>
                <a:spcPts val="0"/>
              </a:spcAft>
              <a:buClr>
                <a:schemeClr val="dk1"/>
              </a:buClr>
              <a:buSzPts val="2600"/>
              <a:buChar char="•"/>
            </a:pPr>
            <a:r>
              <a:rPr b="1" lang="en-US" sz="2600"/>
              <a:t>Transformer-based Models</a:t>
            </a:r>
            <a:r>
              <a:rPr lang="en-US" sz="2600"/>
              <a:t>: Transformer models are a type of neural network architecture designed for NLP tasks, such as text classification and machine translation. They have been shown to perform well on text-generation tasks as well.</a:t>
            </a:r>
            <a:endParaRPr sz="2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Text-to-Speech and Speech-to-Text</a:t>
            </a:r>
            <a:br>
              <a:rPr lang="en-US"/>
            </a:br>
            <a:endParaRPr/>
          </a:p>
        </p:txBody>
      </p:sp>
      <p:sp>
        <p:nvSpPr>
          <p:cNvPr id="203" name="Google Shape;203;p17"/>
          <p:cNvSpPr txBox="1"/>
          <p:nvPr>
            <p:ph idx="1" type="body"/>
          </p:nvPr>
        </p:nvSpPr>
        <p:spPr>
          <a:xfrm>
            <a:off x="438150" y="1425575"/>
            <a:ext cx="11187600" cy="43512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Techniques for converting speech to text and text to speech.</a:t>
            </a:r>
            <a:endParaRPr/>
          </a:p>
          <a:p>
            <a:pPr indent="-228600" lvl="0" marL="228600" rtl="0" algn="l">
              <a:lnSpc>
                <a:spcPct val="90000"/>
              </a:lnSpc>
              <a:spcBef>
                <a:spcPts val="1000"/>
              </a:spcBef>
              <a:spcAft>
                <a:spcPts val="0"/>
              </a:spcAft>
              <a:buClr>
                <a:schemeClr val="dk1"/>
              </a:buClr>
              <a:buSzPts val="2800"/>
              <a:buChar char="•"/>
            </a:pPr>
            <a:r>
              <a:rPr lang="en-US"/>
              <a:t>Text-to-Speech (TTS) and Speech-to-Text (STT) are two important applications of Natural Language Processing (NLP).</a:t>
            </a:r>
            <a:endParaRPr/>
          </a:p>
          <a:p>
            <a:pPr indent="-228600" lvl="0" marL="228600" rtl="0" algn="l">
              <a:lnSpc>
                <a:spcPct val="90000"/>
              </a:lnSpc>
              <a:spcBef>
                <a:spcPts val="1000"/>
              </a:spcBef>
              <a:spcAft>
                <a:spcPts val="0"/>
              </a:spcAft>
              <a:buClr>
                <a:schemeClr val="dk1"/>
              </a:buClr>
              <a:buSzPts val="2800"/>
              <a:buChar char="•"/>
            </a:pPr>
            <a:r>
              <a:rPr b="1" lang="en-US"/>
              <a:t>Text-to-Speech (TTS): </a:t>
            </a:r>
            <a:r>
              <a:rPr lang="en-US"/>
              <a:t>TTS is a technology that allows computers to generate human-like speech from written text. </a:t>
            </a:r>
            <a:br>
              <a:rPr lang="en-US"/>
            </a:br>
            <a:r>
              <a:rPr lang="en-US"/>
              <a:t>The goal of TTS is to produce speech that is natural, expressive, and matches the intonation, rhythm, and prosody of human speech as closely as possible. </a:t>
            </a:r>
            <a:br>
              <a:rPr lang="en-US"/>
            </a:br>
            <a:r>
              <a:rPr lang="en-US"/>
              <a:t>TTS systems typically consist of two components: a </a:t>
            </a:r>
            <a:r>
              <a:rPr lang="en-US" u="sng"/>
              <a:t>text analysis module</a:t>
            </a:r>
            <a:r>
              <a:rPr lang="en-US"/>
              <a:t> that analyzes the input text, and a </a:t>
            </a:r>
            <a:r>
              <a:rPr lang="en-US" u="sng"/>
              <a:t>speech synthesis module</a:t>
            </a:r>
            <a:r>
              <a:rPr lang="en-US"/>
              <a:t> that converts the analyzed text into speech.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2800"/>
              <a:t>Speech-to-Text (STT):</a:t>
            </a:r>
            <a:endParaRPr/>
          </a:p>
        </p:txBody>
      </p:sp>
      <p:sp>
        <p:nvSpPr>
          <p:cNvPr id="209" name="Google Shape;209;p18"/>
          <p:cNvSpPr txBox="1"/>
          <p:nvPr>
            <p:ph idx="1" type="body"/>
          </p:nvPr>
        </p:nvSpPr>
        <p:spPr>
          <a:xfrm>
            <a:off x="838200" y="1825625"/>
            <a:ext cx="10515600" cy="2528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 </a:t>
            </a:r>
            <a:r>
              <a:rPr lang="en-US"/>
              <a:t>STT transcribe spoken words into written text. </a:t>
            </a:r>
            <a:br>
              <a:rPr lang="en-US"/>
            </a:br>
            <a:r>
              <a:rPr lang="en-US"/>
              <a:t>STT systems are used in a wide range of applications, including voice-controlled virtual assistants, dictation software, and automatic speech recognition (ASR) systems. </a:t>
            </a:r>
            <a:br>
              <a:rPr lang="en-US"/>
            </a:br>
            <a:r>
              <a:rPr lang="en-US"/>
              <a:t>STT systems typically use </a:t>
            </a:r>
            <a:r>
              <a:rPr lang="en-US" u="sng"/>
              <a:t>acoustic models</a:t>
            </a:r>
            <a:r>
              <a:rPr lang="en-US"/>
              <a:t> and </a:t>
            </a:r>
            <a:r>
              <a:rPr lang="en-US" u="sng"/>
              <a:t>language models</a:t>
            </a:r>
            <a:r>
              <a:rPr lang="en-US"/>
              <a:t> to transcribe speech into text.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2023-12-25T19:06:34Z</dcterms:created>
  <dc:creator>Radhe</dc:creator>
</cp:coreProperties>
</file>