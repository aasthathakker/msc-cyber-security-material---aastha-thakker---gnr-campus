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obo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D2DCF4-084A-4659-959C-2871FD1A9842}">
  <a:tblStyle styleId="{2BD2DCF4-084A-4659-959C-2871FD1A984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italic.fntdata"/><Relationship Id="rId12" Type="http://schemas.openxmlformats.org/officeDocument/2006/relationships/slide" Target="slides/slide6.xml"/><Relationship Id="rId34" Type="http://schemas.openxmlformats.org/officeDocument/2006/relationships/font" Target="fonts/Roboto-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Robot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8d17107d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8d17107d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493f4b1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493f4b1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8d12b980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8d12b980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8493f4b10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8493f4b10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8493f4b10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8493f4b10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8493f4b10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8493f4b10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8493f4b10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8493f4b10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8493f4b10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8493f4b10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d12b980b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d12b980b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493f4b10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493f4b10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493f4b10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493f4b10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493f4b10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493f4b10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493f4b10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8493f4b10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d12b980b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d12b980b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493f4b10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493f4b10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d12b980b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d12b980b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493f4b10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493f4b10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493f4b10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8493f4b10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493f4b10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493f4b10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493f4b10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493f4b10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8493f4b10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8493f4b10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493f4b10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493f4b10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493f4b10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8493f4b10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493f4b10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8493f4b10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493f4b10a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8493f4b10a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youtube.com/watch?v=pc9sZz45s94" TargetMode="External"/><Relationship Id="rId4" Type="http://schemas.openxmlformats.org/officeDocument/2006/relationships/hyperlink" Target="https://www.youtube.com/watch?v=sN5ZcJLDMaE" TargetMode="External"/><Relationship Id="rId5" Type="http://schemas.openxmlformats.org/officeDocument/2006/relationships/hyperlink" Target="https://www.geeksforgeeks.org/machine-learning/types-of-ensemble-learn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197175" y="152400"/>
            <a:ext cx="6536331" cy="48387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ctrTitle"/>
          </p:nvPr>
        </p:nvSpPr>
        <p:spPr>
          <a:xfrm>
            <a:off x="4604500" y="1555375"/>
            <a:ext cx="5265900" cy="1101000"/>
          </a:xfrm>
          <a:prstGeom prst="rect">
            <a:avLst/>
          </a:prstGeom>
        </p:spPr>
        <p:txBody>
          <a:bodyPr anchorCtr="0" anchor="b" bIns="91425" lIns="91425" spcFirstLastPara="1" rIns="91425" wrap="square" tIns="91425">
            <a:normAutofit fontScale="90000"/>
          </a:bodyPr>
          <a:lstStyle/>
          <a:p>
            <a:pPr indent="0" lvl="0" marL="0" rtl="0" algn="ctr">
              <a:lnSpc>
                <a:spcPct val="138000"/>
              </a:lnSpc>
              <a:spcBef>
                <a:spcPts val="0"/>
              </a:spcBef>
              <a:spcAft>
                <a:spcPts val="0"/>
              </a:spcAft>
              <a:buNone/>
            </a:pPr>
            <a:r>
              <a:t/>
            </a:r>
            <a:endParaRPr b="1" sz="1800">
              <a:solidFill>
                <a:srgbClr val="272C37"/>
              </a:solidFill>
              <a:highlight>
                <a:srgbClr val="FFFFFF"/>
              </a:highlight>
              <a:latin typeface="Roboto"/>
              <a:ea typeface="Roboto"/>
              <a:cs typeface="Roboto"/>
              <a:sym typeface="Roboto"/>
            </a:endParaRPr>
          </a:p>
          <a:p>
            <a:pPr indent="0" lvl="0" marL="0" rtl="0" algn="ctr">
              <a:lnSpc>
                <a:spcPct val="138000"/>
              </a:lnSpc>
              <a:spcBef>
                <a:spcPts val="0"/>
              </a:spcBef>
              <a:spcAft>
                <a:spcPts val="0"/>
              </a:spcAft>
              <a:buNone/>
            </a:pPr>
            <a:r>
              <a:t/>
            </a:r>
            <a:endParaRPr b="1" sz="1800">
              <a:solidFill>
                <a:srgbClr val="272C37"/>
              </a:solidFill>
              <a:highlight>
                <a:srgbClr val="FFFFFF"/>
              </a:highlight>
              <a:latin typeface="Roboto"/>
              <a:ea typeface="Roboto"/>
              <a:cs typeface="Roboto"/>
              <a:sym typeface="Roboto"/>
            </a:endParaRPr>
          </a:p>
          <a:p>
            <a:pPr indent="0" lvl="0" marL="0" rtl="0" algn="ctr">
              <a:lnSpc>
                <a:spcPct val="138000"/>
              </a:lnSpc>
              <a:spcBef>
                <a:spcPts val="0"/>
              </a:spcBef>
              <a:spcAft>
                <a:spcPts val="0"/>
              </a:spcAft>
              <a:buNone/>
            </a:pPr>
            <a:r>
              <a:t/>
            </a:r>
            <a:endParaRPr b="1" sz="1800">
              <a:solidFill>
                <a:srgbClr val="272C37"/>
              </a:solidFill>
              <a:highlight>
                <a:srgbClr val="FFFFFF"/>
              </a:highlight>
              <a:latin typeface="Roboto"/>
              <a:ea typeface="Roboto"/>
              <a:cs typeface="Roboto"/>
              <a:sym typeface="Roboto"/>
            </a:endParaRPr>
          </a:p>
          <a:p>
            <a:pPr indent="0" lvl="0" marL="0" rtl="0" algn="ctr">
              <a:lnSpc>
                <a:spcPct val="138000"/>
              </a:lnSpc>
              <a:spcBef>
                <a:spcPts val="0"/>
              </a:spcBef>
              <a:spcAft>
                <a:spcPts val="0"/>
              </a:spcAft>
              <a:buNone/>
            </a:pPr>
            <a:r>
              <a:t/>
            </a:r>
            <a:endParaRPr b="1" sz="1800">
              <a:solidFill>
                <a:srgbClr val="272C37"/>
              </a:solidFill>
              <a:highlight>
                <a:srgbClr val="FFFFFF"/>
              </a:highlight>
              <a:latin typeface="Roboto"/>
              <a:ea typeface="Roboto"/>
              <a:cs typeface="Roboto"/>
              <a:sym typeface="Roboto"/>
            </a:endParaRPr>
          </a:p>
          <a:p>
            <a:pPr indent="0" lvl="0" marL="0" rtl="0" algn="ctr">
              <a:lnSpc>
                <a:spcPct val="138000"/>
              </a:lnSpc>
              <a:spcBef>
                <a:spcPts val="0"/>
              </a:spcBef>
              <a:spcAft>
                <a:spcPts val="0"/>
              </a:spcAft>
              <a:buNone/>
            </a:pPr>
            <a:r>
              <a:t/>
            </a:r>
            <a:endParaRPr b="1" sz="1800">
              <a:solidFill>
                <a:srgbClr val="272C37"/>
              </a:solidFill>
              <a:highlight>
                <a:srgbClr val="FFFFFF"/>
              </a:highlight>
              <a:latin typeface="Roboto"/>
              <a:ea typeface="Roboto"/>
              <a:cs typeface="Roboto"/>
              <a:sym typeface="Roboto"/>
            </a:endParaRPr>
          </a:p>
          <a:p>
            <a:pPr indent="0" lvl="0" marL="0" rtl="0" algn="ctr">
              <a:lnSpc>
                <a:spcPct val="138000"/>
              </a:lnSpc>
              <a:spcBef>
                <a:spcPts val="0"/>
              </a:spcBef>
              <a:spcAft>
                <a:spcPts val="0"/>
              </a:spcAft>
              <a:buNone/>
            </a:pPr>
            <a:r>
              <a:t/>
            </a:r>
            <a:endParaRPr b="1" sz="1800">
              <a:solidFill>
                <a:srgbClr val="272C37"/>
              </a:solidFill>
              <a:highlight>
                <a:srgbClr val="FFFFFF"/>
              </a:highlight>
              <a:latin typeface="Roboto"/>
              <a:ea typeface="Roboto"/>
              <a:cs typeface="Roboto"/>
              <a:sym typeface="Roboto"/>
            </a:endParaRPr>
          </a:p>
          <a:p>
            <a:pPr indent="0" lvl="0" marL="0" rtl="0" algn="ctr">
              <a:lnSpc>
                <a:spcPct val="138000"/>
              </a:lnSpc>
              <a:spcBef>
                <a:spcPts val="0"/>
              </a:spcBef>
              <a:spcAft>
                <a:spcPts val="0"/>
              </a:spcAft>
              <a:buClr>
                <a:schemeClr val="dk1"/>
              </a:buClr>
              <a:buSzPct val="61111"/>
              <a:buFont typeface="Arial"/>
              <a:buNone/>
            </a:pPr>
            <a:r>
              <a:rPr b="1" lang="en" sz="1800">
                <a:solidFill>
                  <a:srgbClr val="272C37"/>
                </a:solidFill>
                <a:highlight>
                  <a:srgbClr val="FFFFFF"/>
                </a:highlight>
                <a:latin typeface="Roboto"/>
                <a:ea typeface="Roboto"/>
                <a:cs typeface="Roboto"/>
                <a:sym typeface="Roboto"/>
              </a:rPr>
              <a:t>Boost Accuracy with Multiple Models</a:t>
            </a:r>
            <a:endParaRPr b="1" sz="1800">
              <a:solidFill>
                <a:srgbClr val="272C37"/>
              </a:solidFill>
              <a:highlight>
                <a:srgbClr val="FFFFFF"/>
              </a:highlight>
              <a:latin typeface="Roboto"/>
              <a:ea typeface="Roboto"/>
              <a:cs typeface="Roboto"/>
              <a:sym typeface="Roboto"/>
            </a:endParaRPr>
          </a:p>
          <a:p>
            <a:pPr indent="0" lvl="0" marL="0" rtl="0" algn="ctr">
              <a:spcBef>
                <a:spcPts val="0"/>
              </a:spcBef>
              <a:spcAft>
                <a:spcPts val="0"/>
              </a:spcAft>
              <a:buNone/>
            </a:pPr>
            <a:r>
              <a:t/>
            </a:r>
            <a:endParaRPr/>
          </a:p>
        </p:txBody>
      </p:sp>
      <p:sp>
        <p:nvSpPr>
          <p:cNvPr id="60" name="Google Shape;60;p14"/>
          <p:cNvSpPr txBox="1"/>
          <p:nvPr>
            <p:ph idx="1" type="subTitle"/>
          </p:nvPr>
        </p:nvSpPr>
        <p:spPr>
          <a:xfrm>
            <a:off x="350200" y="4158500"/>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n"/>
              <a:t>Ensemble Learning in machine learning that integrates multiple models called as weak learners to create a single effective model for prediction. </a:t>
            </a:r>
            <a:endParaRPr/>
          </a:p>
          <a:p>
            <a:pPr indent="0" lvl="0" marL="0" rtl="0" algn="ctr">
              <a:spcBef>
                <a:spcPts val="0"/>
              </a:spcBef>
              <a:spcAft>
                <a:spcPts val="0"/>
              </a:spcAft>
              <a:buNone/>
            </a:pPr>
            <a:r>
              <a:rPr lang="en"/>
              <a:t>This technique is used to enhance accuracy, minimizing variance and removing overfitting. </a:t>
            </a:r>
            <a:endParaRPr/>
          </a:p>
        </p:txBody>
      </p:sp>
      <p:pic>
        <p:nvPicPr>
          <p:cNvPr id="61" name="Google Shape;61;p14"/>
          <p:cNvPicPr preferRelativeResize="0"/>
          <p:nvPr/>
        </p:nvPicPr>
        <p:blipFill>
          <a:blip r:embed="rId3">
            <a:alphaModFix/>
          </a:blip>
          <a:stretch>
            <a:fillRect/>
          </a:stretch>
        </p:blipFill>
        <p:spPr>
          <a:xfrm>
            <a:off x="36900" y="113800"/>
            <a:ext cx="4350875" cy="3913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700075" y="214000"/>
            <a:ext cx="5238900" cy="4583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Ensemble</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Ensemble learning is a machine learning paradigm that involves generating an ensemble of </a:t>
            </a:r>
            <a:r>
              <a:rPr lang="en">
                <a:highlight>
                  <a:srgbClr val="E06666"/>
                </a:highlight>
              </a:rPr>
              <a:t>models</a:t>
            </a:r>
            <a:r>
              <a:rPr lang="en"/>
              <a:t>, which can </a:t>
            </a:r>
            <a:r>
              <a:rPr lang="en">
                <a:highlight>
                  <a:srgbClr val="FF9900"/>
                </a:highlight>
              </a:rPr>
              <a:t>include training constituent models </a:t>
            </a:r>
            <a:r>
              <a:rPr lang="en"/>
              <a:t>on </a:t>
            </a:r>
            <a:r>
              <a:rPr lang="en">
                <a:highlight>
                  <a:srgbClr val="FF9900"/>
                </a:highlight>
              </a:rPr>
              <a:t>resampled datasets </a:t>
            </a:r>
            <a:r>
              <a:rPr lang="en"/>
              <a:t>and </a:t>
            </a:r>
            <a:r>
              <a:rPr lang="en">
                <a:highlight>
                  <a:srgbClr val="FF9900"/>
                </a:highlight>
              </a:rPr>
              <a:t>combining them in some form</a:t>
            </a:r>
            <a:r>
              <a:rPr lang="en"/>
              <a:t>, such as </a:t>
            </a:r>
            <a:r>
              <a:rPr lang="en">
                <a:highlight>
                  <a:srgbClr val="FF9900"/>
                </a:highlight>
              </a:rPr>
              <a:t>averaging, to provide predictions of target variables of interest</a:t>
            </a:r>
            <a:r>
              <a:rPr lang="en"/>
              <a:t>. </a:t>
            </a:r>
            <a:endParaRPr/>
          </a:p>
          <a:p>
            <a:pPr indent="0" lvl="0" marL="0" rtl="0" algn="l">
              <a:spcBef>
                <a:spcPts val="1200"/>
              </a:spcBef>
              <a:spcAft>
                <a:spcPts val="0"/>
              </a:spcAft>
              <a:buNone/>
            </a:pPr>
            <a:r>
              <a:rPr lang="en"/>
              <a:t> At its core, ensemble learning represents a strategy where </a:t>
            </a:r>
            <a:r>
              <a:rPr lang="en">
                <a:highlight>
                  <a:srgbClr val="00FFFF"/>
                </a:highlight>
              </a:rPr>
              <a:t>multiple individual models</a:t>
            </a:r>
            <a:r>
              <a:rPr lang="en"/>
              <a:t>, often referred to as </a:t>
            </a:r>
            <a:r>
              <a:rPr lang="en">
                <a:highlight>
                  <a:srgbClr val="00FF00"/>
                </a:highlight>
              </a:rPr>
              <a:t>base learners</a:t>
            </a:r>
            <a:r>
              <a:rPr lang="en"/>
              <a:t>, </a:t>
            </a:r>
            <a:r>
              <a:rPr lang="en">
                <a:highlight>
                  <a:srgbClr val="00FFFF"/>
                </a:highlight>
              </a:rPr>
              <a:t>collaboratively work together</a:t>
            </a:r>
            <a:r>
              <a:rPr lang="en"/>
              <a:t> to improve overall </a:t>
            </a:r>
            <a:r>
              <a:rPr lang="en">
                <a:highlight>
                  <a:srgbClr val="4A86E8"/>
                </a:highlight>
              </a:rPr>
              <a:t>predictive performance</a:t>
            </a:r>
            <a:r>
              <a:rPr lang="en"/>
              <a:t>. </a:t>
            </a:r>
            <a:endParaRPr/>
          </a:p>
          <a:p>
            <a:pPr indent="0" lvl="0" marL="0" rtl="0" algn="l">
              <a:spcBef>
                <a:spcPts val="1200"/>
              </a:spcBef>
              <a:spcAft>
                <a:spcPts val="0"/>
              </a:spcAft>
              <a:buNone/>
            </a:pPr>
            <a:r>
              <a:rPr lang="en"/>
              <a:t> The main premise is that by </a:t>
            </a:r>
            <a:r>
              <a:rPr lang="en">
                <a:highlight>
                  <a:srgbClr val="FF9900"/>
                </a:highlight>
              </a:rPr>
              <a:t>combining multiple models</a:t>
            </a:r>
            <a:r>
              <a:rPr lang="en"/>
              <a:t>, the </a:t>
            </a:r>
            <a:r>
              <a:rPr lang="en">
                <a:highlight>
                  <a:srgbClr val="4A86E8"/>
                </a:highlight>
              </a:rPr>
              <a:t>errors of a base learner</a:t>
            </a:r>
            <a:r>
              <a:rPr lang="en"/>
              <a:t> will likely be c</a:t>
            </a:r>
            <a:r>
              <a:rPr lang="en">
                <a:highlight>
                  <a:srgbClr val="FF9900"/>
                </a:highlight>
              </a:rPr>
              <a:t>ompensated by other base learners</a:t>
            </a:r>
            <a:r>
              <a:rPr lang="en"/>
              <a:t>, resulting in </a:t>
            </a:r>
            <a:r>
              <a:rPr lang="en">
                <a:highlight>
                  <a:srgbClr val="EFEFEF"/>
                </a:highlight>
              </a:rPr>
              <a:t>higher prediction performance of the ensemble compared to a single base learner</a:t>
            </a:r>
            <a:r>
              <a:rPr lang="en"/>
              <a:t>. </a:t>
            </a:r>
            <a:endParaRPr/>
          </a:p>
          <a:p>
            <a:pPr indent="0" lvl="0" marL="0" rtl="0" algn="l">
              <a:spcBef>
                <a:spcPts val="1200"/>
              </a:spcBef>
              <a:spcAft>
                <a:spcPts val="1200"/>
              </a:spcAft>
              <a:buNone/>
            </a:pPr>
            <a:r>
              <a:rPr lang="en"/>
              <a:t>This approach harnesses the </a:t>
            </a:r>
            <a:r>
              <a:rPr lang="en">
                <a:highlight>
                  <a:srgbClr val="F3F3F3"/>
                </a:highlight>
              </a:rPr>
              <a:t>wisdom of the crowd</a:t>
            </a:r>
            <a:r>
              <a:rPr lang="en"/>
              <a:t>,</a:t>
            </a:r>
            <a:r>
              <a:rPr lang="en">
                <a:highlight>
                  <a:srgbClr val="D5A6BD"/>
                </a:highlight>
              </a:rPr>
              <a:t> leveraging diverse viewpoints to create a final model that outperforms any of its constituent parts.</a:t>
            </a:r>
            <a:endParaRPr>
              <a:highlight>
                <a:srgbClr val="D5A6BD"/>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a:t>
            </a:r>
            <a:r>
              <a:rPr lang="en"/>
              <a:t>Ensemble</a:t>
            </a:r>
            <a:r>
              <a:rPr lang="en"/>
              <a:t> Learning</a:t>
            </a:r>
            <a:endParaRPr/>
          </a:p>
        </p:txBody>
      </p:sp>
      <p:pic>
        <p:nvPicPr>
          <p:cNvPr id="78" name="Google Shape;78;p17"/>
          <p:cNvPicPr preferRelativeResize="0"/>
          <p:nvPr/>
        </p:nvPicPr>
        <p:blipFill>
          <a:blip r:embed="rId3">
            <a:alphaModFix/>
          </a:blip>
          <a:stretch>
            <a:fillRect/>
          </a:stretch>
        </p:blipFill>
        <p:spPr>
          <a:xfrm>
            <a:off x="806900" y="1139325"/>
            <a:ext cx="7629525" cy="3819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20"/>
              <a:t>Bagging :</a:t>
            </a:r>
            <a:r>
              <a:rPr lang="en" sz="2120"/>
              <a:t> </a:t>
            </a:r>
            <a:r>
              <a:rPr lang="en" sz="1920"/>
              <a:t>Bagging is a technique that involves creating multiple versions of a model and combining their outputs to improve overall performance.</a:t>
            </a:r>
            <a:endParaRPr sz="1920"/>
          </a:p>
        </p:txBody>
      </p:sp>
      <p:pic>
        <p:nvPicPr>
          <p:cNvPr id="84" name="Google Shape;84;p18"/>
          <p:cNvPicPr preferRelativeResize="0"/>
          <p:nvPr/>
        </p:nvPicPr>
        <p:blipFill>
          <a:blip r:embed="rId3">
            <a:alphaModFix/>
          </a:blip>
          <a:stretch>
            <a:fillRect/>
          </a:stretch>
        </p:blipFill>
        <p:spPr>
          <a:xfrm>
            <a:off x="860800" y="1455275"/>
            <a:ext cx="7629525" cy="3449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Boosting : </a:t>
            </a:r>
            <a:r>
              <a:rPr lang="en" sz="2244"/>
              <a:t>Boosting is an ensemble technique where multiple models are trained sequentially, with each new model attempting to correct the errors made by the previous ones.</a:t>
            </a:r>
            <a:endParaRPr sz="2244"/>
          </a:p>
        </p:txBody>
      </p:sp>
      <p:pic>
        <p:nvPicPr>
          <p:cNvPr id="90" name="Google Shape;90;p19"/>
          <p:cNvPicPr preferRelativeResize="0"/>
          <p:nvPr/>
        </p:nvPicPr>
        <p:blipFill>
          <a:blip r:embed="rId3">
            <a:alphaModFix/>
          </a:blip>
          <a:stretch>
            <a:fillRect/>
          </a:stretch>
        </p:blipFill>
        <p:spPr>
          <a:xfrm>
            <a:off x="372250" y="1632325"/>
            <a:ext cx="8618175" cy="3441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Stacking :</a:t>
            </a:r>
            <a:endParaRPr/>
          </a:p>
        </p:txBody>
      </p:sp>
      <p:pic>
        <p:nvPicPr>
          <p:cNvPr id="96" name="Google Shape;96;p20"/>
          <p:cNvPicPr preferRelativeResize="0"/>
          <p:nvPr/>
        </p:nvPicPr>
        <p:blipFill>
          <a:blip r:embed="rId3">
            <a:alphaModFix/>
          </a:blip>
          <a:stretch>
            <a:fillRect/>
          </a:stretch>
        </p:blipFill>
        <p:spPr>
          <a:xfrm>
            <a:off x="691400" y="1123925"/>
            <a:ext cx="7620000" cy="3819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5041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Bagging (Bootstrap Aggregating)</a:t>
            </a:r>
            <a:endParaRPr/>
          </a:p>
        </p:txBody>
      </p:sp>
      <p:sp>
        <p:nvSpPr>
          <p:cNvPr id="102" name="Google Shape;102;p21"/>
          <p:cNvSpPr txBox="1"/>
          <p:nvPr>
            <p:ph idx="1" type="body"/>
          </p:nvPr>
        </p:nvSpPr>
        <p:spPr>
          <a:xfrm>
            <a:off x="254175" y="1152475"/>
            <a:ext cx="4597800" cy="35274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
              <a:t>Overview: Bagging involves training multiple models on different </a:t>
            </a:r>
            <a:r>
              <a:rPr lang="en">
                <a:highlight>
                  <a:srgbClr val="00FFFF"/>
                </a:highlight>
              </a:rPr>
              <a:t>random subsets of the training data </a:t>
            </a:r>
            <a:r>
              <a:rPr lang="en"/>
              <a:t>and then aggregating their predictions. The most well-known example is the </a:t>
            </a:r>
            <a:r>
              <a:rPr lang="en">
                <a:highlight>
                  <a:srgbClr val="A4C2F4"/>
                </a:highlight>
              </a:rPr>
              <a:t>Random Forest algorithm.</a:t>
            </a:r>
            <a:endParaRPr>
              <a:highlight>
                <a:srgbClr val="A4C2F4"/>
              </a:highlight>
            </a:endParaRPr>
          </a:p>
          <a:p>
            <a:pPr indent="0" lvl="0" marL="0" rtl="0" algn="l">
              <a:spcBef>
                <a:spcPts val="1200"/>
              </a:spcBef>
              <a:spcAft>
                <a:spcPts val="0"/>
              </a:spcAft>
              <a:buNone/>
            </a:pPr>
            <a:r>
              <a:rPr b="1" lang="en"/>
              <a:t>Pros:</a:t>
            </a:r>
            <a:endParaRPr b="1"/>
          </a:p>
          <a:p>
            <a:pPr indent="0" lvl="0" marL="0" rtl="0" algn="l">
              <a:spcBef>
                <a:spcPts val="1200"/>
              </a:spcBef>
              <a:spcAft>
                <a:spcPts val="0"/>
              </a:spcAft>
              <a:buNone/>
            </a:pPr>
            <a:r>
              <a:rPr b="1" lang="en"/>
              <a:t>Reduces Variance:</a:t>
            </a:r>
            <a:r>
              <a:rPr lang="en"/>
              <a:t> By training models on different subsets, bagging reduces the variance, leading to more stable and robust models.</a:t>
            </a:r>
            <a:endParaRPr/>
          </a:p>
          <a:p>
            <a:pPr indent="0" lvl="0" marL="0" rtl="0" algn="l">
              <a:spcBef>
                <a:spcPts val="1200"/>
              </a:spcBef>
              <a:spcAft>
                <a:spcPts val="0"/>
              </a:spcAft>
              <a:buNone/>
            </a:pPr>
            <a:r>
              <a:rPr b="1" lang="en"/>
              <a:t>Parallel Training:</a:t>
            </a:r>
            <a:r>
              <a:rPr lang="en"/>
              <a:t> Models can be trained independently, making the process parallelizable and faster.</a:t>
            </a:r>
            <a:endParaRPr/>
          </a:p>
          <a:p>
            <a:pPr indent="0" lvl="0" marL="0" rtl="0" algn="l">
              <a:spcBef>
                <a:spcPts val="1200"/>
              </a:spcBef>
              <a:spcAft>
                <a:spcPts val="0"/>
              </a:spcAft>
              <a:buNone/>
            </a:pPr>
            <a:r>
              <a:rPr b="1" lang="en"/>
              <a:t>Cons:</a:t>
            </a:r>
            <a:endParaRPr b="1"/>
          </a:p>
          <a:p>
            <a:pPr indent="0" lvl="0" marL="0" rtl="0" algn="l">
              <a:spcBef>
                <a:spcPts val="1200"/>
              </a:spcBef>
              <a:spcAft>
                <a:spcPts val="0"/>
              </a:spcAft>
              <a:buNone/>
            </a:pPr>
            <a:r>
              <a:rPr b="1" lang="en"/>
              <a:t>Limited Reduction of Bias:</a:t>
            </a:r>
            <a:r>
              <a:rPr lang="en"/>
              <a:t> Bagging primarily reduces variance but may not significantly reduce bias if the base models are biased.</a:t>
            </a:r>
            <a:endParaRPr/>
          </a:p>
          <a:p>
            <a:pPr indent="0" lvl="0" marL="0" rtl="0" algn="l">
              <a:spcBef>
                <a:spcPts val="1200"/>
              </a:spcBef>
              <a:spcAft>
                <a:spcPts val="0"/>
              </a:spcAft>
              <a:buNone/>
            </a:pPr>
            <a:r>
              <a:rPr b="1" lang="en"/>
              <a:t>Use Cases:</a:t>
            </a:r>
            <a:endParaRPr b="1"/>
          </a:p>
          <a:p>
            <a:pPr indent="0" lvl="0" marL="0" rtl="0" algn="l">
              <a:spcBef>
                <a:spcPts val="1200"/>
              </a:spcBef>
              <a:spcAft>
                <a:spcPts val="1200"/>
              </a:spcAft>
              <a:buNone/>
            </a:pPr>
            <a:r>
              <a:rPr lang="en"/>
              <a:t>Random Forests for classification and regression tasks.</a:t>
            </a:r>
            <a:endParaRPr/>
          </a:p>
        </p:txBody>
      </p:sp>
      <p:pic>
        <p:nvPicPr>
          <p:cNvPr id="103" name="Google Shape;103;p21"/>
          <p:cNvPicPr preferRelativeResize="0"/>
          <p:nvPr/>
        </p:nvPicPr>
        <p:blipFill>
          <a:blip r:embed="rId3">
            <a:alphaModFix/>
          </a:blip>
          <a:stretch>
            <a:fillRect/>
          </a:stretch>
        </p:blipFill>
        <p:spPr>
          <a:xfrm>
            <a:off x="4851975" y="1682575"/>
            <a:ext cx="4292024" cy="2197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325400"/>
            <a:ext cx="4121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in Bagging</a:t>
            </a:r>
            <a:endParaRPr/>
          </a:p>
        </p:txBody>
      </p:sp>
      <p:sp>
        <p:nvSpPr>
          <p:cNvPr id="109" name="Google Shape;109;p22"/>
          <p:cNvSpPr txBox="1"/>
          <p:nvPr>
            <p:ph idx="1" type="body"/>
          </p:nvPr>
        </p:nvSpPr>
        <p:spPr>
          <a:xfrm>
            <a:off x="311700" y="1152475"/>
            <a:ext cx="4323300" cy="38040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rPr b="1" lang="en"/>
              <a:t>Base Model Selection:</a:t>
            </a:r>
            <a:r>
              <a:rPr lang="en"/>
              <a:t> We can start with a base model like a decision tree or a random forest classifier, which are known to perform well on classification tasks and have a high variance, making them prone to overfitting.</a:t>
            </a:r>
            <a:endParaRPr/>
          </a:p>
          <a:p>
            <a:pPr indent="0" lvl="0" marL="0" rtl="0" algn="l">
              <a:spcBef>
                <a:spcPts val="1200"/>
              </a:spcBef>
              <a:spcAft>
                <a:spcPts val="0"/>
              </a:spcAft>
              <a:buNone/>
            </a:pPr>
            <a:r>
              <a:rPr b="1" lang="en"/>
              <a:t>Bootstrapped Sampling:</a:t>
            </a:r>
            <a:r>
              <a:rPr lang="en"/>
              <a:t> Using bootstrapped sampling, we produce multiple subsets of the training data. Assume we make ten subsets (or “bags”) of the training data, each with a random sampling of 80% of the original data and replacement. This means that some samples will be repeated in each bag, while others will be skipped.</a:t>
            </a:r>
            <a:endParaRPr/>
          </a:p>
          <a:p>
            <a:pPr indent="0" lvl="0" marL="0" rtl="0" algn="l">
              <a:spcBef>
                <a:spcPts val="1200"/>
              </a:spcBef>
              <a:spcAft>
                <a:spcPts val="0"/>
              </a:spcAft>
              <a:buNone/>
            </a:pPr>
            <a:r>
              <a:rPr b="1" lang="en"/>
              <a:t>Training the Base Model: </a:t>
            </a:r>
            <a:r>
              <a:rPr lang="en"/>
              <a:t>We train the base model (e.g., a decision tree) independently on each bag of training data. Fitting the decision tree to each bag and obtaining the model parameters or weights is what this entails.</a:t>
            </a:r>
            <a:endParaRPr/>
          </a:p>
          <a:p>
            <a:pPr indent="0" lvl="0" marL="0" rtl="0" algn="l">
              <a:spcBef>
                <a:spcPts val="1200"/>
              </a:spcBef>
              <a:spcAft>
                <a:spcPts val="0"/>
              </a:spcAft>
              <a:buNone/>
            </a:pPr>
            <a:r>
              <a:rPr b="1" lang="en"/>
              <a:t>Combination of Prediction Models:</a:t>
            </a:r>
            <a:r>
              <a:rPr lang="en"/>
              <a:t> Once all of the base models have been trained, we may use them to make predictions on the test data. The underlying models’ forecasts can be blended using majority voting. For example, if six out of ten base models predict a tumor to be malignant, we can take the majority vote and declare the tumor to be malignant.</a:t>
            </a:r>
            <a:endParaRPr/>
          </a:p>
          <a:p>
            <a:pPr indent="0" lvl="0" marL="0" rtl="0" algn="l">
              <a:spcBef>
                <a:spcPts val="1200"/>
              </a:spcBef>
              <a:spcAft>
                <a:spcPts val="0"/>
              </a:spcAft>
              <a:buNone/>
            </a:pPr>
            <a:r>
              <a:rPr b="1" lang="en"/>
              <a:t>Evaluation and Performance Analysis:</a:t>
            </a:r>
            <a:r>
              <a:rPr lang="en"/>
              <a:t> We assess the bagged ensemble model’s performance using appropriate evaluation metrics such as accuracy, precision, recall, and F1-score. To assess the improvement in model performance, we compare the performance of the bagged ensemble model to the performance of the base model.</a:t>
            </a:r>
            <a:endParaRPr/>
          </a:p>
          <a:p>
            <a:pPr indent="0" lvl="0" marL="0" rtl="0" algn="l">
              <a:spcBef>
                <a:spcPts val="1200"/>
              </a:spcBef>
              <a:spcAft>
                <a:spcPts val="1200"/>
              </a:spcAft>
              <a:buNone/>
            </a:pPr>
            <a:r>
              <a:rPr b="1" lang="en"/>
              <a:t>Hyperparameter Tuning: </a:t>
            </a:r>
            <a:r>
              <a:rPr lang="en"/>
              <a:t>To improve model performance, we can fine-tune the hyperparameters of the basic model and the bagging ensemble. To discover the optimum combination for a specific problem, we can experiment with alternative hyperparameter values, such as the number of base models in the ensemble, the sampling ratio for bootstrapped sampling, and the type of prediction combination method.</a:t>
            </a:r>
            <a:endParaRPr/>
          </a:p>
        </p:txBody>
      </p:sp>
      <p:pic>
        <p:nvPicPr>
          <p:cNvPr id="110" name="Google Shape;110;p22"/>
          <p:cNvPicPr preferRelativeResize="0"/>
          <p:nvPr/>
        </p:nvPicPr>
        <p:blipFill>
          <a:blip r:embed="rId3">
            <a:alphaModFix/>
          </a:blip>
          <a:stretch>
            <a:fillRect/>
          </a:stretch>
        </p:blipFill>
        <p:spPr>
          <a:xfrm>
            <a:off x="4635000" y="219675"/>
            <a:ext cx="4204200" cy="456663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Algorithm</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1. Random Forest</a:t>
            </a:r>
            <a:endParaRPr b="1"/>
          </a:p>
          <a:p>
            <a:pPr indent="0" lvl="0" marL="0" rtl="0" algn="l">
              <a:spcBef>
                <a:spcPts val="1200"/>
              </a:spcBef>
              <a:spcAft>
                <a:spcPts val="0"/>
              </a:spcAft>
              <a:buNone/>
            </a:pPr>
            <a:r>
              <a:rPr lang="en"/>
              <a:t>Random forest is an ensemble method based on decision trees. Multiple decision trees are trained using different bootstrapped samples of the data.</a:t>
            </a:r>
            <a:endParaRPr/>
          </a:p>
          <a:p>
            <a:pPr indent="0" lvl="0" marL="0" rtl="0" algn="l">
              <a:spcBef>
                <a:spcPts val="1200"/>
              </a:spcBef>
              <a:spcAft>
                <a:spcPts val="0"/>
              </a:spcAft>
              <a:buNone/>
            </a:pPr>
            <a:r>
              <a:rPr lang="en"/>
              <a:t>In addition to bagging, Random Forest also introduces randomness by selecting a random subset of features at each node, further reducing variance and overfitting.</a:t>
            </a:r>
            <a:endParaRPr/>
          </a:p>
          <a:p>
            <a:pPr indent="0" lvl="0" marL="0" rtl="0" algn="l">
              <a:spcBef>
                <a:spcPts val="1200"/>
              </a:spcBef>
              <a:spcAft>
                <a:spcPts val="0"/>
              </a:spcAft>
              <a:buNone/>
            </a:pPr>
            <a:r>
              <a:rPr b="1" lang="en"/>
              <a:t>2. Bagged Decision Trees</a:t>
            </a:r>
            <a:endParaRPr b="1"/>
          </a:p>
          <a:p>
            <a:pPr indent="0" lvl="0" marL="0" rtl="0" algn="l">
              <a:spcBef>
                <a:spcPts val="1200"/>
              </a:spcBef>
              <a:spcAft>
                <a:spcPts val="0"/>
              </a:spcAft>
              <a:buNone/>
            </a:pPr>
            <a:r>
              <a:rPr lang="en"/>
              <a:t>In Bagged Decision Trees, multiple decision trees are trained using bootstrapped samples of the data.</a:t>
            </a:r>
            <a:endParaRPr/>
          </a:p>
          <a:p>
            <a:pPr indent="0" lvl="0" marL="0" rtl="0" algn="l">
              <a:spcBef>
                <a:spcPts val="1200"/>
              </a:spcBef>
              <a:spcAft>
                <a:spcPts val="1200"/>
              </a:spcAft>
              <a:buNone/>
            </a:pPr>
            <a:r>
              <a:rPr lang="en"/>
              <a:t>Each tree is trained independently and the final prediction is made by averaging the predictions of all the trees in the ensemble.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Bagging trains multiple models on different bootstrap samples of the training data, reducing variance and improving stability, especially for high-variance algorithms like decision trees. </a:t>
            </a:r>
            <a:endParaRPr/>
          </a:p>
          <a:p>
            <a:pPr indent="0" lvl="0" marL="0" rtl="0" algn="l">
              <a:spcBef>
                <a:spcPts val="1200"/>
              </a:spcBef>
              <a:spcAft>
                <a:spcPts val="1200"/>
              </a:spcAft>
              <a:buNone/>
            </a:pPr>
            <a:r>
              <a:rPr lang="en"/>
              <a:t> Random Forests are prominent examples, where each tree is trained on a random subset of data and features, and predictions are combined by majority voting or averaging.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49100" y="198325"/>
            <a:ext cx="1998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Boosting</a:t>
            </a:r>
            <a:endParaRPr/>
          </a:p>
        </p:txBody>
      </p:sp>
      <p:sp>
        <p:nvSpPr>
          <p:cNvPr id="128" name="Google Shape;128;p25"/>
          <p:cNvSpPr txBox="1"/>
          <p:nvPr>
            <p:ph idx="1" type="body"/>
          </p:nvPr>
        </p:nvSpPr>
        <p:spPr>
          <a:xfrm>
            <a:off x="311700" y="859750"/>
            <a:ext cx="4308600" cy="39921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b="1" lang="en"/>
              <a:t>Overview:</a:t>
            </a:r>
            <a:r>
              <a:rPr lang="en"/>
              <a:t> Boosting trains models sequentially, where each new model attempts to correct the errors made by the previous ones. Examples include AdaBoost, Gradient Boosting Machines (GBM), and XGBoost.</a:t>
            </a:r>
            <a:endParaRPr/>
          </a:p>
          <a:p>
            <a:pPr indent="0" lvl="0" marL="0" rtl="0" algn="l">
              <a:spcBef>
                <a:spcPts val="1200"/>
              </a:spcBef>
              <a:spcAft>
                <a:spcPts val="0"/>
              </a:spcAft>
              <a:buNone/>
            </a:pPr>
            <a:r>
              <a:rPr b="1" lang="en"/>
              <a:t>Pros:</a:t>
            </a:r>
            <a:endParaRPr b="1"/>
          </a:p>
          <a:p>
            <a:pPr indent="0" lvl="0" marL="0" rtl="0" algn="l">
              <a:spcBef>
                <a:spcPts val="1200"/>
              </a:spcBef>
              <a:spcAft>
                <a:spcPts val="0"/>
              </a:spcAft>
              <a:buNone/>
            </a:pPr>
            <a:r>
              <a:rPr b="1" lang="en"/>
              <a:t>Reduces Bias and Variance:</a:t>
            </a:r>
            <a:r>
              <a:rPr lang="en"/>
              <a:t> Boosting can reduce both bias and variance, leading to high predictive accuracy.</a:t>
            </a:r>
            <a:endParaRPr/>
          </a:p>
          <a:p>
            <a:pPr indent="0" lvl="0" marL="0" rtl="0" algn="l">
              <a:spcBef>
                <a:spcPts val="1200"/>
              </a:spcBef>
              <a:spcAft>
                <a:spcPts val="0"/>
              </a:spcAft>
              <a:buNone/>
            </a:pPr>
            <a:r>
              <a:rPr b="1" lang="en"/>
              <a:t>Handles Complex Relationships:</a:t>
            </a:r>
            <a:r>
              <a:rPr lang="en"/>
              <a:t> Capable of capturing complex data patterns.</a:t>
            </a:r>
            <a:endParaRPr/>
          </a:p>
          <a:p>
            <a:pPr indent="0" lvl="0" marL="0" rtl="0" algn="l">
              <a:spcBef>
                <a:spcPts val="1200"/>
              </a:spcBef>
              <a:spcAft>
                <a:spcPts val="0"/>
              </a:spcAft>
              <a:buNone/>
            </a:pPr>
            <a:r>
              <a:rPr b="1" lang="en"/>
              <a:t>Cons:</a:t>
            </a:r>
            <a:endParaRPr b="1"/>
          </a:p>
          <a:p>
            <a:pPr indent="0" lvl="0" marL="0" rtl="0" algn="l">
              <a:spcBef>
                <a:spcPts val="1200"/>
              </a:spcBef>
              <a:spcAft>
                <a:spcPts val="0"/>
              </a:spcAft>
              <a:buNone/>
            </a:pPr>
            <a:r>
              <a:rPr b="1" lang="en"/>
              <a:t>Risk of Overfitting:</a:t>
            </a:r>
            <a:r>
              <a:rPr lang="en"/>
              <a:t> If not properly regularized, boosting can overfit the training data.</a:t>
            </a:r>
            <a:endParaRPr/>
          </a:p>
          <a:p>
            <a:pPr indent="0" lvl="0" marL="0" rtl="0" algn="l">
              <a:spcBef>
                <a:spcPts val="1200"/>
              </a:spcBef>
              <a:spcAft>
                <a:spcPts val="0"/>
              </a:spcAft>
              <a:buNone/>
            </a:pPr>
            <a:r>
              <a:rPr b="1" lang="en"/>
              <a:t>Sequential Training:</a:t>
            </a:r>
            <a:r>
              <a:rPr lang="en"/>
              <a:t> Models are trained sequentially, which can be slower compared to parallelizable methods like bagging.</a:t>
            </a:r>
            <a:endParaRPr/>
          </a:p>
          <a:p>
            <a:pPr indent="0" lvl="0" marL="0" rtl="0" algn="l">
              <a:spcBef>
                <a:spcPts val="1200"/>
              </a:spcBef>
              <a:spcAft>
                <a:spcPts val="0"/>
              </a:spcAft>
              <a:buNone/>
            </a:pPr>
            <a:r>
              <a:rPr b="1" lang="en"/>
              <a:t>Use Cases:</a:t>
            </a:r>
            <a:endParaRPr b="1"/>
          </a:p>
          <a:p>
            <a:pPr indent="0" lvl="0" marL="0" rtl="0" algn="l">
              <a:spcBef>
                <a:spcPts val="1200"/>
              </a:spcBef>
              <a:spcAft>
                <a:spcPts val="0"/>
              </a:spcAft>
              <a:buNone/>
            </a:pPr>
            <a:r>
              <a:rPr lang="en"/>
              <a:t>AdaBoost for binary classification.</a:t>
            </a:r>
            <a:endParaRPr/>
          </a:p>
          <a:p>
            <a:pPr indent="0" lvl="0" marL="0" rtl="0" algn="l">
              <a:spcBef>
                <a:spcPts val="1200"/>
              </a:spcBef>
              <a:spcAft>
                <a:spcPts val="1200"/>
              </a:spcAft>
              <a:buNone/>
            </a:pPr>
            <a:r>
              <a:rPr lang="en"/>
              <a:t>XGBoost and LightGBM for structured data and competitions like Kaggle.</a:t>
            </a:r>
            <a:endParaRPr/>
          </a:p>
        </p:txBody>
      </p:sp>
      <p:pic>
        <p:nvPicPr>
          <p:cNvPr id="129" name="Google Shape;129;p25"/>
          <p:cNvPicPr preferRelativeResize="0"/>
          <p:nvPr/>
        </p:nvPicPr>
        <p:blipFill>
          <a:blip r:embed="rId3">
            <a:alphaModFix/>
          </a:blip>
          <a:stretch>
            <a:fillRect/>
          </a:stretch>
        </p:blipFill>
        <p:spPr>
          <a:xfrm>
            <a:off x="4620300" y="1399950"/>
            <a:ext cx="4567700" cy="2343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Boosting</a:t>
            </a:r>
            <a:endParaRPr/>
          </a:p>
        </p:txBody>
      </p:sp>
      <p:sp>
        <p:nvSpPr>
          <p:cNvPr id="135" name="Google Shape;13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Boosting sequentially trains models, with each new model focusing on correcting the errors of its predecessor, thereby reducing bias.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highlight>
                  <a:srgbClr val="FF9900"/>
                </a:highlight>
              </a:rPr>
              <a:t>AdaBoost, Gradient Boosting, and XGBoost </a:t>
            </a:r>
            <a:r>
              <a:rPr lang="en"/>
              <a:t>are widely used boosting algorithms, with AdaBoost assigning weights to misclassified samples and XGBoost incorporating regularization and gradient-based optimization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546450" y="295525"/>
            <a:ext cx="416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Boosting</a:t>
            </a:r>
            <a:endParaRPr/>
          </a:p>
        </p:txBody>
      </p:sp>
      <p:sp>
        <p:nvSpPr>
          <p:cNvPr id="141" name="Google Shape;141;p27"/>
          <p:cNvSpPr txBox="1"/>
          <p:nvPr>
            <p:ph idx="1" type="body"/>
          </p:nvPr>
        </p:nvSpPr>
        <p:spPr>
          <a:xfrm>
            <a:off x="311700" y="1091500"/>
            <a:ext cx="4570200" cy="3864900"/>
          </a:xfrm>
          <a:prstGeom prst="rect">
            <a:avLst/>
          </a:prstGeom>
        </p:spPr>
        <p:txBody>
          <a:bodyPr anchorCtr="0" anchor="t" bIns="91425" lIns="91425" spcFirstLastPara="1" rIns="91425" wrap="square" tIns="91425">
            <a:normAutofit fontScale="92500" lnSpcReduction="20000"/>
          </a:bodyPr>
          <a:lstStyle/>
          <a:p>
            <a:pPr indent="-293211" lvl="0" marL="457200" rtl="0" algn="l">
              <a:spcBef>
                <a:spcPts val="1200"/>
              </a:spcBef>
              <a:spcAft>
                <a:spcPts val="0"/>
              </a:spcAft>
              <a:buClr>
                <a:schemeClr val="dk1"/>
              </a:buClr>
              <a:buSzPct val="100000"/>
              <a:buAutoNum type="arabicPeriod"/>
            </a:pPr>
            <a:r>
              <a:rPr b="1" i="1" lang="en" sz="1100">
                <a:solidFill>
                  <a:schemeClr val="dk1"/>
                </a:solidFill>
              </a:rPr>
              <a:t>Initialise weights:</a:t>
            </a:r>
            <a:r>
              <a:rPr lang="en" sz="1100">
                <a:solidFill>
                  <a:schemeClr val="dk1"/>
                </a:solidFill>
              </a:rPr>
              <a:t> At the start of the process, each training example is given equal weight.</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i="1" lang="en" sz="1100">
                <a:solidFill>
                  <a:schemeClr val="dk1"/>
                </a:solidFill>
              </a:rPr>
              <a:t>Train a weak learner:</a:t>
            </a:r>
            <a:r>
              <a:rPr lang="en" sz="1100">
                <a:solidFill>
                  <a:schemeClr val="dk1"/>
                </a:solidFill>
              </a:rPr>
              <a:t> The weighted training data is used to train a weak learner. A weak learner is a simple model that outperforms random guessing only marginally. A decision tree with a few levels, for example, can be employed as a weak learner.</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i="1" lang="en" sz="1100">
                <a:solidFill>
                  <a:schemeClr val="dk1"/>
                </a:solidFill>
              </a:rPr>
              <a:t>Error calculation:</a:t>
            </a:r>
            <a:r>
              <a:rPr lang="en" sz="1100">
                <a:solidFill>
                  <a:schemeClr val="dk1"/>
                </a:solidFill>
              </a:rPr>
              <a:t> The error of the weak learner on the training data is computed. The weighted sum of misclassified cases constitutes the error.</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i="1" lang="en" sz="1100">
                <a:solidFill>
                  <a:schemeClr val="dk1"/>
                </a:solidFill>
              </a:rPr>
              <a:t>Update weights:</a:t>
            </a:r>
            <a:r>
              <a:rPr lang="en" sz="1100">
                <a:solidFill>
                  <a:schemeClr val="dk1"/>
                </a:solidFill>
              </a:rPr>
              <a:t> Weights are updated according to the mistake rate of the training examples. Misclassified examples are given higher weights, whereas correctly classified examples are given lower weights.</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i="1" lang="en" sz="1100">
                <a:solidFill>
                  <a:schemeClr val="dk1"/>
                </a:solidFill>
              </a:rPr>
              <a:t>Repeat:</a:t>
            </a:r>
            <a:r>
              <a:rPr lang="en" sz="1100">
                <a:solidFill>
                  <a:schemeClr val="dk1"/>
                </a:solidFill>
              </a:rPr>
              <a:t> Steps 2–4 are repeated several times. A new weak learner is trained on the updated weights of the training examples in each cycle.</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i="1" lang="en" sz="1100">
                <a:solidFill>
                  <a:schemeClr val="dk1"/>
                </a:solidFill>
              </a:rPr>
              <a:t>Combine weak learners:</a:t>
            </a:r>
            <a:r>
              <a:rPr lang="en" sz="1100">
                <a:solidFill>
                  <a:schemeClr val="dk1"/>
                </a:solidFill>
              </a:rPr>
              <a:t> The final model is made up of all of the weak learners that were trained in the preceding steps. The accuracy of each weak learner is weighted, and the final prediction is based on the weighted total of the weak learners.</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i="1" lang="en" sz="1100">
                <a:solidFill>
                  <a:schemeClr val="dk1"/>
                </a:solidFill>
              </a:rPr>
              <a:t>Forecast</a:t>
            </a:r>
            <a:r>
              <a:rPr lang="en" sz="1100">
                <a:solidFill>
                  <a:schemeClr val="dk1"/>
                </a:solidFill>
              </a:rPr>
              <a:t>: The finished model is used to forecast fresh instances’ class labels.</a:t>
            </a:r>
            <a:endParaRPr sz="1100">
              <a:solidFill>
                <a:schemeClr val="dk1"/>
              </a:solidFill>
            </a:endParaRPr>
          </a:p>
          <a:p>
            <a:pPr indent="0" lvl="0" marL="0" rtl="0" algn="l">
              <a:spcBef>
                <a:spcPts val="1200"/>
              </a:spcBef>
              <a:spcAft>
                <a:spcPts val="1200"/>
              </a:spcAft>
              <a:buNone/>
            </a:pPr>
            <a:r>
              <a:t/>
            </a:r>
            <a:endParaRPr/>
          </a:p>
        </p:txBody>
      </p:sp>
      <p:pic>
        <p:nvPicPr>
          <p:cNvPr id="142" name="Google Shape;142;p27"/>
          <p:cNvPicPr preferRelativeResize="0"/>
          <p:nvPr/>
        </p:nvPicPr>
        <p:blipFill>
          <a:blip r:embed="rId3">
            <a:alphaModFix/>
          </a:blip>
          <a:stretch>
            <a:fillRect/>
          </a:stretch>
        </p:blipFill>
        <p:spPr>
          <a:xfrm>
            <a:off x="4712850" y="482000"/>
            <a:ext cx="4570201" cy="44744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Algorithms Using Boosting</a:t>
            </a:r>
            <a:endParaRPr/>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b="1" lang="en"/>
              <a:t>1. AdaBoost (Adaptive Boosting)</a:t>
            </a:r>
            <a:endParaRPr b="1"/>
          </a:p>
          <a:p>
            <a:pPr indent="0" lvl="0" marL="0" rtl="0" algn="l">
              <a:spcBef>
                <a:spcPts val="1200"/>
              </a:spcBef>
              <a:spcAft>
                <a:spcPts val="0"/>
              </a:spcAft>
              <a:buNone/>
            </a:pPr>
            <a:r>
              <a:rPr lang="en"/>
              <a:t>AdaBoost works by adjusting the weights of misclassified instances and combining the predictions of weak learners (usually decision trees). Each subsequent model is trained to correct the mistakes of the previous model.</a:t>
            </a:r>
            <a:endParaRPr/>
          </a:p>
          <a:p>
            <a:pPr indent="0" lvl="0" marL="0" rtl="0" algn="l">
              <a:spcBef>
                <a:spcPts val="1200"/>
              </a:spcBef>
              <a:spcAft>
                <a:spcPts val="0"/>
              </a:spcAft>
              <a:buNone/>
            </a:pPr>
            <a:r>
              <a:rPr lang="en"/>
              <a:t>AdaBoost can significantly improve the performance of weak models, especially when used for classification problems.</a:t>
            </a:r>
            <a:endParaRPr/>
          </a:p>
          <a:p>
            <a:pPr indent="0" lvl="0" marL="0" rtl="0" algn="l">
              <a:spcBef>
                <a:spcPts val="1200"/>
              </a:spcBef>
              <a:spcAft>
                <a:spcPts val="0"/>
              </a:spcAft>
              <a:buNone/>
            </a:pPr>
            <a:r>
              <a:rPr b="1" lang="en"/>
              <a:t>2. Gradient Boosting</a:t>
            </a:r>
            <a:endParaRPr b="1"/>
          </a:p>
          <a:p>
            <a:pPr indent="0" lvl="0" marL="0" rtl="0" algn="l">
              <a:spcBef>
                <a:spcPts val="1200"/>
              </a:spcBef>
              <a:spcAft>
                <a:spcPts val="0"/>
              </a:spcAft>
              <a:buNone/>
            </a:pPr>
            <a:r>
              <a:rPr lang="en"/>
              <a:t>Gradient Boosting is a more general approach to boosting that builds models sequentially, with each new model fitting the residual errors of the previous model.</a:t>
            </a:r>
            <a:endParaRPr/>
          </a:p>
          <a:p>
            <a:pPr indent="0" lvl="0" marL="0" rtl="0" algn="l">
              <a:spcBef>
                <a:spcPts val="1200"/>
              </a:spcBef>
              <a:spcAft>
                <a:spcPts val="0"/>
              </a:spcAft>
              <a:buNone/>
            </a:pPr>
            <a:r>
              <a:rPr lang="en"/>
              <a:t>he models are trained to minimize a loss function, which can be customized based on the specific task.</a:t>
            </a:r>
            <a:endParaRPr/>
          </a:p>
          <a:p>
            <a:pPr indent="0" lvl="0" marL="0" rtl="0" algn="l">
              <a:spcBef>
                <a:spcPts val="1200"/>
              </a:spcBef>
              <a:spcAft>
                <a:spcPts val="0"/>
              </a:spcAft>
              <a:buNone/>
            </a:pPr>
            <a:r>
              <a:rPr lang="en"/>
              <a:t>We can perform regression and classification tasks using Gradient Boosting.</a:t>
            </a:r>
            <a:endParaRPr/>
          </a:p>
          <a:p>
            <a:pPr indent="0" lvl="0" marL="0" rtl="0" algn="l">
              <a:spcBef>
                <a:spcPts val="1200"/>
              </a:spcBef>
              <a:spcAft>
                <a:spcPts val="0"/>
              </a:spcAft>
              <a:buNone/>
            </a:pPr>
            <a:r>
              <a:rPr b="1" lang="en"/>
              <a:t>3. XGBoost (Extreme Gradient Boosting)</a:t>
            </a:r>
            <a:endParaRPr b="1"/>
          </a:p>
          <a:p>
            <a:pPr indent="0" lvl="0" marL="0" rtl="0" algn="l">
              <a:spcBef>
                <a:spcPts val="1200"/>
              </a:spcBef>
              <a:spcAft>
                <a:spcPts val="0"/>
              </a:spcAft>
              <a:buNone/>
            </a:pPr>
            <a:r>
              <a:rPr lang="en"/>
              <a:t>XGBoost is an optimized version of gradient boosting. It includes regularization to prevent overfitting and supports parallelization to speed up training.</a:t>
            </a:r>
            <a:endParaRPr/>
          </a:p>
          <a:p>
            <a:pPr indent="0" lvl="0" marL="0" rtl="0" algn="l">
              <a:spcBef>
                <a:spcPts val="1200"/>
              </a:spcBef>
              <a:spcAft>
                <a:spcPts val="1200"/>
              </a:spcAft>
              <a:buNone/>
            </a:pPr>
            <a:r>
              <a:rPr lang="en"/>
              <a:t>XGBoost has become a popular choice in machine learning competitions due to its high performance.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graphicFrame>
        <p:nvGraphicFramePr>
          <p:cNvPr id="153" name="Google Shape;153;p29"/>
          <p:cNvGraphicFramePr/>
          <p:nvPr/>
        </p:nvGraphicFramePr>
        <p:xfrm>
          <a:off x="481325" y="286925"/>
          <a:ext cx="3000000" cy="3000000"/>
        </p:xfrm>
        <a:graphic>
          <a:graphicData uri="http://schemas.openxmlformats.org/drawingml/2006/table">
            <a:tbl>
              <a:tblPr>
                <a:noFill/>
                <a:tableStyleId>{2BD2DCF4-084A-4659-959C-2871FD1A9842}</a:tableStyleId>
              </a:tblPr>
              <a:tblGrid>
                <a:gridCol w="1014350"/>
                <a:gridCol w="1980825"/>
                <a:gridCol w="2488000"/>
                <a:gridCol w="2602850"/>
              </a:tblGrid>
              <a:tr h="413975">
                <a:tc>
                  <a:txBody>
                    <a:bodyPr/>
                    <a:lstStyle/>
                    <a:p>
                      <a:pPr indent="0" lvl="0" marL="0" rtl="0" algn="ctr">
                        <a:lnSpc>
                          <a:spcPct val="115000"/>
                        </a:lnSpc>
                        <a:spcBef>
                          <a:spcPts val="0"/>
                        </a:spcBef>
                        <a:spcAft>
                          <a:spcPts val="0"/>
                        </a:spcAft>
                        <a:buNone/>
                      </a:pPr>
                      <a:r>
                        <a:rPr b="1" lang="en" sz="1100"/>
                        <a:t>Feature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AdaBoost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Gradient Boosting (GBM)</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XGBoost</a:t>
                      </a:r>
                      <a:endParaRPr b="1" sz="1100"/>
                    </a:p>
                  </a:txBody>
                  <a:tcPr marT="91425" marB="91425" marR="91425" marL="91425"/>
                </a:tc>
              </a:tr>
              <a:tr h="667450">
                <a:tc>
                  <a:txBody>
                    <a:bodyPr/>
                    <a:lstStyle/>
                    <a:p>
                      <a:pPr indent="0" lvl="0" marL="0" rtl="0" algn="l">
                        <a:spcBef>
                          <a:spcPts val="0"/>
                        </a:spcBef>
                        <a:spcAft>
                          <a:spcPts val="0"/>
                        </a:spcAft>
                        <a:buNone/>
                      </a:pPr>
                      <a:r>
                        <a:rPr b="1" lang="en" sz="1100"/>
                        <a:t>Base idea</a:t>
                      </a:r>
                      <a:endParaRPr b="1" sz="1100"/>
                    </a:p>
                  </a:txBody>
                  <a:tcPr marT="91425" marB="91425" marR="91425" marL="91425"/>
                </a:tc>
                <a:tc>
                  <a:txBody>
                    <a:bodyPr/>
                    <a:lstStyle/>
                    <a:p>
                      <a:pPr indent="0" lvl="0" marL="0" rtl="0" algn="l">
                        <a:spcBef>
                          <a:spcPts val="0"/>
                        </a:spcBef>
                        <a:spcAft>
                          <a:spcPts val="0"/>
                        </a:spcAft>
                        <a:buNone/>
                      </a:pPr>
                      <a:r>
                        <a:rPr lang="en"/>
                        <a:t>Reweight misclassified samples</a:t>
                      </a:r>
                      <a:endParaRPr/>
                    </a:p>
                  </a:txBody>
                  <a:tcPr marT="91425" marB="91425" marR="91425" marL="91425"/>
                </a:tc>
                <a:tc>
                  <a:txBody>
                    <a:bodyPr/>
                    <a:lstStyle/>
                    <a:p>
                      <a:pPr indent="0" lvl="0" marL="0" rtl="0" algn="l">
                        <a:spcBef>
                          <a:spcPts val="0"/>
                        </a:spcBef>
                        <a:spcAft>
                          <a:spcPts val="0"/>
                        </a:spcAft>
                        <a:buNone/>
                      </a:pPr>
                      <a:r>
                        <a:rPr lang="en"/>
                        <a:t>Fit new model on residuals</a:t>
                      </a:r>
                      <a:endParaRPr/>
                    </a:p>
                  </a:txBody>
                  <a:tcPr marT="91425" marB="91425" marR="91425" marL="91425"/>
                </a:tc>
                <a:tc>
                  <a:txBody>
                    <a:bodyPr/>
                    <a:lstStyle/>
                    <a:p>
                      <a:pPr indent="0" lvl="0" marL="0" rtl="0" algn="l">
                        <a:spcBef>
                          <a:spcPts val="0"/>
                        </a:spcBef>
                        <a:spcAft>
                          <a:spcPts val="0"/>
                        </a:spcAft>
                        <a:buNone/>
                      </a:pPr>
                      <a:r>
                        <a:rPr lang="en"/>
                        <a:t>Optimized GBM with regularization</a:t>
                      </a:r>
                      <a:endParaRPr/>
                    </a:p>
                  </a:txBody>
                  <a:tcPr marT="91425" marB="91425" marR="91425" marL="91425"/>
                </a:tc>
              </a:tr>
              <a:tr h="667450">
                <a:tc>
                  <a:txBody>
                    <a:bodyPr/>
                    <a:lstStyle/>
                    <a:p>
                      <a:pPr indent="0" lvl="0" marL="0" rtl="0" algn="l">
                        <a:spcBef>
                          <a:spcPts val="0"/>
                        </a:spcBef>
                        <a:spcAft>
                          <a:spcPts val="0"/>
                        </a:spcAft>
                        <a:buNone/>
                      </a:pPr>
                      <a:r>
                        <a:rPr b="1" lang="en" sz="1100"/>
                        <a:t>Error handling</a:t>
                      </a:r>
                      <a:endParaRPr b="1" sz="1100"/>
                    </a:p>
                  </a:txBody>
                  <a:tcPr marT="91425" marB="91425" marR="91425" marL="91425"/>
                </a:tc>
                <a:tc>
                  <a:txBody>
                    <a:bodyPr/>
                    <a:lstStyle/>
                    <a:p>
                      <a:pPr indent="0" lvl="0" marL="0" rtl="0" algn="l">
                        <a:spcBef>
                          <a:spcPts val="0"/>
                        </a:spcBef>
                        <a:spcAft>
                          <a:spcPts val="0"/>
                        </a:spcAft>
                        <a:buNone/>
                      </a:pPr>
                      <a:r>
                        <a:rPr lang="en"/>
                        <a:t>Increases weight of errors</a:t>
                      </a:r>
                      <a:endParaRPr/>
                    </a:p>
                  </a:txBody>
                  <a:tcPr marT="91425" marB="91425" marR="91425" marL="91425"/>
                </a:tc>
                <a:tc>
                  <a:txBody>
                    <a:bodyPr/>
                    <a:lstStyle/>
                    <a:p>
                      <a:pPr indent="0" lvl="0" marL="0" rtl="0" algn="l">
                        <a:spcBef>
                          <a:spcPts val="0"/>
                        </a:spcBef>
                        <a:spcAft>
                          <a:spcPts val="0"/>
                        </a:spcAft>
                        <a:buNone/>
                      </a:pPr>
                      <a:r>
                        <a:rPr lang="en"/>
                        <a:t>Models gradient of loss function</a:t>
                      </a:r>
                      <a:endParaRPr/>
                    </a:p>
                  </a:txBody>
                  <a:tcPr marT="91425" marB="91425" marR="91425" marL="91425"/>
                </a:tc>
                <a:tc>
                  <a:txBody>
                    <a:bodyPr/>
                    <a:lstStyle/>
                    <a:p>
                      <a:pPr indent="0" lvl="0" marL="0" rtl="0" algn="l">
                        <a:spcBef>
                          <a:spcPts val="0"/>
                        </a:spcBef>
                        <a:spcAft>
                          <a:spcPts val="0"/>
                        </a:spcAft>
                        <a:buNone/>
                      </a:pPr>
                      <a:r>
                        <a:rPr lang="en"/>
                        <a:t>Uses gradient + 2nd order approximation</a:t>
                      </a:r>
                      <a:endParaRPr/>
                    </a:p>
                  </a:txBody>
                  <a:tcPr marT="91425" marB="91425" marR="91425" marL="91425"/>
                </a:tc>
              </a:tr>
              <a:tr h="667450">
                <a:tc>
                  <a:txBody>
                    <a:bodyPr/>
                    <a:lstStyle/>
                    <a:p>
                      <a:pPr indent="0" lvl="0" marL="0" rtl="0" algn="l">
                        <a:spcBef>
                          <a:spcPts val="0"/>
                        </a:spcBef>
                        <a:spcAft>
                          <a:spcPts val="0"/>
                        </a:spcAft>
                        <a:buNone/>
                      </a:pPr>
                      <a:r>
                        <a:rPr b="1" lang="en" sz="1100"/>
                        <a:t>Loss function</a:t>
                      </a:r>
                      <a:endParaRPr b="1" sz="1100"/>
                    </a:p>
                  </a:txBody>
                  <a:tcPr marT="91425" marB="91425" marR="91425" marL="91425"/>
                </a:tc>
                <a:tc>
                  <a:txBody>
                    <a:bodyPr/>
                    <a:lstStyle/>
                    <a:p>
                      <a:pPr indent="0" lvl="0" marL="0" rtl="0" algn="l">
                        <a:spcBef>
                          <a:spcPts val="0"/>
                        </a:spcBef>
                        <a:spcAft>
                          <a:spcPts val="0"/>
                        </a:spcAft>
                        <a:buNone/>
                      </a:pPr>
                      <a:r>
                        <a:rPr lang="en"/>
                        <a:t>Exponential (default)</a:t>
                      </a:r>
                      <a:endParaRPr/>
                    </a:p>
                  </a:txBody>
                  <a:tcPr marT="91425" marB="91425" marR="91425" marL="91425"/>
                </a:tc>
                <a:tc>
                  <a:txBody>
                    <a:bodyPr/>
                    <a:lstStyle/>
                    <a:p>
                      <a:pPr indent="0" lvl="0" marL="0" rtl="0" algn="l">
                        <a:spcBef>
                          <a:spcPts val="0"/>
                        </a:spcBef>
                        <a:spcAft>
                          <a:spcPts val="0"/>
                        </a:spcAft>
                        <a:buNone/>
                      </a:pPr>
                      <a:r>
                        <a:rPr lang="en"/>
                        <a:t>Any differentiable loss (MSE, log-loss)</a:t>
                      </a:r>
                      <a:endParaRPr/>
                    </a:p>
                  </a:txBody>
                  <a:tcPr marT="91425" marB="91425" marR="91425" marL="91425"/>
                </a:tc>
                <a:tc>
                  <a:txBody>
                    <a:bodyPr/>
                    <a:lstStyle/>
                    <a:p>
                      <a:pPr indent="0" lvl="0" marL="0" rtl="0" algn="l">
                        <a:spcBef>
                          <a:spcPts val="0"/>
                        </a:spcBef>
                        <a:spcAft>
                          <a:spcPts val="0"/>
                        </a:spcAft>
                        <a:buNone/>
                      </a:pPr>
                      <a:r>
                        <a:rPr lang="en"/>
                        <a:t>Any differentiable loss + regularization</a:t>
                      </a:r>
                      <a:endParaRPr/>
                    </a:p>
                  </a:txBody>
                  <a:tcPr marT="91425" marB="91425" marR="91425" marL="91425"/>
                </a:tc>
              </a:tr>
              <a:tr h="667450">
                <a:tc>
                  <a:txBody>
                    <a:bodyPr/>
                    <a:lstStyle/>
                    <a:p>
                      <a:pPr indent="0" lvl="0" marL="0" rtl="0" algn="l">
                        <a:spcBef>
                          <a:spcPts val="0"/>
                        </a:spcBef>
                        <a:spcAft>
                          <a:spcPts val="0"/>
                        </a:spcAft>
                        <a:buNone/>
                      </a:pPr>
                      <a:r>
                        <a:rPr b="1" lang="en" sz="1100"/>
                        <a:t>Speed</a:t>
                      </a:r>
                      <a:endParaRPr b="1" sz="1100"/>
                    </a:p>
                  </a:txBody>
                  <a:tcPr marT="91425" marB="91425" marR="91425" marL="91425"/>
                </a:tc>
                <a:tc>
                  <a:txBody>
                    <a:bodyPr/>
                    <a:lstStyle/>
                    <a:p>
                      <a:pPr indent="0" lvl="0" marL="0" rtl="0" algn="l">
                        <a:spcBef>
                          <a:spcPts val="0"/>
                        </a:spcBef>
                        <a:spcAft>
                          <a:spcPts val="0"/>
                        </a:spcAft>
                        <a:buNone/>
                      </a:pPr>
                      <a:r>
                        <a:rPr lang="en"/>
                        <a:t>Moderate</a:t>
                      </a:r>
                      <a:endParaRPr/>
                    </a:p>
                  </a:txBody>
                  <a:tcPr marT="91425" marB="91425" marR="91425" marL="91425"/>
                </a:tc>
                <a:tc>
                  <a:txBody>
                    <a:bodyPr/>
                    <a:lstStyle/>
                    <a:p>
                      <a:pPr indent="0" lvl="0" marL="0" rtl="0" algn="l">
                        <a:spcBef>
                          <a:spcPts val="0"/>
                        </a:spcBef>
                        <a:spcAft>
                          <a:spcPts val="0"/>
                        </a:spcAft>
                        <a:buNone/>
                      </a:pPr>
                      <a:r>
                        <a:rPr lang="en"/>
                        <a:t>Slower</a:t>
                      </a:r>
                      <a:endParaRPr/>
                    </a:p>
                  </a:txBody>
                  <a:tcPr marT="91425" marB="91425" marR="91425" marL="91425"/>
                </a:tc>
                <a:tc>
                  <a:txBody>
                    <a:bodyPr/>
                    <a:lstStyle/>
                    <a:p>
                      <a:pPr indent="0" lvl="0" marL="0" rtl="0" algn="l">
                        <a:spcBef>
                          <a:spcPts val="0"/>
                        </a:spcBef>
                        <a:spcAft>
                          <a:spcPts val="0"/>
                        </a:spcAft>
                        <a:buNone/>
                      </a:pPr>
                      <a:r>
                        <a:rPr lang="en"/>
                        <a:t>Very fast (parallelized, optimized)</a:t>
                      </a:r>
                      <a:endParaRPr/>
                    </a:p>
                  </a:txBody>
                  <a:tcPr marT="91425" marB="91425" marR="91425" marL="91425"/>
                </a:tc>
              </a:tr>
              <a:tr h="667450">
                <a:tc>
                  <a:txBody>
                    <a:bodyPr/>
                    <a:lstStyle/>
                    <a:p>
                      <a:pPr indent="0" lvl="0" marL="0" rtl="0" algn="l">
                        <a:spcBef>
                          <a:spcPts val="0"/>
                        </a:spcBef>
                        <a:spcAft>
                          <a:spcPts val="0"/>
                        </a:spcAft>
                        <a:buNone/>
                      </a:pPr>
                      <a:r>
                        <a:rPr b="1" lang="en" sz="1100"/>
                        <a:t>Overfitting</a:t>
                      </a:r>
                      <a:endParaRPr b="1" sz="1100"/>
                    </a:p>
                  </a:txBody>
                  <a:tcPr marT="91425" marB="91425" marR="91425" marL="91425"/>
                </a:tc>
                <a:tc>
                  <a:txBody>
                    <a:bodyPr/>
                    <a:lstStyle/>
                    <a:p>
                      <a:pPr indent="0" lvl="0" marL="0" rtl="0" algn="l">
                        <a:spcBef>
                          <a:spcPts val="0"/>
                        </a:spcBef>
                        <a:spcAft>
                          <a:spcPts val="0"/>
                        </a:spcAft>
                        <a:buNone/>
                      </a:pPr>
                      <a:r>
                        <a:rPr lang="en"/>
                        <a:t>Prone (esp. noisy data)</a:t>
                      </a:r>
                      <a:endParaRPr/>
                    </a:p>
                  </a:txBody>
                  <a:tcPr marT="91425" marB="91425" marR="91425" marL="91425"/>
                </a:tc>
                <a:tc>
                  <a:txBody>
                    <a:bodyPr/>
                    <a:lstStyle/>
                    <a:p>
                      <a:pPr indent="0" lvl="0" marL="0" rtl="0" algn="l">
                        <a:spcBef>
                          <a:spcPts val="0"/>
                        </a:spcBef>
                        <a:spcAft>
                          <a:spcPts val="0"/>
                        </a:spcAft>
                        <a:buNone/>
                      </a:pPr>
                      <a:r>
                        <a:rPr lang="en"/>
                        <a:t>Prone (without tuning)</a:t>
                      </a:r>
                      <a:endParaRPr/>
                    </a:p>
                  </a:txBody>
                  <a:tcPr marT="91425" marB="91425" marR="91425" marL="91425"/>
                </a:tc>
                <a:tc>
                  <a:txBody>
                    <a:bodyPr/>
                    <a:lstStyle/>
                    <a:p>
                      <a:pPr indent="0" lvl="0" marL="0" rtl="0" algn="l">
                        <a:spcBef>
                          <a:spcPts val="0"/>
                        </a:spcBef>
                        <a:spcAft>
                          <a:spcPts val="0"/>
                        </a:spcAft>
                        <a:buNone/>
                      </a:pPr>
                      <a:r>
                        <a:rPr lang="en"/>
                        <a:t>Controlled with L1/L2 regularization</a:t>
                      </a:r>
                      <a:endParaRPr/>
                    </a:p>
                  </a:txBody>
                  <a:tcPr marT="91425" marB="91425" marR="91425" marL="91425"/>
                </a:tc>
              </a:tr>
              <a:tr h="667450">
                <a:tc>
                  <a:txBody>
                    <a:bodyPr/>
                    <a:lstStyle/>
                    <a:p>
                      <a:pPr indent="0" lvl="0" marL="0" rtl="0" algn="l">
                        <a:spcBef>
                          <a:spcPts val="0"/>
                        </a:spcBef>
                        <a:spcAft>
                          <a:spcPts val="0"/>
                        </a:spcAft>
                        <a:buNone/>
                      </a:pPr>
                      <a:r>
                        <a:rPr b="1" lang="en" sz="1100"/>
                        <a:t>Best for</a:t>
                      </a:r>
                      <a:endParaRPr b="1" sz="1100"/>
                    </a:p>
                  </a:txBody>
                  <a:tcPr marT="91425" marB="91425" marR="91425" marL="91425"/>
                </a:tc>
                <a:tc>
                  <a:txBody>
                    <a:bodyPr/>
                    <a:lstStyle/>
                    <a:p>
                      <a:pPr indent="0" lvl="0" marL="0" rtl="0" algn="l">
                        <a:spcBef>
                          <a:spcPts val="0"/>
                        </a:spcBef>
                        <a:spcAft>
                          <a:spcPts val="0"/>
                        </a:spcAft>
                        <a:buNone/>
                      </a:pPr>
                      <a:r>
                        <a:rPr lang="en"/>
                        <a:t>Simple problems, clean datasets</a:t>
                      </a:r>
                      <a:endParaRPr/>
                    </a:p>
                  </a:txBody>
                  <a:tcPr marT="91425" marB="91425" marR="91425" marL="91425"/>
                </a:tc>
                <a:tc>
                  <a:txBody>
                    <a:bodyPr/>
                    <a:lstStyle/>
                    <a:p>
                      <a:pPr indent="0" lvl="0" marL="0" rtl="0" algn="l">
                        <a:spcBef>
                          <a:spcPts val="0"/>
                        </a:spcBef>
                        <a:spcAft>
                          <a:spcPts val="0"/>
                        </a:spcAft>
                        <a:buNone/>
                      </a:pPr>
                      <a:r>
                        <a:rPr lang="en"/>
                        <a:t>Flexible tasks (regression/classification)</a:t>
                      </a:r>
                      <a:endParaRPr/>
                    </a:p>
                  </a:txBody>
                  <a:tcPr marT="91425" marB="91425" marR="91425" marL="91425"/>
                </a:tc>
                <a:tc>
                  <a:txBody>
                    <a:bodyPr/>
                    <a:lstStyle/>
                    <a:p>
                      <a:pPr indent="0" lvl="0" marL="0" rtl="0" algn="l">
                        <a:spcBef>
                          <a:spcPts val="0"/>
                        </a:spcBef>
                        <a:spcAft>
                          <a:spcPts val="0"/>
                        </a:spcAft>
                        <a:buNone/>
                      </a:pPr>
                      <a:r>
                        <a:rPr lang="en"/>
                        <a:t>Large-scale, high-accuracy tasks (Kaggle)</a:t>
                      </a: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190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Stacking</a:t>
            </a:r>
            <a:endParaRPr/>
          </a:p>
        </p:txBody>
      </p:sp>
      <p:sp>
        <p:nvSpPr>
          <p:cNvPr id="159" name="Google Shape;159;p30"/>
          <p:cNvSpPr txBox="1"/>
          <p:nvPr>
            <p:ph idx="1" type="body"/>
          </p:nvPr>
        </p:nvSpPr>
        <p:spPr>
          <a:xfrm>
            <a:off x="251875" y="763525"/>
            <a:ext cx="3830100" cy="40512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b="1" lang="en"/>
              <a:t>Overview</a:t>
            </a:r>
            <a:r>
              <a:rPr lang="en"/>
              <a:t>: Stacking involves training multiple base models and then using their predictions as input features for a higher-level meta-model, which makes the final prediction.</a:t>
            </a:r>
            <a:endParaRPr/>
          </a:p>
          <a:p>
            <a:pPr indent="0" lvl="0" marL="0" rtl="0" algn="l">
              <a:spcBef>
                <a:spcPts val="1200"/>
              </a:spcBef>
              <a:spcAft>
                <a:spcPts val="0"/>
              </a:spcAft>
              <a:buNone/>
            </a:pPr>
            <a:r>
              <a:rPr b="1" lang="en"/>
              <a:t>Pros:</a:t>
            </a:r>
            <a:endParaRPr b="1"/>
          </a:p>
          <a:p>
            <a:pPr indent="0" lvl="0" marL="0" rtl="0" algn="l">
              <a:spcBef>
                <a:spcPts val="1200"/>
              </a:spcBef>
              <a:spcAft>
                <a:spcPts val="0"/>
              </a:spcAft>
              <a:buNone/>
            </a:pPr>
            <a:r>
              <a:rPr b="1" lang="en"/>
              <a:t>Combines Strengths:</a:t>
            </a:r>
            <a:r>
              <a:rPr lang="en"/>
              <a:t> Leverages the strengths of diverse models by combining their predictions.</a:t>
            </a:r>
            <a:endParaRPr/>
          </a:p>
          <a:p>
            <a:pPr indent="0" lvl="0" marL="0" rtl="0" algn="l">
              <a:spcBef>
                <a:spcPts val="1200"/>
              </a:spcBef>
              <a:spcAft>
                <a:spcPts val="0"/>
              </a:spcAft>
              <a:buNone/>
            </a:pPr>
            <a:r>
              <a:rPr b="1" lang="en"/>
              <a:t>Flexibility:</a:t>
            </a:r>
            <a:r>
              <a:rPr lang="en"/>
              <a:t> Can use any type of model for both base learners and the meta-model.</a:t>
            </a:r>
            <a:endParaRPr/>
          </a:p>
          <a:p>
            <a:pPr indent="0" lvl="0" marL="0" rtl="0" algn="l">
              <a:spcBef>
                <a:spcPts val="1200"/>
              </a:spcBef>
              <a:spcAft>
                <a:spcPts val="0"/>
              </a:spcAft>
              <a:buNone/>
            </a:pPr>
            <a:r>
              <a:rPr b="1" lang="en"/>
              <a:t>Cons:</a:t>
            </a:r>
            <a:endParaRPr b="1"/>
          </a:p>
          <a:p>
            <a:pPr indent="0" lvl="0" marL="0" rtl="0" algn="l">
              <a:spcBef>
                <a:spcPts val="1200"/>
              </a:spcBef>
              <a:spcAft>
                <a:spcPts val="0"/>
              </a:spcAft>
              <a:buNone/>
            </a:pPr>
            <a:r>
              <a:rPr b="1" lang="en"/>
              <a:t>Complexity:</a:t>
            </a:r>
            <a:r>
              <a:rPr lang="en"/>
              <a:t> Requires careful selection and tuning of both base models and the meta-model.</a:t>
            </a:r>
            <a:endParaRPr/>
          </a:p>
          <a:p>
            <a:pPr indent="0" lvl="0" marL="0" rtl="0" algn="l">
              <a:spcBef>
                <a:spcPts val="1200"/>
              </a:spcBef>
              <a:spcAft>
                <a:spcPts val="0"/>
              </a:spcAft>
              <a:buNone/>
            </a:pPr>
            <a:r>
              <a:rPr b="1" lang="en"/>
              <a:t>Computationally Intensive:</a:t>
            </a:r>
            <a:r>
              <a:rPr lang="en"/>
              <a:t> Can be resource-intensive due to the training of multiple models and the meta-model.</a:t>
            </a:r>
            <a:endParaRPr/>
          </a:p>
          <a:p>
            <a:pPr indent="0" lvl="0" marL="0" rtl="0" algn="l">
              <a:spcBef>
                <a:spcPts val="1200"/>
              </a:spcBef>
              <a:spcAft>
                <a:spcPts val="0"/>
              </a:spcAft>
              <a:buNone/>
            </a:pPr>
            <a:r>
              <a:rPr b="1" lang="en"/>
              <a:t>Use Cases:</a:t>
            </a:r>
            <a:endParaRPr b="1"/>
          </a:p>
          <a:p>
            <a:pPr indent="0" lvl="0" marL="0" rtl="0" algn="l">
              <a:spcBef>
                <a:spcPts val="1200"/>
              </a:spcBef>
              <a:spcAft>
                <a:spcPts val="1200"/>
              </a:spcAft>
              <a:buNone/>
            </a:pPr>
            <a:r>
              <a:rPr lang="en"/>
              <a:t>Complex tasks requiring high accuracy, such as competition datasets and research projects.</a:t>
            </a:r>
            <a:endParaRPr/>
          </a:p>
        </p:txBody>
      </p:sp>
      <p:pic>
        <p:nvPicPr>
          <p:cNvPr id="160" name="Google Shape;160;p30"/>
          <p:cNvPicPr preferRelativeResize="0"/>
          <p:nvPr/>
        </p:nvPicPr>
        <p:blipFill>
          <a:blip r:embed="rId3">
            <a:alphaModFix/>
          </a:blip>
          <a:stretch>
            <a:fillRect/>
          </a:stretch>
        </p:blipFill>
        <p:spPr>
          <a:xfrm>
            <a:off x="4081975" y="1234950"/>
            <a:ext cx="4971474" cy="2847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Stacking (Stacked Generalization)</a:t>
            </a:r>
            <a:endParaRPr/>
          </a:p>
        </p:txBody>
      </p:sp>
      <p:sp>
        <p:nvSpPr>
          <p:cNvPr id="166" name="Google Shape;16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Stacking combines heterogeneous models by training a meta-learner on the outputs of base models, aiming to improve predictive accuracy and generalization. </a:t>
            </a:r>
            <a:endParaRPr/>
          </a:p>
          <a:p>
            <a:pPr indent="0" lvl="0" marL="0" rtl="0" algn="l">
              <a:spcBef>
                <a:spcPts val="1200"/>
              </a:spcBef>
              <a:spcAft>
                <a:spcPts val="0"/>
              </a:spcAft>
              <a:buNone/>
            </a:pPr>
            <a:r>
              <a:rPr lang="en"/>
              <a:t>In stacking, base learners’ predictions are used as input features for the meta-learner, which learns how to best combine them.</a:t>
            </a:r>
            <a:endParaRPr/>
          </a:p>
          <a:p>
            <a:pPr indent="0" lvl="0" marL="0" rtl="0" algn="l">
              <a:spcBef>
                <a:spcPts val="1200"/>
              </a:spcBef>
              <a:spcAft>
                <a:spcPts val="0"/>
              </a:spcAft>
              <a:buNone/>
            </a:pPr>
            <a:r>
              <a:rPr lang="en"/>
              <a:t>The bias-variance tradeoff is central to ensemble learning: bagging primarily reduces variance, boosting reduces bias, and stacking seeks to optimize both by leveraging model diversity and meta-learning. </a:t>
            </a:r>
            <a:endParaRPr/>
          </a:p>
          <a:p>
            <a:pPr indent="0" lvl="0" marL="0" rtl="0" algn="l">
              <a:spcBef>
                <a:spcPts val="1200"/>
              </a:spcBef>
              <a:spcAft>
                <a:spcPts val="0"/>
              </a:spcAft>
              <a:buNone/>
            </a:pPr>
            <a:r>
              <a:rPr lang="en"/>
              <a:t>Weak learners, which perform slightly better than random guessing, are often used as building blocks in boosting and stacking to construct stronger models. </a:t>
            </a:r>
            <a:endParaRPr/>
          </a:p>
          <a:p>
            <a:pPr indent="0" lvl="0" marL="0" rtl="0" algn="l">
              <a:spcBef>
                <a:spcPts val="1200"/>
              </a:spcBef>
              <a:spcAft>
                <a:spcPts val="1200"/>
              </a:spcAft>
              <a:buNone/>
            </a:pPr>
            <a:r>
              <a:rPr lang="en"/>
              <a:t>Balancing bias and variance is essential to avoid underfitting and overfitting, ensuring robust and accurate ensemble models.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Algorithms Using Stacking</a:t>
            </a:r>
            <a:endParaRPr/>
          </a:p>
        </p:txBody>
      </p:sp>
      <p:sp>
        <p:nvSpPr>
          <p:cNvPr id="172" name="Google Shape;17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b="1" lang="en"/>
              <a:t>1. Generalized Stacking</a:t>
            </a:r>
            <a:endParaRPr b="1"/>
          </a:p>
          <a:p>
            <a:pPr indent="0" lvl="0" marL="0" rtl="0" algn="l">
              <a:spcBef>
                <a:spcPts val="1200"/>
              </a:spcBef>
              <a:spcAft>
                <a:spcPts val="0"/>
              </a:spcAft>
              <a:buNone/>
            </a:pPr>
            <a:r>
              <a:rPr lang="en"/>
              <a:t>In Generalized Stacking, multiple different models (e.g., decision trees, logistic regression, neural networks) are trained on the same dataset.</a:t>
            </a:r>
            <a:endParaRPr/>
          </a:p>
          <a:p>
            <a:pPr indent="0" lvl="0" marL="0" rtl="0" algn="l">
              <a:spcBef>
                <a:spcPts val="1200"/>
              </a:spcBef>
              <a:spcAft>
                <a:spcPts val="0"/>
              </a:spcAft>
              <a:buNone/>
            </a:pPr>
            <a:r>
              <a:rPr lang="en"/>
              <a:t>And a meta-model (such as a logistic regression or another decision tree) is trained on the predictions made by th andese base models.</a:t>
            </a:r>
            <a:endParaRPr/>
          </a:p>
          <a:p>
            <a:pPr indent="0" lvl="0" marL="0" rtl="0" algn="l">
              <a:spcBef>
                <a:spcPts val="1200"/>
              </a:spcBef>
              <a:spcAft>
                <a:spcPts val="0"/>
              </a:spcAft>
              <a:buNone/>
            </a:pPr>
            <a:r>
              <a:rPr lang="en"/>
              <a:t>The meta-model learns how to combine the predictions of the base models to make the final prediction.</a:t>
            </a:r>
            <a:endParaRPr/>
          </a:p>
          <a:p>
            <a:pPr indent="0" lvl="0" marL="0" rtl="0" algn="l">
              <a:spcBef>
                <a:spcPts val="1200"/>
              </a:spcBef>
              <a:spcAft>
                <a:spcPts val="0"/>
              </a:spcAft>
              <a:buNone/>
            </a:pPr>
            <a:r>
              <a:rPr b="1" lang="en"/>
              <a:t>2. Stacking with Cross-Validation</a:t>
            </a:r>
            <a:endParaRPr b="1"/>
          </a:p>
          <a:p>
            <a:pPr indent="0" lvl="0" marL="0" rtl="0" algn="l">
              <a:spcBef>
                <a:spcPts val="1200"/>
              </a:spcBef>
              <a:spcAft>
                <a:spcPts val="0"/>
              </a:spcAft>
              <a:buNone/>
            </a:pPr>
            <a:r>
              <a:rPr lang="en"/>
              <a:t>In stacking with cross-validation, the base models are trained using cross-validation and their predictions on the validation set are used to train the meta-model.</a:t>
            </a:r>
            <a:endParaRPr/>
          </a:p>
          <a:p>
            <a:pPr indent="0" lvl="0" marL="0" rtl="0" algn="l">
              <a:spcBef>
                <a:spcPts val="1200"/>
              </a:spcBef>
              <a:spcAft>
                <a:spcPts val="0"/>
              </a:spcAft>
              <a:buNone/>
            </a:pPr>
            <a:r>
              <a:rPr lang="en"/>
              <a:t>This prevents overfitting and ensures that the meta-model is trained on unbiased data.</a:t>
            </a:r>
            <a:endParaRPr/>
          </a:p>
          <a:p>
            <a:pPr indent="0" lvl="0" marL="0" rtl="0" algn="l">
              <a:spcBef>
                <a:spcPts val="1200"/>
              </a:spcBef>
              <a:spcAft>
                <a:spcPts val="0"/>
              </a:spcAft>
              <a:buNone/>
            </a:pPr>
            <a:r>
              <a:rPr b="1" lang="en"/>
              <a:t>3. Multi-Layer Stacking</a:t>
            </a:r>
            <a:endParaRPr b="1"/>
          </a:p>
          <a:p>
            <a:pPr indent="0" lvl="0" marL="0" rtl="0" algn="l">
              <a:spcBef>
                <a:spcPts val="1200"/>
              </a:spcBef>
              <a:spcAft>
                <a:spcPts val="0"/>
              </a:spcAft>
              <a:buNone/>
            </a:pPr>
            <a:r>
              <a:rPr lang="en"/>
              <a:t>Multi-layer stacking involves multiple levels of base models, where the outputs of the first level of models are fed into a second level of base models and so on, before reaching the meta-model.</a:t>
            </a:r>
            <a:endParaRPr/>
          </a:p>
          <a:p>
            <a:pPr indent="0" lvl="0" marL="0" rtl="0" algn="l">
              <a:spcBef>
                <a:spcPts val="1200"/>
              </a:spcBef>
              <a:spcAft>
                <a:spcPts val="1200"/>
              </a:spcAft>
              <a:buNone/>
            </a:pPr>
            <a:r>
              <a:rPr lang="en"/>
              <a:t>This approach creates a more complex ensemble that can capture a wider variety of patterns in the data.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Voting</a:t>
            </a:r>
            <a:endParaRPr/>
          </a:p>
        </p:txBody>
      </p:sp>
      <p:sp>
        <p:nvSpPr>
          <p:cNvPr id="178" name="Google Shape;178;p33"/>
          <p:cNvSpPr txBox="1"/>
          <p:nvPr>
            <p:ph idx="1" type="body"/>
          </p:nvPr>
        </p:nvSpPr>
        <p:spPr>
          <a:xfrm>
            <a:off x="311700" y="1152475"/>
            <a:ext cx="4669200" cy="38085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en"/>
              <a:t>Overview: </a:t>
            </a:r>
            <a:r>
              <a:rPr lang="en"/>
              <a:t>Voting ensembles combine the predictions of multiple models by taking a majority vote (for classification) or averaging (for regression). It can be hard (majority vote) or soft (weighted probabilities).</a:t>
            </a:r>
            <a:endParaRPr/>
          </a:p>
          <a:p>
            <a:pPr indent="0" lvl="0" marL="0" rtl="0" algn="l">
              <a:spcBef>
                <a:spcPts val="1200"/>
              </a:spcBef>
              <a:spcAft>
                <a:spcPts val="0"/>
              </a:spcAft>
              <a:buNone/>
            </a:pPr>
            <a:r>
              <a:rPr b="1" lang="en"/>
              <a:t>Pros:</a:t>
            </a:r>
            <a:endParaRPr b="1"/>
          </a:p>
          <a:p>
            <a:pPr indent="0" lvl="0" marL="0" rtl="0" algn="l">
              <a:spcBef>
                <a:spcPts val="1200"/>
              </a:spcBef>
              <a:spcAft>
                <a:spcPts val="0"/>
              </a:spcAft>
              <a:buNone/>
            </a:pPr>
            <a:r>
              <a:rPr lang="en"/>
              <a:t>Simple and Effective: Easy to implement and often provides a performance boost.</a:t>
            </a:r>
            <a:endParaRPr/>
          </a:p>
          <a:p>
            <a:pPr indent="0" lvl="0" marL="0" rtl="0" algn="l">
              <a:spcBef>
                <a:spcPts val="1200"/>
              </a:spcBef>
              <a:spcAft>
                <a:spcPts val="0"/>
              </a:spcAft>
              <a:buNone/>
            </a:pPr>
            <a:r>
              <a:rPr lang="en"/>
              <a:t>Reduces Overfitting: Aggregates multiple models to smooth out individual biases.</a:t>
            </a:r>
            <a:endParaRPr/>
          </a:p>
          <a:p>
            <a:pPr indent="0" lvl="0" marL="0" rtl="0" algn="l">
              <a:spcBef>
                <a:spcPts val="1200"/>
              </a:spcBef>
              <a:spcAft>
                <a:spcPts val="0"/>
              </a:spcAft>
              <a:buNone/>
            </a:pPr>
            <a:r>
              <a:rPr b="1" lang="en"/>
              <a:t>Cons:</a:t>
            </a:r>
            <a:endParaRPr b="1"/>
          </a:p>
          <a:p>
            <a:pPr indent="0" lvl="0" marL="0" rtl="0" algn="l">
              <a:spcBef>
                <a:spcPts val="1200"/>
              </a:spcBef>
              <a:spcAft>
                <a:spcPts val="0"/>
              </a:spcAft>
              <a:buNone/>
            </a:pPr>
            <a:r>
              <a:rPr lang="en"/>
              <a:t>Equal Weighting: Simple voting treats all models equally, which may not always be optimal.</a:t>
            </a:r>
            <a:endParaRPr/>
          </a:p>
          <a:p>
            <a:pPr indent="0" lvl="0" marL="0" rtl="0" algn="l">
              <a:spcBef>
                <a:spcPts val="1200"/>
              </a:spcBef>
              <a:spcAft>
                <a:spcPts val="0"/>
              </a:spcAft>
              <a:buNone/>
            </a:pPr>
            <a:r>
              <a:rPr b="1" lang="en"/>
              <a:t>Use Cases:</a:t>
            </a:r>
            <a:endParaRPr b="1"/>
          </a:p>
          <a:p>
            <a:pPr indent="0" lvl="0" marL="0" rtl="0" algn="l">
              <a:spcBef>
                <a:spcPts val="1200"/>
              </a:spcBef>
              <a:spcAft>
                <a:spcPts val="1200"/>
              </a:spcAft>
              <a:buNone/>
            </a:pPr>
            <a:r>
              <a:rPr lang="en"/>
              <a:t>Initial ensemble method for improving model robustness in classification tasks.</a:t>
            </a:r>
            <a:endParaRPr/>
          </a:p>
        </p:txBody>
      </p:sp>
      <p:pic>
        <p:nvPicPr>
          <p:cNvPr id="179" name="Google Shape;179;p33"/>
          <p:cNvPicPr preferRelativeResize="0"/>
          <p:nvPr/>
        </p:nvPicPr>
        <p:blipFill>
          <a:blip r:embed="rId3">
            <a:alphaModFix/>
          </a:blip>
          <a:stretch>
            <a:fillRect/>
          </a:stretch>
        </p:blipFill>
        <p:spPr>
          <a:xfrm>
            <a:off x="4905100" y="1646375"/>
            <a:ext cx="3858298" cy="236288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Hard Voting</a:t>
            </a:r>
            <a:endParaRPr/>
          </a:p>
        </p:txBody>
      </p:sp>
      <p:pic>
        <p:nvPicPr>
          <p:cNvPr id="185" name="Google Shape;185;p34"/>
          <p:cNvPicPr preferRelativeResize="0"/>
          <p:nvPr/>
        </p:nvPicPr>
        <p:blipFill>
          <a:blip r:embed="rId3">
            <a:alphaModFix/>
          </a:blip>
          <a:stretch>
            <a:fillRect/>
          </a:stretch>
        </p:blipFill>
        <p:spPr>
          <a:xfrm>
            <a:off x="183200" y="1093150"/>
            <a:ext cx="8839202" cy="34934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Soft Voting</a:t>
            </a:r>
            <a:endParaRPr/>
          </a:p>
        </p:txBody>
      </p:sp>
      <p:pic>
        <p:nvPicPr>
          <p:cNvPr id="191" name="Google Shape;191;p35"/>
          <p:cNvPicPr preferRelativeResize="0"/>
          <p:nvPr/>
        </p:nvPicPr>
        <p:blipFill>
          <a:blip r:embed="rId3">
            <a:alphaModFix/>
          </a:blip>
          <a:stretch>
            <a:fillRect/>
          </a:stretch>
        </p:blipFill>
        <p:spPr>
          <a:xfrm>
            <a:off x="152400" y="1170125"/>
            <a:ext cx="8839200" cy="32723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311700" y="445025"/>
            <a:ext cx="455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Weighted Ensemble</a:t>
            </a:r>
            <a:endParaRPr/>
          </a:p>
          <a:p>
            <a:pPr indent="0" lvl="0" marL="0" rtl="0" algn="l">
              <a:spcBef>
                <a:spcPts val="0"/>
              </a:spcBef>
              <a:spcAft>
                <a:spcPts val="0"/>
              </a:spcAft>
              <a:buNone/>
            </a:pPr>
            <a:r>
              <a:t/>
            </a:r>
            <a:endParaRPr/>
          </a:p>
        </p:txBody>
      </p:sp>
      <p:sp>
        <p:nvSpPr>
          <p:cNvPr id="197" name="Google Shape;197;p36"/>
          <p:cNvSpPr txBox="1"/>
          <p:nvPr>
            <p:ph idx="1" type="body"/>
          </p:nvPr>
        </p:nvSpPr>
        <p:spPr>
          <a:xfrm>
            <a:off x="311700" y="1152475"/>
            <a:ext cx="5076000" cy="38778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en"/>
              <a:t>Overview:</a:t>
            </a:r>
            <a:r>
              <a:rPr lang="en"/>
              <a:t> A weighted ensemble assigns different weights to models based on their performance, combining their predictions accordingly.</a:t>
            </a:r>
            <a:endParaRPr/>
          </a:p>
          <a:p>
            <a:pPr indent="0" lvl="0" marL="0" rtl="0" algn="l">
              <a:spcBef>
                <a:spcPts val="1200"/>
              </a:spcBef>
              <a:spcAft>
                <a:spcPts val="0"/>
              </a:spcAft>
              <a:buNone/>
            </a:pPr>
            <a:r>
              <a:rPr b="1" lang="en"/>
              <a:t>Pros:</a:t>
            </a:r>
            <a:endParaRPr b="1"/>
          </a:p>
          <a:p>
            <a:pPr indent="0" lvl="0" marL="0" rtl="0" algn="l">
              <a:spcBef>
                <a:spcPts val="1200"/>
              </a:spcBef>
              <a:spcAft>
                <a:spcPts val="0"/>
              </a:spcAft>
              <a:buNone/>
            </a:pPr>
            <a:r>
              <a:rPr lang="en"/>
              <a:t>Performance-Based Weighting: Gives more importance to better-performing models, potentially improving accuracy.</a:t>
            </a:r>
            <a:endParaRPr/>
          </a:p>
          <a:p>
            <a:pPr indent="0" lvl="0" marL="0" rtl="0" algn="l">
              <a:spcBef>
                <a:spcPts val="1200"/>
              </a:spcBef>
              <a:spcAft>
                <a:spcPts val="0"/>
              </a:spcAft>
              <a:buNone/>
            </a:pPr>
            <a:r>
              <a:rPr lang="en"/>
              <a:t>Flexibility: Can combine various types of models with custom weights.</a:t>
            </a:r>
            <a:endParaRPr/>
          </a:p>
          <a:p>
            <a:pPr indent="0" lvl="0" marL="0" rtl="0" algn="l">
              <a:spcBef>
                <a:spcPts val="1200"/>
              </a:spcBef>
              <a:spcAft>
                <a:spcPts val="0"/>
              </a:spcAft>
              <a:buNone/>
            </a:pPr>
            <a:r>
              <a:rPr b="1" lang="en"/>
              <a:t>Cons:</a:t>
            </a:r>
            <a:endParaRPr b="1"/>
          </a:p>
          <a:p>
            <a:pPr indent="0" lvl="0" marL="0" rtl="0" algn="l">
              <a:spcBef>
                <a:spcPts val="1200"/>
              </a:spcBef>
              <a:spcAft>
                <a:spcPts val="0"/>
              </a:spcAft>
              <a:buNone/>
            </a:pPr>
            <a:r>
              <a:rPr lang="en"/>
              <a:t>Weight Tuning: Requires careful tuning of weights, which can be challenging and time-consuming.</a:t>
            </a:r>
            <a:endParaRPr sz="2800">
              <a:solidFill>
                <a:schemeClr val="dk1"/>
              </a:solidFill>
            </a:endParaRPr>
          </a:p>
          <a:p>
            <a:pPr indent="0" lvl="0" marL="0" rtl="0" algn="l">
              <a:spcBef>
                <a:spcPts val="1200"/>
              </a:spcBef>
              <a:spcAft>
                <a:spcPts val="0"/>
              </a:spcAft>
              <a:buNone/>
            </a:pPr>
            <a:r>
              <a:rPr b="1" lang="en"/>
              <a:t>Computational Overhead:</a:t>
            </a:r>
            <a:r>
              <a:rPr lang="en"/>
              <a:t> Maintaining and updating multiple models can be resource-intensive.</a:t>
            </a:r>
            <a:endParaRPr/>
          </a:p>
          <a:p>
            <a:pPr indent="0" lvl="0" marL="0" rtl="0" algn="l">
              <a:spcBef>
                <a:spcPts val="1200"/>
              </a:spcBef>
              <a:spcAft>
                <a:spcPts val="0"/>
              </a:spcAft>
              <a:buNone/>
            </a:pPr>
            <a:r>
              <a:rPr b="1" lang="en"/>
              <a:t>Use Cases:</a:t>
            </a:r>
            <a:endParaRPr b="1"/>
          </a:p>
          <a:p>
            <a:pPr indent="0" lvl="0" marL="0" rtl="0" algn="l">
              <a:spcBef>
                <a:spcPts val="1200"/>
              </a:spcBef>
              <a:spcAft>
                <a:spcPts val="1200"/>
              </a:spcAft>
              <a:buNone/>
            </a:pPr>
            <a:r>
              <a:rPr lang="en"/>
              <a:t>Scenarios where certain models consistently perform better and need higher influence on final predictions.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 Learners and Ensemble Construction Strategies</a:t>
            </a:r>
            <a:endParaRPr/>
          </a:p>
        </p:txBody>
      </p:sp>
      <p:sp>
        <p:nvSpPr>
          <p:cNvPr id="203" name="Google Shape;203;p37"/>
          <p:cNvSpPr txBox="1"/>
          <p:nvPr>
            <p:ph idx="1" type="body"/>
          </p:nvPr>
        </p:nvSpPr>
        <p:spPr>
          <a:xfrm>
            <a:off x="246700" y="1152475"/>
            <a:ext cx="85857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b="1" i="1" lang="en"/>
              <a:t>Base learners commonly used in ensemble learning include decision trees, neural networks, and support vector machines, among others. </a:t>
            </a:r>
            <a:endParaRPr b="1" i="1"/>
          </a:p>
          <a:p>
            <a:pPr indent="0" lvl="0" marL="0" rtl="0" algn="l">
              <a:spcBef>
                <a:spcPts val="1200"/>
              </a:spcBef>
              <a:spcAft>
                <a:spcPts val="0"/>
              </a:spcAft>
              <a:buNone/>
            </a:pPr>
            <a:r>
              <a:rPr lang="en"/>
              <a:t>The choice of base learner can significantly affect the performance of the ensemble, as selecting a range of strong learning algorithms that diverge in their predictions is key for good performance. </a:t>
            </a:r>
            <a:endParaRPr/>
          </a:p>
          <a:p>
            <a:pPr indent="0" lvl="0" marL="0" rtl="0" algn="l">
              <a:spcBef>
                <a:spcPts val="1200"/>
              </a:spcBef>
              <a:spcAft>
                <a:spcPts val="0"/>
              </a:spcAft>
              <a:buNone/>
            </a:pPr>
            <a:r>
              <a:rPr lang="en"/>
              <a:t>Homogeneous ensembles utilize the same type of </a:t>
            </a:r>
            <a:r>
              <a:rPr b="1" lang="en">
                <a:highlight>
                  <a:srgbClr val="FFFF00"/>
                </a:highlight>
              </a:rPr>
              <a:t>base learner, trained on different data subsets or with different parameters. </a:t>
            </a:r>
            <a:endParaRPr b="1">
              <a:highlight>
                <a:srgbClr val="FFFF00"/>
              </a:highlight>
            </a:endParaRPr>
          </a:p>
          <a:p>
            <a:pPr indent="0" lvl="0" marL="0" rtl="0" algn="l">
              <a:spcBef>
                <a:spcPts val="1200"/>
              </a:spcBef>
              <a:spcAft>
                <a:spcPts val="0"/>
              </a:spcAft>
              <a:buNone/>
            </a:pPr>
            <a:r>
              <a:rPr lang="en"/>
              <a:t>Techniques like bagging and boosting are typical examples, where multiple models of the same kind are built from different subsamples or sequentially to correct previous errors. </a:t>
            </a:r>
            <a:endParaRPr/>
          </a:p>
          <a:p>
            <a:pPr indent="0" lvl="0" marL="0" rtl="0" algn="l">
              <a:spcBef>
                <a:spcPts val="1200"/>
              </a:spcBef>
              <a:spcAft>
                <a:spcPts val="0"/>
              </a:spcAft>
              <a:buNone/>
            </a:pPr>
            <a:r>
              <a:rPr b="1" lang="en"/>
              <a:t>In contrast, heterogeneous ensembles combine different types of base learners.</a:t>
            </a:r>
            <a:endParaRPr b="1"/>
          </a:p>
          <a:p>
            <a:pPr indent="0" lvl="0" marL="0" rtl="0" algn="l">
              <a:spcBef>
                <a:spcPts val="1200"/>
              </a:spcBef>
              <a:spcAft>
                <a:spcPts val="0"/>
              </a:spcAft>
              <a:buNone/>
            </a:pPr>
            <a:r>
              <a:rPr lang="en"/>
              <a:t>Diversity among base learners is crucial for ensemble effectiveness. Strategies for generating diversity include data resampling (e.g., bagging), randomization in training algorithms, and manipulation of output labels. </a:t>
            </a:r>
            <a:endParaRPr/>
          </a:p>
          <a:p>
            <a:pPr indent="0" lvl="0" marL="0" rtl="0" algn="l">
              <a:spcBef>
                <a:spcPts val="1200"/>
              </a:spcBef>
              <a:spcAft>
                <a:spcPts val="0"/>
              </a:spcAft>
              <a:buNone/>
            </a:pPr>
            <a:r>
              <a:rPr lang="en"/>
              <a:t>Diversity is defined as the degree of disagreement between base models, and it allows ensembles to compensate for the mistakes of certain models through the correct predictions of others. </a:t>
            </a:r>
            <a:endParaRPr/>
          </a:p>
          <a:p>
            <a:pPr indent="0" lvl="0" marL="0" rtl="0" algn="l">
              <a:spcBef>
                <a:spcPts val="1200"/>
              </a:spcBef>
              <a:spcAft>
                <a:spcPts val="1200"/>
              </a:spcAft>
              <a:buNone/>
            </a:pPr>
            <a:r>
              <a:rPr lang="en"/>
              <a:t>Methods such as random subspace, bagging, and boosting introduce diversity by training base learners on different data subsets or by combining different base learners trained on the same training set. Ensemble pruning methods, including ranking, search-based, and partitioning-based approaches, are used to prune models by removing redundant or less accurate models, aiming to maximize prediction accuracy and reduce computational costs.</a:t>
            </a:r>
            <a:endParaRPr/>
          </a:p>
        </p:txBody>
      </p:sp>
      <p:sp>
        <p:nvSpPr>
          <p:cNvPr id="204" name="Google Shape;204;p37"/>
          <p:cNvSpPr txBox="1"/>
          <p:nvPr/>
        </p:nvSpPr>
        <p:spPr>
          <a:xfrm>
            <a:off x="190800" y="4568875"/>
            <a:ext cx="8762400" cy="4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https://www.sciencedirect.com/topics/computer-science/ensemble-learning</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10" name="Google Shape;210;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https://www.youtube.com/watch?v=pc9sZz45s94</a:t>
            </a:r>
            <a:endParaRPr/>
          </a:p>
          <a:p>
            <a:pPr indent="0" lvl="0" marL="0" rtl="0" algn="l">
              <a:spcBef>
                <a:spcPts val="1200"/>
              </a:spcBef>
              <a:spcAft>
                <a:spcPts val="0"/>
              </a:spcAft>
              <a:buNone/>
            </a:pPr>
            <a:r>
              <a:rPr lang="en" u="sng">
                <a:solidFill>
                  <a:schemeClr val="hlink"/>
                </a:solidFill>
                <a:hlinkClick r:id="rId4"/>
              </a:rPr>
              <a:t>https://www.youtube.com/watch?v=sN5ZcJLDMaE</a:t>
            </a:r>
            <a:endParaRPr/>
          </a:p>
          <a:p>
            <a:pPr indent="0" lvl="0" marL="0" rtl="0" algn="l">
              <a:spcBef>
                <a:spcPts val="1200"/>
              </a:spcBef>
              <a:spcAft>
                <a:spcPts val="0"/>
              </a:spcAft>
              <a:buNone/>
            </a:pPr>
            <a:r>
              <a:rPr lang="en" u="sng">
                <a:solidFill>
                  <a:schemeClr val="hlink"/>
                </a:solidFill>
                <a:hlinkClick r:id="rId5"/>
              </a:rPr>
              <a:t>https://www.geeksforgeeks.org/machine-learning/types-of-ensemble-learning/</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