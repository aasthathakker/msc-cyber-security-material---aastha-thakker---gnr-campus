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9" roundtripDataSignature="AMtx7mgXwwfoGC1HbA7uxTnGtntRpdLbx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65E4206-397F-433C-8654-01BDCA4A0839}">
  <a:tblStyle styleId="{165E4206-397F-433C-8654-01BDCA4A083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customschemas.google.com/relationships/presentationmetadata" Target="meta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Relation to Classification Threshold</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classification:</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 fixed threshold (usually </a:t>
            </a:r>
            <a:r>
              <a:rPr b="1" lang="en">
                <a:solidFill>
                  <a:schemeClr val="dk1"/>
                </a:solidFill>
              </a:rPr>
              <a:t>0.5</a:t>
            </a:r>
            <a:r>
              <a:rPr lang="en">
                <a:solidFill>
                  <a:schemeClr val="dk1"/>
                </a:solidFill>
              </a:rPr>
              <a:t>) is used to evaluate performance.</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regression:</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R² acts as that fixed reference point</a:t>
            </a:r>
            <a:br>
              <a:rPr b="1" lang="en">
                <a:solidFill>
                  <a:schemeClr val="dk1"/>
                </a:solidFill>
              </a:rPr>
            </a:b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 tells whether your model is </a:t>
            </a:r>
            <a:r>
              <a:rPr b="1" lang="en">
                <a:solidFill>
                  <a:schemeClr val="dk1"/>
                </a:solidFill>
              </a:rPr>
              <a:t>better than a naive prediction (mean)</a:t>
            </a:r>
            <a:endParaRPr b="1">
              <a:solidFill>
                <a:schemeClr val="dk1"/>
              </a:solidFill>
            </a:endParaRPr>
          </a:p>
          <a:p>
            <a:pPr indent="0" lvl="0" marL="0" rtl="0" algn="l">
              <a:lnSpc>
                <a:spcPct val="115000"/>
              </a:lnSpc>
              <a:spcBef>
                <a:spcPts val="1800"/>
              </a:spcBef>
              <a:spcAft>
                <a:spcPts val="0"/>
              </a:spcAft>
              <a:buNone/>
            </a:pPr>
            <a:r>
              <a:rPr b="1" lang="en" sz="1700">
                <a:solidFill>
                  <a:schemeClr val="dk1"/>
                </a:solidFill>
              </a:rPr>
              <a:t>Why R² is called Coefficient of Determination</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It </a:t>
            </a:r>
            <a:r>
              <a:rPr b="1" lang="en">
                <a:solidFill>
                  <a:schemeClr val="dk1"/>
                </a:solidFill>
              </a:rPr>
              <a:t>determines how much variation</a:t>
            </a:r>
            <a:r>
              <a:rPr lang="en">
                <a:solidFill>
                  <a:schemeClr val="dk1"/>
                </a:solidFill>
              </a:rPr>
              <a:t> in the output is explained by inputs.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 shows the </a:t>
            </a:r>
            <a:r>
              <a:rPr b="1" lang="en">
                <a:solidFill>
                  <a:schemeClr val="dk1"/>
                </a:solidFill>
              </a:rPr>
              <a:t>goodness of fit</a:t>
            </a:r>
            <a:r>
              <a:rPr lang="en">
                <a:solidFill>
                  <a:schemeClr val="dk1"/>
                </a:solidFill>
              </a:rPr>
              <a:t> of the regression line.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lang="en">
                <a:solidFill>
                  <a:schemeClr val="dk1"/>
                </a:solidFill>
              </a:rPr>
              <a:t>📌 That’s why R² is also known as: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Coefficient of Determination</a:t>
            </a:r>
            <a:br>
              <a:rPr b="1" lang="en">
                <a:solidFill>
                  <a:schemeClr val="dk1"/>
                </a:solidFill>
              </a:rPr>
            </a:b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Goodness of Fit</a:t>
            </a:r>
            <a:endParaRPr b="1">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2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 name="Google Shape;21;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2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2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3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3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3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3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3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3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3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3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5" name="Google Shape;45;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3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3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
              <a:t>Regression Model &amp; evaluation metrics </a:t>
            </a:r>
            <a:endParaRPr/>
          </a:p>
        </p:txBody>
      </p:sp>
      <p:sp>
        <p:nvSpPr>
          <p:cNvPr id="55" name="Google Shape;55;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80000"/>
              </a:lnSpc>
              <a:spcBef>
                <a:spcPts val="0"/>
              </a:spcBef>
              <a:spcAft>
                <a:spcPts val="0"/>
              </a:spcAft>
              <a:buSzPts val="1018"/>
              <a:buNone/>
            </a:pPr>
            <a:r>
              <a:rPr lang="en" sz="3509">
                <a:solidFill>
                  <a:schemeClr val="dk1"/>
                </a:solidFill>
              </a:rPr>
              <a:t>In machine learning</a:t>
            </a:r>
            <a:endParaRPr sz="129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What is Regression?</a:t>
            </a:r>
            <a:endParaRPr/>
          </a:p>
        </p:txBody>
      </p:sp>
      <p:sp>
        <p:nvSpPr>
          <p:cNvPr id="61" name="Google Shape;61;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Regression is a statistical approach used to analyze the relationship between a dependent variable (target variable) and one or more independent variables (predictor variables). The objective is to determine the most suitable function that characterizes the connection between these variables.</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rPr lang="en"/>
              <a:t>It seeks to find the best-fitting model, which can be utilized to make predictions or draw conclusions.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Regression in Machine Learning</a:t>
            </a:r>
            <a:endParaRPr/>
          </a:p>
          <a:p>
            <a:pPr indent="0" lvl="0" marL="0" rtl="0" algn="l">
              <a:lnSpc>
                <a:spcPct val="100000"/>
              </a:lnSpc>
              <a:spcBef>
                <a:spcPts val="0"/>
              </a:spcBef>
              <a:spcAft>
                <a:spcPts val="0"/>
              </a:spcAft>
              <a:buSzPct val="111111"/>
              <a:buNone/>
            </a:pPr>
            <a:r>
              <a:t/>
            </a:r>
            <a:endParaRPr/>
          </a:p>
        </p:txBody>
      </p:sp>
      <p:sp>
        <p:nvSpPr>
          <p:cNvPr id="67" name="Google Shape;67;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It is a supervised machine learning technique, </a:t>
            </a:r>
            <a:r>
              <a:rPr i="1" lang="en"/>
              <a:t>used to predict the value of the dependent variable for new, unseen data. </a:t>
            </a:r>
            <a:endParaRPr i="1"/>
          </a:p>
          <a:p>
            <a:pPr indent="0" lvl="0" marL="0" rtl="0" algn="l">
              <a:lnSpc>
                <a:spcPct val="115000"/>
              </a:lnSpc>
              <a:spcBef>
                <a:spcPts val="1200"/>
              </a:spcBef>
              <a:spcAft>
                <a:spcPts val="0"/>
              </a:spcAft>
              <a:buSzPts val="1800"/>
              <a:buNone/>
            </a:pPr>
            <a:r>
              <a:rPr lang="en"/>
              <a:t>It models the </a:t>
            </a:r>
            <a:r>
              <a:rPr i="1" lang="en">
                <a:solidFill>
                  <a:srgbClr val="F6B26B"/>
                </a:solidFill>
              </a:rPr>
              <a:t>relationship between the input features and the target variable</a:t>
            </a:r>
            <a:r>
              <a:rPr lang="en"/>
              <a:t>, allowing for the estimation or prediction of numerical values.</a:t>
            </a:r>
            <a:endParaRPr/>
          </a:p>
          <a:p>
            <a:pPr indent="0" lvl="0" marL="0" rtl="0" algn="l">
              <a:lnSpc>
                <a:spcPct val="115000"/>
              </a:lnSpc>
              <a:spcBef>
                <a:spcPts val="1200"/>
              </a:spcBef>
              <a:spcAft>
                <a:spcPts val="0"/>
              </a:spcAft>
              <a:buSzPts val="1800"/>
              <a:buNone/>
            </a:pPr>
            <a:r>
              <a:rPr lang="en"/>
              <a:t>Regression analysis problem works with </a:t>
            </a:r>
            <a:r>
              <a:rPr lang="en" u="sng"/>
              <a:t>if output variable is a real or continuous value, such as “salary” or “weight”. </a:t>
            </a:r>
            <a:endParaRPr u="sng"/>
          </a:p>
          <a:p>
            <a:pPr indent="0" lvl="0" marL="0" rtl="0" algn="l">
              <a:lnSpc>
                <a:spcPct val="115000"/>
              </a:lnSpc>
              <a:spcBef>
                <a:spcPts val="1200"/>
              </a:spcBef>
              <a:spcAft>
                <a:spcPts val="0"/>
              </a:spcAft>
              <a:buSzPts val="1800"/>
              <a:buNone/>
            </a:pPr>
            <a:r>
              <a:rPr lang="en"/>
              <a:t>Many different models can be used, the </a:t>
            </a:r>
            <a:r>
              <a:rPr b="1" lang="en"/>
              <a:t>simplest is the linear regression. </a:t>
            </a:r>
            <a:endParaRPr b="1"/>
          </a:p>
          <a:p>
            <a:pPr indent="0" lvl="0" marL="0" rtl="0" algn="l">
              <a:lnSpc>
                <a:spcPct val="115000"/>
              </a:lnSpc>
              <a:spcBef>
                <a:spcPts val="1200"/>
              </a:spcBef>
              <a:spcAft>
                <a:spcPts val="1200"/>
              </a:spcAft>
              <a:buSzPts val="1800"/>
              <a:buNone/>
            </a:pPr>
            <a:r>
              <a:rPr lang="en" u="sng"/>
              <a:t>It tries to fit data with the best hyper-plane which goes through the points.</a:t>
            </a:r>
            <a:endParaRPr u="sng"/>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4"/>
          <p:cNvSpPr txBox="1"/>
          <p:nvPr>
            <p:ph type="title"/>
          </p:nvPr>
        </p:nvSpPr>
        <p:spPr>
          <a:xfrm>
            <a:off x="311700" y="1167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Characteristics of Regression</a:t>
            </a:r>
            <a:endParaRPr/>
          </a:p>
          <a:p>
            <a:pPr indent="0" lvl="0" marL="0" rtl="0" algn="l">
              <a:lnSpc>
                <a:spcPct val="100000"/>
              </a:lnSpc>
              <a:spcBef>
                <a:spcPts val="0"/>
              </a:spcBef>
              <a:spcAft>
                <a:spcPts val="0"/>
              </a:spcAft>
              <a:buSzPct val="111111"/>
              <a:buNone/>
            </a:pPr>
            <a:r>
              <a:t/>
            </a:r>
            <a:endParaRPr/>
          </a:p>
        </p:txBody>
      </p:sp>
      <p:sp>
        <p:nvSpPr>
          <p:cNvPr id="73" name="Google Shape;73;p4"/>
          <p:cNvSpPr txBox="1"/>
          <p:nvPr>
            <p:ph idx="1" type="body"/>
          </p:nvPr>
        </p:nvSpPr>
        <p:spPr>
          <a:xfrm>
            <a:off x="311700" y="865200"/>
            <a:ext cx="8520600" cy="42783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1800"/>
              <a:buNone/>
            </a:pPr>
            <a:r>
              <a:rPr b="1" lang="en" sz="1595"/>
              <a:t>Continuous Target Variable:</a:t>
            </a:r>
            <a:r>
              <a:rPr lang="en" sz="1595"/>
              <a:t> Regression deals with predicting continuous target variables that represent numerical values. Examples include predicting house prices, forecasting sales figures, or estimating patient recovery times.</a:t>
            </a:r>
            <a:endParaRPr sz="1595"/>
          </a:p>
          <a:p>
            <a:pPr indent="0" lvl="0" marL="0" rtl="0" algn="l">
              <a:lnSpc>
                <a:spcPct val="95000"/>
              </a:lnSpc>
              <a:spcBef>
                <a:spcPts val="1200"/>
              </a:spcBef>
              <a:spcAft>
                <a:spcPts val="0"/>
              </a:spcAft>
              <a:buSzPts val="1800"/>
              <a:buNone/>
            </a:pPr>
            <a:r>
              <a:rPr b="1" lang="en" sz="1595" u="sng"/>
              <a:t>Error Measurement:</a:t>
            </a:r>
            <a:r>
              <a:rPr lang="en" sz="1595" u="sng"/>
              <a:t> Regression models are evaluated based on their ability to minimize the error between the predicted and actual values of the target variable. Common error metrics include mean absolute error (MAE), mean squared error (MSE), and root mean squared error (RMSE).</a:t>
            </a:r>
            <a:endParaRPr sz="1595" u="sng"/>
          </a:p>
          <a:p>
            <a:pPr indent="0" lvl="0" marL="0" rtl="0" algn="l">
              <a:lnSpc>
                <a:spcPct val="95000"/>
              </a:lnSpc>
              <a:spcBef>
                <a:spcPts val="1200"/>
              </a:spcBef>
              <a:spcAft>
                <a:spcPts val="0"/>
              </a:spcAft>
              <a:buSzPts val="1800"/>
              <a:buNone/>
            </a:pPr>
            <a:r>
              <a:rPr b="1" lang="en" sz="1595"/>
              <a:t>Model Complexity:</a:t>
            </a:r>
            <a:r>
              <a:rPr lang="en" sz="1595"/>
              <a:t> Regression models range from simple linear models to more complex nonlinear models. The choice of model complexity depends on the complexity of the relationship between the input features and the target variable.</a:t>
            </a:r>
            <a:endParaRPr sz="1595"/>
          </a:p>
          <a:p>
            <a:pPr indent="0" lvl="0" marL="0" rtl="0" algn="l">
              <a:lnSpc>
                <a:spcPct val="95000"/>
              </a:lnSpc>
              <a:spcBef>
                <a:spcPts val="1200"/>
              </a:spcBef>
              <a:spcAft>
                <a:spcPts val="0"/>
              </a:spcAft>
              <a:buSzPts val="1800"/>
              <a:buNone/>
            </a:pPr>
            <a:r>
              <a:rPr b="1" lang="en" sz="1595"/>
              <a:t>Overfitting and Underfitting:</a:t>
            </a:r>
            <a:r>
              <a:rPr lang="en" sz="1595"/>
              <a:t> Regression models are susceptible to overfitting and underfitting.</a:t>
            </a:r>
            <a:endParaRPr sz="1595"/>
          </a:p>
          <a:p>
            <a:pPr indent="0" lvl="0" marL="0" rtl="0" algn="l">
              <a:lnSpc>
                <a:spcPct val="95000"/>
              </a:lnSpc>
              <a:spcBef>
                <a:spcPts val="1200"/>
              </a:spcBef>
              <a:spcAft>
                <a:spcPts val="1200"/>
              </a:spcAft>
              <a:buSzPts val="1800"/>
              <a:buNone/>
            </a:pPr>
            <a:r>
              <a:rPr b="1" lang="en" sz="1595"/>
              <a:t>Interpretability</a:t>
            </a:r>
            <a:r>
              <a:rPr lang="en" sz="1595"/>
              <a:t>: The interpretability of regression models varies depending on the algorithm used. Simple linear models are highly interpretable, while more complex models may be more difficult to interpret.</a:t>
            </a:r>
            <a:endParaRPr sz="1595"/>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5"/>
          <p:cNvSpPr txBox="1"/>
          <p:nvPr>
            <p:ph type="title"/>
          </p:nvPr>
        </p:nvSpPr>
        <p:spPr>
          <a:xfrm>
            <a:off x="311700" y="28085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Terminologies Related to the Regression Analysis </a:t>
            </a:r>
            <a:endParaRPr/>
          </a:p>
        </p:txBody>
      </p:sp>
      <p:sp>
        <p:nvSpPr>
          <p:cNvPr id="79" name="Google Shape;79;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85000" lnSpcReduction="10000"/>
          </a:bodyPr>
          <a:lstStyle/>
          <a:p>
            <a:pPr indent="0" lvl="0" marL="0" rtl="0" algn="l">
              <a:lnSpc>
                <a:spcPct val="115000"/>
              </a:lnSpc>
              <a:spcBef>
                <a:spcPts val="0"/>
              </a:spcBef>
              <a:spcAft>
                <a:spcPts val="0"/>
              </a:spcAft>
              <a:buSzPct val="117647"/>
              <a:buNone/>
            </a:pPr>
            <a:r>
              <a:rPr b="1" lang="en"/>
              <a:t>Response Variable:</a:t>
            </a:r>
            <a:r>
              <a:rPr lang="en"/>
              <a:t> The primary factor to predict or understand in regression, also known as the dependent variable or target variable.</a:t>
            </a:r>
            <a:endParaRPr/>
          </a:p>
          <a:p>
            <a:pPr indent="0" lvl="0" marL="0" rtl="0" algn="l">
              <a:lnSpc>
                <a:spcPct val="115000"/>
              </a:lnSpc>
              <a:spcBef>
                <a:spcPts val="1200"/>
              </a:spcBef>
              <a:spcAft>
                <a:spcPts val="0"/>
              </a:spcAft>
              <a:buSzPct val="117647"/>
              <a:buNone/>
            </a:pPr>
            <a:r>
              <a:rPr b="1" lang="en"/>
              <a:t>Predictor Variable:</a:t>
            </a:r>
            <a:r>
              <a:rPr lang="en"/>
              <a:t> Factors influencing the response variable, used to predict its values; also called independent variables.</a:t>
            </a:r>
            <a:endParaRPr/>
          </a:p>
          <a:p>
            <a:pPr indent="0" lvl="0" marL="0" rtl="0" algn="l">
              <a:lnSpc>
                <a:spcPct val="115000"/>
              </a:lnSpc>
              <a:spcBef>
                <a:spcPts val="1200"/>
              </a:spcBef>
              <a:spcAft>
                <a:spcPts val="0"/>
              </a:spcAft>
              <a:buSzPct val="117647"/>
              <a:buNone/>
            </a:pPr>
            <a:r>
              <a:rPr b="1" lang="en"/>
              <a:t>Outliers: </a:t>
            </a:r>
            <a:r>
              <a:rPr lang="en"/>
              <a:t>Observations with significantly low or high values compared to others, potentially impacting results and best avoided.</a:t>
            </a:r>
            <a:endParaRPr/>
          </a:p>
          <a:p>
            <a:pPr indent="0" lvl="0" marL="0" rtl="0" algn="l">
              <a:lnSpc>
                <a:spcPct val="115000"/>
              </a:lnSpc>
              <a:spcBef>
                <a:spcPts val="1200"/>
              </a:spcBef>
              <a:spcAft>
                <a:spcPts val="0"/>
              </a:spcAft>
              <a:buSzPct val="117647"/>
              <a:buNone/>
            </a:pPr>
            <a:r>
              <a:rPr b="1" lang="en"/>
              <a:t>Multicollinearity:</a:t>
            </a:r>
            <a:r>
              <a:rPr lang="en"/>
              <a:t> High correlation among independent variables, which can complicate the ranking of influential variables.</a:t>
            </a:r>
            <a:endParaRPr/>
          </a:p>
          <a:p>
            <a:pPr indent="0" lvl="0" marL="0" rtl="0" algn="l">
              <a:lnSpc>
                <a:spcPct val="115000"/>
              </a:lnSpc>
              <a:spcBef>
                <a:spcPts val="1200"/>
              </a:spcBef>
              <a:spcAft>
                <a:spcPts val="1200"/>
              </a:spcAft>
              <a:buSzPct val="117647"/>
              <a:buNone/>
            </a:pPr>
            <a:r>
              <a:rPr b="1" lang="en"/>
              <a:t>Underfitting and Overfitting:</a:t>
            </a:r>
            <a:r>
              <a:rPr lang="en"/>
              <a:t> Overfitting occurs when an algorithm performs well on training but poorly on testing, while underfitting indicates poor performance on both datasets.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Regression Types</a:t>
            </a:r>
            <a:endParaRPr/>
          </a:p>
          <a:p>
            <a:pPr indent="0" lvl="0" marL="0" rtl="0" algn="l">
              <a:lnSpc>
                <a:spcPct val="100000"/>
              </a:lnSpc>
              <a:spcBef>
                <a:spcPts val="0"/>
              </a:spcBef>
              <a:spcAft>
                <a:spcPts val="0"/>
              </a:spcAft>
              <a:buSzPct val="111111"/>
              <a:buNone/>
            </a:pPr>
            <a:r>
              <a:t/>
            </a:r>
            <a:endParaRPr/>
          </a:p>
        </p:txBody>
      </p:sp>
      <p:sp>
        <p:nvSpPr>
          <p:cNvPr id="85" name="Google Shape;85;p6"/>
          <p:cNvSpPr txBox="1"/>
          <p:nvPr>
            <p:ph idx="1" type="body"/>
          </p:nvPr>
        </p:nvSpPr>
        <p:spPr>
          <a:xfrm>
            <a:off x="311700" y="1193498"/>
            <a:ext cx="8520600" cy="3416400"/>
          </a:xfrm>
          <a:prstGeom prst="rect">
            <a:avLst/>
          </a:prstGeom>
          <a:noFill/>
          <a:ln>
            <a:noFill/>
          </a:ln>
        </p:spPr>
        <p:txBody>
          <a:bodyPr anchorCtr="0" anchor="t" bIns="91425" lIns="91425" spcFirstLastPara="1" rIns="91425" wrap="square" tIns="91425">
            <a:noAutofit/>
          </a:bodyPr>
          <a:lstStyle/>
          <a:p>
            <a:pPr indent="-323532" lvl="0" marL="457200" rtl="0" algn="l">
              <a:lnSpc>
                <a:spcPct val="105000"/>
              </a:lnSpc>
              <a:spcBef>
                <a:spcPts val="0"/>
              </a:spcBef>
              <a:spcAft>
                <a:spcPts val="0"/>
              </a:spcAft>
              <a:buSzPts val="1495"/>
              <a:buAutoNum type="arabicPeriod"/>
            </a:pPr>
            <a:r>
              <a:rPr b="1" lang="en" sz="1495"/>
              <a:t>Simple Regression</a:t>
            </a:r>
            <a:endParaRPr b="1" sz="1495"/>
          </a:p>
          <a:p>
            <a:pPr indent="0" lvl="0" marL="0" rtl="0" algn="l">
              <a:lnSpc>
                <a:spcPct val="105000"/>
              </a:lnSpc>
              <a:spcBef>
                <a:spcPts val="1200"/>
              </a:spcBef>
              <a:spcAft>
                <a:spcPts val="0"/>
              </a:spcAft>
              <a:buSzPts val="1800"/>
              <a:buNone/>
            </a:pPr>
            <a:r>
              <a:rPr lang="en" sz="1495"/>
              <a:t>Used to predict a continuous dependent variable based on a single independent variable.</a:t>
            </a:r>
            <a:endParaRPr sz="1495"/>
          </a:p>
          <a:p>
            <a:pPr indent="0" lvl="0" marL="0" rtl="0" algn="l">
              <a:lnSpc>
                <a:spcPct val="105000"/>
              </a:lnSpc>
              <a:spcBef>
                <a:spcPts val="1200"/>
              </a:spcBef>
              <a:spcAft>
                <a:spcPts val="0"/>
              </a:spcAft>
              <a:buSzPts val="1800"/>
              <a:buNone/>
            </a:pPr>
            <a:r>
              <a:rPr lang="en" sz="1495"/>
              <a:t>Simple linear regression should be used when there is only a single independent variable.</a:t>
            </a:r>
            <a:endParaRPr sz="1495"/>
          </a:p>
          <a:p>
            <a:pPr indent="-323532" lvl="0" marL="457200" rtl="0" algn="l">
              <a:lnSpc>
                <a:spcPct val="105000"/>
              </a:lnSpc>
              <a:spcBef>
                <a:spcPts val="1200"/>
              </a:spcBef>
              <a:spcAft>
                <a:spcPts val="0"/>
              </a:spcAft>
              <a:buSzPts val="1495"/>
              <a:buAutoNum type="arabicPeriod"/>
            </a:pPr>
            <a:r>
              <a:rPr b="1" lang="en" sz="1495"/>
              <a:t>Multiple Regression</a:t>
            </a:r>
            <a:endParaRPr b="1" sz="1495"/>
          </a:p>
          <a:p>
            <a:pPr indent="0" lvl="0" marL="0" rtl="0" algn="l">
              <a:lnSpc>
                <a:spcPct val="105000"/>
              </a:lnSpc>
              <a:spcBef>
                <a:spcPts val="1200"/>
              </a:spcBef>
              <a:spcAft>
                <a:spcPts val="0"/>
              </a:spcAft>
              <a:buSzPts val="1800"/>
              <a:buNone/>
            </a:pPr>
            <a:r>
              <a:rPr lang="en" sz="1495"/>
              <a:t>Used to predict a continuous dependent variable based on multiple independent variables.</a:t>
            </a:r>
            <a:endParaRPr sz="1495"/>
          </a:p>
          <a:p>
            <a:pPr indent="0" lvl="0" marL="0" rtl="0" algn="l">
              <a:lnSpc>
                <a:spcPct val="105000"/>
              </a:lnSpc>
              <a:spcBef>
                <a:spcPts val="1200"/>
              </a:spcBef>
              <a:spcAft>
                <a:spcPts val="0"/>
              </a:spcAft>
              <a:buSzPts val="1800"/>
              <a:buNone/>
            </a:pPr>
            <a:r>
              <a:rPr lang="en" sz="1495"/>
              <a:t>Multiple linear regression should be used when there are multiple independent variables.</a:t>
            </a:r>
            <a:endParaRPr sz="1495"/>
          </a:p>
          <a:p>
            <a:pPr indent="-323532" lvl="0" marL="457200" rtl="0" algn="l">
              <a:lnSpc>
                <a:spcPct val="105000"/>
              </a:lnSpc>
              <a:spcBef>
                <a:spcPts val="1200"/>
              </a:spcBef>
              <a:spcAft>
                <a:spcPts val="0"/>
              </a:spcAft>
              <a:buSzPts val="1495"/>
              <a:buAutoNum type="arabicPeriod"/>
            </a:pPr>
            <a:r>
              <a:rPr b="1" lang="en" sz="1495"/>
              <a:t>NonLinear Regression</a:t>
            </a:r>
            <a:endParaRPr b="1" sz="1495"/>
          </a:p>
          <a:p>
            <a:pPr indent="0" lvl="0" marL="0" rtl="0" algn="l">
              <a:lnSpc>
                <a:spcPct val="105000"/>
              </a:lnSpc>
              <a:spcBef>
                <a:spcPts val="1200"/>
              </a:spcBef>
              <a:spcAft>
                <a:spcPts val="0"/>
              </a:spcAft>
              <a:buSzPts val="1800"/>
              <a:buNone/>
            </a:pPr>
            <a:r>
              <a:rPr lang="en" sz="1495"/>
              <a:t>Relationship between the dependent variable and independent variable(s) follows a </a:t>
            </a:r>
            <a:r>
              <a:rPr b="1" lang="en" sz="1495"/>
              <a:t>nonlinear pattern. </a:t>
            </a:r>
            <a:r>
              <a:rPr lang="en" sz="1495"/>
              <a:t>Provides flexibility in modeling a wide range of functional forms.</a:t>
            </a:r>
            <a:endParaRPr sz="1495"/>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id="90" name="Google Shape;90;p7"/>
          <p:cNvPicPr preferRelativeResize="0"/>
          <p:nvPr/>
        </p:nvPicPr>
        <p:blipFill rotWithShape="1">
          <a:blip r:embed="rId3">
            <a:alphaModFix/>
          </a:blip>
          <a:srcRect b="0" l="0" r="0" t="0"/>
          <a:stretch/>
        </p:blipFill>
        <p:spPr>
          <a:xfrm>
            <a:off x="746300" y="1101150"/>
            <a:ext cx="7416625" cy="22304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id="95" name="Google Shape;95;p8"/>
          <p:cNvPicPr preferRelativeResize="0"/>
          <p:nvPr/>
        </p:nvPicPr>
        <p:blipFill rotWithShape="1">
          <a:blip r:embed="rId3">
            <a:alphaModFix/>
          </a:blip>
          <a:srcRect b="0" l="0" r="0" t="0"/>
          <a:stretch/>
        </p:blipFill>
        <p:spPr>
          <a:xfrm>
            <a:off x="1039200" y="1105725"/>
            <a:ext cx="6667500" cy="2819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9"/>
          <p:cNvSpPr txBox="1"/>
          <p:nvPr>
            <p:ph type="title"/>
          </p:nvPr>
        </p:nvSpPr>
        <p:spPr>
          <a:xfrm>
            <a:off x="311700" y="28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Regression Algorithms</a:t>
            </a:r>
            <a:endParaRPr/>
          </a:p>
          <a:p>
            <a:pPr indent="0" lvl="0" marL="0" rtl="0" algn="l">
              <a:lnSpc>
                <a:spcPct val="100000"/>
              </a:lnSpc>
              <a:spcBef>
                <a:spcPts val="0"/>
              </a:spcBef>
              <a:spcAft>
                <a:spcPts val="0"/>
              </a:spcAft>
              <a:buSzPct val="111111"/>
              <a:buNone/>
            </a:pPr>
            <a:r>
              <a:t/>
            </a:r>
            <a:endParaRPr/>
          </a:p>
        </p:txBody>
      </p:sp>
      <p:sp>
        <p:nvSpPr>
          <p:cNvPr id="101" name="Google Shape;101;p9"/>
          <p:cNvSpPr txBox="1"/>
          <p:nvPr>
            <p:ph idx="1" type="body"/>
          </p:nvPr>
        </p:nvSpPr>
        <p:spPr>
          <a:xfrm>
            <a:off x="311700" y="863550"/>
            <a:ext cx="8520600" cy="41097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1800"/>
              <a:buNone/>
            </a:pPr>
            <a:r>
              <a:rPr b="1" lang="en" sz="1525"/>
              <a:t>Linear Regression</a:t>
            </a:r>
            <a:endParaRPr b="1" sz="1525"/>
          </a:p>
          <a:p>
            <a:pPr indent="0" lvl="0" marL="0" rtl="0" algn="l">
              <a:lnSpc>
                <a:spcPct val="105000"/>
              </a:lnSpc>
              <a:spcBef>
                <a:spcPts val="1200"/>
              </a:spcBef>
              <a:spcAft>
                <a:spcPts val="0"/>
              </a:spcAft>
              <a:buSzPts val="1800"/>
              <a:buNone/>
            </a:pPr>
            <a:r>
              <a:rPr lang="en" sz="1525"/>
              <a:t>S</a:t>
            </a:r>
            <a:r>
              <a:rPr lang="en" sz="1525"/>
              <a:t>tatistical model. This assumes that there is a linear relationship between the independent and dependent variables. This means that the change in the dependent variable is proportional to the change in the independent variables.</a:t>
            </a:r>
            <a:endParaRPr sz="1525"/>
          </a:p>
          <a:p>
            <a:pPr indent="0" lvl="0" marL="0" rtl="0" algn="l">
              <a:lnSpc>
                <a:spcPct val="105000"/>
              </a:lnSpc>
              <a:spcBef>
                <a:spcPts val="1200"/>
              </a:spcBef>
              <a:spcAft>
                <a:spcPts val="0"/>
              </a:spcAft>
              <a:buSzPts val="1800"/>
              <a:buNone/>
            </a:pPr>
            <a:r>
              <a:rPr b="1" lang="en" sz="1525"/>
              <a:t>Polynomial Regression</a:t>
            </a:r>
            <a:endParaRPr b="1" sz="1525"/>
          </a:p>
          <a:p>
            <a:pPr indent="0" lvl="0" marL="0" rtl="0" algn="l">
              <a:lnSpc>
                <a:spcPct val="105000"/>
              </a:lnSpc>
              <a:spcBef>
                <a:spcPts val="1200"/>
              </a:spcBef>
              <a:spcAft>
                <a:spcPts val="0"/>
              </a:spcAft>
              <a:buSzPts val="1800"/>
              <a:buNone/>
            </a:pPr>
            <a:r>
              <a:rPr lang="en" sz="1525"/>
              <a:t>Polynomial regression is used to model nonlinear relationships between the dependent variable and the independent variables. It adds polynomial terms to the linear regression model to capture more complex relationships.</a:t>
            </a:r>
            <a:endParaRPr sz="1525"/>
          </a:p>
          <a:p>
            <a:pPr indent="0" lvl="0" marL="0" rtl="0" algn="l">
              <a:lnSpc>
                <a:spcPct val="105000"/>
              </a:lnSpc>
              <a:spcBef>
                <a:spcPts val="1200"/>
              </a:spcBef>
              <a:spcAft>
                <a:spcPts val="0"/>
              </a:spcAft>
              <a:buSzPts val="1800"/>
              <a:buNone/>
            </a:pPr>
            <a:r>
              <a:rPr b="1" lang="en" sz="1525"/>
              <a:t>Support Vector Regression (SVR)</a:t>
            </a:r>
            <a:endParaRPr b="1" sz="1525"/>
          </a:p>
          <a:p>
            <a:pPr indent="0" lvl="0" marL="0" rtl="0" algn="l">
              <a:lnSpc>
                <a:spcPct val="105000"/>
              </a:lnSpc>
              <a:spcBef>
                <a:spcPts val="1200"/>
              </a:spcBef>
              <a:spcAft>
                <a:spcPts val="0"/>
              </a:spcAft>
              <a:buSzPts val="1800"/>
              <a:buNone/>
            </a:pPr>
            <a:r>
              <a:rPr lang="en" sz="1525"/>
              <a:t>Support vector regression (SVR) is a type of regression algorithm that is based on the support vector machine (SVM) algorithm. SVM is a type of algorithm that is used for classification tasks, but it can also be used for regression tasks. SVR works by finding a hyperplane that </a:t>
            </a:r>
            <a:r>
              <a:rPr lang="en" sz="1525" u="sng"/>
              <a:t>minimizes the sum of the squared</a:t>
            </a:r>
            <a:r>
              <a:rPr lang="en" sz="1525"/>
              <a:t> residuals between the predicted and actual values.</a:t>
            </a:r>
            <a:endParaRPr sz="1525"/>
          </a:p>
          <a:p>
            <a:pPr indent="0" lvl="0" marL="0" rtl="0" algn="l">
              <a:lnSpc>
                <a:spcPct val="105000"/>
              </a:lnSpc>
              <a:spcBef>
                <a:spcPts val="1200"/>
              </a:spcBef>
              <a:spcAft>
                <a:spcPts val="1200"/>
              </a:spcAft>
              <a:buSzPts val="1800"/>
              <a:buNone/>
            </a:pPr>
            <a:r>
              <a:t/>
            </a:r>
            <a:endParaRPr sz="1525"/>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lang="en"/>
              <a:t>Regression Algorithms</a:t>
            </a:r>
            <a:endParaRPr/>
          </a:p>
          <a:p>
            <a:pPr indent="0" lvl="0" marL="0" rtl="0" algn="l">
              <a:lnSpc>
                <a:spcPct val="100000"/>
              </a:lnSpc>
              <a:spcBef>
                <a:spcPts val="0"/>
              </a:spcBef>
              <a:spcAft>
                <a:spcPts val="0"/>
              </a:spcAft>
              <a:buSzPct val="111111"/>
              <a:buNone/>
            </a:pPr>
            <a:r>
              <a:t/>
            </a:r>
            <a:endParaRPr/>
          </a:p>
        </p:txBody>
      </p:sp>
      <p:sp>
        <p:nvSpPr>
          <p:cNvPr id="107" name="Google Shape;107;p10"/>
          <p:cNvSpPr txBox="1"/>
          <p:nvPr>
            <p:ph idx="1" type="body"/>
          </p:nvPr>
        </p:nvSpPr>
        <p:spPr>
          <a:xfrm>
            <a:off x="311700" y="1152475"/>
            <a:ext cx="8520600" cy="38481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1800"/>
              <a:buNone/>
            </a:pPr>
            <a:r>
              <a:rPr b="1" lang="en" sz="1695"/>
              <a:t>Decision Tree Regression</a:t>
            </a:r>
            <a:endParaRPr b="1" sz="1695"/>
          </a:p>
          <a:p>
            <a:pPr indent="0" lvl="0" marL="0" rtl="0" algn="l">
              <a:lnSpc>
                <a:spcPct val="95000"/>
              </a:lnSpc>
              <a:spcBef>
                <a:spcPts val="1200"/>
              </a:spcBef>
              <a:spcAft>
                <a:spcPts val="0"/>
              </a:spcAft>
              <a:buSzPts val="1800"/>
              <a:buNone/>
            </a:pPr>
            <a:r>
              <a:rPr lang="en" sz="1695"/>
              <a:t>A</a:t>
            </a:r>
            <a:r>
              <a:rPr lang="en" sz="1695"/>
              <a:t>lgorithm that builds a decision tree to predict the target value. A decision tree is a tree-like structure that consists of nodes and branches. Each node represents a decision, and each branch represents the outcome of that decision. The goal of decision tree regression is to build a tree that can accurately predict the target value for new data points.</a:t>
            </a:r>
            <a:endParaRPr sz="1695"/>
          </a:p>
          <a:p>
            <a:pPr indent="0" lvl="0" marL="0" rtl="0" algn="l">
              <a:lnSpc>
                <a:spcPct val="95000"/>
              </a:lnSpc>
              <a:spcBef>
                <a:spcPts val="1200"/>
              </a:spcBef>
              <a:spcAft>
                <a:spcPts val="0"/>
              </a:spcAft>
              <a:buSzPts val="1800"/>
              <a:buNone/>
            </a:pPr>
            <a:r>
              <a:rPr b="1" lang="en" sz="1695"/>
              <a:t>Random Forest Regression</a:t>
            </a:r>
            <a:endParaRPr b="1" sz="1695"/>
          </a:p>
          <a:p>
            <a:pPr indent="0" lvl="0" marL="0" rtl="0" algn="l">
              <a:lnSpc>
                <a:spcPct val="95000"/>
              </a:lnSpc>
              <a:spcBef>
                <a:spcPts val="1200"/>
              </a:spcBef>
              <a:spcAft>
                <a:spcPts val="0"/>
              </a:spcAft>
              <a:buSzPts val="1800"/>
              <a:buNone/>
            </a:pPr>
            <a:r>
              <a:rPr lang="en" sz="1695"/>
              <a:t>An </a:t>
            </a:r>
            <a:r>
              <a:rPr lang="en" sz="1695"/>
              <a:t>ensemble method that combines multiple decision trees to predict the target value. Ensemble methods are a type of machine learning algorithm that combines multiple models to improve the performance of the overall model. Random forest regression works by building a large number of decision trees, each of which is trained on a different subset of the training data. The final prediction is made by averaging the predictions of all of the trees.</a:t>
            </a:r>
            <a:endParaRPr sz="1695"/>
          </a:p>
          <a:p>
            <a:pPr indent="0" lvl="0" marL="0" rtl="0" algn="l">
              <a:lnSpc>
                <a:spcPct val="95000"/>
              </a:lnSpc>
              <a:spcBef>
                <a:spcPts val="1200"/>
              </a:spcBef>
              <a:spcAft>
                <a:spcPts val="1200"/>
              </a:spcAft>
              <a:buSzPts val="1800"/>
              <a:buNone/>
            </a:pPr>
            <a:r>
              <a:t/>
            </a:r>
            <a:endParaRPr sz="1695"/>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Regularized Linear Regression Techniques</a:t>
            </a:r>
            <a:endParaRPr/>
          </a:p>
          <a:p>
            <a:pPr indent="0" lvl="0" marL="0" rtl="0" algn="l">
              <a:lnSpc>
                <a:spcPct val="100000"/>
              </a:lnSpc>
              <a:spcBef>
                <a:spcPts val="0"/>
              </a:spcBef>
              <a:spcAft>
                <a:spcPts val="0"/>
              </a:spcAft>
              <a:buSzPct val="111111"/>
              <a:buNone/>
            </a:pPr>
            <a:r>
              <a:t/>
            </a:r>
            <a:endParaRPr/>
          </a:p>
        </p:txBody>
      </p:sp>
      <p:sp>
        <p:nvSpPr>
          <p:cNvPr id="113" name="Google Shape;113;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a:t>Ridge Regression</a:t>
            </a:r>
            <a:endParaRPr b="1"/>
          </a:p>
          <a:p>
            <a:pPr indent="0" lvl="0" marL="0" rtl="0" algn="l">
              <a:lnSpc>
                <a:spcPct val="115000"/>
              </a:lnSpc>
              <a:spcBef>
                <a:spcPts val="1200"/>
              </a:spcBef>
              <a:spcAft>
                <a:spcPts val="0"/>
              </a:spcAft>
              <a:buSzPts val="1800"/>
              <a:buNone/>
            </a:pPr>
            <a:r>
              <a:rPr lang="en"/>
              <a:t>Ridge regression is a type of linear regression that is used to </a:t>
            </a:r>
            <a:r>
              <a:rPr lang="en" u="sng"/>
              <a:t>prevent overfitting</a:t>
            </a:r>
            <a:r>
              <a:rPr lang="en"/>
              <a:t>. Overfitting occurs when the model learns the training data too well and is unable to generalize to new data.</a:t>
            </a:r>
            <a:endParaRPr/>
          </a:p>
          <a:p>
            <a:pPr indent="0" lvl="0" marL="0" rtl="0" algn="l">
              <a:lnSpc>
                <a:spcPct val="115000"/>
              </a:lnSpc>
              <a:spcBef>
                <a:spcPts val="1200"/>
              </a:spcBef>
              <a:spcAft>
                <a:spcPts val="0"/>
              </a:spcAft>
              <a:buSzPts val="1800"/>
              <a:buNone/>
            </a:pPr>
            <a:r>
              <a:rPr b="1" lang="en"/>
              <a:t>Lasso regression</a:t>
            </a:r>
            <a:endParaRPr b="1"/>
          </a:p>
          <a:p>
            <a:pPr indent="0" lvl="0" marL="0" rtl="0" algn="l">
              <a:lnSpc>
                <a:spcPct val="115000"/>
              </a:lnSpc>
              <a:spcBef>
                <a:spcPts val="1200"/>
              </a:spcBef>
              <a:spcAft>
                <a:spcPts val="1200"/>
              </a:spcAft>
              <a:buSzPts val="1800"/>
              <a:buNone/>
            </a:pPr>
            <a:r>
              <a:rPr lang="en"/>
              <a:t>Lasso regression is another type of linear regression that is used to </a:t>
            </a:r>
            <a:r>
              <a:rPr lang="en" u="sng"/>
              <a:t>prevent overfitting.</a:t>
            </a:r>
            <a:r>
              <a:rPr lang="en"/>
              <a:t> It does this by adding a penalty term to the loss function that forces the model to use some weights and to set others to zero.</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1800"/>
              </a:spcBef>
              <a:spcAft>
                <a:spcPts val="0"/>
              </a:spcAft>
              <a:buClr>
                <a:schemeClr val="dk1"/>
              </a:buClr>
              <a:buSzPts val="990"/>
              <a:buFont typeface="Arial"/>
              <a:buNone/>
            </a:pPr>
            <a:r>
              <a:rPr b="1" lang="en" sz="1929">
                <a:solidFill>
                  <a:srgbClr val="383838"/>
                </a:solidFill>
                <a:highlight>
                  <a:srgbClr val="FFFFFF"/>
                </a:highlight>
              </a:rPr>
              <a:t>Mean Absolute Error(MAE)</a:t>
            </a:r>
            <a:endParaRPr b="1" sz="1929">
              <a:solidFill>
                <a:srgbClr val="383838"/>
              </a:solidFill>
              <a:highlight>
                <a:srgbClr val="FFFFFF"/>
              </a:highlight>
            </a:endParaRPr>
          </a:p>
          <a:p>
            <a:pPr indent="0" lvl="0" marL="0" rtl="0" algn="l">
              <a:lnSpc>
                <a:spcPct val="100000"/>
              </a:lnSpc>
              <a:spcBef>
                <a:spcPts val="400"/>
              </a:spcBef>
              <a:spcAft>
                <a:spcPts val="0"/>
              </a:spcAft>
              <a:buSzPts val="2800"/>
              <a:buNone/>
            </a:pPr>
            <a:r>
              <a:t/>
            </a:r>
            <a:endParaRPr b="1" sz="2920"/>
          </a:p>
        </p:txBody>
      </p:sp>
      <p:sp>
        <p:nvSpPr>
          <p:cNvPr id="119" name="Google Shape;119;p12"/>
          <p:cNvSpPr txBox="1"/>
          <p:nvPr>
            <p:ph idx="1" type="body"/>
          </p:nvPr>
        </p:nvSpPr>
        <p:spPr>
          <a:xfrm>
            <a:off x="311700" y="1152475"/>
            <a:ext cx="8520600" cy="365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018"/>
              <a:buFont typeface="Arial"/>
              <a:buNone/>
            </a:pPr>
            <a:r>
              <a:rPr lang="en" sz="1617">
                <a:solidFill>
                  <a:srgbClr val="383838"/>
                </a:solidFill>
                <a:highlight>
                  <a:srgbClr val="FFFFFF"/>
                </a:highlight>
              </a:rPr>
              <a:t>MAE is a very simple metric which calculates the </a:t>
            </a:r>
            <a:r>
              <a:rPr lang="en" sz="1617" u="sng">
                <a:solidFill>
                  <a:srgbClr val="383838"/>
                </a:solidFill>
                <a:highlight>
                  <a:srgbClr val="FFFFFF"/>
                </a:highlight>
              </a:rPr>
              <a:t>absolute difference between actual and predicted values.</a:t>
            </a:r>
            <a:endParaRPr sz="1617" u="sng">
              <a:solidFill>
                <a:srgbClr val="383838"/>
              </a:solidFill>
              <a:highlight>
                <a:srgbClr val="FFFFFF"/>
              </a:highlight>
            </a:endParaRPr>
          </a:p>
          <a:p>
            <a:pPr indent="0" lvl="0" marL="0" rtl="0" algn="l">
              <a:lnSpc>
                <a:spcPct val="115000"/>
              </a:lnSpc>
              <a:spcBef>
                <a:spcPts val="1800"/>
              </a:spcBef>
              <a:spcAft>
                <a:spcPts val="0"/>
              </a:spcAft>
              <a:buClr>
                <a:schemeClr val="dk1"/>
              </a:buClr>
              <a:buSzPts val="1018"/>
              <a:buFont typeface="Arial"/>
              <a:buNone/>
            </a:pPr>
            <a:r>
              <a:rPr lang="en" sz="1617">
                <a:solidFill>
                  <a:srgbClr val="383838"/>
                </a:solidFill>
                <a:highlight>
                  <a:srgbClr val="FFFFFF"/>
                </a:highlight>
              </a:rPr>
              <a:t>L</a:t>
            </a:r>
            <a:r>
              <a:rPr lang="en" sz="1617">
                <a:solidFill>
                  <a:srgbClr val="383838"/>
                </a:solidFill>
                <a:highlight>
                  <a:srgbClr val="FFFFFF"/>
                </a:highlight>
              </a:rPr>
              <a:t>et’s take an example, you have input data and output data and use Linear Regression, which draws a best-fit line.</a:t>
            </a:r>
            <a:endParaRPr sz="1617">
              <a:solidFill>
                <a:srgbClr val="383838"/>
              </a:solidFill>
              <a:highlight>
                <a:srgbClr val="FFFFFF"/>
              </a:highlight>
            </a:endParaRPr>
          </a:p>
          <a:p>
            <a:pPr indent="0" lvl="0" marL="0" rtl="0" algn="l">
              <a:lnSpc>
                <a:spcPct val="115000"/>
              </a:lnSpc>
              <a:spcBef>
                <a:spcPts val="1800"/>
              </a:spcBef>
              <a:spcAft>
                <a:spcPts val="0"/>
              </a:spcAft>
              <a:buClr>
                <a:schemeClr val="dk1"/>
              </a:buClr>
              <a:buSzPts val="1018"/>
              <a:buFont typeface="Arial"/>
              <a:buNone/>
            </a:pPr>
            <a:r>
              <a:rPr lang="en" sz="1617">
                <a:solidFill>
                  <a:srgbClr val="383838"/>
                </a:solidFill>
                <a:highlight>
                  <a:srgbClr val="FFFFFF"/>
                </a:highlight>
              </a:rPr>
              <a:t>Now you have to find the MAE of your model which is basically a mistake made by the model known as an error. Now find the difference between the actual value and predicted value that is an absolute error but we have to find the mean absolute of the complete dataset.</a:t>
            </a:r>
            <a:endParaRPr sz="1617">
              <a:solidFill>
                <a:srgbClr val="383838"/>
              </a:solidFill>
              <a:highlight>
                <a:srgbClr val="FFFFFF"/>
              </a:highlight>
            </a:endParaRPr>
          </a:p>
          <a:p>
            <a:pPr indent="0" lvl="0" marL="0" rtl="0" algn="l">
              <a:lnSpc>
                <a:spcPct val="115000"/>
              </a:lnSpc>
              <a:spcBef>
                <a:spcPts val="1800"/>
              </a:spcBef>
              <a:spcAft>
                <a:spcPts val="0"/>
              </a:spcAft>
              <a:buClr>
                <a:schemeClr val="dk1"/>
              </a:buClr>
              <a:buSzPts val="1018"/>
              <a:buFont typeface="Arial"/>
              <a:buNone/>
            </a:pPr>
            <a:r>
              <a:rPr lang="en" sz="1617">
                <a:solidFill>
                  <a:srgbClr val="383838"/>
                </a:solidFill>
                <a:highlight>
                  <a:srgbClr val="FFFFFF"/>
                </a:highlight>
              </a:rPr>
              <a:t>So, sum all the errors and divide them by a total number of observations And this is MAE. And we aim to get a minimum MAE because this is a loss.</a:t>
            </a:r>
            <a:endParaRPr sz="2265"/>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13"/>
          <p:cNvPicPr preferRelativeResize="0"/>
          <p:nvPr/>
        </p:nvPicPr>
        <p:blipFill rotWithShape="1">
          <a:blip r:embed="rId3">
            <a:alphaModFix/>
          </a:blip>
          <a:srcRect b="17423" l="5953" r="0" t="0"/>
          <a:stretch/>
        </p:blipFill>
        <p:spPr>
          <a:xfrm>
            <a:off x="635450" y="118525"/>
            <a:ext cx="4596325" cy="2802675"/>
          </a:xfrm>
          <a:prstGeom prst="rect">
            <a:avLst/>
          </a:prstGeom>
          <a:noFill/>
          <a:ln>
            <a:noFill/>
          </a:ln>
        </p:spPr>
      </p:pic>
      <p:sp>
        <p:nvSpPr>
          <p:cNvPr id="125" name="Google Shape;125;p13"/>
          <p:cNvSpPr txBox="1"/>
          <p:nvPr/>
        </p:nvSpPr>
        <p:spPr>
          <a:xfrm>
            <a:off x="635450" y="3054825"/>
            <a:ext cx="8059200" cy="702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from sklearn.metrics import mean_absolute_error</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print("MAE",mean_absolute_error(y_test,y_pred))</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MAE</a:t>
            </a:r>
            <a:endParaRPr/>
          </a:p>
        </p:txBody>
      </p:sp>
      <p:sp>
        <p:nvSpPr>
          <p:cNvPr id="131" name="Google Shape;131;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700">
                <a:solidFill>
                  <a:srgbClr val="383838"/>
                </a:solidFill>
                <a:highlight>
                  <a:srgbClr val="FFFFFF"/>
                </a:highlight>
              </a:rPr>
              <a:t>Advantages of MAE</a:t>
            </a:r>
            <a:endParaRPr sz="1700">
              <a:solidFill>
                <a:srgbClr val="383838"/>
              </a:solidFill>
              <a:highlight>
                <a:srgbClr val="FFFFFF"/>
              </a:highlight>
            </a:endParaRPr>
          </a:p>
          <a:p>
            <a:pPr indent="-336550" lvl="0" marL="457200" rtl="0" algn="l">
              <a:lnSpc>
                <a:spcPct val="115000"/>
              </a:lnSpc>
              <a:spcBef>
                <a:spcPts val="200"/>
              </a:spcBef>
              <a:spcAft>
                <a:spcPts val="0"/>
              </a:spcAft>
              <a:buClr>
                <a:srgbClr val="383838"/>
              </a:buClr>
              <a:buSzPts val="1700"/>
              <a:buChar char="●"/>
            </a:pPr>
            <a:r>
              <a:rPr lang="en" sz="1700">
                <a:solidFill>
                  <a:srgbClr val="383838"/>
                </a:solidFill>
                <a:highlight>
                  <a:srgbClr val="FFFFFF"/>
                </a:highlight>
              </a:rPr>
              <a:t>The MAE you get is in the same unit as the output variable.</a:t>
            </a:r>
            <a:endParaRPr sz="1700">
              <a:solidFill>
                <a:srgbClr val="383838"/>
              </a:solidFill>
              <a:highlight>
                <a:srgbClr val="FFFFFF"/>
              </a:highlight>
            </a:endParaRPr>
          </a:p>
          <a:p>
            <a:pPr indent="-336550" lvl="0" marL="457200" rtl="0" algn="l">
              <a:lnSpc>
                <a:spcPct val="115000"/>
              </a:lnSpc>
              <a:spcBef>
                <a:spcPts val="0"/>
              </a:spcBef>
              <a:spcAft>
                <a:spcPts val="0"/>
              </a:spcAft>
              <a:buClr>
                <a:srgbClr val="383838"/>
              </a:buClr>
              <a:buSzPts val="1700"/>
              <a:buChar char="●"/>
            </a:pPr>
            <a:r>
              <a:rPr lang="en" sz="1700">
                <a:solidFill>
                  <a:srgbClr val="383838"/>
                </a:solidFill>
                <a:highlight>
                  <a:srgbClr val="FFFFFF"/>
                </a:highlight>
              </a:rPr>
              <a:t>It is most Robust to outliers.</a:t>
            </a:r>
            <a:endParaRPr sz="1700">
              <a:solidFill>
                <a:srgbClr val="383838"/>
              </a:solidFill>
              <a:highlight>
                <a:srgbClr val="FFFFFF"/>
              </a:highlight>
            </a:endParaRPr>
          </a:p>
          <a:p>
            <a:pPr indent="0" lvl="0" marL="0" rtl="0" algn="l">
              <a:lnSpc>
                <a:spcPct val="115000"/>
              </a:lnSpc>
              <a:spcBef>
                <a:spcPts val="2000"/>
              </a:spcBef>
              <a:spcAft>
                <a:spcPts val="0"/>
              </a:spcAft>
              <a:buClr>
                <a:schemeClr val="dk1"/>
              </a:buClr>
              <a:buSzPts val="1100"/>
              <a:buFont typeface="Arial"/>
              <a:buNone/>
            </a:pPr>
            <a:r>
              <a:rPr lang="en" sz="1700">
                <a:solidFill>
                  <a:srgbClr val="383838"/>
                </a:solidFill>
                <a:highlight>
                  <a:srgbClr val="FFFFFF"/>
                </a:highlight>
              </a:rPr>
              <a:t>Disadvantages of MAE</a:t>
            </a:r>
            <a:endParaRPr sz="1700">
              <a:solidFill>
                <a:srgbClr val="383838"/>
              </a:solidFill>
              <a:highlight>
                <a:srgbClr val="FFFFFF"/>
              </a:highlight>
            </a:endParaRPr>
          </a:p>
          <a:p>
            <a:pPr indent="-336550" lvl="0" marL="457200" rtl="0" algn="l">
              <a:lnSpc>
                <a:spcPct val="115000"/>
              </a:lnSpc>
              <a:spcBef>
                <a:spcPts val="200"/>
              </a:spcBef>
              <a:spcAft>
                <a:spcPts val="0"/>
              </a:spcAft>
              <a:buClr>
                <a:srgbClr val="383838"/>
              </a:buClr>
              <a:buSzPts val="1700"/>
              <a:buChar char="●"/>
            </a:pPr>
            <a:r>
              <a:rPr lang="en" sz="1700">
                <a:solidFill>
                  <a:srgbClr val="383838"/>
                </a:solidFill>
                <a:highlight>
                  <a:srgbClr val="FFFFFF"/>
                </a:highlight>
              </a:rPr>
              <a:t>The graph of MAE is not differentiable so we have to apply various optimizers like Gradient descent which can be differentiable.</a:t>
            </a:r>
            <a:endParaRPr sz="17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Mean Squared Error(MSE)</a:t>
            </a:r>
            <a:endParaRPr/>
          </a:p>
        </p:txBody>
      </p:sp>
      <p:sp>
        <p:nvSpPr>
          <p:cNvPr id="137" name="Google Shape;137;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MSE is a most used and very simple metric with a little bit of change in mean absolute error. Mean squared error states that finding the squared difference between actual and predicted value.</a:t>
            </a:r>
            <a:endParaRPr/>
          </a:p>
          <a:p>
            <a:pPr indent="0" lvl="0" marL="0" rtl="0" algn="l">
              <a:lnSpc>
                <a:spcPct val="115000"/>
              </a:lnSpc>
              <a:spcBef>
                <a:spcPts val="1200"/>
              </a:spcBef>
              <a:spcAft>
                <a:spcPts val="0"/>
              </a:spcAft>
              <a:buSzPts val="1800"/>
              <a:buNone/>
            </a:pPr>
            <a:r>
              <a:rPr lang="en"/>
              <a:t>So, </a:t>
            </a:r>
            <a:r>
              <a:rPr lang="en" u="sng"/>
              <a:t>above we are finding the absolute difference and here we are finding the squared difference.</a:t>
            </a:r>
            <a:endParaRPr u="sng"/>
          </a:p>
          <a:p>
            <a:pPr indent="0" lvl="0" marL="0" rtl="0" algn="l">
              <a:lnSpc>
                <a:spcPct val="115000"/>
              </a:lnSpc>
              <a:spcBef>
                <a:spcPts val="1200"/>
              </a:spcBef>
              <a:spcAft>
                <a:spcPts val="1200"/>
              </a:spcAft>
              <a:buSzPts val="1800"/>
              <a:buNone/>
            </a:pPr>
            <a:r>
              <a:rPr lang="en"/>
              <a:t>What actually the MSE represents? It represents the squared distance between actual and predicted values. </a:t>
            </a:r>
            <a:r>
              <a:rPr lang="en" u="sng"/>
              <a:t>We perform squared to avoid the cancellation of negative terms and it is the benefit of MSE.</a:t>
            </a:r>
            <a:endParaRPr u="sng"/>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p16"/>
          <p:cNvPicPr preferRelativeResize="0"/>
          <p:nvPr/>
        </p:nvPicPr>
        <p:blipFill rotWithShape="1">
          <a:blip r:embed="rId3">
            <a:alphaModFix/>
          </a:blip>
          <a:srcRect b="0" l="0" r="0" t="0"/>
          <a:stretch/>
        </p:blipFill>
        <p:spPr>
          <a:xfrm>
            <a:off x="637575" y="370350"/>
            <a:ext cx="5497276" cy="2201400"/>
          </a:xfrm>
          <a:prstGeom prst="rect">
            <a:avLst/>
          </a:prstGeom>
          <a:noFill/>
          <a:ln>
            <a:noFill/>
          </a:ln>
        </p:spPr>
      </p:pic>
      <p:sp>
        <p:nvSpPr>
          <p:cNvPr id="143" name="Google Shape;143;p16"/>
          <p:cNvSpPr txBox="1"/>
          <p:nvPr/>
        </p:nvSpPr>
        <p:spPr>
          <a:xfrm>
            <a:off x="637575" y="2571750"/>
            <a:ext cx="7535700" cy="912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900" u="none" cap="none" strike="noStrike">
                <a:solidFill>
                  <a:schemeClr val="dk2"/>
                </a:solidFill>
                <a:latin typeface="Arial"/>
                <a:ea typeface="Arial"/>
                <a:cs typeface="Arial"/>
                <a:sym typeface="Arial"/>
              </a:rPr>
              <a:t>from sklearn.metrics import mean_squared_error</a:t>
            </a:r>
            <a:endParaRPr b="0" i="0" sz="19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900" u="none" cap="none" strike="noStrike">
                <a:solidFill>
                  <a:schemeClr val="dk2"/>
                </a:solidFill>
                <a:latin typeface="Arial"/>
                <a:ea typeface="Arial"/>
                <a:cs typeface="Arial"/>
                <a:sym typeface="Arial"/>
              </a:rPr>
              <a:t>print("MSE",mean_squared_error(y_test,y_pred))</a:t>
            </a:r>
            <a:endParaRPr b="0" i="0" sz="1900" u="none" cap="none" strike="noStrike">
              <a:solidFill>
                <a:schemeClr val="dk2"/>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7"/>
          <p:cNvSpPr txBox="1"/>
          <p:nvPr>
            <p:ph type="title"/>
          </p:nvPr>
        </p:nvSpPr>
        <p:spPr>
          <a:xfrm>
            <a:off x="311700" y="41765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sz="2620"/>
              <a:t>MSE</a:t>
            </a:r>
            <a:endParaRPr b="1" sz="2620"/>
          </a:p>
        </p:txBody>
      </p:sp>
      <p:sp>
        <p:nvSpPr>
          <p:cNvPr id="149" name="Google Shape;149;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 sz="1695"/>
              <a:t>Advantages of MSE</a:t>
            </a:r>
            <a:endParaRPr sz="1695"/>
          </a:p>
          <a:p>
            <a:pPr indent="0" lvl="0" marL="0" rtl="0" algn="l">
              <a:lnSpc>
                <a:spcPct val="115000"/>
              </a:lnSpc>
              <a:spcBef>
                <a:spcPts val="1200"/>
              </a:spcBef>
              <a:spcAft>
                <a:spcPts val="0"/>
              </a:spcAft>
              <a:buSzPts val="1800"/>
              <a:buNone/>
            </a:pPr>
            <a:r>
              <a:rPr lang="en" sz="1695"/>
              <a:t>The graph of MSE is </a:t>
            </a:r>
            <a:r>
              <a:rPr lang="en" sz="1695" u="sng"/>
              <a:t>differentiable</a:t>
            </a:r>
            <a:r>
              <a:rPr lang="en" sz="1695"/>
              <a:t>, so you can </a:t>
            </a:r>
            <a:r>
              <a:rPr lang="en" sz="1695" u="sng"/>
              <a:t>easily use it as a loss function.</a:t>
            </a:r>
            <a:endParaRPr sz="1695" u="sng"/>
          </a:p>
          <a:p>
            <a:pPr indent="0" lvl="0" marL="0" rtl="0" algn="l">
              <a:lnSpc>
                <a:spcPct val="115000"/>
              </a:lnSpc>
              <a:spcBef>
                <a:spcPts val="1200"/>
              </a:spcBef>
              <a:spcAft>
                <a:spcPts val="0"/>
              </a:spcAft>
              <a:buSzPts val="1800"/>
              <a:buNone/>
            </a:pPr>
            <a:r>
              <a:rPr b="1" lang="en" sz="1695"/>
              <a:t>Disadvantages of MSE</a:t>
            </a:r>
            <a:endParaRPr sz="1695"/>
          </a:p>
          <a:p>
            <a:pPr indent="0" lvl="0" marL="0" rtl="0" algn="l">
              <a:lnSpc>
                <a:spcPct val="115000"/>
              </a:lnSpc>
              <a:spcBef>
                <a:spcPts val="1200"/>
              </a:spcBef>
              <a:spcAft>
                <a:spcPts val="0"/>
              </a:spcAft>
              <a:buSzPts val="1800"/>
              <a:buNone/>
            </a:pPr>
            <a:r>
              <a:rPr lang="en" sz="1695"/>
              <a:t>The value you get after calculating MSE is a squared unit of output. for example, the output variable is in meter(m) then after calculating MSE the output we get is in meter squared.</a:t>
            </a:r>
            <a:endParaRPr sz="1695"/>
          </a:p>
          <a:p>
            <a:pPr indent="0" lvl="0" marL="0" rtl="0" algn="l">
              <a:lnSpc>
                <a:spcPct val="115000"/>
              </a:lnSpc>
              <a:spcBef>
                <a:spcPts val="1200"/>
              </a:spcBef>
              <a:spcAft>
                <a:spcPts val="1200"/>
              </a:spcAft>
              <a:buSzPts val="1800"/>
              <a:buNone/>
            </a:pPr>
            <a:r>
              <a:rPr lang="en" sz="1695"/>
              <a:t>If you have outliers in the dataset then it penalizes the outliers most and the calculated MSE is bigger. So, in short, It is not Robust to outliers which were an advantage in MAE.</a:t>
            </a:r>
            <a:endParaRPr sz="1695"/>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Root Mean Squared Error(RMSE)</a:t>
            </a:r>
            <a:endParaRPr/>
          </a:p>
          <a:p>
            <a:pPr indent="0" lvl="0" marL="0" rtl="0" algn="l">
              <a:lnSpc>
                <a:spcPct val="100000"/>
              </a:lnSpc>
              <a:spcBef>
                <a:spcPts val="0"/>
              </a:spcBef>
              <a:spcAft>
                <a:spcPts val="0"/>
              </a:spcAft>
              <a:buSzPct val="111111"/>
              <a:buNone/>
            </a:pPr>
            <a:r>
              <a:t/>
            </a:r>
            <a:endParaRPr/>
          </a:p>
        </p:txBody>
      </p:sp>
      <p:sp>
        <p:nvSpPr>
          <p:cNvPr id="155" name="Google Shape;155;p18"/>
          <p:cNvSpPr txBox="1"/>
          <p:nvPr>
            <p:ph idx="1" type="body"/>
          </p:nvPr>
        </p:nvSpPr>
        <p:spPr>
          <a:xfrm>
            <a:off x="311700" y="1152475"/>
            <a:ext cx="8520600" cy="866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
              <a:t>As RMSE is clear by the name itself, that it is a simple square root of mean squared error.</a:t>
            </a:r>
            <a:endParaRPr/>
          </a:p>
        </p:txBody>
      </p:sp>
      <p:pic>
        <p:nvPicPr>
          <p:cNvPr id="156" name="Google Shape;156;p18"/>
          <p:cNvPicPr preferRelativeResize="0"/>
          <p:nvPr/>
        </p:nvPicPr>
        <p:blipFill rotWithShape="1">
          <a:blip r:embed="rId3">
            <a:alphaModFix/>
          </a:blip>
          <a:srcRect b="0" l="0" r="0" t="0"/>
          <a:stretch/>
        </p:blipFill>
        <p:spPr>
          <a:xfrm>
            <a:off x="3150275" y="1767275"/>
            <a:ext cx="3429000" cy="2381250"/>
          </a:xfrm>
          <a:prstGeom prst="rect">
            <a:avLst/>
          </a:prstGeom>
          <a:noFill/>
          <a:ln>
            <a:noFill/>
          </a:ln>
        </p:spPr>
      </p:pic>
      <p:sp>
        <p:nvSpPr>
          <p:cNvPr id="157" name="Google Shape;157;p18"/>
          <p:cNvSpPr txBox="1"/>
          <p:nvPr/>
        </p:nvSpPr>
        <p:spPr>
          <a:xfrm>
            <a:off x="311700" y="4358525"/>
            <a:ext cx="8732100" cy="39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print("RMSE",np.sqrt(mean_squared_error(y_test,y_pred)))</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en" sz="2420">
                <a:solidFill>
                  <a:schemeClr val="dk2"/>
                </a:solidFill>
              </a:rPr>
              <a:t>RMSE</a:t>
            </a:r>
            <a:endParaRPr b="1" sz="2420">
              <a:solidFill>
                <a:schemeClr val="dk2"/>
              </a:solidFill>
            </a:endParaRPr>
          </a:p>
          <a:p>
            <a:pPr indent="0" lvl="0" marL="0" rtl="0" algn="l">
              <a:lnSpc>
                <a:spcPct val="100000"/>
              </a:lnSpc>
              <a:spcBef>
                <a:spcPts val="1200"/>
              </a:spcBef>
              <a:spcAft>
                <a:spcPts val="0"/>
              </a:spcAft>
              <a:buSzPts val="2800"/>
              <a:buNone/>
            </a:pPr>
            <a:r>
              <a:t/>
            </a:r>
            <a:endParaRPr b="1" sz="3320"/>
          </a:p>
        </p:txBody>
      </p:sp>
      <p:sp>
        <p:nvSpPr>
          <p:cNvPr id="163" name="Google Shape;163;p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a:t>Advantages of RMSE</a:t>
            </a:r>
            <a:endParaRPr b="1"/>
          </a:p>
          <a:p>
            <a:pPr indent="0" lvl="0" marL="0" rtl="0" algn="l">
              <a:lnSpc>
                <a:spcPct val="115000"/>
              </a:lnSpc>
              <a:spcBef>
                <a:spcPts val="1200"/>
              </a:spcBef>
              <a:spcAft>
                <a:spcPts val="0"/>
              </a:spcAft>
              <a:buSzPts val="1800"/>
              <a:buNone/>
            </a:pPr>
            <a:r>
              <a:rPr lang="en"/>
              <a:t>The output value you get is in the same unit as the required output variable which makes interpretation of loss easy.</a:t>
            </a:r>
            <a:endParaRPr/>
          </a:p>
          <a:p>
            <a:pPr indent="0" lvl="0" marL="0" rtl="0" algn="l">
              <a:lnSpc>
                <a:spcPct val="115000"/>
              </a:lnSpc>
              <a:spcBef>
                <a:spcPts val="1200"/>
              </a:spcBef>
              <a:spcAft>
                <a:spcPts val="0"/>
              </a:spcAft>
              <a:buSzPts val="1800"/>
              <a:buNone/>
            </a:pPr>
            <a:r>
              <a:rPr b="1" lang="en"/>
              <a:t>Disadvantages of RMSE</a:t>
            </a:r>
            <a:endParaRPr b="1"/>
          </a:p>
          <a:p>
            <a:pPr indent="0" lvl="0" marL="0" rtl="0" algn="l">
              <a:lnSpc>
                <a:spcPct val="115000"/>
              </a:lnSpc>
              <a:spcBef>
                <a:spcPts val="1200"/>
              </a:spcBef>
              <a:spcAft>
                <a:spcPts val="0"/>
              </a:spcAft>
              <a:buSzPts val="1800"/>
              <a:buNone/>
            </a:pPr>
            <a:r>
              <a:rPr lang="en"/>
              <a:t>It is not that robust to outliers as compared to MAE.</a:t>
            </a:r>
            <a:endParaRPr/>
          </a:p>
          <a:p>
            <a:pPr indent="0" lvl="0" marL="0" rtl="0" algn="l">
              <a:lnSpc>
                <a:spcPct val="115000"/>
              </a:lnSpc>
              <a:spcBef>
                <a:spcPts val="1200"/>
              </a:spcBef>
              <a:spcAft>
                <a:spcPts val="1200"/>
              </a:spcAft>
              <a:buSzPts val="1800"/>
              <a:buNone/>
            </a:pPr>
            <a:r>
              <a:rPr lang="en"/>
              <a:t>For performing RMSE we have to NumPy NumPy square root function over MSE.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Root Mean Squared Log Error(RMSLE)</a:t>
            </a:r>
            <a:endParaRPr/>
          </a:p>
          <a:p>
            <a:pPr indent="0" lvl="0" marL="0" rtl="0" algn="l">
              <a:lnSpc>
                <a:spcPct val="100000"/>
              </a:lnSpc>
              <a:spcBef>
                <a:spcPts val="0"/>
              </a:spcBef>
              <a:spcAft>
                <a:spcPts val="0"/>
              </a:spcAft>
              <a:buSzPct val="111111"/>
              <a:buNone/>
            </a:pPr>
            <a:r>
              <a:t/>
            </a:r>
            <a:endParaRPr/>
          </a:p>
        </p:txBody>
      </p:sp>
      <p:sp>
        <p:nvSpPr>
          <p:cNvPr id="169" name="Google Shape;169;p20"/>
          <p:cNvSpPr txBox="1"/>
          <p:nvPr>
            <p:ph idx="1" type="body"/>
          </p:nvPr>
        </p:nvSpPr>
        <p:spPr>
          <a:xfrm>
            <a:off x="311700" y="1152475"/>
            <a:ext cx="8520600" cy="37248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1800"/>
              <a:buNone/>
            </a:pPr>
            <a:r>
              <a:rPr lang="en" sz="1760"/>
              <a:t>Taking the log of the RMSE metric slows down the scale of error. The metric is very helpful when you are developing a model without calling the inputs. In that case, the output will vary on a large scale.</a:t>
            </a:r>
            <a:endParaRPr sz="1760"/>
          </a:p>
          <a:p>
            <a:pPr indent="0" lvl="0" marL="0" rtl="0" algn="l">
              <a:lnSpc>
                <a:spcPct val="95000"/>
              </a:lnSpc>
              <a:spcBef>
                <a:spcPts val="1200"/>
              </a:spcBef>
              <a:spcAft>
                <a:spcPts val="0"/>
              </a:spcAft>
              <a:buSzPts val="1800"/>
              <a:buNone/>
            </a:pPr>
            <a:r>
              <a:t/>
            </a:r>
            <a:endParaRPr sz="1760"/>
          </a:p>
          <a:p>
            <a:pPr indent="0" lvl="0" marL="0" rtl="0" algn="l">
              <a:lnSpc>
                <a:spcPct val="95000"/>
              </a:lnSpc>
              <a:spcBef>
                <a:spcPts val="1200"/>
              </a:spcBef>
              <a:spcAft>
                <a:spcPts val="0"/>
              </a:spcAft>
              <a:buSzPts val="1800"/>
              <a:buNone/>
            </a:pPr>
            <a:r>
              <a:rPr lang="en" sz="1760"/>
              <a:t>To control this situation of RMSE we take the log of calculated RMSE error and resultant we get as RMSLE.</a:t>
            </a:r>
            <a:endParaRPr sz="1760"/>
          </a:p>
          <a:p>
            <a:pPr indent="0" lvl="0" marL="0" rtl="0" algn="l">
              <a:lnSpc>
                <a:spcPct val="95000"/>
              </a:lnSpc>
              <a:spcBef>
                <a:spcPts val="1200"/>
              </a:spcBef>
              <a:spcAft>
                <a:spcPts val="0"/>
              </a:spcAft>
              <a:buSzPts val="1800"/>
              <a:buNone/>
            </a:pPr>
            <a:r>
              <a:rPr lang="en" sz="1760"/>
              <a:t>To perform RMSLE we have to use the NumPy log function over RMSE.</a:t>
            </a:r>
            <a:endParaRPr sz="1760"/>
          </a:p>
          <a:p>
            <a:pPr indent="0" lvl="0" marL="0" rtl="0" algn="l">
              <a:lnSpc>
                <a:spcPct val="95000"/>
              </a:lnSpc>
              <a:spcBef>
                <a:spcPts val="1200"/>
              </a:spcBef>
              <a:spcAft>
                <a:spcPts val="0"/>
              </a:spcAft>
              <a:buSzPts val="1800"/>
              <a:buNone/>
            </a:pPr>
            <a:r>
              <a:t/>
            </a:r>
            <a:endParaRPr sz="1760"/>
          </a:p>
          <a:p>
            <a:pPr indent="0" lvl="0" marL="0" rtl="0" algn="l">
              <a:lnSpc>
                <a:spcPct val="95000"/>
              </a:lnSpc>
              <a:spcBef>
                <a:spcPts val="1200"/>
              </a:spcBef>
              <a:spcAft>
                <a:spcPts val="0"/>
              </a:spcAft>
              <a:buSzPts val="1800"/>
              <a:buNone/>
            </a:pPr>
            <a:r>
              <a:rPr lang="en" sz="1760"/>
              <a:t>print("RMSE",np.log(np.sqrt(mean_squared_error(y_test,y_pred))))</a:t>
            </a:r>
            <a:endParaRPr sz="1760"/>
          </a:p>
          <a:p>
            <a:pPr indent="0" lvl="0" marL="0" rtl="0" algn="l">
              <a:lnSpc>
                <a:spcPct val="95000"/>
              </a:lnSpc>
              <a:spcBef>
                <a:spcPts val="1200"/>
              </a:spcBef>
              <a:spcAft>
                <a:spcPts val="1200"/>
              </a:spcAft>
              <a:buSzPts val="1800"/>
              <a:buNone/>
            </a:pPr>
            <a:r>
              <a:t/>
            </a:r>
            <a:endParaRPr sz="176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sz="2520"/>
              <a:t>R Squared (R2)</a:t>
            </a:r>
            <a:endParaRPr b="1" sz="2520"/>
          </a:p>
          <a:p>
            <a:pPr indent="0" lvl="0" marL="0" rtl="0" algn="l">
              <a:lnSpc>
                <a:spcPct val="100000"/>
              </a:lnSpc>
              <a:spcBef>
                <a:spcPts val="0"/>
              </a:spcBef>
              <a:spcAft>
                <a:spcPts val="0"/>
              </a:spcAft>
              <a:buSzPts val="2800"/>
              <a:buNone/>
            </a:pPr>
            <a:r>
              <a:t/>
            </a:r>
            <a:endParaRPr b="1" sz="2520"/>
          </a:p>
        </p:txBody>
      </p:sp>
      <p:sp>
        <p:nvSpPr>
          <p:cNvPr id="175" name="Google Shape;175;p2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1800"/>
              <a:buNone/>
            </a:pPr>
            <a:r>
              <a:rPr lang="en" sz="2029"/>
              <a:t>R2 score is a metric that tells the </a:t>
            </a:r>
            <a:r>
              <a:rPr lang="en" sz="2029" u="sng"/>
              <a:t>performance of your mode</a:t>
            </a:r>
            <a:r>
              <a:rPr lang="en" sz="2029"/>
              <a:t>l, not the loss in an absolute sense that how many wells did your model perform.</a:t>
            </a:r>
            <a:endParaRPr sz="2029"/>
          </a:p>
          <a:p>
            <a:pPr indent="0" lvl="0" marL="0" rtl="0" algn="l">
              <a:lnSpc>
                <a:spcPct val="95000"/>
              </a:lnSpc>
              <a:spcBef>
                <a:spcPts val="1200"/>
              </a:spcBef>
              <a:spcAft>
                <a:spcPts val="0"/>
              </a:spcAft>
              <a:buSzPts val="1800"/>
              <a:buNone/>
            </a:pPr>
            <a:r>
              <a:rPr lang="en" sz="2029"/>
              <a:t>In contrast, MAE and MSE depend on the context as we have seen whereas the R2 score is independent of context.</a:t>
            </a:r>
            <a:endParaRPr sz="2029"/>
          </a:p>
          <a:p>
            <a:pPr indent="0" lvl="0" marL="0" rtl="0" algn="l">
              <a:lnSpc>
                <a:spcPct val="95000"/>
              </a:lnSpc>
              <a:spcBef>
                <a:spcPts val="1200"/>
              </a:spcBef>
              <a:spcAft>
                <a:spcPts val="0"/>
              </a:spcAft>
              <a:buSzPts val="1800"/>
              <a:buNone/>
            </a:pPr>
            <a:r>
              <a:rPr lang="en" sz="2029"/>
              <a:t>So, with help of R squared we have a baseline model to compare a model which none of the other metrics provides. The same we have in classification problems which we call a threshold which is fixed at 0.5. So basically R2 squared calculates how must regression line is better than a mean line.</a:t>
            </a:r>
            <a:endParaRPr sz="2029"/>
          </a:p>
          <a:p>
            <a:pPr indent="0" lvl="0" marL="0" rtl="0" algn="l">
              <a:lnSpc>
                <a:spcPct val="95000"/>
              </a:lnSpc>
              <a:spcBef>
                <a:spcPts val="1200"/>
              </a:spcBef>
              <a:spcAft>
                <a:spcPts val="1200"/>
              </a:spcAft>
              <a:buSzPts val="1800"/>
              <a:buNone/>
            </a:pPr>
            <a:r>
              <a:rPr lang="en" sz="2029"/>
              <a:t>Hence, R2 squared is also known as Coefficient of Determination or sometimes also known as Goodness of fit.</a:t>
            </a:r>
            <a:endParaRPr sz="2029"/>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id="180" name="Google Shape;180;p22"/>
          <p:cNvPicPr preferRelativeResize="0"/>
          <p:nvPr/>
        </p:nvPicPr>
        <p:blipFill rotWithShape="1">
          <a:blip r:embed="rId3">
            <a:alphaModFix/>
          </a:blip>
          <a:srcRect b="16960" l="0" r="0" t="19848"/>
          <a:stretch/>
        </p:blipFill>
        <p:spPr>
          <a:xfrm>
            <a:off x="0" y="0"/>
            <a:ext cx="3429000" cy="1504750"/>
          </a:xfrm>
          <a:prstGeom prst="rect">
            <a:avLst/>
          </a:prstGeom>
          <a:noFill/>
          <a:ln>
            <a:noFill/>
          </a:ln>
        </p:spPr>
      </p:pic>
      <p:pic>
        <p:nvPicPr>
          <p:cNvPr id="181" name="Google Shape;181;p22"/>
          <p:cNvPicPr preferRelativeResize="0"/>
          <p:nvPr/>
        </p:nvPicPr>
        <p:blipFill>
          <a:blip r:embed="rId4">
            <a:alphaModFix/>
          </a:blip>
          <a:stretch>
            <a:fillRect/>
          </a:stretch>
        </p:blipFill>
        <p:spPr>
          <a:xfrm>
            <a:off x="3560400" y="56650"/>
            <a:ext cx="5583599" cy="1620775"/>
          </a:xfrm>
          <a:prstGeom prst="rect">
            <a:avLst/>
          </a:prstGeom>
          <a:noFill/>
          <a:ln>
            <a:noFill/>
          </a:ln>
        </p:spPr>
      </p:pic>
      <p:graphicFrame>
        <p:nvGraphicFramePr>
          <p:cNvPr id="182" name="Google Shape;182;p22"/>
          <p:cNvGraphicFramePr/>
          <p:nvPr/>
        </p:nvGraphicFramePr>
        <p:xfrm>
          <a:off x="6562725" y="1677425"/>
          <a:ext cx="3000000" cy="3000000"/>
        </p:xfrm>
        <a:graphic>
          <a:graphicData uri="http://schemas.openxmlformats.org/drawingml/2006/table">
            <a:tbl>
              <a:tblPr>
                <a:noFill/>
                <a:tableStyleId>{165E4206-397F-433C-8654-01BDCA4A0839}</a:tableStyleId>
              </a:tblPr>
              <a:tblGrid>
                <a:gridCol w="581025"/>
                <a:gridCol w="2000250"/>
              </a:tblGrid>
              <a:tr h="200025">
                <a:tc>
                  <a:txBody>
                    <a:bodyPr/>
                    <a:lstStyle/>
                    <a:p>
                      <a:pPr indent="0" lvl="0" marL="0" rtl="0" algn="ctr">
                        <a:lnSpc>
                          <a:spcPct val="115000"/>
                        </a:lnSpc>
                        <a:spcBef>
                          <a:spcPts val="0"/>
                        </a:spcBef>
                        <a:spcAft>
                          <a:spcPts val="0"/>
                        </a:spcAft>
                        <a:buNone/>
                      </a:pPr>
                      <a:r>
                        <a:rPr b="1" lang="en" sz="1100"/>
                        <a:t>R² Value</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Meaning</a:t>
                      </a:r>
                      <a:endParaRPr b="1" sz="1100"/>
                    </a:p>
                  </a:txBody>
                  <a:tcPr marT="91425" marB="91425" marR="91425" marL="91425"/>
                </a:tc>
              </a:tr>
              <a:tr h="200025">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Perfect fit</a:t>
                      </a:r>
                      <a:endParaRPr/>
                    </a:p>
                  </a:txBody>
                  <a:tcPr marT="91425" marB="91425" marR="91425" marL="91425"/>
                </a:tc>
              </a:tr>
              <a:tr h="200025">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Same as mean model</a:t>
                      </a:r>
                      <a:endParaRPr/>
                    </a:p>
                  </a:txBody>
                  <a:tcPr marT="91425" marB="91425" marR="91425" marL="91425"/>
                </a:tc>
              </a:tr>
              <a:tr h="200025">
                <a:tc>
                  <a:txBody>
                    <a:bodyPr/>
                    <a:lstStyle/>
                    <a:p>
                      <a:pPr indent="0" lvl="0" marL="0" rtl="0" algn="l">
                        <a:spcBef>
                          <a:spcPts val="0"/>
                        </a:spcBef>
                        <a:spcAft>
                          <a:spcPts val="0"/>
                        </a:spcAft>
                        <a:buNone/>
                      </a:pPr>
                      <a:r>
                        <a:rPr lang="en"/>
                        <a:t>&lt; 0</a:t>
                      </a:r>
                      <a:endParaRPr/>
                    </a:p>
                  </a:txBody>
                  <a:tcPr marT="91425" marB="91425" marR="91425" marL="91425"/>
                </a:tc>
                <a:tc>
                  <a:txBody>
                    <a:bodyPr/>
                    <a:lstStyle/>
                    <a:p>
                      <a:pPr indent="0" lvl="0" marL="0" rtl="0" algn="l">
                        <a:spcBef>
                          <a:spcPts val="0"/>
                        </a:spcBef>
                        <a:spcAft>
                          <a:spcPts val="0"/>
                        </a:spcAft>
                        <a:buNone/>
                      </a:pPr>
                      <a:r>
                        <a:rPr lang="en"/>
                        <a:t>Worse than mean model</a:t>
                      </a:r>
                      <a:endParaRPr/>
                    </a:p>
                  </a:txBody>
                  <a:tcPr marT="91425" marB="91425" marR="91425" marL="91425"/>
                </a:tc>
              </a:tr>
              <a:tr h="200025">
                <a:tc>
                  <a:txBody>
                    <a:bodyPr/>
                    <a:lstStyle/>
                    <a:p>
                      <a:pPr indent="0" lvl="0" marL="0" rtl="0" algn="l">
                        <a:spcBef>
                          <a:spcPts val="0"/>
                        </a:spcBef>
                        <a:spcAft>
                          <a:spcPts val="0"/>
                        </a:spcAft>
                        <a:buNone/>
                      </a:pPr>
                      <a:r>
                        <a:rPr lang="en"/>
                        <a:t>0.7</a:t>
                      </a:r>
                      <a:endParaRPr/>
                    </a:p>
                  </a:txBody>
                  <a:tcPr marT="91425" marB="91425" marR="91425" marL="91425"/>
                </a:tc>
                <a:tc>
                  <a:txBody>
                    <a:bodyPr/>
                    <a:lstStyle/>
                    <a:p>
                      <a:pPr indent="0" lvl="0" marL="0" rtl="0" algn="l">
                        <a:spcBef>
                          <a:spcPts val="0"/>
                        </a:spcBef>
                        <a:spcAft>
                          <a:spcPts val="0"/>
                        </a:spcAft>
                        <a:buNone/>
                      </a:pPr>
                      <a:r>
                        <a:rPr lang="en"/>
                        <a:t>Model explains 70% of variance</a:t>
                      </a:r>
                      <a:endParaRPr/>
                    </a:p>
                  </a:txBody>
                  <a:tcPr marT="91425" marB="91425" marR="91425" marL="91425"/>
                </a:tc>
              </a:tr>
            </a:tbl>
          </a:graphicData>
        </a:graphic>
      </p:graphicFrame>
      <p:sp>
        <p:nvSpPr>
          <p:cNvPr id="183" name="Google Shape;183;p22"/>
          <p:cNvSpPr txBox="1"/>
          <p:nvPr/>
        </p:nvSpPr>
        <p:spPr>
          <a:xfrm>
            <a:off x="0" y="1978200"/>
            <a:ext cx="6460500" cy="316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sz="1700">
                <a:solidFill>
                  <a:schemeClr val="dk1"/>
                </a:solidFill>
              </a:rPr>
              <a:t>What is R-Squared (R²)?</a:t>
            </a:r>
            <a:endParaRPr b="1" sz="1700">
              <a:solidFill>
                <a:schemeClr val="dk1"/>
              </a:solidFill>
            </a:endParaRPr>
          </a:p>
          <a:p>
            <a:pPr indent="0" lvl="0" marL="0" rtl="0" algn="l">
              <a:lnSpc>
                <a:spcPct val="115000"/>
              </a:lnSpc>
              <a:spcBef>
                <a:spcPts val="1200"/>
              </a:spcBef>
              <a:spcAft>
                <a:spcPts val="0"/>
              </a:spcAft>
              <a:buNone/>
            </a:pPr>
            <a:r>
              <a:rPr b="1" lang="en" sz="1100">
                <a:solidFill>
                  <a:schemeClr val="dk1"/>
                </a:solidFill>
              </a:rPr>
              <a:t>R-Squared (R²)</a:t>
            </a:r>
            <a:r>
              <a:rPr lang="en" sz="1100">
                <a:solidFill>
                  <a:schemeClr val="dk1"/>
                </a:solidFill>
              </a:rPr>
              <a:t> is a performance metric used in </a:t>
            </a:r>
            <a:r>
              <a:rPr b="1" lang="en" sz="1100">
                <a:solidFill>
                  <a:schemeClr val="dk1"/>
                </a:solidFill>
              </a:rPr>
              <a:t>regression models</a:t>
            </a:r>
            <a:r>
              <a:rPr lang="en" sz="1100">
                <a:solidFill>
                  <a:schemeClr val="dk1"/>
                </a:solidFill>
              </a:rPr>
              <a:t> to measure </a:t>
            </a:r>
            <a:r>
              <a:rPr b="1" lang="en" sz="1100">
                <a:solidFill>
                  <a:schemeClr val="dk1"/>
                </a:solidFill>
              </a:rPr>
              <a:t>how well the model explains the variation in the output data</a:t>
            </a:r>
            <a:r>
              <a:rPr lang="en" sz="1100">
                <a:solidFill>
                  <a:schemeClr val="dk1"/>
                </a:solidFill>
              </a:rPr>
              <a:t>. It does </a:t>
            </a:r>
            <a:r>
              <a:rPr b="1" lang="en" sz="1100">
                <a:solidFill>
                  <a:schemeClr val="dk1"/>
                </a:solidFill>
              </a:rPr>
              <a:t>not</a:t>
            </a:r>
            <a:r>
              <a:rPr lang="en" sz="1100">
                <a:solidFill>
                  <a:schemeClr val="dk1"/>
                </a:solidFill>
              </a:rPr>
              <a:t> tell the absolute error value like MAE or MSE. Instead, it tells </a:t>
            </a:r>
            <a:r>
              <a:rPr b="1" lang="en" sz="1100">
                <a:solidFill>
                  <a:schemeClr val="dk1"/>
                </a:solidFill>
              </a:rPr>
              <a:t>how good the model is compared to a baseline model</a:t>
            </a:r>
            <a:r>
              <a:rPr lang="en" sz="1100">
                <a:solidFill>
                  <a:schemeClr val="dk1"/>
                </a:solidFill>
              </a:rPr>
              <a:t>.</a:t>
            </a:r>
            <a:endParaRPr sz="1100">
              <a:solidFill>
                <a:schemeClr val="dk1"/>
              </a:solidFill>
            </a:endParaRPr>
          </a:p>
          <a:p>
            <a:pPr indent="0" lvl="0" marL="0" rtl="0" algn="l">
              <a:lnSpc>
                <a:spcPct val="115000"/>
              </a:lnSpc>
              <a:spcBef>
                <a:spcPts val="1800"/>
              </a:spcBef>
              <a:spcAft>
                <a:spcPts val="0"/>
              </a:spcAft>
              <a:buNone/>
            </a:pPr>
            <a:r>
              <a:rPr b="1" lang="en" sz="1700">
                <a:solidFill>
                  <a:schemeClr val="dk1"/>
                </a:solidFill>
              </a:rPr>
              <a:t>What does R² actually measure?</a:t>
            </a:r>
            <a:endParaRPr b="1" sz="1700">
              <a:solidFill>
                <a:schemeClr val="dk1"/>
              </a:solidFill>
            </a:endParaRPr>
          </a:p>
          <a:p>
            <a:pPr indent="0" lvl="0" marL="0" rtl="0" algn="l">
              <a:lnSpc>
                <a:spcPct val="115000"/>
              </a:lnSpc>
              <a:spcBef>
                <a:spcPts val="1200"/>
              </a:spcBef>
              <a:spcAft>
                <a:spcPts val="0"/>
              </a:spcAft>
              <a:buNone/>
            </a:pPr>
            <a:r>
              <a:rPr lang="en" sz="1100">
                <a:solidFill>
                  <a:schemeClr val="dk1"/>
                </a:solidFill>
              </a:rPr>
              <a:t>R² measures </a:t>
            </a:r>
            <a:r>
              <a:rPr b="1" lang="en" sz="1100">
                <a:solidFill>
                  <a:schemeClr val="dk1"/>
                </a:solidFill>
              </a:rPr>
              <a:t>how much better your regression model is compared to a simple mean-based model</a:t>
            </a:r>
            <a:r>
              <a:rPr lang="en" sz="1100">
                <a:solidFill>
                  <a:schemeClr val="dk1"/>
                </a:solidFill>
              </a:rPr>
              <a:t>.</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The </a:t>
            </a:r>
            <a:r>
              <a:rPr b="1" lang="en" sz="1100">
                <a:solidFill>
                  <a:schemeClr val="dk1"/>
                </a:solidFill>
              </a:rPr>
              <a:t>baseline model</a:t>
            </a:r>
            <a:r>
              <a:rPr lang="en" sz="1100">
                <a:solidFill>
                  <a:schemeClr val="dk1"/>
                </a:solidFill>
              </a:rPr>
              <a:t> predicts the </a:t>
            </a:r>
            <a:r>
              <a:rPr b="1" lang="en" sz="1100">
                <a:solidFill>
                  <a:schemeClr val="dk1"/>
                </a:solidFill>
              </a:rPr>
              <a:t>mean of the target variable</a:t>
            </a:r>
            <a:r>
              <a:rPr lang="en" sz="1100">
                <a:solidFill>
                  <a:schemeClr val="dk1"/>
                </a:solidFill>
              </a:rPr>
              <a:t> for all inputs.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R² checks whether your regression line performs </a:t>
            </a:r>
            <a:r>
              <a:rPr b="1" lang="en" sz="1100">
                <a:solidFill>
                  <a:schemeClr val="dk1"/>
                </a:solidFill>
              </a:rPr>
              <a:t>better than this mean line</a:t>
            </a:r>
            <a:r>
              <a:rPr lang="en" sz="1100">
                <a:solidFill>
                  <a:schemeClr val="dk1"/>
                </a:solidFill>
              </a:rPr>
              <a:t>.</a:t>
            </a:r>
            <a:endParaRPr sz="1100">
              <a:solidFill>
                <a:schemeClr val="dk1"/>
              </a:solidFill>
            </a:endParaRPr>
          </a:p>
          <a:p>
            <a:pPr indent="0" lvl="0" marL="0" rtl="0" algn="l">
              <a:lnSpc>
                <a:spcPct val="115000"/>
              </a:lnSpc>
              <a:spcBef>
                <a:spcPts val="1200"/>
              </a:spcBef>
              <a:spcAft>
                <a:spcPts val="1200"/>
              </a:spcAft>
              <a:buNone/>
            </a:pPr>
            <a:r>
              <a:rPr lang="en" sz="1100">
                <a:solidFill>
                  <a:schemeClr val="dk1"/>
                </a:solidFill>
              </a:rPr>
              <a:t>📌 In simple words: </a:t>
            </a:r>
            <a:r>
              <a:rPr b="1" lang="en" sz="1100">
                <a:solidFill>
                  <a:schemeClr val="dk1"/>
                </a:solidFill>
              </a:rPr>
              <a:t>R² shows how much variation in the output is explained by your model.</a:t>
            </a:r>
            <a:endParaRPr b="1" sz="11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