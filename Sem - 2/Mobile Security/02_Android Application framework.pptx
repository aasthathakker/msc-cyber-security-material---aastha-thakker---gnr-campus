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357" r:id="rId2"/>
    <p:sldId id="408" r:id="rId3"/>
    <p:sldId id="427" r:id="rId4"/>
    <p:sldId id="413" r:id="rId5"/>
    <p:sldId id="421" r:id="rId6"/>
    <p:sldId id="422" r:id="rId7"/>
    <p:sldId id="428" r:id="rId8"/>
    <p:sldId id="417" r:id="rId9"/>
    <p:sldId id="423" r:id="rId10"/>
    <p:sldId id="424" r:id="rId11"/>
    <p:sldId id="418" r:id="rId12"/>
    <p:sldId id="419" r:id="rId13"/>
    <p:sldId id="420" r:id="rId14"/>
    <p:sldId id="429" r:id="rId15"/>
    <p:sldId id="430" r:id="rId16"/>
    <p:sldId id="432" r:id="rId17"/>
    <p:sldId id="433" r:id="rId18"/>
    <p:sldId id="392" r:id="rId19"/>
    <p:sldId id="435" r:id="rId20"/>
    <p:sldId id="436" r:id="rId21"/>
    <p:sldId id="437" r:id="rId22"/>
    <p:sldId id="438" r:id="rId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>
        <p:scale>
          <a:sx n="70" d="100"/>
          <a:sy n="70" d="100"/>
        </p:scale>
        <p:origin x="-1386" y="-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06D20-265A-45AE-8D7F-1100293F805F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54D4B-AC91-4CBF-9F06-E2874E0FB789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86034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3223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711029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54341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30567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66875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6176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780263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51221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410559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0636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900093-A566-4883-87EB-6E6022A9D2E1}" type="datetimeFigureOut">
              <a:rPr lang="en-US" smtClean="0"/>
              <a:pPr/>
              <a:t>8/23/2020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41F41E-2724-4E8B-A7C1-40819B11D8A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79698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android.com/guide/topics/resources/providing-resources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 smtClean="0">
              <a:solidFill>
                <a:schemeClr val="tx1"/>
              </a:solidFill>
            </a:endParaRPr>
          </a:p>
          <a:p>
            <a:r>
              <a:rPr lang="en-IN" sz="4800" b="1" dirty="0" smtClean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  <a:p>
            <a:r>
              <a:rPr lang="en-US" sz="2000" b="1" dirty="0" smtClean="0">
                <a:solidFill>
                  <a:schemeClr val="tx1"/>
                </a:solidFill>
              </a:rPr>
              <a:t>Dr. </a:t>
            </a:r>
            <a:r>
              <a:rPr lang="en-US" sz="2000" b="1" dirty="0" err="1" smtClean="0">
                <a:solidFill>
                  <a:schemeClr val="tx1"/>
                </a:solidFill>
              </a:rPr>
              <a:t>Digvijaysinh</a:t>
            </a:r>
            <a:r>
              <a:rPr lang="en-US" sz="2000" b="1" dirty="0" smtClean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590008"/>
            <a:ext cx="8546121" cy="5467320"/>
          </a:xfrm>
        </p:spPr>
        <p:txBody>
          <a:bodyPr>
            <a:noAutofit/>
          </a:bodyPr>
          <a:lstStyle/>
          <a:p>
            <a:pPr lvl="1">
              <a:lnSpc>
                <a:spcPct val="150000"/>
              </a:lnSpc>
            </a:pPr>
            <a:endParaRPr lang="en-IN" sz="22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IN" sz="4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Session – II</a:t>
            </a:r>
          </a:p>
          <a:p>
            <a:pPr lvl="1">
              <a:lnSpc>
                <a:spcPct val="150000"/>
              </a:lnSpc>
            </a:pPr>
            <a:r>
              <a:rPr lang="en-IN" sz="4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Application framework</a:t>
            </a:r>
          </a:p>
          <a:p>
            <a:pPr lvl="1">
              <a:lnSpc>
                <a:spcPct val="150000"/>
              </a:lnSpc>
            </a:pPr>
            <a:r>
              <a:rPr lang="en-IN" sz="2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Application Folder Structure</a:t>
            </a:r>
          </a:p>
          <a:p>
            <a:pPr lvl="1">
              <a:lnSpc>
                <a:spcPct val="150000"/>
              </a:lnSpc>
            </a:pPr>
            <a:r>
              <a:rPr lang="en-IN" sz="2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</a:t>
            </a:r>
          </a:p>
          <a:p>
            <a:pPr lvl="1">
              <a:lnSpc>
                <a:spcPct val="150000"/>
              </a:lnSpc>
            </a:pPr>
            <a:r>
              <a:rPr lang="en-IN" sz="2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Resource</a:t>
            </a:r>
          </a:p>
          <a:p>
            <a:pPr lvl="1">
              <a:lnSpc>
                <a:spcPct val="150000"/>
              </a:lnSpc>
            </a:pPr>
            <a:r>
              <a:rPr lang="en-IN" sz="2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Activity</a:t>
            </a:r>
          </a:p>
          <a:p>
            <a:pPr lvl="1">
              <a:lnSpc>
                <a:spcPct val="150000"/>
              </a:lnSpc>
            </a:pPr>
            <a:r>
              <a:rPr lang="en-IN" sz="20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Intent</a:t>
            </a:r>
          </a:p>
          <a:p>
            <a:pPr lvl="1">
              <a:lnSpc>
                <a:spcPct val="150000"/>
              </a:lnSpc>
            </a:pPr>
            <a:endParaRPr lang="en-IN" sz="4000" b="1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" b="1" smtClean="0"/>
              <a:t>Session - II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467320"/>
          </a:xfrm>
        </p:spPr>
        <p:txBody>
          <a:bodyPr>
            <a:normAutofit/>
          </a:bodyPr>
          <a:lstStyle/>
          <a:p>
            <a:endParaRPr lang="en-IN" sz="4400" b="1" dirty="0" smtClean="0">
              <a:solidFill>
                <a:schemeClr val="tx1"/>
              </a:solidFill>
            </a:endParaRPr>
          </a:p>
          <a:p>
            <a:r>
              <a:rPr lang="en-IN" sz="4400" b="1" dirty="0" smtClean="0">
                <a:solidFill>
                  <a:schemeClr val="tx1"/>
                </a:solidFill>
              </a:rPr>
              <a:t>Reference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1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786183" y="0"/>
            <a:ext cx="1120496" cy="1428736"/>
          </a:xfrm>
          <a:prstGeom prst="rect">
            <a:avLst/>
          </a:prstGeom>
          <a:noFill/>
        </p:spPr>
      </p:pic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214554"/>
            <a:ext cx="2665983" cy="32147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2714612" y="2214554"/>
            <a:ext cx="2571768" cy="32082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2" name="Rectangle 11"/>
          <p:cNvSpPr/>
          <p:nvPr/>
        </p:nvSpPr>
        <p:spPr>
          <a:xfrm>
            <a:off x="5500694" y="2428868"/>
            <a:ext cx="3357586" cy="121444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dirty="0" smtClean="0"/>
              <a:t>www.developer.google.com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Install JDK – Java Development Kit : Latest is Java SE Development Kit 8 for 32 bit / 64 bit download – download from oracle side.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Download Android Studio –www.developer.android.com. This is also useful to refer and documentation related to android </a:t>
            </a:r>
            <a:r>
              <a:rPr lang="en-IN" sz="26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cocepts</a:t>
            </a: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IN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IN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Development Lab </a:t>
            </a:r>
            <a:r>
              <a:rPr lang="en-US" sz="2400" b="1" dirty="0" err="1" smtClean="0"/>
              <a:t>Confi</a:t>
            </a:r>
            <a:r>
              <a:rPr lang="en-US" sz="2400" b="1" dirty="0" smtClean="0"/>
              <a:t>.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Four main component that can be used within an Android Application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Activity – UI and handle user integration with mobile phone.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Service – Background processing associated with android application.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 Receivers – Handle communication between Android OS and </a:t>
            </a:r>
            <a:r>
              <a:rPr lang="en-IN" sz="22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Applicaton</a:t>
            </a: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ContentProviders</a:t>
            </a: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- handle data and database managements operations.</a:t>
            </a: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Components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Alarm Application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You open the alarm application and set the alarm using UI – Activity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Data will be saved – </a:t>
            </a:r>
            <a:r>
              <a:rPr lang="en-IN" sz="22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ContentProviders</a:t>
            </a:r>
            <a:endParaRPr lang="en-IN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Service which continuously looking in the background for set time – Service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Once set alarm time matched, alarm event will ring the alarm – Event handling – Broadcast Receiver 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18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Components  Example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Create new android application.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Project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</a:t>
            </a:r>
            <a:endParaRPr lang="en-IN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18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Application- Demo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9535" y="985800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</a:pP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28596" y="642918"/>
            <a:ext cx="4286280" cy="57150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ight Arrow 10"/>
          <p:cNvSpPr/>
          <p:nvPr/>
        </p:nvSpPr>
        <p:spPr>
          <a:xfrm>
            <a:off x="1928794" y="1428736"/>
            <a:ext cx="2786082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772666" y="1242574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1</a:t>
            </a:r>
            <a:endParaRPr lang="en-US" b="1" dirty="0"/>
          </a:p>
        </p:txBody>
      </p:sp>
      <p:sp>
        <p:nvSpPr>
          <p:cNvPr id="13" name="Right Arrow 12"/>
          <p:cNvSpPr/>
          <p:nvPr/>
        </p:nvSpPr>
        <p:spPr>
          <a:xfrm>
            <a:off x="1928794" y="1928802"/>
            <a:ext cx="2786082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772666" y="1814078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3</a:t>
            </a:r>
            <a:endParaRPr lang="en-US" b="1" dirty="0"/>
          </a:p>
        </p:txBody>
      </p:sp>
      <p:sp>
        <p:nvSpPr>
          <p:cNvPr id="15" name="Right Arrow 14"/>
          <p:cNvSpPr/>
          <p:nvPr/>
        </p:nvSpPr>
        <p:spPr>
          <a:xfrm>
            <a:off x="1939247" y="2854302"/>
            <a:ext cx="2786082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4779918" y="2670478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2</a:t>
            </a:r>
            <a:endParaRPr lang="en-US" b="1" dirty="0"/>
          </a:p>
        </p:txBody>
      </p:sp>
      <p:sp>
        <p:nvSpPr>
          <p:cNvPr id="17" name="Right Arrow 16"/>
          <p:cNvSpPr/>
          <p:nvPr/>
        </p:nvSpPr>
        <p:spPr>
          <a:xfrm>
            <a:off x="1928794" y="3357562"/>
            <a:ext cx="2786082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4786314" y="3214686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4</a:t>
            </a:r>
            <a:endParaRPr lang="en-US" b="1" dirty="0"/>
          </a:p>
        </p:txBody>
      </p:sp>
      <p:sp>
        <p:nvSpPr>
          <p:cNvPr id="19" name="Right Arrow 18"/>
          <p:cNvSpPr/>
          <p:nvPr/>
        </p:nvSpPr>
        <p:spPr>
          <a:xfrm>
            <a:off x="1928794" y="3857628"/>
            <a:ext cx="2786082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786314" y="3714752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5</a:t>
            </a:r>
            <a:endParaRPr lang="en-US" b="1" dirty="0"/>
          </a:p>
        </p:txBody>
      </p:sp>
      <p:sp>
        <p:nvSpPr>
          <p:cNvPr id="21" name="Right Arrow 20"/>
          <p:cNvSpPr/>
          <p:nvPr/>
        </p:nvSpPr>
        <p:spPr>
          <a:xfrm>
            <a:off x="2214546" y="4572008"/>
            <a:ext cx="2517176" cy="457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4786314" y="4429132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6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Every app project must have an AndroidManifest.xml file (with precisely that name) at the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root of the project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source set.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manifest file describes essential information about your app to the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build tools, the Android operating system, and Google Play.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Manifest file is required to declare the following: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components of the app, which include all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activities, services, broadcast receivers, and content providers.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</a:t>
            </a:r>
            <a:endParaRPr lang="fr-CA" sz="2400" b="1" dirty="0" smtClean="0"/>
          </a:p>
          <a:p>
            <a:pPr algn="ctr"/>
            <a:r>
              <a:rPr lang="en-US" sz="2400" b="1" dirty="0" smtClean="0"/>
              <a:t>App Manifest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Manifest file is required to declare the following: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app's package name, which usually matches your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code's namespace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.  The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 build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tools use this to determine the location of code entities when building your project.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permissions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that the app needs in order to access protected parts of the system or other apps.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 manifest file is also where you can declare what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types of hardware or software features your app requires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and thus, which types of devices your app is compatible with.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</a:t>
            </a:r>
            <a:endParaRPr lang="fr-CA" sz="2400" b="1" dirty="0" smtClean="0"/>
          </a:p>
          <a:p>
            <a:pPr algn="ctr"/>
            <a:r>
              <a:rPr lang="en-US" sz="2400" b="1" dirty="0" smtClean="0"/>
              <a:t>App Manifest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Points to be discussed – with empty activity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</a:t>
            </a:r>
          </a:p>
          <a:p>
            <a:pPr lvl="3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18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Example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11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1928802"/>
            <a:ext cx="535305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3" name="Straight Arrow Connector 12"/>
          <p:cNvCxnSpPr/>
          <p:nvPr/>
        </p:nvCxnSpPr>
        <p:spPr>
          <a:xfrm>
            <a:off x="5500694" y="3500438"/>
            <a:ext cx="1928826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5520738" y="4214818"/>
            <a:ext cx="1337278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429520" y="3357562"/>
            <a:ext cx="571504" cy="42862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1</a:t>
            </a:r>
            <a:endParaRPr lang="en-US" b="1" dirty="0"/>
          </a:p>
        </p:txBody>
      </p:sp>
      <p:sp>
        <p:nvSpPr>
          <p:cNvPr id="18" name="Rectangle 17"/>
          <p:cNvSpPr/>
          <p:nvPr/>
        </p:nvSpPr>
        <p:spPr>
          <a:xfrm>
            <a:off x="6858016" y="4000504"/>
            <a:ext cx="2143140" cy="64294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b="1" dirty="0" smtClean="0"/>
              <a:t>2 - Which other tag we can use here?</a:t>
            </a:r>
            <a:endParaRPr lang="en-US" b="1" dirty="0"/>
          </a:p>
        </p:txBody>
      </p:sp>
      <p:sp>
        <p:nvSpPr>
          <p:cNvPr id="21" name="Rectangle 20"/>
          <p:cNvSpPr/>
          <p:nvPr/>
        </p:nvSpPr>
        <p:spPr>
          <a:xfrm>
            <a:off x="3857620" y="5143512"/>
            <a:ext cx="4572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&lt;activity&gt;elements for activities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&lt;service&gt; elements for services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&lt;receiver&gt; elements for broadcast receivers</a:t>
            </a:r>
          </a:p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&lt;provider&gt; elements for content providers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Points to be discussed – with one activity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</a:t>
            </a:r>
          </a:p>
          <a:p>
            <a:pPr lvl="3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18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Example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3042" y="1928802"/>
            <a:ext cx="5429250" cy="458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9" y="671896"/>
            <a:ext cx="8417564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Points to be discussed – with one activity</a:t>
            </a:r>
          </a:p>
          <a:p>
            <a:pPr lvl="2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IN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</a:t>
            </a:r>
          </a:p>
          <a:p>
            <a:pPr lvl="3" algn="just">
              <a:lnSpc>
                <a:spcPct val="20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Following is the list of tags which you will use in your manifest file to specify different Android application components −</a:t>
            </a:r>
          </a:p>
          <a:p>
            <a:pPr lvl="3" algn="just">
              <a:lnSpc>
                <a:spcPct val="20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&lt;activity&gt;elements for activities</a:t>
            </a:r>
          </a:p>
          <a:p>
            <a:pPr lvl="3" algn="just">
              <a:lnSpc>
                <a:spcPct val="20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&lt;service&gt; elements for services</a:t>
            </a:r>
          </a:p>
          <a:p>
            <a:pPr lvl="3" algn="just">
              <a:lnSpc>
                <a:spcPct val="20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&lt;receiver&gt; elements for broadcast receivers</a:t>
            </a:r>
          </a:p>
          <a:p>
            <a:pPr lvl="3" algn="just">
              <a:lnSpc>
                <a:spcPct val="20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&lt;provider&gt; elements for content providers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Android Application Component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0429" y="671896"/>
            <a:ext cx="5286413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Resources are the </a:t>
            </a:r>
            <a:r>
              <a:rPr lang="en-US" sz="18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additional files and static content</a:t>
            </a: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that your code uses, such as </a:t>
            </a:r>
            <a:r>
              <a:rPr lang="en-US" sz="18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bitmaps, layout definitions, user interface strings,</a:t>
            </a: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animation instructions, and more.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18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drawable</a:t>
            </a: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/Bitmap files (.</a:t>
            </a:r>
            <a:r>
              <a:rPr lang="en-US" sz="1800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png</a:t>
            </a: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 .9.png, .jpg, .gif) 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layout/XML files that define a user interface layout.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menu/XML files that define app menus, such as an Options Menu, Context Menu, or Sub Menu.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18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values/XML files that contain simple values, such as strings, integers, and colors.</a:t>
            </a:r>
          </a:p>
          <a:p>
            <a:pPr lvl="1" algn="just">
              <a:lnSpc>
                <a:spcPct val="150000"/>
              </a:lnSpc>
            </a:pPr>
            <a:endParaRPr lang="en-US" sz="18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 App resources overview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00034" y="1071546"/>
            <a:ext cx="3500462" cy="44291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Rectangle 10"/>
          <p:cNvSpPr/>
          <p:nvPr/>
        </p:nvSpPr>
        <p:spPr>
          <a:xfrm>
            <a:off x="785786" y="6143644"/>
            <a:ext cx="771530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>
                <a:hlinkClick r:id="rId3"/>
              </a:rPr>
              <a:t>Ref: https://developer.android.com/guide/topics/resources/providing-resources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5787" y="671896"/>
            <a:ext cx="8001056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activity represents a single screen with a user interface just like window or frame.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endParaRPr lang="en-US" sz="26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 Activity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142976" y="1928802"/>
            <a:ext cx="7669799" cy="40719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85787" y="671896"/>
            <a:ext cx="8001056" cy="5696512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activity represents a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single screen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with a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user interface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just like window or frame.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application can have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one or more activities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without any restrictions.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Every activity you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define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for your application must be declared in your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AndroidManifest.xml file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and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the main activity for your app must be declared in the manifest with an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&lt;intent-filter&gt;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that includes the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MAIN action and LAUNCHER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category.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 Activity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Android Application Framework -  Activity</a:t>
            </a: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214422"/>
            <a:ext cx="4357686" cy="3990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86182" y="857232"/>
            <a:ext cx="3905250" cy="2638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286248" y="3571876"/>
            <a:ext cx="4615195" cy="29098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13" name="Straight Arrow Connector 12"/>
          <p:cNvCxnSpPr/>
          <p:nvPr/>
        </p:nvCxnSpPr>
        <p:spPr>
          <a:xfrm flipV="1">
            <a:off x="2428860" y="928670"/>
            <a:ext cx="2428892" cy="2357454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5929322" y="3000372"/>
            <a:ext cx="1071570" cy="785818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39893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Intent is a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messaging object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you can use to request an action from another app component. 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Although intents facilitate 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communication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between components in several ways, there are three fundamental use cases:</a:t>
            </a:r>
          </a:p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It can be used with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startActivity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launch an Activity,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broadcastIntent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send it to any interested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BroadcastReceiver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components, and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startService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(Intent)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or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bindService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(Intent,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ServiceConnection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600" b="1" dirty="0" err="1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int</a:t>
            </a:r>
            <a:r>
              <a:rPr lang="en-US" sz="26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communicate with a background Service.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The application framework : Intent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 Intent object can contain the following components </a:t>
            </a: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Action: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This is mandatory part of the Intent object and is a string naming the action to be performed. </a:t>
            </a: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Category :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The category is an optional part of Intent object and it's a string containing additional information about the kind of component that should handle the intent.</a:t>
            </a: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endParaRPr lang="en-US" sz="2200" dirty="0" smtClean="0">
              <a:solidFill>
                <a:schemeClr val="tx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The application framework : Intent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There are two types of intents:</a:t>
            </a: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Explicit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intents specify which application will satisfy the intent, by supplying either the target app's package name or a fully-qualified component class name. </a:t>
            </a:r>
          </a:p>
          <a:p>
            <a:pPr marL="1371600" lvl="2" indent="-457200" algn="just">
              <a:lnSpc>
                <a:spcPct val="150000"/>
              </a:lnSpc>
            </a:pP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	You'll typically use an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explicit intent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start a component in your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own app,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because you know the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class name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of the activity or service you want to start. For example, you might start a new activity within your app in response to a user action, or start a service to download a file in the background.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The application framework : Intent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671896"/>
            <a:ext cx="8546121" cy="5467320"/>
          </a:xfrm>
        </p:spPr>
        <p:txBody>
          <a:bodyPr>
            <a:noAutofit/>
          </a:bodyPr>
          <a:lstStyle/>
          <a:p>
            <a:pPr lvl="1" algn="just">
              <a:lnSpc>
                <a:spcPct val="150000"/>
              </a:lnSpc>
              <a:buFont typeface="Wingdings" pitchFamily="2" charset="2"/>
              <a:buChar char="ü"/>
            </a:pPr>
            <a:r>
              <a:rPr lang="en-US" sz="26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There are two types of intents:</a:t>
            </a:r>
          </a:p>
          <a:p>
            <a:pPr marL="1371600" lvl="2" indent="-457200" algn="just">
              <a:lnSpc>
                <a:spcPct val="150000"/>
              </a:lnSpc>
              <a:buFont typeface="+mj-lt"/>
              <a:buAutoNum type="arabicPeriod"/>
            </a:pP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Implicit intents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 do not name a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specific component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but instead declare a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general action to perform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, which allows a component from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another app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handle it. For example, if you want to show the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user a location on a map,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you can use an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implicit intent</a:t>
            </a:r>
            <a:r>
              <a:rPr lang="en-US" sz="2200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 to request that another capable app show a specified </a:t>
            </a:r>
            <a:r>
              <a:rPr lang="en-US" sz="2200" b="1" dirty="0" smtClean="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location on a map.</a:t>
            </a: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 smtClean="0"/>
              <a:t>The application framework : Intent</a:t>
            </a:r>
            <a:endParaRPr lang="fr-CA" sz="2400" b="1" dirty="0"/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Dr.  </a:t>
            </a:r>
            <a:r>
              <a:rPr lang="en-US" b="1" dirty="0" err="1" smtClean="0"/>
              <a:t>Digvijaysinh</a:t>
            </a:r>
            <a:r>
              <a:rPr lang="en-US" b="1" dirty="0" smtClean="0"/>
              <a:t> Rathod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xmlns="" val="2767950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9278" y="781080"/>
            <a:ext cx="8546121" cy="5791192"/>
          </a:xfrm>
        </p:spPr>
        <p:txBody>
          <a:bodyPr>
            <a:normAutofit fontScale="85000" lnSpcReduction="20000"/>
          </a:bodyPr>
          <a:lstStyle/>
          <a:p>
            <a:endParaRPr lang="en-IN" sz="4800" b="1" dirty="0" smtClean="0">
              <a:solidFill>
                <a:schemeClr val="tx1"/>
              </a:solidFill>
            </a:endParaRPr>
          </a:p>
          <a:p>
            <a:r>
              <a:rPr lang="en-IN" sz="4800" b="1" dirty="0" smtClean="0">
                <a:solidFill>
                  <a:schemeClr val="tx1"/>
                </a:solidFill>
              </a:rPr>
              <a:t>Mobile Phone Security </a:t>
            </a: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IN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US" sz="2000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IN" sz="2000" b="1" dirty="0" smtClean="0">
              <a:solidFill>
                <a:schemeClr val="tx1"/>
              </a:solidFill>
            </a:endParaRPr>
          </a:p>
          <a:p>
            <a:endParaRPr lang="en-US" sz="2000" b="1" dirty="0" smtClean="0">
              <a:solidFill>
                <a:schemeClr val="tx1"/>
              </a:solidFill>
            </a:endParaRPr>
          </a:p>
          <a:p>
            <a:r>
              <a:rPr lang="en-US" sz="2000" b="1" dirty="0" smtClean="0">
                <a:solidFill>
                  <a:schemeClr val="tx1"/>
                </a:solidFill>
              </a:rPr>
              <a:t>Dr. </a:t>
            </a:r>
            <a:r>
              <a:rPr lang="en-US" sz="2000" b="1" dirty="0" err="1" smtClean="0">
                <a:solidFill>
                  <a:schemeClr val="tx1"/>
                </a:solidFill>
              </a:rPr>
              <a:t>Digvijaysinh</a:t>
            </a:r>
            <a:r>
              <a:rPr lang="en-US" sz="2000" b="1" dirty="0" smtClean="0">
                <a:solidFill>
                  <a:schemeClr val="tx1"/>
                </a:solidFill>
              </a:rPr>
              <a:t> Rathod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Associate Professor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(Cyber Security and Digital Forensics)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Institute of Forensic Science </a:t>
            </a:r>
          </a:p>
          <a:p>
            <a:r>
              <a:rPr lang="en-US" sz="2000" b="1" dirty="0" smtClean="0">
                <a:solidFill>
                  <a:schemeClr val="tx1"/>
                </a:solidFill>
              </a:rPr>
              <a:t>Gujarat Forensic Sciences University</a:t>
            </a:r>
            <a:endParaRPr lang="en-US" sz="2000" b="1" dirty="0">
              <a:solidFill>
                <a:schemeClr val="tx1"/>
              </a:solidFill>
            </a:endParaRPr>
          </a:p>
        </p:txBody>
      </p:sp>
      <p:sp>
        <p:nvSpPr>
          <p:cNvPr id="4" name="Right Triangle 3"/>
          <p:cNvSpPr/>
          <p:nvPr/>
        </p:nvSpPr>
        <p:spPr>
          <a:xfrm rot="5400000">
            <a:off x="-21195" y="4322"/>
            <a:ext cx="780949" cy="772569"/>
          </a:xfrm>
          <a:prstGeom prst="rtTriangl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ight Triangle 4"/>
          <p:cNvSpPr/>
          <p:nvPr/>
        </p:nvSpPr>
        <p:spPr>
          <a:xfrm rot="16200000">
            <a:off x="8367241" y="6067518"/>
            <a:ext cx="780949" cy="772569"/>
          </a:xfrm>
          <a:prstGeom prst="rtTriangl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83274" y="-1"/>
            <a:ext cx="7620000" cy="59574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sz="2400" b="1" dirty="0" smtClean="0">
              <a:latin typeface="Calibri" pitchFamily="34" charset="0"/>
            </a:endParaRPr>
          </a:p>
        </p:txBody>
      </p:sp>
      <p:sp>
        <p:nvSpPr>
          <p:cNvPr id="7" name="Right Triangle 6"/>
          <p:cNvSpPr/>
          <p:nvPr/>
        </p:nvSpPr>
        <p:spPr>
          <a:xfrm rot="10800000">
            <a:off x="8417865" y="18177"/>
            <a:ext cx="780949" cy="772569"/>
          </a:xfrm>
          <a:prstGeom prst="rt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ight Triangle 7"/>
          <p:cNvSpPr/>
          <p:nvPr/>
        </p:nvSpPr>
        <p:spPr>
          <a:xfrm>
            <a:off x="-4190" y="6083920"/>
            <a:ext cx="780949" cy="772569"/>
          </a:xfrm>
          <a:prstGeom prst="rtTriangl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/>
          <p:cNvSpPr/>
          <p:nvPr/>
        </p:nvSpPr>
        <p:spPr>
          <a:xfrm>
            <a:off x="730649" y="6470204"/>
            <a:ext cx="7620000" cy="38113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smtClean="0"/>
              <a:t>digvijay.rathod@gfsu.edu.in</a:t>
            </a:r>
            <a:endParaRPr lang="en-US" b="1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28860" y="1928802"/>
            <a:ext cx="4909738" cy="30003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029" name="Picture 5" descr="GFSU: Courses, Admissions, Placements, Scholarships, Fees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045495" y="0"/>
            <a:ext cx="1120496" cy="142873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82015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30669</TotalTime>
  <Words>919</Words>
  <Application>Microsoft Office PowerPoint</Application>
  <PresentationFormat>On-screen Show (4:3)</PresentationFormat>
  <Paragraphs>168</Paragraphs>
  <Slides>22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digvijay</dc:creator>
  <cp:lastModifiedBy>Windows User</cp:lastModifiedBy>
  <cp:revision>534</cp:revision>
  <dcterms:created xsi:type="dcterms:W3CDTF">2018-03-30T10:15:50Z</dcterms:created>
  <dcterms:modified xsi:type="dcterms:W3CDTF">2020-08-23T06:27:16Z</dcterms:modified>
</cp:coreProperties>
</file>