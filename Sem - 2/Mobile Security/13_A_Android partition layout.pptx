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658" r:id="rId2"/>
    <p:sldId id="408" r:id="rId3"/>
    <p:sldId id="593" r:id="rId4"/>
    <p:sldId id="676" r:id="rId5"/>
    <p:sldId id="677" r:id="rId6"/>
    <p:sldId id="678" r:id="rId7"/>
    <p:sldId id="679" r:id="rId8"/>
    <p:sldId id="680" r:id="rId9"/>
    <p:sldId id="681" r:id="rId10"/>
    <p:sldId id="682" r:id="rId11"/>
    <p:sldId id="683" r:id="rId12"/>
    <p:sldId id="684" r:id="rId13"/>
    <p:sldId id="685" r:id="rId14"/>
    <p:sldId id="686" r:id="rId15"/>
    <p:sldId id="689" r:id="rId16"/>
    <p:sldId id="671" r:id="rId1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>
          <p15:clr>
            <a:srgbClr val="A4A3A4"/>
          </p15:clr>
        </p15:guide>
        <p15:guide id="2" pos="28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1446" y="66"/>
      </p:cViewPr>
      <p:guideLst>
        <p:guide orient="horz" pos="2145"/>
        <p:guide pos="28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06D20-265A-45AE-8D7F-1100293F805F}" type="datetimeFigureOut">
              <a:rPr lang="en-US" smtClean="0"/>
              <a:t>11/11/2021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854D4B-AC91-4CBF-9F06-E2874E0FB78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t>11/11/2021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t>11/11/2021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t>11/11/2021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t>11/11/2021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t>11/11/2021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t>11/11/2021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t>11/11/2021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t>11/11/2021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t>11/11/2021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t>11/11/2021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t>11/11/2021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900093-A566-4883-87EB-6E6022A9D2E1}" type="datetimeFigureOut">
              <a:rPr lang="en-US" smtClean="0"/>
              <a:t>11/11/2021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791192"/>
          </a:xfrm>
        </p:spPr>
        <p:txBody>
          <a:bodyPr>
            <a:normAutofit fontScale="85000" lnSpcReduction="20000"/>
          </a:bodyPr>
          <a:lstStyle/>
          <a:p>
            <a:endParaRPr lang="en-IN" sz="4800" b="1" dirty="0">
              <a:solidFill>
                <a:schemeClr val="tx1"/>
              </a:solidFill>
            </a:endParaRPr>
          </a:p>
          <a:p>
            <a:r>
              <a:rPr lang="en-IN" sz="4200" b="1" dirty="0">
                <a:solidFill>
                  <a:schemeClr val="tx1"/>
                </a:solidFill>
              </a:rPr>
              <a:t>Mobile Phone Security and Forensics</a:t>
            </a: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Dr. </a:t>
            </a:r>
            <a:r>
              <a:rPr lang="en-US" sz="2000" b="1" dirty="0" err="1">
                <a:solidFill>
                  <a:schemeClr val="tx1"/>
                </a:solidFill>
              </a:rPr>
              <a:t>Digvijaysinh</a:t>
            </a:r>
            <a:r>
              <a:rPr lang="en-US" sz="2000" b="1" dirty="0">
                <a:solidFill>
                  <a:schemeClr val="tx1"/>
                </a:solidFill>
              </a:rPr>
              <a:t> Rathod</a:t>
            </a:r>
          </a:p>
          <a:p>
            <a:r>
              <a:rPr lang="en-US" sz="2000" b="1" dirty="0">
                <a:solidFill>
                  <a:schemeClr val="tx1"/>
                </a:solidFill>
              </a:rPr>
              <a:t>Associate Professor </a:t>
            </a:r>
            <a:r>
              <a:rPr lang="en-IN" altLang="en-US" sz="2000" b="1" dirty="0">
                <a:solidFill>
                  <a:schemeClr val="tx1"/>
                </a:solidFill>
              </a:rPr>
              <a:t>&amp; Associate Dean</a:t>
            </a:r>
            <a:r>
              <a:rPr lang="en-US" sz="2000" b="1" dirty="0">
                <a:solidFill>
                  <a:schemeClr val="tx1"/>
                </a:solidFill>
              </a:rPr>
              <a:t> </a:t>
            </a:r>
          </a:p>
          <a:p>
            <a:r>
              <a:rPr lang="en-IN" altLang="en-US" sz="2000" b="1" dirty="0">
                <a:solidFill>
                  <a:schemeClr val="tx1"/>
                </a:solidFill>
              </a:rPr>
              <a:t>School of Cyber Security and Digital Forensics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National Forensic Sciences University with status of Institution of National Importance 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>
              <a:latin typeface="Calibri" panose="020F0502020204030204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digvijay.rathod@gfsu.edu.in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28860" y="1928802"/>
            <a:ext cx="4909738" cy="3000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9882" y="-5152"/>
            <a:ext cx="3667125" cy="124777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9" y="1890612"/>
            <a:ext cx="8546121" cy="904368"/>
          </a:xfrm>
        </p:spPr>
        <p:txBody>
          <a:bodyPr>
            <a:noAutofit/>
          </a:bodyPr>
          <a:lstStyle/>
          <a:p>
            <a:r>
              <a:rPr lang="en-US"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Android partition layout</a:t>
            </a:r>
          </a:p>
          <a:p>
            <a:r>
              <a:rPr lang="en-IN" altLang="en-US"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</a:p>
          <a:p>
            <a:r>
              <a:rPr lang="en-IN" altLang="en-US"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Android file hierarchy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partition layout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5276" y="581374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partition layout varies between vendors and versions. 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However, a few partitions are present in all the Android devices.</a:t>
            </a:r>
          </a:p>
          <a:p>
            <a:pPr lvl="1" algn="just">
              <a:lnSpc>
                <a:spcPct val="150000"/>
              </a:lnSpc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partition layout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5276" y="581374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Boot Loader :</a:t>
            </a:r>
          </a:p>
          <a:p>
            <a:pPr marL="1428750" lvl="2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partition stores the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phone's boot loader program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1428750" lvl="2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program takes care of initializing the </a:t>
            </a:r>
            <a:r>
              <a:rPr lang="en-US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lowlevel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hardware when the phone boots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1428750" lvl="2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Thus, it is responsible for booting the Android kernel and booting into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other boot modes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such as the recovery mode, download mode, and so on.</a:t>
            </a:r>
          </a:p>
          <a:p>
            <a:pPr marL="1428750" lvl="2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partition layout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5276" y="581374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</a:p>
          <a:p>
            <a:pPr marL="1428750" lvl="2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 the name suggests, this partition has the information and files required for the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phone to boot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1428750" lvl="2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</a:t>
            </a:r>
            <a:r>
              <a:rPr lang="en-US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contains the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kernel and RAM disk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So, without this partition, the phone cannot start its processes.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partition layout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5276" y="581374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recovery</a:t>
            </a:r>
          </a:p>
          <a:p>
            <a:pPr marL="1428750" lvl="2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Recovery partition allows the device to boot into the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recovery console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through which activities such 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 phone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updates and other maintenance operations are performed.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1428750" lvl="2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 this purpose, a minimal Android boot image is stored.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partition layout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5276" y="581374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Userdata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28750" lvl="2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partition is usually called the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partition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is the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device's internal storage for application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data. </a:t>
            </a:r>
          </a:p>
          <a:p>
            <a:pPr marL="1428750" lvl="2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bulk of user data is stored here, and this is where most of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forensic evidence will reside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1428750" lvl="2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stores all app data and standard communications as well.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partition layout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5276" y="581374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</a:t>
            </a:r>
          </a:p>
          <a:p>
            <a:pPr marL="1428750" lvl="2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 the major components other than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kernel and RAM disk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 present here. </a:t>
            </a:r>
          </a:p>
          <a:p>
            <a:pPr marL="1428750" lvl="2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Android system image here contains the Android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framework, libraries, system binaries, and preinstalled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applications.</a:t>
            </a:r>
          </a:p>
          <a:p>
            <a:pPr marL="1428750" lvl="2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Without this partition, the device cannot boot into normal mode.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partition layout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5276" y="581374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Cache</a:t>
            </a:r>
          </a:p>
          <a:p>
            <a:pPr marL="1428750" lvl="2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partition is used to store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frequently accessed data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various other files, such as recovery logs</a:t>
            </a:r>
          </a:p>
          <a:p>
            <a:pPr marL="1428750" lvl="2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update packages downloaded over the cellular network.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partition layout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5276" y="581374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Radio</a:t>
            </a:r>
          </a:p>
          <a:p>
            <a:pPr marL="1428750" lvl="2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Devices with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telephony capabilities have a baseband image stored in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partition that takes care of various telephony activities.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partition layout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5276" y="581374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adb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shell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root@android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cat proc/partition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root@android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cat /proc/mounts </a:t>
            </a:r>
          </a:p>
          <a:p>
            <a:pPr lvl="1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 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root@android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cat /proc/mounts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cat /proc/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mtd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Identifying partition layout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5276" y="581374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Using df lists the filesystem path alias and size info as seen below (total size, used, free and block size)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root@android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df</a:t>
            </a:r>
          </a:p>
          <a:p>
            <a:pPr lvl="1" algn="just">
              <a:lnSpc>
                <a:spcPct val="150000"/>
              </a:lnSpc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Filesystem path alias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506" y="551833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7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You get the mapping between the partition alias and the path of actual partition file (you also get the owner, their user group, </a:t>
            </a:r>
            <a:r>
              <a:rPr lang="en-US" sz="27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r>
              <a:rPr lang="en-US" sz="27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7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root@android</a:t>
            </a:r>
            <a:r>
              <a:rPr lang="en-US" sz="27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lvl="1" algn="just"/>
            <a:r>
              <a:rPr lang="en-US" sz="27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ls -al /dev/block/platform/msm_sdcc.1/by-name</a:t>
            </a:r>
          </a:p>
          <a:p>
            <a:pPr lvl="1"/>
            <a:r>
              <a:rPr lang="en-US" sz="2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</a:t>
            </a:r>
          </a:p>
          <a:p>
            <a:pPr marL="914400" lvl="1" indent="-457200" algn="l">
              <a:buFont typeface="Wingdings" panose="05000000000000000000" pitchFamily="2" charset="2"/>
              <a:buChar char="ü"/>
            </a:pPr>
            <a:r>
              <a:rPr lang="en-US" sz="27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root@android</a:t>
            </a:r>
            <a:r>
              <a:rPr lang="en-US" sz="27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cat /proc/</a:t>
            </a:r>
            <a:r>
              <a:rPr lang="en-US" sz="27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emmc</a:t>
            </a:r>
            <a:endParaRPr lang="en-US" sz="27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7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cat /proc/</a:t>
            </a:r>
            <a:r>
              <a:rPr lang="en-US" sz="27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dumchar_info</a:t>
            </a:r>
            <a:endParaRPr lang="en-US" sz="27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7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root@android</a:t>
            </a:r>
            <a:r>
              <a:rPr lang="en-US" sz="27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cat  /dev/block/</a:t>
            </a:r>
            <a:r>
              <a:rPr lang="en-US" sz="27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plateform</a:t>
            </a:r>
            <a:r>
              <a:rPr lang="en-US" sz="27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27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dw_mmc</a:t>
            </a:r>
            <a:endParaRPr lang="en-US" sz="27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sz="27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 mapping between the partition alias and the path of actual partition file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  <p:sp>
        <p:nvSpPr>
          <p:cNvPr id="2" name="Rectangle 1"/>
          <p:cNvSpPr/>
          <p:nvPr/>
        </p:nvSpPr>
        <p:spPr>
          <a:xfrm>
            <a:off x="386284" y="6192863"/>
            <a:ext cx="8546121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1500" dirty="0"/>
              <a:t>https://android.stackexchange.com/questions/5232/how-can-i-view-the-android-internal-partition-table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401" y="381349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root@android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ls -l $(find /dev/block -name by-name) 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will cover all possible paths (which of course varies for other devices) 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busybox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fdisk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[the various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fdisk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options...]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sv-SE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busybox fdisk -l /dev/block/sda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busybox you can find it in the /proc 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BusyBox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is a software suite that provides several Unix utilities in a single executable file.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 mapping between the partition alias and the path of actual partition file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5276" y="581374"/>
            <a:ext cx="8546121" cy="5467320"/>
          </a:xfrm>
        </p:spPr>
        <p:txBody>
          <a:bodyPr>
            <a:noAutofit/>
          </a:bodyPr>
          <a:lstStyle/>
          <a:p>
            <a:pPr lvl="1">
              <a:lnSpc>
                <a:spcPct val="150000"/>
              </a:lnSpc>
            </a:pPr>
            <a:r>
              <a:rPr lang="en-IN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Practical </a:t>
            </a:r>
            <a:endParaRPr lang="en-US" sz="5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 mapping between the partition alias and the path of actual partition file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791192"/>
          </a:xfrm>
        </p:spPr>
        <p:txBody>
          <a:bodyPr>
            <a:normAutofit fontScale="85000" lnSpcReduction="20000"/>
          </a:bodyPr>
          <a:lstStyle/>
          <a:p>
            <a:endParaRPr lang="en-IN" sz="4800" b="1" dirty="0">
              <a:solidFill>
                <a:schemeClr val="tx1"/>
              </a:solidFill>
            </a:endParaRPr>
          </a:p>
          <a:p>
            <a:r>
              <a:rPr lang="en-IN" sz="4200" b="1" dirty="0">
                <a:solidFill>
                  <a:schemeClr val="tx1"/>
                </a:solidFill>
              </a:rPr>
              <a:t>Mobile Phone Security and Forensics</a:t>
            </a: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Dr. </a:t>
            </a:r>
            <a:r>
              <a:rPr lang="en-US" sz="2000" b="1" dirty="0" err="1">
                <a:solidFill>
                  <a:schemeClr val="tx1"/>
                </a:solidFill>
              </a:rPr>
              <a:t>Digvijaysinh</a:t>
            </a:r>
            <a:r>
              <a:rPr lang="en-US" sz="2000" b="1" dirty="0">
                <a:solidFill>
                  <a:schemeClr val="tx1"/>
                </a:solidFill>
              </a:rPr>
              <a:t> Rathod</a:t>
            </a:r>
          </a:p>
          <a:p>
            <a:r>
              <a:rPr lang="en-US" sz="2000" b="1" dirty="0">
                <a:solidFill>
                  <a:schemeClr val="tx1"/>
                </a:solidFill>
              </a:rPr>
              <a:t>Associate Professor </a:t>
            </a:r>
            <a:r>
              <a:rPr lang="en-IN" altLang="en-US" sz="2000" b="1" dirty="0">
                <a:solidFill>
                  <a:schemeClr val="tx1"/>
                </a:solidFill>
              </a:rPr>
              <a:t>&amp; Associate Dean</a:t>
            </a:r>
            <a:r>
              <a:rPr lang="en-US" sz="2000" b="1" dirty="0">
                <a:solidFill>
                  <a:schemeClr val="tx1"/>
                </a:solidFill>
              </a:rPr>
              <a:t> </a:t>
            </a:r>
          </a:p>
          <a:p>
            <a:r>
              <a:rPr lang="en-IN" altLang="en-US" sz="2000" b="1" dirty="0">
                <a:solidFill>
                  <a:schemeClr val="tx1"/>
                </a:solidFill>
              </a:rPr>
              <a:t>School of Cyber Security and Digital Forensics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National Forensic Sciences University with status of Institution of National Importance 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>
              <a:latin typeface="Calibri" panose="020F0502020204030204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digvijay.rathod@gfsu.edu.in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28860" y="1928802"/>
            <a:ext cx="4909738" cy="3000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9882" y="-5152"/>
            <a:ext cx="3667125" cy="124777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704</Words>
  <Application>Microsoft Office PowerPoint</Application>
  <PresentationFormat>On-screen Show (4:3)</PresentationFormat>
  <Paragraphs>117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digvijay</dc:creator>
  <cp:lastModifiedBy>Windows User</cp:lastModifiedBy>
  <cp:revision>785</cp:revision>
  <dcterms:created xsi:type="dcterms:W3CDTF">2018-03-30T10:15:00Z</dcterms:created>
  <dcterms:modified xsi:type="dcterms:W3CDTF">2021-11-11T05:54:18Z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1033-11.2.0.9718</vt:lpwstr>
  </property>
</Properties>
</file>