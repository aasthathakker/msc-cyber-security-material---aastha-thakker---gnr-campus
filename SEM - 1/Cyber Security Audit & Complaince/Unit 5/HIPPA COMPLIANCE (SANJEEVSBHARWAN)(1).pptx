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464"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
<Relationship Id="rId8" Type="http://schemas.openxmlformats.org/officeDocument/2006/relationships/presProps" Target="presProps.xml"/>
<Relationship Id="rId7" Type="http://schemas.openxmlformats.org/officeDocument/2006/relationships/notesMaster" Target="notesMasters/notesMaster1.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 Id="rId9" Type="http://schemas.openxmlformats.org/officeDocument/2006/relationships/viewProps" Target="viewProps.xml"/>
<Relationship Id="rId20" Type="http://schemas.openxmlformats.org/officeDocument/2006/relationships/slide" Target="slides/slide1.xml"></Relationship>
<Relationship Id="rId21" Type="http://schemas.openxmlformats.org/officeDocument/2006/relationships/slide" Target="slides/slide2.xml"></Relationship>
<Relationship Id="rId22" Type="http://schemas.openxmlformats.org/officeDocument/2006/relationships/slide" Target="slides/slide3.xml"></Relationship>
<Relationship Id="rId23" Type="http://schemas.openxmlformats.org/officeDocument/2006/relationships/slide" Target="slides/slide4.xml"></Relationship>
<Relationship Id="rId24" Type="http://schemas.openxmlformats.org/officeDocument/2006/relationships/slide" Target="slides/slide5.xml"></Relationship>
<Relationship Id="rId25" Type="http://schemas.openxmlformats.org/officeDocument/2006/relationships/slide" Target="slides/slide6.xml"></Relationship>
<Relationship Id="rId26" Type="http://schemas.openxmlformats.org/officeDocument/2006/relationships/slide" Target="slides/slide7.xml"></Relationship>
<Relationship Id="rId27" Type="http://schemas.openxmlformats.org/officeDocument/2006/relationships/slide" Target="slides/slide8.xml"></Relationship>
<Relationship Id="rId28" Type="http://schemas.openxmlformats.org/officeDocument/2006/relationships/slide" Target="slides/slide9.xml"></Relationship>
<Relationship Id="rId29" Type="http://schemas.openxmlformats.org/officeDocument/2006/relationships/slide" Target="slides/slide10.xml"></Relationship>
<Relationship Id="rId30" Type="http://schemas.openxmlformats.org/officeDocument/2006/relationships/slide" Target="slides/slide11.xml"></Relationship>
<Relationship Id="rId31" Type="http://schemas.openxmlformats.org/officeDocument/2006/relationships/slide" Target="slides/slide12.xml"></Relationship>
<Relationship Id="rId32" Type="http://schemas.openxmlformats.org/officeDocument/2006/relationships/slide" Target="slides/slide13.xml"></Relationship>
<Relationship Id="rId33" Type="http://schemas.openxmlformats.org/officeDocument/2006/relationships/slide" Target="slides/slide14.xml"></Relationship>
<Relationship Id="rId34" Type="http://schemas.openxmlformats.org/officeDocument/2006/relationships/slide" Target="slides/slide15.xml"></Relationship>
<Relationship Id="rId35" Type="http://schemas.openxmlformats.org/officeDocument/2006/relationships/slide" Target="slides/slide16.xml"></Relationship>
<Relationship Id="rId36" Type="http://schemas.openxmlformats.org/officeDocument/2006/relationships/slide" Target="slides/slide17.xml"></Relationship>
<Relationship Id="rId37" Type="http://schemas.openxmlformats.org/officeDocument/2006/relationships/slide" Target="slides/slide18.xml"></Relationship>
<Relationship Id="rId38" Type="http://schemas.openxmlformats.org/officeDocument/2006/relationships/slide" Target="slides/slide19.xml"></Relationship>
<Relationship Id="rId39" Type="http://schemas.openxmlformats.org/officeDocument/2006/relationships/slide" Target="slides/slide20.xml"></Relationship>
<Relationship Id="rId40" Type="http://schemas.openxmlformats.org/officeDocument/2006/relationships/slide" Target="slides/slide21.xml"></Relationship>
<Relationship Id="rId41" Type="http://schemas.openxmlformats.org/officeDocument/2006/relationships/slide" Target="slides/slide22.xml"></Relationship>
<Relationship Id="rId42" Type="http://schemas.openxmlformats.org/officeDocument/2006/relationships/slide" Target="slides/slide23.xml"></Relationship>
<Relationship Id="rId43" Type="http://schemas.openxmlformats.org/officeDocument/2006/relationships/slide" Target="slides/slide24.xml"></Relationship>
<Relationship Id="rId44" Type="http://schemas.openxmlformats.org/officeDocument/2006/relationships/slide" Target="slides/slide25.xml"></Relationship>
<Relationship Id="rId45" Type="http://schemas.openxmlformats.org/officeDocument/2006/relationships/slide" Target="slides/slide26.xml"></Relationship>
<Relationship Id="rId46" Type="http://schemas.openxmlformats.org/officeDocument/2006/relationships/slide" Target="slides/slide27.xml"></Relationship>
<Relationship Id="rId47" Type="http://schemas.openxmlformats.org/officeDocument/2006/relationships/slide" Target="slides/slide28.xml"></Relationship>
<Relationship Id="rId48" Type="http://schemas.openxmlformats.org/officeDocument/2006/relationships/slide" Target="slides/slide29.xml"></Relationship>
<Relationship Id="rId49" Type="http://schemas.openxmlformats.org/officeDocument/2006/relationships/slide" Target="slides/slide30.xml"></Relationship>
<Relationship Id="rId50" Type="http://schemas.openxmlformats.org/officeDocument/2006/relationships/slide" Target="slides/slide31.xml"></Relationship>
<Relationship Id="rId51" Type="http://schemas.openxmlformats.org/officeDocument/2006/relationships/slide" Target="slides/slide32.xml"></Relationship>
<Relationship Id="rId52" Type="http://schemas.openxmlformats.org/officeDocument/2006/relationships/slide" Target="slides/slide33.xml"></Relationship>
<Relationship Id="rId53" Type="http://schemas.openxmlformats.org/officeDocument/2006/relationships/slide" Target="slides/slide34.xml"></Relationship>
<Relationship Id="rId54" Type="http://schemas.openxmlformats.org/officeDocument/2006/relationships/slide" Target="slides/slide35.xml"></Relationship>
<Relationship Id="rId55" Type="http://schemas.openxmlformats.org/officeDocument/2006/relationships/slide" Target="slides/slide36.xml"></Relationship>
<Relationship Id="rId56" Type="http://schemas.openxmlformats.org/officeDocument/2006/relationships/slide" Target="slides/slide37.xml"></Relationship>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EE149A-8BF3-4D80-894F-A4378D5ECBC0}" type="datetimeFigureOut">
              <a:rPr lang="en-US" smtClean="0"/>
              <a:t>1/15/2016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7D0178-0DE8-4212-99EA-1C8819ECD4A3}" type="slidenum">
              <a:rPr lang="en-US" smtClean="0"/>
              <a:t>‹#›</a:t>
            </a:fld>
            <a:endParaRPr lang="en-US"/>
          </a:p>
        </p:txBody>
      </p:sp>
    </p:spTree>
    <p:extLst>
      <p:ext uri="{BB962C8B-B14F-4D97-AF65-F5344CB8AC3E}">
        <p14:creationId xmlns:p14="http://schemas.microsoft.com/office/powerpoint/2010/main" val="1572439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HIPPA COMPLIANCE
Health Insurance Portability and Accountability Act
By: Sanjeev . Singh .Bharwan</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HIPPA IN A NUTSHELL
ïµ HIPAA stands for Health Insurance Portability and Accountability Act. Passed in
1996 HIPAA is a federal law that sets a national standard to protect medical
records and other personal health information.
ïµ The rule defines &amp;protected health information&amp; as health information that: 1.
Identifies an individual and 2. Is maintained or exchanged electronically or in
hard copy.
ïµ If the information has any components that could be used to identify a person,
it would be protected. The protection would stay with the information as long
as the information is in the hands of a covered entity or a business associate.
ïµ The protections apply to individually identifiable information in any form,
electronic or non-electronic. The paper progeny of electronic information is
covered (i.e. the information would not lose its protections simply because it is
printed out of a computer), and oral communications are also covered.</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HIPPA CARES
ïµ Standardization and efficacy of PHI and its prevention from fraud.
ïµ How personal information is to be secured.
ïµ National set of security standard and how to transfer information in
electronic form.
ïµ Standardization of electronic data
ïµ Specific transactions in codes only
ïµ Security of electronic signature
ïµ HIPPA implication depends on size of entity
ïµ Covered entity should regularly and periodically evaluate the process in
the risk.</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PHI
ïµ WHAT must a covered entity do to keep it secure?
ïµ Take care of any information of patient history which includes any past
present or future information be it relates to patients physical or mental
health.
ïµ PHI may include information like Doctors visit, health chart, payment to
health agency, health care claims attachment, enrollment information,
eligibility or even the premium for health plant..
ïµ Privacy and security rules allows info share by one physician to another to
take advise on patient treatment or health only requirement is that the
covered entity need to maintain physical, admin and security measures to
take care of PHI.
ïµ Admin safe guard for PHI safety should be in place like office rule and
procedures regarding PHIs, technical and physical safeguard is a plus.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PRIVACY AND RULES
The HIPAA Privacy Rule for the first time creates national standards to
protect individuals medical records and other personal health I
nformation.
ïµ It gives patients more control over their health information.
ïµ It sets boundaries on the use and release of health records.
ïµ It establishes appropriate safeguards that health care providers and others
must achieve to protect the privacy of health information.
ïµ It holds violators accountable, with civil and criminal penalties that can be
imposed if they violate patients privacy rights.
ïµ And it strikes a balance when public responsibility supports disclosure of
some forms of data  for example, to protect public health.</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EMPLOYMENT RECORDS
ïµ The Privacy Rule does not protect your employment records, even if the
information in those records is health-related. In most cases, the Privacy
Rule does not apply to the actions of an employer.
ïµ If you work for a health plan or a covered health care provider:
ïµ The Privacy Rule does not apply to your employment records.
ïµ The Rule does protect your medical or health plan records if you are a
patient of the provider or a member of the health plan.</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COURT ORDER &amp; SUBPOENA
ïµ A HIPAA-covered health care provider or health plan may share your protected
health information if it has a court order. This includes the order of an
administrative tribunal. However, the provider or plan may only disclose the
information specifically described in the order.
ïµ A subpoena issued by someone other than a judge, such as a court clerk or an
attorney in a case, is different from a court order.
ïµ A HIPAA-covered provider or plan may disclose information to a party issuing a
subpoena only if the notification requirements of the Privacy Rule are met.
Before responding to the subpoena, the provider or plan should receive
evidence that there were reasonable efforts to:
ïµ Notify the person who is the subject of the information about the request, so
the person has a chance to object to the disclosure, or
ïµ Seek a qualified protective order for the information from the court.</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YOUR RIGHT OF HIPAA NOTICE?
ïµ Your health care provider and health plan must give you a notice that tells
you how they may use and share your health information.
ïµ It must also include your health privacy rights.
ïµ In most cases, you should receive the notice on your first visit to a
provider or in the mail from your health plan.
ïµ You can also ask for a copy at any time.</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PERSONAL REPRESENTATIVES
ïµ Generally, a HIPAA-covered health care provider or health plan must allow
your personal representative to inspect and receive a copy of protected
health information about you that they maintain</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HEALTH INFORMATION IN WORKPLACE
ïµ The Privacy Rule controls how a health plan or a covered health care
provider shares your protected health information with an employer.</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CAN PHI BE DISCLOSED FOR PUBLIC HEALTH
CONCERNS?
ïµ IN GEN YES
ïµ Information like birth, death and any information which can impact public
health may be divulged.
ïµ Food and Drug history to the extent it is required.
ïµ Center for disease control and prevention may ask for certain information.
ïµ Occupational safety and health authority may ask for certain information
for controlling and preventing diseases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CAN PHI BE DISCLOSURED FOR PUBLIC
HEALTH CONCERNS?
ïµ Not all PHI can be disclosed if regarding birth and death only then name can be
disclosed and all other medical conditions cant be shared
ïµ Foreign govt. Authority acting in collaboration with state agency may also ask
for certain information.
ïµ Covered entity must reasonably restrict PHII to min and necessary required
information.
ïµ Covered agency may develop there standard protocol that how much
information may be asked for.
ïµ PHI for HIV covered patient may be required to name in the public health
policy and name of the partners of those infected may also be sought
ïµ HIV information may be shared with other health care provider to the extent it
is required for the benefit of public at large or for patients health</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PERSONAL RIGHTS REGARDING PHI
ïµ Patient can see copy of his medical records that covered entity keeps.
ïµ They can request any inaccurate PHI to be corrected.
ïµ Written statement can also be submitted by the Patient to correct or add
any relevant information in the current PHI.
ïµ Patient PHI should not to disclose for payment or health care operation if
he or she is paying for the full service cost to which PHI relates.
ïµ Patient can ask for copy of medical record.
ïµ May not be allowed to see certain information but may ask for correction
of inaccurate records.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APPLICABILITY
ïµ HIPAA applies to PHI (Protected Health Information).
ïµ PHI Informations are those information that identifies who the health-
related information belongs to. I.e. names, email addresses, phone
numbers, medical record numbers, photos, drivers license numbers, etc.
ïµ
For an example if you have something that can identify a user together
with health information of any kind (from an appointment, to a list
of prescriptions, to test results, to a list of doctors) you have PHI that
needs to be protected as per HIPAA regulations.
ïµ
When PHI is stored in and or by way of electronic mode we call it ePHI for
example email, text message, web site, database, online document</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TERMS (Required or Addressable)
ïµ The HIPAA uses two primary terms required and addressable.
ïµ Required (R) means that the given standard is mandatory and, therefore,
must be complied with.
ïµ Addressable (A) means that the given standards must be implemented by
the organization unless assessments analysis conclude that
implementation is not reasonable and appropriate specific to a given
business setting.
ïµ It would be wrong if we construe the term Addressable as optional.</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Goal of HIPA
ïµ The Goal of HIPPA can broadly be classified and catered under three categories
namely Administrative, Physical and Technical.
ïµ Administrative Class  to create policies and procedures designed to clearly
show how the entity will
comply with the act.
ïµ Physical Class  to control physical access to areas of data storage to protect
against inappropriate access
ïµ Technical Class to protect communications containing PHI when transmitted
electronically over open
networks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 Health Application and Access to
PHI
ïµ Health plans: With certain exceptions, an individual or group plan that
provides or pays the cost of medical care.
ïµ Health care clearinghouses: An entity that either process or facilitates the
processing of health information from various organizations. I.e. to reformat
or process the data into standard formats.
ïµ
Health care providers: Care, services, or supplies related to the health of an
individual, including (1) preventive, diagnostic, therapeutic, rehabilitative,
maintenance, or palliative care, and counseling, service, assessment, or
procedure with respect to the physical or mental condition, or functional
status, of an individual that affects the structure or function of the body; and
(2) sale or dispensing of a drug, device, equipment, or other item in
accordance with a prescription.</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Risk Analysis Required Perform and document a risk
analysis to see where PHI is
being used and stored and to
determine what all possible
ways HIPAA could be violated
are.
Penetration test, vulnerability
assessment</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Risk Management: Required Implement measures
sufficient to reduce
these risks to an
appropriate level.
SIM/SEM, patch management, vulnerability
management, asset management, helpdesk
3. Sanction Policy: Required Implement
sanction policies for
employees who fail to
comply.
Security policy document management</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Information Systems
Activity Reviews:
Required Regularly review system
activity, logs, audit trails,
etc.
Log aggregation, log
analysis, security event
management, host IDS
Officers: Required Designate HIPAA Security
and Privacy Officers
Officer actively looking
into the matter</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Employee Oversight: Addressable Implement procedures to
authorize and supervise
employees who work with PHI,
and for granting and removing
PHI access to
employees. Ensure that an
employees access to PHI ends
with termination of
employment.
Active task to be taken care at
regular interval, at the time of
change in responsibility or
termination of the employment</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Multiple Organizations: Required Ensure that PHI is not
accessed by parent or partner
organizations or
subcontractors that are not
authorized for access.
This is an area which need to
be taken care primarily into
IT sector as the role of
subsidiary and/or parent
companies are mixed while
delivering the services at
various jurisdictions.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ePHI Access: Addressable Implement procedures for
granting access to ePHI and
which document access to
ePHI or to services and
systems which grant access to
ePHI.
A clear policy regarding what
type of PHI can be put under
ePHI.</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9. Security Reminders: Addressable Periodically send updates and
reminders of security and privacy
policies to employees.
Sign-on screen, screen savers,
monthly memos, e-mail, banners,
test etc should be taken on regular
intervals to sensitize the employee
in this regard
10. Protection against Malware: Addressable Have procedures for guarding
against, detecting, and reporting
malicious software.
Safe drive and malware protection
should be in place as per the
requirements
11. Login Monitoring: Addressable Institute monitoring of logins to
systems and reporting of
discrepancies.
Login should be accessed through
the assigned person only within the
allotted time and not otherwise.
12. Password Management: Addressable Ensure there are procedures for
creating, changing, and protecting
passwords.
Password policies should be in
place, regular monitoring and
change in password on regular
interval should be part of the
process.
13. Response and Reporting: Required Identify, document, and respond to
security incidents.
Security alert team and procedure
should be in place.</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14. Contingency Plans: Required Ensure there are accessible backups of
ePHI and that there are procedures for
restore any lost data.
Data Backup Plan (required)  Make sure
there are ways to retrieve copies of ePHI in
case of a breach or malfunction.
Disaster Recovery Plan (required)  Create
plans around restoring any lost data.
Emergency Mode Operation Plan (required) 
Establish how to continue critical business
operations while protecting the privacy of
ePHI in emergency conditions.
Testing and Revision Procedures
(addressable)  Be able to periodically test
and revise contingency plans.
Applications and Data Criticality Analysis
(addressable)  Implement procedures to
assess the relative importance of specific
data and applications as part of contingency
plans.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15. Contingency Plans Updates and
Analysis:
Addressable Have procedures for periodic testing
and revision of contingency
plans. Assess the relative criticality
of specific applications and data in
support of other contingency plan
components.
This activity should be part of risk
analysis of the team.
16. Emergency Mode: Required Establish procedures to enable
continuation of critical business
processes for protection of the
security of electronic protected
health information while operating in
emergency mode.
This activity should be part of risk
analysis of the team.</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Administrative
HIPAA Security Rule
Standard Implementation
Specification
Implementation Requirement Description Solution
17. Evaluations: Required Perform periodic evaluations to see if
any changes in your business or the
law require changes to your HIPAA
compliance procedures.
Periodic analysis is required
18. Business Associate Agreements: Required Have special Omnibus-compliant
contracts with business partners who
will have access to your PHI to ensure
that they will be compliant. Choose
partners that have similar agreements
with any of their partners to which
they are also extending access.
Specific data protection agreement in
line with HIPPA requirement is to be
executed with Business Associate
Agreements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Physical Requirements
HIPAA Security Rule Standard
Implementation
Specification
Implementation Requirement Description Solution
1. Contingency Operations: Addressable Establish procedures that allow facility
access in support of restoration of lost
data under the disaster recovery plan
and emergency mode operations plan
in the event of an emergency.
Action plan is to be updated as per the
requirement of the Industry and
persons involved and having access to
PHI.</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Physical Requirements
HIPAA Security Rule
Standard Implementation
Specification
Implementation Requirement Description Solution
2. Facility Security: Addressable Implement policies and procedures to
safeguard the facility and the
equipment therein from unauthorized
physical access, tampering, and
theft.
Contingency Operations (addressable)
 Establish procedures that enable
facility access and data restoration in
case of emergency.
Facility Security Plan (addressable) 
Establish procedures to safeguard the
facility and its equipment from
unauthorized access, tampering, and
theft.
Access Control and Validation
Procedures (addressable)  Implement
procedures to control and validate a
persons facility access, and
implement a way to control access to
software programs for testing.
Maintenance Records (addressable) 
Establish procedures to record repairs
and modifications to physical
components of the facility, like
doors, locks, or walls.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Physical Requirements
HIPAA Security Rule
Standard
Implementation
Specification
Implementation Requirement
Description
Solution
3. Access Control and
Validation:
Addressable Implement procedures to
control and validate a persons
access to facilities based on
their role or function, including
visitor control, and control of
access to software programs for
testing and revision.
Mandatory, discretionary and
role-based access control should
be given
4. Maintenance Records: Addressable Implement policies and
procedures to document repairs
and modifications to the
physical components of a
facility which are related to
security
Records are to be maintained
properly and a strict policy
should be in place</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Physical Requirements
HIPAA Security Rule
Standard Implementation
Specification
Implementation Requirement Description Solution
5. Workstations: Required Implement policies governing what
software can/must be run and how
it should be configured on systems
that provide access ePHI.
Safeguard all workstations providing
access to ePHI and restrict access
to authorized users.
Card readers, locks, biometrics,
tokens, hardware cables, proximity
tokens, locking screen savers
6. Devices and Media Disposal and
Re-use:
Required Create procedures for the secure
final disposal of media that contain
ePHI and for the reuse of devices
and media that could have been
used for ePHI.
Destruction, recycling
7. Media Movement: Addressable Record movements of hardware and
media associated with ePHI
storage. Create a retrievable,
exact copy of electronic protected
health information, when needed,
before movement of equipment.
Check and balance while moving
any media with ePHI</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Technical Requirements
HIPAA Security Rule
Standard Implementation
Specification
Implementation Requirement Description Solution
1. Unique User Identification: Required Assign a unique name and/or
number for identifying and
tracking user identity.
Directories, OS user directories,
ERP software, ID management
software, single sign-on,
metadirectories
2. Emergency Access: Required Establish procedures for obtaining
necessary electronic protected
health information during an
emergency.
3. Automatic Logoff: Addressable Implement electronic procedures
that terminate an electronic
session after a predetermined time
of inactivity.
Time-outs, proximity tokens,
scheduled access control</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Technical Requirements
HIPAA Security Rule
Standard Implementation
Specification
Implementation Requirement Description Solution
4. Encryption and Decryption: Addressable Implement a mechanism to encrypt
and decrypt electronic protected
health information when deemed
appropriate.
Mechanism to take care of the
information
5. Audit Controls: Required Implement hardware, software,
and/or procedural mechanisms that
record and examine activity in
information systems that contain or
use electronic protected health
information.
Log aggregation, log analysis,
security event management, host
IDS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HIPAA Technical Requirements
HIPAA Security Rule
Standard Implementation
Specification
Implementation Requirement Description Solution
6. ePHI Integrity: Addressable Implement policies and procedures
to Protect electronic protected
health information from improper
alteration or destruction.
Ipsec, VPN, S/MIME, PGP
7. Authentication: Required Implement procedures to verify
that a person or entity seeking
access to electronic protected
health information is the one
claimed.
SAML, PKI, ID management
software, single sign-on,
metadirectoreis, passwords,
authentication tokens, digital
certificates, biometrics
8. Transmission Security: Addressable Implement technical security
measures to guard against
unauthorized access to electronic
protected health information that
is transmitted over an electronic
communications network.
Controls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Filing a Complaint
ïµ If you believe that a HIPAA-covered entity or its business associate violated
your (or someone elses) health information privacy rights or committed
another violation of the Privacy, Security, or Breach Notification Rules,
you may file a complaint with the Office for Civil Rights (OCR).
ïµ OCR can investigate complaints against covered entities (health plans,
health care clearinghouses, or health care providers that conduct certain
transactions electronically) and their business associates.</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PENALTIES / ALARM
ïµ In case of any breach of HIPPA rules report to supervision or personal
responsible for HIPPA policy
ïµ Breach must be notified to the affected individuals
ïµ Business associate must notify covered entity when breach occurred
ïµ Covered agency must notify affected individual also in written for any
breach by 1st class mail or by email if he agreed to receive such
information by an email.
ïµ Such information may be conveyed to the affected person within a period
of 60 days
ïµ Such information must include to the extent a fair discerption of such
breach, steps to be taken care by affected and what is done by the
covered agency to take care of breach further.</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PENALTIES / ALARM
ïµ Covered agency should post the matter on official website for 90 days or in
the media where the affected individual resides if the whereabouts of the
individuals are not known to the Covered Agency.
ïµ Any such breach may also be conveyed on phone to the affected person
ïµ Both Civil and Criminal penalties may be the result of any HIPPA breach.
ïµ Under Civil penalty 100 to 50000 dollars may be imposed which may go up
to max of 1.5 million dollar per year
ïµ Under Criminal jurisprudence Dollar 250000 fine and 10 years for
intentional breach of any PHI please note that higher penalties may be
imposed if such breaches are done to procure some wrongful financial
gains
ïµ Common laws suit under torts may also be filed.</a:t>
            </a:r>
          </a:p>
          <a:p>
            <a:endParaRPr lang="en-US" dirty="0"/>
          </a:p>
        </p:txBody>
      </p:sp>
      <p:sp>
        <p:nvSpPr>
          <p:cNvPr id="4" name="Slide Number Placeholder 3"/>
          <p:cNvSpPr>
            <a:spLocks noGrp="1"/>
          </p:cNvSpPr>
          <p:nvPr>
            <p:ph type="sldNum" sz="quarter" idx="10"/>
          </p:nvPr>
        </p:nvSpPr>
        <p:spPr/>
        <p:txBody>
          <a:bodyPr/>
          <a:lstStyle/>
          <a:p>
            <a:fld id="{0D7D0178-0DE8-4212-99EA-1C8819ECD4A3}" type="slidenum">
              <a:rPr lang="en-US" smtClean="0"/>
              <a:t>2</a:t>
            </a:fld>
            <a:endParaRPr lang="en-US"/>
          </a:p>
        </p:txBody>
      </p:sp>
    </p:spTree>
    <p:extLst>
      <p:ext uri="{BB962C8B-B14F-4D97-AF65-F5344CB8AC3E}">
        <p14:creationId xmlns:p14="http://schemas.microsoft.com/office/powerpoint/2010/main" val="4171112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774880-D409-4A04-B6A2-518D5CE13B6A}"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969604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774880-D409-4A04-B6A2-518D5CE13B6A}"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330586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774880-D409-4A04-B6A2-518D5CE13B6A}"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363972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4774880-D409-4A04-B6A2-518D5CE13B6A}" type="datetimeFigureOut">
              <a:rPr lang="en-US" smtClean="0"/>
              <a:t>1/15/2016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322955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774880-D409-4A04-B6A2-518D5CE13B6A}" type="datetimeFigureOut">
              <a:rPr lang="en-US" smtClean="0"/>
              <a:t>1/15/2016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2993217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4774880-D409-4A04-B6A2-518D5CE13B6A}" type="datetimeFigureOut">
              <a:rPr lang="en-US" smtClean="0"/>
              <a:t>1/15/2016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729175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774880-D409-4A04-B6A2-518D5CE13B6A}" type="datetimeFigureOut">
              <a:rPr lang="en-US" smtClean="0"/>
              <a:t>1/15/2016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4247483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774880-D409-4A04-B6A2-518D5CE13B6A}" type="datetimeFigureOut">
              <a:rPr lang="en-US" smtClean="0"/>
              <a:t>1/15/2016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1642465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774880-D409-4A04-B6A2-518D5CE13B6A}" type="datetimeFigureOut">
              <a:rPr lang="en-US" smtClean="0"/>
              <a:t>1/15/2016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3747413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774880-D409-4A04-B6A2-518D5CE13B6A}"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2599550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774880-D409-4A04-B6A2-518D5CE13B6A}"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C75B6-7196-4AA0-BD45-15921A6C4D70}" type="slidenum">
              <a:rPr lang="en-US" smtClean="0"/>
              <a:t>‹#›</a:t>
            </a:fld>
            <a:endParaRPr lang="en-US"/>
          </a:p>
        </p:txBody>
      </p:sp>
    </p:spTree>
    <p:extLst>
      <p:ext uri="{BB962C8B-B14F-4D97-AF65-F5344CB8AC3E}">
        <p14:creationId xmlns:p14="http://schemas.microsoft.com/office/powerpoint/2010/main" val="910976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774880-D409-4A04-B6A2-518D5CE13B6A}" type="datetimeFigureOut">
              <a:rPr lang="en-US" smtClean="0"/>
              <a:t>1/15/2016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C75B6-7196-4AA0-BD45-15921A6C4D70}" type="slidenum">
              <a:rPr lang="en-US" smtClean="0"/>
              <a:t>‹#›</a:t>
            </a:fld>
            <a:endParaRPr lang="en-US"/>
          </a:p>
        </p:txBody>
      </p:sp>
    </p:spTree>
    <p:extLst>
      <p:ext uri="{BB962C8B-B14F-4D97-AF65-F5344CB8AC3E}">
        <p14:creationId xmlns:p14="http://schemas.microsoft.com/office/powerpoint/2010/main" val="4030461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Relationship>
<Relationship Id="rId3" Type="http://schemas.openxmlformats.org/officeDocument/2006/relationships/image" Target="../media/01.jpeg"></Relationship>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Relationship>
<Relationship Id="rId3" Type="http://schemas.openxmlformats.org/officeDocument/2006/relationships/image" Target="../media/02.jpeg"></Relationship>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Relationship>
<Relationship Id="rId3" Type="http://schemas.openxmlformats.org/officeDocument/2006/relationships/image" Target="../media/03.jpeg"></Relationship>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Relationship>
<Relationship Id="rId3" Type="http://schemas.openxmlformats.org/officeDocument/2006/relationships/image" Target="../media/04.jpeg"></Relationship>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Relationship>
<Relationship Id="rId3" Type="http://schemas.openxmlformats.org/officeDocument/2006/relationships/image" Target="../media/05.jpeg"></Relationship>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Relationship>
<Relationship Id="rId3" Type="http://schemas.openxmlformats.org/officeDocument/2006/relationships/image" Target="../media/06.jpeg"></Relationship>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Relationship>
<Relationship Id="rId3" Type="http://schemas.openxmlformats.org/officeDocument/2006/relationships/image" Target="../media/07.jpeg"></Relationship>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Relationship>
<Relationship Id="rId3" Type="http://schemas.openxmlformats.org/officeDocument/2006/relationships/image" Target="../media/08.jpeg"></Relationship>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Relationship>
<Relationship Id="rId3" Type="http://schemas.openxmlformats.org/officeDocument/2006/relationships/image" Target="../media/09.jpeg"></Relationship>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Relationship>
<Relationship Id="rId3" Type="http://schemas.openxmlformats.org/officeDocument/2006/relationships/image" Target="../media/10.jpeg"></Relationship>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Relationship>
<Relationship Id="rId3" Type="http://schemas.openxmlformats.org/officeDocument/2006/relationships/image" Target="../media/11.jpeg"></Relationship>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Relationship>
<Relationship Id="rId3" Type="http://schemas.openxmlformats.org/officeDocument/2006/relationships/image" Target="../media/12.jpeg"></Relationship>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Relationship>
<Relationship Id="rId3" Type="http://schemas.openxmlformats.org/officeDocument/2006/relationships/image" Target="../media/13.jpeg"></Relationship>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Relationship>
<Relationship Id="rId3" Type="http://schemas.openxmlformats.org/officeDocument/2006/relationships/image" Target="../media/14.jpeg"></Relationship>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Relationship>
<Relationship Id="rId3" Type="http://schemas.openxmlformats.org/officeDocument/2006/relationships/image" Target="../media/15.jpeg"></Relationship>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Relationship>
<Relationship Id="rId3" Type="http://schemas.openxmlformats.org/officeDocument/2006/relationships/image" Target="../media/16.jpeg"></Relationship>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Relationship>
<Relationship Id="rId3" Type="http://schemas.openxmlformats.org/officeDocument/2006/relationships/image" Target="../media/17.jpeg"></Relationship>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Relationship>
<Relationship Id="rId3" Type="http://schemas.openxmlformats.org/officeDocument/2006/relationships/image" Target="../media/18.jpeg"></Relationship>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Relationship>
<Relationship Id="rId3" Type="http://schemas.openxmlformats.org/officeDocument/2006/relationships/image" Target="../media/19.jpeg"></Relationship>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Relationship>
<Relationship Id="rId3" Type="http://schemas.openxmlformats.org/officeDocument/2006/relationships/image" Target="../media/20.jpeg"></Relationship>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Relationship>
<Relationship Id="rId3" Type="http://schemas.openxmlformats.org/officeDocument/2006/relationships/image" Target="../media/21.jpeg"></Relationship>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Relationship>
<Relationship Id="rId3" Type="http://schemas.openxmlformats.org/officeDocument/2006/relationships/image" Target="../media/22.jpeg"></Relationship>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Relationship>
<Relationship Id="rId3" Type="http://schemas.openxmlformats.org/officeDocument/2006/relationships/image" Target="../media/23.jpeg"></Relationship>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Relationship>
<Relationship Id="rId3" Type="http://schemas.openxmlformats.org/officeDocument/2006/relationships/image" Target="../media/24.jpeg"></Relationship>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Relationship>
<Relationship Id="rId3" Type="http://schemas.openxmlformats.org/officeDocument/2006/relationships/image" Target="../media/25.jpeg"></Relationship>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Relationship>
<Relationship Id="rId3" Type="http://schemas.openxmlformats.org/officeDocument/2006/relationships/image" Target="../media/26.jpeg"></Relationship>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Relationship>
<Relationship Id="rId3" Type="http://schemas.openxmlformats.org/officeDocument/2006/relationships/image" Target="../media/27.jpeg"></Relationship>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Relationship>
<Relationship Id="rId3" Type="http://schemas.openxmlformats.org/officeDocument/2006/relationships/image" Target="../media/28.jpeg"></Relationship>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Relationship>
<Relationship Id="rId3" Type="http://schemas.openxmlformats.org/officeDocument/2006/relationships/image" Target="../media/29.jpeg"></Relationship>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Relationship>
<Relationship Id="rId3" Type="http://schemas.openxmlformats.org/officeDocument/2006/relationships/image" Target="../media/30.jpeg"></Relationship>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Relationship>
<Relationship Id="rId3" Type="http://schemas.openxmlformats.org/officeDocument/2006/relationships/image" Target="../media/31.jpeg"></Relationship>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Relationship>
<Relationship Id="rId3" Type="http://schemas.openxmlformats.org/officeDocument/2006/relationships/image" Target="../media/32.jpeg"></Relationship>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Relationship>
<Relationship Id="rId3" Type="http://schemas.openxmlformats.org/officeDocument/2006/relationships/image" Target="../media/33.jpeg"></Relationship>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Relationship>
<Relationship Id="rId3" Type="http://schemas.openxmlformats.org/officeDocument/2006/relationships/image" Target="../media/34.jpeg"></Relationship>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Relationship>
<Relationship Id="rId3" Type="http://schemas.openxmlformats.org/officeDocument/2006/relationships/image" Target="../media/35.jpeg"></Relationship>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Relationship>
<Relationship Id="rId3" Type="http://schemas.openxmlformats.org/officeDocument/2006/relationships/image" Target="../media/36.jpeg"></Relationship>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Relationship>
<Relationship Id="rId3" Type="http://schemas.openxmlformats.org/officeDocument/2006/relationships/image" Target="../media/37.jpeg"></Relationship>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heroyuy\Pictures\Gundam\81cfa85agw1ed76u9n4o7j20yk67ru0x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886"/>
            <a:ext cx="9144000" cy="68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97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TotalTime>
  <Words>16</Words>
  <Application>Microsoft Office PowerPoint</Application>
  <PresentationFormat>On-screen Show (4:3)</PresentationFormat>
  <Paragraphs>7</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gundam</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HIPPA COMPLIANCE (SANJEEVSBHARWAN)(1)</dc:title>
  <dc:creator>SlideShare Downloader</dc:creator>
  <cp:lastModifiedBy>SlideShare Downloader</cp:lastModifiedBy>
  <cp:revision>4</cp:revision>
  <dcterms:created xsi:type="dcterms:W3CDTF">2016-01-14T20:40:47Z</dcterms:created>
  <dcterms:modified xsi:type="dcterms:W3CDTF">2016-01-15T01:14:37Z</dcterms:modified>
  <cp:keywords>dragonsoft.weebly.com</cp:keywords>
</cp:coreProperties>
</file>