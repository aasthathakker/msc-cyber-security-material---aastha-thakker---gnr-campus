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57" r:id="rId2"/>
    <p:sldId id="408" r:id="rId3"/>
    <p:sldId id="601" r:id="rId4"/>
    <p:sldId id="613" r:id="rId5"/>
    <p:sldId id="614" r:id="rId6"/>
    <p:sldId id="615" r:id="rId7"/>
    <p:sldId id="612" r:id="rId8"/>
    <p:sldId id="616" r:id="rId9"/>
    <p:sldId id="608" r:id="rId10"/>
    <p:sldId id="617" r:id="rId11"/>
    <p:sldId id="618" r:id="rId12"/>
    <p:sldId id="619" r:id="rId13"/>
    <p:sldId id="62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48"/>
      </p:cViewPr>
      <p:guideLst>
        <p:guide orient="horz" pos="2145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source.android.com/devices/tech/dalvik/Dalvik-bytecode#instructions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(Cyber Security and Digital Forensics)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Institute of Forensic Science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National Forensic </a:t>
            </a:r>
            <a:r>
              <a:rPr lang="en-US" sz="2000" b="1">
                <a:solidFill>
                  <a:schemeClr val="tx1"/>
                </a:solidFill>
              </a:rPr>
              <a:t>Sciences University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3398" y="282668"/>
            <a:ext cx="8546121" cy="546732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De-Assembling and  Reverse Engineering </a:t>
            </a:r>
          </a:p>
          <a:p>
            <a:pPr lvl="1">
              <a:lnSpc>
                <a:spcPct val="150000"/>
              </a:lnSpc>
            </a:pPr>
            <a:r>
              <a:rPr lang="en-IN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</a:p>
          <a:p>
            <a:pPr lvl="1">
              <a:lnSpc>
                <a:spcPct val="150000"/>
              </a:lnSpc>
            </a:pPr>
            <a:r>
              <a:rPr lang="en-IN" altLang="en-US"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APKTools</a:t>
            </a:r>
            <a:endParaRPr lang="en-IN" alt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JDAX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Android applications are written in Java. Kotlin is also supported and interoperable with Java.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Instead of the Java code being run in Java Virtual Machine (JVM) like desktop applications, in Android, the Java is compiled to the Dalvik Executable (DEX) bytecode format.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earlier versions of Android, the bytecode was translated by the Dalvik virtual machine.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altLang="en-US" sz="2400" b="1" dirty="0">
                <a:sym typeface="+mn-ea"/>
              </a:rPr>
              <a:t>Dalvik &amp; Smali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more recent versions of Android, the Android Runtime (ART) is used.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developers, write in Java and the code is compiled to DEX bytecode, to reverse engineer, we work the opposite direction.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altLang="en-US" sz="2400" b="1" dirty="0">
                <a:sym typeface="+mn-ea"/>
              </a:rPr>
              <a:t>Dalvik &amp; Smali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259205" y="4149090"/>
            <a:ext cx="1872615" cy="14401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en-US" b="1"/>
              <a:t>Java or Kotlin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58155" y="4149090"/>
            <a:ext cx="1872615" cy="14401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en-US" b="1"/>
              <a:t>DEX Byte Code</a:t>
            </a:r>
          </a:p>
        </p:txBody>
      </p:sp>
      <p:cxnSp>
        <p:nvCxnSpPr>
          <p:cNvPr id="11" name="Straight Arrow Connector 10"/>
          <p:cNvCxnSpPr>
            <a:stCxn id="2" idx="3"/>
            <a:endCxn id="9" idx="1"/>
          </p:cNvCxnSpPr>
          <p:nvPr/>
        </p:nvCxnSpPr>
        <p:spPr>
          <a:xfrm>
            <a:off x="3131820" y="4869180"/>
            <a:ext cx="242633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Box 12"/>
          <p:cNvSpPr txBox="1"/>
          <p:nvPr/>
        </p:nvSpPr>
        <p:spPr>
          <a:xfrm>
            <a:off x="3131820" y="3627120"/>
            <a:ext cx="17837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altLang="en-US" sz="2800" b="1"/>
              <a:t>Developer 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1014095" y="6063615"/>
            <a:ext cx="71158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/>
              <a:t>https://ragingrock.com/AndroidAppRE/app_fundamentals.html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disassembler is a computer program that translates machine language into assembly language—the inverse operation to that of an assembler.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Disassembly, the output of a disassembler, is often formatted for human-readability rather than suitability for input to an assembler, making it principally a reverse-engineering tool.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altLang="en-US" sz="2400" b="1" dirty="0">
                <a:sym typeface="+mn-ea"/>
              </a:rPr>
              <a:t>Dalvik &amp; Smali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altLang="en-US" sz="2400" b="1" dirty="0">
                <a:sym typeface="+mn-ea"/>
              </a:rPr>
              <a:t>Dalvik &amp; Smali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776605" y="1306195"/>
            <a:ext cx="1872615" cy="14401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en-US" b="1">
                <a:sym typeface="+mn-ea"/>
              </a:rPr>
              <a:t>DEX Byte Code</a:t>
            </a:r>
            <a:endParaRPr lang="en-IN" altLang="en-US" b="1"/>
          </a:p>
        </p:txBody>
      </p:sp>
      <p:sp>
        <p:nvSpPr>
          <p:cNvPr id="9" name="Rounded Rectangle 8"/>
          <p:cNvSpPr/>
          <p:nvPr/>
        </p:nvSpPr>
        <p:spPr>
          <a:xfrm>
            <a:off x="3604260" y="1306195"/>
            <a:ext cx="1872615" cy="14401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en-US" b="1"/>
              <a:t>SMALI</a:t>
            </a:r>
          </a:p>
        </p:txBody>
      </p:sp>
      <p:cxnSp>
        <p:nvCxnSpPr>
          <p:cNvPr id="11" name="Straight Arrow Connector 10"/>
          <p:cNvCxnSpPr>
            <a:stCxn id="2" idx="3"/>
            <a:endCxn id="9" idx="1"/>
          </p:cNvCxnSpPr>
          <p:nvPr/>
        </p:nvCxnSpPr>
        <p:spPr>
          <a:xfrm>
            <a:off x="2649220" y="2026285"/>
            <a:ext cx="955040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Box 12"/>
          <p:cNvSpPr txBox="1"/>
          <p:nvPr/>
        </p:nvSpPr>
        <p:spPr>
          <a:xfrm>
            <a:off x="3604260" y="671830"/>
            <a:ext cx="27178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altLang="en-US" sz="2800" b="1"/>
              <a:t>Reverse Engineer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44945" y="1306195"/>
            <a:ext cx="1872615" cy="14401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en-US" b="1"/>
              <a:t>Decompiled Java</a:t>
            </a:r>
          </a:p>
        </p:txBody>
      </p:sp>
      <p:cxnSp>
        <p:nvCxnSpPr>
          <p:cNvPr id="14" name="Straight Arrow Connector 13"/>
          <p:cNvCxnSpPr>
            <a:endCxn id="12" idx="1"/>
          </p:cNvCxnSpPr>
          <p:nvPr/>
        </p:nvCxnSpPr>
        <p:spPr>
          <a:xfrm>
            <a:off x="5589905" y="2026285"/>
            <a:ext cx="955040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Box 14"/>
          <p:cNvSpPr txBox="1"/>
          <p:nvPr/>
        </p:nvSpPr>
        <p:spPr>
          <a:xfrm>
            <a:off x="783590" y="3171825"/>
            <a:ext cx="7587615" cy="2891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Font typeface="Wingdings" panose="05000000000000000000" charset="0"/>
              <a:buChar char="ü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Smali is the human readable version of Dalvik bytecode</a:t>
            </a:r>
            <a:r>
              <a:rPr lang="en-IN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Wingdings" panose="05000000000000000000" charset="0"/>
              <a:buChar char="ü"/>
            </a:pPr>
            <a:r>
              <a:rPr lang="en-IN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Technically, Smali and baksmali are the name of the tools (assembler and disassembler, respectively), but in Android, we often use the term “Smali” to refer to instructions.</a:t>
            </a:r>
          </a:p>
          <a:p>
            <a:pPr marL="457200" indent="-457200">
              <a:buFont typeface="Wingdings" panose="05000000000000000000" charset="0"/>
              <a:buChar char="ü"/>
            </a:pPr>
            <a:endParaRPr lang="en-IN" alt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you’ve done reverse engineering or computer architecture on compiled C/C++ code.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SMALI is like the assembly language: between the higher level source code and the bytecode.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Smali instruction set is available</a:t>
            </a:r>
          </a:p>
          <a:p>
            <a:pPr lvl="1" algn="just">
              <a:lnSpc>
                <a:spcPct val="150000"/>
              </a:lnSpc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https://source.android.com/devices/tech/dalvik/Dalvik-bytecode#instructions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altLang="en-US" sz="2400" b="1" dirty="0">
                <a:sym typeface="+mn-ea"/>
              </a:rPr>
              <a:t>Dalvik &amp; Smali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altLang="en-US" sz="2400" b="1" dirty="0">
                <a:sym typeface="+mn-ea"/>
              </a:rPr>
              <a:t>Dalvik &amp; Smali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graphicFrame>
        <p:nvGraphicFramePr>
          <p:cNvPr id="9" name="Object 8"/>
          <p:cNvGraphicFramePr/>
          <p:nvPr/>
        </p:nvGraphicFramePr>
        <p:xfrm>
          <a:off x="993140" y="781050"/>
          <a:ext cx="7357110" cy="5502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924425" imgH="3810000" progId="Paint.Picture">
                  <p:embed/>
                </p:oleObj>
              </mc:Choice>
              <mc:Fallback>
                <p:oleObj r:id="rId2" imgW="4924425" imgH="3810000" progId="Paint.Picture">
                  <p:embed/>
                  <p:pic>
                    <p:nvPicPr>
                      <p:cNvPr id="0" name="Picture 1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3140" y="781050"/>
                        <a:ext cx="7357110" cy="5502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tool for reverse engineering 3rd party, closed, binary Android apps.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can decode resources to nearly original form and rebuild them after making some modifications.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also makes working with an app easier because of the project like file structure and automation of some repetitive tasks like building apk, etc.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altLang="en-US" sz="2400" b="1" dirty="0">
                <a:sym typeface="+mn-ea"/>
              </a:rPr>
              <a:t>APKTool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783590" y="6063615"/>
            <a:ext cx="50253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IN" altLang="en-US"/>
              <a:t>Ref: </a:t>
            </a:r>
            <a:r>
              <a:rPr lang="en-US"/>
              <a:t>https://ibotpeaches.github.io/Apktool/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NOT intended for piracy and other non-legal uses.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could be used for localizing, adding some features or support for custom platforms, analyzing applications and much more.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altLang="en-US" sz="2400" b="1" dirty="0">
                <a:sym typeface="+mn-ea"/>
              </a:rPr>
              <a:t>APKTool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Disassembling resources to nearly original form (including resources.arsc, classes.dex, 9.png. and XMLs)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Rebuilding decoded resources back to binary APK/JAR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Organizing and handling APKs that depend on framework resources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Smali Debugging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Helping with repetitive tasks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altLang="en-US" sz="2400" b="1" dirty="0">
                <a:sym typeface="+mn-ea"/>
              </a:rPr>
              <a:t>APKTool - Features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8 (JRE 1.8)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knowledge of Android SDK, AAPT and smali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Connor Tumbleson - Current Maintainer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Ryszard Wiśniewski - Original Creator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altLang="en-US" sz="2400" b="1" dirty="0">
                <a:sym typeface="+mn-ea"/>
              </a:rPr>
              <a:t>APKTool - Features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apktool d &lt;APK filename&gt;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apktool </a:t>
            </a:r>
            <a:r>
              <a:rPr 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facebook_lite_v118.0.0.9.94.apk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Apktool will create a new folder with the same name as the APK file and place all the App data inside it.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Compiling a modified source with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apktool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as simple as decompiling. 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apktool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&lt;</a:t>
            </a:r>
            <a:r>
              <a:rPr lang="en-US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app_source_path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apktool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facebook_lite_v118.0.0.9.94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altLang="en-US" sz="2400" b="1" dirty="0">
                <a:sym typeface="+mn-ea"/>
              </a:rPr>
              <a:t>Decompile with APKTool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651</Words>
  <Application>Microsoft Office PowerPoint</Application>
  <PresentationFormat>On-screen Show (4:3)</PresentationFormat>
  <Paragraphs>92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Office Theme</vt:lpstr>
      <vt:lpstr>Paintbrush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642</cp:revision>
  <dcterms:created xsi:type="dcterms:W3CDTF">2018-03-30T10:15:00Z</dcterms:created>
  <dcterms:modified xsi:type="dcterms:W3CDTF">2026-04-26T17:15:12Z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