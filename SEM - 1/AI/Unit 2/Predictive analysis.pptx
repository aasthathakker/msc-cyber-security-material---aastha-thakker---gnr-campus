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Lst>
  <p:sldSz cy="6858000" cx="12192000"/>
  <p:notesSz cx="6858000" cy="9144000"/>
  <p:embeddedFontLst>
    <p:embeddedFont>
      <p:font typeface="Roboto"/>
      <p:regular r:id="rId73"/>
      <p:bold r:id="rId74"/>
      <p:italic r:id="rId75"/>
      <p:boldItalic r:id="rId7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7" roundtripDataSignature="AMtx7mjNpis+huq9nyNECfhhZZMyyT8g8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0EC1C2-7558-46DD-9F73-F25AE3EB6AF6}">
  <a:tblStyle styleId="{1D0EC1C2-7558-46DD-9F73-F25AE3EB6AF6}"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regular.fntdata"/><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font" Target="fonts/Roboto-italic.fntdata"/><Relationship Id="rId30" Type="http://schemas.openxmlformats.org/officeDocument/2006/relationships/slide" Target="slides/slide25.xml"/><Relationship Id="rId74" Type="http://schemas.openxmlformats.org/officeDocument/2006/relationships/font" Target="fonts/Roboto-bold.fntdata"/><Relationship Id="rId33" Type="http://schemas.openxmlformats.org/officeDocument/2006/relationships/slide" Target="slides/slide28.xml"/><Relationship Id="rId77" Type="http://customschemas.google.com/relationships/presentationmetadata" Target="metadata"/><Relationship Id="rId32" Type="http://schemas.openxmlformats.org/officeDocument/2006/relationships/slide" Target="slides/slide27.xml"/><Relationship Id="rId76" Type="http://schemas.openxmlformats.org/officeDocument/2006/relationships/font" Target="fonts/Roboto-boldItalic.fnt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f2a4e0ae28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2f2a4e0ae28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f2a4e0ae2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g2f2a4e0ae2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1" name="Google Shape;321;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7" name="Google Shape;327;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4" name="Google Shape;334;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5" name="Google Shape;345;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1" name="Google Shape;351;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7" name="Google Shape;357;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3" name="Google Shape;363;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8" name="Google Shape;378;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4" name="Google Shape;384;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0" name="Google Shape;390;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6" name="Google Shape;396;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2" name="Google Shape;402;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8" name="Google Shape;408;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4" name="Google Shape;414;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0" name="Google Shape;420;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7" name="Google Shape;427;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2" name="Google Shape;432;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8" name="Google Shape;438;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1" name="Google Shape;451;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7" name="Google Shape;457;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6" name="Google Shape;466;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2" name="Google Shape;472;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8" name="Google Shape;478;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4" name="Google Shape;484;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7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7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7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7" name="Shape 27"/>
        <p:cNvGrpSpPr/>
        <p:nvPr/>
      </p:nvGrpSpPr>
      <p:grpSpPr>
        <a:xfrm>
          <a:off x="0" y="0"/>
          <a:ext cx="0" cy="0"/>
          <a:chOff x="0" y="0"/>
          <a:chExt cx="0" cy="0"/>
        </a:xfrm>
      </p:grpSpPr>
      <p:sp>
        <p:nvSpPr>
          <p:cNvPr id="28" name="Google Shape;28;p7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7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0" name="Google Shape;30;p7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7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2" name="Google Shape;32;p7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7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7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7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7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7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9" name="Google Shape;39;p7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7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7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7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7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7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7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7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7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7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7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79"/>
          <p:cNvSpPr/>
          <p:nvPr>
            <p:ph idx="2" type="pic"/>
          </p:nvPr>
        </p:nvSpPr>
        <p:spPr>
          <a:xfrm>
            <a:off x="5183188" y="987425"/>
            <a:ext cx="6172200" cy="4873625"/>
          </a:xfrm>
          <a:prstGeom prst="rect">
            <a:avLst/>
          </a:prstGeom>
          <a:noFill/>
          <a:ln>
            <a:noFill/>
          </a:ln>
        </p:spPr>
      </p:sp>
      <p:sp>
        <p:nvSpPr>
          <p:cNvPr id="64" name="Google Shape;64;p7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7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7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7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8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8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8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8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8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8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8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8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8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8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7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opentextbc.ca/introductorybusinessstatistics/wp-content/uploads/sites/45/2014/10/100000000000004900000015489223001.png" TargetMode="Externa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www.simplilearn.com/tutorials/machine-learning-tutorial/linear-regression-in-python"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12.png"/><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hyperlink" Target="https://www.cuemath.com/data/variance/"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2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6.png"/><Relationship Id="rId4" Type="http://schemas.openxmlformats.org/officeDocument/2006/relationships/image" Target="../media/image19.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 Id="rId3" Type="http://schemas.openxmlformats.org/officeDocument/2006/relationships/image" Target="../media/image24.png"/><Relationship Id="rId4" Type="http://schemas.openxmlformats.org/officeDocument/2006/relationships/image" Target="../media/image2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1" Type="http://schemas.openxmlformats.org/officeDocument/2006/relationships/hyperlink" Target="https://byjus.com/maths/correlation-and-regression/" TargetMode="External"/><Relationship Id="rId10" Type="http://schemas.openxmlformats.org/officeDocument/2006/relationships/hyperlink" Target="https://learn.saylor.org/mod/book/view.php?id=61394&amp;chapterid=49774" TargetMode="External"/><Relationship Id="rId13" Type="http://schemas.openxmlformats.org/officeDocument/2006/relationships/hyperlink" Target="https://study.com/academy/lesson/covariance-correlation-equations-examples.html" TargetMode="External"/><Relationship Id="rId12" Type="http://schemas.openxmlformats.org/officeDocument/2006/relationships/hyperlink" Target="https://towardsdatascience.com/covariance-and-correlation-321fdacab168" TargetMode="External"/><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hyperlink" Target="https://opentextbc.ca/introductorybusinessstatistics/chapter/regression-basics-2/" TargetMode="External"/><Relationship Id="rId4" Type="http://schemas.openxmlformats.org/officeDocument/2006/relationships/hyperlink" Target="https://www.geeksforgeeks.org/ml-linear-regression/" TargetMode="External"/><Relationship Id="rId9" Type="http://schemas.openxmlformats.org/officeDocument/2006/relationships/hyperlink" Target="https://builtin.com/data-science/covariance-vs-correlation" TargetMode="External"/><Relationship Id="rId14" Type="http://schemas.openxmlformats.org/officeDocument/2006/relationships/hyperlink" Target="https://www.cuemath.com/data/correlation-and-regression/" TargetMode="External"/><Relationship Id="rId5" Type="http://schemas.openxmlformats.org/officeDocument/2006/relationships/hyperlink" Target="https://www.analyticsvidhya.com/blog/2021/10/everything-you-need-to-know-about-linear-regression/" TargetMode="External"/><Relationship Id="rId6" Type="http://schemas.openxmlformats.org/officeDocument/2006/relationships/hyperlink" Target="http://www.stat.yale.edu/Courses/1997-98/101/linreg.htm" TargetMode="External"/><Relationship Id="rId7" Type="http://schemas.openxmlformats.org/officeDocument/2006/relationships/hyperlink" Target="https://www.spiceworks.com/tech/artificial-intelligence/articles/what-is-linear-regression/" TargetMode="External"/><Relationship Id="rId8" Type="http://schemas.openxmlformats.org/officeDocument/2006/relationships/hyperlink" Target="https://www.simplilearn.com/covariance-vs-correlation-articl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en-US">
                <a:solidFill>
                  <a:schemeClr val="lt1"/>
                </a:solidFill>
                <a:latin typeface="Calibri"/>
                <a:ea typeface="Calibri"/>
                <a:cs typeface="Calibri"/>
                <a:sym typeface="Calibri"/>
              </a:rPr>
              <a:t>Predicate Analytics</a:t>
            </a:r>
            <a:endParaRPr/>
          </a:p>
        </p:txBody>
      </p:sp>
      <p:sp>
        <p:nvSpPr>
          <p:cNvPr id="85" name="Google Shape;85;p1"/>
          <p:cNvSpPr txBox="1"/>
          <p:nvPr>
            <p:ph idx="1" type="subTitle"/>
          </p:nvPr>
        </p:nvSpPr>
        <p:spPr>
          <a:xfrm>
            <a:off x="1524000" y="3602038"/>
            <a:ext cx="9144000" cy="1655762"/>
          </a:xfrm>
          <a:prstGeom prst="rect">
            <a:avLst/>
          </a:prstGeom>
          <a:gradFill>
            <a:gsLst>
              <a:gs pos="0">
                <a:srgbClr val="AFAFAF"/>
              </a:gs>
              <a:gs pos="50000">
                <a:schemeClr val="accent3"/>
              </a:gs>
              <a:gs pos="100000">
                <a:srgbClr val="919191"/>
              </a:gs>
            </a:gsLst>
            <a:lin ang="5400000" scaled="0"/>
          </a:gradFill>
          <a:ln cap="flat" cmpd="sng" w="9525">
            <a:solidFill>
              <a:schemeClr val="accent3"/>
            </a:solidFill>
            <a:prstDash val="solid"/>
            <a:miter lim="800000"/>
            <a:headEnd len="sm" w="sm" type="none"/>
            <a:tailEnd len="sm" w="sm" type="none"/>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lt1"/>
              </a:buClr>
              <a:buSzPts val="2400"/>
              <a:buNone/>
            </a:pPr>
            <a:r>
              <a:rPr lang="en-US">
                <a:solidFill>
                  <a:schemeClr val="lt1"/>
                </a:solidFill>
                <a:latin typeface="Calibri"/>
                <a:ea typeface="Calibri"/>
                <a:cs typeface="Calibri"/>
                <a:sym typeface="Calibri"/>
              </a:rPr>
              <a:t>Dr. Ravirajsinh S. Vaghela</a:t>
            </a:r>
            <a:endParaRPr/>
          </a:p>
          <a:p>
            <a:pPr indent="0" lvl="0" marL="0" rtl="0" algn="ctr">
              <a:lnSpc>
                <a:spcPct val="90000"/>
              </a:lnSpc>
              <a:spcBef>
                <a:spcPts val="1000"/>
              </a:spcBef>
              <a:spcAft>
                <a:spcPts val="0"/>
              </a:spcAft>
              <a:buClr>
                <a:schemeClr val="lt1"/>
              </a:buClr>
              <a:buSzPts val="2400"/>
              <a:buNone/>
            </a:pPr>
            <a:r>
              <a:rPr lang="en-US">
                <a:solidFill>
                  <a:schemeClr val="lt1"/>
                </a:solidFill>
                <a:latin typeface="Calibri"/>
                <a:ea typeface="Calibri"/>
                <a:cs typeface="Calibri"/>
                <a:sym typeface="Calibri"/>
              </a:rPr>
              <a:t>Assistant Professor,</a:t>
            </a:r>
            <a:endParaRPr/>
          </a:p>
          <a:p>
            <a:pPr indent="0" lvl="0" marL="0" rtl="0" algn="ctr">
              <a:lnSpc>
                <a:spcPct val="90000"/>
              </a:lnSpc>
              <a:spcBef>
                <a:spcPts val="1000"/>
              </a:spcBef>
              <a:spcAft>
                <a:spcPts val="0"/>
              </a:spcAft>
              <a:buClr>
                <a:schemeClr val="lt1"/>
              </a:buClr>
              <a:buSzPts val="2400"/>
              <a:buNone/>
            </a:pPr>
            <a:r>
              <a:rPr lang="en-US">
                <a:solidFill>
                  <a:schemeClr val="lt1"/>
                </a:solidFill>
                <a:latin typeface="Calibri"/>
                <a:ea typeface="Calibri"/>
                <a:cs typeface="Calibri"/>
                <a:sym typeface="Calibri"/>
              </a:rPr>
              <a:t>School of Cyber Security &amp; Digital Forensics, NFSU, Gandhinagar Campus.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latin typeface="Calibri"/>
                <a:ea typeface="Calibri"/>
                <a:cs typeface="Calibri"/>
                <a:sym typeface="Calibri"/>
              </a:rPr>
              <a:t>Outline</a:t>
            </a:r>
            <a:endParaRPr/>
          </a:p>
        </p:txBody>
      </p:sp>
      <p:sp>
        <p:nvSpPr>
          <p:cNvPr id="91" name="Google Shape;91;p2"/>
          <p:cNvSpPr txBox="1"/>
          <p:nvPr>
            <p:ph idx="1" type="body"/>
          </p:nvPr>
        </p:nvSpPr>
        <p:spPr>
          <a:xfrm>
            <a:off x="838200" y="1825625"/>
            <a:ext cx="10515600" cy="4351338"/>
          </a:xfrm>
          <a:prstGeom prst="rect">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solidFill>
                  <a:schemeClr val="dk1"/>
                </a:solidFill>
                <a:latin typeface="Calibri"/>
                <a:ea typeface="Calibri"/>
                <a:cs typeface="Calibri"/>
                <a:sym typeface="Calibri"/>
              </a:rPr>
              <a:t>Linear Regression</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solidFill>
                  <a:schemeClr val="dk1"/>
                </a:solidFill>
                <a:latin typeface="Calibri"/>
                <a:ea typeface="Calibri"/>
                <a:cs typeface="Calibri"/>
                <a:sym typeface="Calibri"/>
              </a:rPr>
              <a:t>Regression basics</a:t>
            </a:r>
            <a:endParaRPr/>
          </a:p>
          <a:p>
            <a:pPr indent="-228600" lvl="1" marL="685800" rtl="0" algn="l">
              <a:lnSpc>
                <a:spcPct val="90000"/>
              </a:lnSpc>
              <a:spcBef>
                <a:spcPts val="500"/>
              </a:spcBef>
              <a:spcAft>
                <a:spcPts val="0"/>
              </a:spcAft>
              <a:buClr>
                <a:schemeClr val="dk1"/>
              </a:buClr>
              <a:buSzPts val="2400"/>
              <a:buFont typeface="Noto Sans Symbols"/>
              <a:buChar char="❑"/>
            </a:pPr>
            <a:r>
              <a:rPr lang="en-US">
                <a:solidFill>
                  <a:schemeClr val="dk1"/>
                </a:solidFill>
                <a:latin typeface="Calibri"/>
                <a:ea typeface="Calibri"/>
                <a:cs typeface="Calibri"/>
                <a:sym typeface="Calibri"/>
              </a:rPr>
              <a:t>Relationship between attributes using Covariance and Correlation</a:t>
            </a:r>
            <a:endParaRPr/>
          </a:p>
          <a:p>
            <a:pPr indent="-228600" lvl="1" marL="685800" rtl="0" algn="l">
              <a:lnSpc>
                <a:spcPct val="90000"/>
              </a:lnSpc>
              <a:spcBef>
                <a:spcPts val="500"/>
              </a:spcBef>
              <a:spcAft>
                <a:spcPts val="0"/>
              </a:spcAft>
              <a:buClr>
                <a:schemeClr val="dk1"/>
              </a:buClr>
              <a:buSzPts val="2400"/>
              <a:buFont typeface="Noto Sans Symbols"/>
              <a:buChar char="❑"/>
            </a:pPr>
            <a:r>
              <a:rPr lang="en-US">
                <a:solidFill>
                  <a:schemeClr val="dk1"/>
                </a:solidFill>
                <a:latin typeface="Calibri"/>
                <a:ea typeface="Calibri"/>
                <a:cs typeface="Calibri"/>
                <a:sym typeface="Calibri"/>
              </a:rPr>
              <a:t>Relationship between multiple variables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solidFill>
                  <a:schemeClr val="dk1"/>
                </a:solidFill>
                <a:latin typeface="Calibri"/>
                <a:ea typeface="Calibri"/>
                <a:cs typeface="Calibri"/>
                <a:sym typeface="Calibri"/>
              </a:rPr>
              <a:t>Regression (Linear, Multivariate) in prediction</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solidFill>
                  <a:schemeClr val="dk1"/>
                </a:solidFill>
                <a:latin typeface="Calibri"/>
                <a:ea typeface="Calibri"/>
                <a:cs typeface="Calibri"/>
                <a:sym typeface="Calibri"/>
              </a:rPr>
              <a:t>Residual Analysis,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solidFill>
                  <a:schemeClr val="dk1"/>
                </a:solidFill>
                <a:latin typeface="Calibri"/>
                <a:ea typeface="Calibri"/>
                <a:cs typeface="Calibri"/>
                <a:sym typeface="Calibri"/>
              </a:rPr>
              <a:t> Identifying significant features,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solidFill>
                  <a:schemeClr val="dk1"/>
                </a:solidFill>
                <a:latin typeface="Calibri"/>
                <a:ea typeface="Calibri"/>
                <a:cs typeface="Calibri"/>
                <a:sym typeface="Calibri"/>
              </a:rPr>
              <a:t> Hypothesis testing of Regression Model</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solidFill>
            <a:schemeClr val="accent3"/>
          </a:solidFill>
          <a:ln cap="flat" cmpd="sng" w="12700">
            <a:solidFill>
              <a:srgbClr val="787878"/>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latin typeface="Calibri"/>
                <a:ea typeface="Calibri"/>
                <a:cs typeface="Calibri"/>
                <a:sym typeface="Calibri"/>
              </a:rPr>
              <a:t>Linear Regression</a:t>
            </a:r>
            <a:endParaRPr/>
          </a:p>
        </p:txBody>
      </p:sp>
      <p:sp>
        <p:nvSpPr>
          <p:cNvPr id="97" name="Google Shape;97;p3"/>
          <p:cNvSpPr txBox="1"/>
          <p:nvPr>
            <p:ph idx="1" type="body"/>
          </p:nvPr>
        </p:nvSpPr>
        <p:spPr>
          <a:xfrm>
            <a:off x="838200" y="1825625"/>
            <a:ext cx="10515600" cy="4351338"/>
          </a:xfrm>
          <a:prstGeom prst="rect">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solidFill>
                  <a:schemeClr val="dk1"/>
                </a:solidFill>
                <a:latin typeface="Calibri"/>
                <a:ea typeface="Calibri"/>
                <a:cs typeface="Calibri"/>
                <a:sym typeface="Calibri"/>
              </a:rPr>
              <a:t>Linear regression is a type of </a:t>
            </a:r>
            <a:r>
              <a:rPr lang="en-US" u="sng">
                <a:solidFill>
                  <a:schemeClr val="dk1"/>
                </a:solidFill>
                <a:latin typeface="Calibri"/>
                <a:ea typeface="Calibri"/>
                <a:cs typeface="Calibri"/>
                <a:sym typeface="Calibri"/>
              </a:rPr>
              <a:t>supervised machine learning</a:t>
            </a:r>
            <a:r>
              <a:rPr lang="en-US">
                <a:solidFill>
                  <a:schemeClr val="dk1"/>
                </a:solidFill>
                <a:latin typeface="Calibri"/>
                <a:ea typeface="Calibri"/>
                <a:cs typeface="Calibri"/>
                <a:sym typeface="Calibri"/>
              </a:rPr>
              <a:t> algorithm that computes the linear relationship between a dependent variable and one or more independent features.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latin typeface="Calibri"/>
                <a:ea typeface="Calibri"/>
                <a:cs typeface="Calibri"/>
                <a:sym typeface="Calibri"/>
              </a:rPr>
              <a:t>When the number of the independent feature, is 1 then it is known as Univariate Linear regression, and in the case of more than one feature, it is known as multivariate linear regression.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latin typeface="Calibri"/>
                <a:ea typeface="Calibri"/>
                <a:cs typeface="Calibri"/>
                <a:sym typeface="Calibri"/>
              </a:rPr>
              <a:t>Regression</a:t>
            </a:r>
            <a:endParaRPr/>
          </a:p>
        </p:txBody>
      </p:sp>
      <p:sp>
        <p:nvSpPr>
          <p:cNvPr id="103" name="Google Shape;103;p4"/>
          <p:cNvSpPr txBox="1"/>
          <p:nvPr>
            <p:ph idx="1" type="body"/>
          </p:nvPr>
        </p:nvSpPr>
        <p:spPr>
          <a:xfrm>
            <a:off x="838200" y="1825625"/>
            <a:ext cx="10515600" cy="4351338"/>
          </a:xfrm>
          <a:prstGeom prst="rect">
            <a:avLst/>
          </a:prstGeom>
          <a:gradFill>
            <a:gsLst>
              <a:gs pos="0">
                <a:srgbClr val="A6B6DE"/>
              </a:gs>
              <a:gs pos="50000">
                <a:srgbClr val="98AAD9"/>
              </a:gs>
              <a:gs pos="100000">
                <a:srgbClr val="859CD7"/>
              </a:gs>
            </a:gsLst>
            <a:lin ang="5400000" scaled="0"/>
          </a:gradFill>
          <a:ln cap="flat" cmpd="sng" w="9525">
            <a:solidFill>
              <a:schemeClr val="accent5"/>
            </a:solidFill>
            <a:prstDash val="solid"/>
            <a:miter lim="800000"/>
            <a:headEnd len="sm" w="sm" type="none"/>
            <a:tailEnd len="sm" w="sm" type="none"/>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solidFill>
                  <a:schemeClr val="dk1"/>
                </a:solidFill>
                <a:latin typeface="Calibri"/>
                <a:ea typeface="Calibri"/>
                <a:cs typeface="Calibri"/>
                <a:sym typeface="Calibri"/>
              </a:rPr>
              <a:t>Regression analysis, like most multivariate statistics, allows you to infer that there is a relationship between two or more variables. These relationships are seldom exact because there is variation caused by many variables, not just the variables being studied.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latin typeface="Calibri"/>
                <a:ea typeface="Calibri"/>
                <a:cs typeface="Calibri"/>
                <a:sym typeface="Calibri"/>
              </a:rPr>
              <a:t>Example</a:t>
            </a:r>
            <a:endParaRPr/>
          </a:p>
        </p:txBody>
      </p:sp>
      <p:sp>
        <p:nvSpPr>
          <p:cNvPr id="109" name="Google Shape;109;p5"/>
          <p:cNvSpPr txBox="1"/>
          <p:nvPr>
            <p:ph idx="1" type="body"/>
          </p:nvPr>
        </p:nvSpPr>
        <p:spPr>
          <a:xfrm>
            <a:off x="838200" y="1825625"/>
            <a:ext cx="10515600" cy="4351338"/>
          </a:xfrm>
          <a:prstGeom prst="rect">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t" bIns="45700" lIns="91425" spcFirstLastPara="1" rIns="91425" wrap="square" tIns="45700">
            <a:normAutofit lnSpcReduction="10000"/>
          </a:bodyPr>
          <a:lstStyle/>
          <a:p>
            <a:pPr indent="-241934" lvl="0" marL="228600" rtl="0" algn="l">
              <a:lnSpc>
                <a:spcPct val="90000"/>
              </a:lnSpc>
              <a:spcBef>
                <a:spcPts val="0"/>
              </a:spcBef>
              <a:spcAft>
                <a:spcPts val="0"/>
              </a:spcAft>
              <a:buClr>
                <a:schemeClr val="dk1"/>
              </a:buClr>
              <a:buSzPts val="2800"/>
              <a:buChar char="•"/>
            </a:pPr>
            <a:r>
              <a:rPr lang="en-US">
                <a:solidFill>
                  <a:schemeClr val="dk1"/>
                </a:solidFill>
                <a:latin typeface="Calibri"/>
                <a:ea typeface="Calibri"/>
                <a:cs typeface="Calibri"/>
                <a:sym typeface="Calibri"/>
              </a:rPr>
              <a:t>If you say that students who study more make better grades, you are really hypothesizing that there is a positive relationship between one variable, studying, and another variable, grades. You could then complete your inference and test your hypothesis by gathering a sample of (amount studied, grades) data from some students and use regression to see if the relationship in the sample is strong enough to safely infer that there is a relationship in the population.</a:t>
            </a:r>
            <a:endParaRPr/>
          </a:p>
          <a:p>
            <a:pPr indent="-241934" lvl="0" marL="228600" rtl="0" algn="l">
              <a:lnSpc>
                <a:spcPct val="90000"/>
              </a:lnSpc>
              <a:spcBef>
                <a:spcPts val="1000"/>
              </a:spcBef>
              <a:spcAft>
                <a:spcPts val="0"/>
              </a:spcAft>
              <a:buClr>
                <a:schemeClr val="dk1"/>
              </a:buClr>
              <a:buSzPts val="2800"/>
              <a:buChar char="•"/>
            </a:pPr>
            <a:r>
              <a:rPr lang="en-US">
                <a:solidFill>
                  <a:schemeClr val="dk1"/>
                </a:solidFill>
                <a:latin typeface="Calibri"/>
                <a:ea typeface="Calibri"/>
                <a:cs typeface="Calibri"/>
                <a:sym typeface="Calibri"/>
              </a:rPr>
              <a:t>Notice that even if students who study more make better grades, the relationship in the population would not be perfect; the same amount of studying will not result in the same grades for every student (or for one student every time).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Student</a:t>
            </a:r>
            <a:endParaRPr/>
          </a:p>
        </p:txBody>
      </p:sp>
      <p:sp>
        <p:nvSpPr>
          <p:cNvPr id="115" name="Google Shape;115;p6"/>
          <p:cNvSpPr txBox="1"/>
          <p:nvPr>
            <p:ph idx="1" type="body"/>
          </p:nvPr>
        </p:nvSpPr>
        <p:spPr>
          <a:xfrm>
            <a:off x="838200" y="1825625"/>
            <a:ext cx="10515600" cy="4351338"/>
          </a:xfrm>
          <a:prstGeom prst="rect">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solidFill>
                  <a:schemeClr val="dk1"/>
                </a:solidFill>
                <a:latin typeface="Calibri"/>
                <a:ea typeface="Calibri"/>
                <a:cs typeface="Calibri"/>
                <a:sym typeface="Calibri"/>
              </a:rPr>
              <a:t>Some students are taking harder courses, like chemistry or statistics; some are smarter; some study effectively; and some get lucky and find that the professor has asked them exactly what they understood best. For each level of amount studied, there will be a distribution of grades. </a:t>
            </a:r>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latin typeface="Calibri"/>
                <a:ea typeface="Calibri"/>
                <a:cs typeface="Calibri"/>
                <a:sym typeface="Calibri"/>
              </a:rPr>
              <a:t>If there is a relationship between studying and grades, the location of that distribution of grades will change in an orderly manner as you move from lower to higher levels of studying.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838200" y="365125"/>
            <a:ext cx="10515600" cy="1325563"/>
          </a:xfrm>
          <a:prstGeom prst="rect">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latin typeface="Calibri"/>
                <a:ea typeface="Calibri"/>
                <a:cs typeface="Calibri"/>
                <a:sym typeface="Calibri"/>
              </a:rPr>
              <a:t>Regression analysis</a:t>
            </a:r>
            <a:endParaRPr/>
          </a:p>
        </p:txBody>
      </p:sp>
      <p:sp>
        <p:nvSpPr>
          <p:cNvPr id="121" name="Google Shape;121;p7"/>
          <p:cNvSpPr txBox="1"/>
          <p:nvPr>
            <p:ph idx="1" type="body"/>
          </p:nvPr>
        </p:nvSpPr>
        <p:spPr>
          <a:xfrm>
            <a:off x="838200" y="1825625"/>
            <a:ext cx="10515600" cy="4351338"/>
          </a:xfrm>
          <a:prstGeom prst="rect">
            <a:avLst/>
          </a:prstGeom>
          <a:gradFill>
            <a:gsLst>
              <a:gs pos="0">
                <a:srgbClr val="FFDC9B"/>
              </a:gs>
              <a:gs pos="50000">
                <a:srgbClr val="FFD68D"/>
              </a:gs>
              <a:gs pos="100000">
                <a:srgbClr val="FFD478"/>
              </a:gs>
            </a:gsLst>
            <a:lin ang="5400000" scaled="0"/>
          </a:gradFill>
          <a:ln cap="flat" cmpd="sng" w="9525">
            <a:solidFill>
              <a:schemeClr val="accent4"/>
            </a:solidFill>
            <a:prstDash val="solid"/>
            <a:miter lim="800000"/>
            <a:headEnd len="sm" w="sm" type="none"/>
            <a:tailEnd len="sm" w="sm" type="none"/>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solidFill>
                  <a:schemeClr val="dk1"/>
                </a:solidFill>
                <a:latin typeface="Calibri"/>
                <a:ea typeface="Calibri"/>
                <a:cs typeface="Calibri"/>
                <a:sym typeface="Calibri"/>
              </a:rPr>
              <a:t>Regression analysis is one of the most used and most powerful multivariate statistical techniques for it infers the existence and form of a functional relationship in a population. </a:t>
            </a:r>
            <a:endParaRPr/>
          </a:p>
          <a:p>
            <a:pPr indent="-228600" lvl="0" marL="228600" rtl="0" algn="l">
              <a:lnSpc>
                <a:spcPct val="90000"/>
              </a:lnSpc>
              <a:spcBef>
                <a:spcPts val="1000"/>
              </a:spcBef>
              <a:spcAft>
                <a:spcPts val="0"/>
              </a:spcAft>
              <a:buClr>
                <a:schemeClr val="dk1"/>
              </a:buClr>
              <a:buSzPct val="100000"/>
              <a:buChar char="•"/>
            </a:pPr>
            <a:r>
              <a:rPr lang="en-US">
                <a:solidFill>
                  <a:schemeClr val="dk1"/>
                </a:solidFill>
                <a:latin typeface="Calibri"/>
                <a:ea typeface="Calibri"/>
                <a:cs typeface="Calibri"/>
                <a:sym typeface="Calibri"/>
              </a:rPr>
              <a:t>Once you learn how to use regression, you will be able to estimate the parameters — the slope and intercept — of the function that links two or more variables. </a:t>
            </a:r>
            <a:endParaRPr/>
          </a:p>
          <a:p>
            <a:pPr indent="-228600" lvl="0" marL="228600" rtl="0" algn="l">
              <a:lnSpc>
                <a:spcPct val="90000"/>
              </a:lnSpc>
              <a:spcBef>
                <a:spcPts val="1000"/>
              </a:spcBef>
              <a:spcAft>
                <a:spcPts val="0"/>
              </a:spcAft>
              <a:buClr>
                <a:schemeClr val="dk1"/>
              </a:buClr>
              <a:buSzPct val="100000"/>
              <a:buChar char="•"/>
            </a:pPr>
            <a:r>
              <a:rPr lang="en-US">
                <a:solidFill>
                  <a:schemeClr val="dk1"/>
                </a:solidFill>
                <a:latin typeface="Calibri"/>
                <a:ea typeface="Calibri"/>
                <a:cs typeface="Calibri"/>
                <a:sym typeface="Calibri"/>
              </a:rPr>
              <a:t>With that estimated function, you will be able to infer or forecast things like unit costs, interest rates, or sales over a wide range of conditions. </a:t>
            </a:r>
            <a:endParaRPr/>
          </a:p>
          <a:p>
            <a:pPr indent="-228600" lvl="0" marL="228600" rtl="0" algn="l">
              <a:lnSpc>
                <a:spcPct val="90000"/>
              </a:lnSpc>
              <a:spcBef>
                <a:spcPts val="1000"/>
              </a:spcBef>
              <a:spcAft>
                <a:spcPts val="0"/>
              </a:spcAft>
              <a:buClr>
                <a:schemeClr val="dk1"/>
              </a:buClr>
              <a:buSzPct val="100000"/>
              <a:buChar char="•"/>
            </a:pPr>
            <a:r>
              <a:rPr lang="en-US">
                <a:solidFill>
                  <a:schemeClr val="dk1"/>
                </a:solidFill>
                <a:latin typeface="Calibri"/>
                <a:ea typeface="Calibri"/>
                <a:cs typeface="Calibri"/>
                <a:sym typeface="Calibri"/>
              </a:rPr>
              <a:t>Though the simplest regression techniques seem limited in their applications, statisticians have developed a number of variations on regression that greatly expand the usefulness of the technique.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8"/>
          <p:cNvSpPr txBox="1"/>
          <p:nvPr>
            <p:ph type="title"/>
          </p:nvPr>
        </p:nvSpPr>
        <p:spPr>
          <a:xfrm>
            <a:off x="838200" y="365125"/>
            <a:ext cx="10515600" cy="1325563"/>
          </a:xfrm>
          <a:prstGeom prst="rect">
            <a:avLst/>
          </a:pr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solidFill>
                  <a:schemeClr val="dk1"/>
                </a:solidFill>
                <a:latin typeface="Calibri"/>
                <a:ea typeface="Calibri"/>
                <a:cs typeface="Calibri"/>
                <a:sym typeface="Calibri"/>
              </a:rPr>
              <a:t>What is regression?</a:t>
            </a:r>
            <a:br>
              <a:rPr b="1" lang="en-US">
                <a:solidFill>
                  <a:schemeClr val="dk1"/>
                </a:solidFill>
                <a:latin typeface="Calibri"/>
                <a:ea typeface="Calibri"/>
                <a:cs typeface="Calibri"/>
                <a:sym typeface="Calibri"/>
              </a:rPr>
            </a:br>
            <a:endParaRPr/>
          </a:p>
        </p:txBody>
      </p:sp>
      <p:sp>
        <p:nvSpPr>
          <p:cNvPr id="127" name="Google Shape;127;p8"/>
          <p:cNvSpPr txBox="1"/>
          <p:nvPr>
            <p:ph idx="1" type="body"/>
          </p:nvPr>
        </p:nvSpPr>
        <p:spPr>
          <a:xfrm>
            <a:off x="838200" y="1825625"/>
            <a:ext cx="10515600" cy="4351338"/>
          </a:xfrm>
          <a:prstGeom prst="rect">
            <a:avLst/>
          </a:prstGeom>
          <a:solidFill>
            <a:schemeClr val="accent3"/>
          </a:solidFill>
          <a:ln cap="flat" cmpd="sng" w="19050">
            <a:solidFill>
              <a:schemeClr val="lt1"/>
            </a:solidFill>
            <a:prstDash val="solid"/>
            <a:miter lim="800000"/>
            <a:headEnd len="sm" w="sm" type="none"/>
            <a:tailEnd len="sm" w="sm" type="none"/>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lt1"/>
              </a:buClr>
              <a:buSzPct val="100000"/>
              <a:buChar char="•"/>
            </a:pPr>
            <a:r>
              <a:rPr lang="en-US">
                <a:solidFill>
                  <a:schemeClr val="lt1"/>
                </a:solidFill>
                <a:latin typeface="Calibri"/>
                <a:ea typeface="Calibri"/>
                <a:cs typeface="Calibri"/>
                <a:sym typeface="Calibri"/>
              </a:rPr>
              <a:t>The definition of a function can be formal, like the one in my freshman calculus text: “A function is a set of ordered pairs of numbers (</a:t>
            </a:r>
            <a:r>
              <a:rPr i="1" lang="en-US">
                <a:solidFill>
                  <a:schemeClr val="lt1"/>
                </a:solidFill>
                <a:latin typeface="Calibri"/>
                <a:ea typeface="Calibri"/>
                <a:cs typeface="Calibri"/>
                <a:sym typeface="Calibri"/>
              </a:rPr>
              <a:t>x</a:t>
            </a:r>
            <a:r>
              <a:rPr lang="en-US">
                <a:solidFill>
                  <a:schemeClr val="lt1"/>
                </a:solidFill>
                <a:latin typeface="Calibri"/>
                <a:ea typeface="Calibri"/>
                <a:cs typeface="Calibri"/>
                <a:sym typeface="Calibri"/>
              </a:rPr>
              <a:t>,</a:t>
            </a:r>
            <a:r>
              <a:rPr i="1" lang="en-US">
                <a:solidFill>
                  <a:schemeClr val="lt1"/>
                </a:solidFill>
                <a:latin typeface="Calibri"/>
                <a:ea typeface="Calibri"/>
                <a:cs typeface="Calibri"/>
                <a:sym typeface="Calibri"/>
              </a:rPr>
              <a:t>y</a:t>
            </a:r>
            <a:r>
              <a:rPr lang="en-US">
                <a:solidFill>
                  <a:schemeClr val="lt1"/>
                </a:solidFill>
                <a:latin typeface="Calibri"/>
                <a:ea typeface="Calibri"/>
                <a:cs typeface="Calibri"/>
                <a:sym typeface="Calibri"/>
              </a:rPr>
              <a:t>) such that to each value of the first variable (</a:t>
            </a:r>
            <a:r>
              <a:rPr i="1" lang="en-US">
                <a:solidFill>
                  <a:schemeClr val="lt1"/>
                </a:solidFill>
                <a:latin typeface="Calibri"/>
                <a:ea typeface="Calibri"/>
                <a:cs typeface="Calibri"/>
                <a:sym typeface="Calibri"/>
              </a:rPr>
              <a:t>x</a:t>
            </a:r>
            <a:r>
              <a:rPr lang="en-US">
                <a:solidFill>
                  <a:schemeClr val="lt1"/>
                </a:solidFill>
                <a:latin typeface="Calibri"/>
                <a:ea typeface="Calibri"/>
                <a:cs typeface="Calibri"/>
                <a:sym typeface="Calibri"/>
              </a:rPr>
              <a:t>) there corresponds a unique value of the second variable (</a:t>
            </a:r>
            <a:r>
              <a:rPr i="1" lang="en-US">
                <a:solidFill>
                  <a:schemeClr val="lt1"/>
                </a:solidFill>
                <a:latin typeface="Calibri"/>
                <a:ea typeface="Calibri"/>
                <a:cs typeface="Calibri"/>
                <a:sym typeface="Calibri"/>
              </a:rPr>
              <a:t>y</a:t>
            </a:r>
            <a:r>
              <a:rPr lang="en-US">
                <a:solidFill>
                  <a:schemeClr val="lt1"/>
                </a:solidFill>
                <a:latin typeface="Calibri"/>
                <a:ea typeface="Calibri"/>
                <a:cs typeface="Calibri"/>
                <a:sym typeface="Calibri"/>
              </a:rPr>
              <a:t>)” (Thomas, 1960).</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lt1"/>
              </a:buClr>
              <a:buSzPct val="100000"/>
              <a:buChar char="•"/>
            </a:pPr>
            <a:r>
              <a:rPr lang="en-US">
                <a:solidFill>
                  <a:schemeClr val="lt1"/>
                </a:solidFill>
                <a:latin typeface="Calibri"/>
                <a:ea typeface="Calibri"/>
                <a:cs typeface="Calibri"/>
                <a:sym typeface="Calibri"/>
              </a:rPr>
              <a:t>More intuitively, if there is a regular relationship between two variables, there is usually a function that describes the relationship. Functions are written in a number of forms.</a:t>
            </a:r>
            <a:endParaRPr/>
          </a:p>
          <a:p>
            <a:pPr indent="-228600" lvl="0" marL="228600" rtl="0" algn="l">
              <a:lnSpc>
                <a:spcPct val="90000"/>
              </a:lnSpc>
              <a:spcBef>
                <a:spcPts val="1000"/>
              </a:spcBef>
              <a:spcAft>
                <a:spcPts val="0"/>
              </a:spcAft>
              <a:buClr>
                <a:schemeClr val="lt1"/>
              </a:buClr>
              <a:buSzPct val="100000"/>
              <a:buChar char="•"/>
            </a:pPr>
            <a:r>
              <a:rPr lang="en-US">
                <a:solidFill>
                  <a:schemeClr val="lt1"/>
                </a:solidFill>
                <a:latin typeface="Calibri"/>
                <a:ea typeface="Calibri"/>
                <a:cs typeface="Calibri"/>
                <a:sym typeface="Calibri"/>
              </a:rPr>
              <a:t>The most general is </a:t>
            </a:r>
            <a:r>
              <a:rPr b="1" i="1" lang="en-US">
                <a:solidFill>
                  <a:schemeClr val="lt1"/>
                </a:solidFill>
                <a:latin typeface="Calibri"/>
                <a:ea typeface="Calibri"/>
                <a:cs typeface="Calibri"/>
                <a:sym typeface="Calibri"/>
              </a:rPr>
              <a:t>y</a:t>
            </a:r>
            <a:r>
              <a:rPr b="1" lang="en-US">
                <a:solidFill>
                  <a:schemeClr val="lt1"/>
                </a:solidFill>
                <a:latin typeface="Calibri"/>
                <a:ea typeface="Calibri"/>
                <a:cs typeface="Calibri"/>
                <a:sym typeface="Calibri"/>
              </a:rPr>
              <a:t> = f(</a:t>
            </a:r>
            <a:r>
              <a:rPr b="1" i="1" lang="en-US">
                <a:solidFill>
                  <a:schemeClr val="lt1"/>
                </a:solidFill>
                <a:latin typeface="Calibri"/>
                <a:ea typeface="Calibri"/>
                <a:cs typeface="Calibri"/>
                <a:sym typeface="Calibri"/>
              </a:rPr>
              <a:t>x</a:t>
            </a:r>
            <a:r>
              <a:rPr b="1" lang="en-US">
                <a:solidFill>
                  <a:schemeClr val="lt1"/>
                </a:solidFill>
                <a:latin typeface="Calibri"/>
                <a:ea typeface="Calibri"/>
                <a:cs typeface="Calibri"/>
                <a:sym typeface="Calibri"/>
              </a:rPr>
              <a:t>)</a:t>
            </a:r>
            <a:r>
              <a:rPr lang="en-US">
                <a:solidFill>
                  <a:schemeClr val="lt1"/>
                </a:solidFill>
                <a:latin typeface="Calibri"/>
                <a:ea typeface="Calibri"/>
                <a:cs typeface="Calibri"/>
                <a:sym typeface="Calibri"/>
              </a:rPr>
              <a:t>, which simply says that the value of y depends on the value of x in some regular fashion, though the form of the relationship is not specified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t>
            </a:r>
            <a:endParaRPr/>
          </a:p>
        </p:txBody>
      </p:sp>
      <p:sp>
        <p:nvSpPr>
          <p:cNvPr id="133" name="Google Shape;133;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i="1" lang="en-US"/>
              <a:t>α</a:t>
            </a:r>
            <a:r>
              <a:rPr lang="en-US"/>
              <a:t> and </a:t>
            </a:r>
            <a:r>
              <a:rPr i="1" lang="en-US"/>
              <a:t>β</a:t>
            </a:r>
            <a:r>
              <a:rPr lang="en-US"/>
              <a:t> are parameters, remaining constant as </a:t>
            </a:r>
            <a:r>
              <a:rPr i="1" lang="en-US"/>
              <a:t>x</a:t>
            </a:r>
            <a:r>
              <a:rPr lang="en-US"/>
              <a:t> and </a:t>
            </a:r>
            <a:r>
              <a:rPr i="1" lang="en-US"/>
              <a:t>y</a:t>
            </a:r>
            <a:r>
              <a:rPr lang="en-US"/>
              <a:t> change. </a:t>
            </a:r>
            <a:r>
              <a:rPr i="1" lang="en-US"/>
              <a:t>α</a:t>
            </a:r>
            <a:r>
              <a:rPr lang="en-US"/>
              <a:t> is the intercept and </a:t>
            </a:r>
            <a:r>
              <a:rPr i="1" lang="en-US"/>
              <a:t>β</a:t>
            </a:r>
            <a:r>
              <a:rPr lang="en-US"/>
              <a:t> is the slope. If the values of </a:t>
            </a:r>
            <a:r>
              <a:rPr i="1" lang="en-US"/>
              <a:t>α</a:t>
            </a:r>
            <a:r>
              <a:rPr lang="en-US"/>
              <a:t> and </a:t>
            </a:r>
            <a:r>
              <a:rPr i="1" lang="en-US"/>
              <a:t>β</a:t>
            </a:r>
            <a:r>
              <a:rPr lang="en-US"/>
              <a:t> are known, you can find the </a:t>
            </a:r>
            <a:r>
              <a:rPr i="1" lang="en-US"/>
              <a:t>y</a:t>
            </a:r>
            <a:r>
              <a:rPr lang="en-US"/>
              <a:t> that goes with any </a:t>
            </a:r>
            <a:r>
              <a:rPr i="1" lang="en-US"/>
              <a:t>x</a:t>
            </a:r>
            <a:r>
              <a:rPr lang="en-US"/>
              <a:t> by putting the </a:t>
            </a:r>
            <a:r>
              <a:rPr i="1" lang="en-US"/>
              <a:t>x</a:t>
            </a:r>
            <a:r>
              <a:rPr lang="en-US"/>
              <a:t> into the equation and solving.</a:t>
            </a:r>
            <a:endParaRPr/>
          </a:p>
          <a:p>
            <a:pPr indent="-228600" lvl="0" marL="228600" rtl="0" algn="l">
              <a:lnSpc>
                <a:spcPct val="90000"/>
              </a:lnSpc>
              <a:spcBef>
                <a:spcPts val="1000"/>
              </a:spcBef>
              <a:spcAft>
                <a:spcPts val="0"/>
              </a:spcAft>
              <a:buClr>
                <a:schemeClr val="dk1"/>
              </a:buClr>
              <a:buSzPct val="100000"/>
              <a:buChar char="•"/>
            </a:pPr>
            <a:r>
              <a:rPr lang="en-US"/>
              <a:t> There can be functions where one variable depends on the values values of two or more other variables where </a:t>
            </a:r>
            <a:r>
              <a:rPr i="1" lang="en-US"/>
              <a:t>x</a:t>
            </a:r>
            <a:r>
              <a:rPr baseline="-25000" lang="en-US"/>
              <a:t>1</a:t>
            </a:r>
            <a:r>
              <a:rPr lang="en-US"/>
              <a:t> and </a:t>
            </a:r>
            <a:r>
              <a:rPr i="1" lang="en-US"/>
              <a:t>x</a:t>
            </a:r>
            <a:r>
              <a:rPr baseline="-25000" lang="en-US"/>
              <a:t>2</a:t>
            </a:r>
            <a:r>
              <a:rPr lang="en-US"/>
              <a:t> together determine the value of </a:t>
            </a:r>
            <a:r>
              <a:rPr i="1" lang="en-US"/>
              <a:t>y</a:t>
            </a:r>
            <a:r>
              <a:rPr lang="en-US"/>
              <a:t>. </a:t>
            </a:r>
            <a:endParaRPr/>
          </a:p>
          <a:p>
            <a:pPr indent="-228600" lvl="0" marL="228600" rtl="0" algn="l">
              <a:lnSpc>
                <a:spcPct val="90000"/>
              </a:lnSpc>
              <a:spcBef>
                <a:spcPts val="1000"/>
              </a:spcBef>
              <a:spcAft>
                <a:spcPts val="0"/>
              </a:spcAft>
              <a:buClr>
                <a:schemeClr val="dk1"/>
              </a:buClr>
              <a:buSzPct val="100000"/>
              <a:buChar char="•"/>
            </a:pPr>
            <a:r>
              <a:rPr lang="en-US"/>
              <a:t>There can also be non-linear functions, where the value of the dependent variable (</a:t>
            </a:r>
            <a:r>
              <a:rPr b="1" i="1" lang="en-US"/>
              <a:t>y</a:t>
            </a:r>
            <a:r>
              <a:rPr lang="en-US"/>
              <a:t> in all of the examples we have used so far) depends on the values of one or more other variables, but the values of the other variables are squared, or taken to some other power or root or multiplied together, before the value of the dependent variable is determined.</a:t>
            </a:r>
            <a:endParaRPr/>
          </a:p>
        </p:txBody>
      </p:sp>
      <p:pic>
        <p:nvPicPr>
          <p:cNvPr descr="Linear function" id="134" name="Google Shape;134;p9">
            <a:hlinkClick r:id="rId3"/>
          </p:cNvPr>
          <p:cNvPicPr preferRelativeResize="0"/>
          <p:nvPr>
            <p:ph idx="1" type="body"/>
          </p:nvPr>
        </p:nvPicPr>
        <p:blipFill rotWithShape="1">
          <a:blip r:embed="rId4">
            <a:alphaModFix/>
          </a:blip>
          <a:srcRect b="0" l="0" r="0" t="0"/>
          <a:stretch/>
        </p:blipFill>
        <p:spPr>
          <a:xfrm>
            <a:off x="838200" y="642280"/>
            <a:ext cx="2681019" cy="77125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Estimate</a:t>
            </a:r>
            <a:endParaRPr/>
          </a:p>
        </p:txBody>
      </p:sp>
      <p:sp>
        <p:nvSpPr>
          <p:cNvPr id="140" name="Google Shape;140;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Regression allows you to estimate directly the parameters in linear functions only, though there are tricks that allow many non-linear functional forms to be estimated indirectly.</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Regression also allows you to test to see if there is a functional relationship between the variables, by testing the hypothesis that each of the slopes has a value of zero.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Why Linear Regression is Important?</a:t>
            </a:r>
            <a:br>
              <a:rPr b="1" lang="en-US"/>
            </a:br>
            <a:endParaRPr/>
          </a:p>
        </p:txBody>
      </p:sp>
      <p:sp>
        <p:nvSpPr>
          <p:cNvPr id="146" name="Google Shape;146;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The </a:t>
            </a:r>
            <a:r>
              <a:rPr lang="en-US">
                <a:highlight>
                  <a:srgbClr val="FF9900"/>
                </a:highlight>
              </a:rPr>
              <a:t>interpretability </a:t>
            </a:r>
            <a:r>
              <a:rPr lang="en-US"/>
              <a:t>of linear regression is a notable strength. </a:t>
            </a:r>
            <a:endParaRPr/>
          </a:p>
          <a:p>
            <a:pPr indent="-228600" lvl="0" marL="228600" rtl="0" algn="l">
              <a:lnSpc>
                <a:spcPct val="90000"/>
              </a:lnSpc>
              <a:spcBef>
                <a:spcPts val="1000"/>
              </a:spcBef>
              <a:spcAft>
                <a:spcPts val="0"/>
              </a:spcAft>
              <a:buClr>
                <a:schemeClr val="dk1"/>
              </a:buClr>
              <a:buSzPct val="100000"/>
              <a:buChar char="•"/>
            </a:pPr>
            <a:r>
              <a:rPr lang="en-US"/>
              <a:t>The model’s equation </a:t>
            </a:r>
            <a:r>
              <a:rPr b="1" lang="en-US">
                <a:highlight>
                  <a:srgbClr val="4A86E8"/>
                </a:highlight>
              </a:rPr>
              <a:t>provides clear coefficients </a:t>
            </a:r>
            <a:r>
              <a:rPr lang="en-US">
                <a:highlight>
                  <a:srgbClr val="4A86E8"/>
                </a:highlight>
              </a:rPr>
              <a:t>that elucidate the impact of each independent variable on the dependent variable</a:t>
            </a:r>
            <a:r>
              <a:rPr lang="en-US"/>
              <a:t>, facilitating a </a:t>
            </a:r>
            <a:r>
              <a:rPr lang="en-US" u="sng"/>
              <a:t>deeper understanding of the underlying dynamics.</a:t>
            </a:r>
            <a:r>
              <a:rPr lang="en-US"/>
              <a:t> </a:t>
            </a:r>
            <a:endParaRPr/>
          </a:p>
          <a:p>
            <a:pPr indent="-228600" lvl="0" marL="228600" rtl="0" algn="l">
              <a:lnSpc>
                <a:spcPct val="90000"/>
              </a:lnSpc>
              <a:spcBef>
                <a:spcPts val="1000"/>
              </a:spcBef>
              <a:spcAft>
                <a:spcPts val="0"/>
              </a:spcAft>
              <a:buClr>
                <a:schemeClr val="dk1"/>
              </a:buClr>
              <a:buSzPct val="100000"/>
              <a:buChar char="•"/>
            </a:pPr>
            <a:r>
              <a:rPr b="1" lang="en-US"/>
              <a:t>Its simplicity is a virtue</a:t>
            </a:r>
            <a:r>
              <a:rPr lang="en-US"/>
              <a:t>, as linear regression is transparent, easy to implement, and serves as a foundational concept for more complex algorithms.</a:t>
            </a:r>
            <a:endParaRPr/>
          </a:p>
          <a:p>
            <a:pPr indent="-228600" lvl="0" marL="228600" rtl="0" algn="l">
              <a:lnSpc>
                <a:spcPct val="90000"/>
              </a:lnSpc>
              <a:spcBef>
                <a:spcPts val="1000"/>
              </a:spcBef>
              <a:spcAft>
                <a:spcPts val="0"/>
              </a:spcAft>
              <a:buClr>
                <a:schemeClr val="dk1"/>
              </a:buClr>
              <a:buSzPct val="100000"/>
              <a:buChar char="•"/>
            </a:pPr>
            <a:r>
              <a:rPr b="1" lang="en-US"/>
              <a:t>Linear regression is not merely a predictive tool</a:t>
            </a:r>
            <a:r>
              <a:rPr lang="en-US"/>
              <a:t>; it forms the basis for various advanced models. Techniques like</a:t>
            </a:r>
            <a:r>
              <a:rPr lang="en-US">
                <a:highlight>
                  <a:srgbClr val="FFF2CC"/>
                </a:highlight>
              </a:rPr>
              <a:t> regularization and support vector machines draw inspiration from linear regression</a:t>
            </a:r>
            <a:r>
              <a:rPr lang="en-US"/>
              <a:t>, expanding its utility. Additionally, linear regression is a cornerstone in assumption testing, enabling researchers to validate key assumptions about the data.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b="1" lang="en-US"/>
            </a:br>
            <a:r>
              <a:rPr b="1" lang="en-US"/>
              <a:t>Types of Linear Regression</a:t>
            </a:r>
            <a:br>
              <a:rPr b="1" lang="en-US"/>
            </a:br>
            <a:br>
              <a:rPr lang="en-US"/>
            </a:br>
            <a:endParaRPr/>
          </a:p>
        </p:txBody>
      </p:sp>
      <p:sp>
        <p:nvSpPr>
          <p:cNvPr id="152" name="Google Shape;152;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Simple Linear Regression</a:t>
            </a:r>
            <a:endParaRPr/>
          </a:p>
          <a:p>
            <a:pPr indent="-228600" lvl="0" marL="228600" rtl="0" algn="l">
              <a:lnSpc>
                <a:spcPct val="90000"/>
              </a:lnSpc>
              <a:spcBef>
                <a:spcPts val="1000"/>
              </a:spcBef>
              <a:spcAft>
                <a:spcPts val="0"/>
              </a:spcAft>
              <a:buClr>
                <a:schemeClr val="dk1"/>
              </a:buClr>
              <a:buSzPct val="100000"/>
              <a:buChar char="•"/>
            </a:pPr>
            <a:r>
              <a:rPr lang="en-US"/>
              <a:t>This is the simplest form of linear regression, and it involves only one independent variable and one dependent variable. The equation for simple linear regression is:</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where:</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Y is the dependent variable</a:t>
            </a:r>
            <a:endParaRPr/>
          </a:p>
          <a:p>
            <a:pPr indent="-228600" lvl="0" marL="228600" rtl="0" algn="l">
              <a:lnSpc>
                <a:spcPct val="90000"/>
              </a:lnSpc>
              <a:spcBef>
                <a:spcPts val="1000"/>
              </a:spcBef>
              <a:spcAft>
                <a:spcPts val="0"/>
              </a:spcAft>
              <a:buClr>
                <a:schemeClr val="dk1"/>
              </a:buClr>
              <a:buSzPct val="100000"/>
              <a:buChar char="•"/>
            </a:pPr>
            <a:r>
              <a:rPr lang="en-US"/>
              <a:t>X is the independent variable</a:t>
            </a:r>
            <a:endParaRPr/>
          </a:p>
          <a:p>
            <a:pPr indent="-228600" lvl="0" marL="228600" rtl="0" algn="l">
              <a:lnSpc>
                <a:spcPct val="90000"/>
              </a:lnSpc>
              <a:spcBef>
                <a:spcPts val="1000"/>
              </a:spcBef>
              <a:spcAft>
                <a:spcPts val="0"/>
              </a:spcAft>
              <a:buClr>
                <a:schemeClr val="dk1"/>
              </a:buClr>
              <a:buSzPct val="100000"/>
              <a:buChar char="•"/>
            </a:pPr>
            <a:r>
              <a:rPr lang="en-US"/>
              <a:t>β0 is the intercept</a:t>
            </a:r>
            <a:endParaRPr/>
          </a:p>
          <a:p>
            <a:pPr indent="-228600" lvl="0" marL="228600" rtl="0" algn="l">
              <a:lnSpc>
                <a:spcPct val="90000"/>
              </a:lnSpc>
              <a:spcBef>
                <a:spcPts val="1000"/>
              </a:spcBef>
              <a:spcAft>
                <a:spcPts val="0"/>
              </a:spcAft>
              <a:buClr>
                <a:schemeClr val="dk1"/>
              </a:buClr>
              <a:buSzPct val="100000"/>
              <a:buChar char="•"/>
            </a:pPr>
            <a:r>
              <a:rPr lang="en-US"/>
              <a:t>β1 is the slope</a:t>
            </a:r>
            <a:endParaRPr/>
          </a:p>
        </p:txBody>
      </p:sp>
      <p:sp>
        <p:nvSpPr>
          <p:cNvPr descr="y=\beta_{0}+\beta_{1}X            " id="153" name="Google Shape;153;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54" name="Google Shape;154;p12"/>
          <p:cNvPicPr preferRelativeResize="0"/>
          <p:nvPr/>
        </p:nvPicPr>
        <p:blipFill rotWithShape="1">
          <a:blip r:embed="rId3">
            <a:alphaModFix/>
          </a:blip>
          <a:srcRect b="0" l="0" r="0" t="0"/>
          <a:stretch/>
        </p:blipFill>
        <p:spPr>
          <a:xfrm>
            <a:off x="3998794" y="3115625"/>
            <a:ext cx="2511543" cy="37528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Multiple Linear Regression</a:t>
            </a:r>
            <a:br>
              <a:rPr b="1" lang="en-US"/>
            </a:br>
            <a:endParaRPr/>
          </a:p>
        </p:txBody>
      </p:sp>
      <p:sp>
        <p:nvSpPr>
          <p:cNvPr id="160" name="Google Shape;160;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This involves more than one independent variable and one dependent variable. The equation for multiple linear regression is: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where:</a:t>
            </a:r>
            <a:endParaRPr/>
          </a:p>
          <a:p>
            <a:pPr indent="-228600" lvl="0" marL="228600" rtl="0" algn="l">
              <a:lnSpc>
                <a:spcPct val="90000"/>
              </a:lnSpc>
              <a:spcBef>
                <a:spcPts val="1000"/>
              </a:spcBef>
              <a:spcAft>
                <a:spcPts val="0"/>
              </a:spcAft>
              <a:buClr>
                <a:schemeClr val="dk1"/>
              </a:buClr>
              <a:buSzPts val="2800"/>
              <a:buChar char="•"/>
            </a:pPr>
            <a:r>
              <a:rPr lang="en-US"/>
              <a:t>Y is the dependent variable</a:t>
            </a:r>
            <a:endParaRPr/>
          </a:p>
          <a:p>
            <a:pPr indent="-228600" lvl="0" marL="228600" rtl="0" algn="l">
              <a:lnSpc>
                <a:spcPct val="90000"/>
              </a:lnSpc>
              <a:spcBef>
                <a:spcPts val="1000"/>
              </a:spcBef>
              <a:spcAft>
                <a:spcPts val="0"/>
              </a:spcAft>
              <a:buClr>
                <a:schemeClr val="dk1"/>
              </a:buClr>
              <a:buSzPts val="2800"/>
              <a:buChar char="•"/>
            </a:pPr>
            <a:r>
              <a:rPr lang="en-US"/>
              <a:t>X1, X2, …, Xp are the independent variables</a:t>
            </a:r>
            <a:endParaRPr/>
          </a:p>
          <a:p>
            <a:pPr indent="-228600" lvl="0" marL="228600" rtl="0" algn="l">
              <a:lnSpc>
                <a:spcPct val="90000"/>
              </a:lnSpc>
              <a:spcBef>
                <a:spcPts val="1000"/>
              </a:spcBef>
              <a:spcAft>
                <a:spcPts val="0"/>
              </a:spcAft>
              <a:buClr>
                <a:schemeClr val="dk1"/>
              </a:buClr>
              <a:buSzPts val="2800"/>
              <a:buChar char="•"/>
            </a:pPr>
            <a:r>
              <a:rPr lang="en-US"/>
              <a:t>β0 is the intercept</a:t>
            </a:r>
            <a:endParaRPr/>
          </a:p>
          <a:p>
            <a:pPr indent="-228600" lvl="0" marL="228600" rtl="0" algn="l">
              <a:lnSpc>
                <a:spcPct val="90000"/>
              </a:lnSpc>
              <a:spcBef>
                <a:spcPts val="1000"/>
              </a:spcBef>
              <a:spcAft>
                <a:spcPts val="0"/>
              </a:spcAft>
              <a:buClr>
                <a:schemeClr val="dk1"/>
              </a:buClr>
              <a:buSzPts val="2800"/>
              <a:buChar char="•"/>
            </a:pPr>
            <a:r>
              <a:rPr lang="en-US"/>
              <a:t>β1, β2, …, βn are the slopes</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61" name="Google Shape;161;p13"/>
          <p:cNvPicPr preferRelativeResize="0"/>
          <p:nvPr/>
        </p:nvPicPr>
        <p:blipFill rotWithShape="1">
          <a:blip r:embed="rId3">
            <a:alphaModFix/>
          </a:blip>
          <a:srcRect b="0" l="0" r="0" t="0"/>
          <a:stretch/>
        </p:blipFill>
        <p:spPr>
          <a:xfrm>
            <a:off x="2014153" y="3066294"/>
            <a:ext cx="5969788" cy="35929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Best Fit Line</a:t>
            </a:r>
            <a:endParaRPr/>
          </a:p>
        </p:txBody>
      </p:sp>
      <p:sp>
        <p:nvSpPr>
          <p:cNvPr id="167" name="Google Shape;16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The goal of the algorithm is to find the best Fit Line equation that can predict the values based on the independent variables.</a:t>
            </a:r>
            <a:endParaRPr/>
          </a:p>
          <a:p>
            <a:pPr indent="-50800" lvl="0" marL="228600" rtl="0" algn="l">
              <a:lnSpc>
                <a:spcPct val="90000"/>
              </a:lnSpc>
              <a:spcBef>
                <a:spcPts val="1000"/>
              </a:spcBef>
              <a:spcAft>
                <a:spcPts val="0"/>
              </a:spcAft>
              <a:buClr>
                <a:schemeClr val="dk1"/>
              </a:buClr>
              <a:buSzPts val="2800"/>
              <a:buNone/>
            </a:pPr>
            <a:r>
              <a:t/>
            </a:r>
            <a:endParaRPr b="1"/>
          </a:p>
          <a:p>
            <a:pPr indent="-228600" lvl="0" marL="228600" rtl="0" algn="l">
              <a:lnSpc>
                <a:spcPct val="90000"/>
              </a:lnSpc>
              <a:spcBef>
                <a:spcPts val="1000"/>
              </a:spcBef>
              <a:spcAft>
                <a:spcPts val="0"/>
              </a:spcAft>
              <a:buClr>
                <a:schemeClr val="dk1"/>
              </a:buClr>
              <a:buSzPts val="2800"/>
              <a:buChar char="•"/>
            </a:pPr>
            <a:r>
              <a:rPr lang="en-US"/>
              <a:t>In regression set of records are present with X and Y values and these values are used to learn a function so if you want to predict Y from an unknown X this learned function can be used. </a:t>
            </a:r>
            <a:endParaRPr/>
          </a:p>
          <a:p>
            <a:pPr indent="-228600" lvl="0" marL="228600" rtl="0" algn="l">
              <a:lnSpc>
                <a:spcPct val="90000"/>
              </a:lnSpc>
              <a:spcBef>
                <a:spcPts val="1000"/>
              </a:spcBef>
              <a:spcAft>
                <a:spcPts val="0"/>
              </a:spcAft>
              <a:buClr>
                <a:schemeClr val="dk1"/>
              </a:buClr>
              <a:buSzPts val="2800"/>
              <a:buChar char="•"/>
            </a:pPr>
            <a:r>
              <a:rPr lang="en-US"/>
              <a:t>In regression we have to find the value of Y, So, a function is required that predicts continuous Y in the case of regression given X as independent features.</a:t>
            </a:r>
            <a:endParaRPr b="1"/>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What is the best Fit Line?</a:t>
            </a:r>
            <a:br>
              <a:rPr b="1" lang="en-US"/>
            </a:br>
            <a:endParaRPr/>
          </a:p>
        </p:txBody>
      </p:sp>
      <p:sp>
        <p:nvSpPr>
          <p:cNvPr id="173" name="Google Shape;173;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Our primary objective while using linear regression is to locate the best-fit line, which implies that the error between the predicted and actual values should be kept to a minimum. There will be the least error in the best-fit line.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The best Fit Line equation provides a straight line that represents the relationship between the dependent and independent variables. The slope of the line indicates how much the dependent variable changes for a unit change in the independent variable(s).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16"/>
          <p:cNvPicPr preferRelativeResize="0"/>
          <p:nvPr/>
        </p:nvPicPr>
        <p:blipFill rotWithShape="1">
          <a:blip r:embed="rId3">
            <a:alphaModFix/>
          </a:blip>
          <a:srcRect b="16282" l="3" r="31751" t="32730"/>
          <a:stretch/>
        </p:blipFill>
        <p:spPr>
          <a:xfrm>
            <a:off x="0" y="0"/>
            <a:ext cx="12115901" cy="685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17"/>
          <p:cNvPicPr preferRelativeResize="0"/>
          <p:nvPr/>
        </p:nvPicPr>
        <p:blipFill rotWithShape="1">
          <a:blip r:embed="rId3">
            <a:alphaModFix/>
          </a:blip>
          <a:srcRect b="0" l="0" r="0" t="0"/>
          <a:stretch/>
        </p:blipFill>
        <p:spPr>
          <a:xfrm>
            <a:off x="1333500" y="442912"/>
            <a:ext cx="9525000" cy="59721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Y= Dependent or Targets variable</a:t>
            </a:r>
            <a:endParaRPr/>
          </a:p>
        </p:txBody>
      </p:sp>
      <p:sp>
        <p:nvSpPr>
          <p:cNvPr id="189" name="Google Shape;189;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Here Y is called a dependent or target variable and X is called an independent variable also known as the predictor of Y. There are many types of functions or modules that can be used for regression. A linear function is the simplest type of function. Here, X may be a single feature or multiple features representing the problem.</a:t>
            </a:r>
            <a:endParaRPr/>
          </a:p>
          <a:p>
            <a:pPr indent="-228600" lvl="0" marL="228600" rtl="0" algn="l">
              <a:lnSpc>
                <a:spcPct val="90000"/>
              </a:lnSpc>
              <a:spcBef>
                <a:spcPts val="1000"/>
              </a:spcBef>
              <a:spcAft>
                <a:spcPts val="0"/>
              </a:spcAft>
              <a:buClr>
                <a:schemeClr val="dk1"/>
              </a:buClr>
              <a:buSzPct val="100000"/>
              <a:buChar char="•"/>
            </a:pPr>
            <a:r>
              <a:rPr lang="en-US"/>
              <a:t>Linear regression performs the task to predict a dependent variable value (y) based on a given independent variable (x)). Hence, the name is Linear Regression. In the figure above, X (input) is the work experience and Y (output) is the salary of a person. The regression line is the best-fit line for our model. </a:t>
            </a:r>
            <a:endParaRPr/>
          </a:p>
          <a:p>
            <a:pPr indent="-228600" lvl="0" marL="228600" rtl="0" algn="l">
              <a:lnSpc>
                <a:spcPct val="90000"/>
              </a:lnSpc>
              <a:spcBef>
                <a:spcPts val="1000"/>
              </a:spcBef>
              <a:spcAft>
                <a:spcPts val="0"/>
              </a:spcAft>
              <a:buClr>
                <a:schemeClr val="dk1"/>
              </a:buClr>
              <a:buSzPct val="100000"/>
              <a:buChar char="•"/>
            </a:pPr>
            <a:r>
              <a:rPr lang="en-US"/>
              <a:t>We utilize the cost function to compute the best values in order to get the best fit line since different values for weights or the coefficient of lines result in different regression lines.</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How Are Covariance And Correlation Relevant To Data Analytics?</a:t>
            </a:r>
            <a:br>
              <a:rPr lang="en-US"/>
            </a:br>
            <a:endParaRPr/>
          </a:p>
        </p:txBody>
      </p:sp>
      <p:sp>
        <p:nvSpPr>
          <p:cNvPr id="195" name="Google Shape;195;p19"/>
          <p:cNvSpPr txBox="1"/>
          <p:nvPr>
            <p:ph idx="1" type="body"/>
          </p:nvPr>
        </p:nvSpPr>
        <p:spPr>
          <a:xfrm>
            <a:off x="838200" y="1825625"/>
            <a:ext cx="10515600" cy="4166700"/>
          </a:xfrm>
          <a:prstGeom prst="rect">
            <a:avLst/>
          </a:prstGeom>
          <a:noFill/>
          <a:ln>
            <a:noFill/>
          </a:ln>
        </p:spPr>
        <p:txBody>
          <a:bodyPr anchorCtr="0" anchor="t" bIns="45700" lIns="91425" spcFirstLastPara="1" rIns="91425" wrap="square" tIns="45700">
            <a:normAutofit lnSpcReduction="20000"/>
          </a:bodyPr>
          <a:lstStyle/>
          <a:p>
            <a:pPr indent="-268605" lvl="0" marL="228600" rtl="0" algn="l">
              <a:lnSpc>
                <a:spcPct val="90000"/>
              </a:lnSpc>
              <a:spcBef>
                <a:spcPts val="0"/>
              </a:spcBef>
              <a:spcAft>
                <a:spcPts val="0"/>
              </a:spcAft>
              <a:buClr>
                <a:schemeClr val="dk1"/>
              </a:buClr>
              <a:buSzPts val="2800"/>
              <a:buChar char="•"/>
            </a:pPr>
            <a:r>
              <a:rPr lang="en-US"/>
              <a:t>Covariance and correlation greatly aid in understanding the relationship between two continuous variables.</a:t>
            </a:r>
            <a:endParaRPr/>
          </a:p>
          <a:p>
            <a:pPr indent="-268605" lvl="0" marL="228600" rtl="0" algn="l">
              <a:lnSpc>
                <a:spcPct val="90000"/>
              </a:lnSpc>
              <a:spcBef>
                <a:spcPts val="1000"/>
              </a:spcBef>
              <a:spcAft>
                <a:spcPts val="0"/>
              </a:spcAft>
              <a:buClr>
                <a:schemeClr val="dk1"/>
              </a:buClr>
              <a:buSzPts val="2800"/>
              <a:buChar char="•"/>
            </a:pPr>
            <a:r>
              <a:rPr lang="en-US"/>
              <a:t>Covariance indicates whether two variables fluctuate in the same (positive covariance) or opposite direction (negative covariance). </a:t>
            </a:r>
            <a:endParaRPr/>
          </a:p>
          <a:p>
            <a:pPr indent="-268605" lvl="0" marL="228600" rtl="0" algn="l">
              <a:lnSpc>
                <a:spcPct val="90000"/>
              </a:lnSpc>
              <a:spcBef>
                <a:spcPts val="1000"/>
              </a:spcBef>
              <a:spcAft>
                <a:spcPts val="0"/>
              </a:spcAft>
              <a:buClr>
                <a:schemeClr val="dk1"/>
              </a:buClr>
              <a:buSzPts val="2800"/>
              <a:buChar char="•"/>
            </a:pPr>
            <a:r>
              <a:rPr lang="en-US"/>
              <a:t>The numerical value of covariance has no importance; only the sign is relevant. </a:t>
            </a:r>
            <a:endParaRPr/>
          </a:p>
          <a:p>
            <a:pPr indent="-268605" lvl="0" marL="228600" rtl="0" algn="l">
              <a:lnSpc>
                <a:spcPct val="90000"/>
              </a:lnSpc>
              <a:spcBef>
                <a:spcPts val="1000"/>
              </a:spcBef>
              <a:spcAft>
                <a:spcPts val="0"/>
              </a:spcAft>
              <a:buClr>
                <a:schemeClr val="dk1"/>
              </a:buClr>
              <a:buSzPts val="2800"/>
              <a:buChar char="•"/>
            </a:pPr>
            <a:r>
              <a:rPr lang="en-US"/>
              <a:t>Correlation, on the other hand, describes how a change in one variable leads to a change in the percentage of the second variable. Correlation ranges from -1 to +1.</a:t>
            </a:r>
            <a:endParaRPr/>
          </a:p>
          <a:p>
            <a:pPr indent="-268605" lvl="0" marL="228600" rtl="0" algn="l">
              <a:lnSpc>
                <a:spcPct val="90000"/>
              </a:lnSpc>
              <a:spcBef>
                <a:spcPts val="1000"/>
              </a:spcBef>
              <a:spcAft>
                <a:spcPts val="0"/>
              </a:spcAft>
              <a:buClr>
                <a:schemeClr val="dk1"/>
              </a:buClr>
              <a:buSzPts val="2800"/>
              <a:buChar char="•"/>
            </a:pPr>
            <a:r>
              <a:rPr lang="en-US"/>
              <a:t>If the correlation value is 0, it suggests that there is no linear link between the variables, but another functional relationship may exist.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Covariance?</a:t>
            </a:r>
            <a:br>
              <a:rPr lang="en-US"/>
            </a:br>
            <a:endParaRPr/>
          </a:p>
        </p:txBody>
      </p:sp>
      <p:sp>
        <p:nvSpPr>
          <p:cNvPr id="201" name="Google Shape;20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Covariance is a statistical term that refers to a systematic relationship between two random variables in which a change in the other reflects a change in one variable.</a:t>
            </a:r>
            <a:endParaRPr/>
          </a:p>
          <a:p>
            <a:pPr indent="-7747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The covariance value can range from -∞ to +∞, with a negative value indicating a negative relationship and a positive value indicating a positive relationship.</a:t>
            </a:r>
            <a:endParaRPr/>
          </a:p>
          <a:p>
            <a:pPr indent="-7747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The greater this number, the more reliant the relationship. Positive covariance denotes a direct relationship and is represented by a positive number.</a:t>
            </a:r>
            <a:endParaRPr/>
          </a:p>
          <a:p>
            <a:pPr indent="-228600" lvl="0" marL="228600" rtl="0" algn="l">
              <a:lnSpc>
                <a:spcPct val="90000"/>
              </a:lnSpc>
              <a:spcBef>
                <a:spcPts val="1000"/>
              </a:spcBef>
              <a:spcAft>
                <a:spcPts val="0"/>
              </a:spcAft>
              <a:buClr>
                <a:schemeClr val="dk1"/>
              </a:buClr>
              <a:buSzPct val="100000"/>
              <a:buChar char="•"/>
            </a:pPr>
            <a:r>
              <a:rPr lang="en-US"/>
              <a:t>A negative number, on the other hand, denotes negative covariance, which indicates an inverse relationship between the two variables.</a:t>
            </a:r>
            <a:endParaRPr/>
          </a:p>
          <a:p>
            <a:pPr indent="-228600" lvl="0" marL="228600" rtl="0" algn="l">
              <a:lnSpc>
                <a:spcPct val="90000"/>
              </a:lnSpc>
              <a:spcBef>
                <a:spcPts val="1000"/>
              </a:spcBef>
              <a:spcAft>
                <a:spcPts val="0"/>
              </a:spcAft>
              <a:buClr>
                <a:schemeClr val="dk1"/>
              </a:buClr>
              <a:buSzPct val="100000"/>
              <a:buChar char="•"/>
            </a:pPr>
            <a:r>
              <a:rPr lang="en-US"/>
              <a:t> Covariance is great for defining the type of relationship, but it's terrible for interpreting the magnitude.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21"/>
          <p:cNvPicPr preferRelativeResize="0"/>
          <p:nvPr/>
        </p:nvPicPr>
        <p:blipFill rotWithShape="1">
          <a:blip r:embed="rId3">
            <a:alphaModFix/>
          </a:blip>
          <a:srcRect b="0" l="0" r="0" t="0"/>
          <a:stretch/>
        </p:blipFill>
        <p:spPr>
          <a:xfrm>
            <a:off x="1081015" y="863373"/>
            <a:ext cx="9348445" cy="473914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Equation of Covariance</a:t>
            </a:r>
            <a:endParaRPr/>
          </a:p>
        </p:txBody>
      </p:sp>
      <p:sp>
        <p:nvSpPr>
          <p:cNvPr id="212" name="Google Shape;212;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Let Σ(X) and Σ(Y) be the expected values of the variables, the covariance formula can be represented as.</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Where,</a:t>
            </a:r>
            <a:endParaRPr/>
          </a:p>
          <a:p>
            <a:pPr indent="-228600" lvl="0" marL="228600" rtl="0" algn="l">
              <a:lnSpc>
                <a:spcPct val="90000"/>
              </a:lnSpc>
              <a:spcBef>
                <a:spcPts val="1000"/>
              </a:spcBef>
              <a:spcAft>
                <a:spcPts val="0"/>
              </a:spcAft>
              <a:buClr>
                <a:schemeClr val="dk1"/>
              </a:buClr>
              <a:buSzPct val="100000"/>
              <a:buChar char="•"/>
            </a:pPr>
            <a:r>
              <a:rPr lang="en-US"/>
              <a:t>xi = data value of x</a:t>
            </a:r>
            <a:endParaRPr/>
          </a:p>
          <a:p>
            <a:pPr indent="-228600" lvl="0" marL="228600" rtl="0" algn="l">
              <a:lnSpc>
                <a:spcPct val="90000"/>
              </a:lnSpc>
              <a:spcBef>
                <a:spcPts val="1000"/>
              </a:spcBef>
              <a:spcAft>
                <a:spcPts val="0"/>
              </a:spcAft>
              <a:buClr>
                <a:schemeClr val="dk1"/>
              </a:buClr>
              <a:buSzPct val="100000"/>
              <a:buChar char="•"/>
            </a:pPr>
            <a:r>
              <a:rPr lang="en-US"/>
              <a:t>yi = data value of y</a:t>
            </a:r>
            <a:endParaRPr/>
          </a:p>
          <a:p>
            <a:pPr indent="-228600" lvl="0" marL="228600" rtl="0" algn="l">
              <a:lnSpc>
                <a:spcPct val="90000"/>
              </a:lnSpc>
              <a:spcBef>
                <a:spcPts val="1000"/>
              </a:spcBef>
              <a:spcAft>
                <a:spcPts val="0"/>
              </a:spcAft>
              <a:buClr>
                <a:schemeClr val="dk1"/>
              </a:buClr>
              <a:buSzPct val="100000"/>
              <a:buChar char="•"/>
            </a:pPr>
            <a:r>
              <a:rPr lang="en-US"/>
              <a:t>x̄ = mean of x</a:t>
            </a:r>
            <a:endParaRPr/>
          </a:p>
          <a:p>
            <a:pPr indent="-228600" lvl="0" marL="228600" rtl="0" algn="l">
              <a:lnSpc>
                <a:spcPct val="90000"/>
              </a:lnSpc>
              <a:spcBef>
                <a:spcPts val="1000"/>
              </a:spcBef>
              <a:spcAft>
                <a:spcPts val="0"/>
              </a:spcAft>
              <a:buClr>
                <a:schemeClr val="dk1"/>
              </a:buClr>
              <a:buSzPct val="100000"/>
              <a:buChar char="•"/>
            </a:pPr>
            <a:r>
              <a:rPr lang="en-US"/>
              <a:t>ȳ = mean of y</a:t>
            </a:r>
            <a:endParaRPr/>
          </a:p>
          <a:p>
            <a:pPr indent="-228600" lvl="0" marL="228600" rtl="0" algn="l">
              <a:lnSpc>
                <a:spcPct val="90000"/>
              </a:lnSpc>
              <a:spcBef>
                <a:spcPts val="1000"/>
              </a:spcBef>
              <a:spcAft>
                <a:spcPts val="0"/>
              </a:spcAft>
              <a:buClr>
                <a:schemeClr val="dk1"/>
              </a:buClr>
              <a:buSzPct val="100000"/>
              <a:buChar char="•"/>
            </a:pPr>
            <a:r>
              <a:rPr lang="en-US"/>
              <a:t>N = number of data values.</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descr="cov-1" id="213" name="Google Shape;213;p22"/>
          <p:cNvPicPr preferRelativeResize="0"/>
          <p:nvPr/>
        </p:nvPicPr>
        <p:blipFill rotWithShape="1">
          <a:blip r:embed="rId3">
            <a:alphaModFix/>
          </a:blip>
          <a:srcRect b="0" l="0" r="0" t="0"/>
          <a:stretch/>
        </p:blipFill>
        <p:spPr>
          <a:xfrm>
            <a:off x="3403742" y="2859230"/>
            <a:ext cx="4686300" cy="8191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Variance &amp; Covariance</a:t>
            </a:r>
            <a:endParaRPr/>
          </a:p>
        </p:txBody>
      </p:sp>
      <p:sp>
        <p:nvSpPr>
          <p:cNvPr id="219" name="Google Shape;219;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15265" lvl="0" marL="228600" rtl="0" algn="l">
              <a:lnSpc>
                <a:spcPct val="90000"/>
              </a:lnSpc>
              <a:spcBef>
                <a:spcPts val="0"/>
              </a:spcBef>
              <a:spcAft>
                <a:spcPts val="0"/>
              </a:spcAft>
              <a:buClr>
                <a:schemeClr val="dk1"/>
              </a:buClr>
              <a:buSzPct val="100000"/>
              <a:buChar char="•"/>
            </a:pPr>
            <a:r>
              <a:rPr b="1" lang="en-US"/>
              <a:t>Variance and SD are purely 1-dimensional.</a:t>
            </a:r>
            <a:endParaRPr b="1"/>
          </a:p>
          <a:p>
            <a:pPr indent="-215265" lvl="0" marL="228600" rtl="0" algn="l">
              <a:lnSpc>
                <a:spcPct val="90000"/>
              </a:lnSpc>
              <a:spcBef>
                <a:spcPts val="0"/>
              </a:spcBef>
              <a:spcAft>
                <a:spcPts val="0"/>
              </a:spcAft>
              <a:buClr>
                <a:schemeClr val="dk1"/>
              </a:buClr>
              <a:buSzPct val="100000"/>
              <a:buChar char="•"/>
            </a:pPr>
            <a:r>
              <a:rPr lang="en-US"/>
              <a:t>Data sets like this could be: height of all the people in the room,marks for the last ML exam etc.</a:t>
            </a:r>
            <a:endParaRPr/>
          </a:p>
          <a:p>
            <a:pPr indent="-215265" lvl="0" marL="228600" rtl="0" algn="l">
              <a:lnSpc>
                <a:spcPct val="90000"/>
              </a:lnSpc>
              <a:spcBef>
                <a:spcPts val="1000"/>
              </a:spcBef>
              <a:spcAft>
                <a:spcPts val="0"/>
              </a:spcAft>
              <a:buClr>
                <a:schemeClr val="dk1"/>
              </a:buClr>
              <a:buSzPct val="100000"/>
              <a:buChar char="•"/>
            </a:pPr>
            <a:r>
              <a:rPr b="1" lang="en-US"/>
              <a:t>However many data sets have more than one dimensions </a:t>
            </a:r>
            <a:r>
              <a:rPr lang="en-US"/>
              <a:t>, an the aim of the statistical analysis of these data sets is usually to see if there is any relationship between the dimensions.</a:t>
            </a:r>
            <a:endParaRPr/>
          </a:p>
          <a:p>
            <a:pPr indent="-215265" lvl="0" marL="228600" rtl="0" algn="l">
              <a:lnSpc>
                <a:spcPct val="90000"/>
              </a:lnSpc>
              <a:spcBef>
                <a:spcPts val="1000"/>
              </a:spcBef>
              <a:spcAft>
                <a:spcPts val="0"/>
              </a:spcAft>
              <a:buClr>
                <a:schemeClr val="dk1"/>
              </a:buClr>
              <a:buSzPct val="100000"/>
              <a:buChar char="•"/>
            </a:pPr>
            <a:r>
              <a:rPr lang="en-US"/>
              <a:t>For example, we might have as our data set both the height of all the students in a class,and the mark they received for that paper.</a:t>
            </a:r>
            <a:endParaRPr/>
          </a:p>
          <a:p>
            <a:pPr indent="-215265" lvl="0" marL="228600" rtl="0" algn="l">
              <a:lnSpc>
                <a:spcPct val="90000"/>
              </a:lnSpc>
              <a:spcBef>
                <a:spcPts val="1000"/>
              </a:spcBef>
              <a:spcAft>
                <a:spcPts val="0"/>
              </a:spcAft>
              <a:buClr>
                <a:schemeClr val="dk1"/>
              </a:buClr>
              <a:buSzPct val="100000"/>
              <a:buChar char="•"/>
            </a:pPr>
            <a:r>
              <a:rPr lang="en-US"/>
              <a:t>We could then perform statistical analysis to see if the height of a student has any effect on their mark.It is useful to have measure to find out how much the dimensions vary from the mean with respect o each other.</a:t>
            </a:r>
            <a:endParaRPr/>
          </a:p>
          <a:p>
            <a:pPr indent="-215265" lvl="0" marL="228600" rtl="0" algn="l">
              <a:lnSpc>
                <a:spcPct val="90000"/>
              </a:lnSpc>
              <a:spcBef>
                <a:spcPts val="1000"/>
              </a:spcBef>
              <a:spcAft>
                <a:spcPts val="0"/>
              </a:spcAft>
              <a:buClr>
                <a:schemeClr val="dk1"/>
              </a:buClr>
              <a:buSzPct val="100000"/>
              <a:buChar char="•"/>
            </a:pPr>
            <a:r>
              <a:rPr b="1" lang="en-US"/>
              <a:t>Covariance</a:t>
            </a:r>
            <a:r>
              <a:rPr lang="en-US"/>
              <a:t> is such a measure.it is always measured between 2 dimensions.If we calculate the covariance between one dimension and itself, you get the variance.So if we had a three dimensional data set (x,y,z), then we could measure the covariance between the x and y dimensions, the x and z dimensions, and the y and z dimensions. </a:t>
            </a:r>
            <a:endParaRPr/>
          </a:p>
          <a:p>
            <a:pPr indent="-215265" lvl="0" marL="228600" rtl="0" algn="l">
              <a:lnSpc>
                <a:spcPct val="90000"/>
              </a:lnSpc>
              <a:spcBef>
                <a:spcPts val="1000"/>
              </a:spcBef>
              <a:spcAft>
                <a:spcPts val="0"/>
              </a:spcAft>
              <a:buClr>
                <a:schemeClr val="dk1"/>
              </a:buClr>
              <a:buSzPct val="100000"/>
              <a:buChar char="•"/>
            </a:pPr>
            <a:r>
              <a:rPr lang="en-US"/>
              <a:t>Measuring the covariance between x and x, or y and y , or z and z would give us the </a:t>
            </a:r>
            <a:r>
              <a:rPr b="1" lang="en-US"/>
              <a:t>variance</a:t>
            </a:r>
            <a:r>
              <a:rPr lang="en-US"/>
              <a:t> of the x,y and z dimensions respectively.</a:t>
            </a:r>
            <a:endParaRPr/>
          </a:p>
          <a:p>
            <a:pPr indent="-90804"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Standard Deviation (SD):</a:t>
            </a:r>
            <a:br>
              <a:rPr lang="en-US"/>
            </a:br>
            <a:endParaRPr/>
          </a:p>
        </p:txBody>
      </p:sp>
      <p:sp>
        <p:nvSpPr>
          <p:cNvPr id="225" name="Google Shape;225;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62500" lnSpcReduction="20000"/>
          </a:bodyPr>
          <a:lstStyle/>
          <a:p>
            <a:pPr indent="-117475" lvl="0" marL="228600" rtl="0" algn="l">
              <a:lnSpc>
                <a:spcPct val="90000"/>
              </a:lnSpc>
              <a:spcBef>
                <a:spcPts val="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What it measures: SD quantifies how spread out a set of data values is from its average (mean). A higher SD indicates more spread, while a lower SD indicates values closer to the mean.</a:t>
            </a:r>
            <a:endParaRPr/>
          </a:p>
          <a:p>
            <a:pPr indent="-11747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Formula:</a:t>
            </a:r>
            <a:endParaRPr/>
          </a:p>
          <a:p>
            <a:pPr indent="-11747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SD = sqrt(sum((x - mean)^2) / (n - 1))</a:t>
            </a:r>
            <a:endParaRPr/>
          </a:p>
          <a:p>
            <a:pPr indent="-228600" lvl="0" marL="228600" rtl="0" algn="l">
              <a:lnSpc>
                <a:spcPct val="90000"/>
              </a:lnSpc>
              <a:spcBef>
                <a:spcPts val="1000"/>
              </a:spcBef>
              <a:spcAft>
                <a:spcPts val="0"/>
              </a:spcAft>
              <a:buClr>
                <a:schemeClr val="dk1"/>
              </a:buClr>
              <a:buSzPct val="100000"/>
              <a:buChar char="•"/>
            </a:pPr>
            <a:r>
              <a:rPr lang="en-US"/>
              <a:t>x: a data value</a:t>
            </a:r>
            <a:endParaRPr/>
          </a:p>
          <a:p>
            <a:pPr indent="-228600" lvl="0" marL="228600" rtl="0" algn="l">
              <a:lnSpc>
                <a:spcPct val="90000"/>
              </a:lnSpc>
              <a:spcBef>
                <a:spcPts val="1000"/>
              </a:spcBef>
              <a:spcAft>
                <a:spcPts val="0"/>
              </a:spcAft>
              <a:buClr>
                <a:schemeClr val="dk1"/>
              </a:buClr>
              <a:buSzPct val="100000"/>
              <a:buChar char="•"/>
            </a:pPr>
            <a:r>
              <a:rPr lang="en-US"/>
              <a:t>mean: the average of all data values (calculated as sum(x)/n)</a:t>
            </a:r>
            <a:endParaRPr/>
          </a:p>
          <a:p>
            <a:pPr indent="-228600" lvl="0" marL="228600" rtl="0" algn="l">
              <a:lnSpc>
                <a:spcPct val="90000"/>
              </a:lnSpc>
              <a:spcBef>
                <a:spcPts val="1000"/>
              </a:spcBef>
              <a:spcAft>
                <a:spcPts val="0"/>
              </a:spcAft>
              <a:buClr>
                <a:schemeClr val="dk1"/>
              </a:buClr>
              <a:buSzPct val="100000"/>
              <a:buChar char="•"/>
            </a:pPr>
            <a:r>
              <a:rPr lang="en-US"/>
              <a:t>n: the number of data values</a:t>
            </a:r>
            <a:endParaRPr/>
          </a:p>
          <a:p>
            <a:pPr indent="-228600" lvl="0" marL="228600" rtl="0" algn="l">
              <a:lnSpc>
                <a:spcPct val="90000"/>
              </a:lnSpc>
              <a:spcBef>
                <a:spcPts val="1000"/>
              </a:spcBef>
              <a:spcAft>
                <a:spcPts val="0"/>
              </a:spcAft>
              <a:buClr>
                <a:schemeClr val="dk1"/>
              </a:buClr>
              <a:buSzPct val="100000"/>
              <a:buChar char="•"/>
            </a:pPr>
            <a:r>
              <a:rPr lang="en-US"/>
              <a:t>^2: squaring</a:t>
            </a:r>
            <a:endParaRPr/>
          </a:p>
          <a:p>
            <a:pPr indent="-228600" lvl="0" marL="228600" rtl="0" algn="l">
              <a:lnSpc>
                <a:spcPct val="90000"/>
              </a:lnSpc>
              <a:spcBef>
                <a:spcPts val="1000"/>
              </a:spcBef>
              <a:spcAft>
                <a:spcPts val="0"/>
              </a:spcAft>
              <a:buClr>
                <a:schemeClr val="dk1"/>
              </a:buClr>
              <a:buSzPct val="100000"/>
              <a:buChar char="•"/>
            </a:pPr>
            <a:r>
              <a:rPr lang="en-US"/>
              <a:t>Real-world example:</a:t>
            </a:r>
            <a:endParaRPr/>
          </a:p>
          <a:p>
            <a:pPr indent="-228600" lvl="0" marL="228600" rtl="0" algn="l">
              <a:lnSpc>
                <a:spcPct val="90000"/>
              </a:lnSpc>
              <a:spcBef>
                <a:spcPts val="1000"/>
              </a:spcBef>
              <a:spcAft>
                <a:spcPts val="0"/>
              </a:spcAft>
              <a:buClr>
                <a:schemeClr val="dk1"/>
              </a:buClr>
              <a:buSzPct val="100000"/>
              <a:buChar char="•"/>
            </a:pPr>
            <a:r>
              <a:rPr lang="en-US"/>
              <a:t>Imagine comparing test scores in two classes. Class A's SD might be 10 points, meaning scores vary more widely from the average, while Class B's SD of 5 points suggests scores are more clustered around the mean.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Variance:</a:t>
            </a:r>
            <a:endParaRPr/>
          </a:p>
        </p:txBody>
      </p:sp>
      <p:sp>
        <p:nvSpPr>
          <p:cNvPr id="231" name="Google Shape;231;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What it measures: Variance is the average squared deviation from the mean. It essentially tells you what the average squared distance of each data point is from the mean.</a:t>
            </a:r>
            <a:endParaRPr/>
          </a:p>
          <a:p>
            <a:pPr indent="-228600" lvl="0" marL="228600" rtl="0" algn="l">
              <a:lnSpc>
                <a:spcPct val="90000"/>
              </a:lnSpc>
              <a:spcBef>
                <a:spcPts val="1000"/>
              </a:spcBef>
              <a:spcAft>
                <a:spcPts val="0"/>
              </a:spcAft>
              <a:buClr>
                <a:schemeClr val="dk1"/>
              </a:buClr>
              <a:buSzPct val="100000"/>
              <a:buChar char="•"/>
            </a:pPr>
            <a:r>
              <a:rPr lang="en-US"/>
              <a:t>Formula:</a:t>
            </a:r>
            <a:endParaRPr/>
          </a:p>
          <a:p>
            <a:pPr indent="-228600" lvl="0" marL="228600" rtl="0" algn="l">
              <a:lnSpc>
                <a:spcPct val="90000"/>
              </a:lnSpc>
              <a:spcBef>
                <a:spcPts val="1000"/>
              </a:spcBef>
              <a:spcAft>
                <a:spcPts val="0"/>
              </a:spcAft>
              <a:buClr>
                <a:schemeClr val="dk1"/>
              </a:buClr>
              <a:buSzPct val="100000"/>
              <a:buChar char="•"/>
            </a:pPr>
            <a:r>
              <a:rPr lang="en-US"/>
              <a:t>Variance = sum((x - mean)^2) / (n - 1)</a:t>
            </a:r>
            <a:endParaRPr/>
          </a:p>
          <a:p>
            <a:pPr indent="-228600" lvl="0" marL="228600" rtl="0" algn="l">
              <a:lnSpc>
                <a:spcPct val="90000"/>
              </a:lnSpc>
              <a:spcBef>
                <a:spcPts val="1000"/>
              </a:spcBef>
              <a:spcAft>
                <a:spcPts val="0"/>
              </a:spcAft>
              <a:buClr>
                <a:schemeClr val="dk1"/>
              </a:buClr>
              <a:buSzPct val="100000"/>
              <a:buChar char="•"/>
            </a:pPr>
            <a:r>
              <a:rPr lang="en-US"/>
              <a:t>Same definitions as in the SD formula.</a:t>
            </a:r>
            <a:endParaRPr/>
          </a:p>
          <a:p>
            <a:pPr indent="-228600" lvl="0" marL="228600" rtl="0" algn="l">
              <a:lnSpc>
                <a:spcPct val="90000"/>
              </a:lnSpc>
              <a:spcBef>
                <a:spcPts val="1000"/>
              </a:spcBef>
              <a:spcAft>
                <a:spcPts val="0"/>
              </a:spcAft>
              <a:buClr>
                <a:schemeClr val="dk1"/>
              </a:buClr>
              <a:buSzPct val="100000"/>
              <a:buChar char="•"/>
            </a:pPr>
            <a:r>
              <a:rPr lang="en-US"/>
              <a:t>Real-world example:</a:t>
            </a:r>
            <a:endParaRPr/>
          </a:p>
          <a:p>
            <a:pPr indent="-228600" lvl="0" marL="228600" rtl="0" algn="l">
              <a:lnSpc>
                <a:spcPct val="90000"/>
              </a:lnSpc>
              <a:spcBef>
                <a:spcPts val="1000"/>
              </a:spcBef>
              <a:spcAft>
                <a:spcPts val="0"/>
              </a:spcAft>
              <a:buClr>
                <a:schemeClr val="dk1"/>
              </a:buClr>
              <a:buSzPct val="100000"/>
              <a:buChar char="•"/>
            </a:pPr>
            <a:r>
              <a:rPr lang="en-US"/>
              <a:t>Continuing with the test scores analogy, Class A's variance might be 100 points^2, while Class B's is 25 points^2.</a:t>
            </a:r>
            <a:endParaRPr/>
          </a:p>
          <a:p>
            <a:pPr indent="-228600" lvl="0" marL="228600" rtl="0" algn="l">
              <a:lnSpc>
                <a:spcPct val="90000"/>
              </a:lnSpc>
              <a:spcBef>
                <a:spcPts val="1000"/>
              </a:spcBef>
              <a:spcAft>
                <a:spcPts val="0"/>
              </a:spcAft>
              <a:buClr>
                <a:schemeClr val="dk1"/>
              </a:buClr>
              <a:buSzPct val="100000"/>
              <a:buChar char="•"/>
            </a:pPr>
            <a:r>
              <a:rPr b="1" lang="en-US"/>
              <a:t> This reflects the same spread pattern as SD but expresses it in squared units.</a:t>
            </a:r>
            <a:endParaRPr b="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6"/>
          <p:cNvSpPr txBox="1"/>
          <p:nvPr>
            <p:ph type="title"/>
          </p:nvPr>
        </p:nvSpPr>
        <p:spPr>
          <a:xfrm>
            <a:off x="838200" y="365125"/>
            <a:ext cx="10515600" cy="830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How does this work ?</a:t>
            </a:r>
            <a:endParaRPr/>
          </a:p>
        </p:txBody>
      </p:sp>
      <p:sp>
        <p:nvSpPr>
          <p:cNvPr id="237" name="Google Shape;237;p26"/>
          <p:cNvSpPr txBox="1"/>
          <p:nvPr>
            <p:ph idx="1" type="body"/>
          </p:nvPr>
        </p:nvSpPr>
        <p:spPr>
          <a:xfrm>
            <a:off x="838200" y="1432626"/>
            <a:ext cx="10515600" cy="4744500"/>
          </a:xfrm>
          <a:prstGeom prst="rect">
            <a:avLst/>
          </a:prstGeom>
          <a:noFill/>
          <a:ln>
            <a:noFill/>
          </a:ln>
        </p:spPr>
        <p:txBody>
          <a:bodyPr anchorCtr="0" anchor="t" bIns="45700" lIns="91425" spcFirstLastPara="1" rIns="91425" wrap="square" tIns="45700">
            <a:noAutofit/>
          </a:bodyPr>
          <a:lstStyle/>
          <a:p>
            <a:pPr indent="-254000" lvl="0" marL="228600" rtl="0" algn="l">
              <a:lnSpc>
                <a:spcPct val="70000"/>
              </a:lnSpc>
              <a:spcBef>
                <a:spcPts val="0"/>
              </a:spcBef>
              <a:spcAft>
                <a:spcPts val="0"/>
              </a:spcAft>
              <a:buClr>
                <a:schemeClr val="dk1"/>
              </a:buClr>
              <a:buSzPts val="2360"/>
              <a:buChar char="•"/>
            </a:pPr>
            <a:r>
              <a:rPr lang="en-US" sz="2360"/>
              <a:t>Imagine we have gone into the world and collected some 2-dimensional data,say we have asked a bunch of students how many hours in total that they spent studying ML , and the mark that they received . So we have two dimensions, the first is the H dimension, the hours studied, and the second is the M dimension,the mark received.</a:t>
            </a:r>
            <a:endParaRPr sz="2360"/>
          </a:p>
          <a:p>
            <a:pPr indent="-254000" lvl="0" marL="228600" rtl="0" algn="l">
              <a:lnSpc>
                <a:spcPct val="70000"/>
              </a:lnSpc>
              <a:spcBef>
                <a:spcPts val="1000"/>
              </a:spcBef>
              <a:spcAft>
                <a:spcPts val="0"/>
              </a:spcAft>
              <a:buClr>
                <a:schemeClr val="dk1"/>
              </a:buClr>
              <a:buSzPts val="2360"/>
              <a:buChar char="•"/>
            </a:pPr>
            <a:r>
              <a:rPr lang="en-US" sz="2360"/>
              <a:t>So what does the covariance between H and M tells us ?</a:t>
            </a:r>
            <a:endParaRPr sz="2360"/>
          </a:p>
          <a:p>
            <a:pPr indent="-254000" lvl="0" marL="228600" rtl="0" algn="l">
              <a:lnSpc>
                <a:spcPct val="70000"/>
              </a:lnSpc>
              <a:spcBef>
                <a:spcPts val="1000"/>
              </a:spcBef>
              <a:spcAft>
                <a:spcPts val="0"/>
              </a:spcAft>
              <a:buClr>
                <a:schemeClr val="dk1"/>
              </a:buClr>
              <a:buSzPts val="2360"/>
              <a:buChar char="•"/>
            </a:pPr>
            <a:r>
              <a:rPr lang="en-US" sz="2360"/>
              <a:t> The exact value is not as important as it's sign(ie. positive or negative). </a:t>
            </a:r>
            <a:endParaRPr sz="2360"/>
          </a:p>
          <a:p>
            <a:pPr indent="-254000" lvl="0" marL="228600" rtl="0" algn="l">
              <a:lnSpc>
                <a:spcPct val="70000"/>
              </a:lnSpc>
              <a:spcBef>
                <a:spcPts val="1000"/>
              </a:spcBef>
              <a:spcAft>
                <a:spcPts val="0"/>
              </a:spcAft>
              <a:buClr>
                <a:schemeClr val="dk1"/>
              </a:buClr>
              <a:buSzPts val="2360"/>
              <a:buChar char="•"/>
            </a:pPr>
            <a:r>
              <a:rPr b="1" lang="en-US" sz="2360"/>
              <a:t>if the value is positive, </a:t>
            </a:r>
            <a:r>
              <a:rPr lang="en-US" sz="2360"/>
              <a:t>then that indicates that both dimensions increase together, meaning that, in general, as the number of hours of study increased,so did the final mark.</a:t>
            </a:r>
            <a:endParaRPr sz="2360"/>
          </a:p>
          <a:p>
            <a:pPr indent="-104140" lvl="0" marL="228600" rtl="0" algn="l">
              <a:lnSpc>
                <a:spcPct val="70000"/>
              </a:lnSpc>
              <a:spcBef>
                <a:spcPts val="1000"/>
              </a:spcBef>
              <a:spcAft>
                <a:spcPts val="0"/>
              </a:spcAft>
              <a:buClr>
                <a:schemeClr val="dk1"/>
              </a:buClr>
              <a:buSzPts val="1960"/>
              <a:buNone/>
            </a:pPr>
            <a:r>
              <a:t/>
            </a:r>
            <a:endParaRPr sz="2360"/>
          </a:p>
          <a:p>
            <a:pPr indent="-254000" lvl="0" marL="228600" rtl="0" algn="l">
              <a:lnSpc>
                <a:spcPct val="70000"/>
              </a:lnSpc>
              <a:spcBef>
                <a:spcPts val="1000"/>
              </a:spcBef>
              <a:spcAft>
                <a:spcPts val="0"/>
              </a:spcAft>
              <a:buClr>
                <a:schemeClr val="dk1"/>
              </a:buClr>
              <a:buSzPts val="2360"/>
              <a:buChar char="•"/>
            </a:pPr>
            <a:r>
              <a:rPr b="1" lang="en-US" sz="2360"/>
              <a:t>If the value is negative</a:t>
            </a:r>
            <a:r>
              <a:rPr lang="en-US" sz="2360"/>
              <a:t>,then as one dimension increase the other decreases.</a:t>
            </a:r>
            <a:endParaRPr sz="2360"/>
          </a:p>
          <a:p>
            <a:pPr indent="-254000" lvl="0" marL="228600" rtl="0" algn="l">
              <a:lnSpc>
                <a:spcPct val="70000"/>
              </a:lnSpc>
              <a:spcBef>
                <a:spcPts val="1000"/>
              </a:spcBef>
              <a:spcAft>
                <a:spcPts val="0"/>
              </a:spcAft>
              <a:buClr>
                <a:schemeClr val="dk1"/>
              </a:buClr>
              <a:buSzPts val="2360"/>
              <a:buChar char="•"/>
            </a:pPr>
            <a:r>
              <a:rPr lang="en-US" sz="2360"/>
              <a:t>If we had ended up with a negative covariance then would mean opposite, that as the number of hours of study increased the final mark decreased.</a:t>
            </a:r>
            <a:endParaRPr sz="2360"/>
          </a:p>
          <a:p>
            <a:pPr indent="-254000" lvl="0" marL="228600" rtl="0" algn="l">
              <a:lnSpc>
                <a:spcPct val="70000"/>
              </a:lnSpc>
              <a:spcBef>
                <a:spcPts val="1000"/>
              </a:spcBef>
              <a:spcAft>
                <a:spcPts val="0"/>
              </a:spcAft>
              <a:buClr>
                <a:schemeClr val="dk1"/>
              </a:buClr>
              <a:buSzPts val="2360"/>
              <a:buChar char="•"/>
            </a:pPr>
            <a:r>
              <a:rPr lang="en-US" sz="2360"/>
              <a:t>In the last case, if the covariance is zero,it indicates that the two dimensions are independent of each other.</a:t>
            </a:r>
            <a:endParaRPr sz="236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Covariance</a:t>
            </a:r>
            <a:br>
              <a:rPr lang="en-US"/>
            </a:br>
            <a:endParaRPr/>
          </a:p>
        </p:txBody>
      </p:sp>
      <p:sp>
        <p:nvSpPr>
          <p:cNvPr id="243" name="Google Shape;243;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Covariance can be either positive or negative. It is classified into two sorts based on this</a:t>
            </a:r>
            <a:endParaRPr/>
          </a:p>
          <a:p>
            <a:pPr indent="-228600" lvl="0" marL="228600" rtl="0" algn="l">
              <a:lnSpc>
                <a:spcPct val="90000"/>
              </a:lnSpc>
              <a:spcBef>
                <a:spcPts val="1000"/>
              </a:spcBef>
              <a:spcAft>
                <a:spcPts val="0"/>
              </a:spcAft>
              <a:buClr>
                <a:schemeClr val="dk1"/>
              </a:buClr>
              <a:buSzPct val="100000"/>
              <a:buChar char="•"/>
            </a:pPr>
            <a:r>
              <a:rPr lang="en-US"/>
              <a:t>Positive Covariance</a:t>
            </a:r>
            <a:endParaRPr/>
          </a:p>
          <a:p>
            <a:pPr indent="-228600" lvl="0" marL="228600" rtl="0" algn="l">
              <a:lnSpc>
                <a:spcPct val="90000"/>
              </a:lnSpc>
              <a:spcBef>
                <a:spcPts val="1000"/>
              </a:spcBef>
              <a:spcAft>
                <a:spcPts val="0"/>
              </a:spcAft>
              <a:buClr>
                <a:schemeClr val="dk1"/>
              </a:buClr>
              <a:buSzPct val="100000"/>
              <a:buChar char="•"/>
            </a:pPr>
            <a:r>
              <a:rPr lang="en-US"/>
              <a:t>A positive covariance between two variables indicates that they are heading in the same direction. The variables, in this case, behave similarly. That is, if the values of one variable (more or smaller) correspond to the values of another variable, they are said to be in positive covariance.</a:t>
            </a:r>
            <a:endParaRPr/>
          </a:p>
          <a:p>
            <a:pPr indent="-228600" lvl="0" marL="228600" rtl="0" algn="l">
              <a:lnSpc>
                <a:spcPct val="90000"/>
              </a:lnSpc>
              <a:spcBef>
                <a:spcPts val="1000"/>
              </a:spcBef>
              <a:spcAft>
                <a:spcPts val="0"/>
              </a:spcAft>
              <a:buClr>
                <a:schemeClr val="dk1"/>
              </a:buClr>
              <a:buSzPct val="100000"/>
              <a:buChar char="•"/>
            </a:pPr>
            <a:r>
              <a:rPr lang="en-US"/>
              <a:t>Negative Covariance</a:t>
            </a:r>
            <a:endParaRPr/>
          </a:p>
          <a:p>
            <a:pPr indent="-228600" lvl="0" marL="228600" rtl="0" algn="l">
              <a:lnSpc>
                <a:spcPct val="90000"/>
              </a:lnSpc>
              <a:spcBef>
                <a:spcPts val="1000"/>
              </a:spcBef>
              <a:spcAft>
                <a:spcPts val="0"/>
              </a:spcAft>
              <a:buClr>
                <a:schemeClr val="dk1"/>
              </a:buClr>
              <a:buSzPct val="100000"/>
              <a:buChar char="•"/>
            </a:pPr>
            <a:r>
              <a:rPr lang="en-US"/>
              <a:t>When two variables have a negative covariance, the variables shift in the opposite direction. It is the inverse of positive covariance, in which higher values of one variable correlate to lower values of another and vice versa.</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Application Of Covariance</a:t>
            </a:r>
            <a:br>
              <a:rPr lang="en-US"/>
            </a:br>
            <a:endParaRPr/>
          </a:p>
        </p:txBody>
      </p:sp>
      <p:sp>
        <p:nvSpPr>
          <p:cNvPr id="249" name="Google Shape;249;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Simulating systems with multiple correlated variables is done using Cholesky decomposition. </a:t>
            </a:r>
            <a:endParaRPr/>
          </a:p>
          <a:p>
            <a:pPr indent="-228600" lvl="0" marL="228600" rtl="0" algn="l">
              <a:lnSpc>
                <a:spcPct val="90000"/>
              </a:lnSpc>
              <a:spcBef>
                <a:spcPts val="1000"/>
              </a:spcBef>
              <a:spcAft>
                <a:spcPts val="0"/>
              </a:spcAft>
              <a:buClr>
                <a:schemeClr val="dk1"/>
              </a:buClr>
              <a:buSzPts val="2800"/>
              <a:buChar char="•"/>
            </a:pPr>
            <a:r>
              <a:rPr lang="en-US"/>
              <a:t>A covariance matrix helps determine the Cholesky decomposition because it is positive semi-definite. </a:t>
            </a:r>
            <a:endParaRPr/>
          </a:p>
          <a:p>
            <a:pPr indent="-228600" lvl="0" marL="228600" rtl="0" algn="l">
              <a:lnSpc>
                <a:spcPct val="90000"/>
              </a:lnSpc>
              <a:spcBef>
                <a:spcPts val="1000"/>
              </a:spcBef>
              <a:spcAft>
                <a:spcPts val="0"/>
              </a:spcAft>
              <a:buClr>
                <a:schemeClr val="dk1"/>
              </a:buClr>
              <a:buSzPts val="2800"/>
              <a:buChar char="•"/>
            </a:pPr>
            <a:r>
              <a:rPr lang="en-US"/>
              <a:t>The matrix is decomposed by the product of the lower matrix and its transpose. </a:t>
            </a:r>
            <a:endParaRPr/>
          </a:p>
          <a:p>
            <a:pPr indent="-228600" lvl="0" marL="228600" rtl="0" algn="l">
              <a:lnSpc>
                <a:spcPct val="90000"/>
              </a:lnSpc>
              <a:spcBef>
                <a:spcPts val="1000"/>
              </a:spcBef>
              <a:spcAft>
                <a:spcPts val="0"/>
              </a:spcAft>
              <a:buClr>
                <a:schemeClr val="dk1"/>
              </a:buClr>
              <a:buSzPts val="2800"/>
              <a:buChar char="•"/>
            </a:pPr>
            <a:r>
              <a:rPr lang="en-US"/>
              <a:t>To reduce the dimensions of large data sets, principal component analysis is used.</a:t>
            </a:r>
            <a:endParaRPr/>
          </a:p>
          <a:p>
            <a:pPr indent="-228600" lvl="0" marL="228600" rtl="0" algn="l">
              <a:lnSpc>
                <a:spcPct val="90000"/>
              </a:lnSpc>
              <a:spcBef>
                <a:spcPts val="1000"/>
              </a:spcBef>
              <a:spcAft>
                <a:spcPts val="0"/>
              </a:spcAft>
              <a:buClr>
                <a:schemeClr val="dk1"/>
              </a:buClr>
              <a:buSzPts val="2800"/>
              <a:buChar char="•"/>
            </a:pPr>
            <a:r>
              <a:rPr lang="en-US"/>
              <a:t> To perform principal component analysis, an eigen decomposition is applied to the covariance matrix</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Correlation?</a:t>
            </a:r>
            <a:br>
              <a:rPr lang="en-US"/>
            </a:br>
            <a:endParaRPr/>
          </a:p>
        </p:txBody>
      </p:sp>
      <p:sp>
        <p:nvSpPr>
          <p:cNvPr id="255" name="Google Shape;255;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t>In statistics, correlation is a measure that determines the degree to which two or more random variables move in sequence. </a:t>
            </a:r>
            <a:endParaRPr/>
          </a:p>
          <a:p>
            <a:pPr indent="-228600" lvl="0" marL="228600" rtl="0" algn="l">
              <a:lnSpc>
                <a:spcPct val="90000"/>
              </a:lnSpc>
              <a:spcBef>
                <a:spcPts val="1000"/>
              </a:spcBef>
              <a:spcAft>
                <a:spcPts val="0"/>
              </a:spcAft>
              <a:buClr>
                <a:schemeClr val="dk1"/>
              </a:buClr>
              <a:buSzPct val="100000"/>
              <a:buChar char="•"/>
            </a:pPr>
            <a:r>
              <a:rPr lang="en-US"/>
              <a:t>When an equivalent movement of another variable </a:t>
            </a:r>
            <a:r>
              <a:rPr b="1" lang="en-US"/>
              <a:t>reciprocates</a:t>
            </a:r>
            <a:r>
              <a:rPr lang="en-US"/>
              <a:t> the movement of one variable in some way or another during the study of two variables, the variables are said to be correlated. The formula for correlation is:</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where,</a:t>
            </a:r>
            <a:endParaRPr/>
          </a:p>
          <a:p>
            <a:pPr indent="-228600" lvl="0" marL="228600" rtl="0" algn="l">
              <a:lnSpc>
                <a:spcPct val="90000"/>
              </a:lnSpc>
              <a:spcBef>
                <a:spcPts val="1000"/>
              </a:spcBef>
              <a:spcAft>
                <a:spcPts val="0"/>
              </a:spcAft>
              <a:buClr>
                <a:schemeClr val="dk1"/>
              </a:buClr>
              <a:buSzPct val="100000"/>
              <a:buChar char="•"/>
            </a:pPr>
            <a:r>
              <a:rPr lang="en-US"/>
              <a:t>var(X) = standard deviation of X</a:t>
            </a:r>
            <a:endParaRPr/>
          </a:p>
          <a:p>
            <a:pPr indent="-228600" lvl="0" marL="228600" rtl="0" algn="l">
              <a:lnSpc>
                <a:spcPct val="90000"/>
              </a:lnSpc>
              <a:spcBef>
                <a:spcPts val="1000"/>
              </a:spcBef>
              <a:spcAft>
                <a:spcPts val="0"/>
              </a:spcAft>
              <a:buClr>
                <a:schemeClr val="dk1"/>
              </a:buClr>
              <a:buSzPct val="100000"/>
              <a:buChar char="•"/>
            </a:pPr>
            <a:r>
              <a:rPr lang="en-US"/>
              <a:t>var(Y) = standard deviation of Y</a:t>
            </a:r>
            <a:endParaRPr/>
          </a:p>
          <a:p>
            <a:pPr indent="-228600" lvl="0" marL="228600" rtl="0" algn="l">
              <a:lnSpc>
                <a:spcPct val="90000"/>
              </a:lnSpc>
              <a:spcBef>
                <a:spcPts val="1000"/>
              </a:spcBef>
              <a:spcAft>
                <a:spcPts val="0"/>
              </a:spcAft>
              <a:buClr>
                <a:schemeClr val="dk1"/>
              </a:buClr>
              <a:buSzPct val="100000"/>
              <a:buChar char="•"/>
            </a:pPr>
            <a:r>
              <a:rPr lang="en-US"/>
              <a:t>Positive correlation occurs when two variables move in the same direction. When variables move in the opposite direction, they are said to be negatively correlated.</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p:txBody>
      </p:sp>
      <p:pic>
        <p:nvPicPr>
          <p:cNvPr descr="cov-2." id="256" name="Google Shape;256;p29"/>
          <p:cNvPicPr preferRelativeResize="0"/>
          <p:nvPr/>
        </p:nvPicPr>
        <p:blipFill rotWithShape="1">
          <a:blip r:embed="rId3">
            <a:alphaModFix/>
          </a:blip>
          <a:srcRect b="0" l="0" r="0" t="0"/>
          <a:stretch/>
        </p:blipFill>
        <p:spPr>
          <a:xfrm>
            <a:off x="4824556" y="3231573"/>
            <a:ext cx="5019675" cy="10382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30"/>
          <p:cNvPicPr preferRelativeResize="0"/>
          <p:nvPr/>
        </p:nvPicPr>
        <p:blipFill rotWithShape="1">
          <a:blip r:embed="rId3">
            <a:alphaModFix/>
          </a:blip>
          <a:srcRect b="0" l="0" r="0" t="0"/>
          <a:stretch/>
        </p:blipFill>
        <p:spPr>
          <a:xfrm>
            <a:off x="564481" y="282075"/>
            <a:ext cx="11178339" cy="6985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31"/>
          <p:cNvPicPr preferRelativeResize="0"/>
          <p:nvPr/>
        </p:nvPicPr>
        <p:blipFill rotWithShape="1">
          <a:blip r:embed="rId3">
            <a:alphaModFix/>
          </a:blip>
          <a:srcRect b="0" l="0" r="0" t="0"/>
          <a:stretch/>
        </p:blipFill>
        <p:spPr>
          <a:xfrm>
            <a:off x="1082841" y="866274"/>
            <a:ext cx="10274969" cy="538262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32"/>
          <p:cNvPicPr preferRelativeResize="0"/>
          <p:nvPr/>
        </p:nvPicPr>
        <p:blipFill rotWithShape="1">
          <a:blip r:embed="rId3">
            <a:alphaModFix/>
          </a:blip>
          <a:srcRect b="0" l="0" r="0" t="0"/>
          <a:stretch/>
        </p:blipFill>
        <p:spPr>
          <a:xfrm>
            <a:off x="1117600" y="325240"/>
            <a:ext cx="9840686" cy="628163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p33"/>
          <p:cNvPicPr preferRelativeResize="0"/>
          <p:nvPr/>
        </p:nvPicPr>
        <p:blipFill rotWithShape="1">
          <a:blip r:embed="rId3">
            <a:alphaModFix/>
          </a:blip>
          <a:srcRect b="0" l="0" r="0" t="0"/>
          <a:stretch/>
        </p:blipFill>
        <p:spPr>
          <a:xfrm>
            <a:off x="1633472" y="1142749"/>
            <a:ext cx="9052383" cy="443990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Correlation is of three types:</a:t>
            </a:r>
            <a:br>
              <a:rPr lang="en-US"/>
            </a:br>
            <a:br>
              <a:rPr lang="en-US"/>
            </a:br>
            <a:endParaRPr/>
          </a:p>
        </p:txBody>
      </p:sp>
      <p:sp>
        <p:nvSpPr>
          <p:cNvPr id="282" name="Google Shape;282;p34"/>
          <p:cNvSpPr txBox="1"/>
          <p:nvPr>
            <p:ph idx="1" type="body"/>
          </p:nvPr>
        </p:nvSpPr>
        <p:spPr>
          <a:xfrm>
            <a:off x="838200" y="1004850"/>
            <a:ext cx="10515600" cy="26346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Simple Correlation:</a:t>
            </a:r>
            <a:r>
              <a:rPr lang="en-US"/>
              <a:t> In simple correlation, a single number expresses the degree to which two variables are related.</a:t>
            </a:r>
            <a:endParaRPr/>
          </a:p>
          <a:p>
            <a:pPr indent="-228600" lvl="0" marL="228600" rtl="0" algn="l">
              <a:lnSpc>
                <a:spcPct val="90000"/>
              </a:lnSpc>
              <a:spcBef>
                <a:spcPts val="1000"/>
              </a:spcBef>
              <a:spcAft>
                <a:spcPts val="0"/>
              </a:spcAft>
              <a:buClr>
                <a:schemeClr val="dk1"/>
              </a:buClr>
              <a:buSzPts val="2800"/>
              <a:buChar char="•"/>
            </a:pPr>
            <a:r>
              <a:rPr b="1" lang="en-US"/>
              <a:t>Partial Correlation:</a:t>
            </a:r>
            <a:r>
              <a:rPr lang="en-US"/>
              <a:t> When one variable's effects are removed, the correlation between two variables is revealed in partial correlation.</a:t>
            </a:r>
            <a:endParaRPr/>
          </a:p>
          <a:p>
            <a:pPr indent="-228600" lvl="0" marL="228600" rtl="0" algn="l">
              <a:lnSpc>
                <a:spcPct val="90000"/>
              </a:lnSpc>
              <a:spcBef>
                <a:spcPts val="1000"/>
              </a:spcBef>
              <a:spcAft>
                <a:spcPts val="0"/>
              </a:spcAft>
              <a:buClr>
                <a:schemeClr val="dk1"/>
              </a:buClr>
              <a:buSzPts val="2800"/>
              <a:buChar char="•"/>
            </a:pPr>
            <a:r>
              <a:rPr b="1" lang="en-US"/>
              <a:t>Multiple correlation:</a:t>
            </a:r>
            <a:r>
              <a:rPr lang="en-US"/>
              <a:t> A statistical technique that uses two or more variables to predict the value of one variable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Applications of Correlation</a:t>
            </a:r>
            <a:br>
              <a:rPr lang="en-US"/>
            </a:br>
            <a:endParaRPr/>
          </a:p>
        </p:txBody>
      </p:sp>
      <p:sp>
        <p:nvSpPr>
          <p:cNvPr id="288" name="Google Shape;288;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15265" lvl="0" marL="228600" rtl="0" algn="l">
              <a:lnSpc>
                <a:spcPct val="90000"/>
              </a:lnSpc>
              <a:spcBef>
                <a:spcPts val="0"/>
              </a:spcBef>
              <a:spcAft>
                <a:spcPts val="0"/>
              </a:spcAft>
              <a:buClr>
                <a:schemeClr val="dk1"/>
              </a:buClr>
              <a:buSzPct val="100000"/>
              <a:buChar char="•"/>
            </a:pPr>
            <a:r>
              <a:rPr lang="en-US"/>
              <a:t>A correlation matrix is computed for three main reasons:</a:t>
            </a:r>
            <a:endParaRPr/>
          </a:p>
          <a:p>
            <a:pPr indent="-215265" lvl="0" marL="228600" rtl="0" algn="l">
              <a:lnSpc>
                <a:spcPct val="90000"/>
              </a:lnSpc>
              <a:spcBef>
                <a:spcPts val="1000"/>
              </a:spcBef>
              <a:spcAft>
                <a:spcPts val="0"/>
              </a:spcAft>
              <a:buClr>
                <a:schemeClr val="dk1"/>
              </a:buClr>
              <a:buSzPct val="100000"/>
              <a:buChar char="•"/>
            </a:pPr>
            <a:r>
              <a:rPr b="1" lang="en-US"/>
              <a:t>The goal when dealing with large amounts of data is to find patterns.</a:t>
            </a:r>
            <a:r>
              <a:rPr lang="en-US"/>
              <a:t> As a result, a correlation matrix is used to look for a pattern in the data and determine whether the variables are highly correlated.</a:t>
            </a:r>
            <a:endParaRPr/>
          </a:p>
          <a:p>
            <a:pPr indent="-215265" lvl="0" marL="228600" rtl="0" algn="l">
              <a:lnSpc>
                <a:spcPct val="90000"/>
              </a:lnSpc>
              <a:spcBef>
                <a:spcPts val="1000"/>
              </a:spcBef>
              <a:spcAft>
                <a:spcPts val="0"/>
              </a:spcAft>
              <a:buClr>
                <a:schemeClr val="dk1"/>
              </a:buClr>
              <a:buSzPct val="100000"/>
              <a:buChar char="•"/>
            </a:pPr>
            <a:r>
              <a:rPr b="1" lang="en-US"/>
              <a:t>For use in other analyses.</a:t>
            </a:r>
            <a:r>
              <a:rPr lang="en-US"/>
              <a:t> When excluding </a:t>
            </a:r>
            <a:r>
              <a:rPr b="1" lang="en-US"/>
              <a:t>missing values pairwise</a:t>
            </a:r>
            <a:r>
              <a:rPr lang="en-US"/>
              <a:t>, correlation matrices are commonly used as inputs for exploratory factor analysis, confirmatory factor analysis, structural equation models, and </a:t>
            </a:r>
            <a:r>
              <a:rPr lang="en-US" u="sng">
                <a:solidFill>
                  <a:schemeClr val="hlink"/>
                </a:solidFill>
                <a:hlinkClick r:id="rId3"/>
              </a:rPr>
              <a:t>linear regression.</a:t>
            </a:r>
            <a:endParaRPr/>
          </a:p>
          <a:p>
            <a:pPr indent="-215265" lvl="0" marL="228600" rtl="0" algn="l">
              <a:lnSpc>
                <a:spcPct val="90000"/>
              </a:lnSpc>
              <a:spcBef>
                <a:spcPts val="1000"/>
              </a:spcBef>
              <a:spcAft>
                <a:spcPts val="0"/>
              </a:spcAft>
              <a:buClr>
                <a:schemeClr val="dk1"/>
              </a:buClr>
              <a:buSzPct val="100000"/>
              <a:buChar char="•"/>
            </a:pPr>
            <a:r>
              <a:rPr lang="en-US"/>
              <a:t>When checking other analyses, as a diagnostic. When it comes to linear regression, for example, a large number of correlations indicate that the l</a:t>
            </a:r>
            <a:r>
              <a:rPr b="1" lang="en-US"/>
              <a:t>inear regression estimates will be unreliable.</a:t>
            </a:r>
            <a:endParaRPr b="1"/>
          </a:p>
          <a:p>
            <a:pPr indent="-5080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Correlation Vs Covariance</a:t>
            </a:r>
            <a:br>
              <a:rPr lang="en-US"/>
            </a:br>
            <a:endParaRPr/>
          </a:p>
        </p:txBody>
      </p:sp>
      <p:graphicFrame>
        <p:nvGraphicFramePr>
          <p:cNvPr id="294" name="Google Shape;294;p39"/>
          <p:cNvGraphicFramePr/>
          <p:nvPr/>
        </p:nvGraphicFramePr>
        <p:xfrm>
          <a:off x="838200" y="1825625"/>
          <a:ext cx="3000000" cy="3000000"/>
        </p:xfrm>
        <a:graphic>
          <a:graphicData uri="http://schemas.openxmlformats.org/drawingml/2006/table">
            <a:tbl>
              <a:tblPr bandRow="1" firstRow="1">
                <a:noFill/>
                <a:tableStyleId>{1D0EC1C2-7558-46DD-9F73-F25AE3EB6AF6}</a:tableStyleId>
              </a:tblPr>
              <a:tblGrid>
                <a:gridCol w="3505200"/>
                <a:gridCol w="3505200"/>
                <a:gridCol w="3505200"/>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272C37"/>
                          </a:solidFill>
                          <a:latin typeface="Roboto"/>
                          <a:ea typeface="Roboto"/>
                          <a:cs typeface="Roboto"/>
                          <a:sym typeface="Roboto"/>
                        </a:rPr>
                        <a:t>Basis for comparison</a:t>
                      </a:r>
                      <a:endParaRPr sz="1400" u="none" cap="none" strike="noStrike"/>
                    </a:p>
                  </a:txBody>
                  <a:tcPr marT="152400" marB="152400" marR="114300" marL="114300" anchor="ct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272C37"/>
                          </a:solidFill>
                          <a:latin typeface="Roboto"/>
                          <a:ea typeface="Roboto"/>
                          <a:cs typeface="Roboto"/>
                          <a:sym typeface="Roboto"/>
                        </a:rPr>
                        <a:t>Covariance</a:t>
                      </a:r>
                      <a:endParaRPr sz="1400" u="none" cap="none" strike="noStrike"/>
                    </a:p>
                  </a:txBody>
                  <a:tcPr marT="152400" marB="152400" marR="114300" marL="114300" anchor="ct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272C37"/>
                          </a:solidFill>
                          <a:latin typeface="Roboto"/>
                          <a:ea typeface="Roboto"/>
                          <a:cs typeface="Roboto"/>
                          <a:sym typeface="Roboto"/>
                        </a:rPr>
                        <a:t>Correlation</a:t>
                      </a:r>
                      <a:endParaRPr sz="1400" u="none" cap="none" strike="noStrike"/>
                    </a:p>
                  </a:txBody>
                  <a:tcPr marT="152400" marB="152400" marR="114300" marL="114300" anchor="ct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51565E"/>
                          </a:solidFill>
                          <a:latin typeface="Roboto"/>
                          <a:ea typeface="Roboto"/>
                          <a:cs typeface="Roboto"/>
                          <a:sym typeface="Roboto"/>
                        </a:rPr>
                        <a:t>Definition</a:t>
                      </a:r>
                      <a:endParaRPr sz="1400" u="none" cap="none" strike="noStrike"/>
                    </a:p>
                  </a:txBody>
                  <a:tcPr marT="152400" marB="152400" marR="114300" marL="114300" anchor="ct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51565E"/>
                          </a:solidFill>
                          <a:latin typeface="Roboto"/>
                          <a:ea typeface="Roboto"/>
                          <a:cs typeface="Roboto"/>
                          <a:sym typeface="Roboto"/>
                        </a:rPr>
                        <a:t>Covariance is an indicator of the extent to which 2 random variables are dependent on each other. A higher number denotes higher dependency.</a:t>
                      </a:r>
                      <a:endParaRPr sz="1400" u="none" cap="none" strike="noStrike"/>
                    </a:p>
                  </a:txBody>
                  <a:tcPr marT="152400" marB="152400" marR="114300" marL="114300" anchor="ct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51565E"/>
                          </a:solidFill>
                          <a:latin typeface="Roboto"/>
                          <a:ea typeface="Roboto"/>
                          <a:cs typeface="Roboto"/>
                          <a:sym typeface="Roboto"/>
                        </a:rPr>
                        <a:t>Correlation is a statistical measure that indicates how strongly two variables are related.</a:t>
                      </a:r>
                      <a:endParaRPr sz="1400" u="none" cap="none" strike="noStrike"/>
                    </a:p>
                  </a:txBody>
                  <a:tcPr marT="152400" marB="152400" marR="114300" marL="114300" anchor="ct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51565E"/>
                          </a:solidFill>
                          <a:latin typeface="Roboto"/>
                          <a:ea typeface="Roboto"/>
                          <a:cs typeface="Roboto"/>
                          <a:sym typeface="Roboto"/>
                        </a:rPr>
                        <a:t>Values</a:t>
                      </a:r>
                      <a:endParaRPr sz="1400" u="none" cap="none" strike="noStrike"/>
                    </a:p>
                  </a:txBody>
                  <a:tcPr marT="152400" marB="152400" marR="114300" marL="114300" anchor="ct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51565E"/>
                          </a:solidFill>
                          <a:latin typeface="Roboto"/>
                          <a:ea typeface="Roboto"/>
                          <a:cs typeface="Roboto"/>
                          <a:sym typeface="Roboto"/>
                        </a:rPr>
                        <a:t>The value of covariance lies in the range of -∞ and +∞.</a:t>
                      </a:r>
                      <a:endParaRPr sz="1400" u="none" cap="none" strike="noStrike"/>
                    </a:p>
                  </a:txBody>
                  <a:tcPr marT="152400" marB="152400" marR="114300" marL="114300" anchor="ct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51565E"/>
                          </a:solidFill>
                          <a:latin typeface="Roboto"/>
                          <a:ea typeface="Roboto"/>
                          <a:cs typeface="Roboto"/>
                          <a:sym typeface="Roboto"/>
                        </a:rPr>
                        <a:t>Correlation is limited to values between the range -1 and +1</a:t>
                      </a:r>
                      <a:endParaRPr sz="1400" u="none" cap="none" strike="noStrike"/>
                    </a:p>
                  </a:txBody>
                  <a:tcPr marT="152400" marB="152400" marR="114300" marL="114300" anchor="ct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51565E"/>
                          </a:solidFill>
                          <a:latin typeface="Roboto"/>
                          <a:ea typeface="Roboto"/>
                          <a:cs typeface="Roboto"/>
                          <a:sym typeface="Roboto"/>
                        </a:rPr>
                        <a:t>Change in scale</a:t>
                      </a:r>
                      <a:endParaRPr sz="1400" u="none" cap="none" strike="noStrike"/>
                    </a:p>
                  </a:txBody>
                  <a:tcPr marT="152400" marB="152400" marR="114300" marL="114300" anchor="ct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51565E"/>
                          </a:solidFill>
                          <a:latin typeface="Roboto"/>
                          <a:ea typeface="Roboto"/>
                          <a:cs typeface="Roboto"/>
                          <a:sym typeface="Roboto"/>
                        </a:rPr>
                        <a:t>Affects covariance</a:t>
                      </a:r>
                      <a:endParaRPr sz="1400" u="none" cap="none" strike="noStrike"/>
                    </a:p>
                  </a:txBody>
                  <a:tcPr marT="152400" marB="152400" marR="114300" marL="114300" anchor="ct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51565E"/>
                          </a:solidFill>
                          <a:latin typeface="Roboto"/>
                          <a:ea typeface="Roboto"/>
                          <a:cs typeface="Roboto"/>
                          <a:sym typeface="Roboto"/>
                        </a:rPr>
                        <a:t>Does not affect the correlation</a:t>
                      </a:r>
                      <a:endParaRPr sz="1400" u="none" cap="none" strike="noStrike"/>
                    </a:p>
                  </a:txBody>
                  <a:tcPr marT="152400" marB="152400" marR="114300" marL="114300" anchor="ctr"/>
                </a:tc>
              </a:tr>
              <a:tr h="370850">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51565E"/>
                          </a:solidFill>
                          <a:latin typeface="Roboto"/>
                          <a:ea typeface="Roboto"/>
                          <a:cs typeface="Roboto"/>
                          <a:sym typeface="Roboto"/>
                        </a:rPr>
                        <a:t>Unit-free measure</a:t>
                      </a:r>
                      <a:endParaRPr sz="1400" u="none" cap="none" strike="noStrike"/>
                    </a:p>
                  </a:txBody>
                  <a:tcPr marT="152400" marB="152400" marR="114300" marL="114300" anchor="ct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51565E"/>
                          </a:solidFill>
                          <a:latin typeface="Roboto"/>
                          <a:ea typeface="Roboto"/>
                          <a:cs typeface="Roboto"/>
                          <a:sym typeface="Roboto"/>
                        </a:rPr>
                        <a:t>No</a:t>
                      </a:r>
                      <a:endParaRPr sz="1400" u="none" cap="none" strike="noStrike"/>
                    </a:p>
                  </a:txBody>
                  <a:tcPr marT="152400" marB="152400" marR="114300" marL="114300" anchor="ct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51565E"/>
                          </a:solidFill>
                          <a:latin typeface="Roboto"/>
                          <a:ea typeface="Roboto"/>
                          <a:cs typeface="Roboto"/>
                          <a:sym typeface="Roboto"/>
                        </a:rPr>
                        <a:t>Yes</a:t>
                      </a:r>
                      <a:endParaRPr sz="1400" u="none" cap="none" strike="noStrike"/>
                    </a:p>
                  </a:txBody>
                  <a:tcPr marT="152400" marB="152400" marR="114300" marL="114300" anchor="ct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Similarities: Covariance vs Correlation</a:t>
            </a:r>
            <a:br>
              <a:rPr lang="en-US"/>
            </a:br>
            <a:endParaRPr/>
          </a:p>
        </p:txBody>
      </p:sp>
      <p:sp>
        <p:nvSpPr>
          <p:cNvPr id="300" name="Google Shape;300;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Correlation and Covariance both measure only the linear relationships between two variables. </a:t>
            </a:r>
            <a:endParaRPr/>
          </a:p>
          <a:p>
            <a:pPr indent="-228600" lvl="0" marL="228600" rtl="0" algn="l">
              <a:lnSpc>
                <a:spcPct val="90000"/>
              </a:lnSpc>
              <a:spcBef>
                <a:spcPts val="1000"/>
              </a:spcBef>
              <a:spcAft>
                <a:spcPts val="0"/>
              </a:spcAft>
              <a:buClr>
                <a:schemeClr val="dk1"/>
              </a:buClr>
              <a:buSzPts val="2800"/>
              <a:buChar char="•"/>
            </a:pPr>
            <a:r>
              <a:rPr lang="en-US"/>
              <a:t>This means that when the correlation coefficient is zero, the covariance is also zero. </a:t>
            </a:r>
            <a:endParaRPr/>
          </a:p>
          <a:p>
            <a:pPr indent="-228600" lvl="0" marL="228600" rtl="0" algn="l">
              <a:lnSpc>
                <a:spcPct val="90000"/>
              </a:lnSpc>
              <a:spcBef>
                <a:spcPts val="1000"/>
              </a:spcBef>
              <a:spcAft>
                <a:spcPts val="0"/>
              </a:spcAft>
              <a:buClr>
                <a:schemeClr val="dk1"/>
              </a:buClr>
              <a:buSzPts val="2800"/>
              <a:buChar char="•"/>
            </a:pPr>
            <a:r>
              <a:rPr lang="en-US"/>
              <a:t>Both correlation and covariance measures are also unaffected by the change in location.</a:t>
            </a:r>
            <a:endParaRPr/>
          </a:p>
          <a:p>
            <a:pPr indent="-228600" lvl="0" marL="228600" rtl="0" algn="l">
              <a:lnSpc>
                <a:spcPct val="90000"/>
              </a:lnSpc>
              <a:spcBef>
                <a:spcPts val="1000"/>
              </a:spcBef>
              <a:spcAft>
                <a:spcPts val="0"/>
              </a:spcAft>
              <a:buClr>
                <a:schemeClr val="dk1"/>
              </a:buClr>
              <a:buSzPts val="2800"/>
              <a:buChar char="•"/>
            </a:pPr>
            <a:r>
              <a:rPr lang="en-US"/>
              <a:t>However, when it comes to making a choice between covariance vs correlation to measure relationship between variables, correlation is preferred over covariance because it does not get affected by the change in scale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Correlation vs. Regression</a:t>
            </a:r>
            <a:endParaRPr/>
          </a:p>
        </p:txBody>
      </p:sp>
      <p:graphicFrame>
        <p:nvGraphicFramePr>
          <p:cNvPr id="306" name="Google Shape;306;p41"/>
          <p:cNvGraphicFramePr/>
          <p:nvPr/>
        </p:nvGraphicFramePr>
        <p:xfrm>
          <a:off x="838200" y="1825625"/>
          <a:ext cx="3000000" cy="3000000"/>
        </p:xfrm>
        <a:graphic>
          <a:graphicData uri="http://schemas.openxmlformats.org/drawingml/2006/table">
            <a:tbl>
              <a:tblPr bandRow="1" firstRow="1">
                <a:noFill/>
                <a:tableStyleId>{1D0EC1C2-7558-46DD-9F73-F25AE3EB6AF6}</a:tableStyleId>
              </a:tblPr>
              <a:tblGrid>
                <a:gridCol w="5257800"/>
                <a:gridCol w="5257800"/>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Correlation</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Regression</a:t>
                      </a:r>
                      <a:endParaRPr sz="1800" u="none" cap="none" strike="noStrike">
                        <a:latin typeface="Arial"/>
                        <a:ea typeface="Arial"/>
                        <a:cs typeface="Arial"/>
                        <a:sym typeface="Arial"/>
                      </a:endParaRPr>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Correlation is used to determine whether variables are related or not.</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Regression is used to numerically describe how a dependent variable changes with a change in an independent variable</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Correlation tries to establish a linear relationship between variables.</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It finds the best-fitted regression line to estimate an unknown variable on the basis of the known variable.</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The variables can be used interchangeably</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The variables cannot be interchanged.</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Correlation uses a signed numerical value to estimate the strength of the relationship between the variables.</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Regression is used to show the impact of a unit change in the independent variable on the dependent variable.</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The Pearson's coefficient is the best measure of correlation.</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The least-squares method is the best technique to determine the regression line.</a:t>
                      </a:r>
                      <a:endParaRPr sz="1400" u="none" cap="none" strike="noStrike"/>
                    </a:p>
                  </a:txBody>
                  <a:tcPr marT="114300" marB="114300" marR="85725" marL="142875" anchor="ct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id="311" name="Google Shape;311;g2f2a4e0ae28_0_5"/>
          <p:cNvPicPr preferRelativeResize="0"/>
          <p:nvPr/>
        </p:nvPicPr>
        <p:blipFill rotWithShape="1">
          <a:blip r:embed="rId3">
            <a:alphaModFix/>
          </a:blip>
          <a:srcRect b="0" l="0" r="0" t="0"/>
          <a:stretch/>
        </p:blipFill>
        <p:spPr>
          <a:xfrm>
            <a:off x="2389125" y="1659975"/>
            <a:ext cx="7143750" cy="29908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id="316" name="Google Shape;316;g2f2a4e0ae28_0_0"/>
          <p:cNvPicPr preferRelativeResize="0"/>
          <p:nvPr/>
        </p:nvPicPr>
        <p:blipFill rotWithShape="1">
          <a:blip r:embed="rId3">
            <a:alphaModFix/>
          </a:blip>
          <a:srcRect b="46844" l="22289" r="41001" t="11955"/>
          <a:stretch/>
        </p:blipFill>
        <p:spPr>
          <a:xfrm>
            <a:off x="167475" y="719300"/>
            <a:ext cx="5823427" cy="4783849"/>
          </a:xfrm>
          <a:prstGeom prst="rect">
            <a:avLst/>
          </a:prstGeom>
          <a:noFill/>
          <a:ln>
            <a:noFill/>
          </a:ln>
        </p:spPr>
      </p:pic>
      <p:pic>
        <p:nvPicPr>
          <p:cNvPr id="317" name="Google Shape;317;g2f2a4e0ae28_0_0"/>
          <p:cNvPicPr preferRelativeResize="0"/>
          <p:nvPr/>
        </p:nvPicPr>
        <p:blipFill rotWithShape="1">
          <a:blip r:embed="rId4">
            <a:alphaModFix/>
          </a:blip>
          <a:srcRect b="18138" l="21479" r="45765" t="34621"/>
          <a:stretch/>
        </p:blipFill>
        <p:spPr>
          <a:xfrm>
            <a:off x="6207675" y="1931250"/>
            <a:ext cx="5708774" cy="4631124"/>
          </a:xfrm>
          <a:prstGeom prst="rect">
            <a:avLst/>
          </a:prstGeom>
          <a:noFill/>
          <a:ln>
            <a:noFill/>
          </a:ln>
        </p:spPr>
      </p:pic>
      <p:pic>
        <p:nvPicPr>
          <p:cNvPr id="318" name="Google Shape;318;g2f2a4e0ae28_0_0"/>
          <p:cNvPicPr preferRelativeResize="0"/>
          <p:nvPr/>
        </p:nvPicPr>
        <p:blipFill rotWithShape="1">
          <a:blip r:embed="rId5">
            <a:alphaModFix/>
          </a:blip>
          <a:srcRect b="0" l="0" r="0" t="0"/>
          <a:stretch/>
        </p:blipFill>
        <p:spPr>
          <a:xfrm>
            <a:off x="6842902" y="181950"/>
            <a:ext cx="3884833" cy="16264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a:t>
            </a:r>
            <a:endParaRPr/>
          </a:p>
        </p:txBody>
      </p:sp>
      <p:graphicFrame>
        <p:nvGraphicFramePr>
          <p:cNvPr id="324" name="Google Shape;324;p42"/>
          <p:cNvGraphicFramePr/>
          <p:nvPr/>
        </p:nvGraphicFramePr>
        <p:xfrm>
          <a:off x="838200" y="1825625"/>
          <a:ext cx="3000000" cy="3000000"/>
        </p:xfrm>
        <a:graphic>
          <a:graphicData uri="http://schemas.openxmlformats.org/drawingml/2006/table">
            <a:tbl>
              <a:tblPr bandRow="1" firstRow="1">
                <a:noFill/>
                <a:tableStyleId>{1D0EC1C2-7558-46DD-9F73-F25AE3EB6AF6}</a:tableStyleId>
              </a:tblPr>
              <a:tblGrid>
                <a:gridCol w="3505200"/>
                <a:gridCol w="3505200"/>
                <a:gridCol w="3505200"/>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Person</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Hand</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Height</a:t>
                      </a:r>
                      <a:endParaRPr sz="1800" u="none" cap="none" strike="noStrike">
                        <a:latin typeface="Arial"/>
                        <a:ea typeface="Arial"/>
                        <a:cs typeface="Arial"/>
                        <a:sym typeface="Arial"/>
                      </a:endParaRPr>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A</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17</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150</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15</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154</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C</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19</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169</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D</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17</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172</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E</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21</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175</a:t>
                      </a:r>
                      <a:endParaRPr sz="1400" u="none" cap="none" strike="noStrike"/>
                    </a:p>
                  </a:txBody>
                  <a:tcPr marT="114300" marB="114300" marR="85725" marL="142875" anchor="ct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graphicFrame>
        <p:nvGraphicFramePr>
          <p:cNvPr id="330" name="Google Shape;330;p43"/>
          <p:cNvGraphicFramePr/>
          <p:nvPr/>
        </p:nvGraphicFramePr>
        <p:xfrm>
          <a:off x="838200" y="1825625"/>
          <a:ext cx="3000000" cy="3000000"/>
        </p:xfrm>
        <a:graphic>
          <a:graphicData uri="http://schemas.openxmlformats.org/drawingml/2006/table">
            <a:tbl>
              <a:tblPr bandRow="1" firstRow="1">
                <a:noFill/>
                <a:tableStyleId>{1D0EC1C2-7558-46DD-9F73-F25AE3EB6AF6}</a:tableStyleId>
              </a:tblPr>
              <a:tblGrid>
                <a:gridCol w="1314450"/>
                <a:gridCol w="1314450"/>
                <a:gridCol w="1314450"/>
                <a:gridCol w="1314450"/>
                <a:gridCol w="1314450"/>
                <a:gridCol w="1314450"/>
                <a:gridCol w="1314450"/>
                <a:gridCol w="1314450"/>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Person</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Hand</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Height</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33333"/>
                          </a:solidFill>
                          <a:latin typeface="Arial"/>
                          <a:ea typeface="Arial"/>
                          <a:cs typeface="Arial"/>
                          <a:sym typeface="Arial"/>
                        </a:rPr>
                        <a:t>(x</a:t>
                      </a:r>
                      <a:r>
                        <a:rPr b="0" baseline="-25000" i="0" lang="en-US" sz="1800" u="none" cap="none" strike="noStrike">
                          <a:solidFill>
                            <a:srgbClr val="333333"/>
                          </a:solidFill>
                          <a:latin typeface="Arial"/>
                          <a:ea typeface="Arial"/>
                          <a:cs typeface="Arial"/>
                          <a:sym typeface="Arial"/>
                        </a:rPr>
                        <a:t>i</a:t>
                      </a:r>
                      <a:r>
                        <a:rPr b="0" i="0" lang="en-US" sz="1800" u="none" cap="none" strike="noStrike">
                          <a:solidFill>
                            <a:srgbClr val="333333"/>
                          </a:solidFill>
                          <a:latin typeface="Arial"/>
                          <a:ea typeface="Arial"/>
                          <a:cs typeface="Arial"/>
                          <a:sym typeface="Arial"/>
                        </a:rPr>
                        <a:t> - x̄)</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latin typeface="Arial"/>
                          <a:ea typeface="Arial"/>
                          <a:cs typeface="Arial"/>
                          <a:sym typeface="Arial"/>
                        </a:rPr>
                        <a:t>yi−¯¯¯y</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(x</a:t>
                      </a:r>
                      <a:r>
                        <a:rPr baseline="-25000" lang="en-US" sz="1800" u="none" cap="none" strike="noStrike">
                          <a:latin typeface="Arial"/>
                          <a:ea typeface="Arial"/>
                          <a:cs typeface="Arial"/>
                          <a:sym typeface="Arial"/>
                        </a:rPr>
                        <a:t>i</a:t>
                      </a:r>
                      <a:r>
                        <a:rPr lang="en-US" sz="1800" u="none" cap="none" strike="noStrike">
                          <a:latin typeface="Arial"/>
                          <a:ea typeface="Arial"/>
                          <a:cs typeface="Arial"/>
                          <a:sym typeface="Arial"/>
                        </a:rPr>
                        <a:t> - x̄)(y</a:t>
                      </a:r>
                      <a:r>
                        <a:rPr baseline="-25000" lang="en-US" sz="1800" u="none" cap="none" strike="noStrike">
                          <a:latin typeface="Arial"/>
                          <a:ea typeface="Arial"/>
                          <a:cs typeface="Arial"/>
                          <a:sym typeface="Arial"/>
                        </a:rPr>
                        <a:t>i</a:t>
                      </a:r>
                      <a:r>
                        <a:rPr lang="en-US" sz="1800" u="none" cap="none" strike="noStrike">
                          <a:latin typeface="Arial"/>
                          <a:ea typeface="Arial"/>
                          <a:cs typeface="Arial"/>
                          <a:sym typeface="Arial"/>
                        </a:rPr>
                        <a:t> - </a:t>
                      </a:r>
                      <a:r>
                        <a:rPr b="0" i="0" lang="en-US" sz="1800" u="none" cap="none" strike="noStrike">
                          <a:latin typeface="Arial"/>
                          <a:ea typeface="Arial"/>
                          <a:cs typeface="Arial"/>
                          <a:sym typeface="Arial"/>
                        </a:rPr>
                        <a:t>¯¯¯y2¯</a:t>
                      </a:r>
                      <a:r>
                        <a:rPr lang="en-US" sz="1800" u="none" cap="none" strike="noStrike">
                          <a:latin typeface="Arial"/>
                          <a:ea typeface="Arial"/>
                          <a:cs typeface="Arial"/>
                          <a:sym typeface="Arial"/>
                        </a:rPr>
                        <a:t>)</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(x</a:t>
                      </a:r>
                      <a:r>
                        <a:rPr baseline="-25000" lang="en-US" sz="1800" u="none" cap="none" strike="noStrike">
                          <a:latin typeface="Arial"/>
                          <a:ea typeface="Arial"/>
                          <a:cs typeface="Arial"/>
                          <a:sym typeface="Arial"/>
                        </a:rPr>
                        <a:t>i</a:t>
                      </a:r>
                      <a:r>
                        <a:rPr lang="en-US" sz="1800" u="none" cap="none" strike="noStrike">
                          <a:latin typeface="Arial"/>
                          <a:ea typeface="Arial"/>
                          <a:cs typeface="Arial"/>
                          <a:sym typeface="Arial"/>
                        </a:rPr>
                        <a:t> - x̄)</a:t>
                      </a:r>
                      <a:r>
                        <a:rPr baseline="30000" lang="en-US" sz="1800" u="none" cap="none" strike="noStrike">
                          <a:latin typeface="Arial"/>
                          <a:ea typeface="Arial"/>
                          <a:cs typeface="Arial"/>
                          <a:sym typeface="Arial"/>
                        </a:rPr>
                        <a:t>2</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(y</a:t>
                      </a:r>
                      <a:r>
                        <a:rPr baseline="-25000" lang="en-US" sz="1800" u="none" cap="none" strike="noStrike">
                          <a:latin typeface="Arial"/>
                          <a:ea typeface="Arial"/>
                          <a:cs typeface="Arial"/>
                          <a:sym typeface="Arial"/>
                        </a:rPr>
                        <a:t>i</a:t>
                      </a:r>
                      <a:r>
                        <a:rPr lang="en-US" sz="1800" u="none" cap="none" strike="noStrike">
                          <a:latin typeface="Arial"/>
                          <a:ea typeface="Arial"/>
                          <a:cs typeface="Arial"/>
                          <a:sym typeface="Arial"/>
                        </a:rPr>
                        <a:t> - </a:t>
                      </a:r>
                      <a:r>
                        <a:rPr b="0" i="0" lang="en-US" sz="1800" u="none" cap="none" strike="noStrike">
                          <a:latin typeface="Arial"/>
                          <a:ea typeface="Arial"/>
                          <a:cs typeface="Arial"/>
                          <a:sym typeface="Arial"/>
                        </a:rPr>
                        <a:t>¯¯¯y�¯</a:t>
                      </a:r>
                      <a:r>
                        <a:rPr lang="en-US" sz="1800" u="none" cap="none" strike="noStrike">
                          <a:latin typeface="Arial"/>
                          <a:ea typeface="Arial"/>
                          <a:cs typeface="Arial"/>
                          <a:sym typeface="Arial"/>
                        </a:rPr>
                        <a:t>)</a:t>
                      </a:r>
                      <a:r>
                        <a:rPr baseline="30000" lang="en-US" sz="1800" u="none" cap="none" strike="noStrike">
                          <a:latin typeface="Arial"/>
                          <a:ea typeface="Arial"/>
                          <a:cs typeface="Arial"/>
                          <a:sym typeface="Arial"/>
                        </a:rPr>
                        <a:t>2</a:t>
                      </a:r>
                      <a:endParaRPr sz="1800" u="none" cap="none" strike="noStrike">
                        <a:latin typeface="Arial"/>
                        <a:ea typeface="Arial"/>
                        <a:cs typeface="Arial"/>
                        <a:sym typeface="Arial"/>
                      </a:endParaRPr>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A</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17</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150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-0.8</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-14.0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11.2</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0.6</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196.0</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15</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154</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-2.8</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28.0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7.8</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100.0</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C</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19</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169</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1.2</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5.0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1.4</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25.0</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D</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17</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172</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-0.8</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8.0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-6.4</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0.6</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64.0</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E</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21</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175</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3.2</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11.0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35.2</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10.2</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121.0</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Average</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17.8</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164</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 </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Total</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74.0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20.8</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506.0</a:t>
                      </a:r>
                      <a:endParaRPr sz="1400" u="none" cap="none" strike="noStrike"/>
                    </a:p>
                  </a:txBody>
                  <a:tcPr marT="114300" marB="114300" marR="85725" marL="142875" anchor="ctr"/>
                </a:tc>
              </a:tr>
            </a:tbl>
          </a:graphicData>
        </a:graphic>
      </p:graphicFrame>
      <p:pic>
        <p:nvPicPr>
          <p:cNvPr id="331" name="Google Shape;331;p43"/>
          <p:cNvPicPr preferRelativeResize="0"/>
          <p:nvPr/>
        </p:nvPicPr>
        <p:blipFill rotWithShape="1">
          <a:blip r:embed="rId3">
            <a:alphaModFix/>
          </a:blip>
          <a:srcRect b="27935" l="21995" r="39032" t="53504"/>
          <a:stretch/>
        </p:blipFill>
        <p:spPr>
          <a:xfrm>
            <a:off x="838200" y="332941"/>
            <a:ext cx="5070763" cy="135774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Regression Line </a:t>
            </a:r>
            <a:endParaRPr/>
          </a:p>
        </p:txBody>
      </p:sp>
      <p:graphicFrame>
        <p:nvGraphicFramePr>
          <p:cNvPr id="337" name="Google Shape;337;p44"/>
          <p:cNvGraphicFramePr/>
          <p:nvPr/>
        </p:nvGraphicFramePr>
        <p:xfrm>
          <a:off x="838200" y="1825625"/>
          <a:ext cx="3000000" cy="3000000"/>
        </p:xfrm>
        <a:graphic>
          <a:graphicData uri="http://schemas.openxmlformats.org/drawingml/2006/table">
            <a:tbl>
              <a:tblPr bandRow="1" firstRow="1">
                <a:noFill/>
                <a:tableStyleId>{1D0EC1C2-7558-46DD-9F73-F25AE3EB6AF6}</a:tableStyleId>
              </a:tblPr>
              <a:tblGrid>
                <a:gridCol w="1502225"/>
                <a:gridCol w="1502225"/>
                <a:gridCol w="1502225"/>
                <a:gridCol w="1502225"/>
                <a:gridCol w="1502225"/>
                <a:gridCol w="1502225"/>
                <a:gridCol w="15022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Person</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Weight</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Blood Pressure</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(x</a:t>
                      </a:r>
                      <a:r>
                        <a:rPr baseline="-25000" lang="en-US" sz="1800" u="none" cap="none" strike="noStrike">
                          <a:latin typeface="Arial"/>
                          <a:ea typeface="Arial"/>
                          <a:cs typeface="Arial"/>
                          <a:sym typeface="Arial"/>
                        </a:rPr>
                        <a:t>i</a:t>
                      </a:r>
                      <a:r>
                        <a:rPr lang="en-US" sz="1800" u="none" cap="none" strike="noStrike">
                          <a:latin typeface="Arial"/>
                          <a:ea typeface="Arial"/>
                          <a:cs typeface="Arial"/>
                          <a:sym typeface="Arial"/>
                        </a:rPr>
                        <a:t> - x̄)</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latin typeface="Arial"/>
                          <a:ea typeface="Arial"/>
                          <a:cs typeface="Arial"/>
                          <a:sym typeface="Arial"/>
                        </a:rPr>
                        <a:t>yi−¯¯¯y</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(x</a:t>
                      </a:r>
                      <a:r>
                        <a:rPr baseline="-25000" lang="en-US" sz="1800" u="none" cap="none" strike="noStrike">
                          <a:latin typeface="Arial"/>
                          <a:ea typeface="Arial"/>
                          <a:cs typeface="Arial"/>
                          <a:sym typeface="Arial"/>
                        </a:rPr>
                        <a:t>i</a:t>
                      </a:r>
                      <a:r>
                        <a:rPr lang="en-US" sz="1800" u="none" cap="none" strike="noStrike">
                          <a:latin typeface="Arial"/>
                          <a:ea typeface="Arial"/>
                          <a:cs typeface="Arial"/>
                          <a:sym typeface="Arial"/>
                        </a:rPr>
                        <a:t> - x̄)</a:t>
                      </a:r>
                      <a:r>
                        <a:rPr baseline="30000" lang="en-US" sz="1800" u="none" cap="none" strike="noStrike">
                          <a:latin typeface="Arial"/>
                          <a:ea typeface="Arial"/>
                          <a:cs typeface="Arial"/>
                          <a:sym typeface="Arial"/>
                        </a:rPr>
                        <a:t>2</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(y</a:t>
                      </a:r>
                      <a:r>
                        <a:rPr baseline="-25000" lang="en-US" sz="1800" u="none" cap="none" strike="noStrike">
                          <a:latin typeface="Arial"/>
                          <a:ea typeface="Arial"/>
                          <a:cs typeface="Arial"/>
                          <a:sym typeface="Arial"/>
                        </a:rPr>
                        <a:t>i</a:t>
                      </a:r>
                      <a:r>
                        <a:rPr lang="en-US" sz="1800" u="none" cap="none" strike="noStrike">
                          <a:latin typeface="Arial"/>
                          <a:ea typeface="Arial"/>
                          <a:cs typeface="Arial"/>
                          <a:sym typeface="Arial"/>
                        </a:rPr>
                        <a:t> - </a:t>
                      </a:r>
                      <a:r>
                        <a:rPr b="0" i="0" lang="en-US" sz="1800" u="none" cap="none" strike="noStrike">
                          <a:latin typeface="Arial"/>
                          <a:ea typeface="Arial"/>
                          <a:cs typeface="Arial"/>
                          <a:sym typeface="Arial"/>
                        </a:rPr>
                        <a:t>¯¯¯y¯</a:t>
                      </a:r>
                      <a:r>
                        <a:rPr lang="en-US" sz="1800" u="none" cap="none" strike="noStrike">
                          <a:latin typeface="Arial"/>
                          <a:ea typeface="Arial"/>
                          <a:cs typeface="Arial"/>
                          <a:sym typeface="Arial"/>
                        </a:rPr>
                        <a:t>)</a:t>
                      </a:r>
                      <a:r>
                        <a:rPr baseline="30000" lang="en-US" sz="1800" u="none" cap="none" strike="noStrike">
                          <a:latin typeface="Arial"/>
                          <a:ea typeface="Arial"/>
                          <a:cs typeface="Arial"/>
                          <a:sym typeface="Arial"/>
                        </a:rPr>
                        <a:t>2</a:t>
                      </a:r>
                      <a:endParaRPr sz="1800" u="none" cap="none" strike="noStrike">
                        <a:latin typeface="Arial"/>
                        <a:ea typeface="Arial"/>
                        <a:cs typeface="Arial"/>
                        <a:sym typeface="Arial"/>
                      </a:endParaRPr>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A</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150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125</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-24.8</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-21.8</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615.0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475.2</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B</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169</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130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-5.8</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-16.8</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33.6</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282.2</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C</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175</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160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0.2</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13.2</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0.0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174.2</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D</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180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169</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5.2</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22.2</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27.0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492.8</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E</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200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150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25.2</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3.2</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635.0</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10.2</a:t>
                      </a:r>
                      <a:endParaRPr sz="1400" u="none" cap="none" strike="noStrike"/>
                    </a:p>
                  </a:txBody>
                  <a:tcPr marT="114300" marB="114300" marR="85725" marL="142875"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Average</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174.8</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146.8</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 </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Arial"/>
                          <a:ea typeface="Arial"/>
                          <a:cs typeface="Arial"/>
                          <a:sym typeface="Arial"/>
                        </a:rPr>
                        <a:t>Total</a:t>
                      </a:r>
                      <a:endParaRPr sz="1800" u="none" cap="none" strike="noStrike">
                        <a:latin typeface="Arial"/>
                        <a:ea typeface="Arial"/>
                        <a:cs typeface="Arial"/>
                        <a:sym typeface="Arial"/>
                      </a:endParaRPr>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1310.8</a:t>
                      </a:r>
                      <a:endParaRPr sz="1400" u="none" cap="none" strike="noStrike"/>
                    </a:p>
                  </a:txBody>
                  <a:tcPr marT="114300" marB="114300" marR="85725" marL="142875" anchor="ct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Arial"/>
                          <a:ea typeface="Arial"/>
                          <a:cs typeface="Arial"/>
                          <a:sym typeface="Arial"/>
                        </a:rPr>
                        <a:t>1434.8</a:t>
                      </a:r>
                      <a:endParaRPr sz="1400" u="none" cap="none" strike="noStrike"/>
                    </a:p>
                  </a:txBody>
                  <a:tcPr marT="114300" marB="114300" marR="85725" marL="142875" anchor="ct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id="342" name="Google Shape;342;p45"/>
          <p:cNvPicPr preferRelativeResize="0"/>
          <p:nvPr/>
        </p:nvPicPr>
        <p:blipFill rotWithShape="1">
          <a:blip r:embed="rId3">
            <a:alphaModFix/>
          </a:blip>
          <a:srcRect b="12594" l="22741" r="40948" t="46495"/>
          <a:stretch/>
        </p:blipFill>
        <p:spPr>
          <a:xfrm>
            <a:off x="2604653" y="1233054"/>
            <a:ext cx="6262256" cy="396670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6"/>
          <p:cNvSpPr txBox="1"/>
          <p:nvPr>
            <p:ph type="title"/>
          </p:nvPr>
        </p:nvSpPr>
        <p:spPr>
          <a:xfrm>
            <a:off x="838200" y="365125"/>
            <a:ext cx="10515600" cy="1325563"/>
          </a:xfrm>
          <a:prstGeom prst="rect">
            <a:avLst/>
          </a:prstGeom>
          <a:solidFill>
            <a:schemeClr val="accent2"/>
          </a:solidFill>
          <a:ln cap="flat" cmpd="sng" w="12700">
            <a:solidFill>
              <a:srgbClr val="AC5B23"/>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latin typeface="Calibri"/>
                <a:ea typeface="Calibri"/>
                <a:cs typeface="Calibri"/>
                <a:sym typeface="Calibri"/>
              </a:rPr>
              <a:t>Residual Analysis….</a:t>
            </a:r>
            <a:endParaRPr/>
          </a:p>
        </p:txBody>
      </p:sp>
      <p:sp>
        <p:nvSpPr>
          <p:cNvPr id="348" name="Google Shape;348;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0000"/>
              </a:buClr>
              <a:buSzPts val="2800"/>
              <a:buChar char="•"/>
            </a:pPr>
            <a:r>
              <a:rPr lang="en-US">
                <a:solidFill>
                  <a:srgbClr val="FF0000"/>
                </a:solidFill>
              </a:rPr>
              <a:t>Imagine</a:t>
            </a:r>
            <a:r>
              <a:rPr lang="en-US"/>
              <a:t> you're trying to fit a line through a bunch of data points. The best-fit line will minimize the distances between the points and the line. These distances are called the residuals.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Residual analysis is the process of examining these residuals to see how well the line fits the data. There are a few different ways to do this, but some common methods include: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7"/>
          <p:cNvSpPr txBox="1"/>
          <p:nvPr>
            <p:ph type="title"/>
          </p:nvPr>
        </p:nvSpPr>
        <p:spPr>
          <a:xfrm>
            <a:off x="838200" y="365125"/>
            <a:ext cx="10515600" cy="1325563"/>
          </a:xfrm>
          <a:prstGeom prst="rect">
            <a:avLst/>
          </a:pr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latin typeface="Calibri"/>
                <a:ea typeface="Calibri"/>
                <a:cs typeface="Calibri"/>
                <a:sym typeface="Calibri"/>
              </a:rPr>
              <a:t>Example…</a:t>
            </a:r>
            <a:endParaRPr/>
          </a:p>
        </p:txBody>
      </p:sp>
      <p:sp>
        <p:nvSpPr>
          <p:cNvPr id="354" name="Google Shape;354;p47"/>
          <p:cNvSpPr txBox="1"/>
          <p:nvPr>
            <p:ph idx="1" type="body"/>
          </p:nvPr>
        </p:nvSpPr>
        <p:spPr>
          <a:xfrm>
            <a:off x="838200" y="1825625"/>
            <a:ext cx="10515600" cy="4351338"/>
          </a:xfrm>
          <a:prstGeom prst="rect">
            <a:avLst/>
          </a:prstGeom>
          <a:gradFill>
            <a:gsLst>
              <a:gs pos="0">
                <a:srgbClr val="B0CAE9"/>
              </a:gs>
              <a:gs pos="50000">
                <a:srgbClr val="A1C1E4"/>
              </a:gs>
              <a:gs pos="100000">
                <a:srgbClr val="90B8E4"/>
              </a:gs>
            </a:gsLst>
            <a:lin ang="5400000" scaled="0"/>
          </a:gra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solidFill>
                  <a:schemeClr val="dk1"/>
                </a:solidFill>
                <a:latin typeface="Calibri"/>
                <a:ea typeface="Calibri"/>
                <a:cs typeface="Calibri"/>
                <a:sym typeface="Calibri"/>
              </a:rPr>
              <a:t>Scenario:</a:t>
            </a:r>
            <a:r>
              <a:rPr lang="en-US">
                <a:solidFill>
                  <a:schemeClr val="dk1"/>
                </a:solidFill>
                <a:latin typeface="Calibri"/>
                <a:ea typeface="Calibri"/>
                <a:cs typeface="Calibri"/>
                <a:sym typeface="Calibri"/>
              </a:rPr>
              <a:t> Imagine you're studying the relationship between study hours (independent variable) and exam scores (dependent variable) for a group of students. You suspect a linear relationship.</a:t>
            </a:r>
            <a:endParaRPr/>
          </a:p>
          <a:p>
            <a:pPr indent="-228600" lvl="0" marL="228600" rtl="0" algn="l">
              <a:lnSpc>
                <a:spcPct val="90000"/>
              </a:lnSpc>
              <a:spcBef>
                <a:spcPts val="1000"/>
              </a:spcBef>
              <a:spcAft>
                <a:spcPts val="0"/>
              </a:spcAft>
              <a:buClr>
                <a:schemeClr val="dk1"/>
              </a:buClr>
              <a:buSzPts val="2800"/>
              <a:buChar char="•"/>
            </a:pPr>
            <a:r>
              <a:rPr b="1" lang="en-US">
                <a:solidFill>
                  <a:schemeClr val="dk1"/>
                </a:solidFill>
                <a:latin typeface="Calibri"/>
                <a:ea typeface="Calibri"/>
                <a:cs typeface="Calibri"/>
                <a:sym typeface="Calibri"/>
              </a:rPr>
              <a:t>Step 1: Fit the Regression Line:</a:t>
            </a:r>
            <a:r>
              <a:rPr lang="en-US">
                <a:solidFill>
                  <a:schemeClr val="dk1"/>
                </a:solidFill>
                <a:latin typeface="Calibri"/>
                <a:ea typeface="Calibri"/>
                <a:cs typeface="Calibri"/>
                <a:sym typeface="Calibri"/>
              </a:rPr>
              <a:t> Use a statistical software or calculator to fit a linear regression line to the data. This will give you the equation of the line and the predicted score for each student based on their study hours.</a:t>
            </a:r>
            <a:endParaRPr/>
          </a:p>
          <a:p>
            <a:pPr indent="-228600" lvl="0" marL="228600" rtl="0" algn="l">
              <a:lnSpc>
                <a:spcPct val="90000"/>
              </a:lnSpc>
              <a:spcBef>
                <a:spcPts val="1000"/>
              </a:spcBef>
              <a:spcAft>
                <a:spcPts val="0"/>
              </a:spcAft>
              <a:buClr>
                <a:schemeClr val="dk1"/>
              </a:buClr>
              <a:buSzPts val="2800"/>
              <a:buChar char="•"/>
            </a:pPr>
            <a:r>
              <a:rPr b="1" lang="en-US">
                <a:solidFill>
                  <a:schemeClr val="dk1"/>
                </a:solidFill>
                <a:latin typeface="Calibri"/>
                <a:ea typeface="Calibri"/>
                <a:cs typeface="Calibri"/>
                <a:sym typeface="Calibri"/>
              </a:rPr>
              <a:t>Step 2: Calculate Residuals:</a:t>
            </a:r>
            <a:r>
              <a:rPr lang="en-US">
                <a:solidFill>
                  <a:schemeClr val="dk1"/>
                </a:solidFill>
                <a:latin typeface="Calibri"/>
                <a:ea typeface="Calibri"/>
                <a:cs typeface="Calibri"/>
                <a:sym typeface="Calibri"/>
              </a:rPr>
              <a:t> For each student, calculate the difference between their actual exam score and their predicted score. This difference is the residual.</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8"/>
          <p:cNvSpPr txBox="1"/>
          <p:nvPr>
            <p:ph type="title"/>
          </p:nvPr>
        </p:nvSpPr>
        <p:spPr>
          <a:xfrm>
            <a:off x="838200" y="365125"/>
            <a:ext cx="10515600" cy="1325563"/>
          </a:xfrm>
          <a:prstGeom prst="rect">
            <a:avLst/>
          </a:pr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latin typeface="Calibri"/>
                <a:ea typeface="Calibri"/>
                <a:cs typeface="Calibri"/>
                <a:sym typeface="Calibri"/>
              </a:rPr>
              <a:t>Example</a:t>
            </a:r>
            <a:endParaRPr/>
          </a:p>
        </p:txBody>
      </p:sp>
      <p:graphicFrame>
        <p:nvGraphicFramePr>
          <p:cNvPr id="360" name="Google Shape;360;p48"/>
          <p:cNvGraphicFramePr/>
          <p:nvPr/>
        </p:nvGraphicFramePr>
        <p:xfrm>
          <a:off x="838200" y="1825625"/>
          <a:ext cx="3000000" cy="3000000"/>
        </p:xfrm>
        <a:graphic>
          <a:graphicData uri="http://schemas.openxmlformats.org/drawingml/2006/table">
            <a:tbl>
              <a:tblPr bandRow="1" firstRow="1">
                <a:noFill/>
                <a:tableStyleId>{1D0EC1C2-7558-46DD-9F73-F25AE3EB6AF6}</a:tableStyleId>
              </a:tblPr>
              <a:tblGrid>
                <a:gridCol w="2103125"/>
                <a:gridCol w="2103125"/>
                <a:gridCol w="2103125"/>
                <a:gridCol w="2103125"/>
                <a:gridCol w="21031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Student</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Study Hours</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Exam Score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Predicted Score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Residual</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A</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5</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80</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78</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2</a:t>
                      </a:r>
                      <a:endParaRPr sz="1400" u="none" cap="none" strike="noStrike"/>
                    </a:p>
                  </a:txBody>
                  <a:tcPr marT="152400" marB="152400" marR="152400" marL="152400"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B</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3</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70</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69</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1</a:t>
                      </a:r>
                      <a:endParaRPr sz="1400" u="none" cap="none" strike="noStrike"/>
                    </a:p>
                  </a:txBody>
                  <a:tcPr marT="152400" marB="152400" marR="152400" marL="152400"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C</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8</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95</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90</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5</a:t>
                      </a:r>
                      <a:endParaRPr sz="1400" u="none" cap="none" strike="noStrike"/>
                    </a:p>
                  </a:txBody>
                  <a:tcPr marT="152400" marB="152400" marR="152400" marL="152400"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D</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6</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84</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81</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3</a:t>
                      </a:r>
                      <a:endParaRPr sz="1400" u="none" cap="none" strike="noStrike"/>
                    </a:p>
                  </a:txBody>
                  <a:tcPr marT="152400" marB="152400" marR="152400" marL="152400"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E</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2</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65</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64</a:t>
                      </a:r>
                      <a:endParaRPr sz="1400" u="none" cap="none" strike="noStrike"/>
                    </a:p>
                  </a:txBody>
                  <a:tcPr marT="152400" marB="152400" marR="152400" marL="152400" anchor="ct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latin typeface="Arial"/>
                          <a:ea typeface="Arial"/>
                          <a:cs typeface="Arial"/>
                          <a:sym typeface="Arial"/>
                        </a:rPr>
                        <a:t>1</a:t>
                      </a:r>
                      <a:endParaRPr sz="1400" u="none" cap="none" strike="noStrike"/>
                    </a:p>
                  </a:txBody>
                  <a:tcPr marT="152400" marB="152400" marR="152400" marL="152400" anchor="ct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9"/>
          <p:cNvSpPr txBox="1"/>
          <p:nvPr>
            <p:ph type="title"/>
          </p:nvPr>
        </p:nvSpPr>
        <p:spPr>
          <a:xfrm>
            <a:off x="838200" y="365125"/>
            <a:ext cx="10515600" cy="1325563"/>
          </a:xfrm>
          <a:prstGeom prst="rect">
            <a:avLst/>
          </a:prstGeom>
          <a:solidFill>
            <a:schemeClr val="accent2"/>
          </a:solidFill>
          <a:ln cap="flat" cmpd="sng" w="12700">
            <a:solidFill>
              <a:srgbClr val="AC5B23"/>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latin typeface="Calibri"/>
                <a:ea typeface="Calibri"/>
                <a:cs typeface="Calibri"/>
                <a:sym typeface="Calibri"/>
              </a:rPr>
              <a:t>Different technique to Analysis of Residual</a:t>
            </a:r>
            <a:endParaRPr/>
          </a:p>
        </p:txBody>
      </p:sp>
      <p:sp>
        <p:nvSpPr>
          <p:cNvPr id="366" name="Google Shape;366;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Plotting the residuals against the independent variable:</a:t>
            </a:r>
            <a:r>
              <a:rPr lang="en-US"/>
              <a:t> This can help you see if there are any patterns in the residuals, such as if they tend to be larger for higher or lower values of the independent variable.</a:t>
            </a:r>
            <a:endParaRPr/>
          </a:p>
          <a:p>
            <a:pPr indent="-228600" lvl="0" marL="228600" rtl="0" algn="l">
              <a:lnSpc>
                <a:spcPct val="90000"/>
              </a:lnSpc>
              <a:spcBef>
                <a:spcPts val="1000"/>
              </a:spcBef>
              <a:spcAft>
                <a:spcPts val="0"/>
              </a:spcAft>
              <a:buClr>
                <a:schemeClr val="dk1"/>
              </a:buClr>
              <a:buSzPts val="2800"/>
              <a:buChar char="•"/>
            </a:pPr>
            <a:r>
              <a:rPr b="1" lang="en-US"/>
              <a:t>Plotting the residuals against the fitted values:</a:t>
            </a:r>
            <a:r>
              <a:rPr lang="en-US"/>
              <a:t> This can help you see if the variance of the residuals is constant across the range of fitted values.</a:t>
            </a:r>
            <a:endParaRPr/>
          </a:p>
          <a:p>
            <a:pPr indent="-228600" lvl="0" marL="228600" rtl="0" algn="l">
              <a:lnSpc>
                <a:spcPct val="90000"/>
              </a:lnSpc>
              <a:spcBef>
                <a:spcPts val="1000"/>
              </a:spcBef>
              <a:spcAft>
                <a:spcPts val="0"/>
              </a:spcAft>
              <a:buClr>
                <a:schemeClr val="dk1"/>
              </a:buClr>
              <a:buSzPts val="2800"/>
              <a:buChar char="•"/>
            </a:pPr>
            <a:r>
              <a:rPr b="1" lang="en-US"/>
              <a:t>Normal probability plot of the residuals:</a:t>
            </a:r>
            <a:r>
              <a:rPr lang="en-US"/>
              <a:t> This can help you see if the residuals are normally distributed, which is an important assumption of linear regression.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0"/>
          <p:cNvSpPr txBox="1"/>
          <p:nvPr>
            <p:ph type="title"/>
          </p:nvPr>
        </p:nvSpPr>
        <p:spPr>
          <a:xfrm>
            <a:off x="839788" y="365125"/>
            <a:ext cx="10515600" cy="1325563"/>
          </a:xfrm>
          <a:prstGeom prst="rect">
            <a:avLst/>
          </a:prstGeom>
          <a:solidFill>
            <a:schemeClr val="accent2"/>
          </a:solidFill>
          <a:ln cap="flat" cmpd="sng" w="12700">
            <a:solidFill>
              <a:srgbClr val="AC5B23"/>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latin typeface="Calibri"/>
                <a:ea typeface="Calibri"/>
                <a:cs typeface="Calibri"/>
                <a:sym typeface="Calibri"/>
              </a:rPr>
              <a:t>Compare</a:t>
            </a:r>
            <a:endParaRPr/>
          </a:p>
        </p:txBody>
      </p:sp>
      <p:sp>
        <p:nvSpPr>
          <p:cNvPr id="372" name="Google Shape;372;p5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Regression Line	</a:t>
            </a:r>
            <a:endParaRPr/>
          </a:p>
        </p:txBody>
      </p:sp>
      <p:sp>
        <p:nvSpPr>
          <p:cNvPr id="373" name="Google Shape;373;p5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Standardized Residuals</a:t>
            </a:r>
            <a:endParaRPr/>
          </a:p>
        </p:txBody>
      </p:sp>
      <p:pic>
        <p:nvPicPr>
          <p:cNvPr id="374" name="Google Shape;374;p50"/>
          <p:cNvPicPr preferRelativeResize="0"/>
          <p:nvPr>
            <p:ph idx="4" type="body"/>
          </p:nvPr>
        </p:nvPicPr>
        <p:blipFill rotWithShape="1">
          <a:blip r:embed="rId3">
            <a:alphaModFix/>
          </a:blip>
          <a:srcRect b="28978" l="24725" r="37051" t="32035"/>
          <a:stretch/>
        </p:blipFill>
        <p:spPr>
          <a:xfrm>
            <a:off x="6172200" y="2733530"/>
            <a:ext cx="5183188" cy="2972176"/>
          </a:xfrm>
          <a:prstGeom prst="rect">
            <a:avLst/>
          </a:prstGeom>
          <a:noFill/>
          <a:ln>
            <a:noFill/>
          </a:ln>
        </p:spPr>
      </p:pic>
      <p:pic>
        <p:nvPicPr>
          <p:cNvPr id="375" name="Google Shape;375;p50"/>
          <p:cNvPicPr preferRelativeResize="0"/>
          <p:nvPr>
            <p:ph idx="2" type="body"/>
          </p:nvPr>
        </p:nvPicPr>
        <p:blipFill rotWithShape="1">
          <a:blip r:embed="rId4">
            <a:alphaModFix/>
          </a:blip>
          <a:srcRect b="47031" l="25890" r="37310" t="13314"/>
          <a:stretch/>
        </p:blipFill>
        <p:spPr>
          <a:xfrm>
            <a:off x="950582" y="2733530"/>
            <a:ext cx="5046993" cy="3057669"/>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1"/>
          <p:cNvSpPr txBox="1"/>
          <p:nvPr>
            <p:ph type="title"/>
          </p:nvPr>
        </p:nvSpPr>
        <p:spPr>
          <a:xfrm>
            <a:off x="838200" y="365125"/>
            <a:ext cx="10515600" cy="1325563"/>
          </a:xfrm>
          <a:prstGeom prst="rect">
            <a:avLst/>
          </a:prstGeom>
          <a:solidFill>
            <a:schemeClr val="accent2"/>
          </a:solidFill>
          <a:ln cap="flat" cmpd="sng" w="12700">
            <a:solidFill>
              <a:srgbClr val="AC5B23"/>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latin typeface="Calibri"/>
                <a:ea typeface="Calibri"/>
                <a:cs typeface="Calibri"/>
                <a:sym typeface="Calibri"/>
              </a:rPr>
              <a:t>Patterns in the Residuals</a:t>
            </a:r>
            <a:endParaRPr/>
          </a:p>
        </p:txBody>
      </p:sp>
      <p:sp>
        <p:nvSpPr>
          <p:cNvPr id="381" name="Google Shape;381;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t>If you see any patterns in the residuals, it may indicate that your model is not a good fit for the data.</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You may need to try a different model, or transform your data in some way.</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Residuals are always measured in the same units as the dependent variable.</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The sum of the residuals is always zero.</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The average residual is always zero.</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2"/>
          <p:cNvSpPr txBox="1"/>
          <p:nvPr>
            <p:ph type="title"/>
          </p:nvPr>
        </p:nvSpPr>
        <p:spPr>
          <a:xfrm>
            <a:off x="838200" y="365125"/>
            <a:ext cx="10515600" cy="1325563"/>
          </a:xfrm>
          <a:prstGeom prst="rect">
            <a:avLst/>
          </a:pr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latin typeface="Calibri"/>
                <a:ea typeface="Calibri"/>
                <a:cs typeface="Calibri"/>
                <a:sym typeface="Calibri"/>
              </a:rPr>
              <a:t>Identifying significant features</a:t>
            </a:r>
            <a:endParaRPr/>
          </a:p>
        </p:txBody>
      </p:sp>
      <p:sp>
        <p:nvSpPr>
          <p:cNvPr id="387" name="Google Shape;387;p52"/>
          <p:cNvSpPr txBox="1"/>
          <p:nvPr>
            <p:ph idx="1" type="body"/>
          </p:nvPr>
        </p:nvSpPr>
        <p:spPr>
          <a:xfrm>
            <a:off x="838200" y="1825625"/>
            <a:ext cx="10515600" cy="4351338"/>
          </a:xfrm>
          <a:prstGeom prst="rect">
            <a:avLst/>
          </a:prstGeom>
          <a:gradFill>
            <a:gsLst>
              <a:gs pos="0">
                <a:srgbClr val="B0CAE9"/>
              </a:gs>
              <a:gs pos="50000">
                <a:srgbClr val="A1C1E4"/>
              </a:gs>
              <a:gs pos="100000">
                <a:srgbClr val="90B8E4"/>
              </a:gs>
            </a:gsLst>
            <a:lin ang="5400000" scaled="0"/>
          </a:gra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0000"/>
              </a:buClr>
              <a:buSzPts val="2800"/>
              <a:buChar char="•"/>
            </a:pPr>
            <a:r>
              <a:rPr lang="en-US">
                <a:solidFill>
                  <a:srgbClr val="FF0000"/>
                </a:solidFill>
                <a:latin typeface="Calibri"/>
                <a:ea typeface="Calibri"/>
                <a:cs typeface="Calibri"/>
                <a:sym typeface="Calibri"/>
              </a:rPr>
              <a:t>Imagine you're a detective </a:t>
            </a:r>
            <a:r>
              <a:rPr lang="en-US">
                <a:solidFill>
                  <a:schemeClr val="dk1"/>
                </a:solidFill>
                <a:latin typeface="Calibri"/>
                <a:ea typeface="Calibri"/>
                <a:cs typeface="Calibri"/>
                <a:sym typeface="Calibri"/>
              </a:rPr>
              <a:t>trying to solve a case. You have tons of clues (features) scattered around, but not all of them are equally helpful in catching the culprit (target variable). You need to figure out which clues are the most informative and focus your investigation there.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latin typeface="Calibri"/>
                <a:ea typeface="Calibri"/>
                <a:cs typeface="Calibri"/>
                <a:sym typeface="Calibri"/>
              </a:rPr>
              <a:t>That's what feature selection does in statistics and machine learning! It helps us </a:t>
            </a:r>
            <a:r>
              <a:rPr b="1" lang="en-US">
                <a:solidFill>
                  <a:schemeClr val="dk1"/>
                </a:solidFill>
                <a:latin typeface="Calibri"/>
                <a:ea typeface="Calibri"/>
                <a:cs typeface="Calibri"/>
                <a:sym typeface="Calibri"/>
              </a:rPr>
              <a:t>identify the most important features</a:t>
            </a:r>
            <a:r>
              <a:rPr lang="en-US">
                <a:solidFill>
                  <a:schemeClr val="dk1"/>
                </a:solidFill>
                <a:latin typeface="Calibri"/>
                <a:ea typeface="Calibri"/>
                <a:cs typeface="Calibri"/>
                <a:sym typeface="Calibri"/>
              </a:rPr>
              <a:t> from a large dataset to improve the performance of our analysis or model.</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3"/>
          <p:cNvSpPr txBox="1"/>
          <p:nvPr>
            <p:ph type="title"/>
          </p:nvPr>
        </p:nvSpPr>
        <p:spPr>
          <a:xfrm>
            <a:off x="838200" y="365125"/>
            <a:ext cx="10515600" cy="1325563"/>
          </a:xfrm>
          <a:prstGeom prst="rect">
            <a:avLst/>
          </a:pr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solidFill>
                  <a:schemeClr val="dk1"/>
                </a:solidFill>
                <a:latin typeface="Calibri"/>
                <a:ea typeface="Calibri"/>
                <a:cs typeface="Calibri"/>
                <a:sym typeface="Calibri"/>
              </a:rPr>
              <a:t>Benefits of using F-test for feature selection:</a:t>
            </a:r>
            <a:endParaRPr/>
          </a:p>
        </p:txBody>
      </p:sp>
      <p:sp>
        <p:nvSpPr>
          <p:cNvPr id="393" name="Google Shape;393;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Simple and interpretable:</a:t>
            </a:r>
            <a:r>
              <a:rPr lang="en-US"/>
              <a:t> The F-score directly relates to the feature's explanatory power.</a:t>
            </a:r>
            <a:endParaRPr/>
          </a:p>
          <a:p>
            <a:pPr indent="-228600" lvl="0" marL="228600" rtl="0" algn="l">
              <a:lnSpc>
                <a:spcPct val="90000"/>
              </a:lnSpc>
              <a:spcBef>
                <a:spcPts val="1000"/>
              </a:spcBef>
              <a:spcAft>
                <a:spcPts val="0"/>
              </a:spcAft>
              <a:buClr>
                <a:schemeClr val="dk1"/>
              </a:buClr>
              <a:buSzPts val="2800"/>
              <a:buChar char="•"/>
            </a:pPr>
            <a:r>
              <a:rPr b="1" lang="en-US"/>
              <a:t>Works well for numerical features:</a:t>
            </a:r>
            <a:r>
              <a:rPr lang="en-US"/>
              <a:t> Suitable for continuous data like age, income, or exam scores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F-test assumes normal distribution of data. Consider transformations if needed.</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It favors features with many unique values. Be cautious with categorical features with few categories.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4"/>
          <p:cNvSpPr txBox="1"/>
          <p:nvPr>
            <p:ph type="title"/>
          </p:nvPr>
        </p:nvSpPr>
        <p:spPr>
          <a:xfrm>
            <a:off x="838200" y="365125"/>
            <a:ext cx="10515600" cy="885000"/>
          </a:xfrm>
          <a:prstGeom prst="rect">
            <a:avLst/>
          </a:pr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latin typeface="Calibri"/>
                <a:ea typeface="Calibri"/>
                <a:cs typeface="Calibri"/>
                <a:sym typeface="Calibri"/>
              </a:rPr>
              <a:t>F-test</a:t>
            </a:r>
            <a:endParaRPr/>
          </a:p>
        </p:txBody>
      </p:sp>
      <p:sp>
        <p:nvSpPr>
          <p:cNvPr id="399" name="Google Shape;399;p54"/>
          <p:cNvSpPr txBox="1"/>
          <p:nvPr>
            <p:ph idx="1" type="body"/>
          </p:nvPr>
        </p:nvSpPr>
        <p:spPr>
          <a:xfrm>
            <a:off x="838200" y="1432625"/>
            <a:ext cx="10515600" cy="5216400"/>
          </a:xfrm>
          <a:prstGeom prst="rect">
            <a:avLst/>
          </a:prstGeom>
          <a:gradFill>
            <a:gsLst>
              <a:gs pos="0">
                <a:srgbClr val="B0CAE9"/>
              </a:gs>
              <a:gs pos="50000">
                <a:srgbClr val="A1C1E4"/>
              </a:gs>
              <a:gs pos="100000">
                <a:srgbClr val="90B8E4"/>
              </a:gs>
            </a:gsLst>
            <a:lin ang="5400000" scaled="0"/>
          </a:gra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260984" lvl="0" marL="228600" rtl="0" algn="l">
              <a:lnSpc>
                <a:spcPct val="70000"/>
              </a:lnSpc>
              <a:spcBef>
                <a:spcPts val="0"/>
              </a:spcBef>
              <a:spcAft>
                <a:spcPts val="0"/>
              </a:spcAft>
              <a:buClr>
                <a:schemeClr val="dk1"/>
              </a:buClr>
              <a:buSzPts val="2470"/>
              <a:buChar char="•"/>
            </a:pPr>
            <a:r>
              <a:rPr b="1" lang="en-US" sz="2470">
                <a:solidFill>
                  <a:schemeClr val="dk1"/>
                </a:solidFill>
                <a:latin typeface="Calibri"/>
                <a:ea typeface="Calibri"/>
                <a:cs typeface="Calibri"/>
                <a:sym typeface="Calibri"/>
              </a:rPr>
              <a:t>F-test</a:t>
            </a:r>
            <a:r>
              <a:rPr lang="en-US" sz="2470">
                <a:solidFill>
                  <a:schemeClr val="dk1"/>
                </a:solidFill>
                <a:latin typeface="Calibri"/>
                <a:ea typeface="Calibri"/>
                <a:cs typeface="Calibri"/>
                <a:sym typeface="Calibri"/>
              </a:rPr>
              <a:t> is a specific technique for feature selection. It's like a statistical competition between features, judging which ones best explain the target variable. Here's the basic idea:</a:t>
            </a:r>
            <a:endParaRPr sz="2470"/>
          </a:p>
          <a:p>
            <a:pPr indent="-260984" lvl="0" marL="228600" rtl="0" algn="l">
              <a:lnSpc>
                <a:spcPct val="70000"/>
              </a:lnSpc>
              <a:spcBef>
                <a:spcPts val="1000"/>
              </a:spcBef>
              <a:spcAft>
                <a:spcPts val="0"/>
              </a:spcAft>
              <a:buClr>
                <a:schemeClr val="dk1"/>
              </a:buClr>
              <a:buSzPts val="2470"/>
              <a:buChar char="•"/>
            </a:pPr>
            <a:r>
              <a:rPr b="1" lang="en-US" sz="2470">
                <a:solidFill>
                  <a:schemeClr val="dk1"/>
                </a:solidFill>
                <a:latin typeface="Calibri"/>
                <a:ea typeface="Calibri"/>
                <a:cs typeface="Calibri"/>
                <a:sym typeface="Calibri"/>
              </a:rPr>
              <a:t>Divide the data:</a:t>
            </a:r>
            <a:r>
              <a:rPr lang="en-US" sz="2470">
                <a:solidFill>
                  <a:schemeClr val="dk1"/>
                </a:solidFill>
                <a:latin typeface="Calibri"/>
                <a:ea typeface="Calibri"/>
                <a:cs typeface="Calibri"/>
                <a:sym typeface="Calibri"/>
              </a:rPr>
              <a:t> Split your data into two groups based on the target variable (e.g., high vs. low exam scores).</a:t>
            </a:r>
            <a:endParaRPr sz="2470"/>
          </a:p>
          <a:p>
            <a:pPr indent="-260984" lvl="0" marL="228600" rtl="0" algn="l">
              <a:lnSpc>
                <a:spcPct val="70000"/>
              </a:lnSpc>
              <a:spcBef>
                <a:spcPts val="1000"/>
              </a:spcBef>
              <a:spcAft>
                <a:spcPts val="0"/>
              </a:spcAft>
              <a:buClr>
                <a:schemeClr val="dk1"/>
              </a:buClr>
              <a:buSzPts val="2470"/>
              <a:buChar char="•"/>
            </a:pPr>
            <a:r>
              <a:rPr b="1" lang="en-US" sz="2470">
                <a:solidFill>
                  <a:schemeClr val="dk1"/>
                </a:solidFill>
                <a:latin typeface="Calibri"/>
                <a:ea typeface="Calibri"/>
                <a:cs typeface="Calibri"/>
                <a:sym typeface="Calibri"/>
              </a:rPr>
              <a:t>Compare variances:</a:t>
            </a:r>
            <a:r>
              <a:rPr lang="en-US" sz="2470">
                <a:solidFill>
                  <a:schemeClr val="dk1"/>
                </a:solidFill>
                <a:latin typeface="Calibri"/>
                <a:ea typeface="Calibri"/>
                <a:cs typeface="Calibri"/>
                <a:sym typeface="Calibri"/>
              </a:rPr>
              <a:t> For each feature, calculate how spread out its values are within each group (variance).</a:t>
            </a:r>
            <a:endParaRPr sz="2470"/>
          </a:p>
          <a:p>
            <a:pPr indent="-260984" lvl="0" marL="228600" rtl="0" algn="l">
              <a:lnSpc>
                <a:spcPct val="70000"/>
              </a:lnSpc>
              <a:spcBef>
                <a:spcPts val="1000"/>
              </a:spcBef>
              <a:spcAft>
                <a:spcPts val="0"/>
              </a:spcAft>
              <a:buClr>
                <a:schemeClr val="dk1"/>
              </a:buClr>
              <a:buSzPts val="2470"/>
              <a:buChar char="•"/>
            </a:pPr>
            <a:r>
              <a:rPr b="1" lang="en-US" sz="2470">
                <a:solidFill>
                  <a:schemeClr val="dk1"/>
                </a:solidFill>
                <a:latin typeface="Calibri"/>
                <a:ea typeface="Calibri"/>
                <a:cs typeface="Calibri"/>
                <a:sym typeface="Calibri"/>
              </a:rPr>
              <a:t>Score the features:</a:t>
            </a:r>
            <a:r>
              <a:rPr lang="en-US" sz="2470">
                <a:solidFill>
                  <a:schemeClr val="dk1"/>
                </a:solidFill>
                <a:latin typeface="Calibri"/>
                <a:ea typeface="Calibri"/>
                <a:cs typeface="Calibri"/>
                <a:sym typeface="Calibri"/>
              </a:rPr>
              <a:t> Calculate an F-score for each feature, which compares the between-group variance (how different the groups are) to the within-group variance (how spread out each group is).</a:t>
            </a:r>
            <a:endParaRPr sz="2470"/>
          </a:p>
          <a:p>
            <a:pPr indent="-260984" lvl="0" marL="228600" rtl="0" algn="l">
              <a:lnSpc>
                <a:spcPct val="70000"/>
              </a:lnSpc>
              <a:spcBef>
                <a:spcPts val="1000"/>
              </a:spcBef>
              <a:spcAft>
                <a:spcPts val="0"/>
              </a:spcAft>
              <a:buClr>
                <a:schemeClr val="dk1"/>
              </a:buClr>
              <a:buSzPts val="2470"/>
              <a:buChar char="•"/>
            </a:pPr>
            <a:r>
              <a:rPr b="1" lang="en-US" sz="2470">
                <a:solidFill>
                  <a:schemeClr val="dk1"/>
                </a:solidFill>
                <a:latin typeface="Calibri"/>
                <a:ea typeface="Calibri"/>
                <a:cs typeface="Calibri"/>
                <a:sym typeface="Calibri"/>
              </a:rPr>
              <a:t>Pick the winners:</a:t>
            </a:r>
            <a:r>
              <a:rPr lang="en-US" sz="2470">
                <a:solidFill>
                  <a:schemeClr val="dk1"/>
                </a:solidFill>
                <a:latin typeface="Calibri"/>
                <a:ea typeface="Calibri"/>
                <a:cs typeface="Calibri"/>
                <a:sym typeface="Calibri"/>
              </a:rPr>
              <a:t> Features with higher F-scores are considered more important because their differences between groups are significant. Choose a selection based on a threshold or desired number of features.</a:t>
            </a:r>
            <a:endParaRPr sz="2470"/>
          </a:p>
          <a:p>
            <a:pPr indent="-260984" lvl="0" marL="228600" rtl="0" algn="l">
              <a:lnSpc>
                <a:spcPct val="70000"/>
              </a:lnSpc>
              <a:spcBef>
                <a:spcPts val="1000"/>
              </a:spcBef>
              <a:spcAft>
                <a:spcPts val="0"/>
              </a:spcAft>
              <a:buClr>
                <a:schemeClr val="dk1"/>
              </a:buClr>
              <a:buSzPts val="2470"/>
              <a:buChar char="•"/>
            </a:pPr>
            <a:r>
              <a:rPr lang="en-US" sz="2470">
                <a:solidFill>
                  <a:schemeClr val="dk1"/>
                </a:solidFill>
                <a:latin typeface="Calibri"/>
                <a:ea typeface="Calibri"/>
                <a:cs typeface="Calibri"/>
                <a:sym typeface="Calibri"/>
              </a:rPr>
              <a:t>Think of it like comparing how much taller students are in the "tall" group versus the "short" group. Features with larger differences (taller F-scores) likely contribute more to understanding the "tall" category.</a:t>
            </a:r>
            <a:endParaRPr sz="2470"/>
          </a:p>
          <a:p>
            <a:pPr indent="-104140" lvl="0" marL="228600" rtl="0" algn="l">
              <a:lnSpc>
                <a:spcPct val="70000"/>
              </a:lnSpc>
              <a:spcBef>
                <a:spcPts val="1000"/>
              </a:spcBef>
              <a:spcAft>
                <a:spcPts val="0"/>
              </a:spcAft>
              <a:buClr>
                <a:schemeClr val="dk1"/>
              </a:buClr>
              <a:buSzPts val="2170"/>
              <a:buNone/>
            </a:pPr>
            <a:r>
              <a:t/>
            </a:r>
            <a:endParaRPr sz="247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What is F Test in Statistics?</a:t>
            </a:r>
            <a:br>
              <a:rPr b="1" lang="en-US"/>
            </a:br>
            <a:endParaRPr/>
          </a:p>
        </p:txBody>
      </p:sp>
      <p:sp>
        <p:nvSpPr>
          <p:cNvPr id="405" name="Google Shape;405;p5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F test is a statistical test that is used in hypothesis testing to check whether the variances of two populations or two samples are equal or not.</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 In an f test, the data follows an f distribution. This test uses the f statistic to compare two variances by dividing them. An f test can either be one-tailed or two-tailed depending upon the parameters of the problem.</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The f value obtained after conducting an f test is used to perform the one-way ANOVA (analysis of variance) test.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What is F Test in Statistics?</a:t>
            </a:r>
            <a:br>
              <a:rPr b="1" lang="en-US"/>
            </a:br>
            <a:endParaRPr/>
          </a:p>
        </p:txBody>
      </p:sp>
      <p:sp>
        <p:nvSpPr>
          <p:cNvPr id="411" name="Google Shape;411;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 test is statistics is a test that is performed on an f distribution. A two-tailed f test is used to check whether the </a:t>
            </a:r>
            <a:r>
              <a:rPr lang="en-US" u="sng">
                <a:solidFill>
                  <a:schemeClr val="hlink"/>
                </a:solidFill>
                <a:hlinkClick r:id="rId3"/>
              </a:rPr>
              <a:t>variances</a:t>
            </a:r>
            <a:r>
              <a:rPr lang="en-US"/>
              <a:t> of the two given samples (or populations) are equal or not.</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 However, if an f test checks whether one population variance is either greater than or lesser than the other, it becomes a one-tailed hypothesis f test.</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F Test Definition</a:t>
            </a:r>
            <a:br>
              <a:rPr b="1" lang="en-US"/>
            </a:br>
            <a:endParaRPr/>
          </a:p>
        </p:txBody>
      </p:sp>
      <p:sp>
        <p:nvSpPr>
          <p:cNvPr id="417" name="Google Shape;417;p5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F test can be defined as a test that uses the f test statistic to check whether the variances of two samples (or populations) are equal to the </a:t>
            </a:r>
            <a:r>
              <a:rPr b="1" lang="en-US"/>
              <a:t>same value</a:t>
            </a:r>
            <a:r>
              <a:rPr lang="en-US"/>
              <a:t>. To conduct an f test, the population should follow an f distribution and the samples must be independent events. </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On conducting the hypothesis test, if the results of the f test are statistically significant then the </a:t>
            </a:r>
            <a:r>
              <a:rPr b="1" lang="en-US"/>
              <a:t>null hypothesis</a:t>
            </a:r>
            <a:r>
              <a:rPr lang="en-US"/>
              <a:t> can be rejected otherwise it cannot be rejected.</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i="1" lang="en-US"/>
              <a:t>“The F-test formula one may use to perform the statistical test that helps the person conducting the test find whether the two population sets having the normal distribution of the data points have the same standard deviation.”</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F Test Formula</a:t>
            </a:r>
            <a:br>
              <a:rPr b="1" lang="en-US"/>
            </a:br>
            <a:endParaRPr/>
          </a:p>
        </p:txBody>
      </p:sp>
      <p:sp>
        <p:nvSpPr>
          <p:cNvPr id="423" name="Google Shape;423;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f test is used to check the equality of variances using hypothesis testing. The f test formula for different hypothesis tests is given as follows: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424" name="Google Shape;424;p58"/>
          <p:cNvPicPr preferRelativeResize="0"/>
          <p:nvPr/>
        </p:nvPicPr>
        <p:blipFill rotWithShape="1">
          <a:blip r:embed="rId3">
            <a:alphaModFix/>
          </a:blip>
          <a:srcRect b="0" l="0" r="0" t="0"/>
          <a:stretch/>
        </p:blipFill>
        <p:spPr>
          <a:xfrm>
            <a:off x="2826327" y="3122095"/>
            <a:ext cx="5694218" cy="3171463"/>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pic>
        <p:nvPicPr>
          <p:cNvPr id="429" name="Google Shape;429;p59"/>
          <p:cNvPicPr preferRelativeResize="0"/>
          <p:nvPr/>
        </p:nvPicPr>
        <p:blipFill rotWithShape="1">
          <a:blip r:embed="rId3">
            <a:alphaModFix/>
          </a:blip>
          <a:srcRect b="5777" l="21036" r="37328" t="25284"/>
          <a:stretch/>
        </p:blipFill>
        <p:spPr>
          <a:xfrm>
            <a:off x="2244436" y="249382"/>
            <a:ext cx="6802582" cy="6332837"/>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60"/>
          <p:cNvSpPr txBox="1"/>
          <p:nvPr>
            <p:ph type="title"/>
          </p:nvPr>
        </p:nvSpPr>
        <p:spPr>
          <a:xfrm>
            <a:off x="838200" y="365125"/>
            <a:ext cx="10515600" cy="1325563"/>
          </a:xfrm>
          <a:prstGeom prst="rect">
            <a:avLst/>
          </a:pr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latin typeface="Calibri"/>
                <a:ea typeface="Calibri"/>
                <a:cs typeface="Calibri"/>
                <a:sym typeface="Calibri"/>
              </a:rPr>
              <a:t>Calculate F Test</a:t>
            </a:r>
            <a:endParaRPr/>
          </a:p>
        </p:txBody>
      </p:sp>
      <p:sp>
        <p:nvSpPr>
          <p:cNvPr id="435" name="Google Shape;435;p6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Firstly, frame the null and alternate hypothesis.</a:t>
            </a:r>
            <a:r>
              <a:rPr lang="en-US"/>
              <a:t>The null hypothesis assumes that the variances are equal. </a:t>
            </a:r>
            <a:r>
              <a:rPr b="1" lang="en-US"/>
              <a:t>H</a:t>
            </a:r>
            <a:r>
              <a:rPr b="1" baseline="-25000" lang="en-US"/>
              <a:t>0</a:t>
            </a:r>
            <a:r>
              <a:rPr b="1" lang="en-US"/>
              <a:t>: σ</a:t>
            </a:r>
            <a:r>
              <a:rPr b="1" baseline="-25000" lang="en-US"/>
              <a:t>1</a:t>
            </a:r>
            <a:r>
              <a:rPr b="1" baseline="30000" lang="en-US"/>
              <a:t>2</a:t>
            </a:r>
            <a:r>
              <a:rPr b="1" lang="en-US"/>
              <a:t> = σ</a:t>
            </a:r>
            <a:r>
              <a:rPr b="1" baseline="-25000" lang="en-US"/>
              <a:t>2</a:t>
            </a:r>
            <a:r>
              <a:rPr b="1" baseline="30000" lang="en-US"/>
              <a:t>2</a:t>
            </a:r>
            <a:r>
              <a:rPr lang="en-US"/>
              <a:t>. The alternate hypothesis states that the variances are unequal. </a:t>
            </a:r>
            <a:r>
              <a:rPr b="1" lang="en-US"/>
              <a:t>H</a:t>
            </a:r>
            <a:r>
              <a:rPr b="1" baseline="-25000" lang="en-US"/>
              <a:t>1</a:t>
            </a:r>
            <a:r>
              <a:rPr b="1" lang="en-US"/>
              <a:t>: σ</a:t>
            </a:r>
            <a:r>
              <a:rPr b="1" baseline="-25000" lang="en-US"/>
              <a:t>1</a:t>
            </a:r>
            <a:r>
              <a:rPr b="1" baseline="30000" lang="en-US"/>
              <a:t>2</a:t>
            </a:r>
            <a:r>
              <a:rPr b="1" baseline="-25000" lang="en-US"/>
              <a:t> ≠</a:t>
            </a:r>
            <a:r>
              <a:rPr b="1" lang="en-US"/>
              <a:t> σ</a:t>
            </a:r>
            <a:r>
              <a:rPr b="1" baseline="-25000" lang="en-US"/>
              <a:t>2</a:t>
            </a:r>
            <a:r>
              <a:rPr b="1" baseline="30000" lang="en-US"/>
              <a:t>2</a:t>
            </a:r>
            <a:r>
              <a:rPr lang="en-US"/>
              <a:t>. Here, σ</a:t>
            </a:r>
            <a:r>
              <a:rPr baseline="-25000" lang="en-US"/>
              <a:t>1</a:t>
            </a:r>
            <a:r>
              <a:rPr baseline="30000" lang="en-US"/>
              <a:t>2</a:t>
            </a:r>
            <a:r>
              <a:rPr lang="en-US"/>
              <a:t> and σ</a:t>
            </a:r>
            <a:r>
              <a:rPr baseline="-25000" lang="en-US"/>
              <a:t>2</a:t>
            </a:r>
            <a:r>
              <a:rPr baseline="30000" lang="en-US"/>
              <a:t>2</a:t>
            </a:r>
            <a:r>
              <a:rPr lang="en-US"/>
              <a:t> are the symbols for variances.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Calculate the test statistic.</a:t>
            </a:r>
            <a:r>
              <a:rPr lang="en-US"/>
              <a:t>(F distribution). i.e., = </a:t>
            </a:r>
            <a:r>
              <a:rPr b="1" lang="en-US"/>
              <a:t>σ</a:t>
            </a:r>
            <a:r>
              <a:rPr b="1" baseline="-25000" lang="en-US"/>
              <a:t>1</a:t>
            </a:r>
            <a:r>
              <a:rPr b="1" baseline="30000" lang="en-US"/>
              <a:t>2</a:t>
            </a:r>
            <a:r>
              <a:rPr lang="en-US"/>
              <a:t> / </a:t>
            </a:r>
            <a:r>
              <a:rPr b="1" lang="en-US"/>
              <a:t>σ</a:t>
            </a:r>
            <a:r>
              <a:rPr b="1" baseline="-25000" lang="en-US"/>
              <a:t>2</a:t>
            </a:r>
            <a:r>
              <a:rPr b="1" baseline="30000" lang="en-US"/>
              <a:t>2</a:t>
            </a:r>
            <a:r>
              <a:rPr lang="en-US"/>
              <a:t> Where </a:t>
            </a:r>
            <a:r>
              <a:rPr b="1" lang="en-US"/>
              <a:t>σ</a:t>
            </a:r>
            <a:r>
              <a:rPr b="1" baseline="-25000" lang="en-US"/>
              <a:t>1</a:t>
            </a:r>
            <a:r>
              <a:rPr b="1" baseline="30000" lang="en-US"/>
              <a:t>2</a:t>
            </a:r>
            <a:r>
              <a:rPr lang="en-US"/>
              <a:t> is assumed to be larger sample variance, and </a:t>
            </a:r>
            <a:r>
              <a:rPr b="1" lang="en-US"/>
              <a:t>σ</a:t>
            </a:r>
            <a:r>
              <a:rPr b="1" baseline="-25000" lang="en-US"/>
              <a:t>2</a:t>
            </a:r>
            <a:r>
              <a:rPr b="1" baseline="30000" lang="en-US"/>
              <a:t>2</a:t>
            </a:r>
            <a:r>
              <a:rPr lang="en-US"/>
              <a:t> is the smaller sample variance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1"/>
          <p:cNvSpPr txBox="1"/>
          <p:nvPr>
            <p:ph type="title"/>
          </p:nvPr>
        </p:nvSpPr>
        <p:spPr>
          <a:xfrm>
            <a:off x="838200" y="365125"/>
            <a:ext cx="10515600" cy="1325563"/>
          </a:xfrm>
          <a:prstGeom prst="rect">
            <a:avLst/>
          </a:prstGeom>
          <a:gradFill>
            <a:gsLst>
              <a:gs pos="0">
                <a:srgbClr val="F7BCA2"/>
              </a:gs>
              <a:gs pos="50000">
                <a:srgbClr val="F4B093"/>
              </a:gs>
              <a:gs pos="100000">
                <a:srgbClr val="F7A47F"/>
              </a:gs>
            </a:gsLst>
            <a:lin ang="5400000" scaled="0"/>
          </a:grad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latin typeface="Calibri"/>
                <a:ea typeface="Calibri"/>
                <a:cs typeface="Calibri"/>
                <a:sym typeface="Calibri"/>
              </a:rPr>
              <a:t>Next Step</a:t>
            </a:r>
            <a:endParaRPr/>
          </a:p>
        </p:txBody>
      </p:sp>
      <p:sp>
        <p:nvSpPr>
          <p:cNvPr id="441" name="Google Shape;441;p6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Calculate the degrees of freedom.</a:t>
            </a:r>
            <a:r>
              <a:rPr lang="en-US"/>
              <a:t>Degree of freedom (df1) = n1 – 1 and Degree of freedom (df2) = n2 – 1 where n1 and n2 are the sample sizes.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Look at the F value in the F table.</a:t>
            </a:r>
            <a:r>
              <a:rPr lang="en-US"/>
              <a:t>For two-tailed tests, divide the alpha by 2 to find the correct critical value.</a:t>
            </a:r>
            <a:endParaRPr/>
          </a:p>
          <a:p>
            <a:pPr indent="-228600" lvl="0" marL="228600" rtl="0" algn="l">
              <a:lnSpc>
                <a:spcPct val="90000"/>
              </a:lnSpc>
              <a:spcBef>
                <a:spcPts val="1000"/>
              </a:spcBef>
              <a:spcAft>
                <a:spcPts val="0"/>
              </a:spcAft>
              <a:buClr>
                <a:schemeClr val="dk1"/>
              </a:buClr>
              <a:buSzPts val="2800"/>
              <a:buChar char="•"/>
            </a:pPr>
            <a:r>
              <a:rPr lang="en-US"/>
              <a:t> Thus, the F-value is found by looking at the degrees of freedom in the numerator and the denominator in the F-table</a:t>
            </a:r>
            <a:endParaRPr/>
          </a:p>
          <a:p>
            <a:pPr indent="-228600" lvl="0" marL="228600" rtl="0" algn="l">
              <a:lnSpc>
                <a:spcPct val="90000"/>
              </a:lnSpc>
              <a:spcBef>
                <a:spcPts val="1000"/>
              </a:spcBef>
              <a:spcAft>
                <a:spcPts val="0"/>
              </a:spcAft>
              <a:buClr>
                <a:schemeClr val="dk1"/>
              </a:buClr>
              <a:buSzPts val="2800"/>
              <a:buChar char="•"/>
            </a:pPr>
            <a:r>
              <a:rPr lang="en-US"/>
              <a:t>. Df1 is read across in the top row. Df2 is read down in the first column.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descr="f table for aplha .05" id="446" name="Google Shape;446;p62"/>
          <p:cNvPicPr preferRelativeResize="0"/>
          <p:nvPr>
            <p:ph idx="1" type="body"/>
          </p:nvPr>
        </p:nvPicPr>
        <p:blipFill rotWithShape="1">
          <a:blip r:embed="rId3">
            <a:alphaModFix/>
          </a:blip>
          <a:srcRect b="0" l="0" r="0" t="0"/>
          <a:stretch/>
        </p:blipFill>
        <p:spPr>
          <a:xfrm>
            <a:off x="0" y="107543"/>
            <a:ext cx="5349922" cy="6373970"/>
          </a:xfrm>
          <a:prstGeom prst="rect">
            <a:avLst/>
          </a:prstGeom>
          <a:noFill/>
          <a:ln>
            <a:noFill/>
          </a:ln>
        </p:spPr>
      </p:pic>
      <p:pic>
        <p:nvPicPr>
          <p:cNvPr descr="f table for aplha .050" id="447" name="Google Shape;447;p62"/>
          <p:cNvPicPr preferRelativeResize="0"/>
          <p:nvPr/>
        </p:nvPicPr>
        <p:blipFill rotWithShape="1">
          <a:blip r:embed="rId4">
            <a:alphaModFix/>
          </a:blip>
          <a:srcRect b="0" l="0" r="0" t="0"/>
          <a:stretch/>
        </p:blipFill>
        <p:spPr>
          <a:xfrm>
            <a:off x="5919067" y="0"/>
            <a:ext cx="5749769" cy="6528670"/>
          </a:xfrm>
          <a:prstGeom prst="rect">
            <a:avLst/>
          </a:prstGeom>
          <a:noFill/>
          <a:ln>
            <a:noFill/>
          </a:ln>
        </p:spPr>
      </p:pic>
      <p:sp>
        <p:nvSpPr>
          <p:cNvPr id="448" name="Google Shape;448;p62"/>
          <p:cNvSpPr txBox="1"/>
          <p:nvPr/>
        </p:nvSpPr>
        <p:spPr>
          <a:xfrm>
            <a:off x="1078174" y="6528670"/>
            <a:ext cx="100144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n-US" sz="1800" u="none" cap="none" strike="noStrike">
                <a:solidFill>
                  <a:schemeClr val="dk1"/>
                </a:solidFill>
                <a:latin typeface="Calibri"/>
                <a:ea typeface="Calibri"/>
                <a:cs typeface="Calibri"/>
                <a:sym typeface="Calibri"/>
              </a:rPr>
              <a:t>Note:</a:t>
            </a:r>
            <a:r>
              <a:rPr b="0" i="0" lang="en-US" sz="1800" u="none" cap="none" strike="noStrike">
                <a:solidFill>
                  <a:schemeClr val="dk1"/>
                </a:solidFill>
                <a:latin typeface="Calibri"/>
                <a:ea typeface="Calibri"/>
                <a:cs typeface="Calibri"/>
                <a:sym typeface="Calibri"/>
              </a:rPr>
              <a:t> There are different F Tables for different levels of significance. Above is the F table for alpha = .050.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F-test caluclation</a:t>
            </a:r>
            <a:endParaRPr/>
          </a:p>
        </p:txBody>
      </p:sp>
      <p:sp>
        <p:nvSpPr>
          <p:cNvPr id="454" name="Google Shape;454;p6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Example 1:</a:t>
            </a:r>
            <a:r>
              <a:rPr lang="en-US"/>
              <a:t> A research team wants to study the effects of a new drug on insomnia. 8 tests were conducted with a variance of 600 initially. After 7 months 6 tests were conducted with a variance of 400. At a significance level of 0.05 was there any improvement in the results after 7 months?</a:t>
            </a:r>
            <a:endParaRPr/>
          </a:p>
          <a:p>
            <a:pPr indent="-228600" lvl="0" marL="228600" rtl="0" algn="l">
              <a:lnSpc>
                <a:spcPct val="90000"/>
              </a:lnSpc>
              <a:spcBef>
                <a:spcPts val="1000"/>
              </a:spcBef>
              <a:spcAft>
                <a:spcPts val="0"/>
              </a:spcAft>
              <a:buClr>
                <a:schemeClr val="dk1"/>
              </a:buClr>
              <a:buSzPts val="2800"/>
              <a:buChar char="•"/>
            </a:pPr>
            <a:r>
              <a:rPr lang="en-US"/>
              <a:t>Bigger sizer=600 size8-1</a:t>
            </a:r>
            <a:endParaRPr/>
          </a:p>
          <a:p>
            <a:pPr indent="-228600" lvl="0" marL="228600" rtl="0" algn="l">
              <a:lnSpc>
                <a:spcPct val="90000"/>
              </a:lnSpc>
              <a:spcBef>
                <a:spcPts val="1000"/>
              </a:spcBef>
              <a:spcAft>
                <a:spcPts val="0"/>
              </a:spcAft>
              <a:buClr>
                <a:schemeClr val="dk1"/>
              </a:buClr>
              <a:buSzPts val="2800"/>
              <a:buChar char="•"/>
            </a:pPr>
            <a:r>
              <a:rPr lang="en-US"/>
              <a:t>Smaller size =400  size=6-1</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Fail to reject the null hypothesis.</a:t>
            </a:r>
            <a:endParaRPr/>
          </a:p>
        </p:txBody>
      </p:sp>
      <p:pic>
        <p:nvPicPr>
          <p:cNvPr id="460" name="Google Shape;460;p64"/>
          <p:cNvPicPr preferRelativeResize="0"/>
          <p:nvPr>
            <p:ph idx="2" type="body"/>
          </p:nvPr>
        </p:nvPicPr>
        <p:blipFill rotWithShape="1">
          <a:blip r:embed="rId3">
            <a:alphaModFix/>
          </a:blip>
          <a:srcRect b="29546" l="23409" r="42457" t="25273"/>
          <a:stretch/>
        </p:blipFill>
        <p:spPr>
          <a:xfrm>
            <a:off x="266582" y="1690688"/>
            <a:ext cx="5613980" cy="4177849"/>
          </a:xfrm>
          <a:prstGeom prst="rect">
            <a:avLst/>
          </a:prstGeom>
          <a:noFill/>
          <a:ln>
            <a:noFill/>
          </a:ln>
        </p:spPr>
      </p:pic>
      <p:sp>
        <p:nvSpPr>
          <p:cNvPr id="461" name="Google Shape;461;p6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t/>
            </a:r>
            <a:endParaRPr/>
          </a:p>
        </p:txBody>
      </p:sp>
      <p:pic>
        <p:nvPicPr>
          <p:cNvPr descr="F test table" id="462" name="Google Shape;462;p64"/>
          <p:cNvPicPr preferRelativeResize="0"/>
          <p:nvPr>
            <p:ph idx="4" type="body"/>
          </p:nvPr>
        </p:nvPicPr>
        <p:blipFill rotWithShape="1">
          <a:blip r:embed="rId4">
            <a:alphaModFix/>
          </a:blip>
          <a:srcRect b="0" l="0" r="0" t="0"/>
          <a:stretch/>
        </p:blipFill>
        <p:spPr>
          <a:xfrm>
            <a:off x="6172200" y="2505075"/>
            <a:ext cx="5183188" cy="2475997"/>
          </a:xfrm>
          <a:prstGeom prst="rect">
            <a:avLst/>
          </a:prstGeom>
          <a:noFill/>
          <a:ln>
            <a:noFill/>
          </a:ln>
        </p:spPr>
      </p:pic>
      <p:sp>
        <p:nvSpPr>
          <p:cNvPr id="463" name="Google Shape;463;p64"/>
          <p:cNvSpPr txBox="1"/>
          <p:nvPr/>
        </p:nvSpPr>
        <p:spPr>
          <a:xfrm>
            <a:off x="1774210" y="6036593"/>
            <a:ext cx="976806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As 1.5 &lt; 4.88, thus, the null hypothesis cannot be rejected and there is not enough evidence 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conclude that there was an improvement in insomnia after using the new drug.</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Take away</a:t>
            </a:r>
            <a:endParaRPr/>
          </a:p>
        </p:txBody>
      </p:sp>
      <p:sp>
        <p:nvSpPr>
          <p:cNvPr id="469" name="Google Shape;469;p6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t>The F-test formula is used to conduct a statistical test determining whether two population sets with normally distributed data points have the same standard deviation.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The F-test can be used to test the hypothesis of equal variances between two populations.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It can also be used to test the hypothesis of equal means between normally distributed populations with the same standard deviation.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The F-test is commonly employed to assess the fit of a proposed regression model to the data, evaluating how well the model explains the variability in the data.</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Hypothesis testing – Regression model</a:t>
            </a:r>
            <a:endParaRPr/>
          </a:p>
        </p:txBody>
      </p:sp>
      <p:sp>
        <p:nvSpPr>
          <p:cNvPr id="475" name="Google Shape;475;p6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Hypothesis testing in regression models helps you assess the statistical significance of your findings and draw valid conclusions.</a:t>
            </a:r>
            <a:endParaRPr/>
          </a:p>
          <a:p>
            <a:pPr indent="-228600" lvl="0" marL="228600" rtl="0" algn="l">
              <a:lnSpc>
                <a:spcPct val="90000"/>
              </a:lnSpc>
              <a:spcBef>
                <a:spcPts val="1000"/>
              </a:spcBef>
              <a:spcAft>
                <a:spcPts val="0"/>
              </a:spcAft>
              <a:buClr>
                <a:schemeClr val="dk1"/>
              </a:buClr>
              <a:buSzPts val="2800"/>
              <a:buChar char="•"/>
            </a:pPr>
            <a:r>
              <a:rPr b="1" lang="en-US"/>
              <a:t>Imagine you're making a prediction:</a:t>
            </a:r>
            <a:r>
              <a:rPr lang="en-US"/>
              <a:t> You're studying how much sleep (independent variable) affects exam scores (dependent variable). You fit a regression line, but how confident are you that this line represents a real relationship, not just random chance?</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67"/>
          <p:cNvSpPr txBox="1"/>
          <p:nvPr>
            <p:ph type="title"/>
          </p:nvPr>
        </p:nvSpPr>
        <p:spPr>
          <a:xfrm>
            <a:off x="278575" y="146250"/>
            <a:ext cx="10515600" cy="97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Set up your detective work:</a:t>
            </a:r>
            <a:endParaRPr/>
          </a:p>
        </p:txBody>
      </p:sp>
      <p:sp>
        <p:nvSpPr>
          <p:cNvPr id="481" name="Google Shape;481;p67"/>
          <p:cNvSpPr txBox="1"/>
          <p:nvPr>
            <p:ph idx="1" type="body"/>
          </p:nvPr>
        </p:nvSpPr>
        <p:spPr>
          <a:xfrm>
            <a:off x="278575" y="1304950"/>
            <a:ext cx="11618400" cy="5234700"/>
          </a:xfrm>
          <a:prstGeom prst="rect">
            <a:avLst/>
          </a:prstGeom>
          <a:noFill/>
          <a:ln>
            <a:noFill/>
          </a:ln>
        </p:spPr>
        <p:txBody>
          <a:bodyPr anchorCtr="0" anchor="t" bIns="45700" lIns="91425" spcFirstLastPara="1" rIns="91425" wrap="square" tIns="45700">
            <a:noAutofit/>
          </a:bodyPr>
          <a:lstStyle/>
          <a:p>
            <a:pPr indent="-246380" lvl="1" marL="685800" rtl="0" algn="l">
              <a:lnSpc>
                <a:spcPct val="90000"/>
              </a:lnSpc>
              <a:spcBef>
                <a:spcPts val="0"/>
              </a:spcBef>
              <a:spcAft>
                <a:spcPts val="0"/>
              </a:spcAft>
              <a:buClr>
                <a:schemeClr val="dk1"/>
              </a:buClr>
              <a:buSzPts val="2500"/>
              <a:buChar char="•"/>
            </a:pPr>
            <a:r>
              <a:rPr b="1" lang="en-US" sz="2500"/>
              <a:t>Null hypothesis (H0):</a:t>
            </a:r>
            <a:r>
              <a:rPr lang="en-US" sz="2500"/>
              <a:t> There's NO significant relationship between sleep and exam scores. The observed relationship could be due to chance.</a:t>
            </a:r>
            <a:endParaRPr sz="2500"/>
          </a:p>
          <a:p>
            <a:pPr indent="-246380" lvl="1" marL="685800" rtl="0" algn="l">
              <a:lnSpc>
                <a:spcPct val="90000"/>
              </a:lnSpc>
              <a:spcBef>
                <a:spcPts val="500"/>
              </a:spcBef>
              <a:spcAft>
                <a:spcPts val="0"/>
              </a:spcAft>
              <a:buClr>
                <a:schemeClr val="dk1"/>
              </a:buClr>
              <a:buSzPts val="2500"/>
              <a:buChar char="•"/>
            </a:pPr>
            <a:r>
              <a:rPr b="1" lang="en-US" sz="2500"/>
              <a:t>Alternative hypothesis (Ha):</a:t>
            </a:r>
            <a:r>
              <a:rPr lang="en-US" sz="2500"/>
              <a:t> There's a REAL, non-zero relationship between sleep and exam scores.</a:t>
            </a:r>
            <a:endParaRPr sz="2500"/>
          </a:p>
          <a:p>
            <a:pPr indent="-222884" lvl="0" marL="228600" rtl="0" algn="l">
              <a:lnSpc>
                <a:spcPct val="90000"/>
              </a:lnSpc>
              <a:spcBef>
                <a:spcPts val="1000"/>
              </a:spcBef>
              <a:spcAft>
                <a:spcPts val="0"/>
              </a:spcAft>
              <a:buClr>
                <a:schemeClr val="dk1"/>
              </a:buClr>
              <a:buSzPts val="2500"/>
              <a:buChar char="•"/>
            </a:pPr>
            <a:r>
              <a:rPr b="1" lang="en-US" sz="2500"/>
              <a:t>Gather evidence (data):</a:t>
            </a:r>
            <a:r>
              <a:rPr lang="en-US" sz="2500"/>
              <a:t> You analyze your exam scores and sleep data.</a:t>
            </a:r>
            <a:endParaRPr sz="2500"/>
          </a:p>
          <a:p>
            <a:pPr indent="-222884" lvl="0" marL="228600" rtl="0" algn="l">
              <a:lnSpc>
                <a:spcPct val="90000"/>
              </a:lnSpc>
              <a:spcBef>
                <a:spcPts val="1000"/>
              </a:spcBef>
              <a:spcAft>
                <a:spcPts val="0"/>
              </a:spcAft>
              <a:buClr>
                <a:schemeClr val="dk1"/>
              </a:buClr>
              <a:buSzPts val="2500"/>
              <a:buChar char="•"/>
            </a:pPr>
            <a:r>
              <a:rPr b="1" lang="en-US" sz="2500"/>
              <a:t>Analyze the evidence:</a:t>
            </a:r>
            <a:r>
              <a:rPr lang="en-US" sz="2500"/>
              <a:t> You perform statistical tests (like F-test or t-test) that calculate a </a:t>
            </a:r>
            <a:r>
              <a:rPr b="1" lang="en-US" sz="2500"/>
              <a:t>p-value</a:t>
            </a:r>
            <a:r>
              <a:rPr lang="en-US" sz="2500"/>
              <a:t>. This tells you the probability of seeing the observed results IF the null hypothesis were true (no real relationship).</a:t>
            </a:r>
            <a:endParaRPr sz="2500"/>
          </a:p>
          <a:p>
            <a:pPr indent="-222884" lvl="0" marL="228600" rtl="0" algn="l">
              <a:lnSpc>
                <a:spcPct val="90000"/>
              </a:lnSpc>
              <a:spcBef>
                <a:spcPts val="1000"/>
              </a:spcBef>
              <a:spcAft>
                <a:spcPts val="0"/>
              </a:spcAft>
              <a:buClr>
                <a:schemeClr val="dk1"/>
              </a:buClr>
              <a:buSzPts val="2500"/>
              <a:buChar char="•"/>
            </a:pPr>
            <a:r>
              <a:rPr b="1" lang="en-US" sz="2500"/>
              <a:t>Make a decision:</a:t>
            </a:r>
            <a:endParaRPr sz="2500"/>
          </a:p>
          <a:p>
            <a:pPr indent="-246380" lvl="1" marL="685800" rtl="0" algn="l">
              <a:lnSpc>
                <a:spcPct val="90000"/>
              </a:lnSpc>
              <a:spcBef>
                <a:spcPts val="500"/>
              </a:spcBef>
              <a:spcAft>
                <a:spcPts val="0"/>
              </a:spcAft>
              <a:buClr>
                <a:schemeClr val="dk1"/>
              </a:buClr>
              <a:buSzPts val="2500"/>
              <a:buChar char="•"/>
            </a:pPr>
            <a:r>
              <a:rPr b="1" lang="en-US" sz="2500"/>
              <a:t>Low p-value (e.g., &lt; 0.05):</a:t>
            </a:r>
            <a:r>
              <a:rPr lang="en-US" sz="2500"/>
              <a:t> Reject the null hypothesis. The evidence strongly suggests a real relationship between sleep and scores.</a:t>
            </a:r>
            <a:endParaRPr sz="2500"/>
          </a:p>
          <a:p>
            <a:pPr indent="-246380" lvl="1" marL="685800" rtl="0" algn="l">
              <a:lnSpc>
                <a:spcPct val="90000"/>
              </a:lnSpc>
              <a:spcBef>
                <a:spcPts val="500"/>
              </a:spcBef>
              <a:spcAft>
                <a:spcPts val="0"/>
              </a:spcAft>
              <a:buClr>
                <a:schemeClr val="dk1"/>
              </a:buClr>
              <a:buSzPts val="2500"/>
              <a:buChar char="•"/>
            </a:pPr>
            <a:r>
              <a:rPr b="1" lang="en-US" sz="2500"/>
              <a:t>High p-value (e.g., &gt; 0.05):</a:t>
            </a:r>
            <a:r>
              <a:rPr lang="en-US" sz="2500"/>
              <a:t> Don't reject the null hypothesis. The observed relationship could be due to chance, and more evidence is needed.</a:t>
            </a:r>
            <a:endParaRPr sz="2500"/>
          </a:p>
          <a:p>
            <a:pPr indent="-64135" lvl="0" marL="228600" rtl="0" algn="l">
              <a:lnSpc>
                <a:spcPct val="90000"/>
              </a:lnSpc>
              <a:spcBef>
                <a:spcPts val="1000"/>
              </a:spcBef>
              <a:spcAft>
                <a:spcPts val="0"/>
              </a:spcAft>
              <a:buClr>
                <a:schemeClr val="dk1"/>
              </a:buClr>
              <a:buSzPts val="2800"/>
              <a:buNone/>
            </a:pPr>
            <a:r>
              <a:t/>
            </a:r>
            <a:endParaRPr sz="25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8"/>
          <p:cNvSpPr txBox="1"/>
          <p:nvPr>
            <p:ph type="title"/>
          </p:nvPr>
        </p:nvSpPr>
        <p:spPr>
          <a:xfrm>
            <a:off x="305100" y="0"/>
            <a:ext cx="10515600" cy="849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References</a:t>
            </a:r>
            <a:endParaRPr/>
          </a:p>
        </p:txBody>
      </p:sp>
      <p:sp>
        <p:nvSpPr>
          <p:cNvPr id="487" name="Google Shape;487;p68"/>
          <p:cNvSpPr txBox="1"/>
          <p:nvPr>
            <p:ph idx="1" type="body"/>
          </p:nvPr>
        </p:nvSpPr>
        <p:spPr>
          <a:xfrm>
            <a:off x="305100" y="912000"/>
            <a:ext cx="11581800" cy="5572800"/>
          </a:xfrm>
          <a:prstGeom prst="rect">
            <a:avLst/>
          </a:prstGeom>
          <a:noFill/>
          <a:ln>
            <a:noFill/>
          </a:ln>
        </p:spPr>
        <p:txBody>
          <a:bodyPr anchorCtr="0" anchor="t" bIns="45700" lIns="91425" spcFirstLastPara="1" rIns="91425" wrap="square" tIns="45700">
            <a:noAutofit/>
          </a:bodyPr>
          <a:lstStyle/>
          <a:p>
            <a:pPr indent="-387350" lvl="0" marL="457200" rtl="0" algn="l">
              <a:lnSpc>
                <a:spcPct val="100000"/>
              </a:lnSpc>
              <a:spcBef>
                <a:spcPts val="0"/>
              </a:spcBef>
              <a:spcAft>
                <a:spcPts val="0"/>
              </a:spcAft>
              <a:buSzPts val="2500"/>
              <a:buAutoNum type="arabicPeriod"/>
            </a:pPr>
            <a:r>
              <a:rPr lang="en-US" sz="2500" u="sng">
                <a:solidFill>
                  <a:schemeClr val="hlink"/>
                </a:solidFill>
                <a:hlinkClick r:id="rId3"/>
              </a:rPr>
              <a:t>https://opentextbc.ca/introductorybusinessstatistics/chapter/regression-basics-2/</a:t>
            </a:r>
            <a:endParaRPr sz="2500"/>
          </a:p>
          <a:p>
            <a:pPr indent="-387350" lvl="0" marL="457200" rtl="0" algn="l">
              <a:lnSpc>
                <a:spcPct val="100000"/>
              </a:lnSpc>
              <a:spcBef>
                <a:spcPts val="0"/>
              </a:spcBef>
              <a:spcAft>
                <a:spcPts val="0"/>
              </a:spcAft>
              <a:buSzPts val="2500"/>
              <a:buAutoNum type="arabicPeriod"/>
            </a:pPr>
            <a:r>
              <a:rPr lang="en-US" sz="2500" u="sng">
                <a:solidFill>
                  <a:schemeClr val="hlink"/>
                </a:solidFill>
                <a:hlinkClick r:id="rId4"/>
              </a:rPr>
              <a:t>https://www.geeksforgeeks.org/ml-linear-regression/</a:t>
            </a:r>
            <a:endParaRPr/>
          </a:p>
          <a:p>
            <a:pPr indent="-387350" lvl="0" marL="457200" rtl="0" algn="l">
              <a:lnSpc>
                <a:spcPct val="100000"/>
              </a:lnSpc>
              <a:spcBef>
                <a:spcPts val="0"/>
              </a:spcBef>
              <a:spcAft>
                <a:spcPts val="0"/>
              </a:spcAft>
              <a:buSzPts val="2500"/>
              <a:buAutoNum type="arabicPeriod"/>
            </a:pPr>
            <a:r>
              <a:rPr lang="en-US" sz="2500" u="sng">
                <a:solidFill>
                  <a:schemeClr val="hlink"/>
                </a:solidFill>
                <a:hlinkClick r:id="rId5"/>
              </a:rPr>
              <a:t>https://www.analyticsvidhya.com/blog/2021/10/everything-you-need-to-know-about-linear-regression/</a:t>
            </a:r>
            <a:endParaRPr sz="2500"/>
          </a:p>
          <a:p>
            <a:pPr indent="-387350" lvl="0" marL="457200" rtl="0" algn="l">
              <a:lnSpc>
                <a:spcPct val="100000"/>
              </a:lnSpc>
              <a:spcBef>
                <a:spcPts val="0"/>
              </a:spcBef>
              <a:spcAft>
                <a:spcPts val="0"/>
              </a:spcAft>
              <a:buSzPts val="2500"/>
              <a:buAutoNum type="arabicPeriod"/>
            </a:pPr>
            <a:r>
              <a:rPr lang="en-US" sz="2500"/>
              <a:t> </a:t>
            </a:r>
            <a:r>
              <a:rPr lang="en-US" sz="2500" u="sng">
                <a:solidFill>
                  <a:schemeClr val="hlink"/>
                </a:solidFill>
                <a:hlinkClick r:id="rId6"/>
              </a:rPr>
              <a:t>http://www.stat.yale.edu/Courses/1997-98/101/linreg.htm</a:t>
            </a:r>
            <a:endParaRPr/>
          </a:p>
          <a:p>
            <a:pPr indent="-387350" lvl="0" marL="457200" rtl="0" algn="l">
              <a:lnSpc>
                <a:spcPct val="100000"/>
              </a:lnSpc>
              <a:spcBef>
                <a:spcPts val="0"/>
              </a:spcBef>
              <a:spcAft>
                <a:spcPts val="0"/>
              </a:spcAft>
              <a:buSzPts val="2500"/>
              <a:buAutoNum type="arabicPeriod"/>
            </a:pPr>
            <a:r>
              <a:rPr lang="en-US" sz="2500" u="sng">
                <a:solidFill>
                  <a:schemeClr val="hlink"/>
                </a:solidFill>
                <a:hlinkClick r:id="rId7"/>
              </a:rPr>
              <a:t>https://www.spiceworks.com/tech/artificial-intelligence/articles/what-is-linear-regression/</a:t>
            </a:r>
            <a:endParaRPr sz="2500"/>
          </a:p>
          <a:p>
            <a:pPr indent="-387350" lvl="0" marL="457200" rtl="0" algn="l">
              <a:lnSpc>
                <a:spcPct val="100000"/>
              </a:lnSpc>
              <a:spcBef>
                <a:spcPts val="0"/>
              </a:spcBef>
              <a:spcAft>
                <a:spcPts val="0"/>
              </a:spcAft>
              <a:buSzPts val="2500"/>
              <a:buAutoNum type="arabicPeriod"/>
            </a:pPr>
            <a:r>
              <a:rPr lang="en-US" sz="2500" u="sng">
                <a:solidFill>
                  <a:schemeClr val="hlink"/>
                </a:solidFill>
                <a:hlinkClick r:id="rId8"/>
              </a:rPr>
              <a:t>https://www.simplilearn.com/covariance-vs-correlation-article</a:t>
            </a:r>
            <a:endParaRPr/>
          </a:p>
          <a:p>
            <a:pPr indent="-387350" lvl="0" marL="457200" rtl="0" algn="l">
              <a:lnSpc>
                <a:spcPct val="100000"/>
              </a:lnSpc>
              <a:spcBef>
                <a:spcPts val="0"/>
              </a:spcBef>
              <a:spcAft>
                <a:spcPts val="0"/>
              </a:spcAft>
              <a:buSzPts val="2500"/>
              <a:buAutoNum type="arabicPeriod"/>
            </a:pPr>
            <a:r>
              <a:rPr lang="en-US" sz="2500" u="sng">
                <a:solidFill>
                  <a:schemeClr val="hlink"/>
                </a:solidFill>
                <a:hlinkClick r:id="rId9"/>
              </a:rPr>
              <a:t>https://builtin.com/data-science/covariance-vs-correlation</a:t>
            </a:r>
            <a:r>
              <a:rPr lang="en-US" sz="2500"/>
              <a:t> </a:t>
            </a:r>
            <a:endParaRPr sz="2500"/>
          </a:p>
          <a:p>
            <a:pPr indent="-387350" lvl="0" marL="457200" rtl="0" algn="l">
              <a:lnSpc>
                <a:spcPct val="100000"/>
              </a:lnSpc>
              <a:spcBef>
                <a:spcPts val="0"/>
              </a:spcBef>
              <a:spcAft>
                <a:spcPts val="0"/>
              </a:spcAft>
              <a:buSzPts val="2500"/>
              <a:buAutoNum type="arabicPeriod"/>
            </a:pPr>
            <a:r>
              <a:rPr lang="en-US" sz="2500" u="sng">
                <a:solidFill>
                  <a:schemeClr val="hlink"/>
                </a:solidFill>
                <a:hlinkClick r:id="rId10"/>
              </a:rPr>
              <a:t>https://learn.saylor.org/mod/book/view.php?id=61394&amp;chapterid=49774</a:t>
            </a:r>
            <a:endParaRPr/>
          </a:p>
          <a:p>
            <a:pPr indent="-387350" lvl="0" marL="457200" rtl="0" algn="l">
              <a:lnSpc>
                <a:spcPct val="100000"/>
              </a:lnSpc>
              <a:spcBef>
                <a:spcPts val="0"/>
              </a:spcBef>
              <a:spcAft>
                <a:spcPts val="0"/>
              </a:spcAft>
              <a:buSzPts val="2500"/>
              <a:buAutoNum type="arabicPeriod"/>
            </a:pPr>
            <a:r>
              <a:rPr lang="en-US" sz="2500" u="sng">
                <a:solidFill>
                  <a:schemeClr val="hlink"/>
                </a:solidFill>
                <a:hlinkClick r:id="rId11"/>
              </a:rPr>
              <a:t>https://byjus.com/maths/correlation-and-regression/</a:t>
            </a:r>
            <a:endParaRPr/>
          </a:p>
          <a:p>
            <a:pPr indent="-387350" lvl="0" marL="457200" rtl="0" algn="l">
              <a:lnSpc>
                <a:spcPct val="100000"/>
              </a:lnSpc>
              <a:spcBef>
                <a:spcPts val="0"/>
              </a:spcBef>
              <a:spcAft>
                <a:spcPts val="0"/>
              </a:spcAft>
              <a:buSzPts val="2500"/>
              <a:buAutoNum type="arabicPeriod"/>
            </a:pPr>
            <a:r>
              <a:rPr lang="en-US" sz="2500" u="sng">
                <a:solidFill>
                  <a:schemeClr val="hlink"/>
                </a:solidFill>
                <a:hlinkClick r:id="rId12"/>
              </a:rPr>
              <a:t>https://towardsdatascience.com/covariance-and-correlation-321fdacab168</a:t>
            </a:r>
            <a:endParaRPr/>
          </a:p>
          <a:p>
            <a:pPr indent="-387350" lvl="0" marL="457200" rtl="0" algn="l">
              <a:lnSpc>
                <a:spcPct val="100000"/>
              </a:lnSpc>
              <a:spcBef>
                <a:spcPts val="0"/>
              </a:spcBef>
              <a:spcAft>
                <a:spcPts val="0"/>
              </a:spcAft>
              <a:buSzPts val="2500"/>
              <a:buAutoNum type="arabicPeriod"/>
            </a:pPr>
            <a:r>
              <a:rPr lang="en-US" sz="2500" u="sng">
                <a:solidFill>
                  <a:schemeClr val="hlink"/>
                </a:solidFill>
                <a:hlinkClick r:id="rId13"/>
              </a:rPr>
              <a:t>https://study.com/academy/lesson/covariance-correlation-equations-examples.ht</a:t>
            </a:r>
            <a:endParaRPr sz="2500"/>
          </a:p>
          <a:p>
            <a:pPr indent="-387350" lvl="0" marL="457200" rtl="0" algn="l">
              <a:lnSpc>
                <a:spcPct val="100000"/>
              </a:lnSpc>
              <a:spcBef>
                <a:spcPts val="0"/>
              </a:spcBef>
              <a:spcAft>
                <a:spcPts val="0"/>
              </a:spcAft>
              <a:buSzPts val="2500"/>
              <a:buAutoNum type="arabicPeriod"/>
            </a:pPr>
            <a:r>
              <a:rPr lang="en-US" sz="2500" u="sng">
                <a:solidFill>
                  <a:schemeClr val="hlink"/>
                </a:solidFill>
                <a:hlinkClick r:id="rId14"/>
              </a:rPr>
              <a:t>https://www.cuemath.com/data/correlation-and-regression/</a:t>
            </a:r>
            <a:r>
              <a:rPr lang="en-US" sz="2500"/>
              <a:t> </a:t>
            </a:r>
            <a:endParaRPr sz="25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2024-02-09T13:26:56Z</dcterms:created>
  <dc:creator>Radhe</dc:creator>
</cp:coreProperties>
</file>