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658" r:id="rId2"/>
    <p:sldId id="408" r:id="rId3"/>
    <p:sldId id="593" r:id="rId4"/>
    <p:sldId id="659" r:id="rId5"/>
    <p:sldId id="660" r:id="rId6"/>
    <p:sldId id="661"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5">
          <p15:clr>
            <a:srgbClr val="A4A3A4"/>
          </p15:clr>
        </p15:guide>
        <p15:guide id="2" pos="28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66"/>
      </p:cViewPr>
      <p:guideLst>
        <p:guide orient="horz" pos="2145"/>
        <p:guide pos="28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806D20-265A-45AE-8D7F-1100293F805F}" type="datetimeFigureOut">
              <a:rPr lang="en-US" smtClean="0"/>
              <a:t>11/4/2020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854D4B-AC91-4CBF-9F06-E2874E0FB78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4900093-A566-4883-87EB-6E6022A9D2E1}" type="datetimeFigureOut">
              <a:rPr lang="en-US" smtClean="0"/>
              <a:t>11/4/2020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t>11/4/2020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900093-A566-4883-87EB-6E6022A9D2E1}" type="datetimeFigureOut">
              <a:rPr lang="en-US" smtClean="0"/>
              <a:t>11/4/2020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4900093-A566-4883-87EB-6E6022A9D2E1}" type="datetimeFigureOut">
              <a:rPr lang="en-US" smtClean="0"/>
              <a:t>11/4/2020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4900093-A566-4883-87EB-6E6022A9D2E1}" type="datetimeFigureOut">
              <a:rPr lang="en-US" smtClean="0"/>
              <a:t>11/4/2020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4900093-A566-4883-87EB-6E6022A9D2E1}" type="datetimeFigureOut">
              <a:rPr lang="en-US" smtClean="0"/>
              <a:t>11/4/2020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900093-A566-4883-87EB-6E6022A9D2E1}" type="datetimeFigureOut">
              <a:rPr lang="en-US" smtClean="0"/>
              <a:t>11/4/2020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900093-A566-4883-87EB-6E6022A9D2E1}" type="datetimeFigureOut">
              <a:rPr lang="en-US" smtClean="0"/>
              <a:t>11/4/2020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900093-A566-4883-87EB-6E6022A9D2E1}" type="datetimeFigureOut">
              <a:rPr lang="en-US" smtClean="0"/>
              <a:t>11/4/2020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t>11/4/2020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t>11/4/2020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900093-A566-4883-87EB-6E6022A9D2E1}" type="datetimeFigureOut">
              <a:rPr lang="en-US" smtClean="0"/>
              <a:t>11/4/2020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1F41E-2724-4E8B-A7C1-40819B11D8A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781080"/>
            <a:ext cx="8546121" cy="5791192"/>
          </a:xfrm>
        </p:spPr>
        <p:txBody>
          <a:bodyPr>
            <a:normAutofit fontScale="85000" lnSpcReduction="20000"/>
          </a:bodyPr>
          <a:lstStyle/>
          <a:p>
            <a:endParaRPr lang="en-IN" sz="4800" b="1" dirty="0">
              <a:solidFill>
                <a:schemeClr val="tx1"/>
              </a:solidFill>
            </a:endParaRPr>
          </a:p>
          <a:p>
            <a:r>
              <a:rPr lang="en-IN" sz="4800" b="1" dirty="0">
                <a:solidFill>
                  <a:schemeClr val="tx1"/>
                </a:solidFill>
              </a:rPr>
              <a:t>Mobile Phone Security and Forensics </a:t>
            </a: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endParaRPr lang="en-IN" sz="2000" b="1" dirty="0">
              <a:solidFill>
                <a:schemeClr val="tx1"/>
              </a:solidFill>
            </a:endParaRPr>
          </a:p>
          <a:p>
            <a:endParaRPr lang="en-IN" sz="2000" b="1" dirty="0">
              <a:solidFill>
                <a:schemeClr val="tx1"/>
              </a:solidFill>
            </a:endParaRPr>
          </a:p>
          <a:p>
            <a:endParaRPr lang="en-IN" sz="2000" b="1" dirty="0">
              <a:solidFill>
                <a:schemeClr val="tx1"/>
              </a:solidFill>
            </a:endParaRPr>
          </a:p>
          <a:p>
            <a:endParaRPr lang="en-US" sz="2000" b="1" dirty="0">
              <a:solidFill>
                <a:schemeClr val="tx1"/>
              </a:solidFill>
            </a:endParaRPr>
          </a:p>
          <a:p>
            <a:r>
              <a:rPr lang="en-US" sz="2000" b="1" dirty="0">
                <a:solidFill>
                  <a:schemeClr val="tx1"/>
                </a:solidFill>
              </a:rPr>
              <a:t>Dr. </a:t>
            </a:r>
            <a:r>
              <a:rPr lang="en-US" sz="2000" b="1" dirty="0" err="1">
                <a:solidFill>
                  <a:schemeClr val="tx1"/>
                </a:solidFill>
              </a:rPr>
              <a:t>Digvijaysinh</a:t>
            </a:r>
            <a:r>
              <a:rPr lang="en-US" sz="2000" b="1" dirty="0">
                <a:solidFill>
                  <a:schemeClr val="tx1"/>
                </a:solidFill>
              </a:rPr>
              <a:t> Rathod</a:t>
            </a:r>
          </a:p>
          <a:p>
            <a:r>
              <a:rPr lang="en-US" sz="2000" b="1" dirty="0">
                <a:solidFill>
                  <a:schemeClr val="tx1"/>
                </a:solidFill>
              </a:rPr>
              <a:t>Associate Professor </a:t>
            </a:r>
            <a:r>
              <a:rPr lang="en-IN" altLang="en-US" sz="2000" b="1" dirty="0">
                <a:solidFill>
                  <a:schemeClr val="tx1"/>
                </a:solidFill>
              </a:rPr>
              <a:t>&amp; Associate Dean</a:t>
            </a:r>
            <a:r>
              <a:rPr lang="en-US" sz="2000" b="1" dirty="0">
                <a:solidFill>
                  <a:schemeClr val="tx1"/>
                </a:solidFill>
              </a:rPr>
              <a:t> </a:t>
            </a:r>
          </a:p>
          <a:p>
            <a:r>
              <a:rPr lang="en-IN" altLang="en-US" sz="2000" b="1" dirty="0">
                <a:solidFill>
                  <a:schemeClr val="tx1"/>
                </a:solidFill>
              </a:rPr>
              <a:t>School of Cyber Security and Digital Forensics</a:t>
            </a:r>
            <a:endParaRPr lang="en-US" sz="2000" b="1" dirty="0">
              <a:solidFill>
                <a:schemeClr val="tx1"/>
              </a:solidFill>
            </a:endParaRPr>
          </a:p>
          <a:p>
            <a:r>
              <a:rPr lang="en-US" sz="2000" b="1" dirty="0">
                <a:solidFill>
                  <a:schemeClr val="tx1"/>
                </a:solidFill>
              </a:rPr>
              <a:t>National Forensic Sciences University with status of Institution of National Importance </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b="1" dirty="0">
              <a:latin typeface="Calibri" panose="020F0502020204030204" pitchFamily="34" charset="0"/>
            </a:endParaRP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digvijay.rathod@gfsu.edu.in</a:t>
            </a:r>
          </a:p>
        </p:txBody>
      </p:sp>
      <p:pic>
        <p:nvPicPr>
          <p:cNvPr id="1027" name="Picture 3"/>
          <p:cNvPicPr>
            <a:picLocks noChangeAspect="1" noChangeArrowheads="1"/>
          </p:cNvPicPr>
          <p:nvPr/>
        </p:nvPicPr>
        <p:blipFill>
          <a:blip r:embed="rId2" cstate="print"/>
          <a:srcRect/>
          <a:stretch>
            <a:fillRect/>
          </a:stretch>
        </p:blipFill>
        <p:spPr bwMode="auto">
          <a:xfrm>
            <a:off x="2428860" y="1928802"/>
            <a:ext cx="4909738" cy="3000396"/>
          </a:xfrm>
          <a:prstGeom prst="rect">
            <a:avLst/>
          </a:prstGeom>
          <a:noFill/>
          <a:ln w="9525">
            <a:noFill/>
            <a:miter lim="800000"/>
            <a:headEnd/>
            <a:tailEnd/>
          </a:ln>
          <a:effectLst/>
        </p:spPr>
      </p:pic>
      <p:pic>
        <p:nvPicPr>
          <p:cNvPr id="2" name="Picture 1">
            <a:extLst>
              <a:ext uri="{FF2B5EF4-FFF2-40B4-BE49-F238E27FC236}">
                <a16:creationId xmlns:a16="http://schemas.microsoft.com/office/drawing/2014/main" id="{A5AAE2C0-19BC-4DB3-87F8-786B52506785}"/>
              </a:ext>
            </a:extLst>
          </p:cNvPr>
          <p:cNvPicPr>
            <a:picLocks noChangeAspect="1"/>
          </p:cNvPicPr>
          <p:nvPr/>
        </p:nvPicPr>
        <p:blipFill>
          <a:blip r:embed="rId3"/>
          <a:stretch>
            <a:fillRect/>
          </a:stretch>
        </p:blipFill>
        <p:spPr>
          <a:xfrm>
            <a:off x="2909882" y="-5152"/>
            <a:ext cx="3667125" cy="12477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717956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9" y="2794980"/>
            <a:ext cx="8546121" cy="904368"/>
          </a:xfrm>
        </p:spPr>
        <p:txBody>
          <a:bodyPr>
            <a:noAutofit/>
          </a:bodyPr>
          <a:lstStyle/>
          <a:p>
            <a:r>
              <a:rPr lang="en-IN" b="1" dirty="0">
                <a:solidFill>
                  <a:schemeClr val="tx1"/>
                </a:solidFill>
              </a:rPr>
              <a:t>Hardcoding Issues</a:t>
            </a:r>
            <a:endParaRPr lang="en-IN" sz="2800" dirty="0">
              <a:solidFill>
                <a:schemeClr val="tx1"/>
              </a:solidFill>
            </a:endParaRPr>
          </a:p>
          <a:p>
            <a:pPr lvl="1">
              <a:lnSpc>
                <a:spcPct val="150000"/>
              </a:lnSpc>
            </a:pPr>
            <a:endParaRPr lang="en-US" altLang="en-US" sz="4000" b="1"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Hardcoding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a.Sometimes</a:t>
            </a:r>
            <a:r>
              <a:rPr lang="en-US" sz="2600" dirty="0">
                <a:solidFill>
                  <a:schemeClr val="tx1"/>
                </a:solidFill>
                <a:latin typeface="Times New Roman" panose="02020603050405020304" pitchFamily="18" charset="0"/>
                <a:cs typeface="Times New Roman" panose="02020603050405020304" pitchFamily="18" charset="0"/>
              </a:rPr>
              <a:t> developers made a mistake in source code of an android application.</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b.Developer</a:t>
            </a:r>
            <a:r>
              <a:rPr lang="en-US" sz="2600" dirty="0">
                <a:solidFill>
                  <a:schemeClr val="tx1"/>
                </a:solidFill>
                <a:latin typeface="Times New Roman" panose="02020603050405020304" pitchFamily="18" charset="0"/>
                <a:cs typeface="Times New Roman" panose="02020603050405020304" pitchFamily="18" charset="0"/>
              </a:rPr>
              <a:t> explicitly defines a constant value.</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c.If</a:t>
            </a:r>
            <a:r>
              <a:rPr lang="en-US" sz="2600" dirty="0">
                <a:solidFill>
                  <a:schemeClr val="tx1"/>
                </a:solidFill>
                <a:latin typeface="Times New Roman" panose="02020603050405020304" pitchFamily="18" charset="0"/>
                <a:cs typeface="Times New Roman" panose="02020603050405020304" pitchFamily="18" charset="0"/>
              </a:rPr>
              <a:t> any confidential data is hardcoded in source code than that is also a security issue.</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d.Hardcode</a:t>
            </a:r>
            <a:r>
              <a:rPr lang="en-US" sz="2600" dirty="0">
                <a:solidFill>
                  <a:schemeClr val="tx1"/>
                </a:solidFill>
                <a:latin typeface="Times New Roman" panose="02020603050405020304" pitchFamily="18" charset="0"/>
                <a:cs typeface="Times New Roman" panose="02020603050405020304" pitchFamily="18" charset="0"/>
              </a:rPr>
              <a:t> data might be password, access token or authentication string etc.,</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e.Open</a:t>
            </a:r>
            <a:r>
              <a:rPr lang="en-US" sz="2600" dirty="0">
                <a:solidFill>
                  <a:schemeClr val="tx1"/>
                </a:solidFill>
                <a:latin typeface="Times New Roman" panose="02020603050405020304" pitchFamily="18" charset="0"/>
                <a:cs typeface="Times New Roman" panose="02020603050405020304" pitchFamily="18" charset="0"/>
              </a:rPr>
              <a:t> the </a:t>
            </a:r>
            <a:r>
              <a:rPr lang="en-US" sz="2600" dirty="0" err="1">
                <a:solidFill>
                  <a:schemeClr val="tx1"/>
                </a:solidFill>
                <a:latin typeface="Times New Roman" panose="02020603050405020304" pitchFamily="18" charset="0"/>
                <a:cs typeface="Times New Roman" panose="02020603050405020304" pitchFamily="18" charset="0"/>
              </a:rPr>
              <a:t>Genymotion</a:t>
            </a:r>
            <a:r>
              <a:rPr lang="en-US" sz="2600" dirty="0">
                <a:solidFill>
                  <a:schemeClr val="tx1"/>
                </a:solidFill>
                <a:latin typeface="Times New Roman" panose="02020603050405020304" pitchFamily="18" charset="0"/>
                <a:cs typeface="Times New Roman" panose="02020603050405020304" pitchFamily="18" charset="0"/>
              </a:rPr>
              <a:t> and click on 2. Hardcoding issues –  Part -1. The objective is to find what is hardcoded and where ?</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Hardcoding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89643" y="434001"/>
            <a:ext cx="8546121" cy="5467320"/>
          </a:xfrm>
        </p:spPr>
        <p:txBody>
          <a:bodyPr>
            <a:noAutofit/>
          </a:bodyPr>
          <a:lstStyle/>
          <a:p>
            <a:pPr marL="971550" lvl="1" indent="-514350" algn="just">
              <a:lnSpc>
                <a:spcPct val="150000"/>
              </a:lnSpc>
              <a:buFont typeface="Wingdings" panose="05000000000000000000" pitchFamily="2" charset="2"/>
              <a:buChar char="ü"/>
            </a:pPr>
            <a:r>
              <a:rPr lang="en-US" sz="2300" dirty="0" err="1">
                <a:solidFill>
                  <a:schemeClr val="tx1"/>
                </a:solidFill>
                <a:latin typeface="Times New Roman" panose="02020603050405020304" pitchFamily="18" charset="0"/>
                <a:cs typeface="Times New Roman" panose="02020603050405020304" pitchFamily="18" charset="0"/>
              </a:rPr>
              <a:t>f.Enter</a:t>
            </a:r>
            <a:r>
              <a:rPr lang="en-US" sz="2300" dirty="0">
                <a:solidFill>
                  <a:schemeClr val="tx1"/>
                </a:solidFill>
                <a:latin typeface="Times New Roman" panose="02020603050405020304" pitchFamily="18" charset="0"/>
                <a:cs typeface="Times New Roman" panose="02020603050405020304" pitchFamily="18" charset="0"/>
              </a:rPr>
              <a:t> the vender key and click on access now and it show “access denied see you in hell” which means that somewhere the entered string is compared with other string.   We have to find where it is hardcoded ?</a:t>
            </a:r>
          </a:p>
          <a:p>
            <a:pPr marL="971550" lvl="1" indent="-514350" algn="just">
              <a:lnSpc>
                <a:spcPct val="150000"/>
              </a:lnSpc>
              <a:buFont typeface="Wingdings" panose="05000000000000000000" pitchFamily="2" charset="2"/>
              <a:buChar char="ü"/>
            </a:pPr>
            <a:r>
              <a:rPr lang="en-US" sz="2300" dirty="0" err="1">
                <a:solidFill>
                  <a:schemeClr val="tx1"/>
                </a:solidFill>
                <a:latin typeface="Times New Roman" panose="02020603050405020304" pitchFamily="18" charset="0"/>
                <a:cs typeface="Times New Roman" panose="02020603050405020304" pitchFamily="18" charset="0"/>
              </a:rPr>
              <a:t>g.Open</a:t>
            </a:r>
            <a:r>
              <a:rPr lang="en-US" sz="2300" dirty="0">
                <a:solidFill>
                  <a:schemeClr val="tx1"/>
                </a:solidFill>
                <a:latin typeface="Times New Roman" panose="02020603050405020304" pitchFamily="18" charset="0"/>
                <a:cs typeface="Times New Roman" panose="02020603050405020304" pitchFamily="18" charset="0"/>
              </a:rPr>
              <a:t> diva jar file with </a:t>
            </a:r>
            <a:r>
              <a:rPr lang="en-US" sz="2300" dirty="0" err="1">
                <a:solidFill>
                  <a:schemeClr val="tx1"/>
                </a:solidFill>
                <a:latin typeface="Times New Roman" panose="02020603050405020304" pitchFamily="18" charset="0"/>
                <a:cs typeface="Times New Roman" panose="02020603050405020304" pitchFamily="18" charset="0"/>
              </a:rPr>
              <a:t>jd-gui</a:t>
            </a:r>
            <a:endParaRPr lang="en-US" sz="2300" dirty="0">
              <a:solidFill>
                <a:schemeClr val="tx1"/>
              </a:solidFill>
              <a:latin typeface="Times New Roman" panose="02020603050405020304" pitchFamily="18" charset="0"/>
              <a:cs typeface="Times New Roman" panose="02020603050405020304" pitchFamily="18" charset="0"/>
            </a:endParaRPr>
          </a:p>
          <a:p>
            <a:pPr marL="971550" lvl="1" indent="-514350" algn="just">
              <a:lnSpc>
                <a:spcPct val="150000"/>
              </a:lnSpc>
              <a:buFont typeface="Wingdings" panose="05000000000000000000" pitchFamily="2" charset="2"/>
              <a:buChar char="ü"/>
            </a:pPr>
            <a:r>
              <a:rPr lang="en-US" sz="2300" dirty="0" err="1">
                <a:solidFill>
                  <a:schemeClr val="tx1"/>
                </a:solidFill>
                <a:latin typeface="Times New Roman" panose="02020603050405020304" pitchFamily="18" charset="0"/>
                <a:cs typeface="Times New Roman" panose="02020603050405020304" pitchFamily="18" charset="0"/>
              </a:rPr>
              <a:t>h.santoku@santaku</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jd-gui</a:t>
            </a:r>
            <a:r>
              <a:rPr lang="en-US" sz="2300" dirty="0">
                <a:solidFill>
                  <a:schemeClr val="tx1"/>
                </a:solidFill>
                <a:latin typeface="Times New Roman" panose="02020603050405020304" pitchFamily="18" charset="0"/>
                <a:cs typeface="Times New Roman" panose="02020603050405020304" pitchFamily="18" charset="0"/>
              </a:rPr>
              <a:t> classes_dex2jar.jar</a:t>
            </a:r>
          </a:p>
          <a:p>
            <a:pPr marL="971550" lvl="1" indent="-514350" algn="just">
              <a:lnSpc>
                <a:spcPct val="150000"/>
              </a:lnSpc>
              <a:buFont typeface="Wingdings" panose="05000000000000000000" pitchFamily="2" charset="2"/>
              <a:buChar char="ü"/>
            </a:pPr>
            <a:r>
              <a:rPr lang="en-US" sz="2300" dirty="0" err="1">
                <a:solidFill>
                  <a:schemeClr val="tx1"/>
                </a:solidFill>
                <a:latin typeface="Times New Roman" panose="02020603050405020304" pitchFamily="18" charset="0"/>
                <a:cs typeface="Times New Roman" panose="02020603050405020304" pitchFamily="18" charset="0"/>
              </a:rPr>
              <a:t>i.Open</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HardcodeActivity.class</a:t>
            </a:r>
            <a:endParaRPr lang="en-US" sz="2300" dirty="0">
              <a:solidFill>
                <a:schemeClr val="tx1"/>
              </a:solidFill>
              <a:latin typeface="Times New Roman" panose="02020603050405020304" pitchFamily="18" charset="0"/>
              <a:cs typeface="Times New Roman" panose="02020603050405020304" pitchFamily="18" charset="0"/>
            </a:endParaRPr>
          </a:p>
          <a:p>
            <a:pPr marL="971550" lvl="1" indent="-514350" algn="just">
              <a:lnSpc>
                <a:spcPct val="150000"/>
              </a:lnSpc>
              <a:buFont typeface="Wingdings" panose="05000000000000000000" pitchFamily="2" charset="2"/>
              <a:buChar char="ü"/>
            </a:pPr>
            <a:r>
              <a:rPr lang="en-US" sz="2300" dirty="0" err="1">
                <a:solidFill>
                  <a:schemeClr val="tx1"/>
                </a:solidFill>
                <a:latin typeface="Times New Roman" panose="02020603050405020304" pitchFamily="18" charset="0"/>
                <a:cs typeface="Times New Roman" panose="02020603050405020304" pitchFamily="18" charset="0"/>
              </a:rPr>
              <a:t>j.If</a:t>
            </a:r>
            <a:r>
              <a:rPr lang="en-US" sz="2300" dirty="0">
                <a:solidFill>
                  <a:schemeClr val="tx1"/>
                </a:solidFill>
                <a:latin typeface="Times New Roman" panose="02020603050405020304" pitchFamily="18" charset="0"/>
                <a:cs typeface="Times New Roman" panose="02020603050405020304" pitchFamily="18" charset="0"/>
              </a:rPr>
              <a:t> you read source code very carefully,  you will come to know that string is hardcoded and checked with .equals(“</a:t>
            </a:r>
            <a:r>
              <a:rPr lang="en-US" sz="2300" dirty="0" err="1">
                <a:solidFill>
                  <a:schemeClr val="tx1"/>
                </a:solidFill>
                <a:latin typeface="Times New Roman" panose="02020603050405020304" pitchFamily="18" charset="0"/>
                <a:cs typeface="Times New Roman" panose="02020603050405020304" pitchFamily="18" charset="0"/>
              </a:rPr>
              <a:t>vendersecretkey</a:t>
            </a:r>
            <a:r>
              <a:rPr lang="en-US" sz="2300" dirty="0">
                <a:solidFill>
                  <a:schemeClr val="tx1"/>
                </a:solidFill>
                <a:latin typeface="Times New Roman" panose="02020603050405020304" pitchFamily="18" charset="0"/>
                <a:cs typeface="Times New Roman" panose="02020603050405020304" pitchFamily="18" charset="0"/>
              </a:rPr>
              <a:t>”) method. </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Hardcoding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153146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35723" y="628907"/>
            <a:ext cx="8546121" cy="5467320"/>
          </a:xfrm>
        </p:spPr>
        <p:txBody>
          <a:bodyPr>
            <a:noAutofit/>
          </a:bodyPr>
          <a:lstStyle/>
          <a:p>
            <a:pPr marL="971550" lvl="1" indent="-514350" algn="just">
              <a:lnSpc>
                <a:spcPct val="150000"/>
              </a:lnSpc>
              <a:buFont typeface="Wingdings" panose="05000000000000000000" pitchFamily="2" charset="2"/>
              <a:buChar char="ü"/>
            </a:pPr>
            <a:r>
              <a:rPr lang="en-US" sz="2300" dirty="0" err="1">
                <a:solidFill>
                  <a:schemeClr val="tx1"/>
                </a:solidFill>
                <a:latin typeface="Times New Roman" panose="02020603050405020304" pitchFamily="18" charset="0"/>
                <a:cs typeface="Times New Roman" panose="02020603050405020304" pitchFamily="18" charset="0"/>
              </a:rPr>
              <a:t>k.As</a:t>
            </a:r>
            <a:r>
              <a:rPr lang="en-US" sz="2300" dirty="0">
                <a:solidFill>
                  <a:schemeClr val="tx1"/>
                </a:solidFill>
                <a:latin typeface="Times New Roman" panose="02020603050405020304" pitchFamily="18" charset="0"/>
                <a:cs typeface="Times New Roman" panose="02020603050405020304" pitchFamily="18" charset="0"/>
              </a:rPr>
              <a:t> this is </a:t>
            </a:r>
            <a:r>
              <a:rPr lang="en-US" sz="2300" dirty="0" err="1">
                <a:solidFill>
                  <a:schemeClr val="tx1"/>
                </a:solidFill>
                <a:latin typeface="Times New Roman" panose="02020603050405020304" pitchFamily="18" charset="0"/>
                <a:cs typeface="Times New Roman" panose="02020603050405020304" pitchFamily="18" charset="0"/>
              </a:rPr>
              <a:t>vendersecretkey</a:t>
            </a:r>
            <a:r>
              <a:rPr lang="en-US" sz="2300" dirty="0">
                <a:solidFill>
                  <a:schemeClr val="tx1"/>
                </a:solidFill>
                <a:latin typeface="Times New Roman" panose="02020603050405020304" pitchFamily="18" charset="0"/>
                <a:cs typeface="Times New Roman" panose="02020603050405020304" pitchFamily="18" charset="0"/>
              </a:rPr>
              <a:t>, it should not be hardcoded because any body can open the source code and can read this hardcoded string. Instead of it should be stored in on the sever side only.</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Hardcoding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1525010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781080"/>
            <a:ext cx="8546121" cy="5791192"/>
          </a:xfrm>
        </p:spPr>
        <p:txBody>
          <a:bodyPr>
            <a:normAutofit fontScale="85000" lnSpcReduction="20000"/>
          </a:bodyPr>
          <a:lstStyle/>
          <a:p>
            <a:endParaRPr lang="en-IN" sz="4800" b="1" dirty="0">
              <a:solidFill>
                <a:schemeClr val="tx1"/>
              </a:solidFill>
            </a:endParaRPr>
          </a:p>
          <a:p>
            <a:r>
              <a:rPr lang="en-IN" sz="4800" b="1" dirty="0">
                <a:solidFill>
                  <a:schemeClr val="tx1"/>
                </a:solidFill>
              </a:rPr>
              <a:t>Mobile Phone Security and Forensics </a:t>
            </a: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endParaRPr lang="en-IN" sz="2000" b="1" dirty="0">
              <a:solidFill>
                <a:schemeClr val="tx1"/>
              </a:solidFill>
            </a:endParaRPr>
          </a:p>
          <a:p>
            <a:endParaRPr lang="en-IN" sz="2000" b="1" dirty="0">
              <a:solidFill>
                <a:schemeClr val="tx1"/>
              </a:solidFill>
            </a:endParaRPr>
          </a:p>
          <a:p>
            <a:endParaRPr lang="en-IN" sz="2000" b="1" dirty="0">
              <a:solidFill>
                <a:schemeClr val="tx1"/>
              </a:solidFill>
            </a:endParaRPr>
          </a:p>
          <a:p>
            <a:endParaRPr lang="en-US" sz="2000" b="1" dirty="0">
              <a:solidFill>
                <a:schemeClr val="tx1"/>
              </a:solidFill>
            </a:endParaRPr>
          </a:p>
          <a:p>
            <a:r>
              <a:rPr lang="en-US" sz="2000" b="1" dirty="0">
                <a:solidFill>
                  <a:schemeClr val="tx1"/>
                </a:solidFill>
              </a:rPr>
              <a:t>Dr. </a:t>
            </a:r>
            <a:r>
              <a:rPr lang="en-US" sz="2000" b="1" dirty="0" err="1">
                <a:solidFill>
                  <a:schemeClr val="tx1"/>
                </a:solidFill>
              </a:rPr>
              <a:t>Digvijaysinh</a:t>
            </a:r>
            <a:r>
              <a:rPr lang="en-US" sz="2000" b="1" dirty="0">
                <a:solidFill>
                  <a:schemeClr val="tx1"/>
                </a:solidFill>
              </a:rPr>
              <a:t> Rathod</a:t>
            </a:r>
          </a:p>
          <a:p>
            <a:r>
              <a:rPr lang="en-US" sz="2000" b="1" dirty="0">
                <a:solidFill>
                  <a:schemeClr val="tx1"/>
                </a:solidFill>
              </a:rPr>
              <a:t>Associate Professor </a:t>
            </a:r>
            <a:r>
              <a:rPr lang="en-IN" altLang="en-US" sz="2000" b="1" dirty="0">
                <a:solidFill>
                  <a:schemeClr val="tx1"/>
                </a:solidFill>
              </a:rPr>
              <a:t>&amp; Associate Dean</a:t>
            </a:r>
            <a:r>
              <a:rPr lang="en-US" sz="2000" b="1" dirty="0">
                <a:solidFill>
                  <a:schemeClr val="tx1"/>
                </a:solidFill>
              </a:rPr>
              <a:t> </a:t>
            </a:r>
          </a:p>
          <a:p>
            <a:r>
              <a:rPr lang="en-IN" altLang="en-US" sz="2000" b="1" dirty="0">
                <a:solidFill>
                  <a:schemeClr val="tx1"/>
                </a:solidFill>
              </a:rPr>
              <a:t>School of Cyber Security and Digital Forensics</a:t>
            </a:r>
            <a:endParaRPr lang="en-US" sz="2000" b="1" dirty="0">
              <a:solidFill>
                <a:schemeClr val="tx1"/>
              </a:solidFill>
            </a:endParaRPr>
          </a:p>
          <a:p>
            <a:r>
              <a:rPr lang="en-US" sz="2000" b="1" dirty="0">
                <a:solidFill>
                  <a:schemeClr val="tx1"/>
                </a:solidFill>
              </a:rPr>
              <a:t>National Forensic Sciences University with status of Institution of National Importance </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b="1" dirty="0">
              <a:latin typeface="Calibri" panose="020F0502020204030204" pitchFamily="34" charset="0"/>
            </a:endParaRP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digvijay.rathod@gfsu.edu.in</a:t>
            </a:r>
          </a:p>
        </p:txBody>
      </p:sp>
      <p:pic>
        <p:nvPicPr>
          <p:cNvPr id="1027" name="Picture 3"/>
          <p:cNvPicPr>
            <a:picLocks noChangeAspect="1" noChangeArrowheads="1"/>
          </p:cNvPicPr>
          <p:nvPr/>
        </p:nvPicPr>
        <p:blipFill>
          <a:blip r:embed="rId2" cstate="print"/>
          <a:srcRect/>
          <a:stretch>
            <a:fillRect/>
          </a:stretch>
        </p:blipFill>
        <p:spPr bwMode="auto">
          <a:xfrm>
            <a:off x="2428860" y="1928802"/>
            <a:ext cx="4909738" cy="3000396"/>
          </a:xfrm>
          <a:prstGeom prst="rect">
            <a:avLst/>
          </a:prstGeom>
          <a:noFill/>
          <a:ln w="9525">
            <a:noFill/>
            <a:miter lim="800000"/>
            <a:headEnd/>
            <a:tailEnd/>
          </a:ln>
          <a:effectLst/>
        </p:spPr>
      </p:pic>
      <p:pic>
        <p:nvPicPr>
          <p:cNvPr id="2" name="Picture 1">
            <a:extLst>
              <a:ext uri="{FF2B5EF4-FFF2-40B4-BE49-F238E27FC236}">
                <a16:creationId xmlns:a16="http://schemas.microsoft.com/office/drawing/2014/main" id="{A5AAE2C0-19BC-4DB3-87F8-786B52506785}"/>
              </a:ext>
            </a:extLst>
          </p:cNvPr>
          <p:cNvPicPr>
            <a:picLocks noChangeAspect="1"/>
          </p:cNvPicPr>
          <p:nvPr/>
        </p:nvPicPr>
        <p:blipFill>
          <a:blip r:embed="rId3"/>
          <a:stretch>
            <a:fillRect/>
          </a:stretch>
        </p:blipFill>
        <p:spPr>
          <a:xfrm>
            <a:off x="2909882" y="-5152"/>
            <a:ext cx="3667125" cy="12477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0818813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333</Words>
  <Application>Microsoft Office PowerPoint</Application>
  <PresentationFormat>On-screen Show (4:3)</PresentationFormat>
  <Paragraphs>58</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digvijay</dc:creator>
  <cp:lastModifiedBy>Windows User</cp:lastModifiedBy>
  <cp:revision>751</cp:revision>
  <dcterms:created xsi:type="dcterms:W3CDTF">2018-03-30T10:15:00Z</dcterms:created>
  <dcterms:modified xsi:type="dcterms:W3CDTF">2020-11-04T03:40:13Z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1033-11.2.0.9718</vt:lpwstr>
  </property>
</Properties>
</file>