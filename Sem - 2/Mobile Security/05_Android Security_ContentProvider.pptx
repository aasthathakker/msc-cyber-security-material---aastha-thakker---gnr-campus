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7"/>
  </p:notesMasterIdLst>
  <p:sldIdLst>
    <p:sldId id="357" r:id="rId2"/>
    <p:sldId id="408" r:id="rId3"/>
    <p:sldId id="492" r:id="rId4"/>
    <p:sldId id="466" r:id="rId5"/>
    <p:sldId id="467" r:id="rId6"/>
    <p:sldId id="483" r:id="rId7"/>
    <p:sldId id="484" r:id="rId8"/>
    <p:sldId id="485" r:id="rId9"/>
    <p:sldId id="486" r:id="rId10"/>
    <p:sldId id="487" r:id="rId11"/>
    <p:sldId id="488" r:id="rId12"/>
    <p:sldId id="489" r:id="rId13"/>
    <p:sldId id="470" r:id="rId14"/>
    <p:sldId id="468" r:id="rId15"/>
    <p:sldId id="471" r:id="rId16"/>
    <p:sldId id="472" r:id="rId17"/>
    <p:sldId id="481" r:id="rId18"/>
    <p:sldId id="482" r:id="rId19"/>
    <p:sldId id="474" r:id="rId20"/>
    <p:sldId id="475" r:id="rId21"/>
    <p:sldId id="477" r:id="rId22"/>
    <p:sldId id="479" r:id="rId23"/>
    <p:sldId id="480" r:id="rId24"/>
    <p:sldId id="478" r:id="rId25"/>
    <p:sldId id="465" r:id="rId26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33FF"/>
  </p:clrMru>
  <p:extLst>
    <p:ext uri="{E76CE94A-603C-4142-B9EB-6D1370010A27}">
      <p14:discardImageEditData xmlns:p14="http://schemas.microsoft.com/office/powerpoint/2010/main" xmlns="" val="0"/>
    </p:ext>
    <p:ext uri="{D31A062A-798A-4329-ABDD-BBA856620510}">
      <p14:defaultImageDpi xmlns:p14="http://schemas.microsoft.com/office/powerpoint/2010/main" xmlns="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showOutlineIcons="0">
    <p:restoredLeft sz="15620"/>
    <p:restoredTop sz="94660"/>
  </p:normalViewPr>
  <p:slideViewPr>
    <p:cSldViewPr>
      <p:cViewPr>
        <p:scale>
          <a:sx n="70" d="100"/>
          <a:sy n="70" d="100"/>
        </p:scale>
        <p:origin x="-1386" y="-5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B806D20-265A-45AE-8D7F-1100293F805F}" type="datetimeFigureOut">
              <a:rPr lang="en-US" smtClean="0"/>
              <a:pPr/>
              <a:t>9/1/2020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854D4B-AC91-4CBF-9F06-E2874E0FB789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00093-A566-4883-87EB-6E6022A9D2E1}" type="datetimeFigureOut">
              <a:rPr lang="en-US" smtClean="0"/>
              <a:pPr/>
              <a:t>9/1/2020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1F41E-2724-4E8B-A7C1-40819B11D8A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25860345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00093-A566-4883-87EB-6E6022A9D2E1}" type="datetimeFigureOut">
              <a:rPr lang="en-US" smtClean="0"/>
              <a:pPr/>
              <a:t>9/1/2020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1F41E-2724-4E8B-A7C1-40819B11D8A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38832234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00093-A566-4883-87EB-6E6022A9D2E1}" type="datetimeFigureOut">
              <a:rPr lang="en-US" smtClean="0"/>
              <a:pPr/>
              <a:t>9/1/2020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1F41E-2724-4E8B-A7C1-40819B11D8A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26711029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00093-A566-4883-87EB-6E6022A9D2E1}" type="datetimeFigureOut">
              <a:rPr lang="en-US" smtClean="0"/>
              <a:pPr/>
              <a:t>9/1/2020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1F41E-2724-4E8B-A7C1-40819B11D8A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3543416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00093-A566-4883-87EB-6E6022A9D2E1}" type="datetimeFigureOut">
              <a:rPr lang="en-US" smtClean="0"/>
              <a:pPr/>
              <a:t>9/1/2020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1F41E-2724-4E8B-A7C1-40819B11D8A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2305676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00093-A566-4883-87EB-6E6022A9D2E1}" type="datetimeFigureOut">
              <a:rPr lang="en-US" smtClean="0"/>
              <a:pPr/>
              <a:t>9/1/2020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1F41E-2724-4E8B-A7C1-40819B11D8A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6687571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00093-A566-4883-87EB-6E6022A9D2E1}" type="datetimeFigureOut">
              <a:rPr lang="en-US" smtClean="0"/>
              <a:pPr/>
              <a:t>9/1/2020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1F41E-2724-4E8B-A7C1-40819B11D8A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2661764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00093-A566-4883-87EB-6E6022A9D2E1}" type="datetimeFigureOut">
              <a:rPr lang="en-US" smtClean="0"/>
              <a:pPr/>
              <a:t>9/1/2020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1F41E-2724-4E8B-A7C1-40819B11D8A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7802637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00093-A566-4883-87EB-6E6022A9D2E1}" type="datetimeFigureOut">
              <a:rPr lang="en-US" smtClean="0"/>
              <a:pPr/>
              <a:t>9/1/2020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1F41E-2724-4E8B-A7C1-40819B11D8A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25122110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00093-A566-4883-87EB-6E6022A9D2E1}" type="datetimeFigureOut">
              <a:rPr lang="en-US" smtClean="0"/>
              <a:pPr/>
              <a:t>9/1/2020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1F41E-2724-4E8B-A7C1-40819B11D8A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24105593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00093-A566-4883-87EB-6E6022A9D2E1}" type="datetimeFigureOut">
              <a:rPr lang="en-US" smtClean="0"/>
              <a:pPr/>
              <a:t>9/1/2020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1F41E-2724-4E8B-A7C1-40819B11D8A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206366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900093-A566-4883-87EB-6E6022A9D2E1}" type="datetimeFigureOut">
              <a:rPr lang="en-US" smtClean="0"/>
              <a:pPr/>
              <a:t>9/1/2020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41F41E-2724-4E8B-A7C1-40819B11D8A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7796985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://domain-name/data-in-the-site" TargetMode="Externa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9278" y="781080"/>
            <a:ext cx="8546121" cy="5791192"/>
          </a:xfrm>
        </p:spPr>
        <p:txBody>
          <a:bodyPr>
            <a:normAutofit fontScale="85000" lnSpcReduction="20000"/>
          </a:bodyPr>
          <a:lstStyle/>
          <a:p>
            <a:endParaRPr lang="en-IN" sz="4800" b="1" dirty="0" smtClean="0">
              <a:solidFill>
                <a:schemeClr val="tx1"/>
              </a:solidFill>
            </a:endParaRPr>
          </a:p>
          <a:p>
            <a:r>
              <a:rPr lang="en-IN" sz="4800" b="1" dirty="0" smtClean="0">
                <a:solidFill>
                  <a:schemeClr val="tx1"/>
                </a:solidFill>
              </a:rPr>
              <a:t>Mobile Phone Security </a:t>
            </a:r>
          </a:p>
          <a:p>
            <a:endParaRPr lang="en-IN" sz="2000" dirty="0" smtClean="0">
              <a:solidFill>
                <a:schemeClr val="tx1"/>
              </a:solidFill>
            </a:endParaRPr>
          </a:p>
          <a:p>
            <a:endParaRPr lang="en-IN" sz="2000" dirty="0" smtClean="0">
              <a:solidFill>
                <a:schemeClr val="tx1"/>
              </a:solidFill>
            </a:endParaRPr>
          </a:p>
          <a:p>
            <a:endParaRPr lang="en-IN" sz="2000" dirty="0" smtClean="0">
              <a:solidFill>
                <a:schemeClr val="tx1"/>
              </a:solidFill>
            </a:endParaRPr>
          </a:p>
          <a:p>
            <a:endParaRPr lang="en-IN" sz="2000" dirty="0" smtClean="0">
              <a:solidFill>
                <a:schemeClr val="tx1"/>
              </a:solidFill>
            </a:endParaRPr>
          </a:p>
          <a:p>
            <a:endParaRPr lang="en-IN" sz="2000" dirty="0" smtClean="0">
              <a:solidFill>
                <a:schemeClr val="tx1"/>
              </a:solidFill>
            </a:endParaRPr>
          </a:p>
          <a:p>
            <a:endParaRPr lang="en-US" sz="2000" dirty="0" smtClean="0">
              <a:solidFill>
                <a:schemeClr val="tx1"/>
              </a:solidFill>
            </a:endParaRPr>
          </a:p>
          <a:p>
            <a:endParaRPr lang="en-US" sz="2000" dirty="0" smtClean="0">
              <a:solidFill>
                <a:schemeClr val="tx1"/>
              </a:solidFill>
            </a:endParaRPr>
          </a:p>
          <a:p>
            <a:endParaRPr lang="en-US" sz="2000" dirty="0" smtClean="0">
              <a:solidFill>
                <a:schemeClr val="tx1"/>
              </a:solidFill>
            </a:endParaRPr>
          </a:p>
          <a:p>
            <a:endParaRPr lang="en-IN" sz="2000" b="1" dirty="0" smtClean="0">
              <a:solidFill>
                <a:schemeClr val="tx1"/>
              </a:solidFill>
            </a:endParaRPr>
          </a:p>
          <a:p>
            <a:endParaRPr lang="en-IN" sz="2000" b="1" dirty="0" smtClean="0">
              <a:solidFill>
                <a:schemeClr val="tx1"/>
              </a:solidFill>
            </a:endParaRPr>
          </a:p>
          <a:p>
            <a:endParaRPr lang="en-IN" sz="2000" b="1" dirty="0" smtClean="0">
              <a:solidFill>
                <a:schemeClr val="tx1"/>
              </a:solidFill>
            </a:endParaRPr>
          </a:p>
          <a:p>
            <a:endParaRPr lang="en-US" sz="2000" b="1" dirty="0" smtClean="0">
              <a:solidFill>
                <a:schemeClr val="tx1"/>
              </a:solidFill>
            </a:endParaRPr>
          </a:p>
          <a:p>
            <a:r>
              <a:rPr lang="en-US" sz="2000" b="1" dirty="0" smtClean="0">
                <a:solidFill>
                  <a:schemeClr val="tx1"/>
                </a:solidFill>
              </a:rPr>
              <a:t>Dr. </a:t>
            </a:r>
            <a:r>
              <a:rPr lang="en-US" sz="2000" b="1" dirty="0" err="1" smtClean="0">
                <a:solidFill>
                  <a:schemeClr val="tx1"/>
                </a:solidFill>
              </a:rPr>
              <a:t>Digvijaysinh</a:t>
            </a:r>
            <a:r>
              <a:rPr lang="en-US" sz="2000" b="1" dirty="0" smtClean="0">
                <a:solidFill>
                  <a:schemeClr val="tx1"/>
                </a:solidFill>
              </a:rPr>
              <a:t> Rathod</a:t>
            </a:r>
          </a:p>
          <a:p>
            <a:r>
              <a:rPr lang="en-US" sz="2000" b="1" dirty="0" smtClean="0">
                <a:solidFill>
                  <a:schemeClr val="tx1"/>
                </a:solidFill>
              </a:rPr>
              <a:t>Associate Professor </a:t>
            </a:r>
          </a:p>
          <a:p>
            <a:r>
              <a:rPr lang="en-US" sz="2000" b="1" dirty="0" smtClean="0">
                <a:solidFill>
                  <a:schemeClr val="tx1"/>
                </a:solidFill>
              </a:rPr>
              <a:t>(Cyber Security and Digital Forensics)</a:t>
            </a:r>
          </a:p>
          <a:p>
            <a:r>
              <a:rPr lang="en-US" sz="2000" b="1" dirty="0" smtClean="0">
                <a:solidFill>
                  <a:schemeClr val="tx1"/>
                </a:solidFill>
              </a:rPr>
              <a:t>Institute of Forensic Science </a:t>
            </a:r>
          </a:p>
          <a:p>
            <a:r>
              <a:rPr lang="en-US" sz="2000" b="1" dirty="0" smtClean="0">
                <a:solidFill>
                  <a:schemeClr val="tx1"/>
                </a:solidFill>
              </a:rPr>
              <a:t>Gujarat Forensic Sciences University</a:t>
            </a:r>
            <a:endParaRPr lang="en-US" sz="2000" b="1" dirty="0">
              <a:solidFill>
                <a:schemeClr val="tx1"/>
              </a:solidFill>
            </a:endParaRP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 sz="2400" b="1" dirty="0" smtClean="0">
              <a:latin typeface="Calibri" pitchFamily="34" charset="0"/>
            </a:endParaRPr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 smtClean="0"/>
              <a:t>digvijay.rathod@gfsu.edu.in</a:t>
            </a:r>
            <a:endParaRPr lang="en-US" b="1" dirty="0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428860" y="1928802"/>
            <a:ext cx="4909738" cy="30003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9" name="Picture 5" descr="GFSU: Courses, Admissions, Placements, Scholarships, Fees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4045495" y="0"/>
            <a:ext cx="1120496" cy="1428736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xmlns="" val="4820153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9278" y="590008"/>
            <a:ext cx="8546121" cy="5467320"/>
          </a:xfrm>
        </p:spPr>
        <p:txBody>
          <a:bodyPr>
            <a:noAutofit/>
          </a:bodyPr>
          <a:lstStyle/>
          <a:p>
            <a:pPr lvl="1">
              <a:lnSpc>
                <a:spcPct val="150000"/>
              </a:lnSpc>
            </a:pPr>
            <a:endParaRPr lang="en-IN" sz="2200" b="1" dirty="0" smtClean="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  <a:p>
            <a:pPr lvl="1">
              <a:lnSpc>
                <a:spcPct val="150000"/>
              </a:lnSpc>
            </a:pPr>
            <a:endParaRPr lang="en-IN" sz="4000" b="1" dirty="0" smtClean="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  <a:p>
            <a:pPr lvl="1">
              <a:lnSpc>
                <a:spcPct val="150000"/>
              </a:lnSpc>
            </a:pPr>
            <a:r>
              <a:rPr lang="en-IN" sz="4000" b="1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Content Provider</a:t>
            </a: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 sz="2400" b="1" dirty="0"/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 smtClean="0"/>
              <a:t>Dr.  </a:t>
            </a:r>
            <a:r>
              <a:rPr lang="en-US" b="1" dirty="0" err="1" smtClean="0"/>
              <a:t>Digvijaysinh</a:t>
            </a:r>
            <a:r>
              <a:rPr lang="en-US" b="1" dirty="0" smtClean="0"/>
              <a:t> Rathod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xmlns="" val="27679502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9278" y="781080"/>
            <a:ext cx="8546121" cy="5467320"/>
          </a:xfrm>
        </p:spPr>
        <p:txBody>
          <a:bodyPr>
            <a:normAutofit/>
          </a:bodyPr>
          <a:lstStyle/>
          <a:p>
            <a:endParaRPr lang="en-IN" sz="4400" b="1" dirty="0" smtClean="0">
              <a:solidFill>
                <a:schemeClr val="tx1"/>
              </a:solidFill>
            </a:endParaRPr>
          </a:p>
          <a:p>
            <a:r>
              <a:rPr lang="en-IN" sz="4400" b="1" dirty="0" smtClean="0">
                <a:solidFill>
                  <a:schemeClr val="tx1"/>
                </a:solidFill>
              </a:rPr>
              <a:t>Reference </a:t>
            </a:r>
          </a:p>
          <a:p>
            <a:endParaRPr lang="en-IN" sz="2000" dirty="0" smtClean="0">
              <a:solidFill>
                <a:schemeClr val="tx1"/>
              </a:solidFill>
            </a:endParaRPr>
          </a:p>
          <a:p>
            <a:endParaRPr lang="en-IN" sz="2000" dirty="0" smtClean="0">
              <a:solidFill>
                <a:schemeClr val="tx1"/>
              </a:solidFill>
            </a:endParaRPr>
          </a:p>
          <a:p>
            <a:endParaRPr lang="en-IN" sz="2000" dirty="0" smtClean="0">
              <a:solidFill>
                <a:schemeClr val="tx1"/>
              </a:solidFill>
            </a:endParaRPr>
          </a:p>
          <a:p>
            <a:endParaRPr lang="en-IN" sz="2000" dirty="0" smtClean="0">
              <a:solidFill>
                <a:schemeClr val="tx1"/>
              </a:solidFill>
            </a:endParaRPr>
          </a:p>
          <a:p>
            <a:endParaRPr lang="en-IN" sz="2000" dirty="0" smtClean="0">
              <a:solidFill>
                <a:schemeClr val="tx1"/>
              </a:solidFill>
            </a:endParaRPr>
          </a:p>
          <a:p>
            <a:endParaRPr lang="en-US" sz="2000" dirty="0" smtClean="0">
              <a:solidFill>
                <a:schemeClr val="tx1"/>
              </a:solidFill>
            </a:endParaRPr>
          </a:p>
          <a:p>
            <a:endParaRPr lang="en-US" sz="2000" dirty="0" smtClean="0">
              <a:solidFill>
                <a:schemeClr val="tx1"/>
              </a:solidFill>
            </a:endParaRPr>
          </a:p>
          <a:p>
            <a:endParaRPr lang="en-US" sz="2000" dirty="0" smtClean="0">
              <a:solidFill>
                <a:schemeClr val="tx1"/>
              </a:solidFill>
            </a:endParaRPr>
          </a:p>
          <a:p>
            <a:endParaRPr lang="en-US" sz="2000" b="1" dirty="0" smtClean="0">
              <a:solidFill>
                <a:schemeClr val="tx1"/>
              </a:solidFill>
            </a:endParaRP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 sz="2400" b="1" dirty="0" smtClean="0">
              <a:latin typeface="Calibri" pitchFamily="34" charset="0"/>
            </a:endParaRPr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 smtClean="0"/>
              <a:t>digvijay.rathod@gfsu.edu.in</a:t>
            </a:r>
            <a:endParaRPr lang="en-US" b="1" dirty="0"/>
          </a:p>
        </p:txBody>
      </p:sp>
      <p:pic>
        <p:nvPicPr>
          <p:cNvPr id="11" name="Picture 5" descr="GFSU: Courses, Admissions, Placements, Scholarships, Fees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3786183" y="0"/>
            <a:ext cx="1120496" cy="1428736"/>
          </a:xfrm>
          <a:prstGeom prst="rect">
            <a:avLst/>
          </a:prstGeom>
          <a:noFill/>
        </p:spPr>
      </p:pic>
      <p:pic>
        <p:nvPicPr>
          <p:cNvPr id="23554" name="Picture 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0" y="2214554"/>
            <a:ext cx="2665983" cy="32147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2714612" y="2214554"/>
            <a:ext cx="2571768" cy="32082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Rectangle 11"/>
          <p:cNvSpPr/>
          <p:nvPr/>
        </p:nvSpPr>
        <p:spPr>
          <a:xfrm>
            <a:off x="5500694" y="2428868"/>
            <a:ext cx="3357586" cy="121444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dirty="0" smtClean="0"/>
              <a:t>www.developer.google.com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4820153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9278" y="590008"/>
            <a:ext cx="8546121" cy="5467320"/>
          </a:xfrm>
        </p:spPr>
        <p:txBody>
          <a:bodyPr>
            <a:noAutofit/>
          </a:bodyPr>
          <a:lstStyle/>
          <a:p>
            <a:pPr lvl="1">
              <a:lnSpc>
                <a:spcPct val="150000"/>
              </a:lnSpc>
            </a:pPr>
            <a:endParaRPr lang="en-IN" sz="2200" b="1" dirty="0" smtClean="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  <a:p>
            <a:pPr lvl="1">
              <a:lnSpc>
                <a:spcPct val="150000"/>
              </a:lnSpc>
            </a:pPr>
            <a:endParaRPr lang="en-IN" sz="4000" b="1" dirty="0" smtClean="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 algn="ctr"/>
            <a:r>
              <a:rPr lang="en-IN" sz="4000" b="1" dirty="0" smtClean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Content Provider</a:t>
            </a:r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 smtClean="0"/>
              <a:t>Dr.  </a:t>
            </a:r>
            <a:r>
              <a:rPr lang="en-US" b="1" dirty="0" err="1" smtClean="0"/>
              <a:t>Digvijaysinh</a:t>
            </a:r>
            <a:r>
              <a:rPr lang="en-US" b="1" dirty="0" smtClean="0"/>
              <a:t> Rathod</a:t>
            </a:r>
            <a:endParaRPr lang="en-US" b="1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071538" y="857231"/>
            <a:ext cx="6858048" cy="52387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xmlns="" val="27679502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9278" y="590008"/>
            <a:ext cx="8546121" cy="5467320"/>
          </a:xfrm>
        </p:spPr>
        <p:txBody>
          <a:bodyPr>
            <a:noAutofit/>
          </a:bodyPr>
          <a:lstStyle/>
          <a:p>
            <a:pPr lvl="1">
              <a:lnSpc>
                <a:spcPct val="150000"/>
              </a:lnSpc>
            </a:pPr>
            <a:endParaRPr lang="en-IN" sz="2200" b="1" dirty="0" smtClean="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  <a:p>
            <a:pPr lvl="1">
              <a:lnSpc>
                <a:spcPct val="150000"/>
              </a:lnSpc>
            </a:pPr>
            <a:endParaRPr lang="en-IN" sz="4000" b="1" dirty="0" smtClean="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 algn="ctr"/>
            <a:r>
              <a:rPr lang="en-IN" sz="4000" b="1" dirty="0" smtClean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Content Provider</a:t>
            </a:r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 smtClean="0"/>
              <a:t>Dr.  </a:t>
            </a:r>
            <a:r>
              <a:rPr lang="en-US" b="1" dirty="0" err="1" smtClean="0"/>
              <a:t>Digvijaysinh</a:t>
            </a:r>
            <a:r>
              <a:rPr lang="en-US" b="1" dirty="0" smtClean="0"/>
              <a:t> Rathod</a:t>
            </a:r>
            <a:endParaRPr lang="en-US" b="1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142976" y="928670"/>
            <a:ext cx="6572296" cy="514353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xmlns="" val="27679502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8206" y="576360"/>
            <a:ext cx="8546121" cy="5467320"/>
          </a:xfrm>
        </p:spPr>
        <p:txBody>
          <a:bodyPr>
            <a:noAutofit/>
          </a:bodyPr>
          <a:lstStyle/>
          <a:p>
            <a:pPr marL="914400" lvl="1" indent="-457200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6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Content providers provide the content/data to Android applications from an Android system or other Android applications. </a:t>
            </a:r>
          </a:p>
          <a:p>
            <a:pPr marL="914400" lvl="1" indent="-457200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6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Let’s go through the details of the content provider in Android through this article, but first, let’s take a glance of topics that we will discuss:</a:t>
            </a:r>
          </a:p>
          <a:p>
            <a:pPr marL="1371600" lvl="2" indent="-457200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2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What are Content Providers</a:t>
            </a:r>
          </a:p>
          <a:p>
            <a:pPr marL="1371600" lvl="2" indent="-457200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2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CRUD operations</a:t>
            </a:r>
          </a:p>
          <a:p>
            <a:pPr marL="1371600" lvl="2" indent="-457200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2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Examples</a:t>
            </a: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2400" b="1" dirty="0" smtClean="0"/>
              <a:t>Content Provider</a:t>
            </a:r>
            <a:endParaRPr lang="fr-CA" sz="2400" b="1" dirty="0"/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 smtClean="0"/>
              <a:t>Dr.  </a:t>
            </a:r>
            <a:r>
              <a:rPr lang="en-US" b="1" dirty="0" err="1" smtClean="0"/>
              <a:t>Digvijaysinh</a:t>
            </a:r>
            <a:r>
              <a:rPr lang="en-US" b="1" dirty="0" smtClean="0"/>
              <a:t> Rathod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xmlns="" val="27679502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8206" y="576360"/>
            <a:ext cx="8546121" cy="5467320"/>
          </a:xfrm>
        </p:spPr>
        <p:txBody>
          <a:bodyPr>
            <a:noAutofit/>
          </a:bodyPr>
          <a:lstStyle/>
          <a:p>
            <a:pPr marL="914400" lvl="1" indent="-457200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6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Let’s go through the details of the content provider in Android through this article, but first, let’s take a glance of topics that we will discuss:</a:t>
            </a:r>
          </a:p>
          <a:p>
            <a:pPr marL="1371600" lvl="2" indent="-457200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2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What are Content Providers</a:t>
            </a:r>
          </a:p>
          <a:p>
            <a:pPr marL="1371600" lvl="2" indent="-457200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2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CRUD operations</a:t>
            </a:r>
          </a:p>
          <a:p>
            <a:pPr marL="1371600" lvl="2" indent="-457200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2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Examples</a:t>
            </a:r>
          </a:p>
          <a:p>
            <a:pPr marL="1371600" lvl="2" indent="-457200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2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Accessing data with Content provider</a:t>
            </a:r>
          </a:p>
          <a:p>
            <a:pPr marL="1371600" lvl="2" indent="-457200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2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Implementing Content Provider</a:t>
            </a: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2400" b="1" dirty="0" smtClean="0"/>
              <a:t>Content Provider</a:t>
            </a:r>
            <a:endParaRPr lang="fr-CA" sz="2400" b="1" dirty="0"/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 smtClean="0"/>
              <a:t>Dr.  </a:t>
            </a:r>
            <a:r>
              <a:rPr lang="en-US" b="1" dirty="0" err="1" smtClean="0"/>
              <a:t>Digvijaysinh</a:t>
            </a:r>
            <a:r>
              <a:rPr lang="en-US" b="1" dirty="0" smtClean="0"/>
              <a:t> Rathod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xmlns="" val="27679502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8206" y="576360"/>
            <a:ext cx="8546121" cy="5467320"/>
          </a:xfrm>
        </p:spPr>
        <p:txBody>
          <a:bodyPr>
            <a:noAutofit/>
          </a:bodyPr>
          <a:lstStyle/>
          <a:p>
            <a:pPr marL="914400" lvl="1" indent="-457200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6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Content Providers are an important component of Android. They handle the access to the central repository and supply data from one application to another on request. </a:t>
            </a:r>
          </a:p>
          <a:p>
            <a:pPr marL="914400" lvl="1" indent="-457200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6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This task of handling is done by methods of </a:t>
            </a:r>
            <a:r>
              <a:rPr lang="en-US" sz="2600" dirty="0" err="1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ContentResolver</a:t>
            </a:r>
            <a:r>
              <a:rPr lang="en-US" sz="26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 class. So, content providers can store data in various ways such as files, database or over the internet.</a:t>
            </a:r>
            <a:endParaRPr lang="en-US" sz="2200" dirty="0" smtClean="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 smtClean="0"/>
              <a:t>What are Content Providers in Android?</a:t>
            </a:r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 smtClean="0"/>
              <a:t>Dr.  </a:t>
            </a:r>
            <a:r>
              <a:rPr lang="en-US" b="1" dirty="0" err="1" smtClean="0"/>
              <a:t>Digvijaysinh</a:t>
            </a:r>
            <a:r>
              <a:rPr lang="en-US" b="1" dirty="0" smtClean="0"/>
              <a:t> Rathod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xmlns="" val="27679502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8206" y="576360"/>
            <a:ext cx="8546121" cy="5467320"/>
          </a:xfrm>
        </p:spPr>
        <p:txBody>
          <a:bodyPr>
            <a:noAutofit/>
          </a:bodyPr>
          <a:lstStyle/>
          <a:p>
            <a:pPr marL="914400" lvl="1" indent="-457200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6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Many a time we need to share our data with applications and that’s where it becomes useful. </a:t>
            </a:r>
          </a:p>
          <a:p>
            <a:pPr marL="914400" lvl="1" indent="-457200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6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The following diagram depicts how the content provider helps in sharing data with applications from data stores.</a:t>
            </a:r>
            <a:endParaRPr lang="en-US" sz="2200" dirty="0" smtClean="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2400" b="1" dirty="0" smtClean="0"/>
              <a:t>Content Provider</a:t>
            </a:r>
            <a:endParaRPr lang="fr-CA" sz="2400" b="1" dirty="0"/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 smtClean="0"/>
              <a:t>Dr.  </a:t>
            </a:r>
            <a:r>
              <a:rPr lang="en-US" b="1" dirty="0" err="1" smtClean="0"/>
              <a:t>Digvijaysinh</a:t>
            </a:r>
            <a:r>
              <a:rPr lang="en-US" b="1" dirty="0" smtClean="0"/>
              <a:t> Rathod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xmlns="" val="27679502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2400" b="1" dirty="0" smtClean="0"/>
              <a:t>Content Provider</a:t>
            </a:r>
            <a:endParaRPr lang="fr-CA" sz="2400" b="1" dirty="0"/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 smtClean="0"/>
              <a:t>Dr.  </a:t>
            </a:r>
            <a:r>
              <a:rPr lang="en-US" b="1" dirty="0" err="1" smtClean="0"/>
              <a:t>Digvijaysinh</a:t>
            </a:r>
            <a:r>
              <a:rPr lang="en-US" b="1" dirty="0" smtClean="0"/>
              <a:t> Rathod</a:t>
            </a:r>
            <a:endParaRPr lang="en-US" b="1" dirty="0"/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098" name="Picture 2" descr="content provider in android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71472" y="785794"/>
            <a:ext cx="7639050" cy="4857784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xmlns="" val="27679502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8206" y="576360"/>
            <a:ext cx="8546121" cy="5467320"/>
          </a:xfrm>
        </p:spPr>
        <p:txBody>
          <a:bodyPr>
            <a:noAutofit/>
          </a:bodyPr>
          <a:lstStyle/>
          <a:p>
            <a:pPr marL="914400" lvl="1" indent="-457200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6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As can be seen, the content provider lets us collect the data centrally and provide them to applications as shown in the above diagram. </a:t>
            </a:r>
          </a:p>
          <a:p>
            <a:pPr marL="914400" lvl="1" indent="-457200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6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Content providers act the same as database and also we can query it to add, delete, insert or update the data.</a:t>
            </a:r>
            <a:endParaRPr lang="en-US" sz="2200" dirty="0" smtClean="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2400" b="1" dirty="0" smtClean="0"/>
              <a:t>Content Provider</a:t>
            </a:r>
            <a:endParaRPr lang="fr-CA" sz="2400" b="1" dirty="0"/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 smtClean="0"/>
              <a:t>Dr.  </a:t>
            </a:r>
            <a:r>
              <a:rPr lang="en-US" b="1" dirty="0" err="1" smtClean="0"/>
              <a:t>Digvijaysinh</a:t>
            </a:r>
            <a:r>
              <a:rPr lang="en-US" b="1" dirty="0" smtClean="0"/>
              <a:t> Rathod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xmlns="" val="27679502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8206" y="576360"/>
            <a:ext cx="8546121" cy="5467320"/>
          </a:xfrm>
        </p:spPr>
        <p:txBody>
          <a:bodyPr>
            <a:noAutofit/>
          </a:bodyPr>
          <a:lstStyle/>
          <a:p>
            <a:pPr marL="914400" lvl="1" indent="-457200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6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It can be understood that a content provider hides the database details and also, it lets an application share data among other applications. </a:t>
            </a:r>
          </a:p>
          <a:p>
            <a:pPr marL="914400" lvl="1" indent="-457200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6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Content providers are not limited to texts, but also contains images and videos as well.</a:t>
            </a:r>
            <a:endParaRPr lang="en-US" sz="2200" dirty="0" smtClean="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2400" b="1" dirty="0" smtClean="0"/>
              <a:t>Content Provider</a:t>
            </a:r>
            <a:endParaRPr lang="fr-CA" sz="2400" b="1" dirty="0"/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 smtClean="0"/>
              <a:t>Dr.  </a:t>
            </a:r>
            <a:r>
              <a:rPr lang="en-US" b="1" dirty="0" err="1" smtClean="0"/>
              <a:t>Digvijaysinh</a:t>
            </a:r>
            <a:r>
              <a:rPr lang="en-US" b="1" dirty="0" smtClean="0"/>
              <a:t> Rathod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xmlns="" val="27679502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8206" y="576360"/>
            <a:ext cx="8546121" cy="5467320"/>
          </a:xfrm>
        </p:spPr>
        <p:txBody>
          <a:bodyPr>
            <a:noAutofit/>
          </a:bodyPr>
          <a:lstStyle/>
          <a:p>
            <a:pPr marL="914400" lvl="1" indent="-457200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IN" sz="26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But there is a business need when one </a:t>
            </a:r>
            <a:r>
              <a:rPr lang="en-IN" sz="2600" dirty="0" err="1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applicaiton</a:t>
            </a:r>
            <a:r>
              <a:rPr lang="en-IN" sz="26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needs to share or access data with or from system or user install application.</a:t>
            </a:r>
            <a:endParaRPr lang="en-US" sz="2600" dirty="0" err="1" smtClean="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2400" b="1" dirty="0" err="1" smtClean="0"/>
              <a:t>ContentProvider</a:t>
            </a:r>
            <a:endParaRPr lang="fr-CA" sz="2400" b="1" dirty="0"/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 smtClean="0"/>
              <a:t>Dr.  </a:t>
            </a:r>
            <a:r>
              <a:rPr lang="en-US" b="1" dirty="0" err="1" smtClean="0"/>
              <a:t>Digvijaysinh</a:t>
            </a:r>
            <a:r>
              <a:rPr lang="en-US" b="1" dirty="0" smtClean="0"/>
              <a:t> Rathod</a:t>
            </a:r>
            <a:endParaRPr lang="en-US" b="1" dirty="0"/>
          </a:p>
        </p:txBody>
      </p:sp>
      <p:sp>
        <p:nvSpPr>
          <p:cNvPr id="9" name="Rounded Rectangle 8"/>
          <p:cNvSpPr/>
          <p:nvPr/>
        </p:nvSpPr>
        <p:spPr>
          <a:xfrm>
            <a:off x="500034" y="2928934"/>
            <a:ext cx="1785950" cy="242889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2800" b="1" dirty="0" smtClean="0"/>
              <a:t>Application : 01</a:t>
            </a:r>
            <a:endParaRPr lang="en-US" sz="2800" b="1" dirty="0"/>
          </a:p>
        </p:txBody>
      </p:sp>
      <p:sp>
        <p:nvSpPr>
          <p:cNvPr id="11" name="Rounded Rectangle 10"/>
          <p:cNvSpPr/>
          <p:nvPr/>
        </p:nvSpPr>
        <p:spPr>
          <a:xfrm>
            <a:off x="4214810" y="1857364"/>
            <a:ext cx="2857520" cy="785818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400" dirty="0" smtClean="0"/>
              <a:t>System Installed App</a:t>
            </a:r>
            <a:endParaRPr lang="en-US" sz="2400" dirty="0"/>
          </a:p>
        </p:txBody>
      </p:sp>
      <p:sp>
        <p:nvSpPr>
          <p:cNvPr id="12" name="Rounded Rectangle 11"/>
          <p:cNvSpPr/>
          <p:nvPr/>
        </p:nvSpPr>
        <p:spPr>
          <a:xfrm>
            <a:off x="4214810" y="2714620"/>
            <a:ext cx="2928958" cy="714380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400" dirty="0" smtClean="0"/>
              <a:t>Android System</a:t>
            </a:r>
            <a:endParaRPr lang="en-US" sz="2400" dirty="0"/>
          </a:p>
        </p:txBody>
      </p:sp>
      <p:sp>
        <p:nvSpPr>
          <p:cNvPr id="13" name="Can 12"/>
          <p:cNvSpPr/>
          <p:nvPr/>
        </p:nvSpPr>
        <p:spPr>
          <a:xfrm>
            <a:off x="4572000" y="3786190"/>
            <a:ext cx="1643074" cy="1000132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2800" dirty="0" smtClean="0">
                <a:solidFill>
                  <a:schemeClr val="bg1"/>
                </a:solidFill>
              </a:rPr>
              <a:t>Database</a:t>
            </a:r>
            <a:endParaRPr lang="en-US" sz="2800" dirty="0" smtClean="0">
              <a:solidFill>
                <a:schemeClr val="bg1"/>
              </a:solidFill>
            </a:endParaRPr>
          </a:p>
        </p:txBody>
      </p:sp>
      <p:sp>
        <p:nvSpPr>
          <p:cNvPr id="15" name="Flowchart: Punched Tape 14"/>
          <p:cNvSpPr/>
          <p:nvPr/>
        </p:nvSpPr>
        <p:spPr>
          <a:xfrm>
            <a:off x="4643438" y="4929198"/>
            <a:ext cx="1643074" cy="642942"/>
          </a:xfrm>
          <a:prstGeom prst="flowChartPunchedTap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2800" dirty="0" smtClean="0">
                <a:solidFill>
                  <a:schemeClr val="bg1"/>
                </a:solidFill>
              </a:rPr>
              <a:t>Files</a:t>
            </a:r>
            <a:endParaRPr lang="en-US" sz="2800" dirty="0" smtClean="0">
              <a:solidFill>
                <a:schemeClr val="bg1"/>
              </a:solidFill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4357686" y="5643578"/>
            <a:ext cx="2500330" cy="785818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400" dirty="0" smtClean="0"/>
              <a:t>User Installed App</a:t>
            </a:r>
            <a:endParaRPr lang="en-US" sz="2400" dirty="0"/>
          </a:p>
        </p:txBody>
      </p:sp>
      <p:cxnSp>
        <p:nvCxnSpPr>
          <p:cNvPr id="18" name="Straight Arrow Connector 17"/>
          <p:cNvCxnSpPr>
            <a:stCxn id="9" idx="3"/>
          </p:cNvCxnSpPr>
          <p:nvPr/>
        </p:nvCxnSpPr>
        <p:spPr>
          <a:xfrm flipV="1">
            <a:off x="2285984" y="2428868"/>
            <a:ext cx="1928826" cy="1714512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>
            <a:stCxn id="9" idx="3"/>
            <a:endCxn id="12" idx="1"/>
          </p:cNvCxnSpPr>
          <p:nvPr/>
        </p:nvCxnSpPr>
        <p:spPr>
          <a:xfrm flipV="1">
            <a:off x="2285984" y="3071810"/>
            <a:ext cx="1928826" cy="107157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>
            <a:stCxn id="9" idx="3"/>
            <a:endCxn id="13" idx="2"/>
          </p:cNvCxnSpPr>
          <p:nvPr/>
        </p:nvCxnSpPr>
        <p:spPr>
          <a:xfrm>
            <a:off x="2285984" y="4143380"/>
            <a:ext cx="2286016" cy="142876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>
            <a:stCxn id="9" idx="3"/>
            <a:endCxn id="15" idx="1"/>
          </p:cNvCxnSpPr>
          <p:nvPr/>
        </p:nvCxnSpPr>
        <p:spPr>
          <a:xfrm>
            <a:off x="2285984" y="4143380"/>
            <a:ext cx="2357454" cy="1107289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/>
          <p:cNvCxnSpPr>
            <a:stCxn id="9" idx="3"/>
          </p:cNvCxnSpPr>
          <p:nvPr/>
        </p:nvCxnSpPr>
        <p:spPr>
          <a:xfrm>
            <a:off x="2285984" y="4143380"/>
            <a:ext cx="2071702" cy="1893107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6786578" y="3571876"/>
            <a:ext cx="2143140" cy="1000132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dirty="0" smtClean="0"/>
              <a:t>Contact List, Call Logs, Gallery, Music Play list etc.,</a:t>
            </a:r>
            <a:endParaRPr lang="en-US" dirty="0"/>
          </a:p>
        </p:txBody>
      </p:sp>
      <p:cxnSp>
        <p:nvCxnSpPr>
          <p:cNvPr id="41" name="Shape 40"/>
          <p:cNvCxnSpPr>
            <a:stCxn id="11" idx="3"/>
            <a:endCxn id="31" idx="0"/>
          </p:cNvCxnSpPr>
          <p:nvPr/>
        </p:nvCxnSpPr>
        <p:spPr>
          <a:xfrm>
            <a:off x="7072330" y="2250273"/>
            <a:ext cx="785818" cy="1321603"/>
          </a:xfrm>
          <a:prstGeom prst="bentConnector2">
            <a:avLst/>
          </a:prstGeom>
          <a:ln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Shape 42"/>
          <p:cNvCxnSpPr/>
          <p:nvPr/>
        </p:nvCxnSpPr>
        <p:spPr>
          <a:xfrm rot="16200000" flipH="1">
            <a:off x="7072330" y="3143248"/>
            <a:ext cx="571504" cy="428628"/>
          </a:xfrm>
          <a:prstGeom prst="bentConnector3">
            <a:avLst>
              <a:gd name="adj1" fmla="val -149"/>
            </a:avLst>
          </a:prstGeom>
          <a:ln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xmlns="" val="27679502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ounded Rectangle 10"/>
          <p:cNvSpPr/>
          <p:nvPr/>
        </p:nvSpPr>
        <p:spPr>
          <a:xfrm>
            <a:off x="288062" y="1643050"/>
            <a:ext cx="2857520" cy="3857652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800" b="1" dirty="0" smtClean="0"/>
              <a:t>Application : 01</a:t>
            </a:r>
            <a:endParaRPr lang="en-US" sz="2800" b="1" dirty="0"/>
          </a:p>
        </p:txBody>
      </p:sp>
      <p:sp>
        <p:nvSpPr>
          <p:cNvPr id="18" name="Rounded Rectangle 17"/>
          <p:cNvSpPr/>
          <p:nvPr/>
        </p:nvSpPr>
        <p:spPr>
          <a:xfrm>
            <a:off x="214282" y="714356"/>
            <a:ext cx="1928826" cy="2000264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dirty="0" smtClean="0"/>
              <a:t>How Does App:01 expose  Data to App:02 securely ? </a:t>
            </a:r>
            <a:br>
              <a:rPr lang="en-IN" dirty="0" smtClean="0"/>
            </a:br>
            <a:endParaRPr lang="en-US" dirty="0"/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 algn="ctr"/>
            <a:r>
              <a:rPr lang="en-IN" sz="4000" b="1" dirty="0" smtClean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Content Provider</a:t>
            </a:r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 smtClean="0"/>
              <a:t>Dr.  </a:t>
            </a:r>
            <a:r>
              <a:rPr lang="en-US" b="1" dirty="0" err="1" smtClean="0"/>
              <a:t>Digvijaysinh</a:t>
            </a:r>
            <a:r>
              <a:rPr lang="en-US" b="1" dirty="0" smtClean="0"/>
              <a:t> Rathod</a:t>
            </a:r>
            <a:endParaRPr lang="en-US" b="1" dirty="0"/>
          </a:p>
        </p:txBody>
      </p:sp>
      <p:sp>
        <p:nvSpPr>
          <p:cNvPr id="12" name="Rounded Rectangle 11"/>
          <p:cNvSpPr/>
          <p:nvPr/>
        </p:nvSpPr>
        <p:spPr>
          <a:xfrm>
            <a:off x="6155798" y="1643050"/>
            <a:ext cx="2857520" cy="3857652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800" b="1" dirty="0" smtClean="0"/>
              <a:t>Application : 02</a:t>
            </a:r>
            <a:endParaRPr lang="en-US" sz="2800" b="1" dirty="0"/>
          </a:p>
        </p:txBody>
      </p:sp>
      <p:sp>
        <p:nvSpPr>
          <p:cNvPr id="13" name="Can 12"/>
          <p:cNvSpPr/>
          <p:nvPr/>
        </p:nvSpPr>
        <p:spPr>
          <a:xfrm>
            <a:off x="714348" y="4429132"/>
            <a:ext cx="571504" cy="714380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 smtClean="0"/>
              <a:t>D</a:t>
            </a:r>
            <a:endParaRPr lang="en-US" b="1" dirty="0"/>
          </a:p>
        </p:txBody>
      </p:sp>
      <p:sp>
        <p:nvSpPr>
          <p:cNvPr id="14" name="Flowchart: Punched Tape 13"/>
          <p:cNvSpPr/>
          <p:nvPr/>
        </p:nvSpPr>
        <p:spPr>
          <a:xfrm>
            <a:off x="1997890" y="4643446"/>
            <a:ext cx="571504" cy="428628"/>
          </a:xfrm>
          <a:prstGeom prst="flowChartPunchedTap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 smtClean="0"/>
              <a:t>F</a:t>
            </a:r>
            <a:endParaRPr lang="en-US" b="1" dirty="0"/>
          </a:p>
        </p:txBody>
      </p:sp>
      <p:sp>
        <p:nvSpPr>
          <p:cNvPr id="15" name="Pentagon 14"/>
          <p:cNvSpPr/>
          <p:nvPr/>
        </p:nvSpPr>
        <p:spPr>
          <a:xfrm>
            <a:off x="1357290" y="4000504"/>
            <a:ext cx="928694" cy="285752"/>
          </a:xfrm>
          <a:prstGeom prst="homePlat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 smtClean="0"/>
              <a:t>A</a:t>
            </a:r>
            <a:endParaRPr lang="en-US" b="1" dirty="0"/>
          </a:p>
        </p:txBody>
      </p:sp>
      <p:sp>
        <p:nvSpPr>
          <p:cNvPr id="16" name="Left Arrow 15"/>
          <p:cNvSpPr/>
          <p:nvPr/>
        </p:nvSpPr>
        <p:spPr>
          <a:xfrm>
            <a:off x="3143240" y="2214554"/>
            <a:ext cx="3000396" cy="500066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 smtClean="0"/>
              <a:t>Data Request</a:t>
            </a:r>
            <a:endParaRPr lang="en-US" b="1" dirty="0"/>
          </a:p>
        </p:txBody>
      </p:sp>
      <p:sp>
        <p:nvSpPr>
          <p:cNvPr id="17" name="Right Arrow 16"/>
          <p:cNvSpPr/>
          <p:nvPr/>
        </p:nvSpPr>
        <p:spPr>
          <a:xfrm>
            <a:off x="3143240" y="4214818"/>
            <a:ext cx="3071834" cy="57150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 smtClean="0"/>
              <a:t>Data </a:t>
            </a:r>
            <a:r>
              <a:rPr lang="en-US" b="1" dirty="0" smtClean="0"/>
              <a:t> Response</a:t>
            </a:r>
            <a:endParaRPr lang="en-IN" b="1" dirty="0" smtClean="0"/>
          </a:p>
        </p:txBody>
      </p:sp>
      <p:sp>
        <p:nvSpPr>
          <p:cNvPr id="20" name="Rectangle 19"/>
          <p:cNvSpPr/>
          <p:nvPr/>
        </p:nvSpPr>
        <p:spPr>
          <a:xfrm>
            <a:off x="3428992" y="5572140"/>
            <a:ext cx="2786082" cy="64294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2400" b="1" dirty="0" smtClean="0">
                <a:solidFill>
                  <a:schemeClr val="tx1"/>
                </a:solidFill>
              </a:rPr>
              <a:t>Android OS</a:t>
            </a:r>
            <a:endParaRPr lang="en-US" sz="24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xmlns="" val="27679502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ounded Rectangle 10"/>
          <p:cNvSpPr/>
          <p:nvPr/>
        </p:nvSpPr>
        <p:spPr>
          <a:xfrm>
            <a:off x="288062" y="1970602"/>
            <a:ext cx="2857520" cy="3857652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800" b="1" dirty="0" smtClean="0"/>
              <a:t>Application : 01</a:t>
            </a:r>
            <a:endParaRPr lang="en-US" sz="2800" b="1" dirty="0"/>
          </a:p>
        </p:txBody>
      </p:sp>
      <p:sp>
        <p:nvSpPr>
          <p:cNvPr id="18" name="Rounded Rectangle 17"/>
          <p:cNvSpPr/>
          <p:nvPr/>
        </p:nvSpPr>
        <p:spPr>
          <a:xfrm>
            <a:off x="1285852" y="2327792"/>
            <a:ext cx="1857388" cy="928694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b="1" dirty="0" err="1" smtClean="0"/>
              <a:t>ContentProvider</a:t>
            </a:r>
            <a:endParaRPr lang="en-US" b="1" dirty="0"/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 algn="ctr"/>
            <a:r>
              <a:rPr lang="en-IN" sz="4000" b="1" dirty="0" smtClean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Content Provider</a:t>
            </a:r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 smtClean="0"/>
              <a:t>Dr.  </a:t>
            </a:r>
            <a:r>
              <a:rPr lang="en-US" b="1" dirty="0" err="1" smtClean="0"/>
              <a:t>Digvijaysinh</a:t>
            </a:r>
            <a:r>
              <a:rPr lang="en-US" b="1" dirty="0" smtClean="0"/>
              <a:t> Rathod</a:t>
            </a:r>
            <a:endParaRPr lang="en-US" b="1" dirty="0"/>
          </a:p>
        </p:txBody>
      </p:sp>
      <p:sp>
        <p:nvSpPr>
          <p:cNvPr id="12" name="Rounded Rectangle 11"/>
          <p:cNvSpPr/>
          <p:nvPr/>
        </p:nvSpPr>
        <p:spPr>
          <a:xfrm>
            <a:off x="6155798" y="1970602"/>
            <a:ext cx="2857520" cy="4000528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800" b="1" dirty="0" smtClean="0"/>
              <a:t>Application : 02</a:t>
            </a:r>
            <a:endParaRPr lang="en-US" sz="2800" b="1" dirty="0"/>
          </a:p>
        </p:txBody>
      </p:sp>
      <p:sp>
        <p:nvSpPr>
          <p:cNvPr id="13" name="Can 12"/>
          <p:cNvSpPr/>
          <p:nvPr/>
        </p:nvSpPr>
        <p:spPr>
          <a:xfrm>
            <a:off x="714348" y="4756684"/>
            <a:ext cx="571504" cy="714380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 smtClean="0"/>
              <a:t>D</a:t>
            </a:r>
            <a:endParaRPr lang="en-US" b="1" dirty="0"/>
          </a:p>
        </p:txBody>
      </p:sp>
      <p:sp>
        <p:nvSpPr>
          <p:cNvPr id="14" name="Flowchart: Punched Tape 13"/>
          <p:cNvSpPr/>
          <p:nvPr/>
        </p:nvSpPr>
        <p:spPr>
          <a:xfrm>
            <a:off x="2357422" y="4899560"/>
            <a:ext cx="571504" cy="428628"/>
          </a:xfrm>
          <a:prstGeom prst="flowChartPunchedTap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 smtClean="0"/>
              <a:t>F</a:t>
            </a:r>
            <a:endParaRPr lang="en-US" b="1" dirty="0"/>
          </a:p>
        </p:txBody>
      </p:sp>
      <p:sp>
        <p:nvSpPr>
          <p:cNvPr id="15" name="Pentagon 14"/>
          <p:cNvSpPr/>
          <p:nvPr/>
        </p:nvSpPr>
        <p:spPr>
          <a:xfrm>
            <a:off x="1357290" y="4328056"/>
            <a:ext cx="928694" cy="285752"/>
          </a:xfrm>
          <a:prstGeom prst="homePlat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 smtClean="0"/>
              <a:t>A</a:t>
            </a:r>
            <a:endParaRPr lang="en-US" b="1" dirty="0"/>
          </a:p>
        </p:txBody>
      </p:sp>
      <p:sp>
        <p:nvSpPr>
          <p:cNvPr id="16" name="Left Arrow 15"/>
          <p:cNvSpPr/>
          <p:nvPr/>
        </p:nvSpPr>
        <p:spPr>
          <a:xfrm>
            <a:off x="3143240" y="2542106"/>
            <a:ext cx="2357454" cy="500066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 smtClean="0"/>
              <a:t>Data Request</a:t>
            </a:r>
            <a:endParaRPr lang="en-US" b="1" dirty="0"/>
          </a:p>
        </p:txBody>
      </p:sp>
      <p:sp>
        <p:nvSpPr>
          <p:cNvPr id="17" name="Right Arrow 16"/>
          <p:cNvSpPr/>
          <p:nvPr/>
        </p:nvSpPr>
        <p:spPr>
          <a:xfrm>
            <a:off x="3143240" y="4542370"/>
            <a:ext cx="3071834" cy="57150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 smtClean="0"/>
              <a:t>Data </a:t>
            </a:r>
            <a:r>
              <a:rPr lang="en-US" b="1" dirty="0" smtClean="0"/>
              <a:t> Response</a:t>
            </a:r>
            <a:endParaRPr lang="en-IN" b="1" dirty="0" smtClean="0"/>
          </a:p>
        </p:txBody>
      </p:sp>
      <p:sp>
        <p:nvSpPr>
          <p:cNvPr id="20" name="Rectangle 19"/>
          <p:cNvSpPr/>
          <p:nvPr/>
        </p:nvSpPr>
        <p:spPr>
          <a:xfrm>
            <a:off x="3428992" y="5899692"/>
            <a:ext cx="2786082" cy="64294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2400" b="1" dirty="0" smtClean="0">
                <a:solidFill>
                  <a:schemeClr val="tx1"/>
                </a:solidFill>
              </a:rPr>
              <a:t>Android OS</a:t>
            </a:r>
            <a:endParaRPr lang="en-US" sz="2400" b="1" dirty="0">
              <a:solidFill>
                <a:schemeClr val="tx1"/>
              </a:solidFill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6215074" y="4399494"/>
            <a:ext cx="1643074" cy="928694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b="1" dirty="0" err="1" smtClean="0"/>
              <a:t>Cursur</a:t>
            </a:r>
            <a:endParaRPr lang="en-US" b="1" dirty="0"/>
          </a:p>
        </p:txBody>
      </p:sp>
      <p:sp>
        <p:nvSpPr>
          <p:cNvPr id="22" name="Rounded Rectangle 21"/>
          <p:cNvSpPr/>
          <p:nvPr/>
        </p:nvSpPr>
        <p:spPr>
          <a:xfrm>
            <a:off x="5500694" y="2327792"/>
            <a:ext cx="1643074" cy="928694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b="1" dirty="0" smtClean="0"/>
              <a:t>Content Resolver</a:t>
            </a:r>
            <a:endParaRPr lang="en-US" b="1" dirty="0"/>
          </a:p>
        </p:txBody>
      </p:sp>
      <p:sp>
        <p:nvSpPr>
          <p:cNvPr id="26" name="Left Arrow Callout 25"/>
          <p:cNvSpPr/>
          <p:nvPr/>
        </p:nvSpPr>
        <p:spPr>
          <a:xfrm>
            <a:off x="7143768" y="2542106"/>
            <a:ext cx="1071570" cy="642942"/>
          </a:xfrm>
          <a:prstGeom prst="leftArrowCallou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b="1" dirty="0" smtClean="0"/>
              <a:t>URI</a:t>
            </a:r>
            <a:endParaRPr lang="en-US" b="1" dirty="0"/>
          </a:p>
        </p:txBody>
      </p:sp>
      <p:cxnSp>
        <p:nvCxnSpPr>
          <p:cNvPr id="28" name="Straight Arrow Connector 27"/>
          <p:cNvCxnSpPr>
            <a:stCxn id="18" idx="2"/>
            <a:endCxn id="15" idx="0"/>
          </p:cNvCxnSpPr>
          <p:nvPr/>
        </p:nvCxnSpPr>
        <p:spPr>
          <a:xfrm rot="5400000">
            <a:off x="1446588" y="3560098"/>
            <a:ext cx="1071570" cy="464347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/>
          <p:cNvCxnSpPr>
            <a:stCxn id="18" idx="2"/>
          </p:cNvCxnSpPr>
          <p:nvPr/>
        </p:nvCxnSpPr>
        <p:spPr>
          <a:xfrm rot="5400000">
            <a:off x="785788" y="3327926"/>
            <a:ext cx="1500199" cy="1357319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>
            <a:stCxn id="18" idx="2"/>
            <a:endCxn id="14" idx="0"/>
          </p:cNvCxnSpPr>
          <p:nvPr/>
        </p:nvCxnSpPr>
        <p:spPr>
          <a:xfrm rot="16200000" flipH="1">
            <a:off x="1585892" y="3885140"/>
            <a:ext cx="1685937" cy="428628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6643702" y="5113874"/>
          <a:ext cx="2143140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1570"/>
                <a:gridCol w="1071570"/>
              </a:tblGrid>
              <a:tr h="319253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</a:tr>
              <a:tr h="319253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2" name="TextBox 41"/>
          <p:cNvSpPr txBox="1"/>
          <p:nvPr/>
        </p:nvSpPr>
        <p:spPr>
          <a:xfrm>
            <a:off x="642910" y="714356"/>
            <a:ext cx="7715304" cy="92333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just"/>
            <a:r>
              <a:rPr lang="en-IN" dirty="0" err="1" smtClean="0">
                <a:latin typeface="Times New Roman" pitchFamily="18" charset="0"/>
                <a:cs typeface="Times New Roman" pitchFamily="18" charset="0"/>
              </a:rPr>
              <a:t>ContentProvider</a:t>
            </a:r>
            <a:r>
              <a:rPr lang="en-IN" dirty="0" smtClean="0">
                <a:latin typeface="Times New Roman" pitchFamily="18" charset="0"/>
                <a:cs typeface="Times New Roman" pitchFamily="18" charset="0"/>
              </a:rPr>
              <a:t> hides the details related  to database, files etc., What does it mean App:02 request for data and  content provider hides details on the App:01 side and provide detail to App:01</a:t>
            </a:r>
            <a:endParaRPr lang="en-US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3" name="Oval 42"/>
          <p:cNvSpPr/>
          <p:nvPr/>
        </p:nvSpPr>
        <p:spPr>
          <a:xfrm>
            <a:off x="5500694" y="2143116"/>
            <a:ext cx="500066" cy="428628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b="1" dirty="0" smtClean="0"/>
              <a:t>1</a:t>
            </a:r>
            <a:endParaRPr lang="en-US" b="1" dirty="0"/>
          </a:p>
        </p:txBody>
      </p:sp>
      <p:sp>
        <p:nvSpPr>
          <p:cNvPr id="44" name="Oval 43"/>
          <p:cNvSpPr/>
          <p:nvPr/>
        </p:nvSpPr>
        <p:spPr>
          <a:xfrm>
            <a:off x="7572396" y="2214554"/>
            <a:ext cx="500066" cy="428628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b="1" dirty="0" smtClean="0"/>
              <a:t>2</a:t>
            </a:r>
            <a:endParaRPr lang="en-US" b="1" dirty="0"/>
          </a:p>
        </p:txBody>
      </p:sp>
      <p:sp>
        <p:nvSpPr>
          <p:cNvPr id="45" name="Oval 44"/>
          <p:cNvSpPr/>
          <p:nvPr/>
        </p:nvSpPr>
        <p:spPr>
          <a:xfrm>
            <a:off x="6143636" y="4143380"/>
            <a:ext cx="500066" cy="428628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b="1" dirty="0" smtClean="0"/>
              <a:t>3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xmlns="" val="27679502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8206" y="576360"/>
            <a:ext cx="8546121" cy="5467320"/>
          </a:xfrm>
        </p:spPr>
        <p:txBody>
          <a:bodyPr>
            <a:noAutofit/>
          </a:bodyPr>
          <a:lstStyle/>
          <a:p>
            <a:pPr marL="914400" lvl="1" indent="-457200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IN" sz="2600" b="1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Content Resolver: </a:t>
            </a:r>
            <a:r>
              <a:rPr lang="en-US" sz="26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We need to use the </a:t>
            </a:r>
            <a:r>
              <a:rPr lang="en-US" sz="2600" dirty="0" err="1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ContentResolver</a:t>
            </a:r>
            <a:r>
              <a:rPr lang="en-US" sz="26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 object in our application, in order to communicate with the content providers for data access. </a:t>
            </a:r>
          </a:p>
          <a:p>
            <a:pPr marL="914400" lvl="1" indent="-457200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IN" sz="2600" b="1" dirty="0" err="1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ContentRsolver</a:t>
            </a:r>
            <a:r>
              <a:rPr lang="en-IN" sz="2600" b="1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resolver = </a:t>
            </a:r>
            <a:r>
              <a:rPr lang="en-IN" sz="2600" b="1" dirty="0" err="1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getContnetResolver</a:t>
            </a:r>
            <a:r>
              <a:rPr lang="en-IN" sz="2600" b="1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();</a:t>
            </a:r>
          </a:p>
          <a:p>
            <a:pPr marL="914400" lvl="1" indent="-457200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IN" sz="2600" b="1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Cursor </a:t>
            </a:r>
            <a:r>
              <a:rPr lang="en-IN" sz="2600" b="1" dirty="0" err="1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cursor</a:t>
            </a:r>
            <a:r>
              <a:rPr lang="en-IN" sz="2600" b="1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=  </a:t>
            </a:r>
            <a:r>
              <a:rPr lang="en-IN" sz="2600" b="1" dirty="0" err="1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resolver.query</a:t>
            </a:r>
            <a:r>
              <a:rPr lang="en-IN" sz="2600" b="1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(</a:t>
            </a:r>
            <a:r>
              <a:rPr lang="en-IN" sz="2600" b="1" dirty="0" err="1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uri</a:t>
            </a:r>
            <a:r>
              <a:rPr lang="en-IN" sz="2600" b="1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, projection, selection, </a:t>
            </a:r>
            <a:r>
              <a:rPr lang="en-IN" sz="2600" b="1" dirty="0" err="1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selectionArgs</a:t>
            </a:r>
            <a:r>
              <a:rPr lang="en-IN" sz="2600" b="1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, </a:t>
            </a:r>
            <a:r>
              <a:rPr lang="en-IN" sz="2600" b="1" dirty="0" err="1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sortOrder</a:t>
            </a:r>
            <a:r>
              <a:rPr lang="en-IN" sz="2600" b="1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);</a:t>
            </a:r>
          </a:p>
          <a:p>
            <a:pPr marL="914400" lvl="1" indent="-457200" algn="just">
              <a:lnSpc>
                <a:spcPct val="150000"/>
              </a:lnSpc>
              <a:buFont typeface="Wingdings" pitchFamily="2" charset="2"/>
              <a:buChar char="ü"/>
            </a:pPr>
            <a:endParaRPr lang="en-IN" sz="2600" dirty="0" smtClean="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  <a:p>
            <a:pPr marL="914400" lvl="1" indent="-457200" algn="just">
              <a:lnSpc>
                <a:spcPct val="150000"/>
              </a:lnSpc>
            </a:pPr>
            <a:r>
              <a:rPr lang="en-IN" sz="26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</a:t>
            </a:r>
            <a:endParaRPr lang="en-US" sz="2600" dirty="0" smtClean="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2400" b="1" dirty="0" smtClean="0"/>
              <a:t>Content Resolver</a:t>
            </a:r>
            <a:endParaRPr lang="fr-CA" sz="2400" b="1" dirty="0"/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 smtClean="0"/>
              <a:t>Dr.  </a:t>
            </a:r>
            <a:r>
              <a:rPr lang="en-US" b="1" dirty="0" err="1" smtClean="0"/>
              <a:t>Digvijaysinh</a:t>
            </a:r>
            <a:r>
              <a:rPr lang="en-US" b="1" dirty="0" smtClean="0"/>
              <a:t> Rathod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xmlns="" val="27679502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8206" y="576360"/>
            <a:ext cx="8546121" cy="5467320"/>
          </a:xfrm>
        </p:spPr>
        <p:txBody>
          <a:bodyPr>
            <a:noAutofit/>
          </a:bodyPr>
          <a:lstStyle/>
          <a:p>
            <a:pPr marL="914400" lvl="1" indent="-457200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6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The Content Resolver is the single, global instance in your application that provides access to your (and other applications’) content providers. </a:t>
            </a:r>
          </a:p>
          <a:p>
            <a:pPr marL="914400" lvl="1" indent="-457200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6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The Content Resolver behaves exactly as its name implies: it accepts requests from clients, and resolves these requests by directing them to the content provider with a distinct authority. </a:t>
            </a:r>
          </a:p>
          <a:p>
            <a:pPr marL="914400" lvl="1" indent="-457200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6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To do this, the Content Resolver stores a mapping from authorities to Content Providers. </a:t>
            </a:r>
            <a:endParaRPr lang="en-US" sz="2600" b="1" dirty="0" err="1" smtClean="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2400" b="1" dirty="0" smtClean="0"/>
              <a:t>Content Resolver</a:t>
            </a:r>
            <a:endParaRPr lang="fr-CA" sz="2400" b="1" dirty="0"/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 smtClean="0"/>
              <a:t>Dr.  </a:t>
            </a:r>
            <a:r>
              <a:rPr lang="en-US" b="1" dirty="0" err="1" smtClean="0"/>
              <a:t>Digvijaysinh</a:t>
            </a:r>
            <a:r>
              <a:rPr lang="en-US" b="1" dirty="0" smtClean="0"/>
              <a:t> Rathod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xmlns="" val="27679502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8206" y="576360"/>
            <a:ext cx="8546121" cy="5467320"/>
          </a:xfrm>
        </p:spPr>
        <p:txBody>
          <a:bodyPr>
            <a:noAutofit/>
          </a:bodyPr>
          <a:lstStyle/>
          <a:p>
            <a:pPr marL="914400" lvl="1" indent="-457200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6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The Content Resolver includes the CRUD (create, read, update, delete) methods corresponding to the abstract methods (insert, query, update, delete) in the Content Provider class. </a:t>
            </a:r>
          </a:p>
          <a:p>
            <a:pPr marL="914400" lvl="1" indent="-457200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6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The Content Resolver does not know the implementation of the Content Providers it is interacting with (nor does it need to know); each method is passed an URI that specifies the Content Provider to interact with.</a:t>
            </a:r>
            <a:endParaRPr lang="en-US" sz="2600" b="1" dirty="0" err="1" smtClean="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2400" b="1" dirty="0" smtClean="0"/>
              <a:t>Content Resolver</a:t>
            </a:r>
            <a:endParaRPr lang="fr-CA" sz="2400" b="1" dirty="0"/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 smtClean="0"/>
              <a:t>Dr.  </a:t>
            </a:r>
            <a:r>
              <a:rPr lang="en-US" b="1" dirty="0" err="1" smtClean="0"/>
              <a:t>Digvijaysinh</a:t>
            </a:r>
            <a:r>
              <a:rPr lang="en-US" b="1" dirty="0" smtClean="0"/>
              <a:t> Rathod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xmlns="" val="27679502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8206" y="576360"/>
            <a:ext cx="8546121" cy="5467320"/>
          </a:xfrm>
        </p:spPr>
        <p:txBody>
          <a:bodyPr>
            <a:noAutofit/>
          </a:bodyPr>
          <a:lstStyle/>
          <a:p>
            <a:pPr marL="914400" lvl="1" indent="-457200" algn="just">
              <a:lnSpc>
                <a:spcPct val="150000"/>
              </a:lnSpc>
            </a:pPr>
            <a:r>
              <a:rPr lang="en-US" sz="2600" b="1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Cursor </a:t>
            </a:r>
            <a:r>
              <a:rPr lang="en-US" sz="2600" b="1" dirty="0" err="1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cursor</a:t>
            </a:r>
            <a:r>
              <a:rPr lang="en-US" sz="26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= </a:t>
            </a:r>
            <a:r>
              <a:rPr lang="en-US" sz="2600" dirty="0" err="1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getContentResolver</a:t>
            </a:r>
            <a:r>
              <a:rPr lang="en-US" sz="26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().query(</a:t>
            </a:r>
          </a:p>
          <a:p>
            <a:pPr marL="914400" lvl="1" indent="-457200" algn="just">
              <a:lnSpc>
                <a:spcPct val="150000"/>
              </a:lnSpc>
            </a:pPr>
            <a:r>
              <a:rPr lang="en-US" sz="26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URI,   	// The content URI of the words table</a:t>
            </a:r>
          </a:p>
          <a:p>
            <a:pPr marL="914400" lvl="1" indent="-457200" algn="just">
              <a:lnSpc>
                <a:spcPct val="150000"/>
              </a:lnSpc>
            </a:pPr>
            <a:r>
              <a:rPr lang="en-US" sz="26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projection,      // The columns to return for each row</a:t>
            </a:r>
          </a:p>
          <a:p>
            <a:pPr marL="914400" lvl="1" indent="-457200" algn="just">
              <a:lnSpc>
                <a:spcPct val="150000"/>
              </a:lnSpc>
            </a:pPr>
            <a:r>
              <a:rPr lang="en-US" sz="2600" dirty="0" err="1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selectionClause</a:t>
            </a:r>
            <a:r>
              <a:rPr lang="en-US" sz="26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, // Selection criteria WHERE </a:t>
            </a:r>
            <a:r>
              <a:rPr lang="en-US" sz="2600" dirty="0" err="1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col</a:t>
            </a:r>
            <a:r>
              <a:rPr lang="en-US" sz="26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 = value</a:t>
            </a:r>
          </a:p>
          <a:p>
            <a:pPr marL="914400" lvl="1" indent="-457200" algn="just">
              <a:lnSpc>
                <a:spcPct val="150000"/>
              </a:lnSpc>
            </a:pPr>
            <a:r>
              <a:rPr lang="en-US" sz="26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600" dirty="0" err="1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selectionArgs</a:t>
            </a:r>
            <a:r>
              <a:rPr lang="en-US" sz="26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,    // Selection criteria</a:t>
            </a:r>
          </a:p>
          <a:p>
            <a:pPr marL="914400" lvl="1" indent="-457200" algn="just">
              <a:lnSpc>
                <a:spcPct val="150000"/>
              </a:lnSpc>
            </a:pPr>
            <a:r>
              <a:rPr lang="en-US" sz="26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600" dirty="0" err="1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sortOrder</a:t>
            </a:r>
            <a:r>
              <a:rPr lang="en-US" sz="26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);         // The sort order for the returned rows</a:t>
            </a:r>
          </a:p>
          <a:p>
            <a:pPr marL="914400" lvl="1" indent="-457200" algn="just">
              <a:lnSpc>
                <a:spcPct val="150000"/>
              </a:lnSpc>
            </a:pPr>
            <a:r>
              <a:rPr lang="en-IN" sz="2600" b="1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Example </a:t>
            </a:r>
            <a:r>
              <a:rPr lang="en-IN" sz="26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Select id, name from </a:t>
            </a:r>
            <a:r>
              <a:rPr lang="en-IN" sz="2600" dirty="0" err="1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tbl_student</a:t>
            </a:r>
            <a:r>
              <a:rPr lang="en-IN" sz="26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where id = </a:t>
            </a:r>
            <a:r>
              <a:rPr lang="en-IN" sz="2600" dirty="0" err="1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student_id</a:t>
            </a:r>
            <a:endParaRPr lang="en-US" sz="2600" dirty="0" smtClean="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2400" b="1" dirty="0" smtClean="0"/>
              <a:t>Content Resolver</a:t>
            </a:r>
            <a:endParaRPr lang="fr-CA" sz="2400" b="1" dirty="0"/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 smtClean="0"/>
              <a:t>Dr.  </a:t>
            </a:r>
            <a:r>
              <a:rPr lang="en-US" b="1" dirty="0" err="1" smtClean="0"/>
              <a:t>Digvijaysinh</a:t>
            </a:r>
            <a:r>
              <a:rPr lang="en-US" b="1" dirty="0" smtClean="0"/>
              <a:t> Rathod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xmlns="" val="27679502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9022" y="317048"/>
            <a:ext cx="8546121" cy="5467320"/>
          </a:xfrm>
        </p:spPr>
        <p:txBody>
          <a:bodyPr>
            <a:noAutofit/>
          </a:bodyPr>
          <a:lstStyle/>
          <a:p>
            <a:pPr marL="914400" lvl="1" indent="-457200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6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A content URI is a URI that identifies data in a provider. Content URIs include the symbolic name of the entire provider (its authority) and a name that points to a table (a path).</a:t>
            </a:r>
          </a:p>
          <a:p>
            <a:pPr marL="914400" lvl="1" indent="-457200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6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  <a:hlinkClick r:id="rId2"/>
              </a:rPr>
              <a:t>http://domain-name/data-in-the-site</a:t>
            </a:r>
            <a:r>
              <a:rPr lang="en-US" sz="26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- </a:t>
            </a:r>
            <a:r>
              <a:rPr lang="en-US" sz="2600" dirty="0" err="1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Uniquer</a:t>
            </a:r>
            <a:r>
              <a:rPr lang="en-US" sz="26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domains in http </a:t>
            </a:r>
            <a:r>
              <a:rPr lang="en-US" sz="2600" dirty="0" err="1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urls</a:t>
            </a:r>
            <a:r>
              <a:rPr lang="en-US" sz="26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.</a:t>
            </a:r>
          </a:p>
          <a:p>
            <a:pPr marL="914400" lvl="1" indent="-457200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6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content://authority-name/data-in-the-provider</a:t>
            </a:r>
          </a:p>
          <a:p>
            <a:pPr marL="914400" lvl="1" indent="-457200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6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content://user_dictionary/words</a:t>
            </a:r>
          </a:p>
          <a:p>
            <a:pPr marL="914400" lvl="1" indent="-457200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6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where the </a:t>
            </a:r>
            <a:r>
              <a:rPr lang="en-US" sz="2600" dirty="0" err="1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user_dictionary</a:t>
            </a:r>
            <a:r>
              <a:rPr lang="en-US" sz="26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 string is the </a:t>
            </a:r>
            <a:r>
              <a:rPr lang="en-US" sz="2600" b="1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provider's authority,</a:t>
            </a:r>
            <a:r>
              <a:rPr lang="en-US" sz="26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and the words string is the table's path. </a:t>
            </a: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2400" b="1" dirty="0" err="1" smtClean="0"/>
              <a:t>ContentProvider</a:t>
            </a:r>
            <a:r>
              <a:rPr lang="en-IN" sz="2400" b="1" dirty="0" smtClean="0"/>
              <a:t> Authorities and URI</a:t>
            </a:r>
            <a:endParaRPr lang="fr-CA" sz="2400" b="1" dirty="0"/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 smtClean="0"/>
              <a:t>Dr.  </a:t>
            </a:r>
            <a:r>
              <a:rPr lang="en-US" b="1" dirty="0" err="1" smtClean="0"/>
              <a:t>Digvijaysinh</a:t>
            </a:r>
            <a:r>
              <a:rPr lang="en-US" b="1" dirty="0" smtClean="0"/>
              <a:t> Rathod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xmlns="" val="27679502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ounded Rectangle 10"/>
          <p:cNvSpPr/>
          <p:nvPr/>
        </p:nvSpPr>
        <p:spPr>
          <a:xfrm>
            <a:off x="288062" y="1970602"/>
            <a:ext cx="2857520" cy="3857652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400" b="1" dirty="0" smtClean="0">
                <a:latin typeface="Times New Roman" pitchFamily="18" charset="0"/>
                <a:cs typeface="Times New Roman" pitchFamily="18" charset="0"/>
              </a:rPr>
              <a:t>Application : 01</a:t>
            </a:r>
            <a:endParaRPr lang="en-US" sz="2400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1285852" y="2327792"/>
            <a:ext cx="1857388" cy="928694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b="1" dirty="0" err="1" smtClean="0">
                <a:latin typeface="Times New Roman" pitchFamily="18" charset="0"/>
                <a:cs typeface="Times New Roman" pitchFamily="18" charset="0"/>
              </a:rPr>
              <a:t>ContentProvider</a:t>
            </a:r>
            <a:endParaRPr lang="en-US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2400" b="1" dirty="0" err="1" smtClean="0"/>
              <a:t>ContentProvider</a:t>
            </a:r>
            <a:r>
              <a:rPr lang="en-IN" sz="2400" b="1" dirty="0" smtClean="0"/>
              <a:t> Authorities and URI</a:t>
            </a:r>
            <a:endParaRPr lang="fr-CA" sz="2400" b="1" dirty="0"/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 smtClean="0">
                <a:latin typeface="Times New Roman" pitchFamily="18" charset="0"/>
                <a:cs typeface="Times New Roman" pitchFamily="18" charset="0"/>
              </a:rPr>
              <a:t>Dr.  </a:t>
            </a:r>
            <a:r>
              <a:rPr lang="en-US" b="1" dirty="0" err="1" smtClean="0">
                <a:latin typeface="Times New Roman" pitchFamily="18" charset="0"/>
                <a:cs typeface="Times New Roman" pitchFamily="18" charset="0"/>
              </a:rPr>
              <a:t>Digvijaysinh</a:t>
            </a:r>
            <a:r>
              <a:rPr lang="en-US" b="1" dirty="0" smtClean="0">
                <a:latin typeface="Times New Roman" pitchFamily="18" charset="0"/>
                <a:cs typeface="Times New Roman" pitchFamily="18" charset="0"/>
              </a:rPr>
              <a:t> Rathod</a:t>
            </a:r>
            <a:endParaRPr lang="en-US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6155798" y="1970602"/>
            <a:ext cx="2857520" cy="2815720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400" b="1" dirty="0" smtClean="0">
                <a:latin typeface="Times New Roman" pitchFamily="18" charset="0"/>
                <a:cs typeface="Times New Roman" pitchFamily="18" charset="0"/>
              </a:rPr>
              <a:t>Application : 02</a:t>
            </a:r>
            <a:endParaRPr lang="en-US" sz="2400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3" name="Can 12"/>
          <p:cNvSpPr/>
          <p:nvPr/>
        </p:nvSpPr>
        <p:spPr>
          <a:xfrm>
            <a:off x="714348" y="4756684"/>
            <a:ext cx="571504" cy="714380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 smtClean="0">
                <a:latin typeface="Times New Roman" pitchFamily="18" charset="0"/>
                <a:cs typeface="Times New Roman" pitchFamily="18" charset="0"/>
              </a:rPr>
              <a:t>UD</a:t>
            </a:r>
            <a:endParaRPr lang="en-US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4" name="Flowchart: Punched Tape 13"/>
          <p:cNvSpPr/>
          <p:nvPr/>
        </p:nvSpPr>
        <p:spPr>
          <a:xfrm>
            <a:off x="2357422" y="4899560"/>
            <a:ext cx="571504" cy="428628"/>
          </a:xfrm>
          <a:prstGeom prst="flowChartPunchedTap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 smtClean="0">
                <a:latin typeface="Times New Roman" pitchFamily="18" charset="0"/>
                <a:cs typeface="Times New Roman" pitchFamily="18" charset="0"/>
              </a:rPr>
              <a:t>F</a:t>
            </a:r>
            <a:endParaRPr lang="en-US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5" name="Pentagon 14"/>
          <p:cNvSpPr/>
          <p:nvPr/>
        </p:nvSpPr>
        <p:spPr>
          <a:xfrm>
            <a:off x="1357290" y="4328056"/>
            <a:ext cx="928694" cy="285752"/>
          </a:xfrm>
          <a:prstGeom prst="homePlat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 smtClean="0">
                <a:latin typeface="Times New Roman" pitchFamily="18" charset="0"/>
                <a:cs typeface="Times New Roman" pitchFamily="18" charset="0"/>
              </a:rPr>
              <a:t>Call</a:t>
            </a:r>
            <a:endParaRPr lang="en-US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6" name="Left Arrow 15"/>
          <p:cNvSpPr/>
          <p:nvPr/>
        </p:nvSpPr>
        <p:spPr>
          <a:xfrm>
            <a:off x="3143240" y="2542106"/>
            <a:ext cx="2357454" cy="500066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 smtClean="0">
                <a:latin typeface="Times New Roman" pitchFamily="18" charset="0"/>
                <a:cs typeface="Times New Roman" pitchFamily="18" charset="0"/>
              </a:rPr>
              <a:t>Data Request</a:t>
            </a:r>
            <a:endParaRPr lang="en-US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5500694" y="2327792"/>
            <a:ext cx="1643074" cy="928694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b="1" dirty="0" smtClean="0">
                <a:latin typeface="Times New Roman" pitchFamily="18" charset="0"/>
                <a:cs typeface="Times New Roman" pitchFamily="18" charset="0"/>
              </a:rPr>
              <a:t>Content Resolver</a:t>
            </a:r>
            <a:endParaRPr lang="en-US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26" name="Left Arrow Callout 25"/>
          <p:cNvSpPr/>
          <p:nvPr/>
        </p:nvSpPr>
        <p:spPr>
          <a:xfrm>
            <a:off x="7143768" y="2542106"/>
            <a:ext cx="1071570" cy="642942"/>
          </a:xfrm>
          <a:prstGeom prst="leftArrowCallou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b="1" dirty="0" smtClean="0">
                <a:latin typeface="Times New Roman" pitchFamily="18" charset="0"/>
                <a:cs typeface="Times New Roman" pitchFamily="18" charset="0"/>
              </a:rPr>
              <a:t>URI</a:t>
            </a:r>
            <a:endParaRPr lang="en-US" b="1" dirty="0">
              <a:latin typeface="Times New Roman" pitchFamily="18" charset="0"/>
              <a:cs typeface="Times New Roman" pitchFamily="18" charset="0"/>
            </a:endParaRPr>
          </a:p>
        </p:txBody>
      </p:sp>
      <p:cxnSp>
        <p:nvCxnSpPr>
          <p:cNvPr id="28" name="Straight Arrow Connector 27"/>
          <p:cNvCxnSpPr>
            <a:stCxn id="18" idx="2"/>
            <a:endCxn id="15" idx="0"/>
          </p:cNvCxnSpPr>
          <p:nvPr/>
        </p:nvCxnSpPr>
        <p:spPr>
          <a:xfrm rot="5400000">
            <a:off x="1446588" y="3560098"/>
            <a:ext cx="1071570" cy="464347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/>
          <p:cNvCxnSpPr>
            <a:stCxn id="18" idx="2"/>
          </p:cNvCxnSpPr>
          <p:nvPr/>
        </p:nvCxnSpPr>
        <p:spPr>
          <a:xfrm rot="5400000">
            <a:off x="785788" y="3327926"/>
            <a:ext cx="1500199" cy="1357319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>
            <a:stCxn id="18" idx="2"/>
            <a:endCxn id="14" idx="0"/>
          </p:cNvCxnSpPr>
          <p:nvPr/>
        </p:nvCxnSpPr>
        <p:spPr>
          <a:xfrm rot="16200000" flipH="1">
            <a:off x="1585892" y="3885140"/>
            <a:ext cx="1685937" cy="428628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642910" y="714356"/>
            <a:ext cx="7715304" cy="64633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just"/>
            <a:r>
              <a:rPr lang="en-IN" dirty="0" smtClean="0">
                <a:latin typeface="Times New Roman" pitchFamily="18" charset="0"/>
                <a:cs typeface="Times New Roman" pitchFamily="18" charset="0"/>
              </a:rPr>
              <a:t>Each </a:t>
            </a:r>
            <a:r>
              <a:rPr lang="en-IN" dirty="0" err="1" smtClean="0">
                <a:latin typeface="Times New Roman" pitchFamily="18" charset="0"/>
                <a:cs typeface="Times New Roman" pitchFamily="18" charset="0"/>
              </a:rPr>
              <a:t>ContenrProvider</a:t>
            </a:r>
            <a:r>
              <a:rPr lang="en-IN" dirty="0" smtClean="0">
                <a:latin typeface="Times New Roman" pitchFamily="18" charset="0"/>
                <a:cs typeface="Times New Roman" pitchFamily="18" charset="0"/>
              </a:rPr>
              <a:t> has unique Authority and </a:t>
            </a:r>
            <a:r>
              <a:rPr lang="en-IN" dirty="0" err="1" smtClean="0">
                <a:latin typeface="Times New Roman" pitchFamily="18" charset="0"/>
                <a:cs typeface="Times New Roman" pitchFamily="18" charset="0"/>
              </a:rPr>
              <a:t>Applicaiton</a:t>
            </a:r>
            <a:r>
              <a:rPr lang="en-IN" dirty="0" smtClean="0">
                <a:latin typeface="Times New Roman" pitchFamily="18" charset="0"/>
                <a:cs typeface="Times New Roman" pitchFamily="18" charset="0"/>
              </a:rPr>
              <a:t> : 02 can resolved the content provider using content://&lt;AuthorityName&gt;/table-name</a:t>
            </a:r>
            <a:endParaRPr lang="en-US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3" name="Oval 42"/>
          <p:cNvSpPr/>
          <p:nvPr/>
        </p:nvSpPr>
        <p:spPr>
          <a:xfrm>
            <a:off x="5500694" y="2143116"/>
            <a:ext cx="500066" cy="428628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b="1" dirty="0" smtClean="0">
                <a:latin typeface="Times New Roman" pitchFamily="18" charset="0"/>
                <a:cs typeface="Times New Roman" pitchFamily="18" charset="0"/>
              </a:rPr>
              <a:t>1</a:t>
            </a:r>
            <a:endParaRPr lang="en-US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4" name="Oval 43"/>
          <p:cNvSpPr/>
          <p:nvPr/>
        </p:nvSpPr>
        <p:spPr>
          <a:xfrm>
            <a:off x="7572396" y="2214554"/>
            <a:ext cx="500066" cy="428628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b="1" dirty="0" smtClean="0">
                <a:latin typeface="Times New Roman" pitchFamily="18" charset="0"/>
                <a:cs typeface="Times New Roman" pitchFamily="18" charset="0"/>
              </a:rPr>
              <a:t>2</a:t>
            </a:r>
            <a:endParaRPr lang="en-US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3643306" y="4643447"/>
            <a:ext cx="5500694" cy="498663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marL="914400" lvl="1" indent="-457200" algn="just">
              <a:lnSpc>
                <a:spcPct val="150000"/>
              </a:lnSpc>
            </a:pPr>
            <a:r>
              <a:rPr lang="en-US" sz="2000" b="1" dirty="0" err="1" smtClean="0">
                <a:latin typeface="Times New Roman" pitchFamily="18" charset="0"/>
                <a:cs typeface="Times New Roman" pitchFamily="18" charset="0"/>
              </a:rPr>
              <a:t>UserDictionary.Words.CONTENT_URI</a:t>
            </a:r>
            <a:endParaRPr lang="en-US" sz="2000" b="1" dirty="0" smtClean="0">
              <a:latin typeface="Times New Roman" pitchFamily="18" charset="0"/>
              <a:cs typeface="Times New Roman" pitchFamily="18" charset="0"/>
            </a:endParaRPr>
          </a:p>
        </p:txBody>
      </p:sp>
      <p:cxnSp>
        <p:nvCxnSpPr>
          <p:cNvPr id="33" name="Straight Arrow Connector 32"/>
          <p:cNvCxnSpPr/>
          <p:nvPr/>
        </p:nvCxnSpPr>
        <p:spPr>
          <a:xfrm rot="5400000" flipH="1" flipV="1">
            <a:off x="6322231" y="3464719"/>
            <a:ext cx="1500198" cy="857256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4714876" y="5357826"/>
            <a:ext cx="4286248" cy="504625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marL="914400" lvl="1" indent="-457200" algn="just">
              <a:lnSpc>
                <a:spcPct val="150000"/>
              </a:lnSpc>
            </a:pPr>
            <a:r>
              <a:rPr lang="en-US" sz="2000" b="1" dirty="0" err="1" smtClean="0">
                <a:latin typeface="Times New Roman" pitchFamily="18" charset="0"/>
                <a:cs typeface="Times New Roman" pitchFamily="18" charset="0"/>
              </a:rPr>
              <a:t>CallLog.Calls.CONTENT_URI</a:t>
            </a:r>
            <a:endParaRPr lang="en-US" sz="2000" b="1" dirty="0" smtClean="0">
              <a:latin typeface="Times New Roman" pitchFamily="18" charset="0"/>
              <a:cs typeface="Times New Roman" pitchFamily="18" charset="0"/>
            </a:endParaRPr>
          </a:p>
        </p:txBody>
      </p:sp>
      <p:cxnSp>
        <p:nvCxnSpPr>
          <p:cNvPr id="35" name="Straight Arrow Connector 34"/>
          <p:cNvCxnSpPr/>
          <p:nvPr/>
        </p:nvCxnSpPr>
        <p:spPr>
          <a:xfrm rot="5400000" flipH="1" flipV="1">
            <a:off x="6215074" y="3643314"/>
            <a:ext cx="2214578" cy="1214446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xmlns="" val="27679502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ounded Rectangle 10"/>
          <p:cNvSpPr/>
          <p:nvPr/>
        </p:nvSpPr>
        <p:spPr>
          <a:xfrm>
            <a:off x="83342" y="2393690"/>
            <a:ext cx="2857520" cy="3857652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800" b="1" dirty="0" smtClean="0"/>
              <a:t>Application : 01</a:t>
            </a:r>
            <a:endParaRPr lang="en-US" sz="2800" b="1" dirty="0"/>
          </a:p>
        </p:txBody>
      </p:sp>
      <p:sp>
        <p:nvSpPr>
          <p:cNvPr id="18" name="Rounded Rectangle 17"/>
          <p:cNvSpPr/>
          <p:nvPr/>
        </p:nvSpPr>
        <p:spPr>
          <a:xfrm>
            <a:off x="1081132" y="2750880"/>
            <a:ext cx="1857388" cy="928694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b="1" dirty="0" err="1" smtClean="0"/>
              <a:t>ContentProvider</a:t>
            </a:r>
            <a:endParaRPr lang="en-US" b="1" dirty="0"/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 algn="ctr"/>
            <a:r>
              <a:rPr lang="en-IN" sz="4000" b="1" dirty="0" smtClean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Cursor</a:t>
            </a:r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 smtClean="0"/>
              <a:t>Dr.  </a:t>
            </a:r>
            <a:r>
              <a:rPr lang="en-US" b="1" dirty="0" err="1" smtClean="0"/>
              <a:t>Digvijaysinh</a:t>
            </a:r>
            <a:r>
              <a:rPr lang="en-US" b="1" dirty="0" smtClean="0"/>
              <a:t> Rathod</a:t>
            </a:r>
            <a:endParaRPr lang="en-US" b="1" dirty="0"/>
          </a:p>
        </p:txBody>
      </p:sp>
      <p:sp>
        <p:nvSpPr>
          <p:cNvPr id="12" name="Rounded Rectangle 11"/>
          <p:cNvSpPr/>
          <p:nvPr/>
        </p:nvSpPr>
        <p:spPr>
          <a:xfrm>
            <a:off x="5951078" y="2393690"/>
            <a:ext cx="2857520" cy="4000528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800" b="1" dirty="0" smtClean="0"/>
              <a:t>Application : 02</a:t>
            </a:r>
            <a:endParaRPr lang="en-US" sz="2800" b="1" dirty="0"/>
          </a:p>
        </p:txBody>
      </p:sp>
      <p:sp>
        <p:nvSpPr>
          <p:cNvPr id="13" name="Can 12"/>
          <p:cNvSpPr/>
          <p:nvPr/>
        </p:nvSpPr>
        <p:spPr>
          <a:xfrm>
            <a:off x="509628" y="5179772"/>
            <a:ext cx="571504" cy="714380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 smtClean="0"/>
              <a:t>D</a:t>
            </a:r>
            <a:endParaRPr lang="en-US" b="1" dirty="0"/>
          </a:p>
        </p:txBody>
      </p:sp>
      <p:sp>
        <p:nvSpPr>
          <p:cNvPr id="14" name="Flowchart: Punched Tape 13"/>
          <p:cNvSpPr/>
          <p:nvPr/>
        </p:nvSpPr>
        <p:spPr>
          <a:xfrm>
            <a:off x="2152702" y="5322648"/>
            <a:ext cx="571504" cy="428628"/>
          </a:xfrm>
          <a:prstGeom prst="flowChartPunchedTap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 smtClean="0"/>
              <a:t>F</a:t>
            </a:r>
            <a:endParaRPr lang="en-US" b="1" dirty="0"/>
          </a:p>
        </p:txBody>
      </p:sp>
      <p:sp>
        <p:nvSpPr>
          <p:cNvPr id="15" name="Pentagon 14"/>
          <p:cNvSpPr/>
          <p:nvPr/>
        </p:nvSpPr>
        <p:spPr>
          <a:xfrm>
            <a:off x="1152570" y="4751144"/>
            <a:ext cx="928694" cy="285752"/>
          </a:xfrm>
          <a:prstGeom prst="homePlat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 smtClean="0"/>
              <a:t>A</a:t>
            </a:r>
            <a:endParaRPr lang="en-US" b="1" dirty="0"/>
          </a:p>
        </p:txBody>
      </p:sp>
      <p:sp>
        <p:nvSpPr>
          <p:cNvPr id="17" name="Right Arrow 16"/>
          <p:cNvSpPr/>
          <p:nvPr/>
        </p:nvSpPr>
        <p:spPr>
          <a:xfrm>
            <a:off x="2938520" y="3066270"/>
            <a:ext cx="3071834" cy="57150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 smtClean="0"/>
              <a:t>Data </a:t>
            </a:r>
            <a:r>
              <a:rPr lang="en-US" b="1" dirty="0" smtClean="0"/>
              <a:t> Response</a:t>
            </a:r>
            <a:endParaRPr lang="en-IN" b="1" dirty="0" smtClean="0"/>
          </a:p>
        </p:txBody>
      </p:sp>
      <p:sp>
        <p:nvSpPr>
          <p:cNvPr id="20" name="Rectangle 19"/>
          <p:cNvSpPr/>
          <p:nvPr/>
        </p:nvSpPr>
        <p:spPr>
          <a:xfrm>
            <a:off x="3428992" y="5899692"/>
            <a:ext cx="2786082" cy="64294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2400" b="1" dirty="0" smtClean="0">
                <a:solidFill>
                  <a:schemeClr val="tx1"/>
                </a:solidFill>
              </a:rPr>
              <a:t>Android OS</a:t>
            </a:r>
            <a:endParaRPr lang="en-US" sz="2400" b="1" dirty="0">
              <a:solidFill>
                <a:schemeClr val="tx1"/>
              </a:solidFill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6010354" y="2923394"/>
            <a:ext cx="1643074" cy="928694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b="1" dirty="0" smtClean="0"/>
              <a:t>Cursor</a:t>
            </a:r>
            <a:endParaRPr lang="en-US" b="1" dirty="0"/>
          </a:p>
        </p:txBody>
      </p:sp>
      <p:cxnSp>
        <p:nvCxnSpPr>
          <p:cNvPr id="28" name="Straight Arrow Connector 27"/>
          <p:cNvCxnSpPr>
            <a:stCxn id="18" idx="2"/>
            <a:endCxn id="15" idx="0"/>
          </p:cNvCxnSpPr>
          <p:nvPr/>
        </p:nvCxnSpPr>
        <p:spPr>
          <a:xfrm rot="5400000">
            <a:off x="1241868" y="3983186"/>
            <a:ext cx="1071570" cy="464347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/>
          <p:cNvCxnSpPr>
            <a:stCxn id="18" idx="2"/>
          </p:cNvCxnSpPr>
          <p:nvPr/>
        </p:nvCxnSpPr>
        <p:spPr>
          <a:xfrm rot="5400000">
            <a:off x="581068" y="3751014"/>
            <a:ext cx="1500199" cy="1357319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>
            <a:stCxn id="18" idx="2"/>
            <a:endCxn id="14" idx="0"/>
          </p:cNvCxnSpPr>
          <p:nvPr/>
        </p:nvCxnSpPr>
        <p:spPr>
          <a:xfrm rot="16200000" flipH="1">
            <a:off x="1381172" y="4308228"/>
            <a:ext cx="1685937" cy="428628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6367544" y="3852088"/>
          <a:ext cx="21431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1570"/>
                <a:gridCol w="1071570"/>
              </a:tblGrid>
              <a:tr h="319253">
                <a:tc>
                  <a:txBody>
                    <a:bodyPr/>
                    <a:lstStyle/>
                    <a:p>
                      <a:r>
                        <a:rPr lang="en-IN" dirty="0" smtClean="0"/>
                        <a:t>ID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 smtClean="0"/>
                        <a:t>Name</a:t>
                      </a:r>
                      <a:endParaRPr lang="en-US" dirty="0"/>
                    </a:p>
                  </a:txBody>
                  <a:tcPr/>
                </a:tc>
              </a:tr>
              <a:tr h="319253">
                <a:tc>
                  <a:txBody>
                    <a:bodyPr/>
                    <a:lstStyle/>
                    <a:p>
                      <a:r>
                        <a:rPr lang="en-IN" dirty="0" smtClean="0"/>
                        <a:t>01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 err="1" smtClean="0"/>
                        <a:t>Digvijay</a:t>
                      </a:r>
                      <a:endParaRPr lang="en-US" dirty="0"/>
                    </a:p>
                  </a:txBody>
                  <a:tcPr/>
                </a:tc>
              </a:tr>
              <a:tr h="319253">
                <a:tc>
                  <a:txBody>
                    <a:bodyPr/>
                    <a:lstStyle/>
                    <a:p>
                      <a:r>
                        <a:rPr lang="en-IN" dirty="0" smtClean="0"/>
                        <a:t>02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 err="1" smtClean="0"/>
                        <a:t>Parag</a:t>
                      </a:r>
                      <a:endParaRPr lang="en-US" dirty="0"/>
                    </a:p>
                  </a:txBody>
                  <a:tcPr/>
                </a:tc>
              </a:tr>
              <a:tr h="319253">
                <a:tc>
                  <a:txBody>
                    <a:bodyPr/>
                    <a:lstStyle/>
                    <a:p>
                      <a:r>
                        <a:rPr lang="en-IN" dirty="0" smtClean="0"/>
                        <a:t>.......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 smtClean="0"/>
                        <a:t>........</a:t>
                      </a:r>
                      <a:endParaRPr lang="en-US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2" name="TextBox 41"/>
          <p:cNvSpPr txBox="1"/>
          <p:nvPr/>
        </p:nvSpPr>
        <p:spPr>
          <a:xfrm>
            <a:off x="642910" y="714356"/>
            <a:ext cx="7715304" cy="120032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just"/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They must be created when you are executing a SELECT statement that returns more than one row. Even though the cursor stores multiple records, </a:t>
            </a:r>
            <a:r>
              <a:rPr lang="en-US" b="1" dirty="0" smtClean="0">
                <a:latin typeface="Times New Roman" pitchFamily="18" charset="0"/>
                <a:cs typeface="Times New Roman" pitchFamily="18" charset="0"/>
              </a:rPr>
              <a:t>only one record can be processed at a time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, which is called as current row. When you fetch a row the current row position moves to next row.</a:t>
            </a:r>
            <a:endParaRPr lang="en-US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5" name="Oval 44"/>
          <p:cNvSpPr/>
          <p:nvPr/>
        </p:nvSpPr>
        <p:spPr>
          <a:xfrm>
            <a:off x="5938916" y="2667280"/>
            <a:ext cx="500066" cy="428628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b="1" dirty="0" smtClean="0"/>
              <a:t>3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xmlns="" val="27679502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8206" y="576360"/>
            <a:ext cx="8546121" cy="5467320"/>
          </a:xfrm>
        </p:spPr>
        <p:txBody>
          <a:bodyPr>
            <a:noAutofit/>
          </a:bodyPr>
          <a:lstStyle/>
          <a:p>
            <a:pPr marL="914400" lvl="1" indent="-457200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6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while (</a:t>
            </a:r>
            <a:r>
              <a:rPr lang="en-US" sz="2600" dirty="0" err="1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cursor.moveToNext</a:t>
            </a:r>
            <a:r>
              <a:rPr lang="en-US" sz="26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()) {</a:t>
            </a:r>
          </a:p>
          <a:p>
            <a:pPr marL="914400" lvl="1" indent="-457200" algn="just">
              <a:lnSpc>
                <a:spcPct val="150000"/>
              </a:lnSpc>
            </a:pPr>
            <a:r>
              <a:rPr lang="en-IN" sz="26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							</a:t>
            </a:r>
          </a:p>
          <a:p>
            <a:pPr marL="914400" lvl="1" indent="-457200" algn="just">
              <a:lnSpc>
                <a:spcPct val="150000"/>
              </a:lnSpc>
            </a:pPr>
            <a:r>
              <a:rPr lang="en-IN" sz="26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}</a:t>
            </a:r>
            <a:endParaRPr lang="en-US" sz="2600" dirty="0" smtClean="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2400" b="1" dirty="0" smtClean="0"/>
              <a:t>Cursor</a:t>
            </a:r>
            <a:endParaRPr lang="fr-CA" sz="2400" b="1" dirty="0"/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 smtClean="0"/>
              <a:t>Dr.  </a:t>
            </a:r>
            <a:r>
              <a:rPr lang="en-US" b="1" dirty="0" err="1" smtClean="0"/>
              <a:t>Digvijaysinh</a:t>
            </a:r>
            <a:r>
              <a:rPr lang="en-US" b="1" dirty="0" smtClean="0"/>
              <a:t> Rathod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xmlns="" val="27679502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8206" y="576360"/>
            <a:ext cx="8546121" cy="5467320"/>
          </a:xfrm>
        </p:spPr>
        <p:txBody>
          <a:bodyPr>
            <a:noAutofit/>
          </a:bodyPr>
          <a:lstStyle/>
          <a:p>
            <a:pPr marL="914400" lvl="1" indent="-457200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600" b="1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Implementation of Android Services and discussion of source code.</a:t>
            </a:r>
          </a:p>
          <a:p>
            <a:pPr marL="914400" lvl="1" indent="-457200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600" dirty="0" err="1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contentprovider_contacts_example</a:t>
            </a:r>
            <a:r>
              <a:rPr lang="en-US" sz="26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(Application will not </a:t>
            </a:r>
            <a:r>
              <a:rPr lang="en-US" sz="260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run successfully)</a:t>
            </a:r>
          </a:p>
          <a:p>
            <a:pPr marL="914400" lvl="1" indent="-457200" algn="just">
              <a:lnSpc>
                <a:spcPct val="150000"/>
              </a:lnSpc>
            </a:pPr>
            <a:endParaRPr lang="en-US" sz="2600" dirty="0" smtClean="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  <a:p>
            <a:pPr marL="914400" lvl="1" indent="-457200" algn="just">
              <a:lnSpc>
                <a:spcPct val="150000"/>
              </a:lnSpc>
            </a:pPr>
            <a:endParaRPr lang="en-US" sz="2600" b="1" dirty="0" err="1" smtClean="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2400" b="1" dirty="0" err="1" smtClean="0"/>
              <a:t>ContentProvider</a:t>
            </a:r>
            <a:r>
              <a:rPr lang="en-IN" sz="2400" b="1" dirty="0" smtClean="0"/>
              <a:t> Authorities and URI</a:t>
            </a:r>
            <a:endParaRPr lang="fr-CA" sz="2400" b="1" dirty="0"/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 smtClean="0"/>
              <a:t>Dr.  </a:t>
            </a:r>
            <a:r>
              <a:rPr lang="en-US" b="1" dirty="0" err="1" smtClean="0"/>
              <a:t>Digvijaysinh</a:t>
            </a:r>
            <a:r>
              <a:rPr lang="en-US" b="1" dirty="0" smtClean="0"/>
              <a:t> Rathod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xmlns="" val="27679502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9278" y="781080"/>
            <a:ext cx="8546121" cy="5791192"/>
          </a:xfrm>
        </p:spPr>
        <p:txBody>
          <a:bodyPr>
            <a:normAutofit fontScale="85000" lnSpcReduction="20000"/>
          </a:bodyPr>
          <a:lstStyle/>
          <a:p>
            <a:endParaRPr lang="en-IN" sz="4800" b="1" dirty="0" smtClean="0">
              <a:solidFill>
                <a:schemeClr val="tx1"/>
              </a:solidFill>
            </a:endParaRPr>
          </a:p>
          <a:p>
            <a:r>
              <a:rPr lang="en-IN" sz="4800" b="1" dirty="0" smtClean="0">
                <a:solidFill>
                  <a:schemeClr val="tx1"/>
                </a:solidFill>
              </a:rPr>
              <a:t>Mobile Phone Security </a:t>
            </a:r>
          </a:p>
          <a:p>
            <a:endParaRPr lang="en-IN" sz="2000" dirty="0" smtClean="0">
              <a:solidFill>
                <a:schemeClr val="tx1"/>
              </a:solidFill>
            </a:endParaRPr>
          </a:p>
          <a:p>
            <a:endParaRPr lang="en-IN" sz="2000" dirty="0" smtClean="0">
              <a:solidFill>
                <a:schemeClr val="tx1"/>
              </a:solidFill>
            </a:endParaRPr>
          </a:p>
          <a:p>
            <a:endParaRPr lang="en-IN" sz="2000" dirty="0" smtClean="0">
              <a:solidFill>
                <a:schemeClr val="tx1"/>
              </a:solidFill>
            </a:endParaRPr>
          </a:p>
          <a:p>
            <a:endParaRPr lang="en-IN" sz="2000" dirty="0" smtClean="0">
              <a:solidFill>
                <a:schemeClr val="tx1"/>
              </a:solidFill>
            </a:endParaRPr>
          </a:p>
          <a:p>
            <a:endParaRPr lang="en-IN" sz="2000" dirty="0" smtClean="0">
              <a:solidFill>
                <a:schemeClr val="tx1"/>
              </a:solidFill>
            </a:endParaRPr>
          </a:p>
          <a:p>
            <a:endParaRPr lang="en-US" sz="2000" dirty="0" smtClean="0">
              <a:solidFill>
                <a:schemeClr val="tx1"/>
              </a:solidFill>
            </a:endParaRPr>
          </a:p>
          <a:p>
            <a:endParaRPr lang="en-US" sz="2000" dirty="0" smtClean="0">
              <a:solidFill>
                <a:schemeClr val="tx1"/>
              </a:solidFill>
            </a:endParaRPr>
          </a:p>
          <a:p>
            <a:endParaRPr lang="en-US" sz="2000" dirty="0" smtClean="0">
              <a:solidFill>
                <a:schemeClr val="tx1"/>
              </a:solidFill>
            </a:endParaRPr>
          </a:p>
          <a:p>
            <a:endParaRPr lang="en-IN" sz="2000" b="1" dirty="0" smtClean="0">
              <a:solidFill>
                <a:schemeClr val="tx1"/>
              </a:solidFill>
            </a:endParaRPr>
          </a:p>
          <a:p>
            <a:endParaRPr lang="en-IN" sz="2000" b="1" dirty="0" smtClean="0">
              <a:solidFill>
                <a:schemeClr val="tx1"/>
              </a:solidFill>
            </a:endParaRPr>
          </a:p>
          <a:p>
            <a:endParaRPr lang="en-IN" sz="2000" b="1" dirty="0" smtClean="0">
              <a:solidFill>
                <a:schemeClr val="tx1"/>
              </a:solidFill>
            </a:endParaRPr>
          </a:p>
          <a:p>
            <a:endParaRPr lang="en-US" sz="2000" b="1" dirty="0" smtClean="0">
              <a:solidFill>
                <a:schemeClr val="tx1"/>
              </a:solidFill>
            </a:endParaRPr>
          </a:p>
          <a:p>
            <a:r>
              <a:rPr lang="en-US" sz="2000" b="1" dirty="0" smtClean="0">
                <a:solidFill>
                  <a:schemeClr val="tx1"/>
                </a:solidFill>
              </a:rPr>
              <a:t>Dr. </a:t>
            </a:r>
            <a:r>
              <a:rPr lang="en-US" sz="2000" b="1" dirty="0" err="1" smtClean="0">
                <a:solidFill>
                  <a:schemeClr val="tx1"/>
                </a:solidFill>
              </a:rPr>
              <a:t>Digvijaysinh</a:t>
            </a:r>
            <a:r>
              <a:rPr lang="en-US" sz="2000" b="1" dirty="0" smtClean="0">
                <a:solidFill>
                  <a:schemeClr val="tx1"/>
                </a:solidFill>
              </a:rPr>
              <a:t> Rathod</a:t>
            </a:r>
          </a:p>
          <a:p>
            <a:r>
              <a:rPr lang="en-US" sz="2000" b="1" dirty="0" smtClean="0">
                <a:solidFill>
                  <a:schemeClr val="tx1"/>
                </a:solidFill>
              </a:rPr>
              <a:t>Associate Professor </a:t>
            </a:r>
          </a:p>
          <a:p>
            <a:r>
              <a:rPr lang="en-US" sz="2000" b="1" dirty="0" smtClean="0">
                <a:solidFill>
                  <a:schemeClr val="tx1"/>
                </a:solidFill>
              </a:rPr>
              <a:t>(Cyber Security and Digital Forensics)</a:t>
            </a:r>
          </a:p>
          <a:p>
            <a:r>
              <a:rPr lang="en-US" sz="2000" b="1" dirty="0" smtClean="0">
                <a:solidFill>
                  <a:schemeClr val="tx1"/>
                </a:solidFill>
              </a:rPr>
              <a:t>Institute of Forensic Science </a:t>
            </a:r>
          </a:p>
          <a:p>
            <a:r>
              <a:rPr lang="en-US" sz="2000" b="1" dirty="0" smtClean="0">
                <a:solidFill>
                  <a:schemeClr val="tx1"/>
                </a:solidFill>
              </a:rPr>
              <a:t>Gujarat Forensic Sciences University</a:t>
            </a:r>
            <a:endParaRPr lang="en-US" sz="2000" b="1" dirty="0">
              <a:solidFill>
                <a:schemeClr val="tx1"/>
              </a:solidFill>
            </a:endParaRP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 sz="2400" b="1" dirty="0" smtClean="0">
              <a:latin typeface="Calibri" pitchFamily="34" charset="0"/>
            </a:endParaRPr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 smtClean="0"/>
              <a:t>digvijay.rathod@gfsu.edu.in</a:t>
            </a:r>
            <a:endParaRPr lang="en-US" b="1" dirty="0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428860" y="1928802"/>
            <a:ext cx="4909738" cy="30003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9" name="Picture 5" descr="GFSU: Courses, Admissions, Placements, Scholarships, Fees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4045495" y="0"/>
            <a:ext cx="1120496" cy="1428736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xmlns="" val="4820153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32805</TotalTime>
  <Words>863</Words>
  <Application>Microsoft Office PowerPoint</Application>
  <PresentationFormat>On-screen Show (4:3)</PresentationFormat>
  <Paragraphs>209</Paragraphs>
  <Slides>25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6" baseType="lpstr"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digvijay</dc:creator>
  <cp:lastModifiedBy>Windows User</cp:lastModifiedBy>
  <cp:revision>630</cp:revision>
  <dcterms:created xsi:type="dcterms:W3CDTF">2018-03-30T10:15:50Z</dcterms:created>
  <dcterms:modified xsi:type="dcterms:W3CDTF">2020-09-01T05:10:17Z</dcterms:modified>
</cp:coreProperties>
</file>