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658" r:id="rId2"/>
    <p:sldId id="408" r:id="rId3"/>
    <p:sldId id="687" r:id="rId4"/>
    <p:sldId id="691" r:id="rId5"/>
    <p:sldId id="692" r:id="rId6"/>
    <p:sldId id="694" r:id="rId7"/>
    <p:sldId id="695" r:id="rId8"/>
    <p:sldId id="696" r:id="rId9"/>
    <p:sldId id="690" r:id="rId10"/>
    <p:sldId id="698" r:id="rId11"/>
    <p:sldId id="699" r:id="rId12"/>
    <p:sldId id="700" r:id="rId13"/>
    <p:sldId id="701" r:id="rId14"/>
    <p:sldId id="702" r:id="rId15"/>
    <p:sldId id="703" r:id="rId16"/>
    <p:sldId id="711" r:id="rId17"/>
    <p:sldId id="704" r:id="rId18"/>
    <p:sldId id="705" r:id="rId19"/>
    <p:sldId id="706" r:id="rId20"/>
    <p:sldId id="707" r:id="rId21"/>
    <p:sldId id="708" r:id="rId22"/>
    <p:sldId id="709" r:id="rId23"/>
    <p:sldId id="710" r:id="rId24"/>
    <p:sldId id="671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>
          <p15:clr>
            <a:srgbClr val="A4A3A4"/>
          </p15:clr>
        </p15:guide>
        <p15:guide id="2" pos="28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66"/>
      </p:cViewPr>
      <p:guideLst>
        <p:guide orient="horz" pos="2145"/>
        <p:guide pos="28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  <a:t>2/19/2024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200" b="1" dirty="0">
                <a:solidFill>
                  <a:schemeClr val="tx1"/>
                </a:solidFill>
              </a:rPr>
              <a:t>Mobile Phone Security and Forensics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r>
              <a:rPr lang="en-IN" altLang="en-US" sz="2000" b="1" dirty="0">
                <a:solidFill>
                  <a:schemeClr val="tx1"/>
                </a:solidFill>
              </a:rPr>
              <a:t>&amp; Associate Dean</a:t>
            </a:r>
            <a:r>
              <a:rPr lang="en-US" sz="2000" b="1" dirty="0">
                <a:solidFill>
                  <a:schemeClr val="tx1"/>
                </a:solidFill>
              </a:rPr>
              <a:t> </a:t>
            </a:r>
          </a:p>
          <a:p>
            <a:r>
              <a:rPr lang="en-IN" altLang="en-US" sz="2000" b="1" dirty="0">
                <a:solidFill>
                  <a:schemeClr val="tx1"/>
                </a:solidFill>
              </a:rPr>
              <a:t>School of Cyber Security and Digital Forensics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National Forensic Sciences University with status of Institution of National Importance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2" y="-5152"/>
            <a:ext cx="3667125" cy="12477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1890612"/>
            <a:ext cx="8546121" cy="904368"/>
          </a:xfrm>
        </p:spPr>
        <p:txBody>
          <a:bodyPr>
            <a:noAutofit/>
          </a:bodyPr>
          <a:lstStyle/>
          <a:p>
            <a:r>
              <a:rPr lang="en-US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Android filesystem overview</a:t>
            </a:r>
            <a:endParaRPr lang="en-IN" altLang="en-US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Android filesystem overview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Filesystem refers to the way data is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stored, organized, and retrieved from a volume.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basic installation may be based on one volume split into several partitions; here, each partition can be managed by a different filesystem.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 Windows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users are mostly familiar with the FAT32 or NTFS filesystem, whereas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Linux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users are more familiar with the EXT2 or EXT4 filesystem.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filesystem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is true in Linux, Android also utilizes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mounpoints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not drives (that is C : or E :). Each filesystem defines its own rules to manage the files the volume.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Depending on these rules, each filesystem offers a different speed for file retrieval, security, size, and so on. </a:t>
            </a:r>
          </a:p>
          <a:p>
            <a:pPr lvl="1" algn="just"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filesystem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662697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the filesystem is very important in Android forensics,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it helps us gain knowledge of how the data is stored and retrieved.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knowledge about properties and the structure of a filesystem will prove to be useful during forensic analysis.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Linux,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mounting is an act of attaching an additional filesystem to the currently accessible filesystem of a computer.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filesystem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96228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Linux is known to support a large number of filesystems.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filesystems used by the system are not accessed by drive names,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 instead are combined into a single hierarchical tree structure that represents these filesystems as a single entity.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filesystem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720730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filesystems are mounted on to a directory, and files present in this filesystem are now the contents of that directory.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directory is called a mount point.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makes no difference whether the filesystem exists on the local device or on a remote device.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Everything is integrated into a single file hierarchy that begins with root.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filesystem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451409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filesystem has a separate kernel module that registers the operations that it supports with something called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virtual file system (VFS).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VFS allows different applications to access different filesystems in a uniform way.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filesystem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8787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r>
              <a:rPr lang="en-US" sz="4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Practical 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Viewing filesystems on an Android device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filesystems supported by the Android kernel can be determined by checking the contents of the filesystems file that are present in the proc folder.</a:t>
            </a: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root@android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cat  /proc/filesystems</a:t>
            </a:r>
          </a:p>
          <a:p>
            <a:pPr lvl="1" algn="just">
              <a:lnSpc>
                <a:spcPct val="150000"/>
              </a:lnSpc>
            </a:pPr>
            <a:endParaRPr lang="pt-B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filesystems preceded by the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nodev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property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are not mounted on the device.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Viewing filesystems on an Android device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576060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filesystems present in Android can be divided into three main categories, which are as follows: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Flash memory filesystems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Media-based filesystems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Pseudo filesystems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Common Android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64878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Flash memory filesystems: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Flash memory is a type of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non-volatile memory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 can be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erased and reprogrammed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units of memory called blocks. 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Due to the particular characteristics of flash memories,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special filesystems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are needed to write over the media and deal with the long erase times of certain blocks.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Flash memory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179702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5276" y="581374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 the supported filesystems vary on different Android devices, the common flash memory filesystems are as follows:</a:t>
            </a:r>
          </a:p>
          <a:p>
            <a:pPr marL="1428750" lvl="2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Extended File Allocation Table (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exFAT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428750" lvl="2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Flash Friendly File System (F2FS )</a:t>
            </a:r>
          </a:p>
          <a:p>
            <a:pPr marL="1428750" lvl="2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Journal Flash File System version 2 (JFFS2)</a:t>
            </a:r>
          </a:p>
          <a:p>
            <a:pPr marL="1428750" lvl="2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Yet Another Flash File System version 2 (YAFFS2)</a:t>
            </a:r>
          </a:p>
          <a:p>
            <a:pPr marL="1428750" lvl="2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Robust File System (RFS):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Flash memory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42085140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1686" y="586343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Extended File Allocation Table (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exFAT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  <a:p>
            <a:pPr marL="1428750" lvl="2" indent="-5143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type of filesystem is a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 proprietary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filesystem optimized for flash drives.</a:t>
            </a: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Flash Friendly File System (F2FS ):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type of filesystem is introduced by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an open source filesystem.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Flash memory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5452997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2218" y="595745"/>
            <a:ext cx="8546121" cy="5467320"/>
          </a:xfrm>
        </p:spPr>
        <p:txBody>
          <a:bodyPr>
            <a:noAutofit/>
          </a:bodyPr>
          <a:lstStyle/>
          <a:p>
            <a:pPr marL="971550" lvl="1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Yet Another Flash File System version 2 (YAFFS2): Currently,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YAFFS2 is not supported in newer kernel versions,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but certain mobile manufacturers might still continue to support it.</a:t>
            </a: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 startAt="4"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Robust File System (RFS):</a:t>
            </a:r>
          </a:p>
          <a:p>
            <a:pPr lvl="1" algn="just"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RFS is a Samsung file system for user space 	applications 	formatted as RFS (Robust File 	System). RFS is a FAT 	16/32 based file system with 	a sort of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journalling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system on 	it. The code to build 	and use the RFS file system is 	proprietary and only 	used in Samsung equipment,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Flash memory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745435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2218" y="595745"/>
            <a:ext cx="8546121" cy="5467320"/>
          </a:xfrm>
        </p:spPr>
        <p:txBody>
          <a:bodyPr>
            <a:noAutofit/>
          </a:bodyPr>
          <a:lstStyle/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Journaling :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journaling file system is a file system that keeps track of changes not yet committed to the file system's main part by recording the goal of such changes in a data structure known as a "journal“. 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is importance journaling file system: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Journaling offers improved filesystem reliability and fast crash recovery through the use of a transaction log, or journal.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Flash memory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51814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2218" y="595745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Besides the flash memory filesystems discussed earlier, Android devices typically support the following media-based filesystems: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EXTended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file system (EXT2/EXT3/EXT4)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File Allocation Table (FAT)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Virtual File Allocation Table (VFAT)</a:t>
            </a:r>
          </a:p>
          <a:p>
            <a:pPr lvl="2" algn="just"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 startAt="4"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Media-based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420255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2218" y="595745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EXTended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file system (EXT2/EXT3/EXT4)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was one of the first filesystems and used the virtual filesystem. 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EXT2, EXT3, and EXT4 are the subsequent versions.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Journaling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the main advantage of EXT3 over EXT2. 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 EXT3, in the case of an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unexpected shutdown, there is no need to verify the filesystem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lvl="1" algn="just"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EXTended</a:t>
            </a:r>
            <a:r>
              <a:rPr lang="en-US" sz="2400" b="1" dirty="0"/>
              <a:t> file system (EXT2/EXT3/EXT4)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4138505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2218" y="595745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EXTended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file system (EXT2/EXT3/EXT4)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EXT4 filesystem, the fourth extended filesystem, has gained significance with mobile devices that implement dual-core processors.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YAFFS2 filesystem is known to have a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bottleneck on dual-core systems. 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 the Gingerbread version of Android, the YAFFS filesystem was swapped for EXT4.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 startAt="4"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EXTended</a:t>
            </a:r>
            <a:r>
              <a:rPr lang="en-US" sz="2400" b="1" dirty="0"/>
              <a:t> file system (EXT2/EXT3/EXT4)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9570252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2218" y="595745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filesystems, such as FAT12, FAT16, and FAT32, are supported by the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MSDOS driver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File Allocation Table (FAT)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341881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4176" y="465634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This filesystem is an extension of the FAT16 and FAT32 filesystems. </a:t>
            </a:r>
          </a:p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Microsoft's FAT32 filesystem is supported by most Android devices. </a:t>
            </a:r>
          </a:p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is supported by almost all the major operating systems, including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Windows, Linux, and Mac OS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enables these systems to easily read, modify, and delete the files present on the FAT32 portion of the Android device.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Virtual File Allocation Table (VFAT)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537062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4176" y="465634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of the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external SD cards are formatted using the FAT32.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Virtual File Allocation Table (VFAT)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29709235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4176" y="465634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Here are pseudo filesystems that can be thought of as logical groupings of files.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group (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cgroup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rootfs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procfs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Sysfs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tmpfs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Pseudo filesystems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</a:p>
        </p:txBody>
      </p:sp>
    </p:spTree>
    <p:extLst>
      <p:ext uri="{BB962C8B-B14F-4D97-AF65-F5344CB8AC3E}">
        <p14:creationId xmlns:p14="http://schemas.microsoft.com/office/powerpoint/2010/main" val="37929803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200" b="1" dirty="0">
                <a:solidFill>
                  <a:schemeClr val="tx1"/>
                </a:solidFill>
              </a:rPr>
              <a:t>Mobile Phone Security and Forensics</a:t>
            </a: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r>
              <a:rPr lang="en-IN" altLang="en-US" sz="2000" b="1" dirty="0">
                <a:solidFill>
                  <a:schemeClr val="tx1"/>
                </a:solidFill>
              </a:rPr>
              <a:t>&amp; Associate Dean</a:t>
            </a:r>
            <a:r>
              <a:rPr lang="en-US" sz="2000" b="1" dirty="0">
                <a:solidFill>
                  <a:schemeClr val="tx1"/>
                </a:solidFill>
              </a:rPr>
              <a:t> </a:t>
            </a:r>
          </a:p>
          <a:p>
            <a:r>
              <a:rPr lang="en-IN" altLang="en-US" sz="2000" b="1" dirty="0">
                <a:solidFill>
                  <a:schemeClr val="tx1"/>
                </a:solidFill>
              </a:rPr>
              <a:t>School of Cyber Security and Digital Forensics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National Forensic Sciences University with status of Institution of National Importance 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82" y="-5152"/>
            <a:ext cx="3667125" cy="124777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1766</TotalTime>
  <Words>1224</Words>
  <Application>Microsoft Office PowerPoint</Application>
  <PresentationFormat>On-screen Show (4:3)</PresentationFormat>
  <Paragraphs>150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Windows User</cp:lastModifiedBy>
  <cp:revision>800</cp:revision>
  <dcterms:created xsi:type="dcterms:W3CDTF">2018-03-30T10:15:00Z</dcterms:created>
  <dcterms:modified xsi:type="dcterms:W3CDTF">2024-02-19T08:40:16Z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1033-11.2.0.9718</vt:lpwstr>
  </property>
</Properties>
</file>