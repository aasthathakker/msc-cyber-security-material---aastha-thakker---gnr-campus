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57" r:id="rId3"/>
    <p:sldId id="260" r:id="rId4"/>
    <p:sldId id="259" r:id="rId5"/>
    <p:sldId id="258" r:id="rId6"/>
    <p:sldId id="263" r:id="rId7"/>
    <p:sldId id="262" r:id="rId8"/>
    <p:sldId id="261" r:id="rId9"/>
    <p:sldId id="267" r:id="rId10"/>
    <p:sldId id="265" r:id="rId11"/>
    <p:sldId id="269" r:id="rId12"/>
    <p:sldId id="268" r:id="rId13"/>
    <p:sldId id="272" r:id="rId14"/>
    <p:sldId id="275" r:id="rId15"/>
    <p:sldId id="277" r:id="rId16"/>
    <p:sldId id="276" r:id="rId17"/>
    <p:sldId id="274" r:id="rId18"/>
    <p:sldId id="273" r:id="rId19"/>
    <p:sldId id="278" r:id="rId20"/>
    <p:sldId id="282" r:id="rId21"/>
    <p:sldId id="283" r:id="rId22"/>
    <p:sldId id="284" r:id="rId23"/>
    <p:sldId id="285" r:id="rId24"/>
    <p:sldId id="281" r:id="rId25"/>
    <p:sldId id="280" r:id="rId26"/>
    <p:sldId id="264" r:id="rId27"/>
  </p:sldIdLst>
  <p:sldSz cx="12192000" cy="6858000"/>
  <p:notesSz cx="7104063"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2" autoAdjust="0"/>
    <p:restoredTop sz="94660"/>
  </p:normalViewPr>
  <p:slideViewPr>
    <p:cSldViewPr snapToGrid="0">
      <p:cViewPr varScale="1">
        <p:scale>
          <a:sx n="86" d="100"/>
          <a:sy n="86" d="100"/>
        </p:scale>
        <p:origin x="514" y="72"/>
      </p:cViewPr>
      <p:guideLst/>
    </p:cSldViewPr>
  </p:slideViewPr>
  <p:notesTextViewPr>
    <p:cViewPr>
      <p:scale>
        <a:sx n="1" d="1"/>
        <a:sy n="1" d="1"/>
      </p:scale>
      <p:origin x="0" y="0"/>
    </p:cViewPr>
  </p:notesTextViewPr>
  <p:notesViewPr>
    <p:cSldViewPr snapToGrid="0">
      <p:cViewPr varScale="1">
        <p:scale>
          <a:sx n="41" d="100"/>
          <a:sy n="41" d="100"/>
        </p:scale>
        <p:origin x="1794" y="5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3EFD42F7-718C-4B98-AAEC-167E6DDD60A7}" type="datetimeFigureOut">
              <a:rPr lang="en-US" smtClean="0"/>
              <a:t>11/2/2018</a:t>
            </a:fld>
            <a:endParaRPr lang="en-US"/>
          </a:p>
        </p:txBody>
      </p:sp>
      <p:sp>
        <p:nvSpPr>
          <p:cNvPr id="4" name="Slide Image Placeholder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DE934FF-F4E1-47C5-9CA5-30A81DDE2BE4}" type="datetimeFigureOut">
              <a:rPr lang="en-US" smtClean="0"/>
              <a:t>11/2/2018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934FF-F4E1-47C5-9CA5-30A81DDE2BE4}" type="datetimeFigureOut">
              <a:rPr lang="en-US" smtClean="0"/>
              <a:t>11/2/2018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E934FF-F4E1-47C5-9CA5-30A81DDE2BE4}" type="datetimeFigureOut">
              <a:rPr lang="en-US" smtClean="0"/>
              <a:t>11/2/2018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DE934FF-F4E1-47C5-9CA5-30A81DDE2BE4}" type="datetimeFigureOut">
              <a:rPr lang="en-US" smtClean="0"/>
              <a:t>11/2/2018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DE934FF-F4E1-47C5-9CA5-30A81DDE2BE4}" type="datetimeFigureOut">
              <a:rPr lang="en-US" smtClean="0"/>
              <a:t>11/2/2018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11/2/2018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E934FF-F4E1-47C5-9CA5-30A81DDE2BE4}" type="datetimeFigureOut">
              <a:rPr lang="en-US" smtClean="0"/>
              <a:t>11/2/2018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DE934FF-F4E1-47C5-9CA5-30A81DDE2BE4}" type="datetimeFigureOut">
              <a:rPr lang="en-US" smtClean="0"/>
              <a:t>11/2/2018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934FF-F4E1-47C5-9CA5-30A81DDE2BE4}" type="datetimeFigureOut">
              <a:rPr lang="en-US" smtClean="0"/>
              <a:t>11/2/2018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p:txBody>
          <a:bodyPr/>
          <a:lstStyle/>
          <a:p>
            <a:fld id="{FDE934FF-F4E1-47C5-9CA5-30A81DDE2BE4}" type="datetimeFigureOut">
              <a:rPr lang="en-US" smtClean="0"/>
              <a:t>11/2/2018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E934FF-F4E1-47C5-9CA5-30A81DDE2BE4}" type="datetimeFigureOut">
              <a:rPr lang="en-US" smtClean="0"/>
              <a:t>11/2/2018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561BA9-CDCF-4958-B8AB-66F3BF063E1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altLang="en-US"/>
              <a:t>SOX Compliance Requirements</a:t>
            </a:r>
          </a:p>
        </p:txBody>
      </p:sp>
      <p:pic>
        <p:nvPicPr>
          <p:cNvPr id="4" name="Picture 3"/>
          <p:cNvPicPr>
            <a:picLocks noChangeAspect="1"/>
          </p:cNvPicPr>
          <p:nvPr/>
        </p:nvPicPr>
        <p:blipFill>
          <a:blip r:embed="rId2"/>
          <a:stretch>
            <a:fillRect/>
          </a:stretch>
        </p:blipFill>
        <p:spPr>
          <a:xfrm>
            <a:off x="2286635" y="3346450"/>
            <a:ext cx="7619365" cy="3018790"/>
          </a:xfrm>
          <a:prstGeom prst="rect">
            <a:avLst/>
          </a:prstGeom>
        </p:spPr>
      </p:pic>
      <p:sp>
        <p:nvSpPr>
          <p:cNvPr id="5" name="Text Box 4"/>
          <p:cNvSpPr txBox="1"/>
          <p:nvPr/>
        </p:nvSpPr>
        <p:spPr>
          <a:xfrm>
            <a:off x="10139680" y="6284595"/>
            <a:ext cx="1609090" cy="368300"/>
          </a:xfrm>
          <a:prstGeom prst="rect">
            <a:avLst/>
          </a:prstGeom>
          <a:noFill/>
        </p:spPr>
        <p:txBody>
          <a:bodyPr wrap="square" rtlCol="0">
            <a:spAutoFit/>
          </a:bodyPr>
          <a:lstStyle/>
          <a:p>
            <a:r>
              <a:rPr lang="en-GB" altLang="en-US"/>
              <a:t>©</a:t>
            </a:r>
            <a:r>
              <a:rPr lang="en-US" altLang="en-GB"/>
              <a:t>BlackStratus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t>Preface</a:t>
            </a:r>
          </a:p>
        </p:txBody>
      </p:sp>
      <p:sp>
        <p:nvSpPr>
          <p:cNvPr id="3" name="Content Placeholder 2"/>
          <p:cNvSpPr>
            <a:spLocks noGrp="1"/>
          </p:cNvSpPr>
          <p:nvPr>
            <p:ph idx="1"/>
          </p:nvPr>
        </p:nvSpPr>
        <p:spPr/>
        <p:txBody>
          <a:bodyPr/>
          <a:lstStyle/>
          <a:p>
            <a:pPr algn="just"/>
            <a:r>
              <a:rPr lang="en-GB" altLang="en-US"/>
              <a:t>It has been more than 10 years since the initial passage of the Sarbanes-Oxley Act (SOX) of 2002 and, even today, many organizations still struggle to fulfill their auditing and compliance requirements. If not done smartly, meeting your obligations as a publicly traded company can be expensive, time-consuming and ultimately counterproductive for your business goals. It doesn’t have to be that way. The more you know ahead of planning for an audit, the more seamless and effective the process will be.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t>Introduction</a:t>
            </a:r>
          </a:p>
        </p:txBody>
      </p:sp>
      <p:sp>
        <p:nvSpPr>
          <p:cNvPr id="3" name="Content Placeholder 2"/>
          <p:cNvSpPr>
            <a:spLocks noGrp="1"/>
          </p:cNvSpPr>
          <p:nvPr>
            <p:ph idx="1"/>
          </p:nvPr>
        </p:nvSpPr>
        <p:spPr/>
        <p:txBody>
          <a:bodyPr>
            <a:normAutofit fontScale="70000"/>
          </a:bodyPr>
          <a:lstStyle/>
          <a:p>
            <a:pPr algn="just"/>
            <a:r>
              <a:rPr lang="en-GB" altLang="en-US"/>
              <a:t>Let’s review some of the basics about this federal act.</a:t>
            </a:r>
          </a:p>
          <a:p>
            <a:pPr algn="just"/>
            <a:endParaRPr lang="en-GB" altLang="en-US"/>
          </a:p>
          <a:p>
            <a:pPr lvl="1" algn="just"/>
            <a:r>
              <a:rPr lang="en-GB" altLang="en-US" b="1"/>
              <a:t>Full name: </a:t>
            </a:r>
            <a:r>
              <a:rPr lang="en-GB" altLang="en-US"/>
              <a:t>Sarbanes-Oxley Act of 2002, known in US Senate as the “Public Company Accounting Reform and Investor Protection Act” and in the House of Representatives as the “Corporate and Auditing Accountability and Responsibility Act.” Commonly referred to as Sarbanes’Oxley, Sarbox or SOX.</a:t>
            </a:r>
          </a:p>
          <a:p>
            <a:pPr lvl="1" algn="just"/>
            <a:r>
              <a:rPr lang="en-GB" altLang="en-US" b="1"/>
              <a:t>Signed into law: </a:t>
            </a:r>
            <a:r>
              <a:rPr lang="en-GB" altLang="en-US"/>
              <a:t>July 30, 2002.</a:t>
            </a:r>
          </a:p>
          <a:p>
            <a:pPr lvl="1" algn="just"/>
            <a:r>
              <a:rPr lang="en-GB" altLang="en-US" b="1"/>
              <a:t>Sponsors: </a:t>
            </a:r>
            <a:r>
              <a:rPr lang="en-GB" altLang="en-US"/>
              <a:t>Sen. Paul Sarbanes (D-MD) and Rep. Michael G. Oxley (R-OH-4)</a:t>
            </a:r>
          </a:p>
          <a:p>
            <a:pPr lvl="1" algn="just"/>
            <a:endParaRPr lang="en-GB" altLang="en-US"/>
          </a:p>
          <a:p>
            <a:pPr algn="just"/>
            <a:r>
              <a:rPr lang="en-GB" altLang="en-US"/>
              <a:t>SOX was designed with the</a:t>
            </a:r>
            <a:r>
              <a:rPr lang="en-GB" altLang="en-US" b="1"/>
              <a:t> goal of implementing</a:t>
            </a:r>
            <a:r>
              <a:rPr lang="en-GB" altLang="en-US"/>
              <a:t> accounting and disclosure requirements that:</a:t>
            </a:r>
          </a:p>
          <a:p>
            <a:pPr algn="just"/>
            <a:endParaRPr lang="en-GB" altLang="en-US"/>
          </a:p>
          <a:p>
            <a:pPr lvl="1" algn="just"/>
            <a:r>
              <a:rPr lang="en-GB" altLang="en-US"/>
              <a:t>Increase transparency in corporate governance and financial reporting</a:t>
            </a:r>
          </a:p>
          <a:p>
            <a:pPr lvl="1" algn="just"/>
            <a:r>
              <a:rPr lang="en-GB" altLang="en-US"/>
              <a:t>Formalize a system of internal checks and balances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t>Introduction</a:t>
            </a:r>
          </a:p>
        </p:txBody>
      </p:sp>
      <p:sp>
        <p:nvSpPr>
          <p:cNvPr id="3" name="Content Placeholder 2"/>
          <p:cNvSpPr>
            <a:spLocks noGrp="1"/>
          </p:cNvSpPr>
          <p:nvPr>
            <p:ph idx="1"/>
          </p:nvPr>
        </p:nvSpPr>
        <p:spPr/>
        <p:txBody>
          <a:bodyPr>
            <a:normAutofit fontScale="80000"/>
          </a:bodyPr>
          <a:lstStyle/>
          <a:p>
            <a:pPr algn="just"/>
            <a:r>
              <a:rPr lang="en-GB" altLang="en-US"/>
              <a:t>SOX is applicable to:</a:t>
            </a:r>
          </a:p>
          <a:p>
            <a:pPr lvl="1" algn="just"/>
            <a:r>
              <a:rPr lang="en-GB" altLang="en-US"/>
              <a:t>All publically held American companies</a:t>
            </a:r>
          </a:p>
          <a:p>
            <a:pPr lvl="1" algn="just"/>
            <a:r>
              <a:rPr lang="en-GB" altLang="en-US"/>
              <a:t>Any international companies that have registered equity or debt securities with the U.S. Securities and Exchange Commission (SEC)</a:t>
            </a:r>
          </a:p>
          <a:p>
            <a:pPr lvl="1" algn="just"/>
            <a:r>
              <a:rPr lang="en-GB" altLang="en-US"/>
              <a:t>Any accounting firm or other third party that provides financial services to either of the abov</a:t>
            </a:r>
            <a:r>
              <a:rPr lang="en-US" altLang="en-GB"/>
              <a:t>e.</a:t>
            </a:r>
          </a:p>
          <a:p>
            <a:pPr algn="just"/>
            <a:r>
              <a:rPr lang="en-GB" altLang="en-US"/>
              <a:t>Penalties for non-compliance: Formal penalties for non-compliance with SOX can include fines, removal from listings on public stock exchanges and invalidation of D&amp;O insurance policies. Under the Act, CEOs and CFOs who willfully submit an incorrect certification to a SOX compliance audit can face fines of $5 million and up to 20 years in jail.</a:t>
            </a:r>
          </a:p>
          <a:p>
            <a:pPr algn="just"/>
            <a:r>
              <a:rPr lang="en-GB" altLang="en-US"/>
              <a:t>The stated goal of SOX is “to protect investors by improving the accuracy and reliability of corporate disclosures.” Given that an organization’s IT infrastructure is the backbone of how it communicates, it makes sense that compliance with SOX should require introducing broad information accountability measures.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SOX Compliance and Data Security</a:t>
            </a:r>
          </a:p>
        </p:txBody>
      </p:sp>
      <p:sp>
        <p:nvSpPr>
          <p:cNvPr id="3" name="Content Placeholder 2"/>
          <p:cNvSpPr>
            <a:spLocks noGrp="1"/>
          </p:cNvSpPr>
          <p:nvPr>
            <p:ph idx="1"/>
          </p:nvPr>
        </p:nvSpPr>
        <p:spPr/>
        <p:txBody>
          <a:bodyPr>
            <a:normAutofit fontScale="70000"/>
          </a:bodyPr>
          <a:lstStyle/>
          <a:p>
            <a:pPr algn="just"/>
            <a:r>
              <a:rPr lang="en-GB" altLang="en-US"/>
              <a:t>For IT managers and executives setting out high-level data security goals, compliance with SOX is an important ongoing concern. But SOX compliance is about more than just being able to pass an audit – when appropriate data governance procedures are properly implemented, they can have a number of tangible benefits for your business. In fact, in a 2015 survey of more than 450 executives, conducted by Protiviti, it was found that:</a:t>
            </a:r>
          </a:p>
          <a:p>
            <a:pPr lvl="1" algn="just"/>
            <a:r>
              <a:rPr lang="en-GB" altLang="en-US"/>
              <a:t>78% of organizations leverage SOX compliance initiatives to drive continuous improvement around financial reporting</a:t>
            </a:r>
          </a:p>
          <a:p>
            <a:pPr lvl="1" algn="just"/>
            <a:r>
              <a:rPr lang="en-GB" altLang="en-US"/>
              <a:t>52% of organizations reported “significant” or “moderate” improvements in internal control over their financial reporting since the implementation of SOX</a:t>
            </a:r>
          </a:p>
          <a:p>
            <a:pPr marL="457200" lvl="1" indent="0" algn="just">
              <a:buNone/>
            </a:pPr>
            <a:endParaRPr lang="en-GB" altLang="en-US"/>
          </a:p>
          <a:p>
            <a:pPr algn="just"/>
            <a:r>
              <a:rPr lang="en-GB" altLang="en-US"/>
              <a:t>Ultimately, the report concluded, “this is a good indicator that these companies are proceeding on the right path with regard to treating SOX work not as a compliance exercise, but as a long-term process to create greater value in the organization. This is one of the outcomes the framers of the SOX legislation intended.”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ltLang="en-US">
                <a:sym typeface="+mn-ea"/>
              </a:rPr>
              <a:t>SOX Compliance and Data Security</a:t>
            </a:r>
            <a:br>
              <a:rPr lang="en-GB" altLang="en-US"/>
            </a:br>
            <a:endParaRPr lang="en-GB" altLang="en-US"/>
          </a:p>
        </p:txBody>
      </p:sp>
      <p:sp>
        <p:nvSpPr>
          <p:cNvPr id="3" name="Content Placeholder 2"/>
          <p:cNvSpPr>
            <a:spLocks noGrp="1"/>
          </p:cNvSpPr>
          <p:nvPr>
            <p:ph idx="1"/>
          </p:nvPr>
        </p:nvSpPr>
        <p:spPr/>
        <p:txBody>
          <a:bodyPr>
            <a:normAutofit lnSpcReduction="10000"/>
          </a:bodyPr>
          <a:lstStyle/>
          <a:p>
            <a:pPr algn="just"/>
            <a:r>
              <a:rPr lang="en-GB" altLang="en-US"/>
              <a:t>With that in mind, how can SOX compliance benefit you? Aside from eliminating the threat of fines and other penalties, smart organizations are using SOX as a framework for:</a:t>
            </a:r>
          </a:p>
          <a:p>
            <a:pPr algn="just"/>
            <a:endParaRPr lang="en-GB" altLang="en-US"/>
          </a:p>
          <a:p>
            <a:pPr algn="just"/>
            <a:r>
              <a:rPr lang="en-GB" altLang="en-US"/>
              <a:t>Auditing existing IT infrastructure, identifying inefficiencies, redundancies and superfluous controls.</a:t>
            </a:r>
          </a:p>
          <a:p>
            <a:pPr algn="just"/>
            <a:r>
              <a:rPr lang="en-GB" altLang="en-US"/>
              <a:t>Streamlining reporting and auditing processes, increasing productivity and reducing costs.</a:t>
            </a:r>
          </a:p>
          <a:p>
            <a:pPr algn="just"/>
            <a:r>
              <a:rPr lang="en-GB" altLang="en-US"/>
              <a:t>Managing security risks more effectively and responding quicker in the event of a breach.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Beginning Steps to Compliance</a:t>
            </a:r>
          </a:p>
        </p:txBody>
      </p:sp>
      <p:sp>
        <p:nvSpPr>
          <p:cNvPr id="3" name="Content Placeholder 2"/>
          <p:cNvSpPr>
            <a:spLocks noGrp="1"/>
          </p:cNvSpPr>
          <p:nvPr>
            <p:ph idx="1"/>
          </p:nvPr>
        </p:nvSpPr>
        <p:spPr/>
        <p:txBody>
          <a:bodyPr>
            <a:noAutofit/>
          </a:bodyPr>
          <a:lstStyle/>
          <a:p>
            <a:pPr algn="just"/>
            <a:r>
              <a:rPr lang="en-GB" altLang="en-US" sz="1900" dirty="0"/>
              <a:t>The first thing an IT manager must do to prepare their organization for SOX compliance is to understand which sections of the act have clear implications for data management, reporting and security. These are:</a:t>
            </a:r>
          </a:p>
          <a:p>
            <a:pPr algn="just"/>
            <a:endParaRPr lang="en-GB" altLang="en-US" sz="1900" dirty="0"/>
          </a:p>
          <a:p>
            <a:pPr algn="just"/>
            <a:r>
              <a:rPr lang="en-GB" altLang="en-US" sz="1900" dirty="0"/>
              <a:t>Section 302: SOX Section 302 relates to a company’s financial reporting. The act requires a company’s CEO and CFO to personally certify that all records are complete and accurate. Specifically, they must confirm that they accept personal responsibility for all internal controls and have reviewed these controls in the past 90 days. These internal controls include a company’s information security infrastructure inasmuch as its accounting and reporting is performed electronically in other words, for almost all modern businesses there is a clear mandate to ensure high security standards are enforced.</a:t>
            </a:r>
          </a:p>
          <a:p>
            <a:pPr algn="just"/>
            <a:endParaRPr lang="en-GB" altLang="en-US" sz="1900" dirty="0"/>
          </a:p>
          <a:p>
            <a:pPr algn="just"/>
            <a:r>
              <a:rPr lang="en-GB" altLang="en-US" sz="1900" dirty="0"/>
              <a:t>Section 404: Section 404 stipulates further requirements for the monitoring and maintenance of internal controls related to the company’s accounting and financials. It requires businesses to have an annual audit of these controls performed by an outside firm. This audit assesses the effectiveness of all internal controls and reports its findings back directly to the SEC.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a:sym typeface="+mn-ea"/>
              </a:rPr>
              <a:t>Beginning Steps to Compliance</a:t>
            </a:r>
            <a:endParaRPr lang="en-GB" altLang="en-US"/>
          </a:p>
        </p:txBody>
      </p:sp>
      <p:sp>
        <p:nvSpPr>
          <p:cNvPr id="3" name="Content Placeholder 2"/>
          <p:cNvSpPr>
            <a:spLocks noGrp="1"/>
          </p:cNvSpPr>
          <p:nvPr>
            <p:ph idx="1"/>
          </p:nvPr>
        </p:nvSpPr>
        <p:spPr/>
        <p:txBody>
          <a:bodyPr/>
          <a:lstStyle/>
          <a:p>
            <a:pPr algn="just"/>
            <a:r>
              <a:rPr lang="en-GB" altLang="en-US"/>
              <a:t>A SOX compliance audit is a measure of how well your company manages its internal controls. While SOX doesn’t specifically mention information security, for practical purposes, an internal control is understood to be any type of protocol dealing with the infrastructure that handles your financial data. </a:t>
            </a:r>
          </a:p>
          <a:p>
            <a:pPr algn="just"/>
            <a:endParaRPr lang="en-GB" altLang="en-US"/>
          </a:p>
          <a:p>
            <a:pPr algn="just"/>
            <a:r>
              <a:rPr lang="en-GB" altLang="en-US"/>
              <a:t>Indeed, one of the biggest criticisms of SOX is that, particularly for smaller firms, this requirement that all accounting systems must be subject to auditing is prohibitively expensive.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Other Things to Know Before You Begin</a:t>
            </a:r>
          </a:p>
        </p:txBody>
      </p:sp>
      <p:sp>
        <p:nvSpPr>
          <p:cNvPr id="3" name="Content Placeholder 2"/>
          <p:cNvSpPr>
            <a:spLocks noGrp="1"/>
          </p:cNvSpPr>
          <p:nvPr>
            <p:ph sz="half" idx="1"/>
          </p:nvPr>
        </p:nvSpPr>
        <p:spPr>
          <a:xfrm>
            <a:off x="1034415" y="1795780"/>
            <a:ext cx="4728210" cy="4351655"/>
          </a:xfrm>
        </p:spPr>
        <p:txBody>
          <a:bodyPr>
            <a:normAutofit lnSpcReduction="20000"/>
          </a:bodyPr>
          <a:lstStyle/>
          <a:p>
            <a:pPr algn="just"/>
            <a:r>
              <a:rPr lang="en-GB" altLang="en-US"/>
              <a:t>The Sarbanes-Oxley Act is over 60 pages long. Beyond that, it has spawned a number of related concepts, committees and policies related to the auditing process. Some acronyms you need to know before beginning to assess your organization’s SOX compliance requirements include:</a:t>
            </a:r>
          </a:p>
        </p:txBody>
      </p:sp>
      <p:pic>
        <p:nvPicPr>
          <p:cNvPr id="4" name="Content Placeholder 3"/>
          <p:cNvPicPr>
            <a:picLocks noGrp="1" noChangeAspect="1"/>
          </p:cNvPicPr>
          <p:nvPr>
            <p:ph sz="half" idx="2"/>
          </p:nvPr>
        </p:nvPicPr>
        <p:blipFill>
          <a:blip r:embed="rId2"/>
          <a:stretch>
            <a:fillRect/>
          </a:stretch>
        </p:blipFill>
        <p:spPr>
          <a:xfrm>
            <a:off x="5762625" y="1795780"/>
            <a:ext cx="5839460" cy="3632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a:sym typeface="+mn-ea"/>
              </a:rPr>
              <a:t>Other Things to Know Before You Begin</a:t>
            </a:r>
            <a:endParaRPr lang="en-GB" altLang="en-US"/>
          </a:p>
        </p:txBody>
      </p:sp>
      <p:sp>
        <p:nvSpPr>
          <p:cNvPr id="3" name="Content Placeholder 2"/>
          <p:cNvSpPr>
            <a:spLocks noGrp="1"/>
          </p:cNvSpPr>
          <p:nvPr>
            <p:ph idx="1"/>
          </p:nvPr>
        </p:nvSpPr>
        <p:spPr/>
        <p:txBody>
          <a:bodyPr>
            <a:normAutofit fontScale="77500" lnSpcReduction="10000"/>
          </a:bodyPr>
          <a:lstStyle/>
          <a:p>
            <a:pPr algn="just"/>
            <a:r>
              <a:rPr lang="en-GB" altLang="en-US" dirty="0"/>
              <a:t>PCAOB: The Public Company Accounting Oversight Board was created to develop auditing standards and train auditors on the best practices for assessing a company’s internal controls. It is here that the specific SOX requirements for information security are spelled out. PCAOB publishes periodic recommendations and changes to the auditing process. For obvious reasons, being aware of the most recent iteration of these guidelines is essential to passing an audit.</a:t>
            </a:r>
          </a:p>
          <a:p>
            <a:pPr algn="just"/>
            <a:r>
              <a:rPr lang="en-GB" altLang="en-US" dirty="0"/>
              <a:t>COSO: COSO is the Committee of Sponsoring Organizations, a joint organization consisting of representatives from the Institute of Management Accountants (IMA), the American Accounting Association (AAA), the American Institute of Certified Public Accountants (AICPA), the Institute of Internal Auditors (IIA) and Financial Executives International (FEI). Since 1992, COSO has published periodic updates to their internal control framework recommendations this document outlines guidelines for creating and implementing internal controls, and serves as the basis for the auditing standards developing by PCAOB.</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a:sym typeface="+mn-ea"/>
              </a:rPr>
              <a:t>Other Things to Know Before You Begin</a:t>
            </a:r>
            <a:endParaRPr lang="en-GB" altLang="en-US"/>
          </a:p>
        </p:txBody>
      </p:sp>
      <p:sp>
        <p:nvSpPr>
          <p:cNvPr id="3" name="Content Placeholder 2"/>
          <p:cNvSpPr>
            <a:spLocks noGrp="1"/>
          </p:cNvSpPr>
          <p:nvPr>
            <p:ph idx="1"/>
          </p:nvPr>
        </p:nvSpPr>
        <p:spPr/>
        <p:txBody>
          <a:bodyPr>
            <a:normAutofit fontScale="90000"/>
          </a:bodyPr>
          <a:lstStyle/>
          <a:p>
            <a:pPr algn="just"/>
            <a:r>
              <a:rPr lang="en-GB" altLang="en-US" dirty="0"/>
              <a:t>COBIT: COBIT (Control Objectives for Information and Related Technology) is a framework published by ISACA. Formally known as the Information Systems Audit and Control Association, ISACA covers guidelines for developing and assessing internal controls related to corporate information technology. Effectively a more specific version of the COSO framework, it outlines best practices for 34 IT processes. Many organizations will rely on both frameworks when developing a roadmap to SOX compliance.</a:t>
            </a:r>
          </a:p>
          <a:p>
            <a:pPr algn="just"/>
            <a:r>
              <a:rPr lang="en-GB" altLang="en-US" dirty="0"/>
              <a:t>ITGI: The Information Technology Governance Institute (ITGI) is dedicated to helping businesses meet their objectives without compromising information security. ITGI has independently published its own framework for SOX compliance, using both COBIT and COSO as guides. Unlike COBIT, however, the ITGI framework deals only with security issues.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SOX Compliance Checklist</a:t>
            </a:r>
          </a:p>
        </p:txBody>
      </p:sp>
      <p:sp>
        <p:nvSpPr>
          <p:cNvPr id="3" name="Content Placeholder 2"/>
          <p:cNvSpPr>
            <a:spLocks noGrp="1"/>
          </p:cNvSpPr>
          <p:nvPr>
            <p:ph idx="1"/>
          </p:nvPr>
        </p:nvSpPr>
        <p:spPr/>
        <p:txBody>
          <a:bodyPr>
            <a:normAutofit fontScale="80000"/>
          </a:bodyPr>
          <a:lstStyle/>
          <a:p>
            <a:pPr algn="just"/>
            <a:r>
              <a:rPr lang="en-GB" altLang="en-US"/>
              <a:t>Every organization and every audit is different, which is why the idea of a universal SOX compliance checklist isn’t a particularly useful one. There are, however, a few general questions every business should consider. Before an audit, ask yourself:</a:t>
            </a:r>
          </a:p>
          <a:p>
            <a:pPr marL="0" indent="0" algn="just">
              <a:buNone/>
            </a:pPr>
            <a:endParaRPr lang="en-GB" altLang="en-US"/>
          </a:p>
          <a:p>
            <a:pPr lvl="1" algn="just"/>
            <a:r>
              <a:rPr lang="en-GB" altLang="en-US"/>
              <a:t>Am I working from an accepted framework, whether it’s COSO, COBIT, ITGI or a combination of all 3?</a:t>
            </a:r>
          </a:p>
          <a:p>
            <a:pPr lvl="1" algn="just"/>
            <a:r>
              <a:rPr lang="en-GB" altLang="en-US"/>
              <a:t>Have policies been established that outline how to create, modify and maintain accounting systems, including computer programs handling financial data?</a:t>
            </a:r>
          </a:p>
          <a:p>
            <a:pPr lvl="1" algn="just"/>
            <a:r>
              <a:rPr lang="en-GB" altLang="en-US"/>
              <a:t>Are safeguards in place to prevent data tampering? Have they been tested and found operational?</a:t>
            </a:r>
          </a:p>
          <a:p>
            <a:pPr lvl="1" algn="just"/>
            <a:r>
              <a:rPr lang="en-GB" altLang="en-US"/>
              <a:t>Is there protocol for dealing with security breaches?</a:t>
            </a:r>
          </a:p>
          <a:p>
            <a:pPr lvl="1" algn="just"/>
            <a:r>
              <a:rPr lang="en-GB" altLang="en-US"/>
              <a:t>Is access to sensitive data being monitored and recorded?</a:t>
            </a:r>
          </a:p>
          <a:p>
            <a:pPr lvl="1" algn="just"/>
            <a:r>
              <a:rPr lang="en-GB" altLang="en-US"/>
              <a:t>Have previous breaches and failures of security safeguards been disclosed to auditors?</a:t>
            </a:r>
          </a:p>
          <a:p>
            <a:pPr lvl="1" algn="just"/>
            <a:r>
              <a:rPr lang="en-GB" altLang="en-US"/>
              <a:t>Have I collected valid, recent SAS 70 reports from all applicable service organizations?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PCAOB Requirement for IT Controls</a:t>
            </a:r>
          </a:p>
        </p:txBody>
      </p:sp>
      <p:sp>
        <p:nvSpPr>
          <p:cNvPr id="3" name="Content Placeholder 2"/>
          <p:cNvSpPr>
            <a:spLocks noGrp="1"/>
          </p:cNvSpPr>
          <p:nvPr>
            <p:ph idx="1"/>
          </p:nvPr>
        </p:nvSpPr>
        <p:spPr/>
        <p:txBody>
          <a:bodyPr>
            <a:normAutofit fontScale="90000"/>
          </a:bodyPr>
          <a:lstStyle/>
          <a:p>
            <a:pPr algn="just"/>
            <a:r>
              <a:rPr lang="en-GB" altLang="en-US"/>
              <a:t>PCAOB Auditing Standard No. 2 discusses the relationship of IT and internal control over financial reporting and emphasizes the importance of identifying IT controls and testing their design and operational effectiveness.</a:t>
            </a:r>
          </a:p>
          <a:p>
            <a:pPr algn="just"/>
            <a:r>
              <a:rPr lang="en-GB" altLang="en-US"/>
              <a:t>In particular, it states:</a:t>
            </a:r>
          </a:p>
          <a:p>
            <a:pPr marL="457200" lvl="1" indent="0" algn="just">
              <a:buNone/>
            </a:pPr>
            <a:r>
              <a:rPr lang="en-GB" altLang="en-US"/>
              <a:t>…Controls should be tested, including controls over relevant</a:t>
            </a:r>
          </a:p>
          <a:p>
            <a:pPr marL="457200" lvl="1" indent="0" algn="just">
              <a:buNone/>
            </a:pPr>
            <a:r>
              <a:rPr lang="en-GB" altLang="en-US"/>
              <a:t>assertions related to all significant accounts and disclosures in</a:t>
            </a:r>
          </a:p>
          <a:p>
            <a:pPr marL="457200" lvl="1" indent="0" algn="just">
              <a:buNone/>
            </a:pPr>
            <a:r>
              <a:rPr lang="en-GB" altLang="en-US"/>
              <a:t>the financial statements. Generally, such controls include</a:t>
            </a:r>
          </a:p>
          <a:p>
            <a:pPr marL="457200" lvl="1" indent="0" algn="just">
              <a:buNone/>
            </a:pPr>
            <a:r>
              <a:rPr lang="en-GB" altLang="en-US"/>
              <a:t>[among others]:</a:t>
            </a:r>
          </a:p>
          <a:p>
            <a:pPr marL="457200" lvl="1" indent="0" algn="just">
              <a:buNone/>
            </a:pPr>
            <a:r>
              <a:rPr lang="en-GB" altLang="en-US"/>
              <a:t>• Controls, including information technology general controls,</a:t>
            </a:r>
          </a:p>
          <a:p>
            <a:pPr marL="457200" lvl="1" indent="0" algn="just">
              <a:buNone/>
            </a:pPr>
            <a:r>
              <a:rPr lang="en-GB" altLang="en-US"/>
              <a:t>on which other controls are dependent.</a:t>
            </a:r>
          </a:p>
        </p:txBody>
      </p:sp>
      <p:sp>
        <p:nvSpPr>
          <p:cNvPr id="4" name="Text Box 3"/>
          <p:cNvSpPr txBox="1"/>
          <p:nvPr/>
        </p:nvSpPr>
        <p:spPr>
          <a:xfrm>
            <a:off x="7357745" y="6397625"/>
            <a:ext cx="4666615" cy="368300"/>
          </a:xfrm>
          <a:prstGeom prst="rect">
            <a:avLst/>
          </a:prstGeom>
          <a:noFill/>
        </p:spPr>
        <p:txBody>
          <a:bodyPr wrap="square" rtlCol="0">
            <a:spAutoFit/>
          </a:bodyPr>
          <a:lstStyle/>
          <a:p>
            <a:r>
              <a:rPr lang="en-US" altLang="en-GB"/>
              <a:t>Courtesy: </a:t>
            </a:r>
            <a:r>
              <a:rPr lang="en-GB" altLang="en-US"/>
              <a:t>IT_Control_Obj_for_SOX_2nd Edition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a:sym typeface="+mn-ea"/>
              </a:rPr>
              <a:t>PCAOB Requirement for IT Controls</a:t>
            </a:r>
            <a:endParaRPr lang="en-GB" altLang="en-US"/>
          </a:p>
        </p:txBody>
      </p:sp>
      <p:sp>
        <p:nvSpPr>
          <p:cNvPr id="3" name="Content Placeholder 2"/>
          <p:cNvSpPr>
            <a:spLocks noGrp="1"/>
          </p:cNvSpPr>
          <p:nvPr>
            <p:ph idx="1"/>
          </p:nvPr>
        </p:nvSpPr>
        <p:spPr/>
        <p:txBody>
          <a:bodyPr>
            <a:normAutofit fontScale="90000"/>
          </a:bodyPr>
          <a:lstStyle/>
          <a:p>
            <a:pPr algn="just"/>
            <a:r>
              <a:rPr lang="en-GB" altLang="en-US"/>
              <a:t>Where to Find IT Controls</a:t>
            </a:r>
          </a:p>
          <a:p>
            <a:pPr algn="just"/>
            <a:r>
              <a:rPr lang="en-GB" altLang="en-US"/>
              <a:t>In understanding where IT controls exist within the typical company, consideration of at least three elements should be given: executive management, business process and IT services.</a:t>
            </a:r>
          </a:p>
          <a:p>
            <a:pPr algn="just"/>
            <a:r>
              <a:rPr lang="en-GB" altLang="en-US"/>
              <a:t>Executive management establishes and incorporates strategy into business activities.</a:t>
            </a:r>
          </a:p>
          <a:p>
            <a:pPr algn="just"/>
            <a:r>
              <a:rPr lang="en-GB" altLang="en-US"/>
              <a:t>Business processes are the organization’s mechanism of creating and delivering value to its stakeholders.</a:t>
            </a:r>
          </a:p>
          <a:p>
            <a:pPr algn="just"/>
            <a:r>
              <a:rPr lang="en-GB" altLang="en-US"/>
              <a:t>IT services form the foundation for operations and are provided across the organization, rather than segregated by business process or business unit.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9935"/>
            <a:ext cx="3385185" cy="4672330"/>
          </a:xfrm>
        </p:spPr>
        <p:txBody>
          <a:bodyPr/>
          <a:lstStyle/>
          <a:p>
            <a:r>
              <a:rPr lang="en-US" altLang="en-GB"/>
              <a:t>PCAOB Cont..</a:t>
            </a:r>
          </a:p>
        </p:txBody>
      </p:sp>
      <p:pic>
        <p:nvPicPr>
          <p:cNvPr id="4" name="Content Placeholder 3"/>
          <p:cNvPicPr>
            <a:picLocks noGrp="1" noChangeAspect="1"/>
          </p:cNvPicPr>
          <p:nvPr>
            <p:ph idx="1"/>
          </p:nvPr>
        </p:nvPicPr>
        <p:blipFill>
          <a:blip r:embed="rId2"/>
          <a:stretch>
            <a:fillRect/>
          </a:stretch>
        </p:blipFill>
        <p:spPr>
          <a:xfrm>
            <a:off x="4489450" y="749935"/>
            <a:ext cx="6864350" cy="55435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ltLang="en-US"/>
              <a:t>Information Technology Controls—A Unique Challenge</a:t>
            </a:r>
          </a:p>
        </p:txBody>
      </p:sp>
      <p:sp>
        <p:nvSpPr>
          <p:cNvPr id="3" name="Content Placeholder 2"/>
          <p:cNvSpPr>
            <a:spLocks noGrp="1"/>
          </p:cNvSpPr>
          <p:nvPr>
            <p:ph idx="1"/>
          </p:nvPr>
        </p:nvSpPr>
        <p:spPr/>
        <p:txBody>
          <a:bodyPr>
            <a:normAutofit lnSpcReduction="10000"/>
          </a:bodyPr>
          <a:lstStyle/>
          <a:p>
            <a:pPr algn="just"/>
            <a:r>
              <a:rPr lang="en-US" altLang="en-GB"/>
              <a:t>The Sarbanes-Oxley Act makes corporate executives explicitly responsible for establishing, evaluating and monitoring the effectiveness of internal control over financial reporting. For most organizations, the role of IT will be crucial to achieving this objective.</a:t>
            </a:r>
          </a:p>
          <a:p>
            <a:pPr algn="just"/>
            <a:endParaRPr lang="en-US" altLang="en-GB"/>
          </a:p>
          <a:p>
            <a:pPr algn="just"/>
            <a:r>
              <a:rPr lang="en-US" altLang="en-GB"/>
              <a:t>Whether through a unified ERP system or a disparate collection of operational and financial management software applications, IT is the foundation of an effective system of internal control over financial reporting.</a:t>
            </a:r>
          </a:p>
          <a:p>
            <a:pPr algn="just"/>
            <a:endParaRPr lang="en-US" altLang="en-GB"/>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ltLang="en-US">
                <a:sym typeface="+mn-ea"/>
              </a:rPr>
              <a:t>Information Technology Controls—A Unique Challenge</a:t>
            </a:r>
            <a:endParaRPr lang="en-GB" altLang="en-US"/>
          </a:p>
        </p:txBody>
      </p:sp>
      <p:sp>
        <p:nvSpPr>
          <p:cNvPr id="3" name="Content Placeholder 2"/>
          <p:cNvSpPr>
            <a:spLocks noGrp="1"/>
          </p:cNvSpPr>
          <p:nvPr>
            <p:ph idx="1"/>
          </p:nvPr>
        </p:nvSpPr>
        <p:spPr>
          <a:xfrm>
            <a:off x="838200" y="1825625"/>
            <a:ext cx="10515600" cy="4894580"/>
          </a:xfrm>
        </p:spPr>
        <p:txBody>
          <a:bodyPr>
            <a:normAutofit fontScale="80000"/>
          </a:bodyPr>
          <a:lstStyle/>
          <a:p>
            <a:pPr algn="just"/>
            <a:r>
              <a:rPr lang="en-GB" altLang="en-US"/>
              <a:t>Organizations need representation from IT on their Sarbanes-Oxley teams to determine whether IT monitoring controls, general controls and application controls exist and support the objectives of the compliance effort. Some of the key areas of responsibility for IT include:</a:t>
            </a:r>
          </a:p>
          <a:p>
            <a:pPr marL="457200" lvl="1" indent="0" algn="just">
              <a:buNone/>
            </a:pPr>
            <a:r>
              <a:rPr lang="en-GB" altLang="en-US"/>
              <a:t>• Understanding the organization’s internal control program and its financial reporting process</a:t>
            </a:r>
          </a:p>
          <a:p>
            <a:pPr marL="457200" lvl="1" indent="0" algn="just">
              <a:buNone/>
            </a:pPr>
            <a:r>
              <a:rPr lang="en-GB" altLang="en-US"/>
              <a:t>• Mapping the IT systems that support internal control and the financial reporting process to the financial statements</a:t>
            </a:r>
          </a:p>
          <a:p>
            <a:pPr marL="457200" lvl="1" indent="0" algn="just">
              <a:buNone/>
            </a:pPr>
            <a:r>
              <a:rPr lang="en-GB" altLang="en-US"/>
              <a:t>• Identifying risks related to these IT systems</a:t>
            </a:r>
          </a:p>
          <a:p>
            <a:pPr marL="457200" lvl="1" indent="0" algn="just">
              <a:buNone/>
            </a:pPr>
            <a:r>
              <a:rPr lang="en-GB" altLang="en-US"/>
              <a:t>• Designing and implementing controls designed to mitigate the identified risks and monitoring them for continued effectiveness</a:t>
            </a:r>
          </a:p>
          <a:p>
            <a:pPr marL="457200" lvl="1" indent="0" algn="just">
              <a:buNone/>
            </a:pPr>
            <a:r>
              <a:rPr lang="en-GB" altLang="en-US"/>
              <a:t>• Documenting and testing IT controls</a:t>
            </a:r>
          </a:p>
          <a:p>
            <a:pPr marL="457200" lvl="1" indent="0" algn="just">
              <a:buNone/>
            </a:pPr>
            <a:r>
              <a:rPr lang="en-GB" altLang="en-US"/>
              <a:t>• Ensuring that IT controls are updated and changed as necessary to correspond with changes in internal control or financial reporting processes</a:t>
            </a:r>
          </a:p>
          <a:p>
            <a:pPr marL="457200" lvl="1" indent="0" algn="just">
              <a:buNone/>
            </a:pPr>
            <a:r>
              <a:rPr lang="en-GB" altLang="en-US"/>
              <a:t>• Monitoring IT controls for effective operation over time</a:t>
            </a:r>
          </a:p>
          <a:p>
            <a:pPr marL="457200" lvl="1" indent="0" algn="just">
              <a:buNone/>
            </a:pPr>
            <a:r>
              <a:rPr lang="en-GB" altLang="en-US"/>
              <a:t>• Participation by IT in the Sarbanes-Oxley project management office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Controls Over IT Systems</a:t>
            </a:r>
          </a:p>
        </p:txBody>
      </p:sp>
      <p:sp>
        <p:nvSpPr>
          <p:cNvPr id="3" name="Content Placeholder 2"/>
          <p:cNvSpPr>
            <a:spLocks noGrp="1"/>
          </p:cNvSpPr>
          <p:nvPr>
            <p:ph idx="1"/>
          </p:nvPr>
        </p:nvSpPr>
        <p:spPr/>
        <p:txBody>
          <a:bodyPr/>
          <a:lstStyle/>
          <a:p>
            <a:pPr algn="just"/>
            <a:r>
              <a:rPr lang="en-GB" altLang="en-US"/>
              <a:t>With widespread reliance on IT systems, controls are needed over such systems, large and small. IT controls commonly include controls over the IT environment, computer operations, access to programs and data, program development, and program changes. These controls apply to systems that have been determined to be financially significant.</a:t>
            </a:r>
          </a:p>
          <a:p>
            <a:pPr marL="0" indent="0" algn="just">
              <a:buNone/>
            </a:pPr>
            <a:endParaRPr lang="en-GB" altLang="en-US"/>
          </a:p>
          <a:p>
            <a:pPr algn="just"/>
            <a:r>
              <a:rPr lang="en-GB" altLang="en-US" b="1"/>
              <a:t>IT Control Environment</a:t>
            </a:r>
          </a:p>
          <a:p>
            <a:pPr algn="just"/>
            <a:r>
              <a:rPr lang="en-GB" altLang="en-US"/>
              <a:t>The control environment has become more important in PCAOB Auditing Standard No. 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sym typeface="+mn-ea"/>
              </a:rPr>
              <a:t>IT Control Environment</a:t>
            </a:r>
            <a:endParaRPr lang="en-GB" altLang="en-US"/>
          </a:p>
        </p:txBody>
      </p:sp>
      <p:sp>
        <p:nvSpPr>
          <p:cNvPr id="3" name="Content Placeholder 2"/>
          <p:cNvSpPr>
            <a:spLocks noGrp="1"/>
          </p:cNvSpPr>
          <p:nvPr>
            <p:ph idx="1"/>
          </p:nvPr>
        </p:nvSpPr>
        <p:spPr/>
        <p:txBody>
          <a:bodyPr/>
          <a:lstStyle/>
          <a:p>
            <a:r>
              <a:rPr lang="en-GB" altLang="en-US"/>
              <a:t>Computer Operations</a:t>
            </a:r>
          </a:p>
          <a:p>
            <a:r>
              <a:rPr lang="en-GB" altLang="en-US"/>
              <a:t>Access to Programs and Data</a:t>
            </a:r>
          </a:p>
          <a:p>
            <a:r>
              <a:rPr lang="en-GB" altLang="en-US"/>
              <a:t>Program Development and Program Change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Compliance and IT Governance</a:t>
            </a:r>
          </a:p>
        </p:txBody>
      </p:sp>
      <p:sp>
        <p:nvSpPr>
          <p:cNvPr id="3" name="Content Placeholder 2"/>
          <p:cNvSpPr>
            <a:spLocks noGrp="1"/>
          </p:cNvSpPr>
          <p:nvPr>
            <p:ph idx="1"/>
          </p:nvPr>
        </p:nvSpPr>
        <p:spPr/>
        <p:txBody>
          <a:bodyPr>
            <a:normAutofit lnSpcReduction="10000"/>
          </a:bodyPr>
          <a:lstStyle/>
          <a:p>
            <a:pPr algn="just"/>
            <a:r>
              <a:rPr lang="en-GB" altLang="en-US"/>
              <a:t>There is no such thing as a risk-free environment, and compliance with the Sarbanes-Oxley Act does not create such an environment. However, the process that most organizations will follow to enhance their system of internal control to conform to the Sarbanes-Oxley Act is likely to provide lasting benefits. Good IT governance over planning and life cycle control objectives should result in more accurate and timely financial reporting.</a:t>
            </a:r>
          </a:p>
          <a:p>
            <a:pPr algn="just"/>
            <a:endParaRPr lang="en-GB" altLang="en-US"/>
          </a:p>
          <a:p>
            <a:pPr algn="just"/>
            <a:r>
              <a:rPr lang="en-GB" altLang="en-US" b="1"/>
              <a:t>Building a strong internal control program within IT can help to:</a:t>
            </a:r>
          </a:p>
          <a:p>
            <a:pPr lvl="1" algn="just"/>
            <a:r>
              <a:rPr lang="en-GB" altLang="en-US"/>
              <a:t>Enhance overall IT governance</a:t>
            </a:r>
          </a:p>
          <a:p>
            <a:pPr lvl="1" algn="just"/>
            <a:r>
              <a:rPr lang="en-GB" altLang="en-US"/>
              <a:t>Enhance the understanding of IT among executives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a:sym typeface="+mn-ea"/>
              </a:rPr>
              <a:t>Compliance and IT Governance</a:t>
            </a:r>
            <a:endParaRPr lang="en-GB" altLang="en-US"/>
          </a:p>
        </p:txBody>
      </p:sp>
      <p:sp>
        <p:nvSpPr>
          <p:cNvPr id="3" name="Content Placeholder 2"/>
          <p:cNvSpPr>
            <a:spLocks noGrp="1"/>
          </p:cNvSpPr>
          <p:nvPr>
            <p:ph idx="1"/>
          </p:nvPr>
        </p:nvSpPr>
        <p:spPr/>
        <p:txBody>
          <a:bodyPr>
            <a:normAutofit fontScale="90000"/>
          </a:bodyPr>
          <a:lstStyle/>
          <a:p>
            <a:pPr algn="just"/>
            <a:r>
              <a:rPr lang="en-GB" altLang="en-US"/>
              <a:t>Enable better business decisions by providing higher-quality, more timely information</a:t>
            </a:r>
          </a:p>
          <a:p>
            <a:pPr algn="just"/>
            <a:r>
              <a:rPr lang="en-GB" altLang="en-US"/>
              <a:t>Align project initiatives with business requirements</a:t>
            </a:r>
          </a:p>
          <a:p>
            <a:pPr algn="just"/>
            <a:r>
              <a:rPr lang="en-GB" altLang="en-US"/>
              <a:t>Prevent loss of intellectual assets and the possibility of system breach</a:t>
            </a:r>
          </a:p>
          <a:p>
            <a:pPr algn="just"/>
            <a:r>
              <a:rPr lang="en-GB" altLang="en-US"/>
              <a:t>Contribute to the compliance of other regulatory requirements, such as privacy</a:t>
            </a:r>
          </a:p>
          <a:p>
            <a:pPr algn="just"/>
            <a:r>
              <a:rPr lang="en-GB" altLang="en-US"/>
              <a:t>Gain competitive advantage through more efficient and effective operations</a:t>
            </a:r>
          </a:p>
          <a:p>
            <a:pPr algn="just"/>
            <a:r>
              <a:rPr lang="en-GB" altLang="en-US"/>
              <a:t>Optimize operations with an integrated approach to security, availability and processing integrity</a:t>
            </a:r>
          </a:p>
          <a:p>
            <a:pPr algn="just"/>
            <a:r>
              <a:rPr lang="en-GB" altLang="en-US"/>
              <a:t>Enhance risk management competencies and prioritization of initiatives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Managing the Human Element of Change</a:t>
            </a:r>
          </a:p>
        </p:txBody>
      </p:sp>
      <p:sp>
        <p:nvSpPr>
          <p:cNvPr id="3" name="Content Placeholder 2"/>
          <p:cNvSpPr>
            <a:spLocks noGrp="1"/>
          </p:cNvSpPr>
          <p:nvPr>
            <p:ph idx="1"/>
          </p:nvPr>
        </p:nvSpPr>
        <p:spPr/>
        <p:txBody>
          <a:bodyPr/>
          <a:lstStyle/>
          <a:p>
            <a:r>
              <a:rPr lang="en-GB" altLang="en-US"/>
              <a:t>Committing to Change</a:t>
            </a:r>
          </a:p>
          <a:p>
            <a:r>
              <a:rPr lang="en-GB" altLang="en-US"/>
              <a:t>Assess the Current State</a:t>
            </a:r>
          </a:p>
          <a:p>
            <a:r>
              <a:rPr lang="en-GB" altLang="en-US"/>
              <a:t>Overcome the Obstacles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Applying COSO to Information Technology</a:t>
            </a:r>
          </a:p>
        </p:txBody>
      </p:sp>
      <p:sp>
        <p:nvSpPr>
          <p:cNvPr id="3" name="Content Placeholder 2"/>
          <p:cNvSpPr>
            <a:spLocks noGrp="1"/>
          </p:cNvSpPr>
          <p:nvPr>
            <p:ph idx="1"/>
          </p:nvPr>
        </p:nvSpPr>
        <p:spPr/>
        <p:txBody>
          <a:bodyPr/>
          <a:lstStyle/>
          <a:p>
            <a:pPr algn="just"/>
            <a:r>
              <a:rPr lang="en-GB" altLang="en-US"/>
              <a:t>For Sarbanes-Oxley compliance efforts, it is important to demonstrate ho</a:t>
            </a:r>
            <a:r>
              <a:rPr lang="en-US" altLang="en-GB"/>
              <a:t>w </a:t>
            </a:r>
            <a:r>
              <a:rPr lang="en-GB" altLang="en-US"/>
              <a:t>IT controls support the COSO framework. An organization should have IT control competency in all five of the components COSO identifies as essential for effective internal control. They are:</a:t>
            </a:r>
          </a:p>
          <a:p>
            <a:pPr lvl="1" algn="just"/>
            <a:r>
              <a:rPr lang="en-GB" altLang="en-US"/>
              <a:t>Control environment</a:t>
            </a:r>
          </a:p>
          <a:p>
            <a:pPr lvl="1" algn="just"/>
            <a:r>
              <a:rPr lang="en-GB" altLang="en-US"/>
              <a:t>Risk assessment</a:t>
            </a:r>
          </a:p>
          <a:p>
            <a:pPr lvl="1" algn="just"/>
            <a:r>
              <a:rPr lang="en-GB" altLang="en-US"/>
              <a:t>Control activities</a:t>
            </a:r>
          </a:p>
          <a:p>
            <a:pPr lvl="1" algn="just"/>
            <a:r>
              <a:rPr lang="en-US" altLang="en-GB"/>
              <a:t>I</a:t>
            </a:r>
            <a:r>
              <a:rPr lang="en-GB" altLang="en-US"/>
              <a:t>nformation and communication</a:t>
            </a:r>
          </a:p>
          <a:p>
            <a:pPr lvl="1" algn="just"/>
            <a:r>
              <a:rPr lang="en-GB" altLang="en-US"/>
              <a:t>Monitoring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Road Map for Compliance</a:t>
            </a:r>
          </a:p>
        </p:txBody>
      </p:sp>
      <p:pic>
        <p:nvPicPr>
          <p:cNvPr id="4" name="Content Placeholder 3"/>
          <p:cNvPicPr>
            <a:picLocks noGrp="1" noChangeAspect="1"/>
          </p:cNvPicPr>
          <p:nvPr>
            <p:ph idx="1"/>
          </p:nvPr>
        </p:nvPicPr>
        <p:blipFill>
          <a:blip r:embed="rId2"/>
          <a:stretch>
            <a:fillRect/>
          </a:stretch>
        </p:blipFill>
        <p:spPr>
          <a:xfrm>
            <a:off x="2652395" y="1303020"/>
            <a:ext cx="6887845" cy="522097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p:nvPr>
        </p:nvPicPr>
        <p:blipFill>
          <a:blip r:embed="rId2"/>
          <a:stretch>
            <a:fillRect/>
          </a:stretch>
        </p:blipFill>
        <p:spPr>
          <a:xfrm>
            <a:off x="1177925" y="156210"/>
            <a:ext cx="9836785" cy="654494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87170" y="2228850"/>
            <a:ext cx="9218295" cy="2399665"/>
          </a:xfrm>
          <a:prstGeom prst="rect">
            <a:avLst/>
          </a:prstGeom>
          <a:noFill/>
          <a:ln>
            <a:noFill/>
          </a:ln>
        </p:spPr>
        <p:txBody>
          <a:bodyPr wrap="square" rtlCol="0" anchor="t">
            <a:spAutoFit/>
          </a:bodyPr>
          <a:lstStyle/>
          <a:p>
            <a:pPr algn="ctr"/>
            <a:r>
              <a:rPr lang="en-US" altLang="en-GB" sz="15000" b="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The 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2238</Words>
  <Application>Microsoft Office PowerPoint</Application>
  <PresentationFormat>Widescreen</PresentationFormat>
  <Paragraphs>129</Paragraphs>
  <Slides>26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Office Theme</vt:lpstr>
      <vt:lpstr>SOX Compliance Requirements</vt:lpstr>
      <vt:lpstr>Preface</vt:lpstr>
      <vt:lpstr>Introduction</vt:lpstr>
      <vt:lpstr>Introduction</vt:lpstr>
      <vt:lpstr>SOX Compliance and Data Security</vt:lpstr>
      <vt:lpstr>SOX Compliance and Data Security </vt:lpstr>
      <vt:lpstr>Beginning Steps to Compliance</vt:lpstr>
      <vt:lpstr>Beginning Steps to Compliance</vt:lpstr>
      <vt:lpstr>Other Things to Know Before You Begin</vt:lpstr>
      <vt:lpstr>Other Things to Know Before You Begin</vt:lpstr>
      <vt:lpstr>Other Things to Know Before You Begin</vt:lpstr>
      <vt:lpstr>SOX Compliance Checklist</vt:lpstr>
      <vt:lpstr>PCAOB Requirement for IT Controls</vt:lpstr>
      <vt:lpstr>PCAOB Requirement for IT Controls</vt:lpstr>
      <vt:lpstr>PCAOB Cont..</vt:lpstr>
      <vt:lpstr>Information Technology Controls—A Unique Challenge</vt:lpstr>
      <vt:lpstr>Information Technology Controls—A Unique Challenge</vt:lpstr>
      <vt:lpstr>Controls Over IT Systems</vt:lpstr>
      <vt:lpstr>IT Control Environment</vt:lpstr>
      <vt:lpstr>Compliance and IT Governance</vt:lpstr>
      <vt:lpstr>Compliance and IT Governance</vt:lpstr>
      <vt:lpstr>Managing the Human Element of Change</vt:lpstr>
      <vt:lpstr>Applying COSO to Information Technology</vt:lpstr>
      <vt:lpstr>Road Map for Compliance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SOX Compliance Requirements</dc:title>
  <dc:creator>Jay Hind</dc:creator>
  <cp:lastModifiedBy>Dharmesh Dave</cp:lastModifiedBy>
  <cp:revision>26</cp:revision>
  <dcterms:created xsi:type="dcterms:W3CDTF">2017-11-02T05:22:00Z</dcterms:created>
  <dcterms:modified xsi:type="dcterms:W3CDTF">2018-11-02T02:56:27Z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2057-10.2.0.5934</vt:lpwstr>
  </property>
</Properties>
</file>