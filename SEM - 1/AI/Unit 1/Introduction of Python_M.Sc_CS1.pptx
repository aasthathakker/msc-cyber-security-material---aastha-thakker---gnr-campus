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5" roundtripDataSignature="AMtx7mhYlviEMxrxb8GY8aKNt9BcUZPy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" name="Google Shape;21;p6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7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7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7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Introduction of Python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Dr. Ravirajsinh S. Vaghela</a:t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2275" y="-2"/>
            <a:ext cx="2038350" cy="191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Introduction to Python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311700" y="1152475"/>
            <a:ext cx="4483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What is python?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WHY to use python?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Where to use python?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300" y="848675"/>
            <a:ext cx="203835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Introduction to Python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311700" y="1152475"/>
            <a:ext cx="6037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Python is a popular programming language.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It was created by Guido van Rossum , and released in 1991 at CWI (Centrum Wiskunde &amp; Informatica) Netherland.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Python is General Purpose,High Level programming language,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Python is a dynamic programming.</a:t>
            </a:r>
            <a:endParaRPr/>
          </a:p>
        </p:txBody>
      </p:sp>
      <p:pic>
        <p:nvPicPr>
          <p:cNvPr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3700" y="0"/>
            <a:ext cx="2490300" cy="24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FAQ</a:t>
            </a:r>
            <a:endParaRPr/>
          </a:p>
        </p:txBody>
      </p:sp>
      <p:sp>
        <p:nvSpPr>
          <p:cNvPr id="76" name="Google Shape;76;p4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25"/>
              <a:t>1. Who created Python?</a:t>
            </a:r>
            <a:endParaRPr b="1"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25"/>
              <a:t>Python created by Guido Van Rossum, a Dutch Programmer.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25"/>
              <a:t>2. Why Python is called Python?</a:t>
            </a:r>
            <a:endParaRPr b="1"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25"/>
              <a:t>Python does not have any relation to Snake. The name of the Python programming language was inspired by a </a:t>
            </a:r>
            <a:r>
              <a:rPr b="1" lang="en" sz="1325"/>
              <a:t>British Comedy Group Monty Python.</a:t>
            </a:r>
            <a:endParaRPr b="1"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25"/>
              <a:t>3. When was Python's first version released?</a:t>
            </a:r>
            <a:endParaRPr b="1"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25"/>
              <a:t>Python's first version was released in February 1991.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25"/>
              <a:t>4. What was the first version of Python?</a:t>
            </a:r>
            <a:endParaRPr b="1"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325"/>
              <a:t>Python's first version was Python 0.9.0</a:t>
            </a:r>
            <a:endParaRPr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325"/>
              <a:t>5. When was Python 3.0 version released?</a:t>
            </a:r>
            <a:endParaRPr b="1" sz="132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1325"/>
              <a:t>Python 3.0 version was released in December 2008.</a:t>
            </a:r>
            <a:endParaRPr sz="13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5710" l="717" r="2317" t="11520"/>
          <a:stretch/>
        </p:blipFill>
        <p:spPr>
          <a:xfrm>
            <a:off x="187525" y="375025"/>
            <a:ext cx="8545699" cy="400497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 txBox="1"/>
          <p:nvPr/>
        </p:nvSpPr>
        <p:spPr>
          <a:xfrm>
            <a:off x="187525" y="4580925"/>
            <a:ext cx="5947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https://www.tiobe.com/tiobe-index/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6"/>
          <p:cNvPicPr preferRelativeResize="0"/>
          <p:nvPr/>
        </p:nvPicPr>
        <p:blipFill rotWithShape="1">
          <a:blip r:embed="rId3">
            <a:alphaModFix/>
          </a:blip>
          <a:srcRect b="5704" l="7" r="26284" t="16788"/>
          <a:stretch/>
        </p:blipFill>
        <p:spPr>
          <a:xfrm>
            <a:off x="652338" y="93725"/>
            <a:ext cx="7839324" cy="4634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 txBox="1"/>
          <p:nvPr/>
        </p:nvSpPr>
        <p:spPr>
          <a:xfrm>
            <a:off x="549175" y="4728250"/>
            <a:ext cx="7353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https://spectrum.ieee.org/top-programming-languages-2024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Why Python ? - Context of Programmer</a:t>
            </a:r>
            <a:endParaRPr/>
          </a:p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311700" y="1152475"/>
            <a:ext cx="5233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3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45"/>
              <a:buChar char="❏"/>
            </a:pPr>
            <a:r>
              <a:rPr lang="en" sz="2444"/>
              <a:t>Simple &amp; Easy to Learn</a:t>
            </a:r>
            <a:endParaRPr sz="2444"/>
          </a:p>
          <a:p>
            <a:pPr indent="-383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45"/>
              <a:buChar char="❏"/>
            </a:pPr>
            <a:r>
              <a:rPr lang="en" sz="2444"/>
              <a:t>Platform Independent</a:t>
            </a:r>
            <a:endParaRPr sz="2444"/>
          </a:p>
          <a:p>
            <a:pPr indent="-383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45"/>
              <a:buChar char="❏"/>
            </a:pPr>
            <a:r>
              <a:rPr lang="en" sz="2444"/>
              <a:t>Free &amp; Open Source</a:t>
            </a:r>
            <a:endParaRPr sz="2444"/>
          </a:p>
          <a:p>
            <a:pPr indent="-383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45"/>
              <a:buChar char="❏"/>
            </a:pPr>
            <a:r>
              <a:rPr lang="en" sz="2444"/>
              <a:t>Interpreted (bytecode-compiled)</a:t>
            </a:r>
            <a:endParaRPr sz="2444"/>
          </a:p>
          <a:p>
            <a:pPr indent="-383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45"/>
              <a:buChar char="❏"/>
            </a:pPr>
            <a:r>
              <a:rPr lang="en" sz="2444"/>
              <a:t>Rich Library support</a:t>
            </a:r>
            <a:endParaRPr sz="2444"/>
          </a:p>
          <a:p>
            <a:pPr indent="-383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45"/>
              <a:buChar char="❏"/>
            </a:pPr>
            <a:r>
              <a:rPr lang="en" sz="2444"/>
              <a:t>Embeddable &amp; Extensible</a:t>
            </a:r>
            <a:endParaRPr sz="2444"/>
          </a:p>
          <a:p>
            <a:pPr indent="-383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45"/>
              <a:buChar char="❏"/>
            </a:pPr>
            <a:r>
              <a:rPr lang="en" sz="2444"/>
              <a:t>Portable</a:t>
            </a:r>
            <a:endParaRPr sz="2444"/>
          </a:p>
          <a:p>
            <a:pPr indent="-383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45"/>
              <a:buChar char="❏"/>
            </a:pPr>
            <a:r>
              <a:rPr lang="en" sz="2444"/>
              <a:t>Robust</a:t>
            </a:r>
            <a:endParaRPr/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7600" y="1170125"/>
            <a:ext cx="2874900" cy="31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Where Python is Used?</a:t>
            </a:r>
            <a:endParaRPr/>
          </a:p>
        </p:txBody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0" y="572700"/>
            <a:ext cx="7600200" cy="26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Web frameworks and applications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GUI - based desktop applications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Graphic design , image processing applications, Games, and Scientific/ Computational Applications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ML/AI, Neural networks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Data Science, Data Visualization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IOT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/>
              <a:t>Database Development</a:t>
            </a:r>
            <a:endParaRPr/>
          </a:p>
        </p:txBody>
      </p:sp>
      <p:sp>
        <p:nvSpPr>
          <p:cNvPr id="102" name="Google Shape;102;p8"/>
          <p:cNvSpPr txBox="1"/>
          <p:nvPr>
            <p:ph idx="1" type="body"/>
          </p:nvPr>
        </p:nvSpPr>
        <p:spPr>
          <a:xfrm>
            <a:off x="4030250" y="3410200"/>
            <a:ext cx="5114100" cy="17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/>
              <a:t>Installing Python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/>
              <a:t>Checking Python installation &amp; version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/>
              <a:t>Setting the PATH variable (so python works from anywhere)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/>
              <a:t>Creating &amp; using a virtual environment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/>
          <p:nvPr>
            <p:ph type="title"/>
          </p:nvPr>
        </p:nvSpPr>
        <p:spPr>
          <a:xfrm>
            <a:off x="311700" y="56505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Python	</a:t>
            </a:r>
            <a:endParaRPr/>
          </a:p>
        </p:txBody>
      </p:sp>
      <p:sp>
        <p:nvSpPr>
          <p:cNvPr id="108" name="Google Shape;108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200"/>
              <a:buNone/>
            </a:pPr>
            <a:r>
              <a:rPr b="1" lang="en" sz="2000"/>
              <a:t>print(“Hello world”)</a:t>
            </a:r>
            <a:endParaRPr b="1" sz="2000"/>
          </a:p>
        </p:txBody>
      </p:sp>
      <p:sp>
        <p:nvSpPr>
          <p:cNvPr id="109" name="Google Shape;109;p9"/>
          <p:cNvSpPr txBox="1"/>
          <p:nvPr>
            <p:ph type="title"/>
          </p:nvPr>
        </p:nvSpPr>
        <p:spPr>
          <a:xfrm>
            <a:off x="3223350" y="56505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	</a:t>
            </a:r>
            <a:endParaRPr/>
          </a:p>
        </p:txBody>
      </p:sp>
      <p:sp>
        <p:nvSpPr>
          <p:cNvPr id="110" name="Google Shape;110;p9"/>
          <p:cNvSpPr txBox="1"/>
          <p:nvPr>
            <p:ph idx="1" type="body"/>
          </p:nvPr>
        </p:nvSpPr>
        <p:spPr>
          <a:xfrm>
            <a:off x="3223350" y="139905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400"/>
              <a:t>#include&lt;stdio.h&gt;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400"/>
              <a:t>Int main()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400"/>
              <a:t>{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400"/>
              <a:t>	printf(Hello world\n“)</a:t>
            </a:r>
            <a:endParaRPr b="1" sz="14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400"/>
              <a:t>return 0;</a:t>
            </a:r>
            <a:endParaRPr b="1"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rPr b="1" lang="en" sz="1400"/>
              <a:t>}</a:t>
            </a:r>
            <a:endParaRPr b="1" sz="1400"/>
          </a:p>
        </p:txBody>
      </p:sp>
      <p:sp>
        <p:nvSpPr>
          <p:cNvPr id="111" name="Google Shape;111;p9"/>
          <p:cNvSpPr txBox="1"/>
          <p:nvPr>
            <p:ph type="title"/>
          </p:nvPr>
        </p:nvSpPr>
        <p:spPr>
          <a:xfrm>
            <a:off x="6135000" y="56505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Java</a:t>
            </a:r>
            <a:endParaRPr/>
          </a:p>
        </p:txBody>
      </p:sp>
      <p:sp>
        <p:nvSpPr>
          <p:cNvPr id="112" name="Google Shape;112;p9"/>
          <p:cNvSpPr txBox="1"/>
          <p:nvPr>
            <p:ph idx="1" type="body"/>
          </p:nvPr>
        </p:nvSpPr>
        <p:spPr>
          <a:xfrm>
            <a:off x="6135000" y="139905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 sz="1300"/>
              <a:t>public class HelloWorld{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300"/>
              <a:t>	Public static void main(String[] args)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300"/>
              <a:t>System.out. println(“Hello world”);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rPr b="1" lang="en" sz="1300"/>
              <a:t>}</a:t>
            </a:r>
            <a:endParaRPr b="1" sz="1300"/>
          </a:p>
        </p:txBody>
      </p:sp>
      <p:sp>
        <p:nvSpPr>
          <p:cNvPr id="113" name="Google Shape;113;p9"/>
          <p:cNvSpPr txBox="1"/>
          <p:nvPr/>
        </p:nvSpPr>
        <p:spPr>
          <a:xfrm>
            <a:off x="0" y="4195025"/>
            <a:ext cx="4134900" cy="465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https://www.python.org/downloads/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1"/>
          <p:cNvPicPr preferRelativeResize="0"/>
          <p:nvPr/>
        </p:nvPicPr>
        <p:blipFill rotWithShape="1">
          <a:blip r:embed="rId3">
            <a:alphaModFix/>
          </a:blip>
          <a:srcRect b="8196" l="0" r="0" t="0"/>
          <a:stretch/>
        </p:blipFill>
        <p:spPr>
          <a:xfrm>
            <a:off x="152400" y="257013"/>
            <a:ext cx="8705301" cy="44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type="title"/>
          </p:nvPr>
        </p:nvSpPr>
        <p:spPr>
          <a:xfrm>
            <a:off x="0" y="0"/>
            <a:ext cx="3254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Installing Python</a:t>
            </a:r>
            <a:endParaRPr/>
          </a:p>
        </p:txBody>
      </p: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0" y="544800"/>
            <a:ext cx="4193100" cy="43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Go to python.org/downloads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Download the latest stable release (e.g., Python 3.12.x)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Run the installer and check: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"Add Python to PATH" (very important if you don’t want to manually set PATH later)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Then choose Customize Installation or Install Now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After installation, Python will be in a folder like:</a:t>
            </a:r>
            <a:br>
              <a:rPr lang="en" sz="1500"/>
            </a:br>
            <a:r>
              <a:rPr lang="en" sz="1500"/>
              <a:t>C:\Users\&lt;YourUser&gt;\AppData\Local\Programs\Python\Python312\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{Linux} sudo apt update - </a:t>
            </a:r>
            <a:br>
              <a:rPr lang="en" sz="1500"/>
            </a:br>
            <a:r>
              <a:rPr lang="en" sz="1500"/>
              <a:t>sudo apt install python3 python3-pip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12"/>
              <a:buNone/>
            </a:pPr>
            <a:r>
              <a:t/>
            </a:r>
            <a:endParaRPr sz="1500"/>
          </a:p>
        </p:txBody>
      </p:sp>
      <p:pic>
        <p:nvPicPr>
          <p:cNvPr id="125" name="Google Shape;1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2450" y="927675"/>
            <a:ext cx="5031551" cy="34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type="title"/>
          </p:nvPr>
        </p:nvSpPr>
        <p:spPr>
          <a:xfrm>
            <a:off x="0" y="156325"/>
            <a:ext cx="50925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Checking Python Installation &amp; Version</a:t>
            </a:r>
            <a:endParaRPr/>
          </a:p>
        </p:txBody>
      </p:sp>
      <p:sp>
        <p:nvSpPr>
          <p:cNvPr id="131" name="Google Shape;131;p14"/>
          <p:cNvSpPr txBox="1"/>
          <p:nvPr>
            <p:ph idx="1" type="body"/>
          </p:nvPr>
        </p:nvSpPr>
        <p:spPr>
          <a:xfrm>
            <a:off x="0" y="580225"/>
            <a:ext cx="34128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python --version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Or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python3 --version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b="1" lang="en" sz="1500" u="sng"/>
              <a:t>Checking where Python is installed</a:t>
            </a:r>
            <a:endParaRPr b="1" sz="1500" u="sng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where python      # Windows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which python3     # Linux/Mac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None/>
            </a:pPr>
            <a:r>
              <a:t/>
            </a:r>
            <a:endParaRPr b="1" sz="1500" u="sng"/>
          </a:p>
        </p:txBody>
      </p:sp>
      <p:sp>
        <p:nvSpPr>
          <p:cNvPr id="132" name="Google Shape;132;p14"/>
          <p:cNvSpPr txBox="1"/>
          <p:nvPr/>
        </p:nvSpPr>
        <p:spPr>
          <a:xfrm>
            <a:off x="3412800" y="633750"/>
            <a:ext cx="55965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GUIDE: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https://www.dataquest.io/blog/a-complete-guide-to-python-virtual-environments/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type="title"/>
          </p:nvPr>
        </p:nvSpPr>
        <p:spPr>
          <a:xfrm>
            <a:off x="0" y="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Setting the PATH Variable (Windows)</a:t>
            </a:r>
            <a:endParaRPr/>
          </a:p>
        </p:txBody>
      </p:sp>
      <p:sp>
        <p:nvSpPr>
          <p:cNvPr id="138" name="Google Shape;138;p15"/>
          <p:cNvSpPr txBox="1"/>
          <p:nvPr>
            <p:ph idx="1" type="body"/>
          </p:nvPr>
        </p:nvSpPr>
        <p:spPr>
          <a:xfrm>
            <a:off x="91800" y="755700"/>
            <a:ext cx="3175200" cy="43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48"/>
              <a:buNone/>
            </a:pPr>
            <a:r>
              <a:rPr lang="en" u="sng">
                <a:latin typeface="Times New Roman"/>
                <a:ea typeface="Times New Roman"/>
                <a:cs typeface="Times New Roman"/>
                <a:sym typeface="Times New Roman"/>
              </a:rPr>
              <a:t>If you didn’t check “Add Python to PATH” during installation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Find your Python installation folder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(e.g.,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C:\Users\&lt;YourUser&gt;\AppData\Local\Programs\Python\Python312\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Copy this path and the path to its Scripts folder: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C:\Users\&lt;YourUser&gt;\AppData\Local\Programs\Python\Python312\Scripts\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Open: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Win + R → type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sysdm.cpl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→ Enter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Go to Advanced → </a:t>
            </a:r>
            <a:r>
              <a:rPr lang="en"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Environment Variable</a:t>
            </a:r>
            <a:endParaRPr>
              <a:highlight>
                <a:srgbClr val="FF99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Under System Variables, </a:t>
            </a:r>
            <a:r>
              <a:rPr lang="en"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find Path → Edit → New → paste both paths.</a:t>
            </a:r>
            <a:endParaRPr>
              <a:highlight>
                <a:srgbClr val="FF99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48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Close and reopen your terminal, then test: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python --version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15"/>
          <p:cNvPicPr preferRelativeResize="0"/>
          <p:nvPr/>
        </p:nvPicPr>
        <p:blipFill rotWithShape="1">
          <a:blip r:embed="rId3">
            <a:alphaModFix/>
          </a:blip>
          <a:srcRect b="26195" l="2920" r="29635" t="19568"/>
          <a:stretch/>
        </p:blipFill>
        <p:spPr>
          <a:xfrm>
            <a:off x="3267000" y="0"/>
            <a:ext cx="5877000" cy="2658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7849825" y="1024225"/>
            <a:ext cx="762600" cy="149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7576075" y="1109325"/>
            <a:ext cx="762600" cy="149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143500" y="2212875"/>
            <a:ext cx="388800" cy="82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4488475" y="2212875"/>
            <a:ext cx="388800" cy="8268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Virtual Environment Setup</a:t>
            </a:r>
            <a:endParaRPr b="1"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2825" y="1193875"/>
            <a:ext cx="4920000" cy="3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/>
              <a:t>Virtual environments let you create an isolated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/>
              <a:t>Python workspace, so different projects can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/>
              <a:t>use different package versions.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Creating a virtual environment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python -m venv myenv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python3 -m venv myenv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This creates a folder </a:t>
            </a:r>
            <a:b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"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myenv/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i="1" lang="en">
                <a:highlight>
                  <a:srgbClr val="FF99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its own Python &amp; pip.</a:t>
            </a:r>
            <a:endParaRPr i="1">
              <a:highlight>
                <a:srgbClr val="FF99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3">
            <a:alphaModFix/>
          </a:blip>
          <a:srcRect b="13409" l="3964" r="4267" t="13071"/>
          <a:stretch/>
        </p:blipFill>
        <p:spPr>
          <a:xfrm>
            <a:off x="4785275" y="1654638"/>
            <a:ext cx="4224125" cy="27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Activating/Deactivating the virtual environment:</a:t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311700" y="1152475"/>
            <a:ext cx="3097500" cy="2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None/>
            </a:pPr>
            <a:r>
              <a:rPr b="1" lang="en"/>
              <a:t>Windows (Command Prompt):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4573"/>
              <a:buNone/>
            </a:pPr>
            <a:r>
              <a:rPr b="1" i="1" lang="en" sz="2221">
                <a:highlight>
                  <a:srgbClr val="FF9900"/>
                </a:highlight>
              </a:rPr>
              <a:t>myenv\Scripts\activate</a:t>
            </a:r>
            <a:endParaRPr b="1" i="1" sz="2221"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n"/>
              <a:t>Windows (PowerShell):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lang="en">
                <a:highlight>
                  <a:srgbClr val="FF9900"/>
                </a:highlight>
              </a:rPr>
              <a:t>.\myenv\Scripts\Activate.ps1</a:t>
            </a:r>
            <a:endParaRPr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9032"/>
              <a:buNone/>
            </a:pPr>
            <a:r>
              <a:rPr b="1" lang="en"/>
              <a:t>Linux/Mac: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9032"/>
              <a:buNone/>
            </a:pPr>
            <a:r>
              <a:rPr lang="en">
                <a:highlight>
                  <a:srgbClr val="FF9900"/>
                </a:highlight>
              </a:rPr>
              <a:t>source myenv/bin/activate</a:t>
            </a:r>
            <a:endParaRPr>
              <a:highlight>
                <a:srgbClr val="FF9900"/>
              </a:highlight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4253825" y="1170550"/>
            <a:ext cx="3999600" cy="10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:</a:t>
            </a:r>
            <a:endParaRPr b="1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active, your prompt changes: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(myenv) C:\Users\Ravi\project&gt;</a:t>
            </a:r>
            <a:endParaRPr b="0" i="0" sz="1100" u="none" cap="none" strike="noStrike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366325" y="3543625"/>
            <a:ext cx="3199800" cy="81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Deactivating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chemeClr val="dk2"/>
                </a:solidFill>
                <a:highlight>
                  <a:srgbClr val="00FFFF"/>
                </a:highlight>
                <a:latin typeface="Arial"/>
                <a:ea typeface="Arial"/>
                <a:cs typeface="Arial"/>
                <a:sym typeface="Arial"/>
              </a:rPr>
              <a:t>deactivate</a:t>
            </a:r>
            <a:endParaRPr b="0" i="1" sz="1800" u="none" cap="none" strike="noStrike">
              <a:solidFill>
                <a:schemeClr val="dk2"/>
              </a:solidFill>
              <a:highlight>
                <a:srgbClr val="00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3825" y="2254450"/>
            <a:ext cx="4899425" cy="2780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311700" y="276625"/>
            <a:ext cx="83979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b="1" lang="en"/>
              <a:t># Check system-wide Python installations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en"/>
              <a:t>$ where python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en"/>
              <a:t>C:\Users\Ravi\AppData\Local\Programs\Python\Python311\python.exe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b="1" lang="en"/>
              <a:t>#  Check default version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en"/>
              <a:t>$ python --version     -&gt;  Python 3.12.2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b="1" lang="en"/>
              <a:t>#  Create a virtual environment using Python 3.11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en"/>
              <a:t>$ C:\Users\Ravi\AppData\Local\Programs\Python\Python311\python.exe -m venv py311_env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b="1" lang="en"/>
              <a:t>#  Create a virtual environment using Python 3.12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en"/>
              <a:t>$ C:\Users\Ravi\AppData\Local\Programs\Python\Python312\python.exe -m venv py312_env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b="1" lang="en"/>
              <a:t>#  Activate Python 3.11 environment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en"/>
              <a:t>$ py311_env\Scripts\activate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81818"/>
              <a:buNone/>
            </a:pPr>
            <a:r>
              <a:rPr lang="en"/>
              <a:t>(py311_env) C:\Users\Ravi\project&gt; python --version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81818"/>
              <a:buNone/>
            </a:pPr>
            <a:r>
              <a:rPr lang="en"/>
              <a:t>Python 3.11.9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/>
        </p:nvSpPr>
        <p:spPr>
          <a:xfrm>
            <a:off x="136800" y="160800"/>
            <a:ext cx="8448000" cy="48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(py311_env) C:\Users\Ravi\project&gt; where python</a:t>
            </a:r>
            <a:endParaRPr b="1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C:\Users\Ravi\project\py311_env\Scripts\python.exe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C:\Users\Ravi\AppData\Local\Programs\Python\Python311\python.exe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Deactivate it</a:t>
            </a:r>
            <a:endParaRPr b="1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(py311_env) C:\Users\Ravi\project&gt; deactivate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Activate Python 3.12 environment</a:t>
            </a:r>
            <a:endParaRPr b="1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 py312_env\Scripts\activate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(py312_env) C:\Users\Ravi\project&gt; python --version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3.12.2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(py312_env) C:\Users\Ravi\project&gt; where python</a:t>
            </a:r>
            <a:endParaRPr b="1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C:\Users\Ravi\project\py312_env\Scripts\python.exe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C:\Users\Ravi\AppData\Local\Programs\Python\Python312\python.exe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Deactivate</a:t>
            </a:r>
            <a:endParaRPr b="1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(py312_env) C:\Users\Ravi\project&gt; deactivate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Back to system default</a:t>
            </a:r>
            <a:endParaRPr b="1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$ python --version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Python 3.12.2</a:t>
            </a:r>
            <a:endParaRPr b="0" i="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311700" y="445025"/>
            <a:ext cx="85206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Which version will access when you fire python command by default ?</a:t>
            </a:r>
            <a:endParaRPr/>
          </a:p>
        </p:txBody>
      </p:sp>
      <p:pic>
        <p:nvPicPr>
          <p:cNvPr id="175" name="Google Shape;175;p20" title="1ff13281-38b5-45f9-9cb8-f981faf9238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000" y="1191425"/>
            <a:ext cx="2501599" cy="3752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311700" y="198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Hello Python &amp; Variables</a:t>
            </a:r>
            <a:endParaRPr/>
          </a:p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311700" y="960950"/>
            <a:ext cx="3605700" cy="37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print("Hello, Python!")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# Variables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name = "Rajesh"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age = 20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marks = 85.5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is_student = True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print("Name:", name)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print("Age:", age)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print("Marks:", marks)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1220"/>
              <a:t>print("Is Student:", is_student)</a:t>
            </a:r>
            <a:endParaRPr sz="122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220"/>
          </a:p>
        </p:txBody>
      </p:sp>
      <p:sp>
        <p:nvSpPr>
          <p:cNvPr id="182" name="Google Shape;182;p21"/>
          <p:cNvSpPr txBox="1"/>
          <p:nvPr/>
        </p:nvSpPr>
        <p:spPr>
          <a:xfrm>
            <a:off x="4223950" y="1188700"/>
            <a:ext cx="4608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 = "Alice"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 = 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message = f"My name is {name} and I am {age} years old."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print(message)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209000" y="2721275"/>
            <a:ext cx="4680000" cy="2138100"/>
          </a:xfrm>
          <a:prstGeom prst="rect">
            <a:avLst/>
          </a:prstGeom>
          <a:solidFill>
            <a:srgbClr val="A2C4C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Lab Instructions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 your own name, age, and favorite hobby.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3 variables: city, year_of_birth, height_cm and print them.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f-string to display: “My name is ___, I was born in ___ and my height is ___ cm.”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Python - Variable Names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Variable Names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 variable can have a short name (like x and y) or a more descriptive name (age, carname, total_volume).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Rules for Python variables: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 variable name must start with a letter or the underscore character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 variable name cannot start with a number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 variable name can only contain alpha-numeric characters and underscores (A-z, 0-9, and _ 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Variable names are case-sensitive (age, Age and AGE are three different variables)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 variable name cannot be any of the Python keywords.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Several Techniques </a:t>
            </a:r>
            <a:endParaRPr/>
          </a:p>
        </p:txBody>
      </p:sp>
      <p:sp>
        <p:nvSpPr>
          <p:cNvPr id="200" name="Google Shape;200;p24"/>
          <p:cNvSpPr txBox="1"/>
          <p:nvPr>
            <p:ph idx="1" type="body"/>
          </p:nvPr>
        </p:nvSpPr>
        <p:spPr>
          <a:xfrm>
            <a:off x="311700" y="1152475"/>
            <a:ext cx="4959000" cy="3416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en">
                <a:solidFill>
                  <a:srgbClr val="FF9900"/>
                </a:solidFill>
              </a:rPr>
              <a:t>Camel Case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/>
              <a:t>Each word, except the first, starts with a capital letter: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/>
              <a:t>myVariableName = "raj"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>
                <a:solidFill>
                  <a:srgbClr val="FF9900"/>
                </a:solidFill>
              </a:rPr>
              <a:t>Pascal Case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/>
              <a:t>Each word starts with a capital letter: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/>
              <a:t>MyVariableName = "raj"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b="1" lang="en">
                <a:highlight>
                  <a:srgbClr val="FF9900"/>
                </a:highlight>
              </a:rPr>
              <a:t>Snake Case</a:t>
            </a:r>
            <a:endParaRPr b="1"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7647"/>
              <a:buNone/>
            </a:pPr>
            <a:r>
              <a:rPr lang="en"/>
              <a:t>Each word is separated by an underscore character: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647"/>
              <a:buNone/>
            </a:pPr>
            <a:r>
              <a:rPr lang="en"/>
              <a:t>my_variable_name = "raj"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First Program</a:t>
            </a:r>
            <a:endParaRPr/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311700" y="1152475"/>
            <a:ext cx="2903100" cy="380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name=”Ravi”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age=30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print(name)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print(age)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name=’rakesh’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age=20.1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print(name)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print(age)</a:t>
            </a:r>
            <a:endParaRPr/>
          </a:p>
        </p:txBody>
      </p:sp>
      <p:sp>
        <p:nvSpPr>
          <p:cNvPr id="207" name="Google Shape;207;p25"/>
          <p:cNvSpPr txBox="1"/>
          <p:nvPr/>
        </p:nvSpPr>
        <p:spPr>
          <a:xfrm>
            <a:off x="4205875" y="1259075"/>
            <a:ext cx="4185600" cy="3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is_adult=True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print(is_adult)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String variables can be declared either by using single or double quotes: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Python Indentation </a:t>
            </a:r>
            <a:endParaRPr/>
          </a:p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311700" y="1152475"/>
            <a:ext cx="8520600" cy="3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Indentation refers to the spaces at the beginning of a code line.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Where in other programming languages the indentation in code is for readability only, the indentation in </a:t>
            </a:r>
            <a:r>
              <a:rPr b="1" lang="en"/>
              <a:t>Python is very important.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Python uses indentation to indicate a block of code.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if 5 &gt; 2: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print("Five is greater than two!")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Operators &amp; Expressions</a:t>
            </a:r>
            <a:endParaRPr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311700" y="1152475"/>
            <a:ext cx="3153000" cy="26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# Arithmetic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"/>
              <a:t>a, b = 10, 3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"/>
              <a:t>print("Addition:", a + b)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"/>
              <a:t>print("Division:", a / b)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"/>
              <a:t>print("Floor Division:", a // b)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"/>
              <a:t>print("Power:", a ** b)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20" name="Google Shape;220;p27"/>
          <p:cNvSpPr txBox="1"/>
          <p:nvPr/>
        </p:nvSpPr>
        <p:spPr>
          <a:xfrm>
            <a:off x="4680000" y="209325"/>
            <a:ext cx="42912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Comparison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print("a &gt; b:", a &gt; b)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print("a == b:", a == b)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Logical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print("a &gt; 5 and b &lt; 5:", a &gt; 5 and b &lt; 5)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3700625" y="3229650"/>
            <a:ext cx="3700500" cy="1637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Lab Instructions</a:t>
            </a:r>
            <a:endParaRPr b="1" i="0" sz="18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Write a program to calculate area of a circle (πr²).</a:t>
            </a:r>
            <a:endParaRPr b="0" i="0" sz="11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Take two numbers as input and print which one is greater.</a:t>
            </a:r>
            <a:endParaRPr b="0" i="0" sz="11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Check if a number is divisible by both 3 and 5.</a:t>
            </a:r>
            <a:endParaRPr b="0" i="0" sz="11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 ... Else</a:t>
            </a:r>
            <a:endParaRPr/>
          </a:p>
        </p:txBody>
      </p:sp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311700" y="1152475"/>
            <a:ext cx="4166400" cy="3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Python supports the usual logical conditions from mathematics: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Equals: a == b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Not Equals: a != b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Less than: a &lt; b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Less than or equal to: a &lt;= b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Greater than: a &gt; b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Greater than or equal to: a &gt;= 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These conditions can be used in several ways, most commonly in "if statements" and loops.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42857"/>
              <a:buNone/>
            </a:pPr>
            <a:r>
              <a:rPr lang="en"/>
              <a:t>An "if statement" is written by using the if keyword.</a:t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4717500" y="1152475"/>
            <a:ext cx="4426500" cy="30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Let’s check == is working in python or not !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" sz="17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 x = [1, 2, 3]</a:t>
            </a:r>
            <a:endParaRPr b="0" i="0" sz="13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    y = [1, 2, 3]</a:t>
            </a:r>
            <a:endParaRPr b="0" i="0" sz="13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    print(x == y)</a:t>
            </a: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4A86E8"/>
                </a:highlight>
                <a:latin typeface="Arial"/>
                <a:ea typeface="Arial"/>
                <a:cs typeface="Arial"/>
                <a:sym typeface="Arial"/>
              </a:rPr>
              <a:t># Output: True (values are the same)</a:t>
            </a:r>
            <a:endParaRPr b="0" i="0" sz="1300" u="none" cap="none" strike="noStrike">
              <a:solidFill>
                <a:schemeClr val="dk2"/>
              </a:solidFill>
              <a:highlight>
                <a:srgbClr val="4A86E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4A86E8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print(x is y) </a:t>
            </a:r>
            <a:endParaRPr b="0" i="0" sz="13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4A86E8"/>
                </a:highlight>
                <a:latin typeface="Arial"/>
                <a:ea typeface="Arial"/>
                <a:cs typeface="Arial"/>
                <a:sym typeface="Arial"/>
              </a:rPr>
              <a:t> # Output: False (they are distinct objects in memory)</a:t>
            </a:r>
            <a:endParaRPr b="0" i="0" sz="1300" u="none" cap="none" strike="noStrike">
              <a:solidFill>
                <a:schemeClr val="dk2"/>
              </a:solidFill>
              <a:highlight>
                <a:srgbClr val="4A86E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a = [1, 2, 3]</a:t>
            </a:r>
            <a:endParaRPr b="0" i="0" sz="13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    b = a</a:t>
            </a:r>
            <a:endParaRPr b="0" i="0" sz="13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    print(a is b)  </a:t>
            </a:r>
            <a:endParaRPr b="0" i="0" sz="13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2"/>
                </a:solidFill>
                <a:highlight>
                  <a:srgbClr val="C9DAF8"/>
                </a:highlight>
                <a:latin typeface="Arial"/>
                <a:ea typeface="Arial"/>
                <a:cs typeface="Arial"/>
                <a:sym typeface="Arial"/>
              </a:rPr>
              <a:t># Output: True (b now refers to the same object as a)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Elif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311700" y="1152475"/>
            <a:ext cx="486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 = 33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b = 33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if b &gt; 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print("b is greater than a")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elif a == b: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 print("a and b are equal")</a:t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4388425" y="590600"/>
            <a:ext cx="36108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elif is the keyword used for "else if"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FFFFFF"/>
                </a:highlight>
              </a:rPr>
              <a:t>Else</a:t>
            </a:r>
            <a:endParaRPr sz="2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 txBox="1"/>
          <p:nvPr>
            <p:ph idx="1" type="body"/>
          </p:nvPr>
        </p:nvSpPr>
        <p:spPr>
          <a:xfrm>
            <a:off x="311700" y="1152475"/>
            <a:ext cx="3634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 = 200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b = 33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if b &gt; a: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print("b is greater than a")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elif a == b: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print("a and b are equal")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else: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 print("a is greater than b")</a:t>
            </a:r>
            <a:endParaRPr/>
          </a:p>
        </p:txBody>
      </p:sp>
      <p:sp>
        <p:nvSpPr>
          <p:cNvPr id="242" name="Google Shape;242;p31"/>
          <p:cNvSpPr txBox="1"/>
          <p:nvPr/>
        </p:nvSpPr>
        <p:spPr>
          <a:xfrm>
            <a:off x="4738200" y="103475"/>
            <a:ext cx="40941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= 200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 = 33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= 500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&gt; b and c &gt; a: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print("Both conditions are True")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4633575" y="2298425"/>
            <a:ext cx="4094100" cy="24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= 200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 = 33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 = 500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&gt; b or a &gt; c: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print("At least one of the conditions is True")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245550" y="220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 condition Demo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245550" y="968375"/>
            <a:ext cx="3942900" cy="3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2857"/>
              <a:buNone/>
            </a:pPr>
            <a:r>
              <a:rPr lang="en"/>
              <a:t>marks = int(input("Enter your marks: "))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if marks &gt;= 90: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    print("Grade: A")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elif marks &gt;= 75: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    print("Grade: B")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elif marks &gt;= 50: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    print("Grade: C")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else: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42857"/>
              <a:buNone/>
            </a:pPr>
            <a:r>
              <a:rPr lang="en"/>
              <a:t>    print("Grade: Fail")</a:t>
            </a:r>
            <a:endParaRPr/>
          </a:p>
        </p:txBody>
      </p:sp>
      <p:sp>
        <p:nvSpPr>
          <p:cNvPr id="250" name="Google Shape;250;p32"/>
          <p:cNvSpPr txBox="1"/>
          <p:nvPr/>
        </p:nvSpPr>
        <p:spPr>
          <a:xfrm>
            <a:off x="4074425" y="220125"/>
            <a:ext cx="4635000" cy="26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highlight>
                  <a:srgbClr val="D0E0E3"/>
                </a:highlight>
                <a:latin typeface="Arial"/>
                <a:ea typeface="Arial"/>
                <a:cs typeface="Arial"/>
                <a:sym typeface="Arial"/>
              </a:rPr>
              <a:t>Lab Instructions</a:t>
            </a:r>
            <a:endParaRPr b="1" i="0" sz="1800" u="none" cap="none" strike="noStrike">
              <a:solidFill>
                <a:schemeClr val="dk2"/>
              </a:solidFill>
              <a:highlight>
                <a:srgbClr val="D0E0E3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highlight>
                <a:srgbClr val="D0E0E3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highlight>
                  <a:srgbClr val="D0E0E3"/>
                </a:highlight>
                <a:latin typeface="Arial"/>
                <a:ea typeface="Arial"/>
                <a:cs typeface="Arial"/>
                <a:sym typeface="Arial"/>
              </a:rPr>
              <a:t>Ask the user for 3 subject marks, calculate total and average.</a:t>
            </a:r>
            <a:endParaRPr sz="1800">
              <a:solidFill>
                <a:schemeClr val="dk2"/>
              </a:solidFill>
              <a:highlight>
                <a:srgbClr val="D0E0E3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highlight>
                  <a:srgbClr val="D0E0E3"/>
                </a:highlight>
                <a:latin typeface="Arial"/>
                <a:ea typeface="Arial"/>
                <a:cs typeface="Arial"/>
                <a:sym typeface="Arial"/>
              </a:rPr>
              <a:t>Write a program to check whether a number is even or odd.</a:t>
            </a:r>
            <a:endParaRPr sz="1800">
              <a:solidFill>
                <a:schemeClr val="dk2"/>
              </a:solidFill>
              <a:highlight>
                <a:srgbClr val="D0E0E3"/>
              </a:highlight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highlight>
                  <a:srgbClr val="D0E0E3"/>
                </a:highlight>
                <a:latin typeface="Arial"/>
                <a:ea typeface="Arial"/>
                <a:cs typeface="Arial"/>
                <a:sym typeface="Arial"/>
              </a:rPr>
              <a:t>Create a simple password check program (if input matches your chosen password → "Access Granted"</a:t>
            </a:r>
            <a:endParaRPr b="0" i="0" sz="1800" u="none" cap="none" strike="noStrike">
              <a:solidFill>
                <a:schemeClr val="dk2"/>
              </a:solidFill>
              <a:highlight>
                <a:srgbClr val="D0E0E3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 txBox="1"/>
          <p:nvPr>
            <p:ph idx="1" type="body"/>
          </p:nvPr>
        </p:nvSpPr>
        <p:spPr>
          <a:xfrm>
            <a:off x="311700" y="1152475"/>
            <a:ext cx="8520600" cy="27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29"/>
              <a:t>Comments start with a #, and Python will render the rest of the line as a comment:</a:t>
            </a:r>
            <a:endParaRPr sz="17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729">
                <a:highlight>
                  <a:srgbClr val="FF9900"/>
                </a:highlight>
              </a:rPr>
              <a:t>#This is a comment.</a:t>
            </a:r>
            <a:endParaRPr sz="1729"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729"/>
              <a:t>print("Hello, World!")</a:t>
            </a:r>
            <a:endParaRPr sz="17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729"/>
              <a:t>Multiline comments</a:t>
            </a:r>
            <a:endParaRPr b="1" sz="17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" sz="1729"/>
              <a:t>Python does not really have a syntax for multiline comments.</a:t>
            </a:r>
            <a:endParaRPr i="1" sz="17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" sz="1729"/>
              <a:t>To add a multiline comment you could insert a # for each line:</a:t>
            </a:r>
            <a:endParaRPr i="1" sz="17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729"/>
          </a:p>
        </p:txBody>
      </p:sp>
      <p:sp>
        <p:nvSpPr>
          <p:cNvPr id="257" name="Google Shape;257;p33"/>
          <p:cNvSpPr txBox="1"/>
          <p:nvPr/>
        </p:nvSpPr>
        <p:spPr>
          <a:xfrm>
            <a:off x="370950" y="3700425"/>
            <a:ext cx="69621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""" This is a comment written in</a:t>
            </a:r>
            <a:endParaRPr b="0" i="0" sz="17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more than just one line """</a:t>
            </a:r>
            <a:endParaRPr b="0" i="0" sz="1700" u="none" cap="none" strike="noStrike">
              <a:solidFill>
                <a:schemeClr val="dk2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type="title"/>
          </p:nvPr>
        </p:nvSpPr>
        <p:spPr>
          <a:xfrm>
            <a:off x="217800" y="233350"/>
            <a:ext cx="4590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Assign Multiple Values</a:t>
            </a:r>
            <a:endParaRPr/>
          </a:p>
        </p:txBody>
      </p:sp>
      <p:sp>
        <p:nvSpPr>
          <p:cNvPr id="263" name="Google Shape;263;p34"/>
          <p:cNvSpPr txBox="1"/>
          <p:nvPr>
            <p:ph idx="1" type="body"/>
          </p:nvPr>
        </p:nvSpPr>
        <p:spPr>
          <a:xfrm>
            <a:off x="311700" y="892350"/>
            <a:ext cx="4402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/>
              <a:t>x, y, z = "Orange", "Banana", "Cherry"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sz="2100"/>
              <a:t>print(x) print(y) print(z)</a:t>
            </a:r>
            <a:endParaRPr sz="2100"/>
          </a:p>
        </p:txBody>
      </p:sp>
      <p:sp>
        <p:nvSpPr>
          <p:cNvPr id="264" name="Google Shape;264;p34"/>
          <p:cNvSpPr txBox="1"/>
          <p:nvPr/>
        </p:nvSpPr>
        <p:spPr>
          <a:xfrm>
            <a:off x="4807800" y="631050"/>
            <a:ext cx="3922200" cy="19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One Value to Multiple Variables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y = z = "Orange"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print(x)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print(y)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print(z)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4"/>
          <p:cNvSpPr txBox="1"/>
          <p:nvPr/>
        </p:nvSpPr>
        <p:spPr>
          <a:xfrm>
            <a:off x="217800" y="2467100"/>
            <a:ext cx="8359800" cy="9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Unpack a Collection</a:t>
            </a:r>
            <a:endParaRPr b="1" i="0" sz="21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you have a collection of values in a list, tuple etc. Python allows you to extract the values into variables. This is called unpacking.</a:t>
            </a:r>
            <a:endParaRPr b="0" i="0" sz="1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 txBox="1"/>
          <p:nvPr/>
        </p:nvSpPr>
        <p:spPr>
          <a:xfrm>
            <a:off x="311700" y="3429675"/>
            <a:ext cx="48858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fruits = ["apple", "banana", "cherry"]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x, y, z = fruits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print(x) print(y) print(z)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272" name="Google Shape;27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name=input(“What is your name”)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print(name)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Exercise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Ask your superhero name and print it.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Check this example</a:t>
            </a:r>
            <a:endParaRPr/>
          </a:p>
        </p:txBody>
      </p:sp>
      <p:sp>
        <p:nvSpPr>
          <p:cNvPr id="278" name="Google Shape;278;p37"/>
          <p:cNvSpPr txBox="1"/>
          <p:nvPr>
            <p:ph idx="1" type="body"/>
          </p:nvPr>
        </p:nvSpPr>
        <p:spPr>
          <a:xfrm>
            <a:off x="311700" y="1152475"/>
            <a:ext cx="4564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first=input(“Enter first number”)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second=input(“Enter Second number”)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sum=first + second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print(sum)</a:t>
            </a:r>
            <a:endParaRPr/>
          </a:p>
        </p:txBody>
      </p:sp>
      <p:sp>
        <p:nvSpPr>
          <p:cNvPr id="279" name="Google Shape;279;p37"/>
          <p:cNvSpPr txBox="1"/>
          <p:nvPr/>
        </p:nvSpPr>
        <p:spPr>
          <a:xfrm>
            <a:off x="5188725" y="814200"/>
            <a:ext cx="3569400" cy="3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Hint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str(3)    # x will be '3'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y = int(3)    # y will be 3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z = float(3)  # z will be 3.0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#check the type of variable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print(type(x))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print(type(y))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106500" y="118050"/>
            <a:ext cx="48051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Python Data Types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106500" y="759150"/>
            <a:ext cx="5010300" cy="3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/>
              <a:t>In programming, data type is an important concept.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Variables can store data of different types, and different types can do different things.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Python has the following data types built-in by default, in these categories: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 sz="2163">
                <a:highlight>
                  <a:srgbClr val="FF9900"/>
                </a:highlight>
              </a:rPr>
              <a:t>Text Type:</a:t>
            </a:r>
            <a:r>
              <a:rPr lang="en" sz="2163"/>
              <a:t>	str</a:t>
            </a:r>
            <a:endParaRPr sz="2163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 sz="2163">
                <a:highlight>
                  <a:srgbClr val="FF9900"/>
                </a:highlight>
              </a:rPr>
              <a:t>Numeric Types:</a:t>
            </a:r>
            <a:r>
              <a:rPr lang="en" sz="2163"/>
              <a:t> int, float, complex</a:t>
            </a:r>
            <a:endParaRPr sz="2163"/>
          </a:p>
        </p:txBody>
      </p:sp>
      <p:sp>
        <p:nvSpPr>
          <p:cNvPr id="286" name="Google Shape;286;p38"/>
          <p:cNvSpPr txBox="1"/>
          <p:nvPr/>
        </p:nvSpPr>
        <p:spPr>
          <a:xfrm>
            <a:off x="5116800" y="496675"/>
            <a:ext cx="40272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163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Sequence Types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2163">
                <a:solidFill>
                  <a:schemeClr val="dk2"/>
                </a:solidFill>
              </a:rPr>
              <a:t> 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list, tuple, range</a:t>
            </a:r>
            <a:endParaRPr b="0" i="0" sz="2163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163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Mapping Type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	</a:t>
            </a:r>
            <a:r>
              <a:rPr lang="en" sz="2163">
                <a:solidFill>
                  <a:schemeClr val="dk2"/>
                </a:solidFill>
              </a:rPr>
              <a:t> 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dict</a:t>
            </a:r>
            <a:endParaRPr b="0" i="0" sz="2163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163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Set Types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	</a:t>
            </a:r>
            <a:r>
              <a:rPr lang="en" sz="2163">
                <a:solidFill>
                  <a:schemeClr val="dk2"/>
                </a:solidFill>
              </a:rPr>
              <a:t> 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set, frozenset</a:t>
            </a:r>
            <a:endParaRPr b="0" i="0" sz="2163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163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Boolean Type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	bool</a:t>
            </a:r>
            <a:endParaRPr b="0" i="0" sz="2163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163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Binary Types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" sz="2163">
                <a:solidFill>
                  <a:schemeClr val="dk2"/>
                </a:solidFill>
              </a:rPr>
              <a:t>  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bytes, bytearray, memoryview</a:t>
            </a:r>
            <a:endParaRPr b="0" i="0" sz="2163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163" u="none" cap="none" strike="noStrike">
                <a:solidFill>
                  <a:schemeClr val="dk2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None Type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2163">
                <a:solidFill>
                  <a:schemeClr val="dk2"/>
                </a:solidFill>
              </a:rPr>
              <a:t> </a:t>
            </a:r>
            <a:r>
              <a:rPr b="0" i="0" lang="en" sz="216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NoneType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800">
                <a:solidFill>
                  <a:schemeClr val="dk2"/>
                </a:solidFill>
              </a:rPr>
              <a:t>1. Sequence Types</a:t>
            </a:r>
            <a:endParaRPr b="1"/>
          </a:p>
        </p:txBody>
      </p:sp>
      <p:sp>
        <p:nvSpPr>
          <p:cNvPr id="292" name="Google Shape;29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a) List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</a:t>
            </a:r>
            <a:r>
              <a:rPr lang="en"/>
              <a:t>: Ordered, mutable (can change).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Real Life:</a:t>
            </a:r>
            <a:r>
              <a:rPr lang="en"/>
              <a:t> A shopping cart in an online store (items can be added/removed).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shopping_cart = ["milk", "bread", "eggs"]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shopping_cart.append("butter")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print(shopping_cart)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b) Tuple</a:t>
            </a:r>
            <a:endParaRPr/>
          </a:p>
        </p:txBody>
      </p:sp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Definition: Ordered, immutable (cannot change).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Real Life: GPS coordinates or RGB color codes (once recorded, shouldn’t change).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location = (23.0225, 72.5714)  # Ahmedabad GPS coordinates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color = (255, 0, 0)  # Red in RGB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c) Range</a:t>
            </a:r>
            <a:endParaRPr/>
          </a:p>
        </p:txBody>
      </p:sp>
      <p:sp>
        <p:nvSpPr>
          <p:cNvPr id="304" name="Google Shape;304;p41"/>
          <p:cNvSpPr txBox="1"/>
          <p:nvPr>
            <p:ph idx="1" type="body"/>
          </p:nvPr>
        </p:nvSpPr>
        <p:spPr>
          <a:xfrm>
            <a:off x="311700" y="1152475"/>
            <a:ext cx="8520600" cy="39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Definition: Sequence of numbers (immutable).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600"/>
              <a:t>Real Life:</a:t>
            </a:r>
            <a:r>
              <a:rPr lang="en" sz="1600"/>
              <a:t> Roll numbers in a class, or seat numbers in a cinema hall.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roll_numbers = range(1, 51)  # 50 students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for r in roll_numbers: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    print(r, end=" ")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600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60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60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60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60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2. Mapping Type</a:t>
            </a:r>
            <a:endParaRPr/>
          </a:p>
        </p:txBody>
      </p:sp>
      <p:sp>
        <p:nvSpPr>
          <p:cNvPr id="310" name="Google Shape;31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Dictionary (dict)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 </a:t>
            </a:r>
            <a:r>
              <a:rPr lang="en"/>
              <a:t>Key-value pairs.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Real Life:</a:t>
            </a:r>
            <a:r>
              <a:rPr lang="en"/>
              <a:t> Phone directory (name → phone number), student database (roll → marks).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phonebook = {"Alice": "9876543210", "Bob": "9123456789"}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print("Bob's number:", phonebook["Bob"])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3. Set Types</a:t>
            </a:r>
            <a:endParaRPr/>
          </a:p>
        </p:txBody>
      </p:sp>
      <p:sp>
        <p:nvSpPr>
          <p:cNvPr id="316" name="Google Shape;31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a) Set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Unordered, unique items, mutable.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Real Life:</a:t>
            </a:r>
            <a:r>
              <a:rPr lang="en"/>
              <a:t> Unique visitors on a website (no duplicates).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visitors = {"Alice", "Bob", "Alice"}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print(visitors)  # duplicates removed → {"Alice", "Bob"}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b) Frozenset</a:t>
            </a:r>
            <a:endParaRPr/>
          </a:p>
        </p:txBody>
      </p:sp>
      <p:sp>
        <p:nvSpPr>
          <p:cNvPr id="322" name="Google Shape;32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Definition: Unordered, unique items, immutable.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Real Life: Bank account numbers assigned to a customer — unique &amp; fixed.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account_numbers = frozenset([12345, 67890, 12345])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print(account_numbers)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Boolean Type (bool)</a:t>
            </a:r>
            <a:endParaRPr/>
          </a:p>
        </p:txBody>
      </p:sp>
      <p:sp>
        <p:nvSpPr>
          <p:cNvPr id="328" name="Google Shape;32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True or False.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Real Life:</a:t>
            </a:r>
            <a:r>
              <a:rPr lang="en"/>
              <a:t> Login authentication (password correct → True, else False).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password = "admin123"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print(password == "admin123")  # True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5. Binary Types</a:t>
            </a:r>
            <a:endParaRPr/>
          </a:p>
        </p:txBody>
      </p:sp>
      <p:sp>
        <p:nvSpPr>
          <p:cNvPr id="334" name="Google Shape;33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a) Bytes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Definition: Immutable sequence of bytes.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Real Life:</a:t>
            </a:r>
            <a:r>
              <a:rPr lang="en"/>
              <a:t> </a:t>
            </a:r>
            <a:r>
              <a:rPr lang="en">
                <a:highlight>
                  <a:srgbClr val="FF9900"/>
                </a:highlight>
              </a:rPr>
              <a:t>Storing images, audio, or encrypted files in memory.</a:t>
            </a:r>
            <a:endParaRPr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rgbClr val="FF9900"/>
                </a:highlight>
              </a:rPr>
              <a:t>data = b"Cybersecurity"</a:t>
            </a:r>
            <a:endParaRPr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rgbClr val="FF9900"/>
                </a:highlight>
              </a:rPr>
              <a:t>print(data[0])  # 67 → ASCII of 'C'</a:t>
            </a:r>
            <a:endParaRPr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solidFill>
                  <a:schemeClr val="dk2"/>
                </a:solidFill>
              </a:rPr>
              <a:t>b) Bytearray</a:t>
            </a:r>
            <a:endParaRPr/>
          </a:p>
        </p:txBody>
      </p:sp>
      <p:sp>
        <p:nvSpPr>
          <p:cNvPr id="340" name="Google Shape;34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Mutable sequence of bytes.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Real Life:</a:t>
            </a:r>
            <a:r>
              <a:rPr lang="en"/>
              <a:t> Editing an image or file in memory.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rgbClr val="FF9900"/>
                </a:highlight>
              </a:rPr>
              <a:t>file_data = bytearray(b"HELLO")</a:t>
            </a:r>
            <a:endParaRPr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rgbClr val="FF9900"/>
                </a:highlight>
              </a:rPr>
              <a:t>file_data[0] = </a:t>
            </a:r>
            <a:r>
              <a:rPr lang="en">
                <a:highlight>
                  <a:srgbClr val="00FFFF"/>
                </a:highlight>
              </a:rPr>
              <a:t>104</a:t>
            </a:r>
            <a:r>
              <a:rPr lang="en">
                <a:highlight>
                  <a:srgbClr val="FF9900"/>
                </a:highlight>
              </a:rPr>
              <a:t>  # Change 'H' to 'h'</a:t>
            </a:r>
            <a:endParaRPr>
              <a:highlight>
                <a:srgbClr val="FF99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highlight>
                  <a:srgbClr val="FF9900"/>
                </a:highlight>
              </a:rPr>
              <a:t>print(file_data)    # b'hello'</a:t>
            </a:r>
            <a:endParaRPr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c) Memoryview</a:t>
            </a:r>
            <a:endParaRPr/>
          </a:p>
        </p:txBody>
      </p:sp>
      <p:sp>
        <p:nvSpPr>
          <p:cNvPr id="346" name="Google Shape;34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Definition:</a:t>
            </a:r>
            <a:r>
              <a:rPr lang="en"/>
              <a:t> Access slices of data without copying.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Real Life:</a:t>
            </a:r>
            <a:r>
              <a:rPr lang="en"/>
              <a:t> Working with large video/audio files without loading whole file in memory.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data = bytearray(b"PYTHON")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view = memoryview(data)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print(view[0])   # 80 (ASCII for 'P')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6. None Type (NoneType)</a:t>
            </a:r>
            <a:endParaRPr/>
          </a:p>
        </p:txBody>
      </p:sp>
      <p:sp>
        <p:nvSpPr>
          <p:cNvPr id="352" name="Google Shape;352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Definition</a:t>
            </a:r>
            <a:r>
              <a:rPr lang="en"/>
              <a:t>: Represents absence of value.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Real Life:</a:t>
            </a:r>
            <a:r>
              <a:rPr lang="en"/>
              <a:t> Flight seat not booked yet, or search result not found.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seat = None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if seat is None: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  print("Seat is not reserved yet.")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 Type</a:t>
            </a:r>
            <a:endParaRPr/>
          </a:p>
        </p:txBody>
      </p:sp>
      <p:sp>
        <p:nvSpPr>
          <p:cNvPr id="358" name="Google Shape;358;p50"/>
          <p:cNvSpPr txBox="1"/>
          <p:nvPr>
            <p:ph idx="1" type="body"/>
          </p:nvPr>
        </p:nvSpPr>
        <p:spPr>
          <a:xfrm>
            <a:off x="311700" y="1152475"/>
            <a:ext cx="3799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974"/>
              <a:buNone/>
            </a:pPr>
            <a:r>
              <a:rPr lang="en" sz="1829"/>
              <a:t>x = str("Hello World")	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74"/>
              <a:buNone/>
            </a:pPr>
            <a:r>
              <a:rPr lang="en" sz="1829"/>
              <a:t>x = int(20)	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74"/>
              <a:buNone/>
            </a:pPr>
            <a:r>
              <a:rPr lang="en" sz="1829"/>
              <a:t>x = float(20.5)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74"/>
              <a:buNone/>
            </a:pPr>
            <a:r>
              <a:rPr lang="en" sz="1829"/>
              <a:t>x = complex(1j)	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74"/>
              <a:buNone/>
            </a:pPr>
            <a:r>
              <a:rPr lang="en" sz="1829"/>
              <a:t>x = list(["one", "two", "three"])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74"/>
              <a:buNone/>
            </a:pPr>
            <a:r>
              <a:rPr lang="en" sz="1829"/>
              <a:t>x = tuple(("apple", "banana", "cherry"))	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74"/>
              <a:buNone/>
            </a:pPr>
            <a:r>
              <a:rPr lang="en" sz="1829"/>
              <a:t>x = range(6)		</a:t>
            </a:r>
            <a:endParaRPr sz="18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974"/>
              <a:buNone/>
            </a:pPr>
            <a:r>
              <a:rPr lang="en" sz="1829"/>
              <a:t>x = dict(name="John": age=36)		</a:t>
            </a:r>
            <a:endParaRPr sz="1829"/>
          </a:p>
        </p:txBody>
      </p:sp>
      <p:sp>
        <p:nvSpPr>
          <p:cNvPr id="359" name="Google Shape;359;p50"/>
          <p:cNvSpPr txBox="1"/>
          <p:nvPr/>
        </p:nvSpPr>
        <p:spPr>
          <a:xfrm>
            <a:off x="4293650" y="1219375"/>
            <a:ext cx="4538700" cy="32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set(("apple", "banana", "cherry"))	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frozenset(("apple", "banana", "cherry"))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bool(5)	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bytes(5)		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bytearray(5)		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= memoryview(bytes(5))	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Python - Global Variables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3863"/>
              <a:buNone/>
            </a:pPr>
            <a:r>
              <a:rPr lang="en" sz="2021"/>
              <a:t>Global variables can be used by everyone, both inside of functions and outside.</a:t>
            </a:r>
            <a:endParaRPr sz="202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311700" y="1152475"/>
            <a:ext cx="4009500" cy="2592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= "Have Great Week Ahead!"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def myfunc():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print("To All of you " + x)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myfunc()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Check this now !</a:t>
            </a:r>
            <a:endParaRPr/>
          </a:p>
        </p:txBody>
      </p:sp>
      <p:sp>
        <p:nvSpPr>
          <p:cNvPr id="376" name="Google Shape;376;p53"/>
          <p:cNvSpPr txBox="1"/>
          <p:nvPr>
            <p:ph idx="1" type="body"/>
          </p:nvPr>
        </p:nvSpPr>
        <p:spPr>
          <a:xfrm>
            <a:off x="311700" y="1152475"/>
            <a:ext cx="3481200" cy="3669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lang="en"/>
              <a:t>x = "awesome"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def myfunc():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  x = "fantastic"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  print("Python is " + x)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rPr lang="en"/>
              <a:t>myfunc()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46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946"/>
              <a:buNone/>
            </a:pPr>
            <a:r>
              <a:rPr lang="en"/>
              <a:t>print("Python is " + x)</a:t>
            </a:r>
            <a:endParaRPr/>
          </a:p>
        </p:txBody>
      </p:sp>
      <p:sp>
        <p:nvSpPr>
          <p:cNvPr id="377" name="Google Shape;377;p53"/>
          <p:cNvSpPr txBox="1"/>
          <p:nvPr/>
        </p:nvSpPr>
        <p:spPr>
          <a:xfrm>
            <a:off x="4258800" y="1257600"/>
            <a:ext cx="3737700" cy="35646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 myfunc():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global x</a:t>
            </a:r>
            <a:endParaRPr b="1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x = "fantastic"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myfunc()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print("Python is " + x)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Unicode System?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383" name="Google Shape;383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Software applications often require to display messages output in a variety in different languages such as in English, French, Japanese, Hebrew, or Hindi. </a:t>
            </a:r>
            <a:r>
              <a:rPr lang="en">
                <a:highlight>
                  <a:srgbClr val="D0E0E3"/>
                </a:highlight>
              </a:rPr>
              <a:t>Python's string type uses the Unicode Standard for representing characters.</a:t>
            </a:r>
            <a:endParaRPr>
              <a:highlight>
                <a:srgbClr val="D0E0E3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It makes the program possible to work with all these different possible characters.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 character is the smallest possible component of a text. 'A', 'B', 'C', etc., are all different characters. So are 'È' and 'Í'.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A unicode string is a sequence of code points, which are numbers from 0 through 0x10FFFF (1,114,111 decimal).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This sequence of code points needs to be represented in memory as a set of code units, and code units are then mapped to 8-bit bytes.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/>
              <a:t>Unicode </a:t>
            </a:r>
            <a:endParaRPr b="1"/>
          </a:p>
        </p:txBody>
      </p:sp>
      <p:sp>
        <p:nvSpPr>
          <p:cNvPr id="389" name="Google Shape;38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 = '\xe0\xa4\xb9\xe0\xa5\x80 \xe0\xa4\xac\xe0\xa5\x8b\xe0\xa4\xb2'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s.encode('raw-unicode-escape').decode('utf-8')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'ही बोल'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string = "\u20B9"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print (string)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Loops in Python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Python While Loops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400" name="Google Shape;400;p57"/>
          <p:cNvSpPr txBox="1"/>
          <p:nvPr>
            <p:ph idx="1" type="body"/>
          </p:nvPr>
        </p:nvSpPr>
        <p:spPr>
          <a:xfrm>
            <a:off x="311700" y="1152475"/>
            <a:ext cx="375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chemeClr val="lt1"/>
                </a:highlight>
              </a:rPr>
              <a:t>Python has two primitive loop commands: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while loops</a:t>
            </a:r>
            <a:endParaRPr>
              <a:highlight>
                <a:schemeClr val="lt1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chemeClr val="lt1"/>
                </a:highlight>
              </a:rPr>
              <a:t>for loops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"/>
          <p:cNvSpPr txBox="1"/>
          <p:nvPr>
            <p:ph type="title"/>
          </p:nvPr>
        </p:nvSpPr>
        <p:spPr>
          <a:xfrm>
            <a:off x="311700" y="445025"/>
            <a:ext cx="263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While loop</a:t>
            </a:r>
            <a:endParaRPr/>
          </a:p>
        </p:txBody>
      </p:sp>
      <p:sp>
        <p:nvSpPr>
          <p:cNvPr id="406" name="Google Shape;406;p58"/>
          <p:cNvSpPr txBox="1"/>
          <p:nvPr>
            <p:ph idx="1" type="body"/>
          </p:nvPr>
        </p:nvSpPr>
        <p:spPr>
          <a:xfrm>
            <a:off x="311700" y="1152475"/>
            <a:ext cx="2394000" cy="3416400"/>
          </a:xfrm>
          <a:prstGeom prst="rect">
            <a:avLst/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 =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while i &lt; 10: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print(i)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 i += 1</a:t>
            </a:r>
            <a:endParaRPr/>
          </a:p>
        </p:txBody>
      </p:sp>
      <p:sp>
        <p:nvSpPr>
          <p:cNvPr id="407" name="Google Shape;407;p58"/>
          <p:cNvSpPr txBox="1"/>
          <p:nvPr>
            <p:ph idx="1" type="body"/>
          </p:nvPr>
        </p:nvSpPr>
        <p:spPr>
          <a:xfrm>
            <a:off x="3804050" y="1224525"/>
            <a:ext cx="4342500" cy="3416400"/>
          </a:xfrm>
          <a:prstGeom prst="rect">
            <a:avLst/>
          </a:prstGeom>
          <a:solidFill>
            <a:srgbClr val="C9DAF8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items= ["Good", "bad”, "ugly"]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for x in items: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 print(x)</a:t>
            </a:r>
            <a:endParaRPr/>
          </a:p>
        </p:txBody>
      </p:sp>
      <p:sp>
        <p:nvSpPr>
          <p:cNvPr id="408" name="Google Shape;408;p58"/>
          <p:cNvSpPr txBox="1"/>
          <p:nvPr>
            <p:ph type="title"/>
          </p:nvPr>
        </p:nvSpPr>
        <p:spPr>
          <a:xfrm>
            <a:off x="4094000" y="445025"/>
            <a:ext cx="2635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 loop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9"/>
          <p:cNvSpPr txBox="1"/>
          <p:nvPr>
            <p:ph type="title"/>
          </p:nvPr>
        </p:nvSpPr>
        <p:spPr>
          <a:xfrm>
            <a:off x="311700" y="445025"/>
            <a:ext cx="315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MIX loop with  break</a:t>
            </a:r>
            <a:endParaRPr/>
          </a:p>
        </p:txBody>
      </p:sp>
      <p:sp>
        <p:nvSpPr>
          <p:cNvPr id="414" name="Google Shape;414;p59"/>
          <p:cNvSpPr txBox="1"/>
          <p:nvPr>
            <p:ph idx="1" type="body"/>
          </p:nvPr>
        </p:nvSpPr>
        <p:spPr>
          <a:xfrm>
            <a:off x="311700" y="1152475"/>
            <a:ext cx="3639600" cy="3488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 =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while i &lt; 10: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print(i)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if i == 3: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  break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 i += 1</a:t>
            </a:r>
            <a:endParaRPr/>
          </a:p>
        </p:txBody>
      </p:sp>
      <p:sp>
        <p:nvSpPr>
          <p:cNvPr id="415" name="Google Shape;415;p59"/>
          <p:cNvSpPr txBox="1"/>
          <p:nvPr>
            <p:ph type="title"/>
          </p:nvPr>
        </p:nvSpPr>
        <p:spPr>
          <a:xfrm>
            <a:off x="5103325" y="445025"/>
            <a:ext cx="350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MIX loop with  continue</a:t>
            </a:r>
            <a:endParaRPr/>
          </a:p>
        </p:txBody>
      </p:sp>
      <p:sp>
        <p:nvSpPr>
          <p:cNvPr id="416" name="Google Shape;416;p59"/>
          <p:cNvSpPr txBox="1"/>
          <p:nvPr>
            <p:ph idx="1" type="body"/>
          </p:nvPr>
        </p:nvSpPr>
        <p:spPr>
          <a:xfrm>
            <a:off x="5228275" y="1224500"/>
            <a:ext cx="3438000" cy="34164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 =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while i &lt; 10: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i +=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if i == 3: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  continue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  print(i)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Loops</a:t>
            </a:r>
            <a:endParaRPr/>
          </a:p>
        </p:txBody>
      </p:sp>
      <p:sp>
        <p:nvSpPr>
          <p:cNvPr id="422" name="Google Shape;422;p60"/>
          <p:cNvSpPr txBox="1"/>
          <p:nvPr>
            <p:ph idx="1" type="body"/>
          </p:nvPr>
        </p:nvSpPr>
        <p:spPr>
          <a:xfrm>
            <a:off x="311700" y="1152475"/>
            <a:ext cx="3426300" cy="34164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# For loop - Multiplication Table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num = 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for i in range(1, 11):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    print(num, "x", i, "=", num * 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23" name="Google Shape;423;p60"/>
          <p:cNvSpPr txBox="1"/>
          <p:nvPr/>
        </p:nvSpPr>
        <p:spPr>
          <a:xfrm>
            <a:off x="4403375" y="1188800"/>
            <a:ext cx="3575400" cy="3416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 While loop - Sum of numbers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 = 1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total = 0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while n &lt;= 10: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total += 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n += 1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print("Sum of 1 to 10:", total)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rPr b="1" lang="en" sz="1800">
                <a:solidFill>
                  <a:schemeClr val="dk2"/>
                </a:solidFill>
              </a:rPr>
              <a:t>Lab Instructions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2839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9" name="Google Shape;429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Print multiplication table of any number (user input).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sum of numbers from 1 to 100.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Reverse a number (e.g., 123 → 321) using a while loop.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 loop example with iterator</a:t>
            </a:r>
            <a:endParaRPr/>
          </a:p>
        </p:txBody>
      </p:sp>
      <p:sp>
        <p:nvSpPr>
          <p:cNvPr id="435" name="Google Shape;435;p62"/>
          <p:cNvSpPr txBox="1"/>
          <p:nvPr>
            <p:ph idx="1" type="body"/>
          </p:nvPr>
        </p:nvSpPr>
        <p:spPr>
          <a:xfrm>
            <a:off x="311700" y="1017725"/>
            <a:ext cx="3411900" cy="4111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lang="en"/>
              <a:t>print("List Iteration")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l = ["nfs", "for", "training"]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for i in 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    print(i)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  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print("\nTuple Iteration")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t = ("three", "four", "one")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for i in 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"/>
              <a:t>    print(i)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lang="en"/>
              <a:t>    </a:t>
            </a:r>
            <a:endParaRPr/>
          </a:p>
        </p:txBody>
      </p:sp>
      <p:sp>
        <p:nvSpPr>
          <p:cNvPr id="436" name="Google Shape;436;p62"/>
          <p:cNvSpPr txBox="1"/>
          <p:nvPr/>
        </p:nvSpPr>
        <p:spPr>
          <a:xfrm>
            <a:off x="4313025" y="1017725"/>
            <a:ext cx="4581000" cy="40455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print("\nString Iteration")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 = "Raviraj"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i in s: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print(i)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print("\nDictionary Iteration")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 = dict({'x':123, 'y':354})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i in d: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print("%s  %d" % (i, d[i]))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2" name="Google Shape;442;p63"/>
          <p:cNvSpPr txBox="1"/>
          <p:nvPr>
            <p:ph idx="1" type="body"/>
          </p:nvPr>
        </p:nvSpPr>
        <p:spPr>
          <a:xfrm>
            <a:off x="311700" y="1138525"/>
            <a:ext cx="74304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print("\nSet Iteration")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set1 = {1, 2, 3, 4, 5, 6}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for i in set1: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    print(i)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