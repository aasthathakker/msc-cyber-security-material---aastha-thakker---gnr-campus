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iVoiKqkoIyv9QBiODoUPOxBJex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78BA7F-AEB3-4AB7-8A33-BDB87FFD7EC5}">
  <a:tblStyle styleId="{DE78BA7F-AEB3-4AB7-8A33-BDB87FFD7EC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93f6abd1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893f6abd1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p:nvPr>
            <p:ph idx="2" type="pic"/>
          </p:nvPr>
        </p:nvSpPr>
        <p:spPr>
          <a:xfrm>
            <a:off x="5183188" y="987425"/>
            <a:ext cx="6172200" cy="4873625"/>
          </a:xfrm>
          <a:prstGeom prst="rect">
            <a:avLst/>
          </a:prstGeom>
          <a:noFill/>
          <a:ln>
            <a:noFill/>
          </a:ln>
        </p:spPr>
      </p:sp>
      <p:sp>
        <p:nvSpPr>
          <p:cNvPr id="64" name="Google Shape;64;p4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sebastianraschka.com/pdf/lecture-notes/stat479fs18/02_knn_notes.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834930" y="457885"/>
            <a:ext cx="11175100" cy="5068488"/>
          </a:xfrm>
          <a:prstGeom prst="rect">
            <a:avLst/>
          </a:prstGeom>
          <a:noFill/>
          <a:ln>
            <a:noFill/>
          </a:ln>
        </p:spPr>
      </p:pic>
      <p:sp>
        <p:nvSpPr>
          <p:cNvPr id="85" name="Google Shape;85;p1"/>
          <p:cNvSpPr txBox="1"/>
          <p:nvPr>
            <p:ph type="ctrTitle"/>
          </p:nvPr>
        </p:nvSpPr>
        <p:spPr>
          <a:xfrm>
            <a:off x="-1478507" y="604529"/>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KNN</a:t>
            </a:r>
            <a:endParaRPr/>
          </a:p>
        </p:txBody>
      </p:sp>
      <p:sp>
        <p:nvSpPr>
          <p:cNvPr id="86" name="Google Shape;86;p1"/>
          <p:cNvSpPr txBox="1"/>
          <p:nvPr>
            <p:ph idx="1" type="subTitle"/>
          </p:nvPr>
        </p:nvSpPr>
        <p:spPr>
          <a:xfrm>
            <a:off x="1524000" y="5526373"/>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What is the k-nearest neighbors (KNN) algorithm?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the KNN algorithm?</a:t>
            </a:r>
            <a:br>
              <a:rPr lang="en-US"/>
            </a:br>
            <a:endParaRPr/>
          </a:p>
        </p:txBody>
      </p:sp>
      <p:sp>
        <p:nvSpPr>
          <p:cNvPr id="92" name="Google Shape;92;p2"/>
          <p:cNvSpPr txBox="1"/>
          <p:nvPr>
            <p:ph idx="1" type="body"/>
          </p:nvPr>
        </p:nvSpPr>
        <p:spPr>
          <a:xfrm>
            <a:off x="838200" y="1260200"/>
            <a:ext cx="10515600" cy="4659300"/>
          </a:xfrm>
          <a:prstGeom prst="rect">
            <a:avLst/>
          </a:prstGeom>
          <a:noFill/>
          <a:ln>
            <a:noFill/>
          </a:ln>
        </p:spPr>
        <p:txBody>
          <a:bodyPr anchorCtr="0" anchor="t" bIns="45700" lIns="91425" spcFirstLastPara="1" rIns="91425" wrap="square" tIns="45700">
            <a:normAutofit/>
          </a:bodyPr>
          <a:lstStyle/>
          <a:p>
            <a:pPr indent="-241300" lvl="0" marL="228600" rtl="0" algn="l">
              <a:lnSpc>
                <a:spcPct val="90000"/>
              </a:lnSpc>
              <a:spcBef>
                <a:spcPts val="0"/>
              </a:spcBef>
              <a:spcAft>
                <a:spcPts val="0"/>
              </a:spcAft>
              <a:buClr>
                <a:schemeClr val="dk1"/>
              </a:buClr>
              <a:buSzPts val="3000"/>
              <a:buChar char="•"/>
            </a:pPr>
            <a:r>
              <a:rPr lang="en-US" sz="3000"/>
              <a:t>The k-nearest neighbors (KNN) algorithm is a non-parametric, supervised learning classifier, which uses proximity to make classifications or predictions about the grouping of an individual data point. </a:t>
            </a:r>
            <a:endParaRPr sz="3000"/>
          </a:p>
          <a:p>
            <a:pPr indent="-241300" lvl="0" marL="228600" rtl="0" algn="l">
              <a:lnSpc>
                <a:spcPct val="90000"/>
              </a:lnSpc>
              <a:spcBef>
                <a:spcPts val="1000"/>
              </a:spcBef>
              <a:spcAft>
                <a:spcPts val="0"/>
              </a:spcAft>
              <a:buClr>
                <a:schemeClr val="dk1"/>
              </a:buClr>
              <a:buSzPts val="3000"/>
              <a:buChar char="•"/>
            </a:pPr>
            <a:r>
              <a:rPr lang="en-US" sz="3000"/>
              <a:t>It is one of the popular and simplest classification and regression classifiers used in machine learning today.</a:t>
            </a:r>
            <a:endParaRPr sz="3000"/>
          </a:p>
          <a:p>
            <a:pPr indent="-241300" lvl="0" marL="228600" rtl="0" algn="l">
              <a:lnSpc>
                <a:spcPct val="90000"/>
              </a:lnSpc>
              <a:spcBef>
                <a:spcPts val="1000"/>
              </a:spcBef>
              <a:spcAft>
                <a:spcPts val="0"/>
              </a:spcAft>
              <a:buClr>
                <a:schemeClr val="dk1"/>
              </a:buClr>
              <a:buSzPts val="3000"/>
              <a:buChar char="•"/>
            </a:pPr>
            <a:r>
              <a:rPr lang="en-US" sz="3000"/>
              <a:t>While the KNN algorithm can be used for either regression or classification problems, it is typically used as a classification algorithm, working off the assumption that similar points can be found near one another.</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KNN works.</a:t>
            </a:r>
            <a:endParaRPr/>
          </a:p>
        </p:txBody>
      </p:sp>
      <p:sp>
        <p:nvSpPr>
          <p:cNvPr id="98" name="Google Shape;9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Step-1:</a:t>
            </a:r>
            <a:r>
              <a:rPr lang="en-US"/>
              <a:t> Select the number K of the neighbors</a:t>
            </a:r>
            <a:endParaRPr/>
          </a:p>
          <a:p>
            <a:pPr indent="-228600" lvl="0" marL="228600" rtl="0" algn="l">
              <a:lnSpc>
                <a:spcPct val="90000"/>
              </a:lnSpc>
              <a:spcBef>
                <a:spcPts val="1000"/>
              </a:spcBef>
              <a:spcAft>
                <a:spcPts val="0"/>
              </a:spcAft>
              <a:buClr>
                <a:schemeClr val="dk1"/>
              </a:buClr>
              <a:buSzPts val="2800"/>
              <a:buChar char="•"/>
            </a:pPr>
            <a:r>
              <a:rPr b="1" lang="en-US"/>
              <a:t>Step-2:</a:t>
            </a:r>
            <a:r>
              <a:rPr lang="en-US"/>
              <a:t> Calculate the Euclidean distance of </a:t>
            </a:r>
            <a:r>
              <a:rPr b="1" lang="en-US"/>
              <a:t>K number of neighbors</a:t>
            </a:r>
            <a:endParaRPr/>
          </a:p>
          <a:p>
            <a:pPr indent="-228600" lvl="0" marL="228600" rtl="0" algn="l">
              <a:lnSpc>
                <a:spcPct val="90000"/>
              </a:lnSpc>
              <a:spcBef>
                <a:spcPts val="1000"/>
              </a:spcBef>
              <a:spcAft>
                <a:spcPts val="0"/>
              </a:spcAft>
              <a:buClr>
                <a:schemeClr val="dk1"/>
              </a:buClr>
              <a:buSzPts val="2800"/>
              <a:buChar char="•"/>
            </a:pPr>
            <a:r>
              <a:rPr b="1" lang="en-US"/>
              <a:t>Step-3:</a:t>
            </a:r>
            <a:r>
              <a:rPr lang="en-US"/>
              <a:t> Take the K nearest neighbors as per the calculated Euclidean distance.</a:t>
            </a:r>
            <a:endParaRPr/>
          </a:p>
          <a:p>
            <a:pPr indent="-228600" lvl="0" marL="228600" rtl="0" algn="l">
              <a:lnSpc>
                <a:spcPct val="90000"/>
              </a:lnSpc>
              <a:spcBef>
                <a:spcPts val="1000"/>
              </a:spcBef>
              <a:spcAft>
                <a:spcPts val="0"/>
              </a:spcAft>
              <a:buClr>
                <a:schemeClr val="dk1"/>
              </a:buClr>
              <a:buSzPts val="2800"/>
              <a:buChar char="•"/>
            </a:pPr>
            <a:r>
              <a:rPr b="1" lang="en-US"/>
              <a:t>Step-4:</a:t>
            </a:r>
            <a:r>
              <a:rPr lang="en-US"/>
              <a:t> Among these k neighbors, count the number of the data points in each category.</a:t>
            </a:r>
            <a:endParaRPr/>
          </a:p>
          <a:p>
            <a:pPr indent="-228600" lvl="0" marL="228600" rtl="0" algn="l">
              <a:lnSpc>
                <a:spcPct val="90000"/>
              </a:lnSpc>
              <a:spcBef>
                <a:spcPts val="1000"/>
              </a:spcBef>
              <a:spcAft>
                <a:spcPts val="0"/>
              </a:spcAft>
              <a:buClr>
                <a:schemeClr val="dk1"/>
              </a:buClr>
              <a:buSzPts val="2800"/>
              <a:buChar char="•"/>
            </a:pPr>
            <a:r>
              <a:rPr b="1" lang="en-US"/>
              <a:t>Step-5:</a:t>
            </a:r>
            <a:r>
              <a:rPr lang="en-US"/>
              <a:t> Assign the new data points to that category for which the number of the neighbor is maximum.</a:t>
            </a:r>
            <a:endParaRPr/>
          </a:p>
          <a:p>
            <a:pPr indent="-228600" lvl="0" marL="228600" rtl="0" algn="l">
              <a:lnSpc>
                <a:spcPct val="90000"/>
              </a:lnSpc>
              <a:spcBef>
                <a:spcPts val="1000"/>
              </a:spcBef>
              <a:spcAft>
                <a:spcPts val="0"/>
              </a:spcAft>
              <a:buClr>
                <a:schemeClr val="dk1"/>
              </a:buClr>
              <a:buSzPts val="2800"/>
              <a:buChar char="•"/>
            </a:pPr>
            <a:r>
              <a:rPr b="1" lang="en-US"/>
              <a:t>Step-6:</a:t>
            </a:r>
            <a:r>
              <a:rPr lang="en-US"/>
              <a:t> Our model is ready.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6"/>
          <p:cNvPicPr preferRelativeResize="0"/>
          <p:nvPr/>
        </p:nvPicPr>
        <p:blipFill rotWithShape="1">
          <a:blip r:embed="rId3">
            <a:alphaModFix/>
          </a:blip>
          <a:srcRect b="0" l="0" r="0" t="0"/>
          <a:stretch/>
        </p:blipFill>
        <p:spPr>
          <a:xfrm>
            <a:off x="4345925" y="1389388"/>
            <a:ext cx="7642301" cy="3821150"/>
          </a:xfrm>
          <a:prstGeom prst="rect">
            <a:avLst/>
          </a:prstGeom>
          <a:noFill/>
          <a:ln>
            <a:noFill/>
          </a:ln>
        </p:spPr>
      </p:pic>
      <p:pic>
        <p:nvPicPr>
          <p:cNvPr id="104" name="Google Shape;104;p6"/>
          <p:cNvPicPr preferRelativeResize="0"/>
          <p:nvPr/>
        </p:nvPicPr>
        <p:blipFill rotWithShape="1">
          <a:blip r:embed="rId4">
            <a:alphaModFix/>
          </a:blip>
          <a:srcRect b="0" l="0" r="0" t="0"/>
          <a:stretch/>
        </p:blipFill>
        <p:spPr>
          <a:xfrm>
            <a:off x="91225" y="1628875"/>
            <a:ext cx="4177725" cy="3342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7"/>
          <p:cNvPicPr preferRelativeResize="0"/>
          <p:nvPr/>
        </p:nvPicPr>
        <p:blipFill rotWithShape="1">
          <a:blip r:embed="rId3">
            <a:alphaModFix/>
          </a:blip>
          <a:srcRect b="0" l="0" r="0" t="0"/>
          <a:stretch/>
        </p:blipFill>
        <p:spPr>
          <a:xfrm>
            <a:off x="3052425" y="994138"/>
            <a:ext cx="6087150" cy="4869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txBox="1"/>
          <p:nvPr>
            <p:ph type="title"/>
          </p:nvPr>
        </p:nvSpPr>
        <p:spPr>
          <a:xfrm>
            <a:off x="838200" y="365125"/>
            <a:ext cx="10515600" cy="117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KNN</a:t>
            </a:r>
            <a:endParaRPr/>
          </a:p>
        </p:txBody>
      </p:sp>
      <p:sp>
        <p:nvSpPr>
          <p:cNvPr id="115" name="Google Shape;115;p8"/>
          <p:cNvSpPr txBox="1"/>
          <p:nvPr>
            <p:ph idx="1" type="body"/>
          </p:nvPr>
        </p:nvSpPr>
        <p:spPr>
          <a:xfrm>
            <a:off x="838200" y="1542026"/>
            <a:ext cx="10515600" cy="4635000"/>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0"/>
              </a:spcBef>
              <a:spcAft>
                <a:spcPts val="0"/>
              </a:spcAft>
              <a:buClr>
                <a:schemeClr val="dk1"/>
              </a:buClr>
              <a:buSzPts val="2800"/>
              <a:buChar char="•"/>
            </a:pPr>
            <a:r>
              <a:rPr lang="en-US"/>
              <a:t>For classification problems, a class label is assigned on the basis of a majority vote—i.e. the label that is most frequently represented around a given data point is used.</a:t>
            </a:r>
            <a:endParaRPr/>
          </a:p>
          <a:p>
            <a:pPr indent="-241934" lvl="0" marL="228600" rtl="0" algn="l">
              <a:lnSpc>
                <a:spcPct val="90000"/>
              </a:lnSpc>
              <a:spcBef>
                <a:spcPts val="1000"/>
              </a:spcBef>
              <a:spcAft>
                <a:spcPts val="0"/>
              </a:spcAft>
              <a:buClr>
                <a:schemeClr val="dk1"/>
              </a:buClr>
              <a:buSzPts val="2800"/>
              <a:buChar char="•"/>
            </a:pPr>
            <a:r>
              <a:rPr lang="en-US"/>
              <a:t> While this is technically considered “plurality voting”, the term, “majority vote” is more commonly used in literature.</a:t>
            </a:r>
            <a:endParaRPr/>
          </a:p>
          <a:p>
            <a:pPr indent="-241934" lvl="0" marL="228600" rtl="0" algn="l">
              <a:lnSpc>
                <a:spcPct val="90000"/>
              </a:lnSpc>
              <a:spcBef>
                <a:spcPts val="1000"/>
              </a:spcBef>
              <a:spcAft>
                <a:spcPts val="0"/>
              </a:spcAft>
              <a:buClr>
                <a:schemeClr val="dk1"/>
              </a:buClr>
              <a:buSzPts val="2800"/>
              <a:buChar char="•"/>
            </a:pPr>
            <a:r>
              <a:rPr lang="en-US"/>
              <a:t> The distinction between these terminologies is that “majority voting” technically requires a majority of greater than 50%, which primarily works when there are only two categories. </a:t>
            </a:r>
            <a:endParaRPr/>
          </a:p>
          <a:p>
            <a:pPr indent="-241934" lvl="0" marL="228600" rtl="0" algn="l">
              <a:lnSpc>
                <a:spcPct val="90000"/>
              </a:lnSpc>
              <a:spcBef>
                <a:spcPts val="1000"/>
              </a:spcBef>
              <a:spcAft>
                <a:spcPts val="0"/>
              </a:spcAft>
              <a:buClr>
                <a:schemeClr val="dk1"/>
              </a:buClr>
              <a:buSzPts val="2800"/>
              <a:buChar char="•"/>
            </a:pPr>
            <a:r>
              <a:rPr lang="en-US"/>
              <a:t>When you have multiple classes—e.g. four categories, you don’t necessarily need 50% of the vote to make a conclusion about a class; you could assign a class label with a vote of greater than 25%. </a:t>
            </a:r>
            <a:endParaRPr/>
          </a:p>
          <a:p>
            <a:pPr indent="-241934" lvl="0" marL="228600" rtl="0" algn="l">
              <a:lnSpc>
                <a:spcPct val="90000"/>
              </a:lnSpc>
              <a:spcBef>
                <a:spcPts val="1000"/>
              </a:spcBef>
              <a:spcAft>
                <a:spcPts val="0"/>
              </a:spcAft>
              <a:buClr>
                <a:schemeClr val="dk1"/>
              </a:buClr>
              <a:buSzPts val="2800"/>
              <a:buChar char="•"/>
            </a:pPr>
            <a:r>
              <a:rPr lang="en-US"/>
              <a:t>The University of Wisconsin-Madison summarizes this well with an example </a:t>
            </a:r>
            <a:r>
              <a:rPr lang="en-US" u="sng">
                <a:solidFill>
                  <a:schemeClr val="hlink"/>
                </a:solidFill>
                <a:hlinkClick r:id="rId3"/>
              </a:rPr>
              <a:t>here</a:t>
            </a:r>
            <a:r>
              <a:rPr lang="en-US"/>
              <a:t> (link resides outside ibm.com).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9"/>
          <p:cNvSpPr txBox="1"/>
          <p:nvPr>
            <p:ph idx="1" type="body"/>
          </p:nvPr>
        </p:nvSpPr>
        <p:spPr>
          <a:xfrm>
            <a:off x="639600" y="634200"/>
            <a:ext cx="10912800" cy="5589600"/>
          </a:xfrm>
          <a:prstGeom prst="rect">
            <a:avLst/>
          </a:prstGeom>
          <a:noFill/>
          <a:ln>
            <a:noFill/>
          </a:ln>
        </p:spPr>
        <p:txBody>
          <a:bodyPr anchorCtr="0" anchor="t" bIns="45700" lIns="91425" spcFirstLastPara="1" rIns="91425" wrap="square" tIns="45700">
            <a:normAutofit lnSpcReduction="20000"/>
          </a:bodyPr>
          <a:lstStyle/>
          <a:p>
            <a:pPr indent="-268605" lvl="0" marL="228600" rtl="0" algn="l">
              <a:lnSpc>
                <a:spcPct val="90000"/>
              </a:lnSpc>
              <a:spcBef>
                <a:spcPts val="0"/>
              </a:spcBef>
              <a:spcAft>
                <a:spcPts val="0"/>
              </a:spcAft>
              <a:buClr>
                <a:schemeClr val="dk1"/>
              </a:buClr>
              <a:buSzPts val="2800"/>
              <a:buChar char="•"/>
            </a:pPr>
            <a:r>
              <a:rPr lang="en-US"/>
              <a:t>Nearest neighbor algorithms are among the “simplest” supervised machine learning algorithms and have been well studied in the field of pattern recognition over the last century.</a:t>
            </a:r>
            <a:endParaRPr/>
          </a:p>
          <a:p>
            <a:pPr indent="-268605" lvl="0" marL="228600" rtl="0" algn="l">
              <a:lnSpc>
                <a:spcPct val="90000"/>
              </a:lnSpc>
              <a:spcBef>
                <a:spcPts val="1000"/>
              </a:spcBef>
              <a:spcAft>
                <a:spcPts val="0"/>
              </a:spcAft>
              <a:buClr>
                <a:schemeClr val="dk1"/>
              </a:buClr>
              <a:buSzPts val="2800"/>
              <a:buChar char="•"/>
            </a:pPr>
            <a:r>
              <a:rPr lang="en-US"/>
              <a:t> While nearest neighbor algorithms are not as popular as they once were, they are still widely used in practice, and I highly recommend that you are at least considering the k-Nearest Neighbor algorithm in classification projects as a predictive performance benchmark when you are trying to develop more sophisticated models.</a:t>
            </a:r>
            <a:endParaRPr/>
          </a:p>
          <a:p>
            <a:pPr indent="-268605" lvl="0" marL="228600" rtl="0" algn="l">
              <a:lnSpc>
                <a:spcPct val="90000"/>
              </a:lnSpc>
              <a:spcBef>
                <a:spcPts val="1000"/>
              </a:spcBef>
              <a:spcAft>
                <a:spcPts val="0"/>
              </a:spcAft>
              <a:buClr>
                <a:schemeClr val="dk1"/>
              </a:buClr>
              <a:buSzPts val="2800"/>
              <a:buChar char="•"/>
            </a:pPr>
            <a:r>
              <a:rPr lang="en-US"/>
              <a:t>In this lecture, we will primarily talk about two different algorithms, the Nearest Neighbor (NN) algorithm and the k-Nearest Neighbor (kNN) algorithm. </a:t>
            </a:r>
            <a:endParaRPr/>
          </a:p>
          <a:p>
            <a:pPr indent="-268605" lvl="0" marL="228600" rtl="0" algn="l">
              <a:lnSpc>
                <a:spcPct val="90000"/>
              </a:lnSpc>
              <a:spcBef>
                <a:spcPts val="1000"/>
              </a:spcBef>
              <a:spcAft>
                <a:spcPts val="0"/>
              </a:spcAft>
              <a:buClr>
                <a:schemeClr val="dk1"/>
              </a:buClr>
              <a:buSzPts val="2800"/>
              <a:buChar char="•"/>
            </a:pPr>
            <a:r>
              <a:rPr lang="en-US"/>
              <a:t>NN is just a special case of kNN, where k = 1. </a:t>
            </a:r>
            <a:endParaRPr/>
          </a:p>
          <a:p>
            <a:pPr indent="-268605" lvl="0" marL="228600" rtl="0" algn="l">
              <a:lnSpc>
                <a:spcPct val="90000"/>
              </a:lnSpc>
              <a:spcBef>
                <a:spcPts val="1000"/>
              </a:spcBef>
              <a:spcAft>
                <a:spcPts val="0"/>
              </a:spcAft>
              <a:buClr>
                <a:schemeClr val="dk1"/>
              </a:buClr>
              <a:buSzPts val="2800"/>
              <a:buChar char="•"/>
            </a:pPr>
            <a:r>
              <a:rPr lang="en-US"/>
              <a:t>To avoid making this text unnecessarily convoluted, we will only use the abbreviation NN if we talk about concepts that do not apply to kNN in general. Otherwise, we will use kNN to refer to nearest neighbor algorithms in general, regardless of the value of 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ph idx="1" type="body"/>
          </p:nvPr>
        </p:nvSpPr>
        <p:spPr>
          <a:xfrm>
            <a:off x="838200" y="348225"/>
            <a:ext cx="10515600" cy="4148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While kNN is a universal function approximator under certain conditions, the underlying concept is relatively simple. kNN is an algorithm for supervised learning that simply stores the labeled training examples.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hx [i] , y[i] i ∈ D (|D| = 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During the training phase. For this reason, kNN is also called a lazy learning algorithm.</a:t>
            </a:r>
            <a:endParaRPr/>
          </a:p>
        </p:txBody>
      </p:sp>
      <p:sp>
        <p:nvSpPr>
          <p:cNvPr id="126" name="Google Shape;126;p10"/>
          <p:cNvSpPr txBox="1"/>
          <p:nvPr>
            <p:ph idx="1" type="body"/>
          </p:nvPr>
        </p:nvSpPr>
        <p:spPr>
          <a:xfrm>
            <a:off x="838200" y="4496925"/>
            <a:ext cx="10515600" cy="1845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What it means to be a lazy learning algorithm is that the processing of the training examples is postponed until making predictions 1 – again, the training consists literally of just storing the training data.</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2"/>
          <p:cNvSpPr txBox="1"/>
          <p:nvPr>
            <p:ph idx="1" type="body"/>
          </p:nvPr>
        </p:nvSpPr>
        <p:spPr>
          <a:xfrm>
            <a:off x="838200" y="767725"/>
            <a:ext cx="10515600" cy="43512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Then, to make a prediction (class label or continuous target), the kNN algorithms find the k nearest neighbors of a query point and compute the class label (classification) or continuous target (regression) based on the k nearest (most “similar”) points.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However, the overall idea is that instead of approximating the target function f(x) </a:t>
            </a:r>
            <a:r>
              <a:rPr b="1" lang="en-US"/>
              <a:t>= y globally</a:t>
            </a:r>
            <a:r>
              <a:rPr lang="en-US"/>
              <a:t>, during each prediction,</a:t>
            </a:r>
            <a:endParaRPr/>
          </a:p>
          <a:p>
            <a:pPr indent="-228600" lvl="0" marL="228600" rtl="0" algn="l">
              <a:lnSpc>
                <a:spcPct val="90000"/>
              </a:lnSpc>
              <a:spcBef>
                <a:spcPts val="1000"/>
              </a:spcBef>
              <a:spcAft>
                <a:spcPts val="0"/>
              </a:spcAft>
              <a:buClr>
                <a:schemeClr val="dk1"/>
              </a:buClr>
              <a:buSzPts val="2800"/>
              <a:buChar char="•"/>
            </a:pPr>
            <a:r>
              <a:rPr lang="en-US"/>
              <a:t> kNN approximates the target </a:t>
            </a:r>
            <a:r>
              <a:rPr b="1" lang="en-US"/>
              <a:t>function locally. </a:t>
            </a:r>
            <a:endParaRPr/>
          </a:p>
          <a:p>
            <a:pPr indent="-228600" lvl="0" marL="228600" rtl="0" algn="l">
              <a:lnSpc>
                <a:spcPct val="90000"/>
              </a:lnSpc>
              <a:spcBef>
                <a:spcPts val="1000"/>
              </a:spcBef>
              <a:spcAft>
                <a:spcPts val="0"/>
              </a:spcAft>
              <a:buClr>
                <a:schemeClr val="dk1"/>
              </a:buClr>
              <a:buSzPts val="2800"/>
              <a:buChar char="•"/>
            </a:pPr>
            <a:r>
              <a:rPr lang="en-US"/>
              <a:t>In practice, it is easier to learn to approximate a function locally than globally.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3">
            <a:alphaModFix/>
          </a:blip>
          <a:srcRect b="37361" l="32623" r="41468" t="39505"/>
          <a:stretch/>
        </p:blipFill>
        <p:spPr>
          <a:xfrm>
            <a:off x="808430" y="404722"/>
            <a:ext cx="10575131" cy="53089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838200" y="91550"/>
            <a:ext cx="10515600" cy="1104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KNN…</a:t>
            </a:r>
            <a:endParaRPr/>
          </a:p>
        </p:txBody>
      </p:sp>
      <p:sp>
        <p:nvSpPr>
          <p:cNvPr id="142" name="Google Shape;142;p14"/>
          <p:cNvSpPr txBox="1"/>
          <p:nvPr>
            <p:ph idx="1" type="body"/>
          </p:nvPr>
        </p:nvSpPr>
        <p:spPr>
          <a:xfrm>
            <a:off x="639600" y="1067825"/>
            <a:ext cx="10912800" cy="5602500"/>
          </a:xfrm>
          <a:prstGeom prst="rect">
            <a:avLst/>
          </a:prstGeom>
          <a:noFill/>
          <a:ln>
            <a:noFill/>
          </a:ln>
        </p:spPr>
        <p:txBody>
          <a:bodyPr anchorCtr="0" anchor="t" bIns="45700" lIns="91425" spcFirstLastPara="1" rIns="91425" wrap="square" tIns="45700">
            <a:noAutofit/>
          </a:bodyPr>
          <a:lstStyle/>
          <a:p>
            <a:pPr indent="-241300" lvl="0" marL="228600" rtl="0" algn="l">
              <a:lnSpc>
                <a:spcPct val="90000"/>
              </a:lnSpc>
              <a:spcBef>
                <a:spcPts val="0"/>
              </a:spcBef>
              <a:spcAft>
                <a:spcPts val="0"/>
              </a:spcAft>
              <a:buClr>
                <a:schemeClr val="dk1"/>
              </a:buClr>
              <a:buSzPts val="2580"/>
              <a:buChar char="•"/>
            </a:pPr>
            <a:r>
              <a:rPr lang="en-US" sz="2580"/>
              <a:t>Since kNN does not have an explicit training step and defers all of the computation until prediction, we already determined that kNN is a lazy algorithm.</a:t>
            </a:r>
            <a:endParaRPr sz="2580"/>
          </a:p>
          <a:p>
            <a:pPr indent="-241300" lvl="0" marL="228600" rtl="0" algn="l">
              <a:lnSpc>
                <a:spcPct val="90000"/>
              </a:lnSpc>
              <a:spcBef>
                <a:spcPts val="1000"/>
              </a:spcBef>
              <a:spcAft>
                <a:spcPts val="0"/>
              </a:spcAft>
              <a:buClr>
                <a:schemeClr val="dk1"/>
              </a:buClr>
              <a:buSzPts val="2580"/>
              <a:buChar char="•"/>
            </a:pPr>
            <a:r>
              <a:rPr lang="en-US" sz="2580"/>
              <a:t>Further, instead of devising one global model or approximation of the target function, for each different data point, there is a different local approximation, which depends on the data point itself as well as the training data points. </a:t>
            </a:r>
            <a:endParaRPr sz="2580"/>
          </a:p>
          <a:p>
            <a:pPr indent="-241300" lvl="0" marL="228600" rtl="0" algn="l">
              <a:lnSpc>
                <a:spcPct val="90000"/>
              </a:lnSpc>
              <a:spcBef>
                <a:spcPts val="1000"/>
              </a:spcBef>
              <a:spcAft>
                <a:spcPts val="0"/>
              </a:spcAft>
              <a:buClr>
                <a:schemeClr val="dk1"/>
              </a:buClr>
              <a:buSzPts val="2580"/>
              <a:buChar char="•"/>
            </a:pPr>
            <a:r>
              <a:rPr lang="en-US" sz="2580"/>
              <a:t>Since the prediction is based on a comparison of a query point with data points in the training set (rather than a global model), kNN is also categorized </a:t>
            </a:r>
            <a:r>
              <a:rPr b="1" lang="en-US" sz="2580"/>
              <a:t>as instance-based (or “memory-based”) method</a:t>
            </a:r>
            <a:r>
              <a:rPr lang="en-US" sz="2580"/>
              <a:t>.</a:t>
            </a:r>
            <a:endParaRPr sz="2580"/>
          </a:p>
          <a:p>
            <a:pPr indent="-241300" lvl="0" marL="228600" rtl="0" algn="l">
              <a:lnSpc>
                <a:spcPct val="90000"/>
              </a:lnSpc>
              <a:spcBef>
                <a:spcPts val="1000"/>
              </a:spcBef>
              <a:spcAft>
                <a:spcPts val="0"/>
              </a:spcAft>
              <a:buClr>
                <a:schemeClr val="dk1"/>
              </a:buClr>
              <a:buSzPts val="2580"/>
              <a:buChar char="•"/>
            </a:pPr>
            <a:r>
              <a:rPr lang="en-US" sz="2580"/>
              <a:t> While kNN is a </a:t>
            </a:r>
            <a:r>
              <a:rPr b="1" lang="en-US" sz="2580"/>
              <a:t>lazy instance-based learning algorithm</a:t>
            </a:r>
            <a:r>
              <a:rPr lang="en-US" sz="2580"/>
              <a:t>, an example of </a:t>
            </a:r>
            <a:r>
              <a:rPr b="1" lang="en-US" sz="2580"/>
              <a:t>an eager instance-based </a:t>
            </a:r>
            <a:r>
              <a:rPr lang="en-US" sz="2580"/>
              <a:t>learning algorithm would be the support vector machine.</a:t>
            </a:r>
            <a:endParaRPr sz="2580"/>
          </a:p>
          <a:p>
            <a:pPr indent="-241300" lvl="0" marL="228600" rtl="0" algn="l">
              <a:lnSpc>
                <a:spcPct val="90000"/>
              </a:lnSpc>
              <a:spcBef>
                <a:spcPts val="1000"/>
              </a:spcBef>
              <a:spcAft>
                <a:spcPts val="0"/>
              </a:spcAft>
              <a:buClr>
                <a:schemeClr val="dk1"/>
              </a:buClr>
              <a:buSzPts val="2580"/>
              <a:buChar char="•"/>
            </a:pPr>
            <a:r>
              <a:rPr lang="en-US" sz="2580"/>
              <a:t>Lastly, because we </a:t>
            </a:r>
            <a:r>
              <a:rPr lang="en-US" sz="2580" u="sng"/>
              <a:t>do not make any assumption about the functional form of the kNN algorithm, a kNN model is also considered a nonparametric model.</a:t>
            </a:r>
            <a:endParaRPr sz="2580" u="sng"/>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893f6abd1a_0_0"/>
          <p:cNvSpPr txBox="1"/>
          <p:nvPr>
            <p:ph type="title"/>
          </p:nvPr>
        </p:nvSpPr>
        <p:spPr>
          <a:xfrm>
            <a:off x="838200" y="255700"/>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990"/>
              <a:buNone/>
            </a:pPr>
            <a:r>
              <a:rPr lang="en-US" sz="3659"/>
              <a:t>Elbow Method in Supervised Machine Learning (Optimal K Value)</a:t>
            </a:r>
            <a:endParaRPr sz="3959"/>
          </a:p>
        </p:txBody>
      </p:sp>
      <p:sp>
        <p:nvSpPr>
          <p:cNvPr id="148" name="Google Shape;148;g3893f6abd1a_0_0"/>
          <p:cNvSpPr txBox="1"/>
          <p:nvPr>
            <p:ph idx="1" type="body"/>
          </p:nvPr>
        </p:nvSpPr>
        <p:spPr>
          <a:xfrm>
            <a:off x="712425" y="1825625"/>
            <a:ext cx="11168400" cy="43512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SzPts val="1800"/>
              <a:buChar char="❏"/>
            </a:pPr>
            <a:r>
              <a:rPr lang="en-US"/>
              <a:t>The most important step in k-Nearest </a:t>
            </a:r>
            <a:r>
              <a:rPr lang="en-US"/>
              <a:t>Neighbor</a:t>
            </a:r>
            <a:r>
              <a:rPr lang="en-US"/>
              <a:t> supervised machine learning is to determine the optimal value of K; that is, how many clusters your data should be divided into? </a:t>
            </a:r>
            <a:endParaRPr/>
          </a:p>
          <a:p>
            <a:pPr indent="-342900" lvl="0" marL="457200" rtl="0" algn="l">
              <a:lnSpc>
                <a:spcPct val="90000"/>
              </a:lnSpc>
              <a:spcBef>
                <a:spcPts val="0"/>
              </a:spcBef>
              <a:spcAft>
                <a:spcPts val="0"/>
              </a:spcAft>
              <a:buSzPts val="1800"/>
              <a:buChar char="❏"/>
            </a:pPr>
            <a:r>
              <a:rPr lang="en-US"/>
              <a:t>The optimal value of k reduces effect of the noise on the classification, but makes boundaries between classes less </a:t>
            </a:r>
            <a:r>
              <a:rPr lang="en-US"/>
              <a:t>distinct</a:t>
            </a:r>
            <a:r>
              <a:rPr lang="en-US"/>
              <a:t>. </a:t>
            </a:r>
            <a:endParaRPr/>
          </a:p>
          <a:p>
            <a:pPr indent="-342900" lvl="0" marL="457200" rtl="0" algn="l">
              <a:lnSpc>
                <a:spcPct val="90000"/>
              </a:lnSpc>
              <a:spcBef>
                <a:spcPts val="0"/>
              </a:spcBef>
              <a:spcAft>
                <a:spcPts val="0"/>
              </a:spcAft>
              <a:buSzPts val="1800"/>
              <a:buChar char="❏"/>
            </a:pPr>
            <a:r>
              <a:rPr lang="en-US"/>
              <a:t>Elbow method helps data scientists to select the optimal number of clusters for KNN clustering. </a:t>
            </a:r>
            <a:endParaRPr/>
          </a:p>
          <a:p>
            <a:pPr indent="-342900" lvl="0" marL="457200" rtl="0" algn="l">
              <a:lnSpc>
                <a:spcPct val="90000"/>
              </a:lnSpc>
              <a:spcBef>
                <a:spcPts val="0"/>
              </a:spcBef>
              <a:spcAft>
                <a:spcPts val="0"/>
              </a:spcAft>
              <a:buSzPts val="1800"/>
              <a:buChar char="❏"/>
            </a:pPr>
            <a:r>
              <a:rPr lang="en-US"/>
              <a:t>It is one of the most popular methods to determine this optimal value of K. </a:t>
            </a:r>
            <a:endParaRPr/>
          </a:p>
          <a:p>
            <a:pPr indent="-342900" lvl="0" marL="457200" rtl="0" algn="l">
              <a:lnSpc>
                <a:spcPct val="90000"/>
              </a:lnSpc>
              <a:spcBef>
                <a:spcPts val="0"/>
              </a:spcBef>
              <a:spcAft>
                <a:spcPts val="0"/>
              </a:spcAft>
              <a:buSzPts val="1800"/>
              <a:buChar char="❏"/>
            </a:pPr>
            <a:r>
              <a:rPr lang="en-US"/>
              <a:t>Because the user must specify in advance what k to choose, the algorithm is somewhat naive — it assigns all members to k clusters even if that is not the right k for the dataset.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txBox="1"/>
          <p:nvPr>
            <p:ph idx="1" type="body"/>
          </p:nvPr>
        </p:nvSpPr>
        <p:spPr>
          <a:xfrm>
            <a:off x="838200" y="2591675"/>
            <a:ext cx="10515600" cy="3455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While neural networks are gaining popularity in the computer vision and pattern recognition field, one area where k-nearest neighbors models are still commonly and successfully being used is in the </a:t>
            </a:r>
            <a:r>
              <a:rPr b="1" lang="en-US"/>
              <a:t>intersection between computer vision, pattern classification, and biometrics </a:t>
            </a:r>
            <a:r>
              <a:rPr lang="en-US"/>
              <a:t>(e.g., to make predictions based on extracted geometrical features2 ). </a:t>
            </a:r>
            <a:endParaRPr/>
          </a:p>
          <a:p>
            <a:pPr indent="-228600" lvl="0" marL="228600" rtl="0" algn="l">
              <a:lnSpc>
                <a:spcPct val="90000"/>
              </a:lnSpc>
              <a:spcBef>
                <a:spcPts val="1000"/>
              </a:spcBef>
              <a:spcAft>
                <a:spcPts val="0"/>
              </a:spcAft>
              <a:buClr>
                <a:schemeClr val="dk1"/>
              </a:buClr>
              <a:buSzPts val="2800"/>
              <a:buChar char="•"/>
            </a:pPr>
            <a:r>
              <a:rPr lang="en-US"/>
              <a:t>Other common use cases include recommender systems (via collaborative filtering3 ) and outlier detection.</a:t>
            </a:r>
            <a:endParaRPr/>
          </a:p>
        </p:txBody>
      </p:sp>
      <p:sp>
        <p:nvSpPr>
          <p:cNvPr id="154" name="Google Shape;154;p15"/>
          <p:cNvSpPr txBox="1"/>
          <p:nvPr>
            <p:ph idx="1" type="body"/>
          </p:nvPr>
        </p:nvSpPr>
        <p:spPr>
          <a:xfrm>
            <a:off x="838200" y="968375"/>
            <a:ext cx="10515600" cy="113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data = pd.read_csv(‘KNN_Project_Data)</a:t>
            </a:r>
            <a:endParaRPr/>
          </a:p>
          <a:p>
            <a:pPr indent="0" lvl="0" marL="0" rtl="0" algn="l">
              <a:lnSpc>
                <a:spcPct val="90000"/>
              </a:lnSpc>
              <a:spcBef>
                <a:spcPts val="1000"/>
              </a:spcBef>
              <a:spcAft>
                <a:spcPts val="0"/>
              </a:spcAft>
              <a:buSzPts val="1800"/>
              <a:buNone/>
            </a:pPr>
            <a:r>
              <a:rPr lang="en-US"/>
              <a:t>data.head()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idx="1" type="body"/>
          </p:nvPr>
        </p:nvSpPr>
        <p:spPr>
          <a:xfrm>
            <a:off x="838200" y="767750"/>
            <a:ext cx="10515600" cy="3838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In a theoretical manner, we can say that a </a:t>
            </a:r>
            <a:r>
              <a:rPr b="1" lang="en-US"/>
              <a:t>distance measure </a:t>
            </a:r>
            <a:r>
              <a:rPr lang="en-US"/>
              <a:t>is an objective score that summarizes the difference between two objects in a specific domain. There are several types of distance measures techniques but we only use some of them and they are listed below:</a:t>
            </a:r>
            <a:endParaRPr/>
          </a:p>
          <a:p>
            <a:pPr indent="0" lvl="0" marL="457200" rtl="0" algn="l">
              <a:lnSpc>
                <a:spcPct val="90000"/>
              </a:lnSpc>
              <a:spcBef>
                <a:spcPts val="1000"/>
              </a:spcBef>
              <a:spcAft>
                <a:spcPts val="0"/>
              </a:spcAft>
              <a:buNone/>
            </a:pPr>
            <a:r>
              <a:rPr b="1" lang="en-US"/>
              <a:t>1. Euclidean distance</a:t>
            </a:r>
            <a:endParaRPr/>
          </a:p>
          <a:p>
            <a:pPr indent="0" lvl="0" marL="457200" rtl="0" algn="l">
              <a:lnSpc>
                <a:spcPct val="90000"/>
              </a:lnSpc>
              <a:spcBef>
                <a:spcPts val="1000"/>
              </a:spcBef>
              <a:spcAft>
                <a:spcPts val="0"/>
              </a:spcAft>
              <a:buNone/>
            </a:pPr>
            <a:r>
              <a:rPr b="1" lang="en-US"/>
              <a:t>2. Manhattan distance</a:t>
            </a:r>
            <a:endParaRPr/>
          </a:p>
          <a:p>
            <a:pPr indent="0" lvl="0" marL="457200" rtl="0" algn="l">
              <a:lnSpc>
                <a:spcPct val="90000"/>
              </a:lnSpc>
              <a:spcBef>
                <a:spcPts val="1000"/>
              </a:spcBef>
              <a:spcAft>
                <a:spcPts val="0"/>
              </a:spcAft>
              <a:buNone/>
            </a:pPr>
            <a:r>
              <a:rPr b="1" lang="en-US"/>
              <a:t>3. Minkowski distance </a:t>
            </a:r>
            <a:endParaRPr/>
          </a:p>
          <a:p>
            <a:pPr indent="0" lvl="0" marL="457200" rtl="0" algn="l">
              <a:lnSpc>
                <a:spcPct val="90000"/>
              </a:lnSpc>
              <a:spcBef>
                <a:spcPts val="1000"/>
              </a:spcBef>
              <a:spcAft>
                <a:spcPts val="0"/>
              </a:spcAft>
              <a:buNone/>
            </a:pPr>
            <a:r>
              <a:rPr b="1" lang="en-US"/>
              <a:t>4. Hamming distance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Euclidean Distance</a:t>
            </a:r>
            <a:endParaRPr/>
          </a:p>
        </p:txBody>
      </p:sp>
      <p:sp>
        <p:nvSpPr>
          <p:cNvPr id="165" name="Google Shape;16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mostly use this distance measurement technique to find the distance between consecutive points. It is generally used to find the distance between two real-valued vectors. Euclidean distance is used when we have to calculate the distance of real values like integer, float, etc… One issue with this distance measurement technique is that we have to normalize or standard the data into a balance scale otherwise the outcome will not preferable.</a:t>
            </a:r>
            <a:endParaRPr/>
          </a:p>
          <a:p>
            <a:pPr indent="-228600" lvl="0" marL="228600" rtl="0" algn="l">
              <a:lnSpc>
                <a:spcPct val="90000"/>
              </a:lnSpc>
              <a:spcBef>
                <a:spcPts val="1000"/>
              </a:spcBef>
              <a:spcAft>
                <a:spcPts val="0"/>
              </a:spcAft>
              <a:buClr>
                <a:schemeClr val="dk1"/>
              </a:buClr>
              <a:buSzPts val="2800"/>
              <a:buChar char="•"/>
            </a:pPr>
            <a:r>
              <a:rPr lang="en-US"/>
              <a:t>Let’s take an example of a 2-Dimensional vector and take a geometrical intuition of distance measures on 2-Dim data for a better understanding.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8"/>
          <p:cNvPicPr preferRelativeResize="0"/>
          <p:nvPr/>
        </p:nvPicPr>
        <p:blipFill rotWithShape="1">
          <a:blip r:embed="rId3">
            <a:alphaModFix/>
          </a:blip>
          <a:srcRect b="0" l="0" r="0" t="0"/>
          <a:stretch/>
        </p:blipFill>
        <p:spPr>
          <a:xfrm>
            <a:off x="1309687" y="1709737"/>
            <a:ext cx="9572625" cy="3438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idx="1" type="body"/>
          </p:nvPr>
        </p:nvSpPr>
        <p:spPr>
          <a:xfrm>
            <a:off x="838200" y="468500"/>
            <a:ext cx="10515600" cy="3207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From the above image, you can see that there are 2-Dim data X1 and X2 placed at certain coordinates in 2 dimensions, suppose X1 is at (x1,y1) coordinates and X2 is at (x2,y2) coordinates. We have 2-dim data so we considered F1 and F2 two features and D is considered as the shortest line from X1 and X2, If we find the distance between these data points that can be found by the Pythagoras theorem and can be written as:</a:t>
            </a:r>
            <a:endParaRPr/>
          </a:p>
        </p:txBody>
      </p:sp>
      <p:pic>
        <p:nvPicPr>
          <p:cNvPr id="176" name="Google Shape;176;p19"/>
          <p:cNvPicPr preferRelativeResize="0"/>
          <p:nvPr/>
        </p:nvPicPr>
        <p:blipFill rotWithShape="1">
          <a:blip r:embed="rId3">
            <a:alphaModFix/>
          </a:blip>
          <a:srcRect b="0" l="0" r="0" t="0"/>
          <a:stretch/>
        </p:blipFill>
        <p:spPr>
          <a:xfrm>
            <a:off x="3807212" y="2978449"/>
            <a:ext cx="4577587" cy="697650"/>
          </a:xfrm>
          <a:prstGeom prst="rect">
            <a:avLst/>
          </a:prstGeom>
          <a:noFill/>
          <a:ln>
            <a:noFill/>
          </a:ln>
        </p:spPr>
      </p:pic>
      <p:sp>
        <p:nvSpPr>
          <p:cNvPr id="177" name="Google Shape;177;p19"/>
          <p:cNvSpPr txBox="1"/>
          <p:nvPr>
            <p:ph idx="1" type="body"/>
          </p:nvPr>
        </p:nvSpPr>
        <p:spPr>
          <a:xfrm>
            <a:off x="838200" y="3886650"/>
            <a:ext cx="10515600" cy="2561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You already know that we are finding the  distance or we can say the length of any 2 points, so we in vectorize from we can write that as </a:t>
            </a:r>
            <a:r>
              <a:rPr b="1" lang="en-US"/>
              <a:t>d = || X1 – X2 || </a:t>
            </a:r>
            <a:endParaRPr b="1"/>
          </a:p>
          <a:p>
            <a:pPr indent="-228600" lvl="0" marL="228600" rtl="0" algn="l">
              <a:lnSpc>
                <a:spcPct val="90000"/>
              </a:lnSpc>
              <a:spcBef>
                <a:spcPts val="1000"/>
              </a:spcBef>
              <a:spcAft>
                <a:spcPts val="0"/>
              </a:spcAft>
              <a:buClr>
                <a:schemeClr val="dk1"/>
              </a:buClr>
              <a:buSzPts val="2800"/>
              <a:buChar char="•"/>
            </a:pPr>
            <a:r>
              <a:rPr b="1" lang="en-US"/>
              <a:t>Suppose we take D-dimensional vector it means </a:t>
            </a:r>
            <a:r>
              <a:rPr b="1" lang="en-US"/>
              <a:t>X</a:t>
            </a:r>
            <a:r>
              <a:rPr b="1" baseline="-25000" lang="en-US"/>
              <a:t>1</a:t>
            </a:r>
            <a:r>
              <a:rPr b="1" lang="en-US"/>
              <a:t> belongs to</a:t>
            </a:r>
            <a:r>
              <a:rPr b="1" lang="en-US"/>
              <a:t> R</a:t>
            </a:r>
            <a:r>
              <a:rPr b="1" baseline="30000" lang="en-US"/>
              <a:t>d</a:t>
            </a:r>
            <a:r>
              <a:rPr b="1" lang="en-US"/>
              <a:t>  </a:t>
            </a:r>
            <a:r>
              <a:rPr b="1" lang="en-US"/>
              <a:t>(</a:t>
            </a:r>
            <a:r>
              <a:rPr b="1" lang="en-US"/>
              <a:t>X</a:t>
            </a:r>
            <a:r>
              <a:rPr b="1" baseline="-25000" lang="en-US"/>
              <a:t>1</a:t>
            </a:r>
            <a:r>
              <a:rPr b="1" lang="en-US"/>
              <a:t>∈R</a:t>
            </a:r>
            <a:r>
              <a:rPr b="1" baseline="30000" lang="en-US"/>
              <a:t>d</a:t>
            </a:r>
            <a:r>
              <a:rPr b="1" lang="en-US"/>
              <a:t>) and also </a:t>
            </a:r>
            <a:r>
              <a:rPr b="1" lang="en-US"/>
              <a:t>X</a:t>
            </a:r>
            <a:r>
              <a:rPr b="1" baseline="-25000" lang="en-US"/>
              <a:t>2</a:t>
            </a:r>
            <a:r>
              <a:rPr b="1" lang="en-US"/>
              <a:t> belongs to </a:t>
            </a:r>
            <a:r>
              <a:rPr b="1" lang="en-US"/>
              <a:t>R</a:t>
            </a:r>
            <a:r>
              <a:rPr b="1" baseline="30000" lang="en-US"/>
              <a:t>d</a:t>
            </a:r>
            <a:r>
              <a:rPr b="1" lang="en-US"/>
              <a:t> (</a:t>
            </a:r>
            <a:r>
              <a:rPr b="1" lang="en-US"/>
              <a:t>X</a:t>
            </a:r>
            <a:r>
              <a:rPr b="1" baseline="-25000" lang="en-US"/>
              <a:t>2</a:t>
            </a:r>
            <a:r>
              <a:rPr b="1" lang="en-US"/>
              <a:t>∈R</a:t>
            </a:r>
            <a:r>
              <a:rPr b="1" baseline="30000" lang="en-US"/>
              <a:t>d</a:t>
            </a:r>
            <a:r>
              <a:rPr b="1" lang="en-US"/>
              <a:t>) so the distance between X1 and X2 is written as:</a:t>
            </a:r>
            <a:endParaRPr b="1"/>
          </a:p>
        </p:txBody>
      </p:sp>
      <p:pic>
        <p:nvPicPr>
          <p:cNvPr id="178" name="Google Shape;178;p19"/>
          <p:cNvPicPr preferRelativeResize="0"/>
          <p:nvPr/>
        </p:nvPicPr>
        <p:blipFill rotWithShape="1">
          <a:blip r:embed="rId4">
            <a:alphaModFix/>
          </a:blip>
          <a:srcRect b="0" l="0" r="0" t="0"/>
          <a:stretch/>
        </p:blipFill>
        <p:spPr>
          <a:xfrm>
            <a:off x="6297578" y="5946300"/>
            <a:ext cx="5271750" cy="911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sp>
        <p:nvSpPr>
          <p:cNvPr id="184" name="Google Shape;184;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Let’s take a simple and basic example to illustrate the above mathematical equation.</a:t>
            </a:r>
            <a:endParaRPr/>
          </a:p>
          <a:p>
            <a:pPr indent="-228600" lvl="0" marL="228600" rtl="0" algn="l">
              <a:lnSpc>
                <a:spcPct val="90000"/>
              </a:lnSpc>
              <a:spcBef>
                <a:spcPts val="1000"/>
              </a:spcBef>
              <a:spcAft>
                <a:spcPts val="0"/>
              </a:spcAft>
              <a:buClr>
                <a:schemeClr val="dk1"/>
              </a:buClr>
              <a:buSzPts val="2800"/>
              <a:buChar char="•"/>
            </a:pPr>
            <a:r>
              <a:rPr lang="en-US"/>
              <a:t>Suppose the vector X1 and X2 coordinates are in 2-Dim,</a:t>
            </a:r>
            <a:endParaRPr/>
          </a:p>
          <a:p>
            <a:pPr indent="-228600" lvl="0" marL="228600" rtl="0" algn="l">
              <a:lnSpc>
                <a:spcPct val="90000"/>
              </a:lnSpc>
              <a:spcBef>
                <a:spcPts val="1000"/>
              </a:spcBef>
              <a:spcAft>
                <a:spcPts val="0"/>
              </a:spcAft>
              <a:buClr>
                <a:schemeClr val="dk1"/>
              </a:buClr>
              <a:buSzPts val="2800"/>
              <a:buChar char="•"/>
            </a:pPr>
            <a:r>
              <a:rPr b="1" lang="en-US"/>
              <a:t>X1(x</a:t>
            </a:r>
            <a:r>
              <a:rPr b="1" baseline="-25000" lang="en-US"/>
              <a:t>1</a:t>
            </a:r>
            <a:r>
              <a:rPr b="1" lang="en-US"/>
              <a:t>, y</a:t>
            </a:r>
            <a:r>
              <a:rPr b="1" baseline="-25000" lang="en-US"/>
              <a:t>1</a:t>
            </a:r>
            <a:r>
              <a:rPr b="1" lang="en-US"/>
              <a:t>) =  X1(3, 4)</a:t>
            </a:r>
            <a:endParaRPr/>
          </a:p>
          <a:p>
            <a:pPr indent="-228600" lvl="0" marL="228600" rtl="0" algn="l">
              <a:lnSpc>
                <a:spcPct val="90000"/>
              </a:lnSpc>
              <a:spcBef>
                <a:spcPts val="1000"/>
              </a:spcBef>
              <a:spcAft>
                <a:spcPts val="0"/>
              </a:spcAft>
              <a:buClr>
                <a:schemeClr val="dk1"/>
              </a:buClr>
              <a:buSzPts val="2800"/>
              <a:buChar char="•"/>
            </a:pPr>
            <a:r>
              <a:rPr b="1" lang="en-US"/>
              <a:t>X2(x</a:t>
            </a:r>
            <a:r>
              <a:rPr b="1" baseline="-25000" lang="en-US"/>
              <a:t>2</a:t>
            </a:r>
            <a:r>
              <a:rPr b="1" lang="en-US"/>
              <a:t>, y</a:t>
            </a:r>
            <a:r>
              <a:rPr b="1" baseline="-25000" lang="en-US"/>
              <a:t>2</a:t>
            </a:r>
            <a:r>
              <a:rPr b="1" lang="en-US"/>
              <a:t>) =  X2(4, 7), </a:t>
            </a:r>
            <a:r>
              <a:rPr lang="en-US"/>
              <a:t>as you can see in the image.</a:t>
            </a:r>
            <a:endParaRPr/>
          </a:p>
          <a:p>
            <a:pPr indent="-228600" lvl="0" marL="228600" rtl="0" algn="l">
              <a:lnSpc>
                <a:spcPct val="90000"/>
              </a:lnSpc>
              <a:spcBef>
                <a:spcPts val="1000"/>
              </a:spcBef>
              <a:spcAft>
                <a:spcPts val="0"/>
              </a:spcAft>
              <a:buClr>
                <a:schemeClr val="dk1"/>
              </a:buClr>
              <a:buSzPts val="2800"/>
              <a:buChar char="•"/>
            </a:pPr>
            <a:r>
              <a:rPr lang="en-US"/>
              <a:t>So these are a 2-Dim vector so our eucledian distance mathematical equation for finding the distance between X1 and X2 is:</a:t>
            </a:r>
            <a:endParaRPr/>
          </a:p>
          <a:p>
            <a:pPr indent="-228600" lvl="0" marL="228600" rtl="0" algn="l">
              <a:lnSpc>
                <a:spcPct val="90000"/>
              </a:lnSpc>
              <a:spcBef>
                <a:spcPts val="1000"/>
              </a:spcBef>
              <a:spcAft>
                <a:spcPts val="0"/>
              </a:spcAft>
              <a:buClr>
                <a:schemeClr val="dk1"/>
              </a:buClr>
              <a:buSzPts val="2800"/>
              <a:buChar char="•"/>
            </a:pPr>
            <a:r>
              <a:rPr b="1" lang="en-US"/>
              <a:t>distance = sqrt( (x</a:t>
            </a:r>
            <a:r>
              <a:rPr b="1" baseline="-25000" lang="en-US"/>
              <a:t>2</a:t>
            </a:r>
            <a:r>
              <a:rPr b="1" lang="en-US"/>
              <a:t>-x</a:t>
            </a:r>
            <a:r>
              <a:rPr b="1" baseline="-25000" lang="en-US"/>
              <a:t>1</a:t>
            </a:r>
            <a:r>
              <a:rPr b="1" lang="en-US"/>
              <a:t>)</a:t>
            </a:r>
            <a:r>
              <a:rPr b="1" baseline="30000" lang="en-US"/>
              <a:t>2</a:t>
            </a:r>
            <a:r>
              <a:rPr b="1" lang="en-US"/>
              <a:t> + (y</a:t>
            </a:r>
            <a:r>
              <a:rPr b="1" baseline="-25000" lang="en-US"/>
              <a:t>2</a:t>
            </a:r>
            <a:r>
              <a:rPr b="1" lang="en-US"/>
              <a:t>-y</a:t>
            </a:r>
            <a:r>
              <a:rPr b="1" baseline="-25000" lang="en-US"/>
              <a:t>1</a:t>
            </a:r>
            <a:r>
              <a:rPr b="1" lang="en-US"/>
              <a:t>)</a:t>
            </a:r>
            <a:r>
              <a:rPr b="1" baseline="30000" lang="en-US"/>
              <a:t>2</a:t>
            </a:r>
            <a:r>
              <a:rPr b="1" lang="en-US"/>
              <a: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idx="1" type="body"/>
          </p:nvPr>
        </p:nvSpPr>
        <p:spPr>
          <a:xfrm>
            <a:off x="594000" y="1023100"/>
            <a:ext cx="11004000" cy="360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When we put our coordinates in the equations,</a:t>
            </a:r>
            <a:endParaRPr/>
          </a:p>
          <a:p>
            <a:pPr indent="0" lvl="0" marL="457200" rtl="0" algn="l">
              <a:lnSpc>
                <a:spcPct val="90000"/>
              </a:lnSpc>
              <a:spcBef>
                <a:spcPts val="1000"/>
              </a:spcBef>
              <a:spcAft>
                <a:spcPts val="0"/>
              </a:spcAft>
              <a:buNone/>
            </a:pPr>
            <a:r>
              <a:rPr lang="en-US"/>
              <a:t>distance = sqrt( (4-3)</a:t>
            </a:r>
            <a:r>
              <a:rPr baseline="30000" lang="en-US"/>
              <a:t>2</a:t>
            </a:r>
            <a:r>
              <a:rPr lang="en-US"/>
              <a:t> + (7-4)</a:t>
            </a:r>
            <a:r>
              <a:rPr baseline="30000" lang="en-US"/>
              <a:t>2</a:t>
            </a:r>
            <a:r>
              <a:rPr lang="en-US"/>
              <a:t> )</a:t>
            </a:r>
            <a:endParaRPr/>
          </a:p>
          <a:p>
            <a:pPr indent="0" lvl="0" marL="457200" rtl="0" algn="l">
              <a:lnSpc>
                <a:spcPct val="90000"/>
              </a:lnSpc>
              <a:spcBef>
                <a:spcPts val="1000"/>
              </a:spcBef>
              <a:spcAft>
                <a:spcPts val="0"/>
              </a:spcAft>
              <a:buNone/>
            </a:pPr>
            <a:r>
              <a:rPr lang="en-US"/>
              <a:t>distance = sqrt( 1+3</a:t>
            </a:r>
            <a:r>
              <a:rPr baseline="30000" lang="en-US"/>
              <a:t>2</a:t>
            </a:r>
            <a:r>
              <a:rPr lang="en-US"/>
              <a:t> )</a:t>
            </a:r>
            <a:endParaRPr/>
          </a:p>
          <a:p>
            <a:pPr indent="0" lvl="0" marL="457200" rtl="0" algn="l">
              <a:lnSpc>
                <a:spcPct val="90000"/>
              </a:lnSpc>
              <a:spcBef>
                <a:spcPts val="1000"/>
              </a:spcBef>
              <a:spcAft>
                <a:spcPts val="0"/>
              </a:spcAft>
              <a:buNone/>
            </a:pPr>
            <a:r>
              <a:rPr lang="en-US"/>
              <a:t>distance = sqrt( 10 )</a:t>
            </a:r>
            <a:endParaRPr/>
          </a:p>
          <a:p>
            <a:pPr indent="0" lvl="0" marL="457200" rtl="0" algn="l">
              <a:lnSpc>
                <a:spcPct val="90000"/>
              </a:lnSpc>
              <a:spcBef>
                <a:spcPts val="1000"/>
              </a:spcBef>
              <a:spcAft>
                <a:spcPts val="0"/>
              </a:spcAft>
              <a:buNone/>
            </a:pPr>
            <a:r>
              <a:rPr b="1" lang="en-US"/>
              <a:t>distance = 3.1 (approx)</a:t>
            </a:r>
            <a:endParaRPr b="1"/>
          </a:p>
          <a:p>
            <a:pPr indent="0" lvl="0" marL="457200" rtl="0" algn="l">
              <a:lnSpc>
                <a:spcPct val="90000"/>
              </a:lnSpc>
              <a:spcBef>
                <a:spcPts val="1000"/>
              </a:spcBef>
              <a:spcAft>
                <a:spcPts val="0"/>
              </a:spcAft>
              <a:buNone/>
            </a:pPr>
            <a:r>
              <a:t/>
            </a:r>
            <a:endParaRPr b="1"/>
          </a:p>
          <a:p>
            <a:pPr indent="0" lvl="0" marL="0" rtl="0" algn="l">
              <a:lnSpc>
                <a:spcPct val="90000"/>
              </a:lnSpc>
              <a:spcBef>
                <a:spcPts val="1000"/>
              </a:spcBef>
              <a:spcAft>
                <a:spcPts val="0"/>
              </a:spcAft>
              <a:buNone/>
            </a:pPr>
            <a:r>
              <a:rPr lang="en-US" sz="2500"/>
              <a:t>https://www.analyticsvidhya.com/blog/2021/08/how-knn-uses-distance-measures/</a:t>
            </a:r>
            <a:endParaRPr sz="2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3"/>
          <p:cNvPicPr preferRelativeResize="0"/>
          <p:nvPr/>
        </p:nvPicPr>
        <p:blipFill rotWithShape="1">
          <a:blip r:embed="rId3">
            <a:alphaModFix/>
          </a:blip>
          <a:srcRect b="0" l="0" r="0" t="0"/>
          <a:stretch/>
        </p:blipFill>
        <p:spPr>
          <a:xfrm>
            <a:off x="1970588" y="346398"/>
            <a:ext cx="8250826" cy="6165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graphicFrame>
        <p:nvGraphicFramePr>
          <p:cNvPr id="199" name="Google Shape;199;p24"/>
          <p:cNvGraphicFramePr/>
          <p:nvPr/>
        </p:nvGraphicFramePr>
        <p:xfrm>
          <a:off x="838325" y="238800"/>
          <a:ext cx="3000000" cy="3000000"/>
        </p:xfrm>
        <a:graphic>
          <a:graphicData uri="http://schemas.openxmlformats.org/drawingml/2006/table">
            <a:tbl>
              <a:tblPr bandRow="1" firstRow="1">
                <a:noFill/>
                <a:tableStyleId>{DE78BA7F-AEB3-4AB7-8A33-BDB87FFD7EC5}</a:tableStyleId>
              </a:tblPr>
              <a:tblGrid>
                <a:gridCol w="3505200"/>
                <a:gridCol w="3505200"/>
                <a:gridCol w="35052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BRIGHTNESS</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SATURATION</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CLASS</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90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80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r>
            </a:tbl>
          </a:graphicData>
        </a:graphic>
      </p:graphicFrame>
      <p:sp>
        <p:nvSpPr>
          <p:cNvPr id="200" name="Google Shape;200;p24"/>
          <p:cNvSpPr txBox="1"/>
          <p:nvPr>
            <p:ph idx="1" type="body"/>
          </p:nvPr>
        </p:nvSpPr>
        <p:spPr>
          <a:xfrm>
            <a:off x="838325" y="3347600"/>
            <a:ext cx="10515600" cy="1905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table above represents our data set. We have two columns  </a:t>
            </a:r>
            <a:r>
              <a:rPr b="1" lang="en-US"/>
              <a:t>Brightness </a:t>
            </a:r>
            <a:r>
              <a:rPr lang="en-US"/>
              <a:t>and </a:t>
            </a:r>
            <a:r>
              <a:rPr b="1" lang="en-US"/>
              <a:t>Saturation</a:t>
            </a:r>
            <a:r>
              <a:rPr lang="en-US"/>
              <a:t>. Each row in the table has a class of either </a:t>
            </a:r>
            <a:r>
              <a:rPr b="1" lang="en-US"/>
              <a:t>Red </a:t>
            </a:r>
            <a:r>
              <a:rPr lang="en-US"/>
              <a:t>or </a:t>
            </a:r>
            <a:r>
              <a:rPr b="1" lang="en-US"/>
              <a:t>Blue</a:t>
            </a:r>
            <a:r>
              <a:rPr lang="en-US"/>
              <a:t>.</a:t>
            </a:r>
            <a:endParaRPr/>
          </a:p>
          <a:p>
            <a:pPr indent="-228600" lvl="0" marL="228600" rtl="0" algn="l">
              <a:lnSpc>
                <a:spcPct val="90000"/>
              </a:lnSpc>
              <a:spcBef>
                <a:spcPts val="1000"/>
              </a:spcBef>
              <a:spcAft>
                <a:spcPts val="0"/>
              </a:spcAft>
              <a:buClr>
                <a:schemeClr val="dk1"/>
              </a:buClr>
              <a:buSzPts val="2800"/>
              <a:buChar char="•"/>
            </a:pPr>
            <a:r>
              <a:rPr lang="en-US"/>
              <a:t>Before we introduce a new data entry, let's assume the value of </a:t>
            </a:r>
            <a:r>
              <a:rPr b="1" lang="en-US"/>
              <a:t>K </a:t>
            </a:r>
            <a:r>
              <a:rPr lang="en-US"/>
              <a:t>is 5.</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How to Calculate Euclidean Distance in the K-Nearest Neighbors Algorithm</a:t>
            </a:r>
            <a:br>
              <a:rPr lang="en-US"/>
            </a:br>
            <a:endParaRPr/>
          </a:p>
        </p:txBody>
      </p:sp>
      <p:graphicFrame>
        <p:nvGraphicFramePr>
          <p:cNvPr id="206" name="Google Shape;206;p26"/>
          <p:cNvGraphicFramePr/>
          <p:nvPr/>
        </p:nvGraphicFramePr>
        <p:xfrm>
          <a:off x="838200" y="1825625"/>
          <a:ext cx="3000000" cy="3000000"/>
        </p:xfrm>
        <a:graphic>
          <a:graphicData uri="http://schemas.openxmlformats.org/drawingml/2006/table">
            <a:tbl>
              <a:tblPr bandRow="1" firstRow="1">
                <a:noFill/>
                <a:tableStyleId>{DE78BA7F-AEB3-4AB7-8A33-BDB87FFD7EC5}</a:tableStyleId>
              </a:tblPr>
              <a:tblGrid>
                <a:gridCol w="3505200"/>
                <a:gridCol w="3505200"/>
                <a:gridCol w="35052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BRIGHTNESS</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SATURATION</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CLASS</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35</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t>
                      </a:r>
                      <a:endParaRPr sz="1400" u="none" cap="none" strike="noStrike"/>
                    </a:p>
                  </a:txBody>
                  <a:tcPr marT="57150" marB="57150" marR="114300" marL="114300"/>
                </a:tc>
              </a:tr>
            </a:tbl>
          </a:graphicData>
        </a:graphic>
      </p:graphicFrame>
      <p:sp>
        <p:nvSpPr>
          <p:cNvPr id="207" name="Google Shape;207;p26"/>
          <p:cNvSpPr txBox="1"/>
          <p:nvPr>
            <p:ph idx="1" type="body"/>
          </p:nvPr>
        </p:nvSpPr>
        <p:spPr>
          <a:xfrm>
            <a:off x="838200" y="2737750"/>
            <a:ext cx="10515600" cy="37599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We have a new entry but it doesn't have a class yet. To know its class, we have to calculate the distance from the new entry to other entries in the data set using the Euclidean distance formula.</a:t>
            </a:r>
            <a:endParaRPr/>
          </a:p>
          <a:p>
            <a:pPr indent="-228600" lvl="0" marL="228600" rtl="0" algn="l">
              <a:lnSpc>
                <a:spcPct val="90000"/>
              </a:lnSpc>
              <a:spcBef>
                <a:spcPts val="1000"/>
              </a:spcBef>
              <a:spcAft>
                <a:spcPts val="0"/>
              </a:spcAft>
              <a:buClr>
                <a:schemeClr val="dk1"/>
              </a:buClr>
              <a:buSzPts val="2800"/>
              <a:buChar char="•"/>
            </a:pPr>
            <a:r>
              <a:rPr lang="en-US"/>
              <a:t>Here's the formula: √(X₂-X₁)²+(Y₂-Y₁)²</a:t>
            </a:r>
            <a:endParaRPr/>
          </a:p>
          <a:p>
            <a:pPr indent="-228600" lvl="0" marL="228600" rtl="0" algn="l">
              <a:lnSpc>
                <a:spcPct val="90000"/>
              </a:lnSpc>
              <a:spcBef>
                <a:spcPts val="1000"/>
              </a:spcBef>
              <a:spcAft>
                <a:spcPts val="0"/>
              </a:spcAft>
              <a:buClr>
                <a:schemeClr val="dk1"/>
              </a:buClr>
              <a:buSzPts val="2800"/>
              <a:buChar char="•"/>
            </a:pPr>
            <a:r>
              <a:rPr lang="en-US"/>
              <a:t>Where:</a:t>
            </a:r>
            <a:endParaRPr/>
          </a:p>
          <a:p>
            <a:pPr indent="-228600" lvl="0" marL="228600" rtl="0" algn="l">
              <a:lnSpc>
                <a:spcPct val="90000"/>
              </a:lnSpc>
              <a:spcBef>
                <a:spcPts val="1000"/>
              </a:spcBef>
              <a:spcAft>
                <a:spcPts val="0"/>
              </a:spcAft>
              <a:buClr>
                <a:schemeClr val="dk1"/>
              </a:buClr>
              <a:buSzPts val="2800"/>
              <a:buChar char="•"/>
            </a:pPr>
            <a:r>
              <a:rPr lang="en-US"/>
              <a:t>X₂ = New entry's brightness (20).</a:t>
            </a:r>
            <a:endParaRPr/>
          </a:p>
          <a:p>
            <a:pPr indent="-228600" lvl="0" marL="228600" rtl="0" algn="l">
              <a:lnSpc>
                <a:spcPct val="90000"/>
              </a:lnSpc>
              <a:spcBef>
                <a:spcPts val="1000"/>
              </a:spcBef>
              <a:spcAft>
                <a:spcPts val="0"/>
              </a:spcAft>
              <a:buClr>
                <a:schemeClr val="dk1"/>
              </a:buClr>
              <a:buSzPts val="2800"/>
              <a:buChar char="•"/>
            </a:pPr>
            <a:r>
              <a:rPr lang="en-US"/>
              <a:t>X₁= Existing entry's brightness.</a:t>
            </a:r>
            <a:endParaRPr/>
          </a:p>
          <a:p>
            <a:pPr indent="-228600" lvl="0" marL="228600" rtl="0" algn="l">
              <a:lnSpc>
                <a:spcPct val="90000"/>
              </a:lnSpc>
              <a:spcBef>
                <a:spcPts val="1000"/>
              </a:spcBef>
              <a:spcAft>
                <a:spcPts val="0"/>
              </a:spcAft>
              <a:buClr>
                <a:schemeClr val="dk1"/>
              </a:buClr>
              <a:buSzPts val="2800"/>
              <a:buChar char="•"/>
            </a:pPr>
            <a:r>
              <a:rPr lang="en-US"/>
              <a:t>Y₂ = New entry's saturation (35).</a:t>
            </a:r>
            <a:endParaRPr/>
          </a:p>
          <a:p>
            <a:pPr indent="-228600" lvl="0" marL="228600" rtl="0" algn="l">
              <a:lnSpc>
                <a:spcPct val="90000"/>
              </a:lnSpc>
              <a:spcBef>
                <a:spcPts val="1000"/>
              </a:spcBef>
              <a:spcAft>
                <a:spcPts val="0"/>
              </a:spcAft>
              <a:buClr>
                <a:schemeClr val="dk1"/>
              </a:buClr>
              <a:buSzPts val="2800"/>
              <a:buChar char="•"/>
            </a:pPr>
            <a:r>
              <a:rPr lang="en-US"/>
              <a:t>Y₁ = Existing entry's saturation.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Distance #1</a:t>
            </a:r>
            <a:br>
              <a:rPr lang="en-US"/>
            </a:br>
            <a:endParaRPr/>
          </a:p>
        </p:txBody>
      </p:sp>
      <p:sp>
        <p:nvSpPr>
          <p:cNvPr id="213" name="Google Shape;21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 the first row, d1:</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BRIGHTNESS	SATURATION	CLASS</a:t>
            </a:r>
            <a:endParaRPr/>
          </a:p>
          <a:p>
            <a:pPr indent="-228600" lvl="0" marL="228600" rtl="0" algn="l">
              <a:lnSpc>
                <a:spcPct val="90000"/>
              </a:lnSpc>
              <a:spcBef>
                <a:spcPts val="1000"/>
              </a:spcBef>
              <a:spcAft>
                <a:spcPts val="0"/>
              </a:spcAft>
              <a:buClr>
                <a:schemeClr val="dk1"/>
              </a:buClr>
              <a:buSzPts val="2800"/>
              <a:buChar char="•"/>
            </a:pPr>
            <a:r>
              <a:rPr lang="en-US"/>
              <a:t>40			20			Red</a:t>
            </a:r>
            <a:endParaRPr/>
          </a:p>
          <a:p>
            <a:pPr indent="-228600" lvl="0" marL="228600" rtl="0" algn="l">
              <a:lnSpc>
                <a:spcPct val="90000"/>
              </a:lnSpc>
              <a:spcBef>
                <a:spcPts val="1000"/>
              </a:spcBef>
              <a:spcAft>
                <a:spcPts val="0"/>
              </a:spcAft>
              <a:buClr>
                <a:schemeClr val="dk1"/>
              </a:buClr>
              <a:buSzPts val="2800"/>
              <a:buChar char="•"/>
            </a:pPr>
            <a:r>
              <a:rPr lang="en-US"/>
              <a:t>d1 = √(20 - 40)² + (35 - 20)²</a:t>
            </a:r>
            <a:endParaRPr/>
          </a:p>
          <a:p>
            <a:pPr indent="-228600" lvl="0" marL="228600" rtl="0" algn="l">
              <a:lnSpc>
                <a:spcPct val="90000"/>
              </a:lnSpc>
              <a:spcBef>
                <a:spcPts val="1000"/>
              </a:spcBef>
              <a:spcAft>
                <a:spcPts val="0"/>
              </a:spcAft>
              <a:buClr>
                <a:schemeClr val="dk1"/>
              </a:buClr>
              <a:buSzPts val="2800"/>
              <a:buChar char="•"/>
            </a:pPr>
            <a:r>
              <a:rPr lang="en-US"/>
              <a:t>= √400 + 225</a:t>
            </a:r>
            <a:endParaRPr/>
          </a:p>
          <a:p>
            <a:pPr indent="-228600" lvl="0" marL="228600" rtl="0" algn="l">
              <a:lnSpc>
                <a:spcPct val="90000"/>
              </a:lnSpc>
              <a:spcBef>
                <a:spcPts val="1000"/>
              </a:spcBef>
              <a:spcAft>
                <a:spcPts val="0"/>
              </a:spcAft>
              <a:buClr>
                <a:schemeClr val="dk1"/>
              </a:buClr>
              <a:buSzPts val="2800"/>
              <a:buChar char="•"/>
            </a:pPr>
            <a:r>
              <a:rPr lang="en-US"/>
              <a:t>= √625</a:t>
            </a:r>
            <a:endParaRPr/>
          </a:p>
          <a:p>
            <a:pPr indent="-228600" lvl="0" marL="228600" rtl="0" algn="l">
              <a:lnSpc>
                <a:spcPct val="90000"/>
              </a:lnSpc>
              <a:spcBef>
                <a:spcPts val="1000"/>
              </a:spcBef>
              <a:spcAft>
                <a:spcPts val="0"/>
              </a:spcAft>
              <a:buClr>
                <a:schemeClr val="dk1"/>
              </a:buClr>
              <a:buSzPts val="2800"/>
              <a:buChar char="•"/>
            </a:pPr>
            <a:r>
              <a:rPr lang="en-US"/>
              <a:t>= 25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idx="1" type="body"/>
          </p:nvPr>
        </p:nvSpPr>
        <p:spPr>
          <a:xfrm>
            <a:off x="947650" y="384700"/>
            <a:ext cx="10515600" cy="920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now know the distance from the new data entry to the first entry in the table. Let's update the table.</a:t>
            </a:r>
            <a:endParaRPr sz="2900"/>
          </a:p>
        </p:txBody>
      </p:sp>
      <p:graphicFrame>
        <p:nvGraphicFramePr>
          <p:cNvPr id="219" name="Google Shape;219;p29"/>
          <p:cNvGraphicFramePr/>
          <p:nvPr/>
        </p:nvGraphicFramePr>
        <p:xfrm>
          <a:off x="2031989" y="1444703"/>
          <a:ext cx="3000000" cy="3000000"/>
        </p:xfrm>
        <a:graphic>
          <a:graphicData uri="http://schemas.openxmlformats.org/drawingml/2006/table">
            <a:tbl>
              <a:tblPr bandRow="1" firstRow="1">
                <a:noFill/>
                <a:tableStyleId>{DE78BA7F-AEB3-4AB7-8A33-BDB87FFD7EC5}</a:tableStyleId>
              </a:tblPr>
              <a:tblGrid>
                <a:gridCol w="2032000"/>
                <a:gridCol w="2032000"/>
                <a:gridCol w="2032000"/>
                <a:gridCol w="20320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BRIGHTNESS</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SATURATION</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CLASS</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DISTANCE</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90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80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t>
                      </a:r>
                      <a:endParaRPr sz="1400" u="none" cap="none" strike="noStrike"/>
                    </a:p>
                  </a:txBody>
                  <a:tcPr marT="57150" marB="57150" marR="114300" marL="11430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Distance #2</a:t>
            </a:r>
            <a:br>
              <a:rPr lang="en-US"/>
            </a:br>
            <a:endParaRPr/>
          </a:p>
        </p:txBody>
      </p:sp>
      <p:sp>
        <p:nvSpPr>
          <p:cNvPr id="225" name="Google Shape;225;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 the second row, d2:</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BRIGHTNESS	SATURATION	CLASS		DISTANCE</a:t>
            </a:r>
            <a:endParaRPr/>
          </a:p>
          <a:p>
            <a:pPr indent="-228600" lvl="0" marL="228600" rtl="0" algn="l">
              <a:lnSpc>
                <a:spcPct val="90000"/>
              </a:lnSpc>
              <a:spcBef>
                <a:spcPts val="1000"/>
              </a:spcBef>
              <a:spcAft>
                <a:spcPts val="0"/>
              </a:spcAft>
              <a:buClr>
                <a:schemeClr val="dk1"/>
              </a:buClr>
              <a:buSzPts val="2800"/>
              <a:buChar char="•"/>
            </a:pPr>
            <a:r>
              <a:rPr lang="en-US"/>
              <a:t>50			50			Blue		?</a:t>
            </a:r>
            <a:endParaRPr/>
          </a:p>
          <a:p>
            <a:pPr indent="-228600" lvl="0" marL="228600" rtl="0" algn="l">
              <a:lnSpc>
                <a:spcPct val="90000"/>
              </a:lnSpc>
              <a:spcBef>
                <a:spcPts val="1000"/>
              </a:spcBef>
              <a:spcAft>
                <a:spcPts val="0"/>
              </a:spcAft>
              <a:buClr>
                <a:schemeClr val="dk1"/>
              </a:buClr>
              <a:buSzPts val="2800"/>
              <a:buChar char="•"/>
            </a:pPr>
            <a:r>
              <a:rPr lang="en-US"/>
              <a:t>d2 = √(20 - 50)² + (35 - 50)²</a:t>
            </a:r>
            <a:endParaRPr/>
          </a:p>
          <a:p>
            <a:pPr indent="-228600" lvl="0" marL="228600" rtl="0" algn="l">
              <a:lnSpc>
                <a:spcPct val="90000"/>
              </a:lnSpc>
              <a:spcBef>
                <a:spcPts val="1000"/>
              </a:spcBef>
              <a:spcAft>
                <a:spcPts val="0"/>
              </a:spcAft>
              <a:buClr>
                <a:schemeClr val="dk1"/>
              </a:buClr>
              <a:buSzPts val="2800"/>
              <a:buChar char="•"/>
            </a:pPr>
            <a:r>
              <a:rPr lang="en-US"/>
              <a:t>= √900 + 225</a:t>
            </a:r>
            <a:endParaRPr/>
          </a:p>
          <a:p>
            <a:pPr indent="-228600" lvl="0" marL="228600" rtl="0" algn="l">
              <a:lnSpc>
                <a:spcPct val="90000"/>
              </a:lnSpc>
              <a:spcBef>
                <a:spcPts val="1000"/>
              </a:spcBef>
              <a:spcAft>
                <a:spcPts val="0"/>
              </a:spcAft>
              <a:buClr>
                <a:schemeClr val="dk1"/>
              </a:buClr>
              <a:buSzPts val="2800"/>
              <a:buChar char="•"/>
            </a:pPr>
            <a:r>
              <a:rPr lang="en-US"/>
              <a:t>= √1125</a:t>
            </a:r>
            <a:endParaRPr/>
          </a:p>
          <a:p>
            <a:pPr indent="-228600" lvl="0" marL="228600" rtl="0" algn="l">
              <a:lnSpc>
                <a:spcPct val="90000"/>
              </a:lnSpc>
              <a:spcBef>
                <a:spcPts val="1000"/>
              </a:spcBef>
              <a:spcAft>
                <a:spcPts val="0"/>
              </a:spcAft>
              <a:buClr>
                <a:schemeClr val="dk1"/>
              </a:buClr>
              <a:buSzPts val="2800"/>
              <a:buChar char="•"/>
            </a:pPr>
            <a:r>
              <a:rPr lang="en-US"/>
              <a:t>= 33.54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aphicFrame>
        <p:nvGraphicFramePr>
          <p:cNvPr id="230" name="Google Shape;230;p31"/>
          <p:cNvGraphicFramePr/>
          <p:nvPr/>
        </p:nvGraphicFramePr>
        <p:xfrm>
          <a:off x="838200" y="0"/>
          <a:ext cx="3000000" cy="3000000"/>
        </p:xfrm>
        <a:graphic>
          <a:graphicData uri="http://schemas.openxmlformats.org/drawingml/2006/table">
            <a:tbl>
              <a:tblPr bandRow="1" firstRow="1">
                <a:noFill/>
                <a:tableStyleId>{DE78BA7F-AEB3-4AB7-8A33-BDB87FFD7EC5}</a:tableStyleId>
              </a:tblPr>
              <a:tblGrid>
                <a:gridCol w="2628900"/>
                <a:gridCol w="2628900"/>
                <a:gridCol w="2628900"/>
                <a:gridCol w="2628900"/>
              </a:tblGrid>
              <a:tr h="370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BRIGHTNESS</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SATURATION</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CLASS</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DISTANCE</a:t>
                      </a:r>
                      <a:endParaRPr sz="1400" u="none" cap="none" strike="noStrike"/>
                    </a:p>
                  </a:txBody>
                  <a:tcPr marT="57150" marB="57150" marR="114300" marL="114300"/>
                </a:tc>
              </a:tr>
              <a:tr h="3703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r>
              <a:tr h="3703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33.54</a:t>
                      </a:r>
                      <a:endParaRPr sz="1400" u="none" cap="none" strike="noStrike"/>
                    </a:p>
                  </a:txBody>
                  <a:tcPr marT="57150" marB="57150" marR="114300" marL="114300"/>
                </a:tc>
              </a:tr>
              <a:tr h="3703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90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68.01</a:t>
                      </a:r>
                      <a:endParaRPr sz="1400" u="none" cap="none" strike="noStrike"/>
                    </a:p>
                  </a:txBody>
                  <a:tcPr marT="57150" marB="57150" marR="114300" marL="114300"/>
                </a:tc>
              </a:tr>
              <a:tr h="3703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r>
              <a:tr h="3703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61.03</a:t>
                      </a:r>
                      <a:endParaRPr sz="1400" u="none" cap="none" strike="noStrike"/>
                    </a:p>
                  </a:txBody>
                  <a:tcPr marT="57150" marB="57150" marR="114300" marL="114300"/>
                </a:tc>
              </a:tr>
              <a:tr h="3703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47.17</a:t>
                      </a:r>
                      <a:endParaRPr sz="1400" u="none" cap="none" strike="noStrike"/>
                    </a:p>
                  </a:txBody>
                  <a:tcPr marT="57150" marB="57150" marR="114300" marL="114300"/>
                </a:tc>
              </a:tr>
              <a:tr h="3703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80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45</a:t>
                      </a:r>
                      <a:endParaRPr sz="1400" u="none" cap="none" strike="noStrike"/>
                    </a:p>
                  </a:txBody>
                  <a:tcPr marT="57150" marB="57150" marR="114300" marL="114300"/>
                </a:tc>
              </a:tr>
            </a:tbl>
          </a:graphicData>
        </a:graphic>
      </p:graphicFrame>
      <p:graphicFrame>
        <p:nvGraphicFramePr>
          <p:cNvPr id="231" name="Google Shape;231;p31"/>
          <p:cNvGraphicFramePr/>
          <p:nvPr/>
        </p:nvGraphicFramePr>
        <p:xfrm>
          <a:off x="838200" y="3749200"/>
          <a:ext cx="3000000" cy="3000000"/>
        </p:xfrm>
        <a:graphic>
          <a:graphicData uri="http://schemas.openxmlformats.org/drawingml/2006/table">
            <a:tbl>
              <a:tblPr bandRow="1" firstRow="1">
                <a:noFill/>
                <a:tableStyleId>{DE78BA7F-AEB3-4AB7-8A33-BDB87FFD7EC5}</a:tableStyleId>
              </a:tblPr>
              <a:tblGrid>
                <a:gridCol w="2628900"/>
                <a:gridCol w="2628900"/>
                <a:gridCol w="2628900"/>
                <a:gridCol w="26289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BRIGHTNESS</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SATURATION</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CLASS</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DISTANCE</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33.54</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80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45</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47.17</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61.03</a:t>
                      </a:r>
                      <a:endParaRPr sz="1400" u="none" cap="none" strike="noStrike"/>
                    </a:p>
                  </a:txBody>
                  <a:tcPr marT="57150" marB="57150" marR="114300" marL="11430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90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68.01</a:t>
                      </a:r>
                      <a:endParaRPr sz="1400" u="none" cap="none" strike="noStrike"/>
                    </a:p>
                  </a:txBody>
                  <a:tcPr marT="57150" marB="57150" marR="114300" marL="114300"/>
                </a:tc>
              </a:tr>
            </a:tbl>
          </a:graphicData>
        </a:graphic>
      </p:graphicFrame>
      <p:sp>
        <p:nvSpPr>
          <p:cNvPr id="232" name="Google Shape;232;p31"/>
          <p:cNvSpPr txBox="1"/>
          <p:nvPr>
            <p:ph type="title"/>
          </p:nvPr>
        </p:nvSpPr>
        <p:spPr>
          <a:xfrm>
            <a:off x="838200" y="3108800"/>
            <a:ext cx="10515600" cy="640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3600"/>
              <a:t>Let's rearrange the distances in ascending order:</a:t>
            </a:r>
            <a:endParaRPr sz="3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ph type="title"/>
          </p:nvPr>
        </p:nvSpPr>
        <p:spPr>
          <a:xfrm>
            <a:off x="351525" y="365125"/>
            <a:ext cx="114909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960"/>
              <a:buFont typeface="Calibri"/>
              <a:buNone/>
            </a:pPr>
            <a:r>
              <a:rPr lang="en-US" sz="3259"/>
              <a:t>As you can see above, the majority class within the 5 nearest neighbors to the new entry is </a:t>
            </a:r>
            <a:r>
              <a:rPr b="1" lang="en-US" sz="3259"/>
              <a:t>Red</a:t>
            </a:r>
            <a:r>
              <a:rPr lang="en-US" sz="3259"/>
              <a:t>. Therefore, </a:t>
            </a:r>
            <a:r>
              <a:rPr lang="en-US" sz="3259">
                <a:solidFill>
                  <a:srgbClr val="FF0000"/>
                </a:solidFill>
              </a:rPr>
              <a:t>we'll classify the new entry as </a:t>
            </a:r>
            <a:r>
              <a:rPr b="1" lang="en-US" sz="3259">
                <a:solidFill>
                  <a:srgbClr val="FF0000"/>
                </a:solidFill>
              </a:rPr>
              <a:t>Red</a:t>
            </a:r>
            <a:r>
              <a:rPr lang="en-US" sz="3259">
                <a:solidFill>
                  <a:srgbClr val="FF0000"/>
                </a:solidFill>
              </a:rPr>
              <a:t>.</a:t>
            </a:r>
            <a:endParaRPr sz="3259">
              <a:solidFill>
                <a:srgbClr val="FF0000"/>
              </a:solidFill>
            </a:endParaRPr>
          </a:p>
        </p:txBody>
      </p:sp>
      <p:sp>
        <p:nvSpPr>
          <p:cNvPr id="238" name="Google Shape;238;p33"/>
          <p:cNvSpPr txBox="1"/>
          <p:nvPr>
            <p:ph idx="1" type="body"/>
          </p:nvPr>
        </p:nvSpPr>
        <p:spPr>
          <a:xfrm>
            <a:off x="351525" y="1789150"/>
            <a:ext cx="11308500" cy="920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3000"/>
              <a:t>Since we chose 5 as the value of </a:t>
            </a:r>
            <a:r>
              <a:rPr b="1" lang="en-US" sz="3000"/>
              <a:t>K</a:t>
            </a:r>
            <a:r>
              <a:rPr lang="en-US" sz="3000"/>
              <a:t>, we'll only consider the first five rows. That is:</a:t>
            </a:r>
            <a:endParaRPr sz="3000"/>
          </a:p>
        </p:txBody>
      </p:sp>
      <p:graphicFrame>
        <p:nvGraphicFramePr>
          <p:cNvPr id="239" name="Google Shape;239;p33"/>
          <p:cNvGraphicFramePr/>
          <p:nvPr/>
        </p:nvGraphicFramePr>
        <p:xfrm>
          <a:off x="1457458" y="2951898"/>
          <a:ext cx="3000000" cy="3000000"/>
        </p:xfrm>
        <a:graphic>
          <a:graphicData uri="http://schemas.openxmlformats.org/drawingml/2006/table">
            <a:tbl>
              <a:tblPr bandRow="1" firstRow="1">
                <a:noFill/>
                <a:tableStyleId>{DE78BA7F-AEB3-4AB7-8A33-BDB87FFD7EC5}</a:tableStyleId>
              </a:tblPr>
              <a:tblGrid>
                <a:gridCol w="2319275"/>
                <a:gridCol w="2319275"/>
                <a:gridCol w="2319275"/>
                <a:gridCol w="2319275"/>
              </a:tblGrid>
              <a:tr h="4828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BRIGHTNESS</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SATURATION</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CLASS</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DISTANCE</a:t>
                      </a:r>
                      <a:endParaRPr sz="1400" u="none" cap="none" strike="noStrike"/>
                    </a:p>
                  </a:txBody>
                  <a:tcPr marT="57150" marB="57150" marR="114300" marL="114300"/>
                </a:tc>
              </a:tr>
              <a:tr h="482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r>
              <a:tr h="482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r>
              <a:tr h="482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33.54</a:t>
                      </a:r>
                      <a:endParaRPr sz="1400" u="none" cap="none" strike="noStrike"/>
                    </a:p>
                  </a:txBody>
                  <a:tcPr marT="57150" marB="57150" marR="114300" marL="114300"/>
                </a:tc>
              </a:tr>
              <a:tr h="482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80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Blue</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45</a:t>
                      </a:r>
                      <a:endParaRPr sz="1400" u="none" cap="none" strike="noStrike"/>
                    </a:p>
                  </a:txBody>
                  <a:tcPr marT="57150" marB="57150" marR="114300" marL="114300"/>
                </a:tc>
              </a:tr>
              <a:tr h="482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57150" marB="57150" marR="114300" marL="11430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Red</a:t>
                      </a:r>
                      <a:endParaRPr sz="1400" u="none" cap="none" strike="noStrike"/>
                    </a:p>
                  </a:txBody>
                  <a:tcPr marT="57150" marB="57150" marR="114300" marL="114300"/>
                </a:tc>
                <a:tc>
                  <a:txBody>
                    <a:bodyPr/>
                    <a:lstStyle/>
                    <a:p>
                      <a:pPr indent="0" lvl="0" marL="0" marR="0" rtl="0" algn="r">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47.17</a:t>
                      </a:r>
                      <a:endParaRPr sz="1400" u="none" cap="none" strike="noStrike"/>
                    </a:p>
                  </a:txBody>
                  <a:tcPr marT="57150" marB="57150" marR="114300" marL="11430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2024-05-03T06:10:59Z</dcterms:created>
  <dc:creator>Radhe</dc:creator>
</cp:coreProperties>
</file>