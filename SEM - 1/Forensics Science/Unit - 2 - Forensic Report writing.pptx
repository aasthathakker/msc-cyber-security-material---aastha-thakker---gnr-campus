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7" r:id="rId29"/>
    <p:sldId id="288" r:id="rId30"/>
    <p:sldId id="289" r:id="rId31"/>
    <p:sldId id="290" r:id="rId32"/>
    <p:sldId id="291" r:id="rId33"/>
    <p:sldId id="292" r:id="rId34"/>
    <p:sldId id="294" r:id="rId35"/>
    <p:sldId id="293"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2">
                    <a:lumMod val="50000"/>
                  </a:schemeClr>
                </a:solidFill>
              </a:defRPr>
            </a:lvl1pPr>
          </a:lstStyle>
          <a:p>
            <a:fld id="{E72B6E67-5A1E-42F4-882E-30F7FA4B8217}" type="datetimeFigureOut">
              <a:rPr lang="en-IN" smtClean="0"/>
              <a:t>30-09-2025</a:t>
            </a:fld>
            <a:endParaRPr lang="en-IN"/>
          </a:p>
        </p:txBody>
      </p:sp>
      <p:sp>
        <p:nvSpPr>
          <p:cNvPr id="5" name="Footer Placeholder 4"/>
          <p:cNvSpPr>
            <a:spLocks noGrp="1"/>
          </p:cNvSpPr>
          <p:nvPr>
            <p:ph type="ftr" sz="quarter" idx="11"/>
          </p:nvPr>
        </p:nvSpPr>
        <p:spPr>
          <a:xfrm rot="21420000">
            <a:off x="-9144" y="4882896"/>
            <a:ext cx="4050792" cy="1197864"/>
          </a:xfrm>
        </p:spPr>
        <p:txBody>
          <a:bodyPr vert="horz" lIns="91440" tIns="45720" rIns="91440" bIns="45720" rtlCol="0" anchor="ctr"/>
          <a:lstStyle>
            <a:lvl1pPr algn="r">
              <a:defRPr lang="en-US" sz="5400" dirty="0"/>
            </a:lvl1pPr>
          </a:lstStyle>
          <a:p>
            <a:endParaRPr lang="en-IN"/>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044B0B4A-BF9E-47A5-975F-DB4007022240}" type="slidenum">
              <a:rPr lang="en-IN" smtClean="0"/>
              <a:t>‹#›</a:t>
            </a:fld>
            <a:endParaRPr lang="en-IN"/>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541370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2B6E67-5A1E-42F4-882E-30F7FA4B8217}"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4B0B4A-BF9E-47A5-975F-DB4007022240}" type="slidenum">
              <a:rPr lang="en-IN" smtClean="0"/>
              <a:t>‹#›</a:t>
            </a:fld>
            <a:endParaRPr lang="en-IN"/>
          </a:p>
        </p:txBody>
      </p:sp>
    </p:spTree>
    <p:extLst>
      <p:ext uri="{BB962C8B-B14F-4D97-AF65-F5344CB8AC3E}">
        <p14:creationId xmlns:p14="http://schemas.microsoft.com/office/powerpoint/2010/main" val="2868973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2B6E67-5A1E-42F4-882E-30F7FA4B8217}"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4B0B4A-BF9E-47A5-975F-DB4007022240}" type="slidenum">
              <a:rPr lang="en-IN" smtClean="0"/>
              <a:t>‹#›</a:t>
            </a:fld>
            <a:endParaRPr lang="en-IN"/>
          </a:p>
        </p:txBody>
      </p:sp>
    </p:spTree>
    <p:extLst>
      <p:ext uri="{BB962C8B-B14F-4D97-AF65-F5344CB8AC3E}">
        <p14:creationId xmlns:p14="http://schemas.microsoft.com/office/powerpoint/2010/main" val="486358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2B6E67-5A1E-42F4-882E-30F7FA4B8217}" type="datetimeFigureOut">
              <a:rPr lang="en-IN" smtClean="0"/>
              <a:t>30-09-2025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4B0B4A-BF9E-47A5-975F-DB4007022240}" type="slidenum">
              <a:rPr lang="en-IN" smtClean="0"/>
              <a:t>‹#›</a:t>
            </a:fld>
            <a:endParaRPr lang="en-IN"/>
          </a:p>
        </p:txBody>
      </p:sp>
    </p:spTree>
    <p:extLst>
      <p:ext uri="{BB962C8B-B14F-4D97-AF65-F5344CB8AC3E}">
        <p14:creationId xmlns:p14="http://schemas.microsoft.com/office/powerpoint/2010/main" val="1753826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2B6E67-5A1E-42F4-882E-30F7FA4B8217}" type="datetimeFigureOut">
              <a:rPr lang="en-IN" smtClean="0"/>
              <a:t>30-09-2025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44B0B4A-BF9E-47A5-975F-DB4007022240}" type="slidenum">
              <a:rPr lang="en-IN" smtClean="0"/>
              <a:t>‹#›</a:t>
            </a:fld>
            <a:endParaRPr lang="en-IN"/>
          </a:p>
        </p:txBody>
      </p:sp>
    </p:spTree>
    <p:extLst>
      <p:ext uri="{BB962C8B-B14F-4D97-AF65-F5344CB8AC3E}">
        <p14:creationId xmlns:p14="http://schemas.microsoft.com/office/powerpoint/2010/main" val="2327091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2B6E67-5A1E-42F4-882E-30F7FA4B8217}" type="datetimeFigureOut">
              <a:rPr lang="en-IN" smtClean="0"/>
              <a:t>30-09-2025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44B0B4A-BF9E-47A5-975F-DB4007022240}" type="slidenum">
              <a:rPr lang="en-IN" smtClean="0"/>
              <a:t>‹#›</a:t>
            </a:fld>
            <a:endParaRPr lang="en-IN"/>
          </a:p>
        </p:txBody>
      </p:sp>
    </p:spTree>
    <p:extLst>
      <p:ext uri="{BB962C8B-B14F-4D97-AF65-F5344CB8AC3E}">
        <p14:creationId xmlns:p14="http://schemas.microsoft.com/office/powerpoint/2010/main" val="1228135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2B6E67-5A1E-42F4-882E-30F7FA4B8217}" type="datetimeFigureOut">
              <a:rPr lang="en-IN" smtClean="0"/>
              <a:t>30-09-2025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44B0B4A-BF9E-47A5-975F-DB4007022240}" type="slidenum">
              <a:rPr lang="en-IN" smtClean="0"/>
              <a:t>‹#›</a:t>
            </a:fld>
            <a:endParaRPr lang="en-IN"/>
          </a:p>
        </p:txBody>
      </p:sp>
    </p:spTree>
    <p:extLst>
      <p:ext uri="{BB962C8B-B14F-4D97-AF65-F5344CB8AC3E}">
        <p14:creationId xmlns:p14="http://schemas.microsoft.com/office/powerpoint/2010/main" val="3458739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2B6E67-5A1E-42F4-882E-30F7FA4B8217}" type="datetimeFigureOut">
              <a:rPr lang="en-IN" smtClean="0"/>
              <a:t>30-09-2025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4B0B4A-BF9E-47A5-975F-DB4007022240}" type="slidenum">
              <a:rPr lang="en-IN" smtClean="0"/>
              <a:t>‹#›</a:t>
            </a:fld>
            <a:endParaRPr lang="en-IN"/>
          </a:p>
        </p:txBody>
      </p:sp>
    </p:spTree>
    <p:extLst>
      <p:ext uri="{BB962C8B-B14F-4D97-AF65-F5344CB8AC3E}">
        <p14:creationId xmlns:p14="http://schemas.microsoft.com/office/powerpoint/2010/main" val="385155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2B6E67-5A1E-42F4-882E-30F7FA4B8217}" type="datetimeFigureOut">
              <a:rPr lang="en-IN" smtClean="0"/>
              <a:t>30-09-2025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4B0B4A-BF9E-47A5-975F-DB4007022240}" type="slidenum">
              <a:rPr lang="en-IN" smtClean="0"/>
              <a:t>‹#›</a:t>
            </a:fld>
            <a:endParaRPr lang="en-IN"/>
          </a:p>
        </p:txBody>
      </p:sp>
    </p:spTree>
    <p:extLst>
      <p:ext uri="{BB962C8B-B14F-4D97-AF65-F5344CB8AC3E}">
        <p14:creationId xmlns:p14="http://schemas.microsoft.com/office/powerpoint/2010/main" val="3419792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2B6E67-5A1E-42F4-882E-30F7FA4B8217}" type="datetimeFigureOut">
              <a:rPr lang="en-IN" smtClean="0"/>
              <a:t>30-09-2025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4B0B4A-BF9E-47A5-975F-DB4007022240}" type="slidenum">
              <a:rPr lang="en-IN" smtClean="0"/>
              <a:t>‹#›</a:t>
            </a:fld>
            <a:endParaRPr lang="en-IN"/>
          </a:p>
        </p:txBody>
      </p:sp>
    </p:spTree>
    <p:extLst>
      <p:ext uri="{BB962C8B-B14F-4D97-AF65-F5344CB8AC3E}">
        <p14:creationId xmlns:p14="http://schemas.microsoft.com/office/powerpoint/2010/main" val="3434839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2B6E67-5A1E-42F4-882E-30F7FA4B8217}" type="datetimeFigureOut">
              <a:rPr lang="en-IN" smtClean="0"/>
              <a:t>30-09-2025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4B0B4A-BF9E-47A5-975F-DB4007022240}" type="slidenum">
              <a:rPr lang="en-IN" smtClean="0"/>
              <a:t>‹#›</a:t>
            </a:fld>
            <a:endParaRPr lang="en-IN"/>
          </a:p>
        </p:txBody>
      </p:sp>
    </p:spTree>
    <p:extLst>
      <p:ext uri="{BB962C8B-B14F-4D97-AF65-F5344CB8AC3E}">
        <p14:creationId xmlns:p14="http://schemas.microsoft.com/office/powerpoint/2010/main" val="28091820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2B6E67-5A1E-42F4-882E-30F7FA4B8217}" type="datetimeFigureOut">
              <a:rPr lang="en-IN" smtClean="0"/>
              <a:t>30-09-2025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4B0B4A-BF9E-47A5-975F-DB4007022240}" type="slidenum">
              <a:rPr lang="en-IN" smtClean="0"/>
              <a:t>‹#›</a:t>
            </a:fld>
            <a:endParaRPr lang="en-IN"/>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468709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2B6E67-5A1E-42F4-882E-30F7FA4B8217}" type="datetimeFigureOut">
              <a:rPr lang="en-IN" smtClean="0"/>
              <a:t>30-09-2025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4B0B4A-BF9E-47A5-975F-DB4007022240}" type="slidenum">
              <a:rPr lang="en-IN" smtClean="0"/>
              <a:t>‹#›</a:t>
            </a:fld>
            <a:endParaRPr lang="en-IN"/>
          </a:p>
        </p:txBody>
      </p:sp>
    </p:spTree>
    <p:extLst>
      <p:ext uri="{BB962C8B-B14F-4D97-AF65-F5344CB8AC3E}">
        <p14:creationId xmlns:p14="http://schemas.microsoft.com/office/powerpoint/2010/main" val="40797891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72B6E67-5A1E-42F4-882E-30F7FA4B8217}" type="datetimeFigureOut">
              <a:rPr lang="en-IN" smtClean="0"/>
              <a:t>30-09-2025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44B0B4A-BF9E-47A5-975F-DB4007022240}" type="slidenum">
              <a:rPr lang="en-IN" smtClean="0"/>
              <a:t>‹#›</a:t>
            </a:fld>
            <a:endParaRPr lang="en-IN"/>
          </a:p>
        </p:txBody>
      </p:sp>
    </p:spTree>
    <p:extLst>
      <p:ext uri="{BB962C8B-B14F-4D97-AF65-F5344CB8AC3E}">
        <p14:creationId xmlns:p14="http://schemas.microsoft.com/office/powerpoint/2010/main" val="2763491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72B6E67-5A1E-42F4-882E-30F7FA4B8217}" type="datetimeFigureOut">
              <a:rPr lang="en-IN" smtClean="0"/>
              <a:t>30-09-2025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44B0B4A-BF9E-47A5-975F-DB4007022240}" type="slidenum">
              <a:rPr lang="en-IN" smtClean="0"/>
              <a:t>‹#›</a:t>
            </a:fld>
            <a:endParaRPr lang="en-IN"/>
          </a:p>
        </p:txBody>
      </p:sp>
    </p:spTree>
    <p:extLst>
      <p:ext uri="{BB962C8B-B14F-4D97-AF65-F5344CB8AC3E}">
        <p14:creationId xmlns:p14="http://schemas.microsoft.com/office/powerpoint/2010/main" val="1703639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2B6E67-5A1E-42F4-882E-30F7FA4B8217}"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4B0B4A-BF9E-47A5-975F-DB4007022240}" type="slidenum">
              <a:rPr lang="en-IN" smtClean="0"/>
              <a:t>‹#›</a:t>
            </a:fld>
            <a:endParaRPr lang="en-IN"/>
          </a:p>
        </p:txBody>
      </p:sp>
    </p:spTree>
    <p:extLst>
      <p:ext uri="{BB962C8B-B14F-4D97-AF65-F5344CB8AC3E}">
        <p14:creationId xmlns:p14="http://schemas.microsoft.com/office/powerpoint/2010/main" val="32097390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2B6E67-5A1E-42F4-882E-30F7FA4B8217}"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4B0B4A-BF9E-47A5-975F-DB4007022240}" type="slidenum">
              <a:rPr lang="en-IN" smtClean="0"/>
              <a:t>‹#›</a:t>
            </a:fld>
            <a:endParaRPr lang="en-IN"/>
          </a:p>
        </p:txBody>
      </p:sp>
    </p:spTree>
    <p:extLst>
      <p:ext uri="{BB962C8B-B14F-4D97-AF65-F5344CB8AC3E}">
        <p14:creationId xmlns:p14="http://schemas.microsoft.com/office/powerpoint/2010/main" val="4006171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2">
                    <a:lumMod val="50000"/>
                  </a:schemeClr>
                </a:solidFill>
              </a:defRPr>
            </a:lvl1pPr>
          </a:lstStyle>
          <a:p>
            <a:fld id="{E72B6E67-5A1E-42F4-882E-30F7FA4B8217}" type="datetimeFigureOut">
              <a:rPr lang="en-IN" smtClean="0"/>
              <a:t>30-09-2025</a:t>
            </a:fld>
            <a:endParaRPr lang="en-IN"/>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2">
                    <a:lumMod val="50000"/>
                  </a:schemeClr>
                </a:solidFill>
              </a:defRPr>
            </a:lvl1pPr>
          </a:lstStyle>
          <a:p>
            <a:endParaRPr lang="en-IN"/>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2">
                    <a:lumMod val="50000"/>
                  </a:schemeClr>
                </a:solidFill>
              </a:defRPr>
            </a:lvl1pPr>
          </a:lstStyle>
          <a:p>
            <a:fld id="{044B0B4A-BF9E-47A5-975F-DB4007022240}" type="slidenum">
              <a:rPr lang="en-IN" smtClean="0"/>
              <a:t>‹#›</a:t>
            </a:fld>
            <a:endParaRPr lang="en-IN"/>
          </a:p>
        </p:txBody>
      </p:sp>
    </p:spTree>
    <p:extLst>
      <p:ext uri="{BB962C8B-B14F-4D97-AF65-F5344CB8AC3E}">
        <p14:creationId xmlns:p14="http://schemas.microsoft.com/office/powerpoint/2010/main" val="1801963747"/>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9A5041B2-13FE-72CD-84F0-9FB6B4C01B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9863658-E975-67EB-4794-A90304AB4BFD}"/>
              </a:ext>
            </a:extLst>
          </p:cNvPr>
          <p:cNvSpPr>
            <a:spLocks noGrp="1"/>
          </p:cNvSpPr>
          <p:nvPr>
            <p:ph type="ctrTitle"/>
          </p:nvPr>
        </p:nvSpPr>
        <p:spPr>
          <a:xfrm rot="21420000">
            <a:off x="-275476" y="1423040"/>
            <a:ext cx="11503396" cy="2766528"/>
          </a:xfrm>
        </p:spPr>
        <p:txBody>
          <a:bodyPr/>
          <a:lstStyle/>
          <a:p>
            <a:r>
              <a:rPr lang="en-IN" dirty="0"/>
              <a:t>Forensic Report writing</a:t>
            </a:r>
          </a:p>
        </p:txBody>
      </p:sp>
      <p:sp>
        <p:nvSpPr>
          <p:cNvPr id="3" name="Subtitle 2">
            <a:extLst>
              <a:ext uri="{FF2B5EF4-FFF2-40B4-BE49-F238E27FC236}">
                <a16:creationId xmlns:a16="http://schemas.microsoft.com/office/drawing/2014/main" id="{0575D4D2-571D-6BFB-3F1B-3114BEC27023}"/>
              </a:ext>
            </a:extLst>
          </p:cNvPr>
          <p:cNvSpPr>
            <a:spLocks noGrp="1"/>
          </p:cNvSpPr>
          <p:nvPr>
            <p:ph type="subTitle" idx="1"/>
          </p:nvPr>
        </p:nvSpPr>
        <p:spPr>
          <a:xfrm rot="21420000">
            <a:off x="1487464" y="4305491"/>
            <a:ext cx="9755187" cy="2157796"/>
          </a:xfrm>
        </p:spPr>
        <p:txBody>
          <a:bodyPr/>
          <a:lstStyle/>
          <a:p>
            <a:r>
              <a:rPr lang="en-IN" dirty="0"/>
              <a:t>Abhishek Prajapati</a:t>
            </a:r>
          </a:p>
          <a:p>
            <a:r>
              <a:rPr lang="en-IN" dirty="0"/>
              <a:t>Research scholar </a:t>
            </a:r>
          </a:p>
          <a:p>
            <a:r>
              <a:rPr lang="en-IN" dirty="0"/>
              <a:t>National forensic sciences university</a:t>
            </a:r>
          </a:p>
        </p:txBody>
      </p:sp>
    </p:spTree>
    <p:extLst>
      <p:ext uri="{BB962C8B-B14F-4D97-AF65-F5344CB8AC3E}">
        <p14:creationId xmlns:p14="http://schemas.microsoft.com/office/powerpoint/2010/main" val="403060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F39DA-BD84-4D64-711D-E215A781226D}"/>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2F1C1501-9468-05A0-B4CD-9D143499CD0A}"/>
              </a:ext>
            </a:extLst>
          </p:cNvPr>
          <p:cNvSpPr>
            <a:spLocks noGrp="1"/>
          </p:cNvSpPr>
          <p:nvPr>
            <p:ph sz="quarter" idx="13"/>
          </p:nvPr>
        </p:nvSpPr>
        <p:spPr/>
        <p:txBody>
          <a:bodyPr/>
          <a:lstStyle/>
          <a:p>
            <a:r>
              <a:rPr lang="en-US" dirty="0"/>
              <a:t>Forensic report writing is crucial for documenting and presenting scientific findings in legal and investigative work. Here's what you need to know:</a:t>
            </a:r>
          </a:p>
          <a:p>
            <a:r>
              <a:rPr lang="en-US" b="1" dirty="0"/>
              <a:t>Purpose</a:t>
            </a:r>
            <a:r>
              <a:rPr lang="en-US" dirty="0"/>
              <a:t>: Bridge the gap between scientific experts and legal professionals</a:t>
            </a:r>
          </a:p>
          <a:p>
            <a:r>
              <a:rPr lang="en-US" b="1" dirty="0"/>
              <a:t>Key components</a:t>
            </a:r>
            <a:r>
              <a:rPr lang="en-US" dirty="0"/>
              <a:t>: Executive summary, background, evidence analysis, findings, expert opinions</a:t>
            </a:r>
          </a:p>
          <a:p>
            <a:r>
              <a:rPr lang="en-US" b="1" dirty="0"/>
              <a:t>Importance</a:t>
            </a:r>
            <a:r>
              <a:rPr lang="en-US" dirty="0"/>
              <a:t>: Provide objective evidence, help judges/juries make decisions, link evidence to crimes/suspects</a:t>
            </a:r>
          </a:p>
          <a:p>
            <a:endParaRPr lang="en-IN" dirty="0"/>
          </a:p>
        </p:txBody>
      </p:sp>
    </p:spTree>
    <p:extLst>
      <p:ext uri="{BB962C8B-B14F-4D97-AF65-F5344CB8AC3E}">
        <p14:creationId xmlns:p14="http://schemas.microsoft.com/office/powerpoint/2010/main" val="1642733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0E26-E7DC-D927-A8BF-957F305AE53F}"/>
              </a:ext>
            </a:extLst>
          </p:cNvPr>
          <p:cNvSpPr>
            <a:spLocks noGrp="1"/>
          </p:cNvSpPr>
          <p:nvPr>
            <p:ph type="title"/>
          </p:nvPr>
        </p:nvSpPr>
        <p:spPr/>
        <p:txBody>
          <a:bodyPr>
            <a:normAutofit/>
          </a:bodyPr>
          <a:lstStyle/>
          <a:p>
            <a:r>
              <a:rPr lang="en-IN" b="1" dirty="0"/>
              <a:t>Best Practices</a:t>
            </a:r>
            <a:endParaRPr lang="en-IN" dirty="0"/>
          </a:p>
        </p:txBody>
      </p:sp>
      <p:sp>
        <p:nvSpPr>
          <p:cNvPr id="3" name="Content Placeholder 2">
            <a:extLst>
              <a:ext uri="{FF2B5EF4-FFF2-40B4-BE49-F238E27FC236}">
                <a16:creationId xmlns:a16="http://schemas.microsoft.com/office/drawing/2014/main" id="{B29C2753-B36D-9A96-4B99-F49DE90E4664}"/>
              </a:ext>
            </a:extLst>
          </p:cNvPr>
          <p:cNvSpPr>
            <a:spLocks noGrp="1"/>
          </p:cNvSpPr>
          <p:nvPr>
            <p:ph sz="quarter" idx="13"/>
          </p:nvPr>
        </p:nvSpPr>
        <p:spPr/>
        <p:txBody>
          <a:bodyPr/>
          <a:lstStyle/>
          <a:p>
            <a:r>
              <a:rPr lang="en-US" dirty="0"/>
              <a:t>Keep it clear and brief</a:t>
            </a:r>
          </a:p>
          <a:p>
            <a:r>
              <a:rPr lang="en-US" dirty="0"/>
              <a:t>Stay neutral and objective</a:t>
            </a:r>
          </a:p>
          <a:p>
            <a:r>
              <a:rPr lang="en-US" dirty="0"/>
              <a:t>Organize well (title, summary, methodology, findings, conclusion, appendices)</a:t>
            </a:r>
          </a:p>
          <a:p>
            <a:r>
              <a:rPr lang="en-US" dirty="0"/>
              <a:t>Avoid personal opinions</a:t>
            </a:r>
          </a:p>
          <a:p>
            <a:r>
              <a:rPr lang="en-US" dirty="0"/>
              <a:t>Back up all claims with evidence</a:t>
            </a:r>
          </a:p>
          <a:p>
            <a:r>
              <a:rPr lang="en-US" dirty="0"/>
              <a:t>Maintain consistency in data and terms</a:t>
            </a:r>
          </a:p>
          <a:p>
            <a:pPr marL="0" indent="0">
              <a:buNone/>
            </a:pPr>
            <a:endParaRPr lang="en-IN" dirty="0"/>
          </a:p>
        </p:txBody>
      </p:sp>
    </p:spTree>
    <p:extLst>
      <p:ext uri="{BB962C8B-B14F-4D97-AF65-F5344CB8AC3E}">
        <p14:creationId xmlns:p14="http://schemas.microsoft.com/office/powerpoint/2010/main" val="2108393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AC6EC-0C3A-0157-1D6C-450F45D7EBA4}"/>
              </a:ext>
            </a:extLst>
          </p:cNvPr>
          <p:cNvSpPr>
            <a:spLocks noGrp="1"/>
          </p:cNvSpPr>
          <p:nvPr>
            <p:ph type="title"/>
          </p:nvPr>
        </p:nvSpPr>
        <p:spPr/>
        <p:txBody>
          <a:bodyPr>
            <a:normAutofit/>
          </a:bodyPr>
          <a:lstStyle/>
          <a:p>
            <a:r>
              <a:rPr lang="en-IN" b="1" dirty="0"/>
              <a:t>Legal Considerations</a:t>
            </a:r>
            <a:endParaRPr lang="en-IN" dirty="0"/>
          </a:p>
        </p:txBody>
      </p:sp>
      <p:sp>
        <p:nvSpPr>
          <p:cNvPr id="3" name="Content Placeholder 2">
            <a:extLst>
              <a:ext uri="{FF2B5EF4-FFF2-40B4-BE49-F238E27FC236}">
                <a16:creationId xmlns:a16="http://schemas.microsoft.com/office/drawing/2014/main" id="{5407CB5C-9878-0128-5822-E706A36A2621}"/>
              </a:ext>
            </a:extLst>
          </p:cNvPr>
          <p:cNvSpPr>
            <a:spLocks noGrp="1"/>
          </p:cNvSpPr>
          <p:nvPr>
            <p:ph sz="quarter" idx="13"/>
          </p:nvPr>
        </p:nvSpPr>
        <p:spPr/>
        <p:txBody>
          <a:bodyPr/>
          <a:lstStyle/>
          <a:p>
            <a:r>
              <a:rPr lang="en-US" dirty="0"/>
              <a:t>Ensure court admissibility (chain of custody, qualified expert, valid methods)</a:t>
            </a:r>
          </a:p>
          <a:p>
            <a:r>
              <a:rPr lang="en-US" dirty="0"/>
              <a:t>Balance transparency with privacy</a:t>
            </a:r>
          </a:p>
          <a:p>
            <a:endParaRPr lang="en-IN" dirty="0"/>
          </a:p>
        </p:txBody>
      </p:sp>
    </p:spTree>
    <p:extLst>
      <p:ext uri="{BB962C8B-B14F-4D97-AF65-F5344CB8AC3E}">
        <p14:creationId xmlns:p14="http://schemas.microsoft.com/office/powerpoint/2010/main" val="957504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6B9A8-8502-3F2D-C48E-4F3263C95555}"/>
              </a:ext>
            </a:extLst>
          </p:cNvPr>
          <p:cNvSpPr>
            <a:spLocks noGrp="1"/>
          </p:cNvSpPr>
          <p:nvPr>
            <p:ph type="title"/>
          </p:nvPr>
        </p:nvSpPr>
        <p:spPr/>
        <p:txBody>
          <a:bodyPr>
            <a:normAutofit/>
          </a:bodyPr>
          <a:lstStyle/>
          <a:p>
            <a:r>
              <a:rPr lang="en-IN" b="1" dirty="0"/>
              <a:t>Quality Control</a:t>
            </a:r>
            <a:endParaRPr lang="en-IN" dirty="0"/>
          </a:p>
        </p:txBody>
      </p:sp>
      <p:sp>
        <p:nvSpPr>
          <p:cNvPr id="3" name="Content Placeholder 2">
            <a:extLst>
              <a:ext uri="{FF2B5EF4-FFF2-40B4-BE49-F238E27FC236}">
                <a16:creationId xmlns:a16="http://schemas.microsoft.com/office/drawing/2014/main" id="{5AE2BF7D-B1D5-6405-1958-739FA1298857}"/>
              </a:ext>
            </a:extLst>
          </p:cNvPr>
          <p:cNvSpPr>
            <a:spLocks noGrp="1"/>
          </p:cNvSpPr>
          <p:nvPr>
            <p:ph sz="quarter" idx="13"/>
          </p:nvPr>
        </p:nvSpPr>
        <p:spPr/>
        <p:txBody>
          <a:bodyPr/>
          <a:lstStyle/>
          <a:p>
            <a:r>
              <a:rPr lang="en-US" dirty="0"/>
              <a:t>Get expert reviews</a:t>
            </a:r>
          </a:p>
          <a:p>
            <a:r>
              <a:rPr lang="en-US" dirty="0"/>
              <a:t>Double-check all facts</a:t>
            </a:r>
          </a:p>
          <a:p>
            <a:r>
              <a:rPr lang="en-US" dirty="0"/>
              <a:t>Manage report versions carefully</a:t>
            </a:r>
          </a:p>
          <a:p>
            <a:endParaRPr lang="en-IN" dirty="0"/>
          </a:p>
        </p:txBody>
      </p:sp>
    </p:spTree>
    <p:extLst>
      <p:ext uri="{BB962C8B-B14F-4D97-AF65-F5344CB8AC3E}">
        <p14:creationId xmlns:p14="http://schemas.microsoft.com/office/powerpoint/2010/main" val="1176242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2931D-8908-048C-1920-DB8DC781530D}"/>
              </a:ext>
            </a:extLst>
          </p:cNvPr>
          <p:cNvSpPr>
            <a:spLocks noGrp="1"/>
          </p:cNvSpPr>
          <p:nvPr>
            <p:ph type="title"/>
          </p:nvPr>
        </p:nvSpPr>
        <p:spPr/>
        <p:txBody>
          <a:bodyPr>
            <a:normAutofit/>
          </a:bodyPr>
          <a:lstStyle/>
          <a:p>
            <a:r>
              <a:rPr lang="en-IN" b="1" dirty="0"/>
              <a:t>Key Tools</a:t>
            </a:r>
            <a:endParaRPr lang="en-IN" dirty="0"/>
          </a:p>
        </p:txBody>
      </p:sp>
      <p:graphicFrame>
        <p:nvGraphicFramePr>
          <p:cNvPr id="4" name="Content Placeholder 3">
            <a:extLst>
              <a:ext uri="{FF2B5EF4-FFF2-40B4-BE49-F238E27FC236}">
                <a16:creationId xmlns:a16="http://schemas.microsoft.com/office/drawing/2014/main" id="{D0CD35A0-73FB-2526-4AC2-371A6FE7B9DD}"/>
              </a:ext>
            </a:extLst>
          </p:cNvPr>
          <p:cNvGraphicFramePr>
            <a:graphicFrameLocks noGrp="1"/>
          </p:cNvGraphicFramePr>
          <p:nvPr>
            <p:ph sz="quarter" idx="13"/>
            <p:extLst>
              <p:ext uri="{D42A27DB-BD31-4B8C-83A1-F6EECF244321}">
                <p14:modId xmlns:p14="http://schemas.microsoft.com/office/powerpoint/2010/main" val="1779457799"/>
              </p:ext>
            </p:extLst>
          </p:nvPr>
        </p:nvGraphicFramePr>
        <p:xfrm>
          <a:off x="811659" y="1602769"/>
          <a:ext cx="10078947" cy="3117428"/>
        </p:xfrm>
        <a:graphic>
          <a:graphicData uri="http://schemas.openxmlformats.org/drawingml/2006/table">
            <a:tbl>
              <a:tblPr/>
              <a:tblGrid>
                <a:gridCol w="3359649">
                  <a:extLst>
                    <a:ext uri="{9D8B030D-6E8A-4147-A177-3AD203B41FA5}">
                      <a16:colId xmlns:a16="http://schemas.microsoft.com/office/drawing/2014/main" val="1517729970"/>
                    </a:ext>
                  </a:extLst>
                </a:gridCol>
                <a:gridCol w="3359649">
                  <a:extLst>
                    <a:ext uri="{9D8B030D-6E8A-4147-A177-3AD203B41FA5}">
                      <a16:colId xmlns:a16="http://schemas.microsoft.com/office/drawing/2014/main" val="3582166944"/>
                    </a:ext>
                  </a:extLst>
                </a:gridCol>
                <a:gridCol w="3359649">
                  <a:extLst>
                    <a:ext uri="{9D8B030D-6E8A-4147-A177-3AD203B41FA5}">
                      <a16:colId xmlns:a16="http://schemas.microsoft.com/office/drawing/2014/main" val="726366920"/>
                    </a:ext>
                  </a:extLst>
                </a:gridCol>
              </a:tblGrid>
              <a:tr h="371560">
                <a:tc>
                  <a:txBody>
                    <a:bodyPr/>
                    <a:lstStyle/>
                    <a:p>
                      <a:pPr algn="l">
                        <a:buNone/>
                      </a:pPr>
                      <a:r>
                        <a:rPr lang="en-IN">
                          <a:solidFill>
                            <a:srgbClr val="202020"/>
                          </a:solidFill>
                          <a:effectLst/>
                        </a:rPr>
                        <a:t>Tool Type</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tc>
                  <a:txBody>
                    <a:bodyPr/>
                    <a:lstStyle/>
                    <a:p>
                      <a:pPr algn="l">
                        <a:buNone/>
                      </a:pPr>
                      <a:r>
                        <a:rPr lang="en-IN">
                          <a:solidFill>
                            <a:srgbClr val="202020"/>
                          </a:solidFill>
                          <a:effectLst/>
                        </a:rPr>
                        <a:t>Examples</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tc>
                  <a:txBody>
                    <a:bodyPr/>
                    <a:lstStyle/>
                    <a:p>
                      <a:pPr algn="l">
                        <a:buNone/>
                      </a:pPr>
                      <a:r>
                        <a:rPr lang="en-IN">
                          <a:solidFill>
                            <a:srgbClr val="202020"/>
                          </a:solidFill>
                          <a:effectLst/>
                        </a:rPr>
                        <a:t>Purpose</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extLst>
                  <a:ext uri="{0D108BD9-81ED-4DB2-BD59-A6C34878D82A}">
                    <a16:rowId xmlns:a16="http://schemas.microsoft.com/office/drawing/2014/main" val="4206301555"/>
                  </a:ext>
                </a:extLst>
              </a:tr>
              <a:tr h="913836">
                <a:tc>
                  <a:txBody>
                    <a:bodyPr/>
                    <a:lstStyle/>
                    <a:p>
                      <a:pPr algn="l">
                        <a:buNone/>
                      </a:pPr>
                      <a:r>
                        <a:rPr lang="en-IN" dirty="0">
                          <a:solidFill>
                            <a:srgbClr val="202020"/>
                          </a:solidFill>
                          <a:effectLst/>
                        </a:rPr>
                        <a:t>Digital Evidence</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l">
                        <a:buNone/>
                      </a:pPr>
                      <a:r>
                        <a:rPr lang="en-IN" b="0" u="none" dirty="0">
                          <a:solidFill>
                            <a:srgbClr val="333333"/>
                          </a:solidFill>
                          <a:effectLst/>
                        </a:rPr>
                        <a:t>Autopsy</a:t>
                      </a:r>
                      <a:r>
                        <a:rPr lang="en-IN" b="0" u="none" dirty="0">
                          <a:solidFill>
                            <a:srgbClr val="202020"/>
                          </a:solidFill>
                          <a:effectLst/>
                        </a:rPr>
                        <a:t>, </a:t>
                      </a:r>
                      <a:r>
                        <a:rPr lang="en-IN" b="0" u="none" dirty="0">
                          <a:solidFill>
                            <a:srgbClr val="333333"/>
                          </a:solidFill>
                          <a:effectLst/>
                        </a:rPr>
                        <a:t>FTK</a:t>
                      </a:r>
                      <a:r>
                        <a:rPr lang="en-IN" b="0" u="none" dirty="0">
                          <a:solidFill>
                            <a:srgbClr val="202020"/>
                          </a:solidFill>
                          <a:effectLst/>
                        </a:rPr>
                        <a:t>, </a:t>
                      </a:r>
                      <a:r>
                        <a:rPr lang="en-IN" b="0" u="none" dirty="0">
                          <a:solidFill>
                            <a:srgbClr val="333333"/>
                          </a:solidFill>
                          <a:effectLst/>
                        </a:rPr>
                        <a:t>Cellebrite</a:t>
                      </a:r>
                      <a:r>
                        <a:rPr lang="en-IN" b="0" u="none" dirty="0">
                          <a:solidFill>
                            <a:srgbClr val="202020"/>
                          </a:solidFill>
                          <a:effectLst/>
                        </a:rPr>
                        <a:t> UFED</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l">
                        <a:buNone/>
                      </a:pPr>
                      <a:r>
                        <a:rPr lang="en-IN">
                          <a:solidFill>
                            <a:srgbClr val="202020"/>
                          </a:solidFill>
                          <a:effectLst/>
                        </a:rPr>
                        <a:t>Analyze electronic devices</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3520564035"/>
                  </a:ext>
                </a:extLst>
              </a:tr>
              <a:tr h="913836">
                <a:tc>
                  <a:txBody>
                    <a:bodyPr/>
                    <a:lstStyle/>
                    <a:p>
                      <a:pPr algn="l">
                        <a:buNone/>
                      </a:pPr>
                      <a:r>
                        <a:rPr lang="en-IN">
                          <a:solidFill>
                            <a:srgbClr val="202020"/>
                          </a:solidFill>
                          <a:effectLst/>
                        </a:rPr>
                        <a:t>Data Analysis</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l">
                        <a:buNone/>
                      </a:pPr>
                      <a:r>
                        <a:rPr lang="en-IN" u="none" dirty="0">
                          <a:solidFill>
                            <a:srgbClr val="333333"/>
                          </a:solidFill>
                          <a:effectLst/>
                        </a:rPr>
                        <a:t>Magnet AXIOM</a:t>
                      </a:r>
                      <a:r>
                        <a:rPr lang="en-IN" u="none" dirty="0">
                          <a:solidFill>
                            <a:srgbClr val="202020"/>
                          </a:solidFill>
                          <a:effectLst/>
                        </a:rPr>
                        <a:t>, </a:t>
                      </a:r>
                      <a:r>
                        <a:rPr lang="en-IN" u="none" dirty="0" err="1">
                          <a:solidFill>
                            <a:srgbClr val="333333"/>
                          </a:solidFill>
                          <a:effectLst/>
                        </a:rPr>
                        <a:t>Belkasoft</a:t>
                      </a:r>
                      <a:r>
                        <a:rPr lang="en-IN" u="none" dirty="0">
                          <a:solidFill>
                            <a:srgbClr val="333333"/>
                          </a:solidFill>
                          <a:effectLst/>
                        </a:rPr>
                        <a:t> Evidence </a:t>
                      </a:r>
                      <a:r>
                        <a:rPr lang="en-IN" u="none" dirty="0" err="1">
                          <a:solidFill>
                            <a:srgbClr val="333333"/>
                          </a:solidFill>
                          <a:effectLst/>
                        </a:rPr>
                        <a:t>Center</a:t>
                      </a:r>
                      <a:endParaRPr lang="en-IN" u="none" dirty="0">
                        <a:solidFill>
                          <a:srgbClr val="202020"/>
                        </a:solidFill>
                        <a:effectLst/>
                      </a:endParaRP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l">
                        <a:buNone/>
                      </a:pPr>
                      <a:r>
                        <a:rPr lang="en-IN">
                          <a:solidFill>
                            <a:srgbClr val="202020"/>
                          </a:solidFill>
                          <a:effectLst/>
                        </a:rPr>
                        <a:t>Process complex datasets</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extLst>
                  <a:ext uri="{0D108BD9-81ED-4DB2-BD59-A6C34878D82A}">
                    <a16:rowId xmlns:a16="http://schemas.microsoft.com/office/drawing/2014/main" val="3684220005"/>
                  </a:ext>
                </a:extLst>
              </a:tr>
              <a:tr h="913836">
                <a:tc>
                  <a:txBody>
                    <a:bodyPr/>
                    <a:lstStyle/>
                    <a:p>
                      <a:pPr algn="l">
                        <a:buNone/>
                      </a:pPr>
                      <a:r>
                        <a:rPr lang="en-IN">
                          <a:solidFill>
                            <a:srgbClr val="202020"/>
                          </a:solidFill>
                          <a:effectLst/>
                        </a:rPr>
                        <a:t>Report Templates</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l">
                        <a:buNone/>
                      </a:pPr>
                      <a:r>
                        <a:rPr lang="en-IN">
                          <a:solidFill>
                            <a:srgbClr val="202020"/>
                          </a:solidFill>
                          <a:effectLst/>
                        </a:rPr>
                        <a:t>Forensic Audit, Independent Accountant</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l">
                        <a:buNone/>
                      </a:pPr>
                      <a:r>
                        <a:rPr lang="en-IN" dirty="0">
                          <a:solidFill>
                            <a:srgbClr val="202020"/>
                          </a:solidFill>
                          <a:effectLst/>
                        </a:rPr>
                        <a:t>Ensure consistency</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1198928327"/>
                  </a:ext>
                </a:extLst>
              </a:tr>
            </a:tbl>
          </a:graphicData>
        </a:graphic>
      </p:graphicFrame>
      <p:sp>
        <p:nvSpPr>
          <p:cNvPr id="6" name="TextBox 5">
            <a:extLst>
              <a:ext uri="{FF2B5EF4-FFF2-40B4-BE49-F238E27FC236}">
                <a16:creationId xmlns:a16="http://schemas.microsoft.com/office/drawing/2014/main" id="{8708D150-B594-9B4C-C358-C7623207B123}"/>
              </a:ext>
            </a:extLst>
          </p:cNvPr>
          <p:cNvSpPr txBox="1"/>
          <p:nvPr/>
        </p:nvSpPr>
        <p:spPr>
          <a:xfrm>
            <a:off x="759262" y="4835570"/>
            <a:ext cx="10249960" cy="369332"/>
          </a:xfrm>
          <a:prstGeom prst="rect">
            <a:avLst/>
          </a:prstGeom>
          <a:noFill/>
        </p:spPr>
        <p:txBody>
          <a:bodyPr wrap="square">
            <a:spAutoFit/>
          </a:bodyPr>
          <a:lstStyle/>
          <a:p>
            <a:r>
              <a:rPr lang="en-US" b="0" i="0" dirty="0">
                <a:solidFill>
                  <a:srgbClr val="626262"/>
                </a:solidFill>
                <a:effectLst/>
                <a:latin typeface="Libre Franklin" pitchFamily="2" charset="0"/>
              </a:rPr>
              <a:t>Remember: Clear, precise, and unbiased reporting is essential for justice and fraud prevention.</a:t>
            </a:r>
            <a:endParaRPr lang="en-IN" dirty="0"/>
          </a:p>
        </p:txBody>
      </p:sp>
    </p:spTree>
    <p:extLst>
      <p:ext uri="{BB962C8B-B14F-4D97-AF65-F5344CB8AC3E}">
        <p14:creationId xmlns:p14="http://schemas.microsoft.com/office/powerpoint/2010/main" val="503702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213F9-506E-3748-4445-F2E9F9906DCB}"/>
              </a:ext>
            </a:extLst>
          </p:cNvPr>
          <p:cNvSpPr>
            <a:spLocks noGrp="1"/>
          </p:cNvSpPr>
          <p:nvPr>
            <p:ph type="title"/>
          </p:nvPr>
        </p:nvSpPr>
        <p:spPr/>
        <p:txBody>
          <a:bodyPr>
            <a:normAutofit fontScale="90000"/>
          </a:bodyPr>
          <a:lstStyle/>
          <a:p>
            <a:r>
              <a:rPr lang="en-US" b="1" dirty="0"/>
              <a:t>Goals and limits of forensic reports</a:t>
            </a:r>
            <a:endParaRPr lang="en-IN" dirty="0"/>
          </a:p>
        </p:txBody>
      </p:sp>
      <p:sp>
        <p:nvSpPr>
          <p:cNvPr id="3" name="Content Placeholder 2">
            <a:extLst>
              <a:ext uri="{FF2B5EF4-FFF2-40B4-BE49-F238E27FC236}">
                <a16:creationId xmlns:a16="http://schemas.microsoft.com/office/drawing/2014/main" id="{06631EAF-3CD3-B934-6186-D06E8F4CFC0E}"/>
              </a:ext>
            </a:extLst>
          </p:cNvPr>
          <p:cNvSpPr>
            <a:spLocks noGrp="1"/>
          </p:cNvSpPr>
          <p:nvPr>
            <p:ph sz="quarter" idx="13"/>
          </p:nvPr>
        </p:nvSpPr>
        <p:spPr>
          <a:xfrm>
            <a:off x="685800" y="1643866"/>
            <a:ext cx="10394707" cy="3730720"/>
          </a:xfrm>
        </p:spPr>
        <p:txBody>
          <a:bodyPr>
            <a:normAutofit lnSpcReduction="10000"/>
          </a:bodyPr>
          <a:lstStyle/>
          <a:p>
            <a:pPr marL="0" indent="0">
              <a:buNone/>
            </a:pPr>
            <a:r>
              <a:rPr lang="en-US" dirty="0"/>
              <a:t>Forensic reports aim to:</a:t>
            </a:r>
          </a:p>
          <a:p>
            <a:r>
              <a:rPr lang="en-US" dirty="0"/>
              <a:t>Present facts objectively</a:t>
            </a:r>
          </a:p>
          <a:p>
            <a:r>
              <a:rPr lang="en-US" dirty="0"/>
              <a:t>Link evidence to crimes or suspects</a:t>
            </a:r>
          </a:p>
          <a:p>
            <a:r>
              <a:rPr lang="en-US" dirty="0"/>
              <a:t>Help judges and juries decide</a:t>
            </a:r>
          </a:p>
          <a:p>
            <a:pPr marL="0" indent="0">
              <a:buNone/>
            </a:pPr>
            <a:r>
              <a:rPr lang="en-US" dirty="0"/>
              <a:t>But they can't:</a:t>
            </a:r>
          </a:p>
          <a:p>
            <a:r>
              <a:rPr lang="en-US" dirty="0"/>
              <a:t>Include personal opinions</a:t>
            </a:r>
          </a:p>
          <a:p>
            <a:r>
              <a:rPr lang="en-US" dirty="0"/>
              <a:t>Stray from verified facts</a:t>
            </a:r>
          </a:p>
          <a:p>
            <a:r>
              <a:rPr lang="en-US" dirty="0"/>
              <a:t>Make legal judgments</a:t>
            </a:r>
          </a:p>
        </p:txBody>
      </p:sp>
    </p:spTree>
    <p:extLst>
      <p:ext uri="{BB962C8B-B14F-4D97-AF65-F5344CB8AC3E}">
        <p14:creationId xmlns:p14="http://schemas.microsoft.com/office/powerpoint/2010/main" val="983300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8B313-DAAB-328A-31E5-57AA62BA8D53}"/>
              </a:ext>
            </a:extLst>
          </p:cNvPr>
          <p:cNvSpPr>
            <a:spLocks noGrp="1"/>
          </p:cNvSpPr>
          <p:nvPr>
            <p:ph type="title"/>
          </p:nvPr>
        </p:nvSpPr>
        <p:spPr/>
        <p:txBody>
          <a:bodyPr>
            <a:normAutofit fontScale="90000"/>
          </a:bodyPr>
          <a:lstStyle/>
          <a:p>
            <a:r>
              <a:rPr lang="en-US" b="1" dirty="0"/>
              <a:t>Different kinds of forensic reports</a:t>
            </a:r>
            <a:endParaRPr lang="en-IN" dirty="0"/>
          </a:p>
        </p:txBody>
      </p:sp>
      <p:sp>
        <p:nvSpPr>
          <p:cNvPr id="3" name="Content Placeholder 2">
            <a:extLst>
              <a:ext uri="{FF2B5EF4-FFF2-40B4-BE49-F238E27FC236}">
                <a16:creationId xmlns:a16="http://schemas.microsoft.com/office/drawing/2014/main" id="{0E8BB032-F391-4963-CECF-B78C1568D8B4}"/>
              </a:ext>
            </a:extLst>
          </p:cNvPr>
          <p:cNvSpPr>
            <a:spLocks noGrp="1"/>
          </p:cNvSpPr>
          <p:nvPr>
            <p:ph sz="quarter" idx="13"/>
          </p:nvPr>
        </p:nvSpPr>
        <p:spPr/>
        <p:txBody>
          <a:bodyPr/>
          <a:lstStyle/>
          <a:p>
            <a:r>
              <a:rPr lang="en-US" dirty="0"/>
              <a:t>1. </a:t>
            </a:r>
            <a:r>
              <a:rPr lang="en-US" b="1" dirty="0"/>
              <a:t>Technical reports</a:t>
            </a:r>
            <a:endParaRPr lang="en-US" dirty="0"/>
          </a:p>
          <a:p>
            <a:r>
              <a:rPr lang="en-US" dirty="0"/>
              <a:t>These focus on specific scientific tests. Think DNA analysis in a sexual assault case.</a:t>
            </a:r>
          </a:p>
          <a:p>
            <a:r>
              <a:rPr lang="en-US" dirty="0"/>
              <a:t>2. </a:t>
            </a:r>
            <a:r>
              <a:rPr lang="en-US" b="1" dirty="0"/>
              <a:t>Investigative reports</a:t>
            </a:r>
            <a:endParaRPr lang="en-US" dirty="0"/>
          </a:p>
          <a:p>
            <a:r>
              <a:rPr lang="en-US" dirty="0"/>
              <a:t>These cover broader investigations. Like a report on a complex financial fraud case.</a:t>
            </a:r>
          </a:p>
          <a:p>
            <a:r>
              <a:rPr lang="en-US" dirty="0"/>
              <a:t>3. </a:t>
            </a:r>
            <a:r>
              <a:rPr lang="en-US" b="1" dirty="0"/>
              <a:t>Evaluative reports</a:t>
            </a:r>
            <a:endParaRPr lang="en-US" dirty="0"/>
          </a:p>
          <a:p>
            <a:r>
              <a:rPr lang="en-US" dirty="0"/>
              <a:t>These weigh evidence and provide expert interpretations. For example, analyzing bullet trajectory in a shooting case.</a:t>
            </a:r>
          </a:p>
          <a:p>
            <a:endParaRPr lang="en-IN" dirty="0"/>
          </a:p>
        </p:txBody>
      </p:sp>
    </p:spTree>
    <p:extLst>
      <p:ext uri="{BB962C8B-B14F-4D97-AF65-F5344CB8AC3E}">
        <p14:creationId xmlns:p14="http://schemas.microsoft.com/office/powerpoint/2010/main" val="761573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CEC0E-3640-0C56-E2CF-739F3620DB44}"/>
              </a:ext>
            </a:extLst>
          </p:cNvPr>
          <p:cNvSpPr>
            <a:spLocks noGrp="1"/>
          </p:cNvSpPr>
          <p:nvPr>
            <p:ph type="title"/>
          </p:nvPr>
        </p:nvSpPr>
        <p:spPr/>
        <p:txBody>
          <a:bodyPr>
            <a:normAutofit/>
          </a:bodyPr>
          <a:lstStyle/>
          <a:p>
            <a:r>
              <a:rPr lang="en-US" b="1" dirty="0"/>
              <a:t>Main parts of a forensic report</a:t>
            </a:r>
            <a:endParaRPr lang="en-IN" dirty="0"/>
          </a:p>
        </p:txBody>
      </p:sp>
      <p:graphicFrame>
        <p:nvGraphicFramePr>
          <p:cNvPr id="4" name="Content Placeholder 3">
            <a:extLst>
              <a:ext uri="{FF2B5EF4-FFF2-40B4-BE49-F238E27FC236}">
                <a16:creationId xmlns:a16="http://schemas.microsoft.com/office/drawing/2014/main" id="{FBA67E73-DF52-11F5-CE1B-77A986F9D01A}"/>
              </a:ext>
            </a:extLst>
          </p:cNvPr>
          <p:cNvGraphicFramePr>
            <a:graphicFrameLocks noGrp="1"/>
          </p:cNvGraphicFramePr>
          <p:nvPr>
            <p:ph sz="quarter" idx="13"/>
            <p:extLst>
              <p:ext uri="{D42A27DB-BD31-4B8C-83A1-F6EECF244321}">
                <p14:modId xmlns:p14="http://schemas.microsoft.com/office/powerpoint/2010/main" val="1450617386"/>
              </p:ext>
            </p:extLst>
          </p:nvPr>
        </p:nvGraphicFramePr>
        <p:xfrm>
          <a:off x="1130156" y="1746607"/>
          <a:ext cx="8825502" cy="3864582"/>
        </p:xfrm>
        <a:graphic>
          <a:graphicData uri="http://schemas.openxmlformats.org/drawingml/2006/table">
            <a:tbl>
              <a:tblPr/>
              <a:tblGrid>
                <a:gridCol w="4412751">
                  <a:extLst>
                    <a:ext uri="{9D8B030D-6E8A-4147-A177-3AD203B41FA5}">
                      <a16:colId xmlns:a16="http://schemas.microsoft.com/office/drawing/2014/main" val="154986832"/>
                    </a:ext>
                  </a:extLst>
                </a:gridCol>
                <a:gridCol w="4412751">
                  <a:extLst>
                    <a:ext uri="{9D8B030D-6E8A-4147-A177-3AD203B41FA5}">
                      <a16:colId xmlns:a16="http://schemas.microsoft.com/office/drawing/2014/main" val="3235010915"/>
                    </a:ext>
                  </a:extLst>
                </a:gridCol>
              </a:tblGrid>
              <a:tr h="294602">
                <a:tc>
                  <a:txBody>
                    <a:bodyPr/>
                    <a:lstStyle/>
                    <a:p>
                      <a:pPr algn="ctr">
                        <a:buNone/>
                      </a:pPr>
                      <a:r>
                        <a:rPr lang="en-IN" sz="2000" dirty="0">
                          <a:solidFill>
                            <a:srgbClr val="202020"/>
                          </a:solidFill>
                          <a:effectLst/>
                        </a:rPr>
                        <a:t>Section</a:t>
                      </a:r>
                    </a:p>
                  </a:txBody>
                  <a:tcPr marL="36152" marR="36152" marT="36152" marB="3615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tc>
                  <a:txBody>
                    <a:bodyPr/>
                    <a:lstStyle/>
                    <a:p>
                      <a:pPr algn="ctr">
                        <a:buNone/>
                      </a:pPr>
                      <a:r>
                        <a:rPr lang="en-IN" sz="2000">
                          <a:solidFill>
                            <a:srgbClr val="202020"/>
                          </a:solidFill>
                          <a:effectLst/>
                        </a:rPr>
                        <a:t>Purpose</a:t>
                      </a:r>
                    </a:p>
                  </a:txBody>
                  <a:tcPr marL="36152" marR="36152" marT="36152" marB="3615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extLst>
                  <a:ext uri="{0D108BD9-81ED-4DB2-BD59-A6C34878D82A}">
                    <a16:rowId xmlns:a16="http://schemas.microsoft.com/office/drawing/2014/main" val="3688248360"/>
                  </a:ext>
                </a:extLst>
              </a:tr>
              <a:tr h="504119">
                <a:tc>
                  <a:txBody>
                    <a:bodyPr/>
                    <a:lstStyle/>
                    <a:p>
                      <a:pPr algn="ctr">
                        <a:buNone/>
                      </a:pPr>
                      <a:r>
                        <a:rPr lang="en-IN" sz="2000">
                          <a:solidFill>
                            <a:srgbClr val="202020"/>
                          </a:solidFill>
                          <a:effectLst/>
                        </a:rPr>
                        <a:t>Title and ID</a:t>
                      </a:r>
                    </a:p>
                  </a:txBody>
                  <a:tcPr marL="36152" marR="36152" marT="36152" marB="3615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2000">
                          <a:solidFill>
                            <a:srgbClr val="202020"/>
                          </a:solidFill>
                          <a:effectLst/>
                        </a:rPr>
                        <a:t>Identifies the report</a:t>
                      </a:r>
                    </a:p>
                  </a:txBody>
                  <a:tcPr marL="36152" marR="36152" marT="36152" marB="3615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2229153951"/>
                  </a:ext>
                </a:extLst>
              </a:tr>
              <a:tr h="504119">
                <a:tc>
                  <a:txBody>
                    <a:bodyPr/>
                    <a:lstStyle/>
                    <a:p>
                      <a:pPr algn="ctr">
                        <a:buNone/>
                      </a:pPr>
                      <a:r>
                        <a:rPr lang="en-IN" sz="2000">
                          <a:solidFill>
                            <a:srgbClr val="202020"/>
                          </a:solidFill>
                          <a:effectLst/>
                        </a:rPr>
                        <a:t>Executive summary</a:t>
                      </a:r>
                    </a:p>
                  </a:txBody>
                  <a:tcPr marL="36152" marR="36152" marT="36152" marB="3615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IN" sz="2000">
                          <a:solidFill>
                            <a:srgbClr val="202020"/>
                          </a:solidFill>
                          <a:effectLst/>
                        </a:rPr>
                        <a:t>Outlines key findings</a:t>
                      </a:r>
                    </a:p>
                  </a:txBody>
                  <a:tcPr marL="36152" marR="36152" marT="36152" marB="3615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extLst>
                  <a:ext uri="{0D108BD9-81ED-4DB2-BD59-A6C34878D82A}">
                    <a16:rowId xmlns:a16="http://schemas.microsoft.com/office/drawing/2014/main" val="3576736300"/>
                  </a:ext>
                </a:extLst>
              </a:tr>
              <a:tr h="294602">
                <a:tc>
                  <a:txBody>
                    <a:bodyPr/>
                    <a:lstStyle/>
                    <a:p>
                      <a:pPr algn="ctr">
                        <a:buNone/>
                      </a:pPr>
                      <a:r>
                        <a:rPr lang="en-IN" sz="2000">
                          <a:solidFill>
                            <a:srgbClr val="202020"/>
                          </a:solidFill>
                          <a:effectLst/>
                        </a:rPr>
                        <a:t>Background</a:t>
                      </a:r>
                    </a:p>
                  </a:txBody>
                  <a:tcPr marL="36152" marR="36152" marT="36152" marB="3615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2000">
                          <a:solidFill>
                            <a:srgbClr val="202020"/>
                          </a:solidFill>
                          <a:effectLst/>
                        </a:rPr>
                        <a:t>Provides context</a:t>
                      </a:r>
                    </a:p>
                  </a:txBody>
                  <a:tcPr marL="36152" marR="36152" marT="36152" marB="3615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2058450806"/>
                  </a:ext>
                </a:extLst>
              </a:tr>
              <a:tr h="716794">
                <a:tc>
                  <a:txBody>
                    <a:bodyPr/>
                    <a:lstStyle/>
                    <a:p>
                      <a:pPr algn="ctr">
                        <a:buNone/>
                      </a:pPr>
                      <a:r>
                        <a:rPr lang="en-IN" sz="2000">
                          <a:solidFill>
                            <a:srgbClr val="202020"/>
                          </a:solidFill>
                          <a:effectLst/>
                        </a:rPr>
                        <a:t>Methodology</a:t>
                      </a:r>
                    </a:p>
                  </a:txBody>
                  <a:tcPr marL="36152" marR="36152" marT="36152" marB="3615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US" sz="2000">
                          <a:solidFill>
                            <a:srgbClr val="202020"/>
                          </a:solidFill>
                          <a:effectLst/>
                        </a:rPr>
                        <a:t>Explains evidence collection and analysis</a:t>
                      </a:r>
                    </a:p>
                  </a:txBody>
                  <a:tcPr marL="36152" marR="36152" marT="36152" marB="3615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extLst>
                  <a:ext uri="{0D108BD9-81ED-4DB2-BD59-A6C34878D82A}">
                    <a16:rowId xmlns:a16="http://schemas.microsoft.com/office/drawing/2014/main" val="2778029953"/>
                  </a:ext>
                </a:extLst>
              </a:tr>
              <a:tr h="294602">
                <a:tc>
                  <a:txBody>
                    <a:bodyPr/>
                    <a:lstStyle/>
                    <a:p>
                      <a:pPr algn="ctr">
                        <a:buNone/>
                      </a:pPr>
                      <a:r>
                        <a:rPr lang="en-IN" sz="2000">
                          <a:solidFill>
                            <a:srgbClr val="202020"/>
                          </a:solidFill>
                          <a:effectLst/>
                        </a:rPr>
                        <a:t>Findings</a:t>
                      </a:r>
                    </a:p>
                  </a:txBody>
                  <a:tcPr marL="36152" marR="36152" marT="36152" marB="3615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2000">
                          <a:solidFill>
                            <a:srgbClr val="202020"/>
                          </a:solidFill>
                          <a:effectLst/>
                        </a:rPr>
                        <a:t>Presents results</a:t>
                      </a:r>
                    </a:p>
                  </a:txBody>
                  <a:tcPr marL="36152" marR="36152" marT="36152" marB="3615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724863792"/>
                  </a:ext>
                </a:extLst>
              </a:tr>
              <a:tr h="504119">
                <a:tc>
                  <a:txBody>
                    <a:bodyPr/>
                    <a:lstStyle/>
                    <a:p>
                      <a:pPr algn="ctr">
                        <a:buNone/>
                      </a:pPr>
                      <a:r>
                        <a:rPr lang="en-IN" sz="2000">
                          <a:solidFill>
                            <a:srgbClr val="202020"/>
                          </a:solidFill>
                          <a:effectLst/>
                        </a:rPr>
                        <a:t>Conclusion</a:t>
                      </a:r>
                    </a:p>
                  </a:txBody>
                  <a:tcPr marL="36152" marR="36152" marT="36152" marB="3615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IN" sz="2000">
                          <a:solidFill>
                            <a:srgbClr val="202020"/>
                          </a:solidFill>
                          <a:effectLst/>
                        </a:rPr>
                        <a:t>Summarizes main points</a:t>
                      </a:r>
                    </a:p>
                  </a:txBody>
                  <a:tcPr marL="36152" marR="36152" marT="36152" marB="3615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extLst>
                  <a:ext uri="{0D108BD9-81ED-4DB2-BD59-A6C34878D82A}">
                    <a16:rowId xmlns:a16="http://schemas.microsoft.com/office/drawing/2014/main" val="2941955758"/>
                  </a:ext>
                </a:extLst>
              </a:tr>
              <a:tr h="504119">
                <a:tc>
                  <a:txBody>
                    <a:bodyPr/>
                    <a:lstStyle/>
                    <a:p>
                      <a:pPr algn="ctr">
                        <a:buNone/>
                      </a:pPr>
                      <a:r>
                        <a:rPr lang="en-IN" sz="2000">
                          <a:solidFill>
                            <a:srgbClr val="202020"/>
                          </a:solidFill>
                          <a:effectLst/>
                        </a:rPr>
                        <a:t>Appendices</a:t>
                      </a:r>
                    </a:p>
                  </a:txBody>
                  <a:tcPr marL="36152" marR="36152" marT="36152" marB="3615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2000" dirty="0">
                          <a:solidFill>
                            <a:srgbClr val="202020"/>
                          </a:solidFill>
                          <a:effectLst/>
                        </a:rPr>
                        <a:t>Contains supporting data</a:t>
                      </a:r>
                    </a:p>
                  </a:txBody>
                  <a:tcPr marL="36152" marR="36152" marT="36152" marB="3615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213064839"/>
                  </a:ext>
                </a:extLst>
              </a:tr>
            </a:tbl>
          </a:graphicData>
        </a:graphic>
      </p:graphicFrame>
    </p:spTree>
    <p:extLst>
      <p:ext uri="{BB962C8B-B14F-4D97-AF65-F5344CB8AC3E}">
        <p14:creationId xmlns:p14="http://schemas.microsoft.com/office/powerpoint/2010/main" val="4238044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F8F1E-529D-48F9-C0A8-E4F1252FB4B4}"/>
              </a:ext>
            </a:extLst>
          </p:cNvPr>
          <p:cNvSpPr>
            <a:spLocks noGrp="1"/>
          </p:cNvSpPr>
          <p:nvPr>
            <p:ph type="title"/>
          </p:nvPr>
        </p:nvSpPr>
        <p:spPr/>
        <p:txBody>
          <a:bodyPr>
            <a:normAutofit fontScale="90000"/>
          </a:bodyPr>
          <a:lstStyle/>
          <a:p>
            <a:r>
              <a:rPr lang="en-US" b="1" dirty="0"/>
              <a:t>How to write good forensic reports</a:t>
            </a:r>
            <a:endParaRPr lang="en-IN" dirty="0"/>
          </a:p>
        </p:txBody>
      </p:sp>
      <p:sp>
        <p:nvSpPr>
          <p:cNvPr id="3" name="Content Placeholder 2">
            <a:extLst>
              <a:ext uri="{FF2B5EF4-FFF2-40B4-BE49-F238E27FC236}">
                <a16:creationId xmlns:a16="http://schemas.microsoft.com/office/drawing/2014/main" id="{B5504622-3C0E-6698-5DF4-DEB1DF9FB9E9}"/>
              </a:ext>
            </a:extLst>
          </p:cNvPr>
          <p:cNvSpPr>
            <a:spLocks noGrp="1"/>
          </p:cNvSpPr>
          <p:nvPr>
            <p:ph sz="quarter" idx="13"/>
          </p:nvPr>
        </p:nvSpPr>
        <p:spPr>
          <a:xfrm>
            <a:off x="687976" y="1931541"/>
            <a:ext cx="10394707" cy="3648527"/>
          </a:xfrm>
        </p:spPr>
        <p:txBody>
          <a:bodyPr>
            <a:normAutofit fontScale="92500" lnSpcReduction="20000"/>
          </a:bodyPr>
          <a:lstStyle/>
          <a:p>
            <a:pPr marL="0" indent="0">
              <a:buNone/>
            </a:pPr>
            <a:r>
              <a:rPr lang="en-US" b="1" dirty="0"/>
              <a:t>Keep it clear and brief</a:t>
            </a:r>
          </a:p>
          <a:p>
            <a:pPr marL="0" indent="0">
              <a:buNone/>
            </a:pPr>
            <a:r>
              <a:rPr lang="en-US" dirty="0"/>
              <a:t>     report should be easy to understand and to the point. Here's how:</a:t>
            </a:r>
          </a:p>
          <a:p>
            <a:r>
              <a:rPr lang="en-US" dirty="0"/>
              <a:t>Use plain language</a:t>
            </a:r>
          </a:p>
          <a:p>
            <a:r>
              <a:rPr lang="en-US" dirty="0"/>
              <a:t>Summarize findings quickly</a:t>
            </a:r>
          </a:p>
          <a:p>
            <a:r>
              <a:rPr lang="en-US" dirty="0"/>
              <a:t>Stick to what matters</a:t>
            </a:r>
          </a:p>
          <a:p>
            <a:r>
              <a:rPr lang="en-US" dirty="0"/>
              <a:t>For example, when talking about getting digital evidence, say:</a:t>
            </a:r>
          </a:p>
          <a:p>
            <a:r>
              <a:rPr lang="en-US" dirty="0"/>
              <a:t>"We got a search warrant for the suspect's laptop on March 15, 2023. We used EnCase v8.07 to make an exact copy of the hard drive."</a:t>
            </a:r>
          </a:p>
          <a:p>
            <a:r>
              <a:rPr lang="en-US" dirty="0"/>
              <a:t>Simple, right? It gives the important details without rambling</a:t>
            </a:r>
          </a:p>
          <a:p>
            <a:endParaRPr lang="en-IN" dirty="0"/>
          </a:p>
        </p:txBody>
      </p:sp>
    </p:spTree>
    <p:extLst>
      <p:ext uri="{BB962C8B-B14F-4D97-AF65-F5344CB8AC3E}">
        <p14:creationId xmlns:p14="http://schemas.microsoft.com/office/powerpoint/2010/main" val="4165799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6FC8B-B139-7417-A462-D0EAC183D3EE}"/>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AC1BBE24-43E4-D791-EFEE-7C211F0E545F}"/>
              </a:ext>
            </a:extLst>
          </p:cNvPr>
          <p:cNvSpPr>
            <a:spLocks noGrp="1"/>
          </p:cNvSpPr>
          <p:nvPr>
            <p:ph sz="quarter" idx="13"/>
          </p:nvPr>
        </p:nvSpPr>
        <p:spPr>
          <a:xfrm>
            <a:off x="685800" y="523982"/>
            <a:ext cx="10394707" cy="4850603"/>
          </a:xfrm>
        </p:spPr>
        <p:txBody>
          <a:bodyPr>
            <a:normAutofit/>
          </a:bodyPr>
          <a:lstStyle/>
          <a:p>
            <a:pPr marL="0" indent="0">
              <a:buNone/>
            </a:pPr>
            <a:r>
              <a:rPr lang="en-US" b="1" dirty="0"/>
              <a:t>Stay neutral and fair</a:t>
            </a:r>
          </a:p>
          <a:p>
            <a:pPr marL="0" indent="0">
              <a:buNone/>
            </a:pPr>
            <a:r>
              <a:rPr lang="en-US" dirty="0"/>
              <a:t>  Just the facts, report needs to be objective:</a:t>
            </a:r>
          </a:p>
          <a:p>
            <a:r>
              <a:rPr lang="en-US" dirty="0"/>
              <a:t>Present facts, not opinions</a:t>
            </a:r>
          </a:p>
          <a:p>
            <a:r>
              <a:rPr lang="en-US" dirty="0"/>
              <a:t>Use passive voice when it makes sense</a:t>
            </a:r>
          </a:p>
          <a:p>
            <a:r>
              <a:rPr lang="en-US" dirty="0"/>
              <a:t>Keep emotions out of it</a:t>
            </a:r>
          </a:p>
          <a:p>
            <a:pPr marL="0" indent="0">
              <a:buNone/>
            </a:pPr>
            <a:r>
              <a:rPr lang="en-US" dirty="0"/>
              <a:t>Here's a good example from a digital forensics report:</a:t>
            </a:r>
          </a:p>
          <a:p>
            <a:r>
              <a:rPr lang="en-US" dirty="0"/>
              <a:t>"We found 47 emails in the suspect's account with keywords linked to the fraud scheme. This might be connected to the case, but it doesn't prove they did it.“</a:t>
            </a:r>
          </a:p>
          <a:p>
            <a:pPr marL="0" indent="0">
              <a:buNone/>
            </a:pPr>
            <a:r>
              <a:rPr lang="en-US" dirty="0"/>
              <a:t>See? It states what was found without jumping to conclusions.</a:t>
            </a:r>
            <a:endParaRPr lang="en-IN" dirty="0"/>
          </a:p>
        </p:txBody>
      </p:sp>
    </p:spTree>
    <p:extLst>
      <p:ext uri="{BB962C8B-B14F-4D97-AF65-F5344CB8AC3E}">
        <p14:creationId xmlns:p14="http://schemas.microsoft.com/office/powerpoint/2010/main" val="2063958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752D6-345C-0284-AD6A-98850A8C1F44}"/>
              </a:ext>
            </a:extLst>
          </p:cNvPr>
          <p:cNvSpPr>
            <a:spLocks noGrp="1"/>
          </p:cNvSpPr>
          <p:nvPr>
            <p:ph type="title"/>
          </p:nvPr>
        </p:nvSpPr>
        <p:spPr>
          <a:xfrm>
            <a:off x="897559" y="0"/>
            <a:ext cx="10396882" cy="1151965"/>
          </a:xfrm>
        </p:spPr>
        <p:txBody>
          <a:bodyPr>
            <a:normAutofit/>
          </a:bodyPr>
          <a:lstStyle/>
          <a:p>
            <a:r>
              <a:rPr lang="en-IN" b="1" dirty="0"/>
              <a:t>Organize your report well</a:t>
            </a:r>
            <a:endParaRPr lang="en-IN" dirty="0"/>
          </a:p>
        </p:txBody>
      </p:sp>
      <p:sp>
        <p:nvSpPr>
          <p:cNvPr id="3" name="Content Placeholder 2">
            <a:extLst>
              <a:ext uri="{FF2B5EF4-FFF2-40B4-BE49-F238E27FC236}">
                <a16:creationId xmlns:a16="http://schemas.microsoft.com/office/drawing/2014/main" id="{93C1951E-7E21-5AB4-2C68-EE117F86F349}"/>
              </a:ext>
            </a:extLst>
          </p:cNvPr>
          <p:cNvSpPr>
            <a:spLocks noGrp="1"/>
          </p:cNvSpPr>
          <p:nvPr>
            <p:ph sz="quarter" idx="13"/>
          </p:nvPr>
        </p:nvSpPr>
        <p:spPr>
          <a:xfrm>
            <a:off x="685800" y="842482"/>
            <a:ext cx="10394707" cy="4532104"/>
          </a:xfrm>
        </p:spPr>
        <p:txBody>
          <a:bodyPr>
            <a:normAutofit/>
          </a:bodyPr>
          <a:lstStyle/>
          <a:p>
            <a:r>
              <a:rPr lang="en-US" dirty="0"/>
              <a:t>1. </a:t>
            </a:r>
            <a:r>
              <a:rPr lang="en-US" b="1" dirty="0"/>
              <a:t>Title and case identifier: </a:t>
            </a:r>
            <a:r>
              <a:rPr lang="en-US" dirty="0"/>
              <a:t>Put the report title, case number, and date here.</a:t>
            </a:r>
          </a:p>
          <a:p>
            <a:r>
              <a:rPr lang="en-US" dirty="0"/>
              <a:t>2. </a:t>
            </a:r>
            <a:r>
              <a:rPr lang="en-US" b="1" dirty="0"/>
              <a:t>Executive summary: </a:t>
            </a:r>
            <a:r>
              <a:rPr lang="en-US" dirty="0"/>
              <a:t>Quick overview of main findings and recommendations.</a:t>
            </a:r>
          </a:p>
          <a:p>
            <a:r>
              <a:rPr lang="en-US" dirty="0"/>
              <a:t>3. </a:t>
            </a:r>
            <a:r>
              <a:rPr lang="en-US" b="1" dirty="0"/>
              <a:t>Methodology: </a:t>
            </a:r>
            <a:r>
              <a:rPr lang="en-US" dirty="0"/>
              <a:t>How you did the investigation and what tools you used.</a:t>
            </a:r>
          </a:p>
          <a:p>
            <a:r>
              <a:rPr lang="en-US" dirty="0"/>
              <a:t>4. </a:t>
            </a:r>
            <a:r>
              <a:rPr lang="en-US" b="1" dirty="0"/>
              <a:t>Findings and analysis: </a:t>
            </a:r>
            <a:r>
              <a:rPr lang="en-US" dirty="0"/>
              <a:t>What you found, in a logical order.</a:t>
            </a:r>
          </a:p>
          <a:p>
            <a:r>
              <a:rPr lang="en-US" dirty="0"/>
              <a:t>5. </a:t>
            </a:r>
            <a:r>
              <a:rPr lang="en-US" b="1" dirty="0"/>
              <a:t>Conclusion: </a:t>
            </a:r>
            <a:r>
              <a:rPr lang="en-US" dirty="0"/>
              <a:t>Wrap up the main points. No new info here.</a:t>
            </a:r>
          </a:p>
          <a:p>
            <a:r>
              <a:rPr lang="en-US" dirty="0"/>
              <a:t>6. </a:t>
            </a:r>
            <a:r>
              <a:rPr lang="en-US" b="1" dirty="0"/>
              <a:t>Appendices: </a:t>
            </a:r>
            <a:r>
              <a:rPr lang="en-US" dirty="0"/>
              <a:t>Extra data and technical details go here.</a:t>
            </a:r>
          </a:p>
          <a:p>
            <a:r>
              <a:rPr lang="en-US" dirty="0"/>
              <a:t>Tables can help organize complex info. Like this:</a:t>
            </a:r>
          </a:p>
          <a:p>
            <a:endParaRPr lang="en-IN" sz="900" dirty="0"/>
          </a:p>
        </p:txBody>
      </p:sp>
      <p:graphicFrame>
        <p:nvGraphicFramePr>
          <p:cNvPr id="4" name="Table 3">
            <a:extLst>
              <a:ext uri="{FF2B5EF4-FFF2-40B4-BE49-F238E27FC236}">
                <a16:creationId xmlns:a16="http://schemas.microsoft.com/office/drawing/2014/main" id="{93442672-B0E6-AFB4-F368-CCD9AF10D078}"/>
              </a:ext>
            </a:extLst>
          </p:cNvPr>
          <p:cNvGraphicFramePr>
            <a:graphicFrameLocks noGrp="1"/>
          </p:cNvGraphicFramePr>
          <p:nvPr>
            <p:extLst>
              <p:ext uri="{D42A27DB-BD31-4B8C-83A1-F6EECF244321}">
                <p14:modId xmlns:p14="http://schemas.microsoft.com/office/powerpoint/2010/main" val="2820164958"/>
              </p:ext>
            </p:extLst>
          </p:nvPr>
        </p:nvGraphicFramePr>
        <p:xfrm>
          <a:off x="7869765" y="2773626"/>
          <a:ext cx="3636435" cy="2600960"/>
        </p:xfrm>
        <a:graphic>
          <a:graphicData uri="http://schemas.openxmlformats.org/drawingml/2006/table">
            <a:tbl>
              <a:tblPr/>
              <a:tblGrid>
                <a:gridCol w="1212145">
                  <a:extLst>
                    <a:ext uri="{9D8B030D-6E8A-4147-A177-3AD203B41FA5}">
                      <a16:colId xmlns:a16="http://schemas.microsoft.com/office/drawing/2014/main" val="1092305507"/>
                    </a:ext>
                  </a:extLst>
                </a:gridCol>
                <a:gridCol w="1212145">
                  <a:extLst>
                    <a:ext uri="{9D8B030D-6E8A-4147-A177-3AD203B41FA5}">
                      <a16:colId xmlns:a16="http://schemas.microsoft.com/office/drawing/2014/main" val="860919265"/>
                    </a:ext>
                  </a:extLst>
                </a:gridCol>
                <a:gridCol w="1212145">
                  <a:extLst>
                    <a:ext uri="{9D8B030D-6E8A-4147-A177-3AD203B41FA5}">
                      <a16:colId xmlns:a16="http://schemas.microsoft.com/office/drawing/2014/main" val="1932154691"/>
                    </a:ext>
                  </a:extLst>
                </a:gridCol>
              </a:tblGrid>
              <a:tr h="0">
                <a:tc>
                  <a:txBody>
                    <a:bodyPr/>
                    <a:lstStyle/>
                    <a:p>
                      <a:pPr algn="l">
                        <a:buNone/>
                      </a:pPr>
                      <a:r>
                        <a:rPr lang="en-IN">
                          <a:solidFill>
                            <a:srgbClr val="202020"/>
                          </a:solidFill>
                          <a:effectLst/>
                        </a:rPr>
                        <a:t>Evidence Type</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tc>
                  <a:txBody>
                    <a:bodyPr/>
                    <a:lstStyle/>
                    <a:p>
                      <a:pPr algn="l">
                        <a:buNone/>
                      </a:pPr>
                      <a:r>
                        <a:rPr lang="en-IN">
                          <a:solidFill>
                            <a:srgbClr val="202020"/>
                          </a:solidFill>
                          <a:effectLst/>
                        </a:rPr>
                        <a:t>Collection Method</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tc>
                  <a:txBody>
                    <a:bodyPr/>
                    <a:lstStyle/>
                    <a:p>
                      <a:pPr algn="l">
                        <a:buNone/>
                      </a:pPr>
                      <a:r>
                        <a:rPr lang="en-IN">
                          <a:solidFill>
                            <a:srgbClr val="202020"/>
                          </a:solidFill>
                          <a:effectLst/>
                        </a:rPr>
                        <a:t>Analysis Tool</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extLst>
                  <a:ext uri="{0D108BD9-81ED-4DB2-BD59-A6C34878D82A}">
                    <a16:rowId xmlns:a16="http://schemas.microsoft.com/office/drawing/2014/main" val="2345600264"/>
                  </a:ext>
                </a:extLst>
              </a:tr>
              <a:tr h="0">
                <a:tc>
                  <a:txBody>
                    <a:bodyPr/>
                    <a:lstStyle/>
                    <a:p>
                      <a:pPr algn="l">
                        <a:buNone/>
                      </a:pPr>
                      <a:r>
                        <a:rPr lang="en-IN">
                          <a:solidFill>
                            <a:srgbClr val="202020"/>
                          </a:solidFill>
                          <a:effectLst/>
                        </a:rPr>
                        <a:t>Hard Drive</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l">
                        <a:buNone/>
                      </a:pPr>
                      <a:r>
                        <a:rPr lang="en-IN">
                          <a:solidFill>
                            <a:srgbClr val="202020"/>
                          </a:solidFill>
                          <a:effectLst/>
                        </a:rPr>
                        <a:t>Forensic Imaging</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l">
                        <a:buNone/>
                      </a:pPr>
                      <a:r>
                        <a:rPr lang="en-IN">
                          <a:solidFill>
                            <a:srgbClr val="202020"/>
                          </a:solidFill>
                          <a:effectLst/>
                        </a:rPr>
                        <a:t>EnCase v8.07</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317450334"/>
                  </a:ext>
                </a:extLst>
              </a:tr>
              <a:tr h="0">
                <a:tc>
                  <a:txBody>
                    <a:bodyPr/>
                    <a:lstStyle/>
                    <a:p>
                      <a:pPr algn="l">
                        <a:buNone/>
                      </a:pPr>
                      <a:r>
                        <a:rPr lang="en-IN">
                          <a:solidFill>
                            <a:srgbClr val="202020"/>
                          </a:solidFill>
                          <a:effectLst/>
                        </a:rPr>
                        <a:t>Network Logs</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l">
                        <a:buNone/>
                      </a:pPr>
                      <a:r>
                        <a:rPr lang="en-IN" dirty="0">
                          <a:solidFill>
                            <a:srgbClr val="202020"/>
                          </a:solidFill>
                          <a:effectLst/>
                        </a:rPr>
                        <a:t>Server Export</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l">
                        <a:buNone/>
                      </a:pPr>
                      <a:r>
                        <a:rPr lang="en-IN" u="none" dirty="0">
                          <a:solidFill>
                            <a:srgbClr val="333333"/>
                          </a:solidFill>
                          <a:effectLst/>
                        </a:rPr>
                        <a:t>Wireshark</a:t>
                      </a:r>
                      <a:endParaRPr lang="en-IN" u="none" dirty="0">
                        <a:solidFill>
                          <a:srgbClr val="202020"/>
                        </a:solidFill>
                        <a:effectLst/>
                      </a:endParaRP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extLst>
                  <a:ext uri="{0D108BD9-81ED-4DB2-BD59-A6C34878D82A}">
                    <a16:rowId xmlns:a16="http://schemas.microsoft.com/office/drawing/2014/main" val="716718091"/>
                  </a:ext>
                </a:extLst>
              </a:tr>
              <a:tr h="0">
                <a:tc>
                  <a:txBody>
                    <a:bodyPr/>
                    <a:lstStyle/>
                    <a:p>
                      <a:pPr algn="l">
                        <a:buNone/>
                      </a:pPr>
                      <a:r>
                        <a:rPr lang="en-IN">
                          <a:solidFill>
                            <a:srgbClr val="202020"/>
                          </a:solidFill>
                          <a:effectLst/>
                        </a:rPr>
                        <a:t>Mobile Device</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l">
                        <a:buNone/>
                      </a:pPr>
                      <a:r>
                        <a:rPr lang="en-IN">
                          <a:solidFill>
                            <a:srgbClr val="202020"/>
                          </a:solidFill>
                          <a:effectLst/>
                        </a:rPr>
                        <a:t>Logical Extraction</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l">
                        <a:buNone/>
                      </a:pPr>
                      <a:r>
                        <a:rPr lang="en-IN" dirty="0">
                          <a:solidFill>
                            <a:srgbClr val="202020"/>
                          </a:solidFill>
                          <a:effectLst/>
                        </a:rPr>
                        <a:t>Cellebrite</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456738294"/>
                  </a:ext>
                </a:extLst>
              </a:tr>
            </a:tbl>
          </a:graphicData>
        </a:graphic>
      </p:graphicFrame>
      <p:sp>
        <p:nvSpPr>
          <p:cNvPr id="6" name="TextBox 5">
            <a:extLst>
              <a:ext uri="{FF2B5EF4-FFF2-40B4-BE49-F238E27FC236}">
                <a16:creationId xmlns:a16="http://schemas.microsoft.com/office/drawing/2014/main" id="{EA5EEDF5-C65F-38D5-F5D8-7D08632EB031}"/>
              </a:ext>
            </a:extLst>
          </p:cNvPr>
          <p:cNvSpPr txBox="1"/>
          <p:nvPr/>
        </p:nvSpPr>
        <p:spPr>
          <a:xfrm>
            <a:off x="685800" y="4764450"/>
            <a:ext cx="7760625" cy="369332"/>
          </a:xfrm>
          <a:prstGeom prst="rect">
            <a:avLst/>
          </a:prstGeom>
          <a:noFill/>
        </p:spPr>
        <p:txBody>
          <a:bodyPr wrap="square">
            <a:spAutoFit/>
          </a:bodyPr>
          <a:lstStyle/>
          <a:p>
            <a:r>
              <a:rPr lang="en-US" b="0" i="0" dirty="0">
                <a:solidFill>
                  <a:srgbClr val="626262"/>
                </a:solidFill>
                <a:effectLst/>
                <a:latin typeface="Libre Franklin" pitchFamily="2" charset="0"/>
              </a:rPr>
              <a:t>This table quickly shows how evidence was handled. Easy to read</a:t>
            </a:r>
            <a:endParaRPr lang="en-IN" dirty="0"/>
          </a:p>
        </p:txBody>
      </p:sp>
    </p:spTree>
    <p:extLst>
      <p:ext uri="{BB962C8B-B14F-4D97-AF65-F5344CB8AC3E}">
        <p14:creationId xmlns:p14="http://schemas.microsoft.com/office/powerpoint/2010/main" val="805428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9C718-B6F9-D4AC-C74C-929A344D4C63}"/>
              </a:ext>
            </a:extLst>
          </p:cNvPr>
          <p:cNvSpPr>
            <a:spLocks noGrp="1"/>
          </p:cNvSpPr>
          <p:nvPr>
            <p:ph type="title"/>
          </p:nvPr>
        </p:nvSpPr>
        <p:spPr/>
        <p:txBody>
          <a:bodyPr>
            <a:normAutofit/>
          </a:bodyPr>
          <a:lstStyle/>
          <a:p>
            <a:r>
              <a:rPr lang="en-US" b="1" dirty="0"/>
              <a:t>Key parts of a forensic report</a:t>
            </a:r>
            <a:endParaRPr lang="en-IN" dirty="0"/>
          </a:p>
        </p:txBody>
      </p:sp>
      <p:sp>
        <p:nvSpPr>
          <p:cNvPr id="3" name="Content Placeholder 2">
            <a:extLst>
              <a:ext uri="{FF2B5EF4-FFF2-40B4-BE49-F238E27FC236}">
                <a16:creationId xmlns:a16="http://schemas.microsoft.com/office/drawing/2014/main" id="{2D1D39BF-D632-8477-351C-1C739529F37A}"/>
              </a:ext>
            </a:extLst>
          </p:cNvPr>
          <p:cNvSpPr>
            <a:spLocks noGrp="1"/>
          </p:cNvSpPr>
          <p:nvPr>
            <p:ph sz="quarter" idx="13"/>
          </p:nvPr>
        </p:nvSpPr>
        <p:spPr>
          <a:xfrm>
            <a:off x="685800" y="1530850"/>
            <a:ext cx="10394707" cy="3843736"/>
          </a:xfrm>
        </p:spPr>
        <p:txBody>
          <a:bodyPr>
            <a:normAutofit fontScale="92500"/>
          </a:bodyPr>
          <a:lstStyle/>
          <a:p>
            <a:pPr marL="0" indent="0">
              <a:buNone/>
            </a:pPr>
            <a:r>
              <a:rPr lang="en-US" sz="2800" b="1" dirty="0"/>
              <a:t>Report summary</a:t>
            </a:r>
          </a:p>
          <a:p>
            <a:r>
              <a:rPr lang="en-US" sz="2800" dirty="0"/>
              <a:t>This is your quick overview. It tells readers what the investigation was about and what you found. Keep it short but meaty.</a:t>
            </a:r>
          </a:p>
          <a:p>
            <a:r>
              <a:rPr lang="en-US" sz="2800" dirty="0"/>
              <a:t>Here's an example:</a:t>
            </a:r>
          </a:p>
          <a:p>
            <a:pPr marL="0" indent="0">
              <a:buNone/>
            </a:pPr>
            <a:r>
              <a:rPr lang="en-US" sz="2800" dirty="0"/>
              <a:t>"We looked into a possible data breach at XYZ Corp. We found someone got into customer databases from March 1-15, 2023. This might have exposed 50,000 user records."</a:t>
            </a:r>
            <a:endParaRPr lang="en-IN" sz="2800" dirty="0"/>
          </a:p>
        </p:txBody>
      </p:sp>
    </p:spTree>
    <p:extLst>
      <p:ext uri="{BB962C8B-B14F-4D97-AF65-F5344CB8AC3E}">
        <p14:creationId xmlns:p14="http://schemas.microsoft.com/office/powerpoint/2010/main" val="707255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A4BDE-B450-052D-DFFC-709C61EC9FC4}"/>
              </a:ext>
            </a:extLst>
          </p:cNvPr>
          <p:cNvSpPr>
            <a:spLocks noGrp="1"/>
          </p:cNvSpPr>
          <p:nvPr>
            <p:ph type="title"/>
          </p:nvPr>
        </p:nvSpPr>
        <p:spPr/>
        <p:txBody>
          <a:bodyPr>
            <a:normAutofit/>
          </a:bodyPr>
          <a:lstStyle/>
          <a:p>
            <a:r>
              <a:rPr lang="en-US" b="1" dirty="0"/>
              <a:t>How the work was done</a:t>
            </a:r>
            <a:endParaRPr lang="en-IN" dirty="0"/>
          </a:p>
        </p:txBody>
      </p:sp>
      <p:sp>
        <p:nvSpPr>
          <p:cNvPr id="3" name="Content Placeholder 2">
            <a:extLst>
              <a:ext uri="{FF2B5EF4-FFF2-40B4-BE49-F238E27FC236}">
                <a16:creationId xmlns:a16="http://schemas.microsoft.com/office/drawing/2014/main" id="{2B77B4DF-259A-106D-2BFC-5826E64AA4D0}"/>
              </a:ext>
            </a:extLst>
          </p:cNvPr>
          <p:cNvSpPr>
            <a:spLocks noGrp="1"/>
          </p:cNvSpPr>
          <p:nvPr>
            <p:ph sz="quarter" idx="13"/>
          </p:nvPr>
        </p:nvSpPr>
        <p:spPr/>
        <p:txBody>
          <a:bodyPr/>
          <a:lstStyle/>
          <a:p>
            <a:pPr marL="0" indent="0">
              <a:buNone/>
            </a:pPr>
            <a:r>
              <a:rPr lang="en-US" dirty="0"/>
              <a:t>Here, you spell out your process. It's all about being clear and showing your work.</a:t>
            </a:r>
          </a:p>
          <a:p>
            <a:pPr marL="0" indent="0">
              <a:buNone/>
            </a:pPr>
            <a:r>
              <a:rPr lang="en-US" dirty="0"/>
              <a:t> You might include:</a:t>
            </a:r>
          </a:p>
          <a:p>
            <a:r>
              <a:rPr lang="en-US" dirty="0"/>
              <a:t>How you collected data</a:t>
            </a:r>
          </a:p>
          <a:p>
            <a:r>
              <a:rPr lang="en-US" dirty="0"/>
              <a:t>How you analyzed it</a:t>
            </a:r>
          </a:p>
          <a:p>
            <a:r>
              <a:rPr lang="en-US" dirty="0"/>
              <a:t>What tools you used</a:t>
            </a:r>
          </a:p>
          <a:p>
            <a:r>
              <a:rPr lang="en-US" dirty="0"/>
              <a:t>For example:</a:t>
            </a:r>
          </a:p>
          <a:p>
            <a:endParaRPr lang="en-IN" dirty="0"/>
          </a:p>
        </p:txBody>
      </p:sp>
      <p:graphicFrame>
        <p:nvGraphicFramePr>
          <p:cNvPr id="4" name="Table 3">
            <a:extLst>
              <a:ext uri="{FF2B5EF4-FFF2-40B4-BE49-F238E27FC236}">
                <a16:creationId xmlns:a16="http://schemas.microsoft.com/office/drawing/2014/main" id="{CC3EA1CF-A17B-8A21-D5E8-BAE1811667A6}"/>
              </a:ext>
            </a:extLst>
          </p:cNvPr>
          <p:cNvGraphicFramePr>
            <a:graphicFrameLocks noGrp="1"/>
          </p:cNvGraphicFramePr>
          <p:nvPr>
            <p:extLst>
              <p:ext uri="{D42A27DB-BD31-4B8C-83A1-F6EECF244321}">
                <p14:modId xmlns:p14="http://schemas.microsoft.com/office/powerpoint/2010/main" val="3584801384"/>
              </p:ext>
            </p:extLst>
          </p:nvPr>
        </p:nvGraphicFramePr>
        <p:xfrm>
          <a:off x="4065851" y="2556192"/>
          <a:ext cx="6783660" cy="2519243"/>
        </p:xfrm>
        <a:graphic>
          <a:graphicData uri="http://schemas.openxmlformats.org/drawingml/2006/table">
            <a:tbl>
              <a:tblPr/>
              <a:tblGrid>
                <a:gridCol w="2261220">
                  <a:extLst>
                    <a:ext uri="{9D8B030D-6E8A-4147-A177-3AD203B41FA5}">
                      <a16:colId xmlns:a16="http://schemas.microsoft.com/office/drawing/2014/main" val="496303337"/>
                    </a:ext>
                  </a:extLst>
                </a:gridCol>
                <a:gridCol w="2261220">
                  <a:extLst>
                    <a:ext uri="{9D8B030D-6E8A-4147-A177-3AD203B41FA5}">
                      <a16:colId xmlns:a16="http://schemas.microsoft.com/office/drawing/2014/main" val="3886062998"/>
                    </a:ext>
                  </a:extLst>
                </a:gridCol>
                <a:gridCol w="2261220">
                  <a:extLst>
                    <a:ext uri="{9D8B030D-6E8A-4147-A177-3AD203B41FA5}">
                      <a16:colId xmlns:a16="http://schemas.microsoft.com/office/drawing/2014/main" val="670855974"/>
                    </a:ext>
                  </a:extLst>
                </a:gridCol>
              </a:tblGrid>
              <a:tr h="407039">
                <a:tc>
                  <a:txBody>
                    <a:bodyPr/>
                    <a:lstStyle/>
                    <a:p>
                      <a:pPr algn="l">
                        <a:buNone/>
                      </a:pPr>
                      <a:r>
                        <a:rPr lang="en-IN">
                          <a:solidFill>
                            <a:srgbClr val="202020"/>
                          </a:solidFill>
                          <a:effectLst/>
                        </a:rPr>
                        <a:t>Step</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tc>
                  <a:txBody>
                    <a:bodyPr/>
                    <a:lstStyle/>
                    <a:p>
                      <a:pPr algn="l">
                        <a:buNone/>
                      </a:pPr>
                      <a:r>
                        <a:rPr lang="en-IN">
                          <a:solidFill>
                            <a:srgbClr val="202020"/>
                          </a:solidFill>
                          <a:effectLst/>
                        </a:rPr>
                        <a:t>Method</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tc>
                  <a:txBody>
                    <a:bodyPr/>
                    <a:lstStyle/>
                    <a:p>
                      <a:pPr algn="l">
                        <a:buNone/>
                      </a:pPr>
                      <a:r>
                        <a:rPr lang="en-IN">
                          <a:solidFill>
                            <a:srgbClr val="202020"/>
                          </a:solidFill>
                          <a:effectLst/>
                        </a:rPr>
                        <a:t>Tool</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extLst>
                  <a:ext uri="{0D108BD9-81ED-4DB2-BD59-A6C34878D82A}">
                    <a16:rowId xmlns:a16="http://schemas.microsoft.com/office/drawing/2014/main" val="1879003517"/>
                  </a:ext>
                </a:extLst>
              </a:tr>
              <a:tr h="704068">
                <a:tc>
                  <a:txBody>
                    <a:bodyPr/>
                    <a:lstStyle/>
                    <a:p>
                      <a:pPr algn="l">
                        <a:buNone/>
                      </a:pPr>
                      <a:r>
                        <a:rPr lang="en-IN">
                          <a:solidFill>
                            <a:srgbClr val="202020"/>
                          </a:solidFill>
                          <a:effectLst/>
                        </a:rPr>
                        <a:t>Data Collection</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l">
                        <a:buNone/>
                      </a:pPr>
                      <a:r>
                        <a:rPr lang="en-IN">
                          <a:solidFill>
                            <a:srgbClr val="202020"/>
                          </a:solidFill>
                          <a:effectLst/>
                        </a:rPr>
                        <a:t>Disk imaging</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l">
                        <a:buNone/>
                      </a:pPr>
                      <a:r>
                        <a:rPr lang="en-IN">
                          <a:solidFill>
                            <a:srgbClr val="202020"/>
                          </a:solidFill>
                          <a:effectLst/>
                        </a:rPr>
                        <a:t>EnCase v8.07</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2776559294"/>
                  </a:ext>
                </a:extLst>
              </a:tr>
              <a:tr h="704068">
                <a:tc>
                  <a:txBody>
                    <a:bodyPr/>
                    <a:lstStyle/>
                    <a:p>
                      <a:pPr algn="l">
                        <a:buNone/>
                      </a:pPr>
                      <a:r>
                        <a:rPr lang="en-IN">
                          <a:solidFill>
                            <a:srgbClr val="202020"/>
                          </a:solidFill>
                          <a:effectLst/>
                        </a:rPr>
                        <a:t>Network Analysis</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l">
                        <a:buNone/>
                      </a:pPr>
                      <a:r>
                        <a:rPr lang="en-IN" dirty="0">
                          <a:solidFill>
                            <a:srgbClr val="202020"/>
                          </a:solidFill>
                          <a:effectLst/>
                        </a:rPr>
                        <a:t>Traffic capture</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l">
                        <a:buNone/>
                      </a:pPr>
                      <a:r>
                        <a:rPr lang="en-IN">
                          <a:solidFill>
                            <a:srgbClr val="202020"/>
                          </a:solidFill>
                          <a:effectLst/>
                        </a:rPr>
                        <a:t>Wireshark</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extLst>
                  <a:ext uri="{0D108BD9-81ED-4DB2-BD59-A6C34878D82A}">
                    <a16:rowId xmlns:a16="http://schemas.microsoft.com/office/drawing/2014/main" val="790857393"/>
                  </a:ext>
                </a:extLst>
              </a:tr>
              <a:tr h="704068">
                <a:tc>
                  <a:txBody>
                    <a:bodyPr/>
                    <a:lstStyle/>
                    <a:p>
                      <a:pPr algn="l">
                        <a:buNone/>
                      </a:pPr>
                      <a:r>
                        <a:rPr lang="en-IN">
                          <a:solidFill>
                            <a:srgbClr val="202020"/>
                          </a:solidFill>
                          <a:effectLst/>
                        </a:rPr>
                        <a:t>Memory Analysis</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l">
                        <a:buNone/>
                      </a:pPr>
                      <a:r>
                        <a:rPr lang="en-IN">
                          <a:solidFill>
                            <a:srgbClr val="202020"/>
                          </a:solidFill>
                          <a:effectLst/>
                        </a:rPr>
                        <a:t>RAM extraction</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l">
                        <a:buNone/>
                      </a:pPr>
                      <a:r>
                        <a:rPr lang="en-IN" u="none" dirty="0">
                          <a:solidFill>
                            <a:srgbClr val="333333"/>
                          </a:solidFill>
                          <a:effectLst/>
                        </a:rPr>
                        <a:t>Volatility</a:t>
                      </a:r>
                      <a:endParaRPr lang="en-IN" u="none" dirty="0">
                        <a:solidFill>
                          <a:srgbClr val="202020"/>
                        </a:solidFill>
                        <a:effectLst/>
                      </a:endParaRP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2546899092"/>
                  </a:ext>
                </a:extLst>
              </a:tr>
            </a:tbl>
          </a:graphicData>
        </a:graphic>
      </p:graphicFrame>
    </p:spTree>
    <p:extLst>
      <p:ext uri="{BB962C8B-B14F-4D97-AF65-F5344CB8AC3E}">
        <p14:creationId xmlns:p14="http://schemas.microsoft.com/office/powerpoint/2010/main" val="1869157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89AF1-11F0-CE2E-0716-28E714FED9C6}"/>
              </a:ext>
            </a:extLst>
          </p:cNvPr>
          <p:cNvSpPr>
            <a:spLocks noGrp="1"/>
          </p:cNvSpPr>
          <p:nvPr>
            <p:ph type="title"/>
          </p:nvPr>
        </p:nvSpPr>
        <p:spPr>
          <a:xfrm>
            <a:off x="685800" y="593333"/>
            <a:ext cx="10396882" cy="1151965"/>
          </a:xfrm>
        </p:spPr>
        <p:txBody>
          <a:bodyPr>
            <a:normAutofit fontScale="90000"/>
          </a:bodyPr>
          <a:lstStyle/>
          <a:p>
            <a:r>
              <a:rPr lang="en-US" b="1" dirty="0"/>
              <a:t>What was found and what it means</a:t>
            </a:r>
            <a:endParaRPr lang="en-IN" dirty="0"/>
          </a:p>
        </p:txBody>
      </p:sp>
      <p:sp>
        <p:nvSpPr>
          <p:cNvPr id="3" name="Content Placeholder 2">
            <a:extLst>
              <a:ext uri="{FF2B5EF4-FFF2-40B4-BE49-F238E27FC236}">
                <a16:creationId xmlns:a16="http://schemas.microsoft.com/office/drawing/2014/main" id="{27160636-1BCA-1564-A3F7-F87A11721FCD}"/>
              </a:ext>
            </a:extLst>
          </p:cNvPr>
          <p:cNvSpPr>
            <a:spLocks noGrp="1"/>
          </p:cNvSpPr>
          <p:nvPr>
            <p:ph sz="quarter" idx="13"/>
          </p:nvPr>
        </p:nvSpPr>
        <p:spPr>
          <a:xfrm>
            <a:off x="685800" y="1489754"/>
            <a:ext cx="10394707" cy="3884832"/>
          </a:xfrm>
        </p:spPr>
        <p:txBody>
          <a:bodyPr>
            <a:normAutofit lnSpcReduction="10000"/>
          </a:bodyPr>
          <a:lstStyle/>
          <a:p>
            <a:pPr marL="0" indent="0">
              <a:buNone/>
            </a:pPr>
            <a:r>
              <a:rPr lang="en-US" sz="2400" dirty="0"/>
              <a:t>This is where you lay out your evidence and explain why it matters. Stick to the facts and avoid guessing.</a:t>
            </a:r>
          </a:p>
          <a:p>
            <a:pPr marL="0" indent="0">
              <a:buNone/>
            </a:pPr>
            <a:r>
              <a:rPr lang="en-US" sz="2400" dirty="0"/>
              <a:t> For instance:</a:t>
            </a:r>
          </a:p>
          <a:p>
            <a:r>
              <a:rPr lang="en-US" sz="2400" dirty="0"/>
              <a:t>"We found 47 emails in the suspect's account with words linked to the fraud scheme. This hints at a connection, but it's not solid proof of involvement.“</a:t>
            </a:r>
          </a:p>
          <a:p>
            <a:r>
              <a:rPr lang="en-US" sz="2400" dirty="0"/>
              <a:t>Organize your findings logically. Use visuals if they help. And explain tech terms for folks who aren't experts.</a:t>
            </a:r>
            <a:endParaRPr lang="en-IN" sz="2400" dirty="0"/>
          </a:p>
        </p:txBody>
      </p:sp>
    </p:spTree>
    <p:extLst>
      <p:ext uri="{BB962C8B-B14F-4D97-AF65-F5344CB8AC3E}">
        <p14:creationId xmlns:p14="http://schemas.microsoft.com/office/powerpoint/2010/main" val="535705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EBCFF-6104-5605-C204-252A5C389F0C}"/>
              </a:ext>
            </a:extLst>
          </p:cNvPr>
          <p:cNvSpPr>
            <a:spLocks noGrp="1"/>
          </p:cNvSpPr>
          <p:nvPr>
            <p:ph type="title"/>
          </p:nvPr>
        </p:nvSpPr>
        <p:spPr/>
        <p:txBody>
          <a:bodyPr>
            <a:normAutofit fontScale="90000"/>
          </a:bodyPr>
          <a:lstStyle/>
          <a:p>
            <a:r>
              <a:rPr lang="en-US" b="1" dirty="0"/>
              <a:t>Common mistakes in forensic reports</a:t>
            </a:r>
            <a:endParaRPr lang="en-IN" dirty="0"/>
          </a:p>
        </p:txBody>
      </p:sp>
      <p:sp>
        <p:nvSpPr>
          <p:cNvPr id="3" name="Content Placeholder 2">
            <a:extLst>
              <a:ext uri="{FF2B5EF4-FFF2-40B4-BE49-F238E27FC236}">
                <a16:creationId xmlns:a16="http://schemas.microsoft.com/office/drawing/2014/main" id="{14A81057-5CCE-48E5-54A5-9304ED1D993D}"/>
              </a:ext>
            </a:extLst>
          </p:cNvPr>
          <p:cNvSpPr>
            <a:spLocks noGrp="1"/>
          </p:cNvSpPr>
          <p:nvPr>
            <p:ph sz="quarter" idx="13"/>
          </p:nvPr>
        </p:nvSpPr>
        <p:spPr>
          <a:xfrm>
            <a:off x="685800" y="1633592"/>
            <a:ext cx="10394707" cy="3740994"/>
          </a:xfrm>
        </p:spPr>
        <p:txBody>
          <a:bodyPr/>
          <a:lstStyle/>
          <a:p>
            <a:pPr marL="0" indent="0">
              <a:buNone/>
            </a:pPr>
            <a:r>
              <a:rPr lang="en-US" dirty="0"/>
              <a:t>Forensic reports can make or break a case. But they're not immune to errors. Here are some common slip-ups and how to dodge them.</a:t>
            </a:r>
          </a:p>
          <a:p>
            <a:r>
              <a:rPr lang="en-US" b="1" dirty="0"/>
              <a:t>Avoiding personal opinions</a:t>
            </a:r>
          </a:p>
          <a:p>
            <a:r>
              <a:rPr lang="en-US" dirty="0"/>
              <a:t>Objectivity is key in forensic analysis. Personal views? They're a no-go.</a:t>
            </a:r>
          </a:p>
          <a:p>
            <a:r>
              <a:rPr lang="en-US" dirty="0"/>
              <a:t>Stick to the facts. Drop phrases like "I believe" or "In my opinion."</a:t>
            </a:r>
          </a:p>
          <a:p>
            <a:r>
              <a:rPr lang="en-US" dirty="0"/>
              <a:t>Instead of: "I think the suspect is guilty based on the evidence.“</a:t>
            </a:r>
            <a:r>
              <a:rPr lang="en-IN" dirty="0"/>
              <a:t>Try: </a:t>
            </a:r>
            <a:r>
              <a:rPr lang="en-US" dirty="0"/>
              <a:t>"Fingerprints and DNA samples link the suspect to the crime scene."</a:t>
            </a:r>
          </a:p>
          <a:p>
            <a:endParaRPr lang="en-IN" dirty="0"/>
          </a:p>
        </p:txBody>
      </p:sp>
    </p:spTree>
    <p:extLst>
      <p:ext uri="{BB962C8B-B14F-4D97-AF65-F5344CB8AC3E}">
        <p14:creationId xmlns:p14="http://schemas.microsoft.com/office/powerpoint/2010/main" val="3791618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90F05-CFA4-91E1-3C34-A84E44A827D0}"/>
              </a:ext>
            </a:extLst>
          </p:cNvPr>
          <p:cNvSpPr>
            <a:spLocks noGrp="1"/>
          </p:cNvSpPr>
          <p:nvPr>
            <p:ph type="title"/>
          </p:nvPr>
        </p:nvSpPr>
        <p:spPr/>
        <p:txBody>
          <a:bodyPr>
            <a:normAutofit/>
          </a:bodyPr>
          <a:lstStyle/>
          <a:p>
            <a:r>
              <a:rPr lang="en-IN" b="1" dirty="0"/>
              <a:t>Backing up all claims</a:t>
            </a:r>
            <a:endParaRPr lang="en-IN" dirty="0"/>
          </a:p>
        </p:txBody>
      </p:sp>
      <p:sp>
        <p:nvSpPr>
          <p:cNvPr id="3" name="Content Placeholder 2">
            <a:extLst>
              <a:ext uri="{FF2B5EF4-FFF2-40B4-BE49-F238E27FC236}">
                <a16:creationId xmlns:a16="http://schemas.microsoft.com/office/drawing/2014/main" id="{FA1F1A66-D242-FA99-9BE5-26D9DA99711D}"/>
              </a:ext>
            </a:extLst>
          </p:cNvPr>
          <p:cNvSpPr>
            <a:spLocks noGrp="1"/>
          </p:cNvSpPr>
          <p:nvPr>
            <p:ph sz="quarter" idx="13"/>
          </p:nvPr>
        </p:nvSpPr>
        <p:spPr/>
        <p:txBody>
          <a:bodyPr>
            <a:normAutofit fontScale="92500" lnSpcReduction="10000"/>
          </a:bodyPr>
          <a:lstStyle/>
          <a:p>
            <a:r>
              <a:rPr lang="en-US" dirty="0"/>
              <a:t>Every conclusion needs solid evidence. No proof? No claim.</a:t>
            </a:r>
          </a:p>
          <a:p>
            <a:r>
              <a:rPr lang="en-US" dirty="0"/>
              <a:t>Take the </a:t>
            </a:r>
            <a:r>
              <a:rPr lang="en-US" dirty="0">
                <a:solidFill>
                  <a:srgbClr val="FF0000"/>
                </a:solidFill>
              </a:rPr>
              <a:t>Amanda Knox </a:t>
            </a:r>
            <a:r>
              <a:rPr lang="en-US" dirty="0"/>
              <a:t>case. Experts found flaws in the forensic evidence. Why? Police didn't wear caps or change gloves during collection. Result? Cross-contamination and a weakened case.</a:t>
            </a:r>
          </a:p>
          <a:p>
            <a:pPr marL="0" indent="0">
              <a:buNone/>
            </a:pPr>
            <a:r>
              <a:rPr lang="en-US" dirty="0"/>
              <a:t>To avoid this:</a:t>
            </a:r>
          </a:p>
          <a:p>
            <a:r>
              <a:rPr lang="en-US" dirty="0"/>
              <a:t>State your methods clearly</a:t>
            </a:r>
          </a:p>
          <a:p>
            <a:r>
              <a:rPr lang="en-US" dirty="0"/>
              <a:t>Show how evidence supports your conclusions</a:t>
            </a:r>
          </a:p>
          <a:p>
            <a:r>
              <a:rPr lang="en-US" dirty="0"/>
              <a:t>Use data, charts, or images as backup</a:t>
            </a:r>
          </a:p>
          <a:p>
            <a:endParaRPr lang="en-IN" dirty="0"/>
          </a:p>
        </p:txBody>
      </p:sp>
    </p:spTree>
    <p:extLst>
      <p:ext uri="{BB962C8B-B14F-4D97-AF65-F5344CB8AC3E}">
        <p14:creationId xmlns:p14="http://schemas.microsoft.com/office/powerpoint/2010/main" val="2275086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A238A-E331-DE28-E629-144F2084A239}"/>
              </a:ext>
            </a:extLst>
          </p:cNvPr>
          <p:cNvSpPr>
            <a:spLocks noGrp="1"/>
          </p:cNvSpPr>
          <p:nvPr>
            <p:ph type="title"/>
          </p:nvPr>
        </p:nvSpPr>
        <p:spPr/>
        <p:txBody>
          <a:bodyPr>
            <a:normAutofit/>
          </a:bodyPr>
          <a:lstStyle/>
          <a:p>
            <a:r>
              <a:rPr lang="en-IN" b="1" dirty="0"/>
              <a:t>Keeping information consistent</a:t>
            </a:r>
            <a:endParaRPr lang="en-IN" dirty="0"/>
          </a:p>
        </p:txBody>
      </p:sp>
      <p:sp>
        <p:nvSpPr>
          <p:cNvPr id="3" name="Content Placeholder 2">
            <a:extLst>
              <a:ext uri="{FF2B5EF4-FFF2-40B4-BE49-F238E27FC236}">
                <a16:creationId xmlns:a16="http://schemas.microsoft.com/office/drawing/2014/main" id="{CBE7617B-3CD4-3BDB-F5AC-CAF2AA5DD7EA}"/>
              </a:ext>
            </a:extLst>
          </p:cNvPr>
          <p:cNvSpPr>
            <a:spLocks noGrp="1"/>
          </p:cNvSpPr>
          <p:nvPr>
            <p:ph sz="quarter" idx="13"/>
          </p:nvPr>
        </p:nvSpPr>
        <p:spPr>
          <a:xfrm>
            <a:off x="685800" y="2063396"/>
            <a:ext cx="7204753" cy="3311189"/>
          </a:xfrm>
        </p:spPr>
        <p:txBody>
          <a:bodyPr>
            <a:normAutofit fontScale="92500"/>
          </a:bodyPr>
          <a:lstStyle/>
          <a:p>
            <a:r>
              <a:rPr lang="en-US" sz="2800" dirty="0"/>
              <a:t>Inconsistencies raise doubts. Keep your data and terms uniform.</a:t>
            </a:r>
          </a:p>
          <a:p>
            <a:r>
              <a:rPr lang="en-US" sz="2800" dirty="0"/>
              <a:t>Remember the </a:t>
            </a:r>
            <a:r>
              <a:rPr lang="en-US" sz="2800" dirty="0">
                <a:solidFill>
                  <a:srgbClr val="FF0000"/>
                </a:solidFill>
              </a:rPr>
              <a:t>OJ Simpson trial</a:t>
            </a:r>
            <a:r>
              <a:rPr lang="en-US" sz="2800" dirty="0"/>
              <a:t>? Evidence mishandling and inconsistent docs raised questions about the whole forensic process.</a:t>
            </a:r>
          </a:p>
          <a:p>
            <a:r>
              <a:rPr lang="en-US" sz="2800" dirty="0"/>
              <a:t>Bottom line: Consistency matters. A lot.</a:t>
            </a:r>
          </a:p>
        </p:txBody>
      </p:sp>
      <p:graphicFrame>
        <p:nvGraphicFramePr>
          <p:cNvPr id="4" name="Table 3">
            <a:extLst>
              <a:ext uri="{FF2B5EF4-FFF2-40B4-BE49-F238E27FC236}">
                <a16:creationId xmlns:a16="http://schemas.microsoft.com/office/drawing/2014/main" id="{91B915D3-5DE2-9409-B1A9-A5254E500DFE}"/>
              </a:ext>
            </a:extLst>
          </p:cNvPr>
          <p:cNvGraphicFramePr>
            <a:graphicFrameLocks noGrp="1"/>
          </p:cNvGraphicFramePr>
          <p:nvPr>
            <p:extLst>
              <p:ext uri="{D42A27DB-BD31-4B8C-83A1-F6EECF244321}">
                <p14:modId xmlns:p14="http://schemas.microsoft.com/office/powerpoint/2010/main" val="1621253115"/>
              </p:ext>
            </p:extLst>
          </p:nvPr>
        </p:nvGraphicFramePr>
        <p:xfrm>
          <a:off x="7561780" y="2265680"/>
          <a:ext cx="3636436" cy="2326640"/>
        </p:xfrm>
        <a:graphic>
          <a:graphicData uri="http://schemas.openxmlformats.org/drawingml/2006/table">
            <a:tbl>
              <a:tblPr/>
              <a:tblGrid>
                <a:gridCol w="1818218">
                  <a:extLst>
                    <a:ext uri="{9D8B030D-6E8A-4147-A177-3AD203B41FA5}">
                      <a16:colId xmlns:a16="http://schemas.microsoft.com/office/drawing/2014/main" val="1748071336"/>
                    </a:ext>
                  </a:extLst>
                </a:gridCol>
                <a:gridCol w="1818218">
                  <a:extLst>
                    <a:ext uri="{9D8B030D-6E8A-4147-A177-3AD203B41FA5}">
                      <a16:colId xmlns:a16="http://schemas.microsoft.com/office/drawing/2014/main" val="808410134"/>
                    </a:ext>
                  </a:extLst>
                </a:gridCol>
              </a:tblGrid>
              <a:tr h="0">
                <a:tc>
                  <a:txBody>
                    <a:bodyPr/>
                    <a:lstStyle/>
                    <a:p>
                      <a:pPr algn="ctr">
                        <a:buNone/>
                      </a:pPr>
                      <a:r>
                        <a:rPr lang="en-IN" dirty="0">
                          <a:solidFill>
                            <a:srgbClr val="202020"/>
                          </a:solidFill>
                          <a:effectLst/>
                        </a:rPr>
                        <a:t>Mistake</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tc>
                  <a:txBody>
                    <a:bodyPr/>
                    <a:lstStyle/>
                    <a:p>
                      <a:pPr algn="ctr">
                        <a:buNone/>
                      </a:pPr>
                      <a:r>
                        <a:rPr lang="en-IN">
                          <a:solidFill>
                            <a:srgbClr val="202020"/>
                          </a:solidFill>
                          <a:effectLst/>
                        </a:rPr>
                        <a:t>Fix</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extLst>
                  <a:ext uri="{0D108BD9-81ED-4DB2-BD59-A6C34878D82A}">
                    <a16:rowId xmlns:a16="http://schemas.microsoft.com/office/drawing/2014/main" val="104833365"/>
                  </a:ext>
                </a:extLst>
              </a:tr>
              <a:tr h="0">
                <a:tc>
                  <a:txBody>
                    <a:bodyPr/>
                    <a:lstStyle/>
                    <a:p>
                      <a:pPr algn="ctr">
                        <a:buNone/>
                      </a:pPr>
                      <a:r>
                        <a:rPr lang="en-IN">
                          <a:solidFill>
                            <a:srgbClr val="202020"/>
                          </a:solidFill>
                          <a:effectLst/>
                        </a:rPr>
                        <a:t>Mixed units</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a:solidFill>
                            <a:srgbClr val="202020"/>
                          </a:solidFill>
                          <a:effectLst/>
                        </a:rPr>
                        <a:t>Stick to one system</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2965125991"/>
                  </a:ext>
                </a:extLst>
              </a:tr>
              <a:tr h="0">
                <a:tc>
                  <a:txBody>
                    <a:bodyPr/>
                    <a:lstStyle/>
                    <a:p>
                      <a:pPr algn="ctr">
                        <a:buNone/>
                      </a:pPr>
                      <a:r>
                        <a:rPr lang="en-IN">
                          <a:solidFill>
                            <a:srgbClr val="202020"/>
                          </a:solidFill>
                          <a:effectLst/>
                        </a:rPr>
                        <a:t>Different date formats</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US">
                          <a:solidFill>
                            <a:srgbClr val="202020"/>
                          </a:solidFill>
                          <a:effectLst/>
                        </a:rPr>
                        <a:t>Use one format (e.g., YYYY-MM-DD)</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extLst>
                  <a:ext uri="{0D108BD9-81ED-4DB2-BD59-A6C34878D82A}">
                    <a16:rowId xmlns:a16="http://schemas.microsoft.com/office/drawing/2014/main" val="3169493156"/>
                  </a:ext>
                </a:extLst>
              </a:tr>
              <a:tr h="0">
                <a:tc>
                  <a:txBody>
                    <a:bodyPr/>
                    <a:lstStyle/>
                    <a:p>
                      <a:pPr algn="ctr">
                        <a:buNone/>
                      </a:pPr>
                      <a:r>
                        <a:rPr lang="en-IN">
                          <a:solidFill>
                            <a:srgbClr val="202020"/>
                          </a:solidFill>
                          <a:effectLst/>
                        </a:rPr>
                        <a:t>Changing terms</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dirty="0">
                          <a:solidFill>
                            <a:srgbClr val="202020"/>
                          </a:solidFill>
                          <a:effectLst/>
                        </a:rPr>
                        <a:t>Define early, use consistently</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482388307"/>
                  </a:ext>
                </a:extLst>
              </a:tr>
            </a:tbl>
          </a:graphicData>
        </a:graphic>
      </p:graphicFrame>
    </p:spTree>
    <p:extLst>
      <p:ext uri="{BB962C8B-B14F-4D97-AF65-F5344CB8AC3E}">
        <p14:creationId xmlns:p14="http://schemas.microsoft.com/office/powerpoint/2010/main" val="67381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19B9A-B330-B31D-3C3E-F6D5A8FF3033}"/>
              </a:ext>
            </a:extLst>
          </p:cNvPr>
          <p:cNvSpPr>
            <a:spLocks noGrp="1"/>
          </p:cNvSpPr>
          <p:nvPr>
            <p:ph type="title"/>
          </p:nvPr>
        </p:nvSpPr>
        <p:spPr/>
        <p:txBody>
          <a:bodyPr>
            <a:normAutofit/>
          </a:bodyPr>
          <a:lstStyle/>
          <a:p>
            <a:r>
              <a:rPr lang="en-US" b="1" dirty="0"/>
              <a:t>Legal aspects of forensic reports</a:t>
            </a:r>
            <a:endParaRPr lang="en-IN" dirty="0"/>
          </a:p>
        </p:txBody>
      </p:sp>
      <p:sp>
        <p:nvSpPr>
          <p:cNvPr id="3" name="Content Placeholder 2">
            <a:extLst>
              <a:ext uri="{FF2B5EF4-FFF2-40B4-BE49-F238E27FC236}">
                <a16:creationId xmlns:a16="http://schemas.microsoft.com/office/drawing/2014/main" id="{B52B9D66-625E-09C0-BA92-9FEAACADF4E3}"/>
              </a:ext>
            </a:extLst>
          </p:cNvPr>
          <p:cNvSpPr>
            <a:spLocks noGrp="1"/>
          </p:cNvSpPr>
          <p:nvPr>
            <p:ph sz="quarter" idx="13"/>
          </p:nvPr>
        </p:nvSpPr>
        <p:spPr/>
        <p:txBody>
          <a:bodyPr>
            <a:normAutofit fontScale="85000" lnSpcReduction="20000"/>
          </a:bodyPr>
          <a:lstStyle/>
          <a:p>
            <a:pPr marL="0" indent="0">
              <a:buNone/>
            </a:pPr>
            <a:r>
              <a:rPr lang="en-US" dirty="0"/>
              <a:t>Forensic reports are crucial in legal proceedings. They need to meet tough standards to be useful in court. Here's what you need to know about the legal side of these reports.</a:t>
            </a:r>
          </a:p>
          <a:p>
            <a:r>
              <a:rPr lang="en-US" b="1" dirty="0"/>
              <a:t>Making reports court-ready</a:t>
            </a:r>
          </a:p>
          <a:p>
            <a:pPr marL="0" indent="0">
              <a:buNone/>
            </a:pPr>
            <a:r>
              <a:rPr lang="en-US" dirty="0"/>
              <a:t>For a forensic report to be admissible, it must:</a:t>
            </a:r>
          </a:p>
          <a:p>
            <a:r>
              <a:rPr lang="en-US" dirty="0"/>
              <a:t>Show a clear chain of custody</a:t>
            </a:r>
          </a:p>
          <a:p>
            <a:r>
              <a:rPr lang="en-US" dirty="0"/>
              <a:t>Come from a qualified expert</a:t>
            </a:r>
          </a:p>
          <a:p>
            <a:r>
              <a:rPr lang="en-US" dirty="0"/>
              <a:t>Use scientifically valid methods</a:t>
            </a:r>
          </a:p>
          <a:p>
            <a:r>
              <a:rPr lang="en-US" dirty="0"/>
              <a:t>forensic analysts must be available for cross-examination. This put a spotlight on accountability in forensic reporting.</a:t>
            </a:r>
          </a:p>
          <a:p>
            <a:endParaRPr lang="en-IN" dirty="0"/>
          </a:p>
        </p:txBody>
      </p:sp>
    </p:spTree>
    <p:extLst>
      <p:ext uri="{BB962C8B-B14F-4D97-AF65-F5344CB8AC3E}">
        <p14:creationId xmlns:p14="http://schemas.microsoft.com/office/powerpoint/2010/main" val="1363339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AB700-7025-BD65-C62F-593284BDA896}"/>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3AFB7FEA-38C7-4131-65E2-EBD2D1A4C6D4}"/>
              </a:ext>
            </a:extLst>
          </p:cNvPr>
          <p:cNvSpPr>
            <a:spLocks noGrp="1"/>
          </p:cNvSpPr>
          <p:nvPr>
            <p:ph sz="quarter" idx="13"/>
          </p:nvPr>
        </p:nvSpPr>
        <p:spPr>
          <a:xfrm>
            <a:off x="685800" y="421240"/>
            <a:ext cx="10394707" cy="4953345"/>
          </a:xfrm>
        </p:spPr>
        <p:txBody>
          <a:bodyPr>
            <a:normAutofit/>
          </a:bodyPr>
          <a:lstStyle/>
          <a:p>
            <a:pPr marL="0" indent="0">
              <a:buNone/>
            </a:pPr>
            <a:r>
              <a:rPr lang="en-US" sz="3600" b="1" dirty="0"/>
              <a:t>Tracking evidence: Why it matters</a:t>
            </a:r>
          </a:p>
          <a:p>
            <a:pPr marL="0" indent="0">
              <a:buNone/>
            </a:pPr>
            <a:r>
              <a:rPr lang="en-US" sz="3600" dirty="0"/>
              <a:t>Proper evidence tracking is a big deal. It:</a:t>
            </a:r>
          </a:p>
          <a:p>
            <a:r>
              <a:rPr lang="en-US" sz="3600" dirty="0"/>
              <a:t>Proves the evidence is untampered</a:t>
            </a:r>
          </a:p>
          <a:p>
            <a:r>
              <a:rPr lang="en-US" sz="3600" dirty="0"/>
              <a:t>Shows who handled it and when</a:t>
            </a:r>
          </a:p>
          <a:p>
            <a:r>
              <a:rPr lang="en-US" sz="3600" dirty="0"/>
              <a:t>Helps spot any contamination issues</a:t>
            </a:r>
          </a:p>
          <a:p>
            <a:endParaRPr lang="en-IN" sz="3600" dirty="0"/>
          </a:p>
        </p:txBody>
      </p:sp>
    </p:spTree>
    <p:extLst>
      <p:ext uri="{BB962C8B-B14F-4D97-AF65-F5344CB8AC3E}">
        <p14:creationId xmlns:p14="http://schemas.microsoft.com/office/powerpoint/2010/main" val="26389926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55C87-0A8E-4018-F709-2388D8207245}"/>
              </a:ext>
            </a:extLst>
          </p:cNvPr>
          <p:cNvSpPr>
            <a:spLocks noGrp="1"/>
          </p:cNvSpPr>
          <p:nvPr>
            <p:ph type="title"/>
          </p:nvPr>
        </p:nvSpPr>
        <p:spPr>
          <a:xfrm>
            <a:off x="685801" y="685800"/>
            <a:ext cx="11129480" cy="1151965"/>
          </a:xfrm>
        </p:spPr>
        <p:txBody>
          <a:bodyPr>
            <a:noAutofit/>
          </a:bodyPr>
          <a:lstStyle/>
          <a:p>
            <a:r>
              <a:rPr lang="en-US" sz="4000" dirty="0"/>
              <a:t>A solid chain of custody record looks like this:</a:t>
            </a:r>
            <a:endParaRPr lang="en-IN" sz="4000" dirty="0"/>
          </a:p>
        </p:txBody>
      </p:sp>
      <p:graphicFrame>
        <p:nvGraphicFramePr>
          <p:cNvPr id="4" name="Content Placeholder 3">
            <a:extLst>
              <a:ext uri="{FF2B5EF4-FFF2-40B4-BE49-F238E27FC236}">
                <a16:creationId xmlns:a16="http://schemas.microsoft.com/office/drawing/2014/main" id="{62BE2354-EC04-7B55-0443-BA4C9D88B0E8}"/>
              </a:ext>
            </a:extLst>
          </p:cNvPr>
          <p:cNvGraphicFramePr>
            <a:graphicFrameLocks noGrp="1"/>
          </p:cNvGraphicFramePr>
          <p:nvPr>
            <p:ph sz="quarter" idx="13"/>
            <p:extLst>
              <p:ext uri="{D42A27DB-BD31-4B8C-83A1-F6EECF244321}">
                <p14:modId xmlns:p14="http://schemas.microsoft.com/office/powerpoint/2010/main" val="298755038"/>
              </p:ext>
            </p:extLst>
          </p:nvPr>
        </p:nvGraphicFramePr>
        <p:xfrm>
          <a:off x="685800" y="1837766"/>
          <a:ext cx="10420564" cy="3537510"/>
        </p:xfrm>
        <a:graphic>
          <a:graphicData uri="http://schemas.openxmlformats.org/drawingml/2006/table">
            <a:tbl>
              <a:tblPr/>
              <a:tblGrid>
                <a:gridCol w="2605141">
                  <a:extLst>
                    <a:ext uri="{9D8B030D-6E8A-4147-A177-3AD203B41FA5}">
                      <a16:colId xmlns:a16="http://schemas.microsoft.com/office/drawing/2014/main" val="39378324"/>
                    </a:ext>
                  </a:extLst>
                </a:gridCol>
                <a:gridCol w="2605141">
                  <a:extLst>
                    <a:ext uri="{9D8B030D-6E8A-4147-A177-3AD203B41FA5}">
                      <a16:colId xmlns:a16="http://schemas.microsoft.com/office/drawing/2014/main" val="2382581848"/>
                    </a:ext>
                  </a:extLst>
                </a:gridCol>
                <a:gridCol w="2605141">
                  <a:extLst>
                    <a:ext uri="{9D8B030D-6E8A-4147-A177-3AD203B41FA5}">
                      <a16:colId xmlns:a16="http://schemas.microsoft.com/office/drawing/2014/main" val="3388642978"/>
                    </a:ext>
                  </a:extLst>
                </a:gridCol>
                <a:gridCol w="2605141">
                  <a:extLst>
                    <a:ext uri="{9D8B030D-6E8A-4147-A177-3AD203B41FA5}">
                      <a16:colId xmlns:a16="http://schemas.microsoft.com/office/drawing/2014/main" val="3736408769"/>
                    </a:ext>
                  </a:extLst>
                </a:gridCol>
              </a:tblGrid>
              <a:tr h="388391">
                <a:tc>
                  <a:txBody>
                    <a:bodyPr/>
                    <a:lstStyle/>
                    <a:p>
                      <a:pPr algn="ctr">
                        <a:buNone/>
                      </a:pPr>
                      <a:r>
                        <a:rPr lang="en-IN" sz="1700">
                          <a:solidFill>
                            <a:srgbClr val="202020"/>
                          </a:solidFill>
                          <a:effectLst/>
                        </a:rPr>
                        <a:t>What</a:t>
                      </a:r>
                    </a:p>
                  </a:txBody>
                  <a:tcPr marL="49132" marR="49132" marT="49132" marB="4913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tc>
                  <a:txBody>
                    <a:bodyPr/>
                    <a:lstStyle/>
                    <a:p>
                      <a:pPr algn="ctr">
                        <a:buNone/>
                      </a:pPr>
                      <a:r>
                        <a:rPr lang="en-IN" sz="1700">
                          <a:solidFill>
                            <a:srgbClr val="202020"/>
                          </a:solidFill>
                          <a:effectLst/>
                        </a:rPr>
                        <a:t>Who</a:t>
                      </a:r>
                    </a:p>
                  </a:txBody>
                  <a:tcPr marL="49132" marR="49132" marT="49132" marB="4913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tc>
                  <a:txBody>
                    <a:bodyPr/>
                    <a:lstStyle/>
                    <a:p>
                      <a:pPr algn="ctr">
                        <a:buNone/>
                      </a:pPr>
                      <a:r>
                        <a:rPr lang="en-IN" sz="1700">
                          <a:solidFill>
                            <a:srgbClr val="202020"/>
                          </a:solidFill>
                          <a:effectLst/>
                        </a:rPr>
                        <a:t>When</a:t>
                      </a:r>
                    </a:p>
                  </a:txBody>
                  <a:tcPr marL="49132" marR="49132" marT="49132" marB="4913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tc>
                  <a:txBody>
                    <a:bodyPr/>
                    <a:lstStyle/>
                    <a:p>
                      <a:pPr algn="ctr">
                        <a:buNone/>
                      </a:pPr>
                      <a:r>
                        <a:rPr lang="en-IN" sz="1700" dirty="0">
                          <a:solidFill>
                            <a:srgbClr val="202020"/>
                          </a:solidFill>
                          <a:effectLst/>
                        </a:rPr>
                        <a:t>Where</a:t>
                      </a:r>
                    </a:p>
                  </a:txBody>
                  <a:tcPr marL="49132" marR="49132" marT="49132" marB="4913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extLst>
                  <a:ext uri="{0D108BD9-81ED-4DB2-BD59-A6C34878D82A}">
                    <a16:rowId xmlns:a16="http://schemas.microsoft.com/office/drawing/2014/main" val="2474028185"/>
                  </a:ext>
                </a:extLst>
              </a:tr>
              <a:tr h="1238653">
                <a:tc>
                  <a:txBody>
                    <a:bodyPr/>
                    <a:lstStyle/>
                    <a:p>
                      <a:pPr algn="ctr">
                        <a:buNone/>
                      </a:pPr>
                      <a:r>
                        <a:rPr lang="en-IN" sz="1700">
                          <a:solidFill>
                            <a:srgbClr val="202020"/>
                          </a:solidFill>
                          <a:effectLst/>
                        </a:rPr>
                        <a:t>Collection</a:t>
                      </a:r>
                    </a:p>
                  </a:txBody>
                  <a:tcPr marL="49132" marR="49132" marT="49132" marB="4913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1700">
                          <a:solidFill>
                            <a:srgbClr val="202020"/>
                          </a:solidFill>
                          <a:effectLst/>
                        </a:rPr>
                        <a:t>Officer John Brown</a:t>
                      </a:r>
                    </a:p>
                  </a:txBody>
                  <a:tcPr marL="49132" marR="49132" marT="49132" marB="4913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1700">
                          <a:solidFill>
                            <a:srgbClr val="202020"/>
                          </a:solidFill>
                          <a:effectLst/>
                        </a:rPr>
                        <a:t>2023-06-15, 10:30 AM</a:t>
                      </a:r>
                    </a:p>
                  </a:txBody>
                  <a:tcPr marL="49132" marR="49132" marT="49132" marB="4913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1700">
                          <a:solidFill>
                            <a:srgbClr val="202020"/>
                          </a:solidFill>
                          <a:effectLst/>
                        </a:rPr>
                        <a:t>Crime scene</a:t>
                      </a:r>
                    </a:p>
                  </a:txBody>
                  <a:tcPr marL="49132" marR="49132" marT="49132" marB="4913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3901437533"/>
                  </a:ext>
                </a:extLst>
              </a:tr>
              <a:tr h="955233">
                <a:tc>
                  <a:txBody>
                    <a:bodyPr/>
                    <a:lstStyle/>
                    <a:p>
                      <a:pPr algn="ctr">
                        <a:buNone/>
                      </a:pPr>
                      <a:r>
                        <a:rPr lang="en-IN" sz="1700">
                          <a:solidFill>
                            <a:srgbClr val="202020"/>
                          </a:solidFill>
                          <a:effectLst/>
                        </a:rPr>
                        <a:t>Storage</a:t>
                      </a:r>
                    </a:p>
                  </a:txBody>
                  <a:tcPr marL="49132" marR="49132" marT="49132" marB="4913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IN" sz="1700">
                          <a:solidFill>
                            <a:srgbClr val="202020"/>
                          </a:solidFill>
                          <a:effectLst/>
                        </a:rPr>
                        <a:t>Evidence clerk</a:t>
                      </a:r>
                    </a:p>
                  </a:txBody>
                  <a:tcPr marL="49132" marR="49132" marT="49132" marB="4913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IN" sz="1700">
                          <a:solidFill>
                            <a:srgbClr val="202020"/>
                          </a:solidFill>
                          <a:effectLst/>
                        </a:rPr>
                        <a:t>2023-06-15, 2:00 PM</a:t>
                      </a:r>
                    </a:p>
                  </a:txBody>
                  <a:tcPr marL="49132" marR="49132" marT="49132" marB="4913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IN" sz="1700">
                          <a:solidFill>
                            <a:srgbClr val="202020"/>
                          </a:solidFill>
                          <a:effectLst/>
                        </a:rPr>
                        <a:t>Locker #42</a:t>
                      </a:r>
                    </a:p>
                  </a:txBody>
                  <a:tcPr marL="49132" marR="49132" marT="49132" marB="4913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extLst>
                  <a:ext uri="{0D108BD9-81ED-4DB2-BD59-A6C34878D82A}">
                    <a16:rowId xmlns:a16="http://schemas.microsoft.com/office/drawing/2014/main" val="2002332325"/>
                  </a:ext>
                </a:extLst>
              </a:tr>
              <a:tr h="955233">
                <a:tc>
                  <a:txBody>
                    <a:bodyPr/>
                    <a:lstStyle/>
                    <a:p>
                      <a:pPr algn="ctr">
                        <a:buNone/>
                      </a:pPr>
                      <a:r>
                        <a:rPr lang="en-IN" sz="1700">
                          <a:solidFill>
                            <a:srgbClr val="202020"/>
                          </a:solidFill>
                          <a:effectLst/>
                        </a:rPr>
                        <a:t>Analysis</a:t>
                      </a:r>
                    </a:p>
                  </a:txBody>
                  <a:tcPr marL="49132" marR="49132" marT="49132" marB="4913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1700">
                          <a:solidFill>
                            <a:srgbClr val="202020"/>
                          </a:solidFill>
                          <a:effectLst/>
                        </a:rPr>
                        <a:t>Lab tech Sarah Lee</a:t>
                      </a:r>
                    </a:p>
                  </a:txBody>
                  <a:tcPr marL="49132" marR="49132" marT="49132" marB="4913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1700">
                          <a:solidFill>
                            <a:srgbClr val="202020"/>
                          </a:solidFill>
                          <a:effectLst/>
                        </a:rPr>
                        <a:t>2023-06-16, 9:00 AM</a:t>
                      </a:r>
                    </a:p>
                  </a:txBody>
                  <a:tcPr marL="49132" marR="49132" marT="49132" marB="4913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1700" dirty="0">
                          <a:solidFill>
                            <a:srgbClr val="202020"/>
                          </a:solidFill>
                          <a:effectLst/>
                        </a:rPr>
                        <a:t>Forensic lab</a:t>
                      </a:r>
                    </a:p>
                  </a:txBody>
                  <a:tcPr marL="49132" marR="49132" marT="49132" marB="4913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1868989068"/>
                  </a:ext>
                </a:extLst>
              </a:tr>
            </a:tbl>
          </a:graphicData>
        </a:graphic>
      </p:graphicFrame>
    </p:spTree>
    <p:extLst>
      <p:ext uri="{BB962C8B-B14F-4D97-AF65-F5344CB8AC3E}">
        <p14:creationId xmlns:p14="http://schemas.microsoft.com/office/powerpoint/2010/main" val="1154040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5B172-F816-A379-958A-640E5BFB615C}"/>
              </a:ext>
            </a:extLst>
          </p:cNvPr>
          <p:cNvSpPr>
            <a:spLocks noGrp="1"/>
          </p:cNvSpPr>
          <p:nvPr>
            <p:ph type="title"/>
          </p:nvPr>
        </p:nvSpPr>
        <p:spPr/>
        <p:txBody>
          <a:bodyPr>
            <a:normAutofit/>
          </a:bodyPr>
          <a:lstStyle/>
          <a:p>
            <a:r>
              <a:rPr lang="en-US" b="1" dirty="0"/>
              <a:t>Privacy vs. transparency</a:t>
            </a:r>
            <a:endParaRPr lang="en-IN" dirty="0"/>
          </a:p>
        </p:txBody>
      </p:sp>
      <p:sp>
        <p:nvSpPr>
          <p:cNvPr id="3" name="Content Placeholder 2">
            <a:extLst>
              <a:ext uri="{FF2B5EF4-FFF2-40B4-BE49-F238E27FC236}">
                <a16:creationId xmlns:a16="http://schemas.microsoft.com/office/drawing/2014/main" id="{66C09C1D-281E-CD89-9D30-9E843F9F1ECF}"/>
              </a:ext>
            </a:extLst>
          </p:cNvPr>
          <p:cNvSpPr>
            <a:spLocks noGrp="1"/>
          </p:cNvSpPr>
          <p:nvPr>
            <p:ph sz="quarter" idx="13"/>
          </p:nvPr>
        </p:nvSpPr>
        <p:spPr>
          <a:xfrm>
            <a:off x="685800" y="1664414"/>
            <a:ext cx="10394707" cy="3710172"/>
          </a:xfrm>
        </p:spPr>
        <p:txBody>
          <a:bodyPr>
            <a:normAutofit/>
          </a:bodyPr>
          <a:lstStyle/>
          <a:p>
            <a:pPr marL="0" indent="0">
              <a:buNone/>
            </a:pPr>
            <a:r>
              <a:rPr lang="en-US" sz="1800" dirty="0"/>
              <a:t>Forensic reports often contain sensitive info. How do you balance openness with privacy?</a:t>
            </a:r>
          </a:p>
          <a:p>
            <a:pPr marL="0" indent="0">
              <a:buNone/>
            </a:pPr>
            <a:r>
              <a:rPr lang="en-US" sz="1800" dirty="0"/>
              <a:t>Try these:</a:t>
            </a:r>
          </a:p>
          <a:p>
            <a:r>
              <a:rPr lang="en-US" sz="1800" dirty="0"/>
              <a:t>Use initials or case numbers instead of full names</a:t>
            </a:r>
          </a:p>
          <a:p>
            <a:r>
              <a:rPr lang="en-US" sz="1800" dirty="0"/>
              <a:t>Cut out personal info that's not case-related</a:t>
            </a:r>
          </a:p>
          <a:p>
            <a:r>
              <a:rPr lang="en-US" sz="1800" dirty="0"/>
              <a:t>Follow data protection laws for digital evidence</a:t>
            </a:r>
          </a:p>
          <a:p>
            <a:r>
              <a:rPr lang="en-US" sz="1800" dirty="0"/>
              <a:t>Be careful what you put in your report. It might go public.</a:t>
            </a:r>
          </a:p>
          <a:p>
            <a:r>
              <a:rPr lang="en-US" sz="1800" dirty="0"/>
              <a:t>Bottom line: A well-crafted forensic report can make or break a case. It needs to be clear, accurate, and legally solid. Get it right, and you're golden. Get it wrong, and you might just sink the whole case.</a:t>
            </a:r>
          </a:p>
          <a:p>
            <a:endParaRPr lang="en-IN" sz="1800" dirty="0"/>
          </a:p>
        </p:txBody>
      </p:sp>
    </p:spTree>
    <p:extLst>
      <p:ext uri="{BB962C8B-B14F-4D97-AF65-F5344CB8AC3E}">
        <p14:creationId xmlns:p14="http://schemas.microsoft.com/office/powerpoint/2010/main" val="2986524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2D44D-4A2F-9EA9-3432-6A95A60C6322}"/>
              </a:ext>
            </a:extLst>
          </p:cNvPr>
          <p:cNvSpPr>
            <a:spLocks noGrp="1"/>
          </p:cNvSpPr>
          <p:nvPr>
            <p:ph type="title"/>
          </p:nvPr>
        </p:nvSpPr>
        <p:spPr/>
        <p:txBody>
          <a:bodyPr>
            <a:normAutofit/>
          </a:bodyPr>
          <a:lstStyle/>
          <a:p>
            <a:r>
              <a:rPr lang="en-IN" b="1" dirty="0"/>
              <a:t>Checking report quality</a:t>
            </a:r>
            <a:endParaRPr lang="en-IN" dirty="0"/>
          </a:p>
        </p:txBody>
      </p:sp>
      <p:sp>
        <p:nvSpPr>
          <p:cNvPr id="3" name="Content Placeholder 2">
            <a:extLst>
              <a:ext uri="{FF2B5EF4-FFF2-40B4-BE49-F238E27FC236}">
                <a16:creationId xmlns:a16="http://schemas.microsoft.com/office/drawing/2014/main" id="{26BD1A7C-431A-8CC5-EF75-6EF24AF45535}"/>
              </a:ext>
            </a:extLst>
          </p:cNvPr>
          <p:cNvSpPr>
            <a:spLocks noGrp="1"/>
          </p:cNvSpPr>
          <p:nvPr>
            <p:ph sz="quarter" idx="13"/>
          </p:nvPr>
        </p:nvSpPr>
        <p:spPr>
          <a:xfrm>
            <a:off x="685800" y="1613044"/>
            <a:ext cx="10394707" cy="3761542"/>
          </a:xfrm>
        </p:spPr>
        <p:txBody>
          <a:bodyPr>
            <a:normAutofit/>
          </a:bodyPr>
          <a:lstStyle/>
          <a:p>
            <a:pPr algn="just"/>
            <a:r>
              <a:rPr lang="en-US" sz="3600" dirty="0"/>
              <a:t>Quality control is crucial in forensic report writing. Here's how to make sure your reports hit the mark:</a:t>
            </a:r>
          </a:p>
          <a:p>
            <a:pPr algn="just"/>
            <a:r>
              <a:rPr lang="en-US" sz="3600" b="1" dirty="0"/>
              <a:t>Expert review: </a:t>
            </a:r>
            <a:r>
              <a:rPr lang="en-US" sz="3600" dirty="0"/>
              <a:t>Get other experts to check your work. It's not just helpful - it's a must.</a:t>
            </a:r>
          </a:p>
        </p:txBody>
      </p:sp>
    </p:spTree>
    <p:extLst>
      <p:ext uri="{BB962C8B-B14F-4D97-AF65-F5344CB8AC3E}">
        <p14:creationId xmlns:p14="http://schemas.microsoft.com/office/powerpoint/2010/main" val="3221745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AC588-9116-5F41-4F94-4B4B5EF1AEE1}"/>
              </a:ext>
            </a:extLst>
          </p:cNvPr>
          <p:cNvSpPr>
            <a:spLocks noGrp="1"/>
          </p:cNvSpPr>
          <p:nvPr>
            <p:ph type="title"/>
          </p:nvPr>
        </p:nvSpPr>
        <p:spPr/>
        <p:txBody>
          <a:bodyPr>
            <a:normAutofit/>
          </a:bodyPr>
          <a:lstStyle/>
          <a:p>
            <a:r>
              <a:rPr lang="en-IN" b="1" dirty="0"/>
              <a:t>Double-checking facts</a:t>
            </a:r>
            <a:endParaRPr lang="en-IN" dirty="0"/>
          </a:p>
        </p:txBody>
      </p:sp>
      <p:sp>
        <p:nvSpPr>
          <p:cNvPr id="3" name="Content Placeholder 2">
            <a:extLst>
              <a:ext uri="{FF2B5EF4-FFF2-40B4-BE49-F238E27FC236}">
                <a16:creationId xmlns:a16="http://schemas.microsoft.com/office/drawing/2014/main" id="{F1C52ED1-53DB-4A1E-FD35-B24C44DA4F66}"/>
              </a:ext>
            </a:extLst>
          </p:cNvPr>
          <p:cNvSpPr>
            <a:spLocks noGrp="1"/>
          </p:cNvSpPr>
          <p:nvPr>
            <p:ph sz="quarter" idx="13"/>
          </p:nvPr>
        </p:nvSpPr>
        <p:spPr>
          <a:xfrm>
            <a:off x="685800" y="2063396"/>
            <a:ext cx="4667035" cy="3311189"/>
          </a:xfrm>
        </p:spPr>
        <p:txBody>
          <a:bodyPr/>
          <a:lstStyle/>
          <a:p>
            <a:r>
              <a:rPr lang="en-US" dirty="0"/>
              <a:t>Verify every bit of info in your report. It's key for fixing errors and ensuring accuracy.</a:t>
            </a:r>
          </a:p>
        </p:txBody>
      </p:sp>
      <p:graphicFrame>
        <p:nvGraphicFramePr>
          <p:cNvPr id="4" name="Table 3">
            <a:extLst>
              <a:ext uri="{FF2B5EF4-FFF2-40B4-BE49-F238E27FC236}">
                <a16:creationId xmlns:a16="http://schemas.microsoft.com/office/drawing/2014/main" id="{FC37D02B-40B3-C62A-9B4B-F7D6A973043D}"/>
              </a:ext>
            </a:extLst>
          </p:cNvPr>
          <p:cNvGraphicFramePr>
            <a:graphicFrameLocks noGrp="1"/>
          </p:cNvGraphicFramePr>
          <p:nvPr>
            <p:extLst>
              <p:ext uri="{D42A27DB-BD31-4B8C-83A1-F6EECF244321}">
                <p14:modId xmlns:p14="http://schemas.microsoft.com/office/powerpoint/2010/main" val="3106590430"/>
              </p:ext>
            </p:extLst>
          </p:nvPr>
        </p:nvGraphicFramePr>
        <p:xfrm>
          <a:off x="5465851" y="2035113"/>
          <a:ext cx="5616831" cy="3316297"/>
        </p:xfrm>
        <a:graphic>
          <a:graphicData uri="http://schemas.openxmlformats.org/drawingml/2006/table">
            <a:tbl>
              <a:tblPr/>
              <a:tblGrid>
                <a:gridCol w="1872277">
                  <a:extLst>
                    <a:ext uri="{9D8B030D-6E8A-4147-A177-3AD203B41FA5}">
                      <a16:colId xmlns:a16="http://schemas.microsoft.com/office/drawing/2014/main" val="1357992322"/>
                    </a:ext>
                  </a:extLst>
                </a:gridCol>
                <a:gridCol w="1872277">
                  <a:extLst>
                    <a:ext uri="{9D8B030D-6E8A-4147-A177-3AD203B41FA5}">
                      <a16:colId xmlns:a16="http://schemas.microsoft.com/office/drawing/2014/main" val="3292932534"/>
                    </a:ext>
                  </a:extLst>
                </a:gridCol>
                <a:gridCol w="1872277">
                  <a:extLst>
                    <a:ext uri="{9D8B030D-6E8A-4147-A177-3AD203B41FA5}">
                      <a16:colId xmlns:a16="http://schemas.microsoft.com/office/drawing/2014/main" val="3706808636"/>
                    </a:ext>
                  </a:extLst>
                </a:gridCol>
              </a:tblGrid>
              <a:tr h="327611">
                <a:tc>
                  <a:txBody>
                    <a:bodyPr/>
                    <a:lstStyle/>
                    <a:p>
                      <a:pPr algn="ctr">
                        <a:buNone/>
                      </a:pPr>
                      <a:r>
                        <a:rPr lang="en-IN" sz="1600" dirty="0">
                          <a:solidFill>
                            <a:srgbClr val="202020"/>
                          </a:solidFill>
                          <a:effectLst/>
                        </a:rPr>
                        <a:t>Step</a:t>
                      </a:r>
                    </a:p>
                  </a:txBody>
                  <a:tcPr marL="44272" marR="44272" marT="44272" marB="4427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tc>
                  <a:txBody>
                    <a:bodyPr/>
                    <a:lstStyle/>
                    <a:p>
                      <a:pPr algn="ctr">
                        <a:buNone/>
                      </a:pPr>
                      <a:r>
                        <a:rPr lang="en-IN" sz="1600">
                          <a:solidFill>
                            <a:srgbClr val="202020"/>
                          </a:solidFill>
                          <a:effectLst/>
                        </a:rPr>
                        <a:t>Action</a:t>
                      </a:r>
                    </a:p>
                  </a:txBody>
                  <a:tcPr marL="44272" marR="44272" marT="44272" marB="4427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tc>
                  <a:txBody>
                    <a:bodyPr/>
                    <a:lstStyle/>
                    <a:p>
                      <a:pPr algn="ctr">
                        <a:buNone/>
                      </a:pPr>
                      <a:r>
                        <a:rPr lang="en-IN" sz="1600">
                          <a:solidFill>
                            <a:srgbClr val="202020"/>
                          </a:solidFill>
                          <a:effectLst/>
                        </a:rPr>
                        <a:t>Purpose</a:t>
                      </a:r>
                    </a:p>
                  </a:txBody>
                  <a:tcPr marL="44272" marR="44272" marT="44272" marB="4427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extLst>
                  <a:ext uri="{0D108BD9-81ED-4DB2-BD59-A6C34878D82A}">
                    <a16:rowId xmlns:a16="http://schemas.microsoft.com/office/drawing/2014/main" val="3605256343"/>
                  </a:ext>
                </a:extLst>
              </a:tr>
              <a:tr h="805745">
                <a:tc>
                  <a:txBody>
                    <a:bodyPr/>
                    <a:lstStyle/>
                    <a:p>
                      <a:pPr algn="ctr">
                        <a:buNone/>
                      </a:pPr>
                      <a:r>
                        <a:rPr lang="en-IN" sz="1600">
                          <a:solidFill>
                            <a:srgbClr val="202020"/>
                          </a:solidFill>
                          <a:effectLst/>
                        </a:rPr>
                        <a:t>1</a:t>
                      </a:r>
                    </a:p>
                  </a:txBody>
                  <a:tcPr marL="44272" marR="44272" marT="44272" marB="4427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1600">
                          <a:solidFill>
                            <a:srgbClr val="202020"/>
                          </a:solidFill>
                          <a:effectLst/>
                        </a:rPr>
                        <a:t>Cross-reference data</a:t>
                      </a:r>
                    </a:p>
                  </a:txBody>
                  <a:tcPr marL="44272" marR="44272" marT="44272" marB="4427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1600">
                          <a:solidFill>
                            <a:srgbClr val="202020"/>
                          </a:solidFill>
                          <a:effectLst/>
                        </a:rPr>
                        <a:t>Confirm accuracy</a:t>
                      </a:r>
                    </a:p>
                  </a:txBody>
                  <a:tcPr marL="44272" marR="44272" marT="44272" marB="4427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924042059"/>
                  </a:ext>
                </a:extLst>
              </a:tr>
              <a:tr h="805745">
                <a:tc>
                  <a:txBody>
                    <a:bodyPr/>
                    <a:lstStyle/>
                    <a:p>
                      <a:pPr algn="ctr">
                        <a:buNone/>
                      </a:pPr>
                      <a:r>
                        <a:rPr lang="en-IN" sz="1600">
                          <a:solidFill>
                            <a:srgbClr val="202020"/>
                          </a:solidFill>
                          <a:effectLst/>
                        </a:rPr>
                        <a:t>2</a:t>
                      </a:r>
                    </a:p>
                  </a:txBody>
                  <a:tcPr marL="44272" marR="44272" marT="44272" marB="4427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IN" sz="1600">
                          <a:solidFill>
                            <a:srgbClr val="202020"/>
                          </a:solidFill>
                          <a:effectLst/>
                        </a:rPr>
                        <a:t>Check calculations</a:t>
                      </a:r>
                    </a:p>
                  </a:txBody>
                  <a:tcPr marL="44272" marR="44272" marT="44272" marB="4427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IN" sz="1600">
                          <a:solidFill>
                            <a:srgbClr val="202020"/>
                          </a:solidFill>
                          <a:effectLst/>
                        </a:rPr>
                        <a:t>Avoid math errors</a:t>
                      </a:r>
                    </a:p>
                  </a:txBody>
                  <a:tcPr marL="44272" marR="44272" marT="44272" marB="4427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extLst>
                  <a:ext uri="{0D108BD9-81ED-4DB2-BD59-A6C34878D82A}">
                    <a16:rowId xmlns:a16="http://schemas.microsoft.com/office/drawing/2014/main" val="4205701213"/>
                  </a:ext>
                </a:extLst>
              </a:tr>
              <a:tr h="566678">
                <a:tc>
                  <a:txBody>
                    <a:bodyPr/>
                    <a:lstStyle/>
                    <a:p>
                      <a:pPr algn="ctr">
                        <a:buNone/>
                      </a:pPr>
                      <a:r>
                        <a:rPr lang="en-IN" sz="1600">
                          <a:solidFill>
                            <a:srgbClr val="202020"/>
                          </a:solidFill>
                          <a:effectLst/>
                        </a:rPr>
                        <a:t>3</a:t>
                      </a:r>
                    </a:p>
                  </a:txBody>
                  <a:tcPr marL="44272" marR="44272" marT="44272" marB="4427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1600">
                          <a:solidFill>
                            <a:srgbClr val="202020"/>
                          </a:solidFill>
                          <a:effectLst/>
                        </a:rPr>
                        <a:t>Verify sources</a:t>
                      </a:r>
                    </a:p>
                  </a:txBody>
                  <a:tcPr marL="44272" marR="44272" marT="44272" marB="4427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1600">
                          <a:solidFill>
                            <a:srgbClr val="202020"/>
                          </a:solidFill>
                          <a:effectLst/>
                        </a:rPr>
                        <a:t>Ensure credibility</a:t>
                      </a:r>
                    </a:p>
                  </a:txBody>
                  <a:tcPr marL="44272" marR="44272" marT="44272" marB="4427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3152320566"/>
                  </a:ext>
                </a:extLst>
              </a:tr>
              <a:tr h="805745">
                <a:tc>
                  <a:txBody>
                    <a:bodyPr/>
                    <a:lstStyle/>
                    <a:p>
                      <a:pPr algn="ctr">
                        <a:buNone/>
                      </a:pPr>
                      <a:r>
                        <a:rPr lang="en-IN" sz="1600">
                          <a:solidFill>
                            <a:srgbClr val="202020"/>
                          </a:solidFill>
                          <a:effectLst/>
                        </a:rPr>
                        <a:t>4</a:t>
                      </a:r>
                    </a:p>
                  </a:txBody>
                  <a:tcPr marL="44272" marR="44272" marT="44272" marB="4427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IN" sz="1600">
                          <a:solidFill>
                            <a:srgbClr val="202020"/>
                          </a:solidFill>
                          <a:effectLst/>
                        </a:rPr>
                        <a:t>Review dates and times</a:t>
                      </a:r>
                    </a:p>
                  </a:txBody>
                  <a:tcPr marL="44272" marR="44272" marT="44272" marB="4427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IN" sz="1600" dirty="0">
                          <a:solidFill>
                            <a:srgbClr val="202020"/>
                          </a:solidFill>
                          <a:effectLst/>
                        </a:rPr>
                        <a:t>Keep timeline accurate</a:t>
                      </a:r>
                    </a:p>
                  </a:txBody>
                  <a:tcPr marL="44272" marR="44272" marT="44272" marB="44272"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extLst>
                  <a:ext uri="{0D108BD9-81ED-4DB2-BD59-A6C34878D82A}">
                    <a16:rowId xmlns:a16="http://schemas.microsoft.com/office/drawing/2014/main" val="2469446530"/>
                  </a:ext>
                </a:extLst>
              </a:tr>
            </a:tbl>
          </a:graphicData>
        </a:graphic>
      </p:graphicFrame>
    </p:spTree>
    <p:extLst>
      <p:ext uri="{BB962C8B-B14F-4D97-AF65-F5344CB8AC3E}">
        <p14:creationId xmlns:p14="http://schemas.microsoft.com/office/powerpoint/2010/main" val="3910139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DBE38-B664-ADDB-C340-85587A95CC7D}"/>
              </a:ext>
            </a:extLst>
          </p:cNvPr>
          <p:cNvSpPr>
            <a:spLocks noGrp="1"/>
          </p:cNvSpPr>
          <p:nvPr>
            <p:ph type="title"/>
          </p:nvPr>
        </p:nvSpPr>
        <p:spPr/>
        <p:txBody>
          <a:bodyPr>
            <a:normAutofit/>
          </a:bodyPr>
          <a:lstStyle/>
          <a:p>
            <a:r>
              <a:rPr lang="en-IN" b="1" dirty="0"/>
              <a:t>Managing report versions</a:t>
            </a:r>
            <a:endParaRPr lang="en-IN" dirty="0"/>
          </a:p>
        </p:txBody>
      </p:sp>
      <p:sp>
        <p:nvSpPr>
          <p:cNvPr id="3" name="Content Placeholder 2">
            <a:extLst>
              <a:ext uri="{FF2B5EF4-FFF2-40B4-BE49-F238E27FC236}">
                <a16:creationId xmlns:a16="http://schemas.microsoft.com/office/drawing/2014/main" id="{418766B1-1E49-3D21-55A5-492F26C5B63C}"/>
              </a:ext>
            </a:extLst>
          </p:cNvPr>
          <p:cNvSpPr>
            <a:spLocks noGrp="1"/>
          </p:cNvSpPr>
          <p:nvPr>
            <p:ph sz="quarter" idx="13"/>
          </p:nvPr>
        </p:nvSpPr>
        <p:spPr/>
        <p:txBody>
          <a:bodyPr>
            <a:normAutofit lnSpcReduction="10000"/>
          </a:bodyPr>
          <a:lstStyle/>
          <a:p>
            <a:r>
              <a:rPr lang="en-US" dirty="0"/>
              <a:t>Track changes to keep things accurate. Use a clear system for different report versions.</a:t>
            </a:r>
          </a:p>
          <a:p>
            <a:r>
              <a:rPr lang="en-US" dirty="0"/>
              <a:t>How to control versions:</a:t>
            </a:r>
          </a:p>
          <a:p>
            <a:r>
              <a:rPr lang="en-US" dirty="0"/>
              <a:t>Name files clearly (e.g., "Report_v1.2_2023-07-15")</a:t>
            </a:r>
          </a:p>
          <a:p>
            <a:r>
              <a:rPr lang="en-US" dirty="0"/>
              <a:t>Log changes</a:t>
            </a:r>
          </a:p>
          <a:p>
            <a:r>
              <a:rPr lang="en-US" dirty="0"/>
              <a:t>Store old versions safely</a:t>
            </a:r>
          </a:p>
          <a:p>
            <a:r>
              <a:rPr lang="en-US" dirty="0"/>
              <a:t>Use track changes in your writing software</a:t>
            </a:r>
          </a:p>
          <a:p>
            <a:r>
              <a:rPr lang="en-US" dirty="0"/>
              <a:t>Use these checks to boost your forensic reports' quality and reliability.</a:t>
            </a:r>
          </a:p>
          <a:p>
            <a:endParaRPr lang="en-IN" dirty="0"/>
          </a:p>
        </p:txBody>
      </p:sp>
    </p:spTree>
    <p:extLst>
      <p:ext uri="{BB962C8B-B14F-4D97-AF65-F5344CB8AC3E}">
        <p14:creationId xmlns:p14="http://schemas.microsoft.com/office/powerpoint/2010/main" val="22058887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B2606-0765-3875-5D8B-B64F7731295A}"/>
              </a:ext>
            </a:extLst>
          </p:cNvPr>
          <p:cNvSpPr>
            <a:spLocks noGrp="1"/>
          </p:cNvSpPr>
          <p:nvPr>
            <p:ph type="title"/>
          </p:nvPr>
        </p:nvSpPr>
        <p:spPr/>
        <p:txBody>
          <a:bodyPr>
            <a:normAutofit fontScale="90000"/>
          </a:bodyPr>
          <a:lstStyle/>
          <a:p>
            <a:r>
              <a:rPr lang="en-US" b="1" dirty="0"/>
              <a:t>Tools for writing forensic reports</a:t>
            </a:r>
            <a:endParaRPr lang="en-IN" dirty="0"/>
          </a:p>
        </p:txBody>
      </p:sp>
      <p:sp>
        <p:nvSpPr>
          <p:cNvPr id="3" name="Content Placeholder 2">
            <a:extLst>
              <a:ext uri="{FF2B5EF4-FFF2-40B4-BE49-F238E27FC236}">
                <a16:creationId xmlns:a16="http://schemas.microsoft.com/office/drawing/2014/main" id="{6B805F42-6A93-6189-932A-DB269D01B60B}"/>
              </a:ext>
            </a:extLst>
          </p:cNvPr>
          <p:cNvSpPr>
            <a:spLocks noGrp="1"/>
          </p:cNvSpPr>
          <p:nvPr>
            <p:ph sz="quarter" idx="13"/>
          </p:nvPr>
        </p:nvSpPr>
        <p:spPr>
          <a:xfrm>
            <a:off x="685801" y="2063396"/>
            <a:ext cx="5591710" cy="3311189"/>
          </a:xfrm>
        </p:spPr>
        <p:txBody>
          <a:bodyPr/>
          <a:lstStyle/>
          <a:p>
            <a:r>
              <a:rPr lang="en-US" dirty="0"/>
              <a:t>Forensic report writing needs special software. Here are the key tools:</a:t>
            </a:r>
          </a:p>
          <a:p>
            <a:r>
              <a:rPr lang="en-US" b="1" dirty="0"/>
              <a:t>Digital evidence software</a:t>
            </a:r>
          </a:p>
          <a:p>
            <a:r>
              <a:rPr lang="en-US" dirty="0"/>
              <a:t>These tools help investigators dig into electronic devices:</a:t>
            </a:r>
          </a:p>
          <a:p>
            <a:r>
              <a:rPr lang="en-US" dirty="0"/>
              <a:t>They keep evidence intact - a MUST for court.</a:t>
            </a:r>
          </a:p>
          <a:p>
            <a:endParaRPr lang="en-IN" dirty="0"/>
          </a:p>
        </p:txBody>
      </p:sp>
      <p:graphicFrame>
        <p:nvGraphicFramePr>
          <p:cNvPr id="4" name="Table 3">
            <a:extLst>
              <a:ext uri="{FF2B5EF4-FFF2-40B4-BE49-F238E27FC236}">
                <a16:creationId xmlns:a16="http://schemas.microsoft.com/office/drawing/2014/main" id="{2FE5034A-BECF-6C7E-99EC-475E2462B046}"/>
              </a:ext>
            </a:extLst>
          </p:cNvPr>
          <p:cNvGraphicFramePr>
            <a:graphicFrameLocks noGrp="1"/>
          </p:cNvGraphicFramePr>
          <p:nvPr>
            <p:extLst>
              <p:ext uri="{D42A27DB-BD31-4B8C-83A1-F6EECF244321}">
                <p14:modId xmlns:p14="http://schemas.microsoft.com/office/powerpoint/2010/main" val="1989016603"/>
              </p:ext>
            </p:extLst>
          </p:nvPr>
        </p:nvGraphicFramePr>
        <p:xfrm>
          <a:off x="6174768" y="2063750"/>
          <a:ext cx="5208996" cy="3311525"/>
        </p:xfrm>
        <a:graphic>
          <a:graphicData uri="http://schemas.openxmlformats.org/drawingml/2006/table">
            <a:tbl>
              <a:tblPr/>
              <a:tblGrid>
                <a:gridCol w="1736332">
                  <a:extLst>
                    <a:ext uri="{9D8B030D-6E8A-4147-A177-3AD203B41FA5}">
                      <a16:colId xmlns:a16="http://schemas.microsoft.com/office/drawing/2014/main" val="1895629500"/>
                    </a:ext>
                  </a:extLst>
                </a:gridCol>
                <a:gridCol w="1736332">
                  <a:extLst>
                    <a:ext uri="{9D8B030D-6E8A-4147-A177-3AD203B41FA5}">
                      <a16:colId xmlns:a16="http://schemas.microsoft.com/office/drawing/2014/main" val="4291580349"/>
                    </a:ext>
                  </a:extLst>
                </a:gridCol>
                <a:gridCol w="1736332">
                  <a:extLst>
                    <a:ext uri="{9D8B030D-6E8A-4147-A177-3AD203B41FA5}">
                      <a16:colId xmlns:a16="http://schemas.microsoft.com/office/drawing/2014/main" val="55174596"/>
                    </a:ext>
                  </a:extLst>
                </a:gridCol>
              </a:tblGrid>
              <a:tr h="402923">
                <a:tc>
                  <a:txBody>
                    <a:bodyPr/>
                    <a:lstStyle/>
                    <a:p>
                      <a:pPr algn="ctr">
                        <a:buNone/>
                      </a:pPr>
                      <a:r>
                        <a:rPr lang="en-IN" sz="1600" dirty="0">
                          <a:solidFill>
                            <a:srgbClr val="202020"/>
                          </a:solidFill>
                          <a:effectLst/>
                        </a:rPr>
                        <a:t>Software</a:t>
                      </a:r>
                    </a:p>
                  </a:txBody>
                  <a:tcPr marL="31478" marR="31478" marT="31478" marB="31478"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tc>
                  <a:txBody>
                    <a:bodyPr/>
                    <a:lstStyle/>
                    <a:p>
                      <a:pPr algn="ctr">
                        <a:buNone/>
                      </a:pPr>
                      <a:r>
                        <a:rPr lang="en-IN" sz="1600">
                          <a:solidFill>
                            <a:srgbClr val="202020"/>
                          </a:solidFill>
                          <a:effectLst/>
                        </a:rPr>
                        <a:t>What it does</a:t>
                      </a:r>
                    </a:p>
                  </a:txBody>
                  <a:tcPr marL="31478" marR="31478" marT="31478" marB="31478"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tc>
                  <a:txBody>
                    <a:bodyPr/>
                    <a:lstStyle/>
                    <a:p>
                      <a:pPr algn="ctr">
                        <a:buNone/>
                      </a:pPr>
                      <a:r>
                        <a:rPr lang="en-IN" sz="1600">
                          <a:solidFill>
                            <a:srgbClr val="202020"/>
                          </a:solidFill>
                          <a:effectLst/>
                        </a:rPr>
                        <a:t>Best for</a:t>
                      </a:r>
                    </a:p>
                  </a:txBody>
                  <a:tcPr marL="31478" marR="31478" marT="31478" marB="31478"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extLst>
                  <a:ext uri="{0D108BD9-81ED-4DB2-BD59-A6C34878D82A}">
                    <a16:rowId xmlns:a16="http://schemas.microsoft.com/office/drawing/2014/main" val="3855086858"/>
                  </a:ext>
                </a:extLst>
              </a:tr>
              <a:tr h="912873">
                <a:tc>
                  <a:txBody>
                    <a:bodyPr/>
                    <a:lstStyle/>
                    <a:p>
                      <a:pPr algn="ctr">
                        <a:buNone/>
                      </a:pPr>
                      <a:r>
                        <a:rPr lang="en-IN" sz="1600">
                          <a:solidFill>
                            <a:srgbClr val="202020"/>
                          </a:solidFill>
                          <a:effectLst/>
                        </a:rPr>
                        <a:t>Autopsy</a:t>
                      </a:r>
                    </a:p>
                  </a:txBody>
                  <a:tcPr marL="31478" marR="31478" marT="31478" marB="31478"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1600">
                          <a:solidFill>
                            <a:srgbClr val="202020"/>
                          </a:solidFill>
                          <a:effectLst/>
                        </a:rPr>
                        <a:t>Open-source, filters files, analyzes registries</a:t>
                      </a:r>
                    </a:p>
                  </a:txBody>
                  <a:tcPr marL="31478" marR="31478" marT="31478" marB="31478"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1600" dirty="0">
                          <a:solidFill>
                            <a:srgbClr val="202020"/>
                          </a:solidFill>
                          <a:effectLst/>
                        </a:rPr>
                        <a:t>Schools, tight budgets</a:t>
                      </a:r>
                    </a:p>
                  </a:txBody>
                  <a:tcPr marL="31478" marR="31478" marT="31478" marB="31478"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2368836138"/>
                  </a:ext>
                </a:extLst>
              </a:tr>
              <a:tr h="912873">
                <a:tc>
                  <a:txBody>
                    <a:bodyPr/>
                    <a:lstStyle/>
                    <a:p>
                      <a:pPr algn="ctr">
                        <a:buNone/>
                      </a:pPr>
                      <a:r>
                        <a:rPr lang="en-IN" sz="1600">
                          <a:solidFill>
                            <a:srgbClr val="202020"/>
                          </a:solidFill>
                          <a:effectLst/>
                        </a:rPr>
                        <a:t>FTK</a:t>
                      </a:r>
                    </a:p>
                  </a:txBody>
                  <a:tcPr marL="31478" marR="31478" marT="31478" marB="31478"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IN" sz="1600">
                          <a:solidFill>
                            <a:srgbClr val="202020"/>
                          </a:solidFill>
                          <a:effectLst/>
                        </a:rPr>
                        <a:t>Powerful processing, wide-ranging analysis</a:t>
                      </a:r>
                    </a:p>
                  </a:txBody>
                  <a:tcPr marL="31478" marR="31478" marT="31478" marB="31478"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IN" sz="1600">
                          <a:solidFill>
                            <a:srgbClr val="202020"/>
                          </a:solidFill>
                          <a:effectLst/>
                        </a:rPr>
                        <a:t>Big investigations</a:t>
                      </a:r>
                    </a:p>
                  </a:txBody>
                  <a:tcPr marL="31478" marR="31478" marT="31478" marB="31478"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extLst>
                  <a:ext uri="{0D108BD9-81ED-4DB2-BD59-A6C34878D82A}">
                    <a16:rowId xmlns:a16="http://schemas.microsoft.com/office/drawing/2014/main" val="618508430"/>
                  </a:ext>
                </a:extLst>
              </a:tr>
              <a:tr h="1082856">
                <a:tc>
                  <a:txBody>
                    <a:bodyPr/>
                    <a:lstStyle/>
                    <a:p>
                      <a:pPr algn="ctr">
                        <a:buNone/>
                      </a:pPr>
                      <a:r>
                        <a:rPr lang="en-IN" sz="1600">
                          <a:solidFill>
                            <a:srgbClr val="202020"/>
                          </a:solidFill>
                          <a:effectLst/>
                        </a:rPr>
                        <a:t>Cellebrite UFED</a:t>
                      </a:r>
                    </a:p>
                  </a:txBody>
                  <a:tcPr marL="31478" marR="31478" marT="31478" marB="31478"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1600">
                          <a:solidFill>
                            <a:srgbClr val="202020"/>
                          </a:solidFill>
                          <a:effectLst/>
                        </a:rPr>
                        <a:t>Handles mobile devices, extracts cloud backups</a:t>
                      </a:r>
                    </a:p>
                  </a:txBody>
                  <a:tcPr marL="31478" marR="31478" marT="31478" marB="31478"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1600" dirty="0">
                          <a:solidFill>
                            <a:srgbClr val="202020"/>
                          </a:solidFill>
                          <a:effectLst/>
                        </a:rPr>
                        <a:t>Mobile forensics</a:t>
                      </a:r>
                    </a:p>
                  </a:txBody>
                  <a:tcPr marL="31478" marR="31478" marT="31478" marB="31478"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1618072320"/>
                  </a:ext>
                </a:extLst>
              </a:tr>
            </a:tbl>
          </a:graphicData>
        </a:graphic>
      </p:graphicFrame>
    </p:spTree>
    <p:extLst>
      <p:ext uri="{BB962C8B-B14F-4D97-AF65-F5344CB8AC3E}">
        <p14:creationId xmlns:p14="http://schemas.microsoft.com/office/powerpoint/2010/main" val="10417230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F3BCE-536A-8489-7A5C-4AEC3A2D8E26}"/>
              </a:ext>
            </a:extLst>
          </p:cNvPr>
          <p:cNvSpPr>
            <a:spLocks noGrp="1"/>
          </p:cNvSpPr>
          <p:nvPr>
            <p:ph type="title"/>
          </p:nvPr>
        </p:nvSpPr>
        <p:spPr/>
        <p:txBody>
          <a:bodyPr>
            <a:normAutofit/>
          </a:bodyPr>
          <a:lstStyle/>
          <a:p>
            <a:r>
              <a:rPr lang="en-IN" b="1" dirty="0"/>
              <a:t>Data analysis programs</a:t>
            </a:r>
            <a:endParaRPr lang="en-IN" dirty="0"/>
          </a:p>
        </p:txBody>
      </p:sp>
      <p:sp>
        <p:nvSpPr>
          <p:cNvPr id="3" name="Content Placeholder 2">
            <a:extLst>
              <a:ext uri="{FF2B5EF4-FFF2-40B4-BE49-F238E27FC236}">
                <a16:creationId xmlns:a16="http://schemas.microsoft.com/office/drawing/2014/main" id="{3B83DEEB-6251-642A-AD77-7EA36F730437}"/>
              </a:ext>
            </a:extLst>
          </p:cNvPr>
          <p:cNvSpPr>
            <a:spLocks noGrp="1"/>
          </p:cNvSpPr>
          <p:nvPr>
            <p:ph sz="quarter" idx="13"/>
          </p:nvPr>
        </p:nvSpPr>
        <p:spPr/>
        <p:txBody>
          <a:bodyPr>
            <a:normAutofit fontScale="92500" lnSpcReduction="10000"/>
          </a:bodyPr>
          <a:lstStyle/>
          <a:p>
            <a:pPr algn="just"/>
            <a:r>
              <a:rPr lang="en-IN" sz="2800" dirty="0"/>
              <a:t>These crunch complex info from various sources:</a:t>
            </a:r>
          </a:p>
          <a:p>
            <a:pPr algn="just"/>
            <a:r>
              <a:rPr lang="en-IN" sz="2800" dirty="0"/>
              <a:t>Magnet AXIOM: Great for mobile and cloud data</a:t>
            </a:r>
          </a:p>
          <a:p>
            <a:pPr algn="just"/>
            <a:r>
              <a:rPr lang="en-IN" sz="2800" dirty="0" err="1"/>
              <a:t>Belkasoft</a:t>
            </a:r>
            <a:r>
              <a:rPr lang="en-IN" sz="2800" dirty="0"/>
              <a:t> Evidence </a:t>
            </a:r>
            <a:r>
              <a:rPr lang="en-IN" sz="2800" dirty="0" err="1"/>
              <a:t>Center</a:t>
            </a:r>
            <a:r>
              <a:rPr lang="en-IN" sz="2800" dirty="0"/>
              <a:t>: Digs up digital artifacts and memory forensics</a:t>
            </a:r>
          </a:p>
          <a:p>
            <a:pPr algn="just"/>
            <a:r>
              <a:rPr lang="en-IN" sz="2800" dirty="0"/>
              <a:t>IBM Security </a:t>
            </a:r>
            <a:r>
              <a:rPr lang="en-IN" sz="2800" dirty="0" err="1"/>
              <a:t>QRadar</a:t>
            </a:r>
            <a:r>
              <a:rPr lang="en-IN" sz="2800" dirty="0"/>
              <a:t> SIEM: Manages security events and logs</a:t>
            </a:r>
          </a:p>
          <a:p>
            <a:pPr algn="just"/>
            <a:r>
              <a:rPr lang="en-IN" sz="2800" dirty="0"/>
              <a:t>They help spot patterns in huge datasets.</a:t>
            </a:r>
          </a:p>
        </p:txBody>
      </p:sp>
    </p:spTree>
    <p:extLst>
      <p:ext uri="{BB962C8B-B14F-4D97-AF65-F5344CB8AC3E}">
        <p14:creationId xmlns:p14="http://schemas.microsoft.com/office/powerpoint/2010/main" val="2884240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5CE20-A1A7-5CC9-75AF-C35C03D97197}"/>
              </a:ext>
            </a:extLst>
          </p:cNvPr>
          <p:cNvSpPr>
            <a:spLocks noGrp="1"/>
          </p:cNvSpPr>
          <p:nvPr>
            <p:ph type="title"/>
          </p:nvPr>
        </p:nvSpPr>
        <p:spPr/>
        <p:txBody>
          <a:bodyPr>
            <a:normAutofit/>
          </a:bodyPr>
          <a:lstStyle/>
          <a:p>
            <a:r>
              <a:rPr lang="en-IN" b="1" dirty="0"/>
              <a:t>Conclusion</a:t>
            </a:r>
            <a:endParaRPr lang="en-IN" dirty="0"/>
          </a:p>
        </p:txBody>
      </p:sp>
      <p:sp>
        <p:nvSpPr>
          <p:cNvPr id="3" name="Content Placeholder 2">
            <a:extLst>
              <a:ext uri="{FF2B5EF4-FFF2-40B4-BE49-F238E27FC236}">
                <a16:creationId xmlns:a16="http://schemas.microsoft.com/office/drawing/2014/main" id="{E8CFCC79-E73D-5903-384A-893B44B00CC7}"/>
              </a:ext>
            </a:extLst>
          </p:cNvPr>
          <p:cNvSpPr>
            <a:spLocks noGrp="1"/>
          </p:cNvSpPr>
          <p:nvPr>
            <p:ph sz="quarter" idx="13"/>
          </p:nvPr>
        </p:nvSpPr>
        <p:spPr/>
        <p:txBody>
          <a:bodyPr/>
          <a:lstStyle/>
          <a:p>
            <a:r>
              <a:rPr lang="en-US" dirty="0"/>
              <a:t>Forensic report writing is all about being clear, precise, and unbiased. Here's what you need to know:</a:t>
            </a:r>
          </a:p>
          <a:p>
            <a:r>
              <a:rPr lang="en-US" dirty="0"/>
              <a:t>Use a logical structure: Title Page, Overview, Evidence, Findings</a:t>
            </a:r>
          </a:p>
          <a:p>
            <a:r>
              <a:rPr lang="en-US" dirty="0"/>
              <a:t>Document everything you do when examining digital media</a:t>
            </a:r>
          </a:p>
          <a:p>
            <a:r>
              <a:rPr lang="en-US" dirty="0"/>
              <a:t>Stick to the facts, leave out personal opinions</a:t>
            </a:r>
          </a:p>
          <a:p>
            <a:r>
              <a:rPr lang="en-US" dirty="0"/>
              <a:t>Write so everyone can understand, not just tech experts</a:t>
            </a:r>
          </a:p>
          <a:p>
            <a:endParaRPr lang="en-IN" dirty="0"/>
          </a:p>
        </p:txBody>
      </p:sp>
    </p:spTree>
    <p:extLst>
      <p:ext uri="{BB962C8B-B14F-4D97-AF65-F5344CB8AC3E}">
        <p14:creationId xmlns:p14="http://schemas.microsoft.com/office/powerpoint/2010/main" val="16614804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A077F-E022-5EEF-9E09-4AAD508FF0A0}"/>
              </a:ext>
            </a:extLst>
          </p:cNvPr>
          <p:cNvSpPr>
            <a:spLocks noGrp="1"/>
          </p:cNvSpPr>
          <p:nvPr>
            <p:ph type="title"/>
          </p:nvPr>
        </p:nvSpPr>
        <p:spPr/>
        <p:txBody>
          <a:bodyPr>
            <a:normAutofit fontScale="90000"/>
          </a:bodyPr>
          <a:lstStyle/>
          <a:p>
            <a:r>
              <a:rPr lang="en-US" dirty="0"/>
              <a:t>The future of forensic reports? It's changing fast:</a:t>
            </a:r>
            <a:endParaRPr lang="en-IN" dirty="0"/>
          </a:p>
        </p:txBody>
      </p:sp>
      <p:sp>
        <p:nvSpPr>
          <p:cNvPr id="3" name="Content Placeholder 2">
            <a:extLst>
              <a:ext uri="{FF2B5EF4-FFF2-40B4-BE49-F238E27FC236}">
                <a16:creationId xmlns:a16="http://schemas.microsoft.com/office/drawing/2014/main" id="{92F8271E-D2F0-9D8B-FDFA-253D28E8D2A4}"/>
              </a:ext>
            </a:extLst>
          </p:cNvPr>
          <p:cNvSpPr>
            <a:spLocks noGrp="1"/>
          </p:cNvSpPr>
          <p:nvPr>
            <p:ph sz="quarter" idx="13"/>
          </p:nvPr>
        </p:nvSpPr>
        <p:spPr>
          <a:xfrm>
            <a:off x="685801" y="2063396"/>
            <a:ext cx="5612258" cy="3311189"/>
          </a:xfrm>
        </p:spPr>
        <p:txBody>
          <a:bodyPr/>
          <a:lstStyle/>
          <a:p>
            <a:r>
              <a:rPr lang="en-US" b="1" dirty="0"/>
              <a:t>Tech is taking over</a:t>
            </a:r>
            <a:endParaRPr lang="en-US" dirty="0"/>
          </a:p>
          <a:p>
            <a:r>
              <a:rPr lang="en-US" dirty="0"/>
              <a:t>AI and machine learning are shaking things up:</a:t>
            </a:r>
          </a:p>
          <a:p>
            <a:endParaRPr lang="en-IN" dirty="0"/>
          </a:p>
        </p:txBody>
      </p:sp>
      <p:graphicFrame>
        <p:nvGraphicFramePr>
          <p:cNvPr id="4" name="Table 3">
            <a:extLst>
              <a:ext uri="{FF2B5EF4-FFF2-40B4-BE49-F238E27FC236}">
                <a16:creationId xmlns:a16="http://schemas.microsoft.com/office/drawing/2014/main" id="{6C72E465-EEC1-9EEA-616A-7B314411C77A}"/>
              </a:ext>
            </a:extLst>
          </p:cNvPr>
          <p:cNvGraphicFramePr>
            <a:graphicFrameLocks noGrp="1"/>
          </p:cNvGraphicFramePr>
          <p:nvPr>
            <p:extLst>
              <p:ext uri="{D42A27DB-BD31-4B8C-83A1-F6EECF244321}">
                <p14:modId xmlns:p14="http://schemas.microsoft.com/office/powerpoint/2010/main" val="4032752423"/>
              </p:ext>
            </p:extLst>
          </p:nvPr>
        </p:nvGraphicFramePr>
        <p:xfrm>
          <a:off x="6411074" y="1715785"/>
          <a:ext cx="4931596" cy="3658800"/>
        </p:xfrm>
        <a:graphic>
          <a:graphicData uri="http://schemas.openxmlformats.org/drawingml/2006/table">
            <a:tbl>
              <a:tblPr/>
              <a:tblGrid>
                <a:gridCol w="2465798">
                  <a:extLst>
                    <a:ext uri="{9D8B030D-6E8A-4147-A177-3AD203B41FA5}">
                      <a16:colId xmlns:a16="http://schemas.microsoft.com/office/drawing/2014/main" val="1425542015"/>
                    </a:ext>
                  </a:extLst>
                </a:gridCol>
                <a:gridCol w="2465798">
                  <a:extLst>
                    <a:ext uri="{9D8B030D-6E8A-4147-A177-3AD203B41FA5}">
                      <a16:colId xmlns:a16="http://schemas.microsoft.com/office/drawing/2014/main" val="2753825339"/>
                    </a:ext>
                  </a:extLst>
                </a:gridCol>
              </a:tblGrid>
              <a:tr h="591159">
                <a:tc>
                  <a:txBody>
                    <a:bodyPr/>
                    <a:lstStyle/>
                    <a:p>
                      <a:pPr algn="ctr">
                        <a:buNone/>
                      </a:pPr>
                      <a:r>
                        <a:rPr lang="en-IN">
                          <a:solidFill>
                            <a:srgbClr val="202020"/>
                          </a:solidFill>
                          <a:effectLst/>
                        </a:rPr>
                        <a:t>Tech</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tc>
                  <a:txBody>
                    <a:bodyPr/>
                    <a:lstStyle/>
                    <a:p>
                      <a:pPr algn="ctr">
                        <a:buNone/>
                      </a:pPr>
                      <a:r>
                        <a:rPr lang="en-IN">
                          <a:solidFill>
                            <a:srgbClr val="202020"/>
                          </a:solidFill>
                          <a:effectLst/>
                        </a:rPr>
                        <a:t>What it does</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extLst>
                  <a:ext uri="{0D108BD9-81ED-4DB2-BD59-A6C34878D82A}">
                    <a16:rowId xmlns:a16="http://schemas.microsoft.com/office/drawing/2014/main" val="508923171"/>
                  </a:ext>
                </a:extLst>
              </a:tr>
              <a:tr h="1022547">
                <a:tc>
                  <a:txBody>
                    <a:bodyPr/>
                    <a:lstStyle/>
                    <a:p>
                      <a:pPr algn="ctr">
                        <a:buNone/>
                      </a:pPr>
                      <a:r>
                        <a:rPr lang="en-IN" dirty="0">
                          <a:solidFill>
                            <a:srgbClr val="202020"/>
                          </a:solidFill>
                          <a:effectLst/>
                        </a:rPr>
                        <a:t>AI</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a:solidFill>
                            <a:srgbClr val="202020"/>
                          </a:solidFill>
                          <a:effectLst/>
                        </a:rPr>
                        <a:t>Spots patterns in big financial datasets</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2818401048"/>
                  </a:ext>
                </a:extLst>
              </a:tr>
              <a:tr h="1022547">
                <a:tc>
                  <a:txBody>
                    <a:bodyPr/>
                    <a:lstStyle/>
                    <a:p>
                      <a:pPr algn="ctr">
                        <a:buNone/>
                      </a:pPr>
                      <a:r>
                        <a:rPr lang="en-IN">
                          <a:solidFill>
                            <a:srgbClr val="202020"/>
                          </a:solidFill>
                          <a:effectLst/>
                        </a:rPr>
                        <a:t>Blockchain</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US">
                          <a:solidFill>
                            <a:srgbClr val="202020"/>
                          </a:solidFill>
                          <a:effectLst/>
                        </a:rPr>
                        <a:t>Fights fraud, keeps data safe</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extLst>
                  <a:ext uri="{0D108BD9-81ED-4DB2-BD59-A6C34878D82A}">
                    <a16:rowId xmlns:a16="http://schemas.microsoft.com/office/drawing/2014/main" val="1674707628"/>
                  </a:ext>
                </a:extLst>
              </a:tr>
              <a:tr h="1022547">
                <a:tc>
                  <a:txBody>
                    <a:bodyPr/>
                    <a:lstStyle/>
                    <a:p>
                      <a:pPr algn="ctr">
                        <a:buNone/>
                      </a:pPr>
                      <a:r>
                        <a:rPr lang="en-IN">
                          <a:solidFill>
                            <a:srgbClr val="202020"/>
                          </a:solidFill>
                          <a:effectLst/>
                        </a:rPr>
                        <a:t>Cloud software</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dirty="0">
                          <a:solidFill>
                            <a:srgbClr val="202020"/>
                          </a:solidFill>
                          <a:effectLst/>
                        </a:rPr>
                        <a:t>Makes investigations faster</a:t>
                      </a:r>
                    </a:p>
                  </a:txBody>
                  <a:tcPr marL="50800" marR="50800" marT="50800" marB="5080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1906942712"/>
                  </a:ext>
                </a:extLst>
              </a:tr>
            </a:tbl>
          </a:graphicData>
        </a:graphic>
      </p:graphicFrame>
    </p:spTree>
    <p:extLst>
      <p:ext uri="{BB962C8B-B14F-4D97-AF65-F5344CB8AC3E}">
        <p14:creationId xmlns:p14="http://schemas.microsoft.com/office/powerpoint/2010/main" val="18687983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65031-9E2B-8F73-C284-154132A8FC16}"/>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B5EED291-EC02-351C-D28F-3C00AA4445AE}"/>
              </a:ext>
            </a:extLst>
          </p:cNvPr>
          <p:cNvSpPr>
            <a:spLocks noGrp="1"/>
          </p:cNvSpPr>
          <p:nvPr>
            <p:ph sz="quarter" idx="13"/>
          </p:nvPr>
        </p:nvSpPr>
        <p:spPr>
          <a:xfrm>
            <a:off x="685800" y="873304"/>
            <a:ext cx="10394707" cy="4501282"/>
          </a:xfrm>
        </p:spPr>
        <p:txBody>
          <a:bodyPr>
            <a:normAutofit/>
          </a:bodyPr>
          <a:lstStyle/>
          <a:p>
            <a:r>
              <a:rPr lang="en-US" sz="2400" b="1" dirty="0"/>
              <a:t>Reports are getting faster</a:t>
            </a:r>
            <a:endParaRPr lang="en-US" sz="2400" dirty="0"/>
          </a:p>
          <a:p>
            <a:r>
              <a:rPr lang="en-US" sz="2400" dirty="0"/>
              <a:t>New tech means quicker, more dynamic reporting.</a:t>
            </a:r>
          </a:p>
          <a:p>
            <a:r>
              <a:rPr lang="en-US" sz="2400" dirty="0"/>
              <a:t>3. </a:t>
            </a:r>
            <a:r>
              <a:rPr lang="en-US" sz="2400" b="1" dirty="0"/>
              <a:t>Cybercrime is the new focus</a:t>
            </a:r>
            <a:endParaRPr lang="en-US" sz="2400" dirty="0"/>
          </a:p>
          <a:p>
            <a:r>
              <a:rPr lang="en-US" sz="2400" dirty="0"/>
              <a:t>As digital crimes increase, reports need to keep up with new evidence types and analysis methods.</a:t>
            </a:r>
          </a:p>
          <a:p>
            <a:r>
              <a:rPr lang="en-US" sz="2400" dirty="0"/>
              <a:t>Bottom line: Good forensic report writing is KEY for legal cases and stopping fraud. It's not just about writing - it's about justice.</a:t>
            </a:r>
          </a:p>
          <a:p>
            <a:endParaRPr lang="en-IN" sz="2400" dirty="0"/>
          </a:p>
        </p:txBody>
      </p:sp>
    </p:spTree>
    <p:extLst>
      <p:ext uri="{BB962C8B-B14F-4D97-AF65-F5344CB8AC3E}">
        <p14:creationId xmlns:p14="http://schemas.microsoft.com/office/powerpoint/2010/main" val="39802299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1A17E-9050-2A40-C838-062E82C222DB}"/>
              </a:ext>
            </a:extLst>
          </p:cNvPr>
          <p:cNvSpPr>
            <a:spLocks noGrp="1"/>
          </p:cNvSpPr>
          <p:nvPr>
            <p:ph type="title"/>
          </p:nvPr>
        </p:nvSpPr>
        <p:spPr/>
        <p:txBody>
          <a:bodyPr>
            <a:normAutofit fontScale="90000"/>
          </a:bodyPr>
          <a:lstStyle/>
          <a:p>
            <a:pPr algn="ctr"/>
            <a:r>
              <a:rPr lang="en-US" b="1" dirty="0"/>
              <a:t>What type of headings should be included in a forensic report?</a:t>
            </a:r>
            <a:endParaRPr lang="en-IN" dirty="0"/>
          </a:p>
        </p:txBody>
      </p:sp>
      <p:graphicFrame>
        <p:nvGraphicFramePr>
          <p:cNvPr id="4" name="Content Placeholder 3">
            <a:extLst>
              <a:ext uri="{FF2B5EF4-FFF2-40B4-BE49-F238E27FC236}">
                <a16:creationId xmlns:a16="http://schemas.microsoft.com/office/drawing/2014/main" id="{48AECF8A-A163-35B3-36AC-849F70C664B3}"/>
              </a:ext>
            </a:extLst>
          </p:cNvPr>
          <p:cNvGraphicFramePr>
            <a:graphicFrameLocks noGrp="1"/>
          </p:cNvGraphicFramePr>
          <p:nvPr>
            <p:ph sz="quarter" idx="13"/>
            <p:extLst>
              <p:ext uri="{D42A27DB-BD31-4B8C-83A1-F6EECF244321}">
                <p14:modId xmlns:p14="http://schemas.microsoft.com/office/powerpoint/2010/main" val="2963995544"/>
              </p:ext>
            </p:extLst>
          </p:nvPr>
        </p:nvGraphicFramePr>
        <p:xfrm>
          <a:off x="1520574" y="2024582"/>
          <a:ext cx="8157682" cy="3517524"/>
        </p:xfrm>
        <a:graphic>
          <a:graphicData uri="http://schemas.openxmlformats.org/drawingml/2006/table">
            <a:tbl>
              <a:tblPr/>
              <a:tblGrid>
                <a:gridCol w="4078841">
                  <a:extLst>
                    <a:ext uri="{9D8B030D-6E8A-4147-A177-3AD203B41FA5}">
                      <a16:colId xmlns:a16="http://schemas.microsoft.com/office/drawing/2014/main" val="2755486180"/>
                    </a:ext>
                  </a:extLst>
                </a:gridCol>
                <a:gridCol w="4078841">
                  <a:extLst>
                    <a:ext uri="{9D8B030D-6E8A-4147-A177-3AD203B41FA5}">
                      <a16:colId xmlns:a16="http://schemas.microsoft.com/office/drawing/2014/main" val="740212313"/>
                    </a:ext>
                  </a:extLst>
                </a:gridCol>
              </a:tblGrid>
              <a:tr h="203195">
                <a:tc>
                  <a:txBody>
                    <a:bodyPr/>
                    <a:lstStyle/>
                    <a:p>
                      <a:pPr algn="ctr">
                        <a:buNone/>
                      </a:pPr>
                      <a:r>
                        <a:rPr lang="en-IN" sz="2000">
                          <a:solidFill>
                            <a:srgbClr val="202020"/>
                          </a:solidFill>
                          <a:effectLst/>
                        </a:rPr>
                        <a:t>Heading</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tc>
                  <a:txBody>
                    <a:bodyPr/>
                    <a:lstStyle/>
                    <a:p>
                      <a:pPr algn="ctr">
                        <a:buNone/>
                      </a:pPr>
                      <a:r>
                        <a:rPr lang="en-IN" sz="2000">
                          <a:solidFill>
                            <a:srgbClr val="202020"/>
                          </a:solidFill>
                          <a:effectLst/>
                        </a:rPr>
                        <a:t>Description</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DDDDD"/>
                    </a:solidFill>
                  </a:tcPr>
                </a:tc>
                <a:extLst>
                  <a:ext uri="{0D108BD9-81ED-4DB2-BD59-A6C34878D82A}">
                    <a16:rowId xmlns:a16="http://schemas.microsoft.com/office/drawing/2014/main" val="2213507379"/>
                  </a:ext>
                </a:extLst>
              </a:tr>
              <a:tr h="499749">
                <a:tc>
                  <a:txBody>
                    <a:bodyPr/>
                    <a:lstStyle/>
                    <a:p>
                      <a:pPr algn="ctr">
                        <a:buNone/>
                      </a:pPr>
                      <a:r>
                        <a:rPr lang="en-IN" sz="2000">
                          <a:solidFill>
                            <a:srgbClr val="202020"/>
                          </a:solidFill>
                          <a:effectLst/>
                        </a:rPr>
                        <a:t>Title</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2000">
                          <a:solidFill>
                            <a:srgbClr val="202020"/>
                          </a:solidFill>
                          <a:effectLst/>
                        </a:rPr>
                        <a:t>Case name, investigator, dates</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2899134075"/>
                  </a:ext>
                </a:extLst>
              </a:tr>
              <a:tr h="351472">
                <a:tc>
                  <a:txBody>
                    <a:bodyPr/>
                    <a:lstStyle/>
                    <a:p>
                      <a:pPr algn="ctr">
                        <a:buNone/>
                      </a:pPr>
                      <a:r>
                        <a:rPr lang="en-IN" sz="2000">
                          <a:solidFill>
                            <a:srgbClr val="202020"/>
                          </a:solidFill>
                          <a:effectLst/>
                        </a:rPr>
                        <a:t>Table of Contents</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US" sz="2000">
                          <a:solidFill>
                            <a:srgbClr val="202020"/>
                          </a:solidFill>
                          <a:effectLst/>
                        </a:rPr>
                        <a:t>Section list with page numbers</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extLst>
                  <a:ext uri="{0D108BD9-81ED-4DB2-BD59-A6C34878D82A}">
                    <a16:rowId xmlns:a16="http://schemas.microsoft.com/office/drawing/2014/main" val="1115036103"/>
                  </a:ext>
                </a:extLst>
              </a:tr>
              <a:tr h="351472">
                <a:tc>
                  <a:txBody>
                    <a:bodyPr/>
                    <a:lstStyle/>
                    <a:p>
                      <a:pPr algn="ctr">
                        <a:buNone/>
                      </a:pPr>
                      <a:r>
                        <a:rPr lang="en-IN" sz="2000">
                          <a:solidFill>
                            <a:srgbClr val="202020"/>
                          </a:solidFill>
                          <a:effectLst/>
                        </a:rPr>
                        <a:t>Case Summary</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2000" dirty="0">
                          <a:solidFill>
                            <a:srgbClr val="202020"/>
                          </a:solidFill>
                          <a:effectLst/>
                        </a:rPr>
                        <a:t>Brief, jargon-free overview</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3745236049"/>
                  </a:ext>
                </a:extLst>
              </a:tr>
              <a:tr h="351472">
                <a:tc>
                  <a:txBody>
                    <a:bodyPr/>
                    <a:lstStyle/>
                    <a:p>
                      <a:pPr algn="ctr">
                        <a:buNone/>
                      </a:pPr>
                      <a:r>
                        <a:rPr lang="en-IN" sz="2000">
                          <a:solidFill>
                            <a:srgbClr val="202020"/>
                          </a:solidFill>
                          <a:effectLst/>
                        </a:rPr>
                        <a:t>Evidence</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IN" sz="2000">
                          <a:solidFill>
                            <a:srgbClr val="202020"/>
                          </a:solidFill>
                          <a:effectLst/>
                        </a:rPr>
                        <a:t>Summary of submitted items</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extLst>
                  <a:ext uri="{0D108BD9-81ED-4DB2-BD59-A6C34878D82A}">
                    <a16:rowId xmlns:a16="http://schemas.microsoft.com/office/drawing/2014/main" val="3693042699"/>
                  </a:ext>
                </a:extLst>
              </a:tr>
              <a:tr h="351472">
                <a:tc>
                  <a:txBody>
                    <a:bodyPr/>
                    <a:lstStyle/>
                    <a:p>
                      <a:pPr algn="ctr">
                        <a:buNone/>
                      </a:pPr>
                      <a:r>
                        <a:rPr lang="en-IN" sz="2000">
                          <a:solidFill>
                            <a:srgbClr val="202020"/>
                          </a:solidFill>
                          <a:effectLst/>
                        </a:rPr>
                        <a:t>Objectives</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2000">
                          <a:solidFill>
                            <a:srgbClr val="202020"/>
                          </a:solidFill>
                          <a:effectLst/>
                        </a:rPr>
                        <a:t>Investigation goals</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2933122430"/>
                  </a:ext>
                </a:extLst>
              </a:tr>
              <a:tr h="351472">
                <a:tc>
                  <a:txBody>
                    <a:bodyPr/>
                    <a:lstStyle/>
                    <a:p>
                      <a:pPr algn="ctr">
                        <a:buNone/>
                      </a:pPr>
                      <a:r>
                        <a:rPr lang="en-IN" sz="2000">
                          <a:solidFill>
                            <a:srgbClr val="202020"/>
                          </a:solidFill>
                          <a:effectLst/>
                        </a:rPr>
                        <a:t>Methodology</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IN" sz="2000">
                          <a:solidFill>
                            <a:srgbClr val="202020"/>
                          </a:solidFill>
                          <a:effectLst/>
                        </a:rPr>
                        <a:t>Investigation steps</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extLst>
                  <a:ext uri="{0D108BD9-81ED-4DB2-BD59-A6C34878D82A}">
                    <a16:rowId xmlns:a16="http://schemas.microsoft.com/office/drawing/2014/main" val="4006675439"/>
                  </a:ext>
                </a:extLst>
              </a:tr>
              <a:tr h="351472">
                <a:tc>
                  <a:txBody>
                    <a:bodyPr/>
                    <a:lstStyle/>
                    <a:p>
                      <a:pPr algn="ctr">
                        <a:buNone/>
                      </a:pPr>
                      <a:r>
                        <a:rPr lang="en-IN" sz="2000">
                          <a:solidFill>
                            <a:srgbClr val="202020"/>
                          </a:solidFill>
                          <a:effectLst/>
                        </a:rPr>
                        <a:t>Tools Used</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tc>
                  <a:txBody>
                    <a:bodyPr/>
                    <a:lstStyle/>
                    <a:p>
                      <a:pPr algn="ctr">
                        <a:buNone/>
                      </a:pPr>
                      <a:r>
                        <a:rPr lang="en-IN" sz="2000">
                          <a:solidFill>
                            <a:srgbClr val="202020"/>
                          </a:solidFill>
                          <a:effectLst/>
                        </a:rPr>
                        <a:t>Digital forensic tools</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4244164211"/>
                  </a:ext>
                </a:extLst>
              </a:tr>
              <a:tr h="499749">
                <a:tc>
                  <a:txBody>
                    <a:bodyPr/>
                    <a:lstStyle/>
                    <a:p>
                      <a:pPr algn="ctr">
                        <a:buNone/>
                      </a:pPr>
                      <a:r>
                        <a:rPr lang="en-IN" sz="2000">
                          <a:solidFill>
                            <a:srgbClr val="202020"/>
                          </a:solidFill>
                          <a:effectLst/>
                        </a:rPr>
                        <a:t>Findings</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tc>
                  <a:txBody>
                    <a:bodyPr/>
                    <a:lstStyle/>
                    <a:p>
                      <a:pPr algn="ctr">
                        <a:buNone/>
                      </a:pPr>
                      <a:r>
                        <a:rPr lang="en-IN" sz="2000" dirty="0">
                          <a:solidFill>
                            <a:srgbClr val="202020"/>
                          </a:solidFill>
                          <a:effectLst/>
                        </a:rPr>
                        <a:t>Evidence explanation and importance</a:t>
                      </a:r>
                    </a:p>
                  </a:txBody>
                  <a:tcPr marL="27459" marR="27459" marT="27459" marB="27459"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5F5"/>
                    </a:solidFill>
                  </a:tcPr>
                </a:tc>
                <a:extLst>
                  <a:ext uri="{0D108BD9-81ED-4DB2-BD59-A6C34878D82A}">
                    <a16:rowId xmlns:a16="http://schemas.microsoft.com/office/drawing/2014/main" val="3699159816"/>
                  </a:ext>
                </a:extLst>
              </a:tr>
            </a:tbl>
          </a:graphicData>
        </a:graphic>
      </p:graphicFrame>
    </p:spTree>
    <p:extLst>
      <p:ext uri="{BB962C8B-B14F-4D97-AF65-F5344CB8AC3E}">
        <p14:creationId xmlns:p14="http://schemas.microsoft.com/office/powerpoint/2010/main" val="2307525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D71CD-3966-7DCF-D34E-BF20DE699556}"/>
              </a:ext>
            </a:extLst>
          </p:cNvPr>
          <p:cNvSpPr>
            <a:spLocks noGrp="1"/>
          </p:cNvSpPr>
          <p:nvPr>
            <p:ph type="title"/>
          </p:nvPr>
        </p:nvSpPr>
        <p:spPr/>
        <p:txBody>
          <a:bodyPr>
            <a:normAutofit/>
          </a:bodyPr>
          <a:lstStyle/>
          <a:p>
            <a:r>
              <a:rPr lang="en-US" b="1" dirty="0"/>
              <a:t>How to make a forensic report?</a:t>
            </a:r>
            <a:endParaRPr lang="en-IN" dirty="0"/>
          </a:p>
        </p:txBody>
      </p:sp>
      <p:sp>
        <p:nvSpPr>
          <p:cNvPr id="3" name="Content Placeholder 2">
            <a:extLst>
              <a:ext uri="{FF2B5EF4-FFF2-40B4-BE49-F238E27FC236}">
                <a16:creationId xmlns:a16="http://schemas.microsoft.com/office/drawing/2014/main" id="{0EAD19D2-0910-A2AE-0B80-EDA2E0AFD716}"/>
              </a:ext>
            </a:extLst>
          </p:cNvPr>
          <p:cNvSpPr>
            <a:spLocks noGrp="1"/>
          </p:cNvSpPr>
          <p:nvPr>
            <p:ph sz="quarter" idx="13"/>
          </p:nvPr>
        </p:nvSpPr>
        <p:spPr/>
        <p:txBody>
          <a:bodyPr>
            <a:normAutofit lnSpcReduction="10000"/>
          </a:bodyPr>
          <a:lstStyle/>
          <a:p>
            <a:r>
              <a:rPr lang="en-US" dirty="0"/>
              <a:t>Creating an effective forensic report boils down to:</a:t>
            </a:r>
          </a:p>
          <a:p>
            <a:r>
              <a:rPr lang="en-US" dirty="0"/>
              <a:t>1. Set a clear purpose and scope</a:t>
            </a:r>
          </a:p>
          <a:p>
            <a:r>
              <a:rPr lang="en-US" dirty="0"/>
              <a:t>2. Present evidence objectively</a:t>
            </a:r>
          </a:p>
          <a:p>
            <a:r>
              <a:rPr lang="en-US" dirty="0"/>
              <a:t>3. Draw conclusions and make recommendations</a:t>
            </a:r>
          </a:p>
          <a:p>
            <a:r>
              <a:rPr lang="en-US" dirty="0"/>
              <a:t>4. Add relevant appendices and references</a:t>
            </a:r>
          </a:p>
          <a:p>
            <a:r>
              <a:rPr lang="en-US" dirty="0"/>
              <a:t>5. Write an executive summary</a:t>
            </a:r>
          </a:p>
          <a:p>
            <a:r>
              <a:rPr lang="en-US" dirty="0"/>
              <a:t>6. Use consistent formatting</a:t>
            </a:r>
          </a:p>
          <a:p>
            <a:endParaRPr lang="en-IN" dirty="0"/>
          </a:p>
        </p:txBody>
      </p:sp>
    </p:spTree>
    <p:extLst>
      <p:ext uri="{BB962C8B-B14F-4D97-AF65-F5344CB8AC3E}">
        <p14:creationId xmlns:p14="http://schemas.microsoft.com/office/powerpoint/2010/main" val="42864559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B9A5-D078-BB2A-FF0E-F46C07163554}"/>
              </a:ext>
            </a:extLst>
          </p:cNvPr>
          <p:cNvSpPr>
            <a:spLocks noGrp="1"/>
          </p:cNvSpPr>
          <p:nvPr>
            <p:ph type="title"/>
          </p:nvPr>
        </p:nvSpPr>
        <p:spPr>
          <a:xfrm>
            <a:off x="685800" y="409707"/>
            <a:ext cx="10396882" cy="1151965"/>
          </a:xfrm>
        </p:spPr>
        <p:txBody>
          <a:bodyPr>
            <a:normAutofit fontScale="90000"/>
          </a:bodyPr>
          <a:lstStyle/>
          <a:p>
            <a:r>
              <a:rPr lang="en-US" b="1" dirty="0"/>
              <a:t>How to write a case report forensic?</a:t>
            </a:r>
            <a:endParaRPr lang="en-IN" dirty="0"/>
          </a:p>
        </p:txBody>
      </p:sp>
      <p:sp>
        <p:nvSpPr>
          <p:cNvPr id="3" name="Content Placeholder 2">
            <a:extLst>
              <a:ext uri="{FF2B5EF4-FFF2-40B4-BE49-F238E27FC236}">
                <a16:creationId xmlns:a16="http://schemas.microsoft.com/office/drawing/2014/main" id="{CB64B3BC-86EB-82CB-C16D-F8268C890237}"/>
              </a:ext>
            </a:extLst>
          </p:cNvPr>
          <p:cNvSpPr>
            <a:spLocks noGrp="1"/>
          </p:cNvSpPr>
          <p:nvPr>
            <p:ph sz="quarter" idx="13"/>
          </p:nvPr>
        </p:nvSpPr>
        <p:spPr>
          <a:xfrm>
            <a:off x="685800" y="1561672"/>
            <a:ext cx="10394707" cy="3935002"/>
          </a:xfrm>
        </p:spPr>
        <p:txBody>
          <a:bodyPr>
            <a:normAutofit fontScale="85000" lnSpcReduction="20000"/>
          </a:bodyPr>
          <a:lstStyle/>
          <a:p>
            <a:pPr marL="0" indent="0">
              <a:buNone/>
            </a:pPr>
            <a:r>
              <a:rPr lang="en-US" dirty="0"/>
              <a:t>For a solid forensic case report:</a:t>
            </a:r>
          </a:p>
          <a:p>
            <a:r>
              <a:rPr lang="en-US" dirty="0"/>
              <a:t>1. Start with a title page</a:t>
            </a:r>
          </a:p>
          <a:p>
            <a:r>
              <a:rPr lang="en-US" dirty="0"/>
              <a:t>2. Create a detailed table of contents</a:t>
            </a:r>
          </a:p>
          <a:p>
            <a:r>
              <a:rPr lang="en-US" dirty="0"/>
              <a:t>3. Write a concise case summary</a:t>
            </a:r>
          </a:p>
          <a:p>
            <a:r>
              <a:rPr lang="en-US" dirty="0"/>
              <a:t>4. List and explain all evidence</a:t>
            </a:r>
          </a:p>
          <a:p>
            <a:r>
              <a:rPr lang="en-US" dirty="0"/>
              <a:t>5. State clear objectives</a:t>
            </a:r>
          </a:p>
          <a:p>
            <a:r>
              <a:rPr lang="en-US" dirty="0"/>
              <a:t>6. Outline investigation steps</a:t>
            </a:r>
          </a:p>
          <a:p>
            <a:r>
              <a:rPr lang="en-US" dirty="0"/>
              <a:t>7. Mention analysis tools</a:t>
            </a:r>
          </a:p>
          <a:p>
            <a:r>
              <a:rPr lang="en-US" dirty="0"/>
              <a:t>8. Present key findings</a:t>
            </a:r>
          </a:p>
          <a:p>
            <a:r>
              <a:rPr lang="en-US" dirty="0"/>
              <a:t>Remember: Keep it clear, objective, and thorough.</a:t>
            </a:r>
          </a:p>
        </p:txBody>
      </p:sp>
    </p:spTree>
    <p:extLst>
      <p:ext uri="{BB962C8B-B14F-4D97-AF65-F5344CB8AC3E}">
        <p14:creationId xmlns:p14="http://schemas.microsoft.com/office/powerpoint/2010/main" val="36012079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3EBF6-7BCB-CDF1-086B-4ECB829BB400}"/>
              </a:ext>
            </a:extLst>
          </p:cNvPr>
          <p:cNvSpPr>
            <a:spLocks noGrp="1"/>
          </p:cNvSpPr>
          <p:nvPr>
            <p:ph type="title"/>
          </p:nvPr>
        </p:nvSpPr>
        <p:spPr/>
        <p:txBody>
          <a:bodyPr>
            <a:noAutofit/>
          </a:bodyPr>
          <a:lstStyle/>
          <a:p>
            <a:r>
              <a:rPr lang="en-IN" sz="4400" dirty="0"/>
              <a:t>Forensic report writing sample format</a:t>
            </a:r>
          </a:p>
        </p:txBody>
      </p:sp>
      <p:sp>
        <p:nvSpPr>
          <p:cNvPr id="3" name="Content Placeholder 2">
            <a:extLst>
              <a:ext uri="{FF2B5EF4-FFF2-40B4-BE49-F238E27FC236}">
                <a16:creationId xmlns:a16="http://schemas.microsoft.com/office/drawing/2014/main" id="{E7787986-ACB6-B5BC-222B-41B8C97AE0B9}"/>
              </a:ext>
            </a:extLst>
          </p:cNvPr>
          <p:cNvSpPr>
            <a:spLocks noGrp="1"/>
          </p:cNvSpPr>
          <p:nvPr>
            <p:ph sz="quarter" idx="13"/>
          </p:nvPr>
        </p:nvSpPr>
        <p:spPr/>
        <p:txBody>
          <a:bodyPr/>
          <a:lstStyle/>
          <a:p>
            <a:endParaRPr lang="en-IN" dirty="0"/>
          </a:p>
        </p:txBody>
      </p:sp>
    </p:spTree>
    <p:extLst>
      <p:ext uri="{BB962C8B-B14F-4D97-AF65-F5344CB8AC3E}">
        <p14:creationId xmlns:p14="http://schemas.microsoft.com/office/powerpoint/2010/main" val="15483197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D88D7-295B-2BDC-91D6-F6C39E5D44BD}"/>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51BBE87D-FF27-52D0-B17B-E0284B4D9D8F}"/>
              </a:ext>
            </a:extLst>
          </p:cNvPr>
          <p:cNvSpPr>
            <a:spLocks noGrp="1"/>
          </p:cNvSpPr>
          <p:nvPr>
            <p:ph sz="quarter" idx="13"/>
          </p:nvPr>
        </p:nvSpPr>
        <p:spPr/>
        <p:txBody>
          <a:bodyPr/>
          <a:lstStyle/>
          <a:p>
            <a:r>
              <a:rPr lang="en-IN" dirty="0"/>
              <a:t>https://www.getfocal.co/post/forensic-report-writing-best-practices-and-examples</a:t>
            </a:r>
          </a:p>
        </p:txBody>
      </p:sp>
    </p:spTree>
    <p:extLst>
      <p:ext uri="{BB962C8B-B14F-4D97-AF65-F5344CB8AC3E}">
        <p14:creationId xmlns:p14="http://schemas.microsoft.com/office/powerpoint/2010/main" val="80505581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8FA751"/>
      </a:accent1>
      <a:accent2>
        <a:srgbClr val="629D7D"/>
      </a:accent2>
      <a:accent3>
        <a:srgbClr val="5A7AAB"/>
      </a:accent3>
      <a:accent4>
        <a:srgbClr val="AA618F"/>
      </a:accent4>
      <a:accent5>
        <a:srgbClr val="BA5445"/>
      </a:accent5>
      <a:accent6>
        <a:srgbClr val="C8A547"/>
      </a:accent6>
      <a:hlink>
        <a:srgbClr val="91BF1A"/>
      </a:hlink>
      <a:folHlink>
        <a:srgbClr val="ADBE82"/>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CF823853-53CC-4249-AEDB-2EA9F718B2D2}"/>
    </a:ext>
  </a:extLst>
</a:theme>
</file>

<file path=docProps/app.xml><?xml version="1.0" encoding="utf-8"?>
<Properties xmlns="http://schemas.openxmlformats.org/officeDocument/2006/extended-properties" xmlns:vt="http://schemas.openxmlformats.org/officeDocument/2006/docPropsVTypes">
  <Template>TM04033927[[fn=Main Event]]</Template>
  <TotalTime>94</TotalTime>
  <Words>2048</Words>
  <Application>Microsoft Office PowerPoint</Application>
  <PresentationFormat>Widescreen</PresentationFormat>
  <Paragraphs>317</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Impact</vt:lpstr>
      <vt:lpstr>Libre Franklin</vt:lpstr>
      <vt:lpstr>Main Event</vt:lpstr>
      <vt:lpstr>Forensic Report writing</vt:lpstr>
      <vt:lpstr>Introduction</vt:lpstr>
      <vt:lpstr>Best Practices</vt:lpstr>
      <vt:lpstr>Legal Considerations</vt:lpstr>
      <vt:lpstr>Quality Control</vt:lpstr>
      <vt:lpstr>Key Tools</vt:lpstr>
      <vt:lpstr>Goals and limits of forensic reports</vt:lpstr>
      <vt:lpstr>Different kinds of forensic reports</vt:lpstr>
      <vt:lpstr>Main parts of a forensic report</vt:lpstr>
      <vt:lpstr>How to write good forensic reports</vt:lpstr>
      <vt:lpstr> </vt:lpstr>
      <vt:lpstr>Organize your report well</vt:lpstr>
      <vt:lpstr>Key parts of a forensic report</vt:lpstr>
      <vt:lpstr>How the work was done</vt:lpstr>
      <vt:lpstr>What was found and what it means</vt:lpstr>
      <vt:lpstr>Common mistakes in forensic reports</vt:lpstr>
      <vt:lpstr>Backing up all claims</vt:lpstr>
      <vt:lpstr>Keeping information consistent</vt:lpstr>
      <vt:lpstr>Legal aspects of forensic reports</vt:lpstr>
      <vt:lpstr> </vt:lpstr>
      <vt:lpstr>A solid chain of custody record looks like this:</vt:lpstr>
      <vt:lpstr>Privacy vs. transparency</vt:lpstr>
      <vt:lpstr>Checking report quality</vt:lpstr>
      <vt:lpstr>Double-checking facts</vt:lpstr>
      <vt:lpstr>Managing report versions</vt:lpstr>
      <vt:lpstr>Tools for writing forensic reports</vt:lpstr>
      <vt:lpstr>Data analysis programs</vt:lpstr>
      <vt:lpstr>Conclusion</vt:lpstr>
      <vt:lpstr>The future of forensic reports? It's changing fast:</vt:lpstr>
      <vt:lpstr> </vt:lpstr>
      <vt:lpstr>What type of headings should be included in a forensic report?</vt:lpstr>
      <vt:lpstr>How to make a forensic report?</vt:lpstr>
      <vt:lpstr>How to write a case report forensic?</vt:lpstr>
      <vt:lpstr>Forensic report writing sample format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PRAJAPATI</dc:creator>
  <cp:lastModifiedBy>ABHISHEK PRAJAPATI</cp:lastModifiedBy>
  <cp:revision>8</cp:revision>
  <dcterms:created xsi:type="dcterms:W3CDTF">2025-09-30T10:29:55Z</dcterms:created>
  <dcterms:modified xsi:type="dcterms:W3CDTF">2025-09-30T12:03:59Z</dcterms:modified>
</cp:coreProperties>
</file>