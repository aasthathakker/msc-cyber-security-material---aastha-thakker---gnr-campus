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64" r:id="rId2"/>
    <p:sldId id="265" r:id="rId3"/>
    <p:sldId id="266" r:id="rId4"/>
    <p:sldId id="267" r:id="rId5"/>
    <p:sldId id="268" r:id="rId6"/>
    <p:sldId id="269" r:id="rId7"/>
    <p:sldId id="270" r:id="rId8"/>
    <p:sldId id="271" r:id="rId9"/>
    <p:sldId id="272" r:id="rId10"/>
    <p:sldId id="273" r:id="rId11"/>
    <p:sldId id="256" r:id="rId12"/>
    <p:sldId id="257" r:id="rId13"/>
    <p:sldId id="258" r:id="rId14"/>
    <p:sldId id="259" r:id="rId15"/>
    <p:sldId id="260" r:id="rId16"/>
    <p:sldId id="261" r:id="rId17"/>
    <p:sldId id="262" r:id="rId18"/>
    <p:sldId id="263" r:id="rId19"/>
  </p:sldIdLst>
  <p:sldSz cx="14630400" cy="8229600"/>
  <p:notesSz cx="8229600" cy="14630400"/>
  <p:embeddedFontLst>
    <p:embeddedFont>
      <p:font typeface="Consolas" panose="020B0609020204030204" pitchFamily="49" charset="0"/>
      <p:regular r:id="rId21"/>
      <p:bold r:id="rId22"/>
      <p:italic r:id="rId23"/>
      <p:boldItalic r:id="rId24"/>
    </p:embeddedFont>
    <p:embeddedFont>
      <p:font typeface="Roboto" panose="02000000000000000000" pitchFamily="2" charset="0"/>
      <p:regular r:id="rId25"/>
      <p:bold r:id="rId26"/>
    </p:embeddedFont>
    <p:embeddedFont>
      <p:font typeface="Roboto Slab" pitchFamily="2" charset="0"/>
      <p:regular r:id="rId27"/>
      <p:bold r:id="rId28"/>
    </p:embeddedFont>
    <p:embeddedFont>
      <p:font typeface="Roboto Slab Light" pitchFamily="2"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994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extLst>
      <p:ext uri="{BB962C8B-B14F-4D97-AF65-F5344CB8AC3E}">
        <p14:creationId xmlns:p14="http://schemas.microsoft.com/office/powerpoint/2010/main" val="285265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extLst>
      <p:ext uri="{BB962C8B-B14F-4D97-AF65-F5344CB8AC3E}">
        <p14:creationId xmlns:p14="http://schemas.microsoft.com/office/powerpoint/2010/main" val="3500545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816304"/>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Understanding Windows Updates, Permissions, and Network Security Essentials</a:t>
            </a:r>
            <a:endParaRPr lang="en-US" sz="4450" dirty="0"/>
          </a:p>
        </p:txBody>
      </p:sp>
      <p:sp>
        <p:nvSpPr>
          <p:cNvPr id="3" name="Text 1"/>
          <p:cNvSpPr/>
          <p:nvPr/>
        </p:nvSpPr>
        <p:spPr>
          <a:xfrm>
            <a:off x="793790" y="468749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Remaining Topics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41859"/>
            <a:ext cx="12873276"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What Are Service Packs, Hotfixes, and Backups?</a:t>
            </a:r>
            <a:endParaRPr lang="en-US" sz="4450" dirty="0"/>
          </a:p>
        </p:txBody>
      </p:sp>
      <p:sp>
        <p:nvSpPr>
          <p:cNvPr id="3" name="Shape 1"/>
          <p:cNvSpPr/>
          <p:nvPr/>
        </p:nvSpPr>
        <p:spPr>
          <a:xfrm>
            <a:off x="793790" y="2704267"/>
            <a:ext cx="4196358" cy="3983355"/>
          </a:xfrm>
          <a:prstGeom prst="roundRect">
            <a:avLst>
              <a:gd name="adj" fmla="val 854"/>
            </a:avLst>
          </a:prstGeom>
          <a:solidFill>
            <a:srgbClr val="E9ECF2"/>
          </a:solidFill>
          <a:ln/>
        </p:spPr>
      </p:sp>
      <p:sp>
        <p:nvSpPr>
          <p:cNvPr id="4" name="Text 2"/>
          <p:cNvSpPr/>
          <p:nvPr/>
        </p:nvSpPr>
        <p:spPr>
          <a:xfrm>
            <a:off x="1020604" y="29310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Service Packs</a:t>
            </a:r>
            <a:endParaRPr lang="en-US" sz="2200" dirty="0"/>
          </a:p>
        </p:txBody>
      </p:sp>
      <p:sp>
        <p:nvSpPr>
          <p:cNvPr id="5" name="Text 3"/>
          <p:cNvSpPr/>
          <p:nvPr/>
        </p:nvSpPr>
        <p:spPr>
          <a:xfrm>
            <a:off x="1020604" y="3421499"/>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Large cumulative updates bundling fixes and improvements released periodically.</a:t>
            </a:r>
            <a:endParaRPr lang="en-US" sz="1750" dirty="0"/>
          </a:p>
        </p:txBody>
      </p:sp>
      <p:sp>
        <p:nvSpPr>
          <p:cNvPr id="6" name="Text 4"/>
          <p:cNvSpPr/>
          <p:nvPr/>
        </p:nvSpPr>
        <p:spPr>
          <a:xfrm>
            <a:off x="1020604" y="4646295"/>
            <a:ext cx="3742730" cy="1451610"/>
          </a:xfrm>
          <a:prstGeom prst="rect">
            <a:avLst/>
          </a:prstGeom>
          <a:noFill/>
          <a:ln/>
        </p:spPr>
        <p:txBody>
          <a:bodyPr wrap="squar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Real Example:</a:t>
            </a:r>
            <a:r>
              <a:rPr lang="en-US" sz="1750" dirty="0">
                <a:solidFill>
                  <a:srgbClr val="15213F"/>
                </a:solidFill>
                <a:latin typeface="Roboto" pitchFamily="34" charset="0"/>
                <a:ea typeface="Roboto" pitchFamily="34" charset="-122"/>
                <a:cs typeface="Roboto" pitchFamily="34" charset="-120"/>
              </a:rPr>
              <a:t> Windows 7 SP1 (2011) added RemoteFX, Dynamic Memory for Hyper-V, and 900+ security patches in one package.</a:t>
            </a:r>
            <a:endParaRPr lang="en-US" sz="1750" dirty="0"/>
          </a:p>
        </p:txBody>
      </p:sp>
      <p:sp>
        <p:nvSpPr>
          <p:cNvPr id="7" name="Shape 5"/>
          <p:cNvSpPr/>
          <p:nvPr/>
        </p:nvSpPr>
        <p:spPr>
          <a:xfrm>
            <a:off x="5216962" y="2704267"/>
            <a:ext cx="4196358" cy="3983355"/>
          </a:xfrm>
          <a:prstGeom prst="roundRect">
            <a:avLst>
              <a:gd name="adj" fmla="val 854"/>
            </a:avLst>
          </a:prstGeom>
          <a:solidFill>
            <a:srgbClr val="E9ECF2"/>
          </a:solidFill>
          <a:ln/>
        </p:spPr>
      </p:sp>
      <p:sp>
        <p:nvSpPr>
          <p:cNvPr id="8" name="Text 6"/>
          <p:cNvSpPr/>
          <p:nvPr/>
        </p:nvSpPr>
        <p:spPr>
          <a:xfrm>
            <a:off x="5443776" y="29310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Hotfixes</a:t>
            </a:r>
            <a:endParaRPr lang="en-US" sz="2200" dirty="0"/>
          </a:p>
        </p:txBody>
      </p:sp>
      <p:sp>
        <p:nvSpPr>
          <p:cNvPr id="9" name="Text 7"/>
          <p:cNvSpPr/>
          <p:nvPr/>
        </p:nvSpPr>
        <p:spPr>
          <a:xfrm>
            <a:off x="5443776" y="3421499"/>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Targeted patches addressing specific critical issues between major releases.</a:t>
            </a:r>
            <a:endParaRPr lang="en-US" sz="1750" dirty="0"/>
          </a:p>
        </p:txBody>
      </p:sp>
      <p:sp>
        <p:nvSpPr>
          <p:cNvPr id="10" name="Text 8"/>
          <p:cNvSpPr/>
          <p:nvPr/>
        </p:nvSpPr>
        <p:spPr>
          <a:xfrm>
            <a:off x="5443776" y="4646295"/>
            <a:ext cx="3742730" cy="1814513"/>
          </a:xfrm>
          <a:prstGeom prst="rect">
            <a:avLst/>
          </a:prstGeom>
          <a:noFill/>
          <a:ln/>
        </p:spPr>
        <p:txBody>
          <a:bodyPr wrap="squar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Real Example:</a:t>
            </a:r>
            <a:r>
              <a:rPr lang="en-US" sz="1750" dirty="0">
                <a:solidFill>
                  <a:srgbClr val="15213F"/>
                </a:solidFill>
                <a:latin typeface="Roboto" pitchFamily="34" charset="0"/>
                <a:ea typeface="Roboto" pitchFamily="34" charset="-122"/>
                <a:cs typeface="Roboto" pitchFamily="34" charset="-120"/>
              </a:rPr>
              <a:t> KB5068861 (November 2025) fixed HTTP.sys parsing vulnerability in Windows 11, preventing remote code execution attacks.</a:t>
            </a:r>
            <a:endParaRPr lang="en-US" sz="1750" dirty="0"/>
          </a:p>
        </p:txBody>
      </p:sp>
      <p:sp>
        <p:nvSpPr>
          <p:cNvPr id="11" name="Shape 9"/>
          <p:cNvSpPr/>
          <p:nvPr/>
        </p:nvSpPr>
        <p:spPr>
          <a:xfrm>
            <a:off x="9640133" y="2704267"/>
            <a:ext cx="4196358" cy="3983355"/>
          </a:xfrm>
          <a:prstGeom prst="roundRect">
            <a:avLst>
              <a:gd name="adj" fmla="val 854"/>
            </a:avLst>
          </a:prstGeom>
          <a:solidFill>
            <a:srgbClr val="E9ECF2"/>
          </a:solidFill>
          <a:ln/>
        </p:spPr>
      </p:sp>
      <p:sp>
        <p:nvSpPr>
          <p:cNvPr id="12" name="Text 10"/>
          <p:cNvSpPr/>
          <p:nvPr/>
        </p:nvSpPr>
        <p:spPr>
          <a:xfrm>
            <a:off x="9866948" y="29310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Backups</a:t>
            </a:r>
            <a:endParaRPr lang="en-US" sz="2200" dirty="0"/>
          </a:p>
        </p:txBody>
      </p:sp>
      <p:sp>
        <p:nvSpPr>
          <p:cNvPr id="13" name="Text 11"/>
          <p:cNvSpPr/>
          <p:nvPr/>
        </p:nvSpPr>
        <p:spPr>
          <a:xfrm>
            <a:off x="9866948" y="3421499"/>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Copies of data and system states enabling restoration after failures or attacks.</a:t>
            </a:r>
            <a:endParaRPr lang="en-US" sz="1750" dirty="0"/>
          </a:p>
        </p:txBody>
      </p:sp>
      <p:sp>
        <p:nvSpPr>
          <p:cNvPr id="14" name="Text 12"/>
          <p:cNvSpPr/>
          <p:nvPr/>
        </p:nvSpPr>
        <p:spPr>
          <a:xfrm>
            <a:off x="9866948" y="4646295"/>
            <a:ext cx="3742730" cy="1814513"/>
          </a:xfrm>
          <a:prstGeom prst="rect">
            <a:avLst/>
          </a:prstGeom>
          <a:noFill/>
          <a:ln/>
        </p:spPr>
        <p:txBody>
          <a:bodyPr wrap="squar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Real Example:</a:t>
            </a:r>
            <a:r>
              <a:rPr lang="en-US" sz="1750" dirty="0">
                <a:solidFill>
                  <a:srgbClr val="15213F"/>
                </a:solidFill>
                <a:latin typeface="Roboto" pitchFamily="34" charset="0"/>
                <a:ea typeface="Roboto" pitchFamily="34" charset="-122"/>
                <a:cs typeface="Roboto" pitchFamily="34" charset="-120"/>
              </a:rPr>
              <a:t> Windows Server Backup creating daily system state backups to external storage, enabling 15-minute recovery time after ransomware encryption.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4965" y="530304"/>
            <a:ext cx="13280469" cy="1205151"/>
          </a:xfrm>
          <a:prstGeom prst="rect">
            <a:avLst/>
          </a:prstGeom>
          <a:noFill/>
          <a:ln/>
        </p:spPr>
        <p:txBody>
          <a:bodyPr wrap="square" lIns="0" tIns="0" rIns="0" bIns="0" rtlCol="0" anchor="t"/>
          <a:lstStyle/>
          <a:p>
            <a:pPr marL="0" indent="0" algn="l">
              <a:lnSpc>
                <a:spcPts val="4700"/>
              </a:lnSpc>
              <a:buNone/>
            </a:pPr>
            <a:r>
              <a:rPr lang="en-US" sz="3750" dirty="0">
                <a:solidFill>
                  <a:srgbClr val="3257B8"/>
                </a:solidFill>
                <a:latin typeface="Roboto Slab" pitchFamily="34" charset="0"/>
                <a:ea typeface="Roboto Slab" pitchFamily="34" charset="-122"/>
                <a:cs typeface="Roboto Slab" pitchFamily="34" charset="-120"/>
              </a:rPr>
              <a:t>Real-World Example: Windows 11 November 2025 Update (KB5068861)</a:t>
            </a:r>
            <a:endParaRPr lang="en-US" sz="3750" dirty="0"/>
          </a:p>
        </p:txBody>
      </p:sp>
      <p:sp>
        <p:nvSpPr>
          <p:cNvPr id="3" name="Text 1"/>
          <p:cNvSpPr/>
          <p:nvPr/>
        </p:nvSpPr>
        <p:spPr>
          <a:xfrm>
            <a:off x="674965" y="2217420"/>
            <a:ext cx="4049316" cy="361593"/>
          </a:xfrm>
          <a:prstGeom prst="rect">
            <a:avLst/>
          </a:prstGeom>
          <a:noFill/>
          <a:ln/>
        </p:spPr>
        <p:txBody>
          <a:bodyPr wrap="none" lIns="0" tIns="0" rIns="0" bIns="0" rtlCol="0" anchor="t"/>
          <a:lstStyle/>
          <a:p>
            <a:pPr marL="0" indent="0" algn="l">
              <a:lnSpc>
                <a:spcPts val="2800"/>
              </a:lnSpc>
              <a:buNone/>
            </a:pPr>
            <a:r>
              <a:rPr lang="en-US" sz="2250" dirty="0">
                <a:solidFill>
                  <a:srgbClr val="3257B8"/>
                </a:solidFill>
                <a:latin typeface="Roboto Slab" pitchFamily="34" charset="0"/>
                <a:ea typeface="Roboto Slab" pitchFamily="34" charset="-122"/>
                <a:cs typeface="Roboto Slab" pitchFamily="34" charset="-120"/>
              </a:rPr>
              <a:t>Critical Vulnerability Patched</a:t>
            </a:r>
            <a:endParaRPr lang="en-US" sz="2250" dirty="0"/>
          </a:p>
        </p:txBody>
      </p:sp>
      <p:sp>
        <p:nvSpPr>
          <p:cNvPr id="4" name="Text 2"/>
          <p:cNvSpPr/>
          <p:nvPr/>
        </p:nvSpPr>
        <p:spPr>
          <a:xfrm>
            <a:off x="674965" y="2771775"/>
            <a:ext cx="7780020" cy="61722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This hotfix addressed a severe HTTP.sys parsing flaw allowing attackers to crash systems or execute malicious code remotely through specially crafted packets.</a:t>
            </a:r>
            <a:endParaRPr lang="en-US" sz="1500" dirty="0"/>
          </a:p>
        </p:txBody>
      </p:sp>
      <p:sp>
        <p:nvSpPr>
          <p:cNvPr id="5" name="Text 3"/>
          <p:cNvSpPr/>
          <p:nvPr/>
        </p:nvSpPr>
        <p:spPr>
          <a:xfrm>
            <a:off x="674965" y="3581757"/>
            <a:ext cx="2446139" cy="301347"/>
          </a:xfrm>
          <a:prstGeom prst="rect">
            <a:avLst/>
          </a:prstGeom>
          <a:noFill/>
          <a:ln/>
        </p:spPr>
        <p:txBody>
          <a:bodyPr wrap="none" lIns="0" tIns="0" rIns="0" bIns="0" rtlCol="0" anchor="t"/>
          <a:lstStyle/>
          <a:p>
            <a:pPr marL="0" indent="0" algn="l">
              <a:lnSpc>
                <a:spcPts val="2350"/>
              </a:lnSpc>
              <a:buNone/>
            </a:pPr>
            <a:r>
              <a:rPr lang="en-US" sz="1850" dirty="0">
                <a:solidFill>
                  <a:srgbClr val="3257B8"/>
                </a:solidFill>
                <a:latin typeface="Roboto Slab" pitchFamily="34" charset="0"/>
                <a:ea typeface="Roboto Slab" pitchFamily="34" charset="-122"/>
                <a:cs typeface="Roboto Slab" pitchFamily="34" charset="-120"/>
              </a:rPr>
              <a:t>How It Was Delivered</a:t>
            </a:r>
            <a:endParaRPr lang="en-US" sz="1850" dirty="0"/>
          </a:p>
        </p:txBody>
      </p:sp>
      <p:sp>
        <p:nvSpPr>
          <p:cNvPr id="6" name="Text 4"/>
          <p:cNvSpPr/>
          <p:nvPr/>
        </p:nvSpPr>
        <p:spPr>
          <a:xfrm>
            <a:off x="674965" y="4075867"/>
            <a:ext cx="7780020" cy="30861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Distributed via Windows Update using encrypted TLS 1.3 connections</a:t>
            </a:r>
            <a:endParaRPr lang="en-US" sz="1500" dirty="0"/>
          </a:p>
        </p:txBody>
      </p:sp>
      <p:sp>
        <p:nvSpPr>
          <p:cNvPr id="7" name="Text 5"/>
          <p:cNvSpPr/>
          <p:nvPr/>
        </p:nvSpPr>
        <p:spPr>
          <a:xfrm>
            <a:off x="674965" y="4451866"/>
            <a:ext cx="7780020" cy="30861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Validated with Microsoft's digital signature before installation</a:t>
            </a:r>
            <a:endParaRPr lang="en-US" sz="1500" dirty="0"/>
          </a:p>
        </p:txBody>
      </p:sp>
      <p:sp>
        <p:nvSpPr>
          <p:cNvPr id="8" name="Text 6"/>
          <p:cNvSpPr/>
          <p:nvPr/>
        </p:nvSpPr>
        <p:spPr>
          <a:xfrm>
            <a:off x="674965" y="4827865"/>
            <a:ext cx="7780020" cy="30861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Applied automatically during maintenance windows for enterprise systems</a:t>
            </a:r>
            <a:endParaRPr lang="en-US" sz="1500" dirty="0"/>
          </a:p>
        </p:txBody>
      </p:sp>
      <p:sp>
        <p:nvSpPr>
          <p:cNvPr id="9" name="Text 7"/>
          <p:cNvSpPr/>
          <p:nvPr/>
        </p:nvSpPr>
        <p:spPr>
          <a:xfrm>
            <a:off x="674965" y="5203865"/>
            <a:ext cx="7780020" cy="308610"/>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Rollback capability preserved in case of compatibility issues</a:t>
            </a:r>
            <a:endParaRPr lang="en-US" sz="1500" dirty="0"/>
          </a:p>
        </p:txBody>
      </p:sp>
      <p:sp>
        <p:nvSpPr>
          <p:cNvPr id="10" name="Text 8"/>
          <p:cNvSpPr/>
          <p:nvPr/>
        </p:nvSpPr>
        <p:spPr>
          <a:xfrm>
            <a:off x="8933140" y="2217420"/>
            <a:ext cx="2410658" cy="301347"/>
          </a:xfrm>
          <a:prstGeom prst="rect">
            <a:avLst/>
          </a:prstGeom>
          <a:noFill/>
          <a:ln/>
        </p:spPr>
        <p:txBody>
          <a:bodyPr wrap="none" lIns="0" tIns="0" rIns="0" bIns="0" rtlCol="0" anchor="t"/>
          <a:lstStyle/>
          <a:p>
            <a:pPr marL="0" indent="0" algn="l">
              <a:lnSpc>
                <a:spcPts val="2350"/>
              </a:lnSpc>
              <a:buNone/>
            </a:pPr>
            <a:r>
              <a:rPr lang="en-US" sz="1850" dirty="0">
                <a:solidFill>
                  <a:srgbClr val="3257B8"/>
                </a:solidFill>
                <a:latin typeface="Roboto Slab" pitchFamily="34" charset="0"/>
                <a:ea typeface="Roboto Slab" pitchFamily="34" charset="-122"/>
                <a:cs typeface="Roboto Slab" pitchFamily="34" charset="-120"/>
              </a:rPr>
              <a:t>Impact Metrics</a:t>
            </a:r>
            <a:endParaRPr lang="en-US" sz="1850" dirty="0"/>
          </a:p>
        </p:txBody>
      </p:sp>
      <p:sp>
        <p:nvSpPr>
          <p:cNvPr id="11" name="Text 9"/>
          <p:cNvSpPr/>
          <p:nvPr/>
        </p:nvSpPr>
        <p:spPr>
          <a:xfrm>
            <a:off x="8933140" y="2711529"/>
            <a:ext cx="5029795" cy="61722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The update demonstrates the critical role hotfixes play between service pack releases.</a:t>
            </a:r>
            <a:endParaRPr lang="en-US" sz="1500" dirty="0"/>
          </a:p>
        </p:txBody>
      </p:sp>
      <p:sp>
        <p:nvSpPr>
          <p:cNvPr id="12" name="Text 10"/>
          <p:cNvSpPr/>
          <p:nvPr/>
        </p:nvSpPr>
        <p:spPr>
          <a:xfrm>
            <a:off x="8933140" y="3642003"/>
            <a:ext cx="5029795" cy="636389"/>
          </a:xfrm>
          <a:prstGeom prst="rect">
            <a:avLst/>
          </a:prstGeom>
          <a:noFill/>
          <a:ln/>
        </p:spPr>
        <p:txBody>
          <a:bodyPr wrap="none" lIns="0" tIns="0" rIns="0" bIns="0" rtlCol="0" anchor="t"/>
          <a:lstStyle/>
          <a:p>
            <a:pPr marL="0" indent="0" algn="ctr">
              <a:lnSpc>
                <a:spcPts val="5000"/>
              </a:lnSpc>
              <a:buNone/>
            </a:pPr>
            <a:r>
              <a:rPr lang="en-US" sz="5000" dirty="0">
                <a:solidFill>
                  <a:srgbClr val="15213F"/>
                </a:solidFill>
                <a:latin typeface="Roboto Slab" pitchFamily="34" charset="0"/>
                <a:ea typeface="Roboto Slab" pitchFamily="34" charset="-122"/>
                <a:cs typeface="Roboto Slab" pitchFamily="34" charset="-120"/>
              </a:rPr>
              <a:t>48hrs</a:t>
            </a:r>
            <a:endParaRPr lang="en-US" sz="5000" dirty="0"/>
          </a:p>
        </p:txBody>
      </p:sp>
      <p:sp>
        <p:nvSpPr>
          <p:cNvPr id="13" name="Text 11"/>
          <p:cNvSpPr/>
          <p:nvPr/>
        </p:nvSpPr>
        <p:spPr>
          <a:xfrm>
            <a:off x="10242709" y="4519255"/>
            <a:ext cx="2410658" cy="301347"/>
          </a:xfrm>
          <a:prstGeom prst="rect">
            <a:avLst/>
          </a:prstGeom>
          <a:noFill/>
          <a:ln/>
        </p:spPr>
        <p:txBody>
          <a:bodyPr wrap="none" lIns="0" tIns="0" rIns="0" bIns="0" rtlCol="0" anchor="t"/>
          <a:lstStyle/>
          <a:p>
            <a:pPr marL="0" indent="0" algn="ctr">
              <a:lnSpc>
                <a:spcPts val="2350"/>
              </a:lnSpc>
              <a:buNone/>
            </a:pPr>
            <a:r>
              <a:rPr lang="en-US" sz="1850" dirty="0">
                <a:solidFill>
                  <a:srgbClr val="15213F"/>
                </a:solidFill>
                <a:latin typeface="Roboto Slab" pitchFamily="34" charset="0"/>
                <a:ea typeface="Roboto Slab" pitchFamily="34" charset="-122"/>
                <a:cs typeface="Roboto Slab" pitchFamily="34" charset="-120"/>
              </a:rPr>
              <a:t>Deployment Time</a:t>
            </a:r>
            <a:endParaRPr lang="en-US" sz="1850" dirty="0"/>
          </a:p>
        </p:txBody>
      </p:sp>
      <p:sp>
        <p:nvSpPr>
          <p:cNvPr id="14" name="Text 12"/>
          <p:cNvSpPr/>
          <p:nvPr/>
        </p:nvSpPr>
        <p:spPr>
          <a:xfrm>
            <a:off x="8933140" y="5013365"/>
            <a:ext cx="5029795" cy="308610"/>
          </a:xfrm>
          <a:prstGeom prst="rect">
            <a:avLst/>
          </a:prstGeom>
          <a:noFill/>
          <a:ln/>
        </p:spPr>
        <p:txBody>
          <a:bodyPr wrap="none" lIns="0" tIns="0" rIns="0" bIns="0" rtlCol="0" anchor="t"/>
          <a:lstStyle/>
          <a:p>
            <a:pPr marL="0" indent="0" algn="ctr">
              <a:lnSpc>
                <a:spcPts val="2400"/>
              </a:lnSpc>
              <a:buNone/>
            </a:pPr>
            <a:r>
              <a:rPr lang="en-US" sz="1500" dirty="0">
                <a:solidFill>
                  <a:srgbClr val="15213F"/>
                </a:solidFill>
                <a:latin typeface="Roboto" pitchFamily="34" charset="0"/>
                <a:ea typeface="Roboto" pitchFamily="34" charset="-122"/>
                <a:cs typeface="Roboto" pitchFamily="34" charset="-120"/>
              </a:rPr>
              <a:t>From release to 80% coverage</a:t>
            </a:r>
            <a:endParaRPr lang="en-US" sz="1500" dirty="0"/>
          </a:p>
        </p:txBody>
      </p:sp>
      <p:sp>
        <p:nvSpPr>
          <p:cNvPr id="15" name="Text 13"/>
          <p:cNvSpPr/>
          <p:nvPr/>
        </p:nvSpPr>
        <p:spPr>
          <a:xfrm>
            <a:off x="8933140" y="5803940"/>
            <a:ext cx="5029795" cy="636389"/>
          </a:xfrm>
          <a:prstGeom prst="rect">
            <a:avLst/>
          </a:prstGeom>
          <a:noFill/>
          <a:ln/>
        </p:spPr>
        <p:txBody>
          <a:bodyPr wrap="none" lIns="0" tIns="0" rIns="0" bIns="0" rtlCol="0" anchor="t"/>
          <a:lstStyle/>
          <a:p>
            <a:pPr marL="0" indent="0" algn="ctr">
              <a:lnSpc>
                <a:spcPts val="5000"/>
              </a:lnSpc>
              <a:buNone/>
            </a:pPr>
            <a:r>
              <a:rPr lang="en-US" sz="5000" dirty="0">
                <a:solidFill>
                  <a:srgbClr val="15213F"/>
                </a:solidFill>
                <a:latin typeface="Roboto Slab" pitchFamily="34" charset="0"/>
                <a:ea typeface="Roboto Slab" pitchFamily="34" charset="-122"/>
                <a:cs typeface="Roboto Slab" pitchFamily="34" charset="-120"/>
              </a:rPr>
              <a:t>9.8</a:t>
            </a:r>
            <a:endParaRPr lang="en-US" sz="5000" dirty="0"/>
          </a:p>
        </p:txBody>
      </p:sp>
      <p:sp>
        <p:nvSpPr>
          <p:cNvPr id="16" name="Text 14"/>
          <p:cNvSpPr/>
          <p:nvPr/>
        </p:nvSpPr>
        <p:spPr>
          <a:xfrm>
            <a:off x="10242709" y="6681192"/>
            <a:ext cx="2410658" cy="301347"/>
          </a:xfrm>
          <a:prstGeom prst="rect">
            <a:avLst/>
          </a:prstGeom>
          <a:noFill/>
          <a:ln/>
        </p:spPr>
        <p:txBody>
          <a:bodyPr wrap="none" lIns="0" tIns="0" rIns="0" bIns="0" rtlCol="0" anchor="t"/>
          <a:lstStyle/>
          <a:p>
            <a:pPr marL="0" indent="0" algn="ctr">
              <a:lnSpc>
                <a:spcPts val="2350"/>
              </a:lnSpc>
              <a:buNone/>
            </a:pPr>
            <a:r>
              <a:rPr lang="en-US" sz="1850" dirty="0">
                <a:solidFill>
                  <a:srgbClr val="15213F"/>
                </a:solidFill>
                <a:latin typeface="Roboto Slab" pitchFamily="34" charset="0"/>
                <a:ea typeface="Roboto Slab" pitchFamily="34" charset="-122"/>
                <a:cs typeface="Roboto Slab" pitchFamily="34" charset="-120"/>
              </a:rPr>
              <a:t>CVE Severity Score</a:t>
            </a:r>
            <a:endParaRPr lang="en-US" sz="1850" dirty="0"/>
          </a:p>
        </p:txBody>
      </p:sp>
      <p:sp>
        <p:nvSpPr>
          <p:cNvPr id="17" name="Text 15"/>
          <p:cNvSpPr/>
          <p:nvPr/>
        </p:nvSpPr>
        <p:spPr>
          <a:xfrm>
            <a:off x="8933140" y="7175302"/>
            <a:ext cx="5029795" cy="308610"/>
          </a:xfrm>
          <a:prstGeom prst="rect">
            <a:avLst/>
          </a:prstGeom>
          <a:noFill/>
          <a:ln/>
        </p:spPr>
        <p:txBody>
          <a:bodyPr wrap="none" lIns="0" tIns="0" rIns="0" bIns="0" rtlCol="0" anchor="t"/>
          <a:lstStyle/>
          <a:p>
            <a:pPr marL="0" indent="0" algn="ctr">
              <a:lnSpc>
                <a:spcPts val="2400"/>
              </a:lnSpc>
              <a:buNone/>
            </a:pPr>
            <a:r>
              <a:rPr lang="en-US" sz="1500" dirty="0">
                <a:solidFill>
                  <a:srgbClr val="15213F"/>
                </a:solidFill>
                <a:latin typeface="Roboto" pitchFamily="34" charset="0"/>
                <a:ea typeface="Roboto" pitchFamily="34" charset="-122"/>
                <a:cs typeface="Roboto" pitchFamily="34" charset="-120"/>
              </a:rPr>
              <a:t>Critical vulnerability rating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379" y="588764"/>
            <a:ext cx="13131641" cy="1338263"/>
          </a:xfrm>
          <a:prstGeom prst="rect">
            <a:avLst/>
          </a:prstGeom>
          <a:noFill/>
          <a:ln/>
        </p:spPr>
        <p:txBody>
          <a:bodyPr wrap="square" lIns="0" tIns="0" rIns="0" bIns="0" rtlCol="0" anchor="t"/>
          <a:lstStyle/>
          <a:p>
            <a:pPr marL="0" indent="0" algn="l">
              <a:lnSpc>
                <a:spcPts val="5250"/>
              </a:lnSpc>
              <a:buNone/>
            </a:pPr>
            <a:r>
              <a:rPr lang="en-US" sz="4200" dirty="0">
                <a:solidFill>
                  <a:srgbClr val="3257B8"/>
                </a:solidFill>
                <a:latin typeface="Roboto Slab" pitchFamily="34" charset="0"/>
                <a:ea typeface="Roboto Slab" pitchFamily="34" charset="-122"/>
                <a:cs typeface="Roboto Slab" pitchFamily="34" charset="-120"/>
              </a:rPr>
              <a:t>Registry Key Permissions &amp; Active Directory Permissions Explained</a:t>
            </a:r>
            <a:endParaRPr lang="en-US" sz="4200" dirty="0"/>
          </a:p>
        </p:txBody>
      </p:sp>
      <p:sp>
        <p:nvSpPr>
          <p:cNvPr id="3" name="Shape 1"/>
          <p:cNvSpPr/>
          <p:nvPr/>
        </p:nvSpPr>
        <p:spPr>
          <a:xfrm>
            <a:off x="749379" y="2355294"/>
            <a:ext cx="6458783" cy="5308521"/>
          </a:xfrm>
          <a:prstGeom prst="roundRect">
            <a:avLst>
              <a:gd name="adj" fmla="val 605"/>
            </a:avLst>
          </a:prstGeom>
          <a:solidFill>
            <a:srgbClr val="FBFCFE"/>
          </a:solidFill>
          <a:ln w="30480">
            <a:solidFill>
              <a:srgbClr val="CFD2D8"/>
            </a:solidFill>
            <a:prstDash val="solid"/>
          </a:ln>
        </p:spPr>
      </p:sp>
      <p:sp>
        <p:nvSpPr>
          <p:cNvPr id="4" name="Shape 2"/>
          <p:cNvSpPr/>
          <p:nvPr/>
        </p:nvSpPr>
        <p:spPr>
          <a:xfrm>
            <a:off x="779859" y="2385774"/>
            <a:ext cx="6397823" cy="642342"/>
          </a:xfrm>
          <a:prstGeom prst="rect">
            <a:avLst/>
          </a:prstGeom>
          <a:solidFill>
            <a:srgbClr val="E9ECF2"/>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8215" y="2546271"/>
            <a:ext cx="321112" cy="321112"/>
          </a:xfrm>
          <a:prstGeom prst="rect">
            <a:avLst/>
          </a:prstGeom>
        </p:spPr>
      </p:pic>
      <p:sp>
        <p:nvSpPr>
          <p:cNvPr id="6" name="Text 3"/>
          <p:cNvSpPr/>
          <p:nvPr/>
        </p:nvSpPr>
        <p:spPr>
          <a:xfrm>
            <a:off x="993934" y="3242191"/>
            <a:ext cx="3237071" cy="334566"/>
          </a:xfrm>
          <a:prstGeom prst="rect">
            <a:avLst/>
          </a:prstGeom>
          <a:noFill/>
          <a:ln/>
        </p:spPr>
        <p:txBody>
          <a:bodyPr wrap="none" lIns="0" tIns="0" rIns="0" bIns="0" rtlCol="0" anchor="t"/>
          <a:lstStyle/>
          <a:p>
            <a:pPr marL="0" indent="0" algn="l">
              <a:lnSpc>
                <a:spcPts val="2600"/>
              </a:lnSpc>
              <a:buNone/>
            </a:pPr>
            <a:r>
              <a:rPr lang="en-US" sz="2100" dirty="0">
                <a:solidFill>
                  <a:srgbClr val="15213F"/>
                </a:solidFill>
                <a:latin typeface="Roboto Slab" pitchFamily="34" charset="0"/>
                <a:ea typeface="Roboto Slab" pitchFamily="34" charset="-122"/>
                <a:cs typeface="Roboto Slab" pitchFamily="34" charset="-120"/>
              </a:rPr>
              <a:t>Registry Key Permissions</a:t>
            </a:r>
            <a:endParaRPr lang="en-US" sz="2100" dirty="0"/>
          </a:p>
        </p:txBody>
      </p:sp>
      <p:sp>
        <p:nvSpPr>
          <p:cNvPr id="7" name="Text 4"/>
          <p:cNvSpPr/>
          <p:nvPr/>
        </p:nvSpPr>
        <p:spPr>
          <a:xfrm>
            <a:off x="993934" y="3705225"/>
            <a:ext cx="5969675" cy="685324"/>
          </a:xfrm>
          <a:prstGeom prst="rect">
            <a:avLst/>
          </a:prstGeom>
          <a:noFill/>
          <a:ln/>
        </p:spPr>
        <p:txBody>
          <a:bodyPr wrap="square" lIns="0" tIns="0" rIns="0" bIns="0" rtlCol="0" anchor="t"/>
          <a:lstStyle/>
          <a:p>
            <a:pPr marL="0" indent="0" algn="l">
              <a:lnSpc>
                <a:spcPts val="2650"/>
              </a:lnSpc>
              <a:buNone/>
            </a:pPr>
            <a:r>
              <a:rPr lang="en-US" sz="1650" dirty="0">
                <a:solidFill>
                  <a:srgbClr val="15213F"/>
                </a:solidFill>
                <a:latin typeface="Roboto" pitchFamily="34" charset="0"/>
                <a:ea typeface="Roboto" pitchFamily="34" charset="-122"/>
                <a:cs typeface="Roboto" pitchFamily="34" charset="-120"/>
              </a:rPr>
              <a:t>Control access to Windows Registry keys that govern system configuration and behavior.</a:t>
            </a:r>
            <a:endParaRPr lang="en-US" sz="1650" dirty="0"/>
          </a:p>
        </p:txBody>
      </p:sp>
      <p:sp>
        <p:nvSpPr>
          <p:cNvPr id="8" name="Text 5"/>
          <p:cNvSpPr/>
          <p:nvPr/>
        </p:nvSpPr>
        <p:spPr>
          <a:xfrm>
            <a:off x="993934" y="4519017"/>
            <a:ext cx="5969675" cy="1728549"/>
          </a:xfrm>
          <a:prstGeom prst="rect">
            <a:avLst/>
          </a:prstGeom>
          <a:noFill/>
          <a:ln/>
        </p:spPr>
        <p:txBody>
          <a:bodyPr wrap="square" lIns="0" tIns="0" rIns="0" bIns="0" rtlCol="0" anchor="t"/>
          <a:lstStyle/>
          <a:p>
            <a:pPr marL="0" indent="0" algn="l">
              <a:lnSpc>
                <a:spcPts val="2650"/>
              </a:lnSpc>
              <a:buNone/>
            </a:pPr>
            <a:r>
              <a:rPr lang="en-US" sz="1650" b="1" dirty="0">
                <a:solidFill>
                  <a:srgbClr val="15213F"/>
                </a:solidFill>
                <a:latin typeface="Roboto" pitchFamily="34" charset="0"/>
                <a:ea typeface="Roboto" pitchFamily="34" charset="-122"/>
                <a:cs typeface="Roboto" pitchFamily="34" charset="-120"/>
              </a:rPr>
              <a:t>Real Example:</a:t>
            </a:r>
            <a:r>
              <a:rPr lang="en-US" sz="1650" dirty="0">
                <a:solidFill>
                  <a:srgbClr val="15213F"/>
                </a:solidFill>
                <a:latin typeface="Roboto" pitchFamily="34" charset="0"/>
                <a:ea typeface="Roboto" pitchFamily="34" charset="-122"/>
                <a:cs typeface="Roboto" pitchFamily="34" charset="-120"/>
              </a:rPr>
              <a:t> Restricting </a:t>
            </a:r>
            <a:r>
              <a:rPr lang="en-US" sz="1650" dirty="0">
                <a:solidFill>
                  <a:srgbClr val="15213F"/>
                </a:solidFill>
                <a:highlight>
                  <a:srgbClr val="EEEFF1"/>
                </a:highlight>
                <a:latin typeface="Consolas" pitchFamily="34" charset="0"/>
                <a:ea typeface="Consolas" pitchFamily="34" charset="-122"/>
                <a:cs typeface="Consolas" pitchFamily="34" charset="-120"/>
              </a:rPr>
              <a:t>HKLM\SYSTEM\CurrentControlSet\Services</a:t>
            </a:r>
            <a:r>
              <a:rPr lang="en-US" sz="1650" dirty="0">
                <a:solidFill>
                  <a:srgbClr val="15213F"/>
                </a:solidFill>
                <a:latin typeface="Roboto" pitchFamily="34" charset="0"/>
                <a:ea typeface="Roboto" pitchFamily="34" charset="-122"/>
                <a:cs typeface="Roboto" pitchFamily="34" charset="-120"/>
              </a:rPr>
              <a:t> to prevent unauthorized driver modifications. An attacker attempting to install a rootkit driver would be blocked by proper ACL configuration requiring TrustedInstaller ownership.</a:t>
            </a:r>
            <a:endParaRPr lang="en-US" sz="1650" dirty="0"/>
          </a:p>
        </p:txBody>
      </p:sp>
      <p:sp>
        <p:nvSpPr>
          <p:cNvPr id="9" name="Text 6"/>
          <p:cNvSpPr/>
          <p:nvPr/>
        </p:nvSpPr>
        <p:spPr>
          <a:xfrm>
            <a:off x="993934" y="6376035"/>
            <a:ext cx="5969675" cy="1043226"/>
          </a:xfrm>
          <a:prstGeom prst="rect">
            <a:avLst/>
          </a:prstGeom>
          <a:noFill/>
          <a:ln/>
        </p:spPr>
        <p:txBody>
          <a:bodyPr wrap="square" lIns="0" tIns="0" rIns="0" bIns="0" rtlCol="0" anchor="t"/>
          <a:lstStyle/>
          <a:p>
            <a:pPr marL="0" indent="0" algn="l">
              <a:lnSpc>
                <a:spcPts val="2650"/>
              </a:lnSpc>
              <a:buNone/>
            </a:pPr>
            <a:r>
              <a:rPr lang="en-US" sz="1650" b="1" dirty="0">
                <a:solidFill>
                  <a:srgbClr val="15213F"/>
                </a:solidFill>
                <a:latin typeface="Roboto" pitchFamily="34" charset="0"/>
                <a:ea typeface="Roboto" pitchFamily="34" charset="-122"/>
                <a:cs typeface="Roboto" pitchFamily="34" charset="-120"/>
              </a:rPr>
              <a:t>Practical Application:</a:t>
            </a:r>
            <a:r>
              <a:rPr lang="en-US" sz="1650" dirty="0">
                <a:solidFill>
                  <a:srgbClr val="15213F"/>
                </a:solidFill>
                <a:latin typeface="Roboto" pitchFamily="34" charset="0"/>
                <a:ea typeface="Roboto" pitchFamily="34" charset="-122"/>
                <a:cs typeface="Roboto" pitchFamily="34" charset="-120"/>
              </a:rPr>
              <a:t> Use </a:t>
            </a:r>
            <a:r>
              <a:rPr lang="en-US" sz="1650" dirty="0">
                <a:solidFill>
                  <a:srgbClr val="15213F"/>
                </a:solidFill>
                <a:highlight>
                  <a:srgbClr val="EEEFF1"/>
                </a:highlight>
                <a:latin typeface="Consolas" pitchFamily="34" charset="0"/>
                <a:ea typeface="Consolas" pitchFamily="34" charset="-122"/>
                <a:cs typeface="Consolas" pitchFamily="34" charset="-120"/>
              </a:rPr>
              <a:t>regedit.exe</a:t>
            </a:r>
            <a:r>
              <a:rPr lang="en-US" sz="1650" dirty="0">
                <a:solidFill>
                  <a:srgbClr val="15213F"/>
                </a:solidFill>
                <a:latin typeface="Roboto" pitchFamily="34" charset="0"/>
                <a:ea typeface="Roboto" pitchFamily="34" charset="-122"/>
                <a:cs typeface="Roboto" pitchFamily="34" charset="-120"/>
              </a:rPr>
              <a:t> → Right-click key → Permissions to set specific user/group rights (Read, Write, Full Control).</a:t>
            </a:r>
            <a:endParaRPr lang="en-US" sz="1650" dirty="0"/>
          </a:p>
        </p:txBody>
      </p:sp>
      <p:sp>
        <p:nvSpPr>
          <p:cNvPr id="10" name="Shape 7"/>
          <p:cNvSpPr/>
          <p:nvPr/>
        </p:nvSpPr>
        <p:spPr>
          <a:xfrm>
            <a:off x="7422237" y="2355294"/>
            <a:ext cx="6458783" cy="5308521"/>
          </a:xfrm>
          <a:prstGeom prst="roundRect">
            <a:avLst>
              <a:gd name="adj" fmla="val 605"/>
            </a:avLst>
          </a:prstGeom>
          <a:solidFill>
            <a:srgbClr val="FBFCFE"/>
          </a:solidFill>
          <a:ln w="30480">
            <a:solidFill>
              <a:srgbClr val="CFD2D8"/>
            </a:solidFill>
            <a:prstDash val="solid"/>
          </a:ln>
        </p:spPr>
      </p:sp>
      <p:sp>
        <p:nvSpPr>
          <p:cNvPr id="11" name="Shape 8"/>
          <p:cNvSpPr/>
          <p:nvPr/>
        </p:nvSpPr>
        <p:spPr>
          <a:xfrm>
            <a:off x="7452717" y="2385774"/>
            <a:ext cx="6397823" cy="642342"/>
          </a:xfrm>
          <a:prstGeom prst="rect">
            <a:avLst/>
          </a:prstGeom>
          <a:solidFill>
            <a:srgbClr val="E9ECF2"/>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91073" y="2546271"/>
            <a:ext cx="321112" cy="321112"/>
          </a:xfrm>
          <a:prstGeom prst="rect">
            <a:avLst/>
          </a:prstGeom>
        </p:spPr>
      </p:pic>
      <p:sp>
        <p:nvSpPr>
          <p:cNvPr id="13" name="Text 9"/>
          <p:cNvSpPr/>
          <p:nvPr/>
        </p:nvSpPr>
        <p:spPr>
          <a:xfrm>
            <a:off x="7666792" y="3242191"/>
            <a:ext cx="3673435" cy="334566"/>
          </a:xfrm>
          <a:prstGeom prst="rect">
            <a:avLst/>
          </a:prstGeom>
          <a:noFill/>
          <a:ln/>
        </p:spPr>
        <p:txBody>
          <a:bodyPr wrap="none" lIns="0" tIns="0" rIns="0" bIns="0" rtlCol="0" anchor="t"/>
          <a:lstStyle/>
          <a:p>
            <a:pPr marL="0" indent="0" algn="l">
              <a:lnSpc>
                <a:spcPts val="2600"/>
              </a:lnSpc>
              <a:buNone/>
            </a:pPr>
            <a:r>
              <a:rPr lang="en-US" sz="2100" dirty="0">
                <a:solidFill>
                  <a:srgbClr val="15213F"/>
                </a:solidFill>
                <a:latin typeface="Roboto Slab" pitchFamily="34" charset="0"/>
                <a:ea typeface="Roboto Slab" pitchFamily="34" charset="-122"/>
                <a:cs typeface="Roboto Slab" pitchFamily="34" charset="-120"/>
              </a:rPr>
              <a:t>Active Directory Permissions</a:t>
            </a:r>
            <a:endParaRPr lang="en-US" sz="2100" dirty="0"/>
          </a:p>
        </p:txBody>
      </p:sp>
      <p:sp>
        <p:nvSpPr>
          <p:cNvPr id="14" name="Text 10"/>
          <p:cNvSpPr/>
          <p:nvPr/>
        </p:nvSpPr>
        <p:spPr>
          <a:xfrm>
            <a:off x="7666792" y="3705225"/>
            <a:ext cx="5969675" cy="685324"/>
          </a:xfrm>
          <a:prstGeom prst="rect">
            <a:avLst/>
          </a:prstGeom>
          <a:noFill/>
          <a:ln/>
        </p:spPr>
        <p:txBody>
          <a:bodyPr wrap="square" lIns="0" tIns="0" rIns="0" bIns="0" rtlCol="0" anchor="t"/>
          <a:lstStyle/>
          <a:p>
            <a:pPr marL="0" indent="0" algn="l">
              <a:lnSpc>
                <a:spcPts val="2650"/>
              </a:lnSpc>
              <a:buNone/>
            </a:pPr>
            <a:r>
              <a:rPr lang="en-US" sz="1650" dirty="0">
                <a:solidFill>
                  <a:srgbClr val="15213F"/>
                </a:solidFill>
                <a:latin typeface="Roboto" pitchFamily="34" charset="0"/>
                <a:ea typeface="Roboto" pitchFamily="34" charset="-122"/>
                <a:cs typeface="Roboto" pitchFamily="34" charset="-120"/>
              </a:rPr>
              <a:t>Define user and group rights on AD objects including users, computers, organizational units, and groups.</a:t>
            </a:r>
            <a:endParaRPr lang="en-US" sz="1650" dirty="0"/>
          </a:p>
        </p:txBody>
      </p:sp>
      <p:sp>
        <p:nvSpPr>
          <p:cNvPr id="15" name="Text 11"/>
          <p:cNvSpPr/>
          <p:nvPr/>
        </p:nvSpPr>
        <p:spPr>
          <a:xfrm>
            <a:off x="7666792" y="4519017"/>
            <a:ext cx="5969675" cy="1370647"/>
          </a:xfrm>
          <a:prstGeom prst="rect">
            <a:avLst/>
          </a:prstGeom>
          <a:noFill/>
          <a:ln/>
        </p:spPr>
        <p:txBody>
          <a:bodyPr wrap="square" lIns="0" tIns="0" rIns="0" bIns="0" rtlCol="0" anchor="t"/>
          <a:lstStyle/>
          <a:p>
            <a:pPr marL="0" indent="0" algn="l">
              <a:lnSpc>
                <a:spcPts val="2650"/>
              </a:lnSpc>
              <a:buNone/>
            </a:pPr>
            <a:r>
              <a:rPr lang="en-US" sz="1650" b="1" dirty="0">
                <a:solidFill>
                  <a:srgbClr val="15213F"/>
                </a:solidFill>
                <a:latin typeface="Roboto" pitchFamily="34" charset="0"/>
                <a:ea typeface="Roboto" pitchFamily="34" charset="-122"/>
                <a:cs typeface="Roboto" pitchFamily="34" charset="-120"/>
              </a:rPr>
              <a:t>Real Example:</a:t>
            </a:r>
            <a:r>
              <a:rPr lang="en-US" sz="1650" dirty="0">
                <a:solidFill>
                  <a:srgbClr val="15213F"/>
                </a:solidFill>
                <a:latin typeface="Roboto" pitchFamily="34" charset="0"/>
                <a:ea typeface="Roboto" pitchFamily="34" charset="-122"/>
                <a:cs typeface="Roboto" pitchFamily="34" charset="-120"/>
              </a:rPr>
              <a:t> Delegating password reset rights to Tier-1 helpdesk staff on specific OUs without granting full Domain Admin privileges. This follows least-privilege principles while maintaining operational efficiency.</a:t>
            </a:r>
            <a:endParaRPr lang="en-US" sz="1650" dirty="0"/>
          </a:p>
        </p:txBody>
      </p:sp>
      <p:sp>
        <p:nvSpPr>
          <p:cNvPr id="16" name="Text 12"/>
          <p:cNvSpPr/>
          <p:nvPr/>
        </p:nvSpPr>
        <p:spPr>
          <a:xfrm>
            <a:off x="7666792" y="6018133"/>
            <a:ext cx="5969675" cy="1370647"/>
          </a:xfrm>
          <a:prstGeom prst="rect">
            <a:avLst/>
          </a:prstGeom>
          <a:noFill/>
          <a:ln/>
        </p:spPr>
        <p:txBody>
          <a:bodyPr wrap="square" lIns="0" tIns="0" rIns="0" bIns="0" rtlCol="0" anchor="t"/>
          <a:lstStyle/>
          <a:p>
            <a:pPr marL="0" indent="0" algn="l">
              <a:lnSpc>
                <a:spcPts val="2650"/>
              </a:lnSpc>
              <a:buNone/>
            </a:pPr>
            <a:r>
              <a:rPr lang="en-US" sz="1650" b="1" dirty="0">
                <a:solidFill>
                  <a:srgbClr val="15213F"/>
                </a:solidFill>
                <a:latin typeface="Roboto" pitchFamily="34" charset="0"/>
                <a:ea typeface="Roboto" pitchFamily="34" charset="-122"/>
                <a:cs typeface="Roboto" pitchFamily="34" charset="-120"/>
              </a:rPr>
              <a:t>Practical Application:</a:t>
            </a:r>
            <a:r>
              <a:rPr lang="en-US" sz="1650" dirty="0">
                <a:solidFill>
                  <a:srgbClr val="15213F"/>
                </a:solidFill>
                <a:latin typeface="Roboto" pitchFamily="34" charset="0"/>
                <a:ea typeface="Roboto" pitchFamily="34" charset="-122"/>
                <a:cs typeface="Roboto" pitchFamily="34" charset="-120"/>
              </a:rPr>
              <a:t> Use Active Directory Users and Computers → Advanced Features → Security tab → Add delegation for "Reset Password" permission to helpdesk security group.</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3427" y="591979"/>
            <a:ext cx="10035778" cy="672703"/>
          </a:xfrm>
          <a:prstGeom prst="rect">
            <a:avLst/>
          </a:prstGeom>
          <a:noFill/>
          <a:ln/>
        </p:spPr>
        <p:txBody>
          <a:bodyPr wrap="none" lIns="0" tIns="0" rIns="0" bIns="0" rtlCol="0" anchor="t"/>
          <a:lstStyle/>
          <a:p>
            <a:pPr marL="0" indent="0" algn="l">
              <a:lnSpc>
                <a:spcPts val="5250"/>
              </a:lnSpc>
              <a:buNone/>
            </a:pPr>
            <a:r>
              <a:rPr lang="en-US" sz="4200" dirty="0">
                <a:solidFill>
                  <a:srgbClr val="3257B8"/>
                </a:solidFill>
                <a:latin typeface="Roboto Slab" pitchFamily="34" charset="0"/>
                <a:ea typeface="Roboto Slab" pitchFamily="34" charset="-122"/>
                <a:cs typeface="Roboto Slab" pitchFamily="34" charset="-120"/>
              </a:rPr>
              <a:t>Device Driver Rollback: What and Why?</a:t>
            </a:r>
            <a:endParaRPr lang="en-US" sz="4200" dirty="0"/>
          </a:p>
        </p:txBody>
      </p:sp>
      <p:sp>
        <p:nvSpPr>
          <p:cNvPr id="3" name="Text 1"/>
          <p:cNvSpPr/>
          <p:nvPr/>
        </p:nvSpPr>
        <p:spPr>
          <a:xfrm>
            <a:off x="753427" y="1802844"/>
            <a:ext cx="3228975" cy="403622"/>
          </a:xfrm>
          <a:prstGeom prst="rect">
            <a:avLst/>
          </a:prstGeom>
          <a:noFill/>
          <a:ln/>
        </p:spPr>
        <p:txBody>
          <a:bodyPr wrap="none" lIns="0" tIns="0" rIns="0" bIns="0" rtlCol="0" anchor="t"/>
          <a:lstStyle/>
          <a:p>
            <a:pPr marL="0" indent="0" algn="l">
              <a:lnSpc>
                <a:spcPts val="3150"/>
              </a:lnSpc>
              <a:buNone/>
            </a:pPr>
            <a:r>
              <a:rPr lang="en-US" sz="2500" dirty="0">
                <a:solidFill>
                  <a:srgbClr val="3257B8"/>
                </a:solidFill>
                <a:latin typeface="Roboto Slab" pitchFamily="34" charset="0"/>
                <a:ea typeface="Roboto Slab" pitchFamily="34" charset="-122"/>
                <a:cs typeface="Roboto Slab" pitchFamily="34" charset="-120"/>
              </a:rPr>
              <a:t>What It Is</a:t>
            </a:r>
            <a:endParaRPr lang="en-US" sz="2500" dirty="0"/>
          </a:p>
        </p:txBody>
      </p:sp>
      <p:sp>
        <p:nvSpPr>
          <p:cNvPr id="4" name="Text 2"/>
          <p:cNvSpPr/>
          <p:nvPr/>
        </p:nvSpPr>
        <p:spPr>
          <a:xfrm>
            <a:off x="753427" y="2421731"/>
            <a:ext cx="5616773" cy="1377315"/>
          </a:xfrm>
          <a:prstGeom prst="rect">
            <a:avLst/>
          </a:prstGeom>
          <a:noFill/>
          <a:ln/>
        </p:spPr>
        <p:txBody>
          <a:bodyPr wrap="square" lIns="0" tIns="0" rIns="0" bIns="0" rtlCol="0" anchor="t"/>
          <a:lstStyle/>
          <a:p>
            <a:pPr marL="0" indent="0" algn="l">
              <a:lnSpc>
                <a:spcPts val="2700"/>
              </a:lnSpc>
              <a:buNone/>
            </a:pPr>
            <a:r>
              <a:rPr lang="en-US" sz="1650" dirty="0">
                <a:solidFill>
                  <a:srgbClr val="15213F"/>
                </a:solidFill>
                <a:latin typeface="Roboto" pitchFamily="34" charset="0"/>
                <a:ea typeface="Roboto" pitchFamily="34" charset="-122"/>
                <a:cs typeface="Roboto" pitchFamily="34" charset="-120"/>
              </a:rPr>
              <a:t>A Windows feature allowing administrators to revert to a previously installed driver version when a new driver causes system instability, performance issues, or hardware malfunctions.</a:t>
            </a:r>
            <a:endParaRPr lang="en-US" sz="1650" dirty="0"/>
          </a:p>
        </p:txBody>
      </p:sp>
      <p:sp>
        <p:nvSpPr>
          <p:cNvPr id="5" name="Text 3"/>
          <p:cNvSpPr/>
          <p:nvPr/>
        </p:nvSpPr>
        <p:spPr>
          <a:xfrm>
            <a:off x="753427" y="4014311"/>
            <a:ext cx="3228975" cy="403622"/>
          </a:xfrm>
          <a:prstGeom prst="rect">
            <a:avLst/>
          </a:prstGeom>
          <a:noFill/>
          <a:ln/>
        </p:spPr>
        <p:txBody>
          <a:bodyPr wrap="none" lIns="0" tIns="0" rIns="0" bIns="0" rtlCol="0" anchor="t"/>
          <a:lstStyle/>
          <a:p>
            <a:pPr marL="0" indent="0" algn="l">
              <a:lnSpc>
                <a:spcPts val="3150"/>
              </a:lnSpc>
              <a:buNone/>
            </a:pPr>
            <a:r>
              <a:rPr lang="en-US" sz="2500" dirty="0">
                <a:solidFill>
                  <a:srgbClr val="3257B8"/>
                </a:solidFill>
                <a:latin typeface="Roboto Slab" pitchFamily="34" charset="0"/>
                <a:ea typeface="Roboto Slab" pitchFamily="34" charset="-122"/>
                <a:cs typeface="Roboto Slab" pitchFamily="34" charset="-120"/>
              </a:rPr>
              <a:t>Why It Matters</a:t>
            </a:r>
            <a:endParaRPr lang="en-US" sz="2500" dirty="0"/>
          </a:p>
        </p:txBody>
      </p:sp>
      <p:sp>
        <p:nvSpPr>
          <p:cNvPr id="6" name="Text 4"/>
          <p:cNvSpPr/>
          <p:nvPr/>
        </p:nvSpPr>
        <p:spPr>
          <a:xfrm>
            <a:off x="753427" y="4633198"/>
            <a:ext cx="5616773" cy="1377315"/>
          </a:xfrm>
          <a:prstGeom prst="rect">
            <a:avLst/>
          </a:prstGeom>
          <a:noFill/>
          <a:ln/>
        </p:spPr>
        <p:txBody>
          <a:bodyPr wrap="square" lIns="0" tIns="0" rIns="0" bIns="0" rtlCol="0" anchor="t"/>
          <a:lstStyle/>
          <a:p>
            <a:pPr marL="0" indent="0" algn="l">
              <a:lnSpc>
                <a:spcPts val="2700"/>
              </a:lnSpc>
              <a:buNone/>
            </a:pPr>
            <a:r>
              <a:rPr lang="en-US" sz="1650" dirty="0">
                <a:solidFill>
                  <a:srgbClr val="15213F"/>
                </a:solidFill>
                <a:latin typeface="Roboto" pitchFamily="34" charset="0"/>
                <a:ea typeface="Roboto" pitchFamily="34" charset="-122"/>
                <a:cs typeface="Roboto" pitchFamily="34" charset="-120"/>
              </a:rPr>
              <a:t>New drivers aren't always better. Automatic Windows Updates can install incompatible drivers that break critical functionality, making rollback essential for business continuity.</a:t>
            </a:r>
            <a:endParaRPr lang="en-US" sz="1650" dirty="0"/>
          </a:p>
        </p:txBody>
      </p:sp>
      <p:sp>
        <p:nvSpPr>
          <p:cNvPr id="7" name="Text 5"/>
          <p:cNvSpPr/>
          <p:nvPr/>
        </p:nvSpPr>
        <p:spPr>
          <a:xfrm>
            <a:off x="6902887" y="1802844"/>
            <a:ext cx="3228975" cy="403622"/>
          </a:xfrm>
          <a:prstGeom prst="rect">
            <a:avLst/>
          </a:prstGeom>
          <a:noFill/>
          <a:ln/>
        </p:spPr>
        <p:txBody>
          <a:bodyPr wrap="none" lIns="0" tIns="0" rIns="0" bIns="0" rtlCol="0" anchor="t"/>
          <a:lstStyle/>
          <a:p>
            <a:pPr marL="0" indent="0" algn="l">
              <a:lnSpc>
                <a:spcPts val="3150"/>
              </a:lnSpc>
              <a:buNone/>
            </a:pPr>
            <a:r>
              <a:rPr lang="en-US" sz="2500" dirty="0">
                <a:solidFill>
                  <a:srgbClr val="3257B8"/>
                </a:solidFill>
                <a:latin typeface="Roboto Slab" pitchFamily="34" charset="0"/>
                <a:ea typeface="Roboto Slab" pitchFamily="34" charset="-122"/>
                <a:cs typeface="Roboto Slab" pitchFamily="34" charset="-120"/>
              </a:rPr>
              <a:t>Real-World Example</a:t>
            </a:r>
            <a:endParaRPr lang="en-US" sz="2500" dirty="0"/>
          </a:p>
        </p:txBody>
      </p:sp>
      <p:sp>
        <p:nvSpPr>
          <p:cNvPr id="8" name="Shape 6"/>
          <p:cNvSpPr/>
          <p:nvPr/>
        </p:nvSpPr>
        <p:spPr>
          <a:xfrm>
            <a:off x="6902887" y="2448639"/>
            <a:ext cx="6981587" cy="2292072"/>
          </a:xfrm>
          <a:prstGeom prst="roundRect">
            <a:avLst>
              <a:gd name="adj" fmla="val 1409"/>
            </a:avLst>
          </a:prstGeom>
          <a:solidFill>
            <a:srgbClr val="C3CFEF"/>
          </a:solidFill>
          <a:ln/>
        </p:spPr>
      </p:sp>
      <p:pic>
        <p:nvPicPr>
          <p:cNvPr id="9" name="Image 0" descr="preencoded.png"/>
          <p:cNvPicPr>
            <a:picLocks noChangeAspect="1"/>
          </p:cNvPicPr>
          <p:nvPr/>
        </p:nvPicPr>
        <p:blipFill>
          <a:blip r:embed="rId3"/>
          <a:stretch>
            <a:fillRect/>
          </a:stretch>
        </p:blipFill>
        <p:spPr>
          <a:xfrm>
            <a:off x="7118152" y="2773204"/>
            <a:ext cx="269081" cy="215265"/>
          </a:xfrm>
          <a:prstGeom prst="rect">
            <a:avLst/>
          </a:prstGeom>
        </p:spPr>
      </p:pic>
      <p:sp>
        <p:nvSpPr>
          <p:cNvPr id="10" name="Text 7"/>
          <p:cNvSpPr/>
          <p:nvPr/>
        </p:nvSpPr>
        <p:spPr>
          <a:xfrm>
            <a:off x="7602498" y="2717721"/>
            <a:ext cx="6066711" cy="1721644"/>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Roboto" pitchFamily="34" charset="0"/>
                <a:ea typeface="Roboto" pitchFamily="34" charset="-122"/>
                <a:cs typeface="Roboto" pitchFamily="34" charset="-120"/>
              </a:rPr>
              <a:t>After a Windows 11 update automatically installs Intel Wi-Fi driver version 23.20.0, employees experience constant network disconnections and 80% packet loss. IT uses driver rollback to restore version 22.240.0, immediately resolving connectivity issues across 200 laptops.</a:t>
            </a:r>
            <a:endParaRPr lang="en-US" sz="1650" dirty="0"/>
          </a:p>
        </p:txBody>
      </p:sp>
      <p:sp>
        <p:nvSpPr>
          <p:cNvPr id="11" name="Text 8"/>
          <p:cNvSpPr/>
          <p:nvPr/>
        </p:nvSpPr>
        <p:spPr>
          <a:xfrm>
            <a:off x="6902887" y="4982885"/>
            <a:ext cx="2690812" cy="336352"/>
          </a:xfrm>
          <a:prstGeom prst="rect">
            <a:avLst/>
          </a:prstGeom>
          <a:noFill/>
          <a:ln/>
        </p:spPr>
        <p:txBody>
          <a:bodyPr wrap="none" lIns="0" tIns="0" rIns="0" bIns="0" rtlCol="0" anchor="t"/>
          <a:lstStyle/>
          <a:p>
            <a:pPr marL="0" indent="0" algn="l">
              <a:lnSpc>
                <a:spcPts val="2600"/>
              </a:lnSpc>
              <a:buNone/>
            </a:pPr>
            <a:r>
              <a:rPr lang="en-US" sz="2100" dirty="0">
                <a:solidFill>
                  <a:srgbClr val="3257B8"/>
                </a:solidFill>
                <a:latin typeface="Roboto Slab" pitchFamily="34" charset="0"/>
                <a:ea typeface="Roboto Slab" pitchFamily="34" charset="-122"/>
                <a:cs typeface="Roboto Slab" pitchFamily="34" charset="-120"/>
              </a:rPr>
              <a:t>How to Access</a:t>
            </a:r>
            <a:endParaRPr lang="en-US" sz="2100" dirty="0"/>
          </a:p>
        </p:txBody>
      </p:sp>
      <p:sp>
        <p:nvSpPr>
          <p:cNvPr id="12" name="Text 9"/>
          <p:cNvSpPr/>
          <p:nvPr/>
        </p:nvSpPr>
        <p:spPr>
          <a:xfrm>
            <a:off x="6902887" y="5534501"/>
            <a:ext cx="6981587" cy="351949"/>
          </a:xfrm>
          <a:prstGeom prst="rect">
            <a:avLst/>
          </a:prstGeom>
          <a:noFill/>
          <a:ln/>
        </p:spPr>
        <p:txBody>
          <a:bodyPr wrap="none" lIns="0" tIns="0" rIns="0" bIns="0" rtlCol="0" anchor="t"/>
          <a:lstStyle/>
          <a:p>
            <a:pPr marL="342900" indent="-342900" algn="l">
              <a:lnSpc>
                <a:spcPts val="2700"/>
              </a:lnSpc>
              <a:buSzPct val="100000"/>
              <a:buFont typeface="+mj-lt"/>
              <a:buAutoNum type="arabicPeriod"/>
            </a:pPr>
            <a:r>
              <a:rPr lang="en-US" sz="1650" dirty="0">
                <a:solidFill>
                  <a:srgbClr val="15213F"/>
                </a:solidFill>
                <a:latin typeface="Roboto" pitchFamily="34" charset="0"/>
                <a:ea typeface="Roboto" pitchFamily="34" charset="-122"/>
                <a:cs typeface="Roboto" pitchFamily="34" charset="-120"/>
              </a:rPr>
              <a:t>Open Device Manager (</a:t>
            </a:r>
            <a:r>
              <a:rPr lang="en-US" sz="1650" dirty="0">
                <a:solidFill>
                  <a:srgbClr val="15213F"/>
                </a:solidFill>
                <a:highlight>
                  <a:srgbClr val="EEEFF1"/>
                </a:highlight>
                <a:latin typeface="Consolas" pitchFamily="34" charset="0"/>
                <a:ea typeface="Consolas" pitchFamily="34" charset="-122"/>
                <a:cs typeface="Consolas" pitchFamily="34" charset="-120"/>
              </a:rPr>
              <a:t>devmgmt.msc</a:t>
            </a:r>
            <a:r>
              <a:rPr lang="en-US" sz="1650" dirty="0">
                <a:solidFill>
                  <a:srgbClr val="15213F"/>
                </a:solidFill>
                <a:latin typeface="Roboto" pitchFamily="34" charset="0"/>
                <a:ea typeface="Roboto" pitchFamily="34" charset="-122"/>
                <a:cs typeface="Roboto" pitchFamily="34" charset="-120"/>
              </a:rPr>
              <a:t>)</a:t>
            </a:r>
            <a:endParaRPr lang="en-US" sz="1650" dirty="0"/>
          </a:p>
        </p:txBody>
      </p:sp>
      <p:sp>
        <p:nvSpPr>
          <p:cNvPr id="13" name="Text 10"/>
          <p:cNvSpPr/>
          <p:nvPr/>
        </p:nvSpPr>
        <p:spPr>
          <a:xfrm>
            <a:off x="6902887" y="5961698"/>
            <a:ext cx="6981587" cy="344329"/>
          </a:xfrm>
          <a:prstGeom prst="rect">
            <a:avLst/>
          </a:prstGeom>
          <a:noFill/>
          <a:ln/>
        </p:spPr>
        <p:txBody>
          <a:bodyPr wrap="none" lIns="0" tIns="0" rIns="0" bIns="0" rtlCol="0" anchor="t"/>
          <a:lstStyle/>
          <a:p>
            <a:pPr marL="342900" indent="-342900" algn="l">
              <a:lnSpc>
                <a:spcPts val="2700"/>
              </a:lnSpc>
              <a:buSzPct val="100000"/>
              <a:buFont typeface="+mj-lt"/>
              <a:buAutoNum type="arabicPeriod" startAt="2"/>
            </a:pPr>
            <a:r>
              <a:rPr lang="en-US" sz="1650" dirty="0">
                <a:solidFill>
                  <a:srgbClr val="15213F"/>
                </a:solidFill>
                <a:latin typeface="Roboto" pitchFamily="34" charset="0"/>
                <a:ea typeface="Roboto" pitchFamily="34" charset="-122"/>
                <a:cs typeface="Roboto" pitchFamily="34" charset="-120"/>
              </a:rPr>
              <a:t>Locate the problematic device</a:t>
            </a:r>
            <a:endParaRPr lang="en-US" sz="1650" dirty="0"/>
          </a:p>
        </p:txBody>
      </p:sp>
      <p:sp>
        <p:nvSpPr>
          <p:cNvPr id="14" name="Text 11"/>
          <p:cNvSpPr/>
          <p:nvPr/>
        </p:nvSpPr>
        <p:spPr>
          <a:xfrm>
            <a:off x="6902887" y="6381274"/>
            <a:ext cx="6981587" cy="344329"/>
          </a:xfrm>
          <a:prstGeom prst="rect">
            <a:avLst/>
          </a:prstGeom>
          <a:noFill/>
          <a:ln/>
        </p:spPr>
        <p:txBody>
          <a:bodyPr wrap="none" lIns="0" tIns="0" rIns="0" bIns="0" rtlCol="0" anchor="t"/>
          <a:lstStyle/>
          <a:p>
            <a:pPr marL="342900" indent="-342900" algn="l">
              <a:lnSpc>
                <a:spcPts val="2700"/>
              </a:lnSpc>
              <a:buSzPct val="100000"/>
              <a:buFont typeface="+mj-lt"/>
              <a:buAutoNum type="arabicPeriod" startAt="3"/>
            </a:pPr>
            <a:r>
              <a:rPr lang="en-US" sz="1650" dirty="0">
                <a:solidFill>
                  <a:srgbClr val="15213F"/>
                </a:solidFill>
                <a:latin typeface="Roboto" pitchFamily="34" charset="0"/>
                <a:ea typeface="Roboto" pitchFamily="34" charset="-122"/>
                <a:cs typeface="Roboto" pitchFamily="34" charset="-120"/>
              </a:rPr>
              <a:t>Right-click → Properties → Driver tab</a:t>
            </a:r>
            <a:endParaRPr lang="en-US" sz="1650" dirty="0"/>
          </a:p>
        </p:txBody>
      </p:sp>
      <p:sp>
        <p:nvSpPr>
          <p:cNvPr id="15" name="Text 12"/>
          <p:cNvSpPr/>
          <p:nvPr/>
        </p:nvSpPr>
        <p:spPr>
          <a:xfrm>
            <a:off x="6902887" y="6800850"/>
            <a:ext cx="6981587" cy="344329"/>
          </a:xfrm>
          <a:prstGeom prst="rect">
            <a:avLst/>
          </a:prstGeom>
          <a:noFill/>
          <a:ln/>
        </p:spPr>
        <p:txBody>
          <a:bodyPr wrap="none" lIns="0" tIns="0" rIns="0" bIns="0" rtlCol="0" anchor="t"/>
          <a:lstStyle/>
          <a:p>
            <a:pPr marL="342900" indent="-342900" algn="l">
              <a:lnSpc>
                <a:spcPts val="2700"/>
              </a:lnSpc>
              <a:buSzPct val="100000"/>
              <a:buFont typeface="+mj-lt"/>
              <a:buAutoNum type="arabicPeriod" startAt="4"/>
            </a:pPr>
            <a:r>
              <a:rPr lang="en-US" sz="1650" dirty="0">
                <a:solidFill>
                  <a:srgbClr val="15213F"/>
                </a:solidFill>
                <a:latin typeface="Roboto" pitchFamily="34" charset="0"/>
                <a:ea typeface="Roboto" pitchFamily="34" charset="-122"/>
                <a:cs typeface="Roboto" pitchFamily="34" charset="-120"/>
              </a:rPr>
              <a:t>Click "Roll Back Driver" button</a:t>
            </a:r>
            <a:endParaRPr lang="en-US" sz="1650" dirty="0"/>
          </a:p>
        </p:txBody>
      </p:sp>
      <p:sp>
        <p:nvSpPr>
          <p:cNvPr id="16" name="Text 13"/>
          <p:cNvSpPr/>
          <p:nvPr/>
        </p:nvSpPr>
        <p:spPr>
          <a:xfrm>
            <a:off x="6902887" y="7220426"/>
            <a:ext cx="6981587" cy="344329"/>
          </a:xfrm>
          <a:prstGeom prst="rect">
            <a:avLst/>
          </a:prstGeom>
          <a:noFill/>
          <a:ln/>
        </p:spPr>
        <p:txBody>
          <a:bodyPr wrap="none" lIns="0" tIns="0" rIns="0" bIns="0" rtlCol="0" anchor="t"/>
          <a:lstStyle/>
          <a:p>
            <a:pPr marL="342900" indent="-342900" algn="l">
              <a:lnSpc>
                <a:spcPts val="2700"/>
              </a:lnSpc>
              <a:buSzPct val="100000"/>
              <a:buFont typeface="+mj-lt"/>
              <a:buAutoNum type="arabicPeriod" startAt="5"/>
            </a:pPr>
            <a:r>
              <a:rPr lang="en-US" sz="1650" dirty="0">
                <a:solidFill>
                  <a:srgbClr val="15213F"/>
                </a:solidFill>
                <a:latin typeface="Roboto" pitchFamily="34" charset="0"/>
                <a:ea typeface="Roboto" pitchFamily="34" charset="-122"/>
                <a:cs typeface="Roboto" pitchFamily="34" charset="-120"/>
              </a:rPr>
              <a:t>Select reason and confirm</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0089" y="631865"/>
            <a:ext cx="13210223" cy="1268016"/>
          </a:xfrm>
          <a:prstGeom prst="rect">
            <a:avLst/>
          </a:prstGeom>
          <a:noFill/>
          <a:ln/>
        </p:spPr>
        <p:txBody>
          <a:bodyPr wrap="square" lIns="0" tIns="0" rIns="0" bIns="0" rtlCol="0" anchor="t"/>
          <a:lstStyle/>
          <a:p>
            <a:pPr marL="0" indent="0" algn="l">
              <a:lnSpc>
                <a:spcPts val="4950"/>
              </a:lnSpc>
              <a:buNone/>
            </a:pPr>
            <a:r>
              <a:rPr lang="en-US" sz="3950" dirty="0">
                <a:solidFill>
                  <a:srgbClr val="3257B8"/>
                </a:solidFill>
                <a:latin typeface="Roboto Slab" pitchFamily="34" charset="0"/>
                <a:ea typeface="Roboto Slab" pitchFamily="34" charset="-122"/>
                <a:cs typeface="Roboto Slab" pitchFamily="34" charset="-120"/>
              </a:rPr>
              <a:t>Practical Secedit Tutorial: Securing Windows Network Services</a:t>
            </a:r>
            <a:endParaRPr lang="en-US" sz="3950" dirty="0"/>
          </a:p>
        </p:txBody>
      </p:sp>
      <p:sp>
        <p:nvSpPr>
          <p:cNvPr id="3" name="Text 1"/>
          <p:cNvSpPr/>
          <p:nvPr/>
        </p:nvSpPr>
        <p:spPr>
          <a:xfrm>
            <a:off x="710089" y="2305645"/>
            <a:ext cx="13210223" cy="649129"/>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latin typeface="Roboto" pitchFamily="34" charset="0"/>
                <a:ea typeface="Roboto" pitchFamily="34" charset="-122"/>
                <a:cs typeface="Roboto" pitchFamily="34" charset="-120"/>
              </a:rPr>
              <a:t>Secedit is a command-line tool for configuring and analyzing system security. It enforces consistent security baselines across Windows environments by applying security templates that define policies, user rights, registry settings, and service configurations.</a:t>
            </a:r>
            <a:endParaRPr lang="en-US" sz="1550" dirty="0"/>
          </a:p>
        </p:txBody>
      </p:sp>
      <p:sp>
        <p:nvSpPr>
          <p:cNvPr id="4" name="Text 2"/>
          <p:cNvSpPr/>
          <p:nvPr/>
        </p:nvSpPr>
        <p:spPr>
          <a:xfrm>
            <a:off x="710089" y="3183017"/>
            <a:ext cx="202883" cy="253603"/>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latin typeface="Roboto Slab Light" pitchFamily="34" charset="0"/>
                <a:ea typeface="Roboto Slab Light" pitchFamily="34" charset="-122"/>
                <a:cs typeface="Roboto Slab Light" pitchFamily="34" charset="-120"/>
              </a:rPr>
              <a:t>01</a:t>
            </a:r>
            <a:endParaRPr lang="en-US" sz="1550" dirty="0"/>
          </a:p>
        </p:txBody>
      </p:sp>
      <p:pic>
        <p:nvPicPr>
          <p:cNvPr id="5" name="Image 0" descr="preencoded.png"/>
          <p:cNvPicPr>
            <a:picLocks noChangeAspect="1"/>
          </p:cNvPicPr>
          <p:nvPr/>
        </p:nvPicPr>
        <p:blipFill>
          <a:blip r:embed="rId3"/>
          <a:stretch>
            <a:fillRect/>
          </a:stretch>
        </p:blipFill>
        <p:spPr>
          <a:xfrm>
            <a:off x="710089" y="3504962"/>
            <a:ext cx="4268153" cy="22860"/>
          </a:xfrm>
          <a:prstGeom prst="rect">
            <a:avLst/>
          </a:prstGeom>
        </p:spPr>
      </p:pic>
      <p:sp>
        <p:nvSpPr>
          <p:cNvPr id="6" name="Text 3"/>
          <p:cNvSpPr/>
          <p:nvPr/>
        </p:nvSpPr>
        <p:spPr>
          <a:xfrm>
            <a:off x="710089" y="3652123"/>
            <a:ext cx="4268153" cy="633889"/>
          </a:xfrm>
          <a:prstGeom prst="rect">
            <a:avLst/>
          </a:prstGeom>
          <a:noFill/>
          <a:ln/>
        </p:spPr>
        <p:txBody>
          <a:bodyPr wrap="square" lIns="0" tIns="0" rIns="0" bIns="0" rtlCol="0" anchor="t"/>
          <a:lstStyle/>
          <a:p>
            <a:pPr marL="0" indent="0" algn="l">
              <a:lnSpc>
                <a:spcPts val="2450"/>
              </a:lnSpc>
              <a:buNone/>
            </a:pPr>
            <a:r>
              <a:rPr lang="en-US" sz="1950" dirty="0">
                <a:solidFill>
                  <a:srgbClr val="15213F"/>
                </a:solidFill>
                <a:latin typeface="Roboto Slab" pitchFamily="34" charset="0"/>
                <a:ea typeface="Roboto Slab" pitchFamily="34" charset="-122"/>
                <a:cs typeface="Roboto Slab" pitchFamily="34" charset="-120"/>
              </a:rPr>
              <a:t>Open Administrative Command Prompt</a:t>
            </a:r>
            <a:endParaRPr lang="en-US" sz="1950" dirty="0"/>
          </a:p>
        </p:txBody>
      </p:sp>
      <p:sp>
        <p:nvSpPr>
          <p:cNvPr id="7" name="Text 4"/>
          <p:cNvSpPr/>
          <p:nvPr/>
        </p:nvSpPr>
        <p:spPr>
          <a:xfrm>
            <a:off x="710089" y="4407694"/>
            <a:ext cx="4268153" cy="649129"/>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latin typeface="Roboto" pitchFamily="34" charset="0"/>
                <a:ea typeface="Roboto" pitchFamily="34" charset="-122"/>
                <a:cs typeface="Roboto" pitchFamily="34" charset="-120"/>
              </a:rPr>
              <a:t>Right-click Start → Windows Terminal (Admin) or Command Prompt (Admin)</a:t>
            </a:r>
            <a:endParaRPr lang="en-US" sz="1550" dirty="0"/>
          </a:p>
        </p:txBody>
      </p:sp>
      <p:sp>
        <p:nvSpPr>
          <p:cNvPr id="8" name="Text 5"/>
          <p:cNvSpPr/>
          <p:nvPr/>
        </p:nvSpPr>
        <p:spPr>
          <a:xfrm>
            <a:off x="5181124" y="3183017"/>
            <a:ext cx="202883" cy="253603"/>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latin typeface="Roboto Slab Light" pitchFamily="34" charset="0"/>
                <a:ea typeface="Roboto Slab Light" pitchFamily="34" charset="-122"/>
                <a:cs typeface="Roboto Slab Light" pitchFamily="34" charset="-120"/>
              </a:rPr>
              <a:t>02</a:t>
            </a:r>
            <a:endParaRPr lang="en-US" sz="1550" dirty="0"/>
          </a:p>
        </p:txBody>
      </p:sp>
      <p:pic>
        <p:nvPicPr>
          <p:cNvPr id="9" name="Image 1" descr="preencoded.png"/>
          <p:cNvPicPr>
            <a:picLocks noChangeAspect="1"/>
          </p:cNvPicPr>
          <p:nvPr/>
        </p:nvPicPr>
        <p:blipFill>
          <a:blip r:embed="rId3"/>
          <a:stretch>
            <a:fillRect/>
          </a:stretch>
        </p:blipFill>
        <p:spPr>
          <a:xfrm>
            <a:off x="5181124" y="3504962"/>
            <a:ext cx="4268153" cy="22860"/>
          </a:xfrm>
          <a:prstGeom prst="rect">
            <a:avLst/>
          </a:prstGeom>
        </p:spPr>
      </p:pic>
      <p:sp>
        <p:nvSpPr>
          <p:cNvPr id="10" name="Text 6"/>
          <p:cNvSpPr/>
          <p:nvPr/>
        </p:nvSpPr>
        <p:spPr>
          <a:xfrm>
            <a:off x="5181124" y="3652123"/>
            <a:ext cx="3628787" cy="316944"/>
          </a:xfrm>
          <a:prstGeom prst="rect">
            <a:avLst/>
          </a:prstGeom>
          <a:noFill/>
          <a:ln/>
        </p:spPr>
        <p:txBody>
          <a:bodyPr wrap="none" lIns="0" tIns="0" rIns="0" bIns="0" rtlCol="0" anchor="t"/>
          <a:lstStyle/>
          <a:p>
            <a:pPr marL="0" indent="0" algn="l">
              <a:lnSpc>
                <a:spcPts val="2450"/>
              </a:lnSpc>
              <a:buNone/>
            </a:pPr>
            <a:r>
              <a:rPr lang="en-US" sz="1950" dirty="0">
                <a:solidFill>
                  <a:srgbClr val="15213F"/>
                </a:solidFill>
                <a:latin typeface="Roboto Slab" pitchFamily="34" charset="0"/>
                <a:ea typeface="Roboto Slab" pitchFamily="34" charset="-122"/>
                <a:cs typeface="Roboto Slab" pitchFamily="34" charset="-120"/>
              </a:rPr>
              <a:t>Export Current Security Policy</a:t>
            </a:r>
            <a:endParaRPr lang="en-US" sz="1950" dirty="0"/>
          </a:p>
        </p:txBody>
      </p:sp>
      <p:sp>
        <p:nvSpPr>
          <p:cNvPr id="11" name="Text 7"/>
          <p:cNvSpPr/>
          <p:nvPr/>
        </p:nvSpPr>
        <p:spPr>
          <a:xfrm>
            <a:off x="5181124" y="4090749"/>
            <a:ext cx="4268153" cy="332184"/>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secedit /export /cfg C:\backup\current.cfg</a:t>
            </a:r>
            <a:endParaRPr lang="en-US" sz="1550" dirty="0"/>
          </a:p>
        </p:txBody>
      </p:sp>
      <p:sp>
        <p:nvSpPr>
          <p:cNvPr id="12" name="Text 8"/>
          <p:cNvSpPr/>
          <p:nvPr/>
        </p:nvSpPr>
        <p:spPr>
          <a:xfrm>
            <a:off x="5181124" y="4544616"/>
            <a:ext cx="4268153" cy="973693"/>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latin typeface="Roboto" pitchFamily="34" charset="0"/>
                <a:ea typeface="Roboto" pitchFamily="34" charset="-122"/>
                <a:cs typeface="Roboto" pitchFamily="34" charset="-120"/>
              </a:rPr>
              <a:t>This creates a baseline snapshot of your current security configuration for reference and rollback.</a:t>
            </a:r>
            <a:endParaRPr lang="en-US" sz="1550" dirty="0"/>
          </a:p>
        </p:txBody>
      </p:sp>
      <p:sp>
        <p:nvSpPr>
          <p:cNvPr id="13" name="Text 9"/>
          <p:cNvSpPr/>
          <p:nvPr/>
        </p:nvSpPr>
        <p:spPr>
          <a:xfrm>
            <a:off x="9652159" y="3183017"/>
            <a:ext cx="202883" cy="253603"/>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latin typeface="Roboto Slab Light" pitchFamily="34" charset="0"/>
                <a:ea typeface="Roboto Slab Light" pitchFamily="34" charset="-122"/>
                <a:cs typeface="Roboto Slab Light" pitchFamily="34" charset="-120"/>
              </a:rPr>
              <a:t>03</a:t>
            </a:r>
            <a:endParaRPr lang="en-US" sz="1550" dirty="0"/>
          </a:p>
        </p:txBody>
      </p:sp>
      <p:pic>
        <p:nvPicPr>
          <p:cNvPr id="14" name="Image 2" descr="preencoded.png"/>
          <p:cNvPicPr>
            <a:picLocks noChangeAspect="1"/>
          </p:cNvPicPr>
          <p:nvPr/>
        </p:nvPicPr>
        <p:blipFill>
          <a:blip r:embed="rId3"/>
          <a:stretch>
            <a:fillRect/>
          </a:stretch>
        </p:blipFill>
        <p:spPr>
          <a:xfrm>
            <a:off x="9652159" y="3525203"/>
            <a:ext cx="4268153" cy="22860"/>
          </a:xfrm>
          <a:prstGeom prst="rect">
            <a:avLst/>
          </a:prstGeom>
        </p:spPr>
      </p:pic>
      <p:sp>
        <p:nvSpPr>
          <p:cNvPr id="15" name="Text 10"/>
          <p:cNvSpPr/>
          <p:nvPr/>
        </p:nvSpPr>
        <p:spPr>
          <a:xfrm>
            <a:off x="9652159" y="3652123"/>
            <a:ext cx="3508177" cy="316944"/>
          </a:xfrm>
          <a:prstGeom prst="rect">
            <a:avLst/>
          </a:prstGeom>
          <a:noFill/>
          <a:ln/>
        </p:spPr>
        <p:txBody>
          <a:bodyPr wrap="none" lIns="0" tIns="0" rIns="0" bIns="0" rtlCol="0" anchor="t"/>
          <a:lstStyle/>
          <a:p>
            <a:pPr marL="0" indent="0" algn="l">
              <a:lnSpc>
                <a:spcPts val="2450"/>
              </a:lnSpc>
              <a:buNone/>
            </a:pPr>
            <a:r>
              <a:rPr lang="en-US" sz="1950" dirty="0">
                <a:solidFill>
                  <a:srgbClr val="15213F"/>
                </a:solidFill>
                <a:latin typeface="Roboto Slab" pitchFamily="34" charset="0"/>
                <a:ea typeface="Roboto Slab" pitchFamily="34" charset="-122"/>
                <a:cs typeface="Roboto Slab" pitchFamily="34" charset="-120"/>
              </a:rPr>
              <a:t>Create Security Template File</a:t>
            </a:r>
            <a:endParaRPr lang="en-US" sz="1950" dirty="0"/>
          </a:p>
        </p:txBody>
      </p:sp>
      <p:sp>
        <p:nvSpPr>
          <p:cNvPr id="16" name="Text 11"/>
          <p:cNvSpPr/>
          <p:nvPr/>
        </p:nvSpPr>
        <p:spPr>
          <a:xfrm>
            <a:off x="9802768" y="4090749"/>
            <a:ext cx="4268153" cy="981313"/>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latin typeface="Roboto" pitchFamily="34" charset="0"/>
                <a:ea typeface="Roboto" pitchFamily="34" charset="-122"/>
                <a:cs typeface="Roboto" pitchFamily="34" charset="-120"/>
              </a:rPr>
              <a:t>Create </a:t>
            </a:r>
            <a:r>
              <a:rPr lang="en-US" sz="1550" dirty="0">
                <a:solidFill>
                  <a:srgbClr val="15213F"/>
                </a:solidFill>
                <a:highlight>
                  <a:srgbClr val="EEEFF1"/>
                </a:highlight>
                <a:latin typeface="Consolas" pitchFamily="34" charset="0"/>
                <a:ea typeface="Consolas" pitchFamily="34" charset="-122"/>
                <a:cs typeface="Consolas" pitchFamily="34" charset="-120"/>
              </a:rPr>
              <a:t>securetemplate.inf</a:t>
            </a:r>
            <a:r>
              <a:rPr lang="en-US" sz="1550" dirty="0">
                <a:solidFill>
                  <a:srgbClr val="15213F"/>
                </a:solidFill>
                <a:latin typeface="Roboto" pitchFamily="34" charset="0"/>
                <a:ea typeface="Roboto" pitchFamily="34" charset="-122"/>
                <a:cs typeface="Roboto" pitchFamily="34" charset="-120"/>
              </a:rPr>
              <a:t> defining hardened settings for services, registry keys, and policies.</a:t>
            </a:r>
            <a:endParaRPr lang="en-US" sz="1550" dirty="0"/>
          </a:p>
        </p:txBody>
      </p:sp>
      <p:sp>
        <p:nvSpPr>
          <p:cNvPr id="17" name="Text 12"/>
          <p:cNvSpPr/>
          <p:nvPr/>
        </p:nvSpPr>
        <p:spPr>
          <a:xfrm>
            <a:off x="710089" y="5873353"/>
            <a:ext cx="202883" cy="253603"/>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latin typeface="Roboto Slab Light" pitchFamily="34" charset="0"/>
                <a:ea typeface="Roboto Slab Light" pitchFamily="34" charset="-122"/>
                <a:cs typeface="Roboto Slab Light" pitchFamily="34" charset="-120"/>
              </a:rPr>
              <a:t>04</a:t>
            </a:r>
            <a:endParaRPr lang="en-US" sz="1550" dirty="0"/>
          </a:p>
        </p:txBody>
      </p:sp>
      <p:pic>
        <p:nvPicPr>
          <p:cNvPr id="18" name="Image 3" descr="preencoded.png"/>
          <p:cNvPicPr>
            <a:picLocks noChangeAspect="1"/>
          </p:cNvPicPr>
          <p:nvPr/>
        </p:nvPicPr>
        <p:blipFill>
          <a:blip r:embed="rId4"/>
          <a:stretch>
            <a:fillRect/>
          </a:stretch>
        </p:blipFill>
        <p:spPr>
          <a:xfrm>
            <a:off x="710089" y="6175058"/>
            <a:ext cx="6503670" cy="22860"/>
          </a:xfrm>
          <a:prstGeom prst="rect">
            <a:avLst/>
          </a:prstGeom>
        </p:spPr>
      </p:pic>
      <p:sp>
        <p:nvSpPr>
          <p:cNvPr id="19" name="Text 13"/>
          <p:cNvSpPr/>
          <p:nvPr/>
        </p:nvSpPr>
        <p:spPr>
          <a:xfrm>
            <a:off x="710089" y="6342459"/>
            <a:ext cx="2536269" cy="316944"/>
          </a:xfrm>
          <a:prstGeom prst="rect">
            <a:avLst/>
          </a:prstGeom>
          <a:noFill/>
          <a:ln/>
        </p:spPr>
        <p:txBody>
          <a:bodyPr wrap="none" lIns="0" tIns="0" rIns="0" bIns="0" rtlCol="0" anchor="t"/>
          <a:lstStyle/>
          <a:p>
            <a:pPr marL="0" indent="0" algn="l">
              <a:lnSpc>
                <a:spcPts val="2450"/>
              </a:lnSpc>
              <a:buNone/>
            </a:pPr>
            <a:r>
              <a:rPr lang="en-US" sz="1950" dirty="0">
                <a:solidFill>
                  <a:srgbClr val="15213F"/>
                </a:solidFill>
                <a:latin typeface="Roboto Slab" pitchFamily="34" charset="0"/>
                <a:ea typeface="Roboto Slab" pitchFamily="34" charset="-122"/>
                <a:cs typeface="Roboto Slab" pitchFamily="34" charset="-120"/>
              </a:rPr>
              <a:t>Apply the Template</a:t>
            </a:r>
            <a:endParaRPr lang="en-US" sz="1950" dirty="0"/>
          </a:p>
        </p:txBody>
      </p:sp>
      <p:sp>
        <p:nvSpPr>
          <p:cNvPr id="20" name="Text 14"/>
          <p:cNvSpPr/>
          <p:nvPr/>
        </p:nvSpPr>
        <p:spPr>
          <a:xfrm>
            <a:off x="710089" y="6781086"/>
            <a:ext cx="6503670" cy="664369"/>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secedit /configure /db secedit.sdb /cfg C:\path\securetemplate.inf /overwrite</a:t>
            </a:r>
            <a:endParaRPr lang="en-US" sz="1550" dirty="0"/>
          </a:p>
        </p:txBody>
      </p:sp>
      <p:sp>
        <p:nvSpPr>
          <p:cNvPr id="21" name="Text 15"/>
          <p:cNvSpPr/>
          <p:nvPr/>
        </p:nvSpPr>
        <p:spPr>
          <a:xfrm>
            <a:off x="7416641" y="5873353"/>
            <a:ext cx="202883" cy="253603"/>
          </a:xfrm>
          <a:prstGeom prst="rect">
            <a:avLst/>
          </a:prstGeom>
          <a:noFill/>
          <a:ln/>
        </p:spPr>
        <p:txBody>
          <a:bodyPr wrap="none" lIns="0" tIns="0" rIns="0" bIns="0" rtlCol="0" anchor="t"/>
          <a:lstStyle/>
          <a:p>
            <a:pPr marL="0" indent="0" algn="l">
              <a:lnSpc>
                <a:spcPts val="2550"/>
              </a:lnSpc>
              <a:buNone/>
            </a:pPr>
            <a:r>
              <a:rPr lang="en-US" sz="1550" dirty="0">
                <a:solidFill>
                  <a:srgbClr val="15213F"/>
                </a:solidFill>
                <a:latin typeface="Roboto Slab Light" pitchFamily="34" charset="0"/>
                <a:ea typeface="Roboto Slab Light" pitchFamily="34" charset="-122"/>
                <a:cs typeface="Roboto Slab Light" pitchFamily="34" charset="-120"/>
              </a:rPr>
              <a:t>05</a:t>
            </a:r>
            <a:endParaRPr lang="en-US" sz="1550" dirty="0"/>
          </a:p>
        </p:txBody>
      </p:sp>
      <p:pic>
        <p:nvPicPr>
          <p:cNvPr id="22" name="Image 4" descr="preencoded.png"/>
          <p:cNvPicPr>
            <a:picLocks noChangeAspect="1"/>
          </p:cNvPicPr>
          <p:nvPr/>
        </p:nvPicPr>
        <p:blipFill>
          <a:blip r:embed="rId4"/>
          <a:stretch>
            <a:fillRect/>
          </a:stretch>
        </p:blipFill>
        <p:spPr>
          <a:xfrm>
            <a:off x="7416641" y="6178868"/>
            <a:ext cx="6503670" cy="22860"/>
          </a:xfrm>
          <a:prstGeom prst="rect">
            <a:avLst/>
          </a:prstGeom>
        </p:spPr>
      </p:pic>
      <p:sp>
        <p:nvSpPr>
          <p:cNvPr id="23" name="Text 16"/>
          <p:cNvSpPr/>
          <p:nvPr/>
        </p:nvSpPr>
        <p:spPr>
          <a:xfrm>
            <a:off x="7416641" y="6342459"/>
            <a:ext cx="2536269" cy="316944"/>
          </a:xfrm>
          <a:prstGeom prst="rect">
            <a:avLst/>
          </a:prstGeom>
          <a:noFill/>
          <a:ln/>
        </p:spPr>
        <p:txBody>
          <a:bodyPr wrap="none" lIns="0" tIns="0" rIns="0" bIns="0" rtlCol="0" anchor="t"/>
          <a:lstStyle/>
          <a:p>
            <a:pPr marL="0" indent="0" algn="l">
              <a:lnSpc>
                <a:spcPts val="2450"/>
              </a:lnSpc>
              <a:buNone/>
            </a:pPr>
            <a:r>
              <a:rPr lang="en-US" sz="1950" dirty="0">
                <a:solidFill>
                  <a:srgbClr val="15213F"/>
                </a:solidFill>
                <a:latin typeface="Roboto Slab" pitchFamily="34" charset="0"/>
                <a:ea typeface="Roboto Slab" pitchFamily="34" charset="-122"/>
                <a:cs typeface="Roboto Slab" pitchFamily="34" charset="-120"/>
              </a:rPr>
              <a:t>Review and Reboot</a:t>
            </a:r>
            <a:endParaRPr lang="en-US" sz="1950" dirty="0"/>
          </a:p>
        </p:txBody>
      </p:sp>
      <p:sp>
        <p:nvSpPr>
          <p:cNvPr id="24" name="Text 17"/>
          <p:cNvSpPr/>
          <p:nvPr/>
        </p:nvSpPr>
        <p:spPr>
          <a:xfrm>
            <a:off x="7416641" y="6781086"/>
            <a:ext cx="6503670" cy="656749"/>
          </a:xfrm>
          <a:prstGeom prst="rect">
            <a:avLst/>
          </a:prstGeom>
          <a:noFill/>
          <a:ln/>
        </p:spPr>
        <p:txBody>
          <a:bodyPr wrap="square" lIns="0" tIns="0" rIns="0" bIns="0" rtlCol="0" anchor="t"/>
          <a:lstStyle/>
          <a:p>
            <a:pPr marL="0" indent="0" algn="l">
              <a:lnSpc>
                <a:spcPts val="2550"/>
              </a:lnSpc>
              <a:buNone/>
            </a:pPr>
            <a:r>
              <a:rPr lang="en-US" sz="1550" dirty="0">
                <a:solidFill>
                  <a:srgbClr val="15213F"/>
                </a:solidFill>
                <a:latin typeface="Roboto" pitchFamily="34" charset="0"/>
                <a:ea typeface="Roboto" pitchFamily="34" charset="-122"/>
                <a:cs typeface="Roboto" pitchFamily="34" charset="-120"/>
              </a:rPr>
              <a:t>Check </a:t>
            </a:r>
            <a:r>
              <a:rPr lang="en-US" sz="1550" dirty="0">
                <a:solidFill>
                  <a:srgbClr val="15213F"/>
                </a:solidFill>
                <a:highlight>
                  <a:srgbClr val="EEEFF1"/>
                </a:highlight>
                <a:latin typeface="Consolas" pitchFamily="34" charset="0"/>
                <a:ea typeface="Consolas" pitchFamily="34" charset="-122"/>
                <a:cs typeface="Consolas" pitchFamily="34" charset="-120"/>
              </a:rPr>
              <a:t>%windir%\security\logs\scesrv.log</a:t>
            </a:r>
            <a:r>
              <a:rPr lang="en-US" sz="1550" dirty="0">
                <a:solidFill>
                  <a:srgbClr val="15213F"/>
                </a:solidFill>
                <a:latin typeface="Roboto" pitchFamily="34" charset="0"/>
                <a:ea typeface="Roboto" pitchFamily="34" charset="-122"/>
                <a:cs typeface="Roboto" pitchFamily="34" charset="-120"/>
              </a:rPr>
              <a:t> for errors, then restart the system to apply all changes.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4250" y="681871"/>
            <a:ext cx="13082588" cy="593169"/>
          </a:xfrm>
          <a:prstGeom prst="rect">
            <a:avLst/>
          </a:prstGeom>
          <a:noFill/>
          <a:ln/>
        </p:spPr>
        <p:txBody>
          <a:bodyPr wrap="none" lIns="0" tIns="0" rIns="0" bIns="0" rtlCol="0" anchor="t"/>
          <a:lstStyle/>
          <a:p>
            <a:pPr marL="0" indent="0" algn="l">
              <a:lnSpc>
                <a:spcPts val="4650"/>
              </a:lnSpc>
              <a:buNone/>
            </a:pPr>
            <a:r>
              <a:rPr lang="en-US" sz="3700" dirty="0">
                <a:solidFill>
                  <a:srgbClr val="3257B8"/>
                </a:solidFill>
                <a:latin typeface="Roboto Slab" pitchFamily="34" charset="0"/>
                <a:ea typeface="Roboto Slab" pitchFamily="34" charset="-122"/>
                <a:cs typeface="Roboto Slab" pitchFamily="34" charset="-120"/>
              </a:rPr>
              <a:t>Secedit Example: Disable SMBv1 to Secure Network Shares</a:t>
            </a:r>
            <a:endParaRPr lang="en-US" sz="3700" dirty="0"/>
          </a:p>
        </p:txBody>
      </p:sp>
      <p:sp>
        <p:nvSpPr>
          <p:cNvPr id="3" name="Text 1"/>
          <p:cNvSpPr/>
          <p:nvPr/>
        </p:nvSpPr>
        <p:spPr>
          <a:xfrm>
            <a:off x="664250" y="1749504"/>
            <a:ext cx="2847142" cy="355759"/>
          </a:xfrm>
          <a:prstGeom prst="rect">
            <a:avLst/>
          </a:prstGeom>
          <a:noFill/>
          <a:ln/>
        </p:spPr>
        <p:txBody>
          <a:bodyPr wrap="none" lIns="0" tIns="0" rIns="0" bIns="0" rtlCol="0" anchor="t"/>
          <a:lstStyle/>
          <a:p>
            <a:pPr marL="0" indent="0" algn="l">
              <a:lnSpc>
                <a:spcPts val="2800"/>
              </a:lnSpc>
              <a:buNone/>
            </a:pPr>
            <a:r>
              <a:rPr lang="en-US" sz="2200" dirty="0">
                <a:solidFill>
                  <a:srgbClr val="3257B8"/>
                </a:solidFill>
                <a:latin typeface="Roboto Slab" pitchFamily="34" charset="0"/>
                <a:ea typeface="Roboto Slab" pitchFamily="34" charset="-122"/>
                <a:cs typeface="Roboto Slab" pitchFamily="34" charset="-120"/>
              </a:rPr>
              <a:t>The Threat</a:t>
            </a:r>
            <a:endParaRPr lang="en-US" sz="2200" dirty="0"/>
          </a:p>
        </p:txBody>
      </p:sp>
      <p:sp>
        <p:nvSpPr>
          <p:cNvPr id="4" name="Text 2"/>
          <p:cNvSpPr/>
          <p:nvPr/>
        </p:nvSpPr>
        <p:spPr>
          <a:xfrm>
            <a:off x="664250" y="2295049"/>
            <a:ext cx="6419493" cy="1214438"/>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SMBv1 is an outdated protocol with critical security flaws exploited by ransomware like WannaCry (2017) and NotPetya. It lacks encryption and modern authentication, making networks vulnerable to man-in-the-middle attacks and lateral movement.</a:t>
            </a:r>
            <a:endParaRPr lang="en-US" sz="1450" dirty="0"/>
          </a:p>
        </p:txBody>
      </p:sp>
      <p:sp>
        <p:nvSpPr>
          <p:cNvPr id="5" name="Text 3"/>
          <p:cNvSpPr/>
          <p:nvPr/>
        </p:nvSpPr>
        <p:spPr>
          <a:xfrm>
            <a:off x="664250" y="3699272"/>
            <a:ext cx="2847142" cy="355759"/>
          </a:xfrm>
          <a:prstGeom prst="rect">
            <a:avLst/>
          </a:prstGeom>
          <a:noFill/>
          <a:ln/>
        </p:spPr>
        <p:txBody>
          <a:bodyPr wrap="none" lIns="0" tIns="0" rIns="0" bIns="0" rtlCol="0" anchor="t"/>
          <a:lstStyle/>
          <a:p>
            <a:pPr marL="0" indent="0" algn="l">
              <a:lnSpc>
                <a:spcPts val="2800"/>
              </a:lnSpc>
              <a:buNone/>
            </a:pPr>
            <a:r>
              <a:rPr lang="en-US" sz="2200" dirty="0">
                <a:solidFill>
                  <a:srgbClr val="3257B8"/>
                </a:solidFill>
                <a:latin typeface="Roboto Slab" pitchFamily="34" charset="0"/>
                <a:ea typeface="Roboto Slab" pitchFamily="34" charset="-122"/>
                <a:cs typeface="Roboto Slab" pitchFamily="34" charset="-120"/>
              </a:rPr>
              <a:t>The Solution</a:t>
            </a:r>
            <a:endParaRPr lang="en-US" sz="2200" dirty="0"/>
          </a:p>
        </p:txBody>
      </p:sp>
      <p:sp>
        <p:nvSpPr>
          <p:cNvPr id="6" name="Text 4"/>
          <p:cNvSpPr/>
          <p:nvPr/>
        </p:nvSpPr>
        <p:spPr>
          <a:xfrm>
            <a:off x="664250" y="4244816"/>
            <a:ext cx="6419493" cy="607219"/>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Use Secedit to systematically disable SMBv1 across your infrastructure, preventing exploitation while maintaining SMBv2/v3 functionality.</a:t>
            </a:r>
            <a:endParaRPr lang="en-US" sz="1450" dirty="0"/>
          </a:p>
        </p:txBody>
      </p:sp>
      <p:sp>
        <p:nvSpPr>
          <p:cNvPr id="7" name="Text 5"/>
          <p:cNvSpPr/>
          <p:nvPr/>
        </p:nvSpPr>
        <p:spPr>
          <a:xfrm>
            <a:off x="7554278" y="1749504"/>
            <a:ext cx="2658189" cy="296585"/>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Template Configuration</a:t>
            </a:r>
            <a:endParaRPr lang="en-US" sz="1850" dirty="0"/>
          </a:p>
        </p:txBody>
      </p:sp>
      <p:sp>
        <p:nvSpPr>
          <p:cNvPr id="8" name="Shape 6"/>
          <p:cNvSpPr/>
          <p:nvPr/>
        </p:nvSpPr>
        <p:spPr>
          <a:xfrm>
            <a:off x="7554278" y="2259568"/>
            <a:ext cx="6419493" cy="3017044"/>
          </a:xfrm>
          <a:prstGeom prst="roundRect">
            <a:avLst>
              <a:gd name="adj" fmla="val 944"/>
            </a:avLst>
          </a:prstGeom>
          <a:solidFill>
            <a:srgbClr val="EEEFF1"/>
          </a:solidFill>
          <a:ln/>
        </p:spPr>
      </p:sp>
      <p:sp>
        <p:nvSpPr>
          <p:cNvPr id="9" name="Shape 7"/>
          <p:cNvSpPr/>
          <p:nvPr/>
        </p:nvSpPr>
        <p:spPr>
          <a:xfrm>
            <a:off x="7544872" y="2259568"/>
            <a:ext cx="6438305" cy="3017044"/>
          </a:xfrm>
          <a:prstGeom prst="roundRect">
            <a:avLst>
              <a:gd name="adj" fmla="val 944"/>
            </a:avLst>
          </a:prstGeom>
          <a:solidFill>
            <a:srgbClr val="EEEFF1"/>
          </a:solidFill>
          <a:ln/>
        </p:spPr>
      </p:sp>
      <p:sp>
        <p:nvSpPr>
          <p:cNvPr id="10" name="Text 8"/>
          <p:cNvSpPr/>
          <p:nvPr/>
        </p:nvSpPr>
        <p:spPr>
          <a:xfrm>
            <a:off x="7734657" y="2401848"/>
            <a:ext cx="6058733" cy="2732484"/>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highlight>
                  <a:srgbClr val="EEEFF1"/>
                </a:highlight>
                <a:latin typeface="Consolas" pitchFamily="34" charset="0"/>
                <a:ea typeface="Consolas" pitchFamily="34" charset="-122"/>
                <a:cs typeface="Consolas" pitchFamily="34" charset="-120"/>
              </a:rPr>
              <a:t>[Version]signature="$CHICAGO$"[Registry Values]MACHINE\SYSTEM\CurrentControlSet\Services\LanmanServer\Parameters\SMB1=4,4[Service General Setting]"LanmanWorkstation",2,""</a:t>
            </a:r>
            <a:endParaRPr lang="en-US" sz="1450" dirty="0"/>
          </a:p>
        </p:txBody>
      </p:sp>
      <p:sp>
        <p:nvSpPr>
          <p:cNvPr id="11" name="Text 9"/>
          <p:cNvSpPr/>
          <p:nvPr/>
        </p:nvSpPr>
        <p:spPr>
          <a:xfrm>
            <a:off x="7554278" y="5490091"/>
            <a:ext cx="2372678" cy="296585"/>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Apply the Template</a:t>
            </a:r>
            <a:endParaRPr lang="en-US" sz="1850" dirty="0"/>
          </a:p>
        </p:txBody>
      </p:sp>
      <p:sp>
        <p:nvSpPr>
          <p:cNvPr id="12" name="Text 10"/>
          <p:cNvSpPr/>
          <p:nvPr/>
        </p:nvSpPr>
        <p:spPr>
          <a:xfrm>
            <a:off x="7554278" y="5976461"/>
            <a:ext cx="6419493" cy="622459"/>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highlight>
                  <a:srgbClr val="EEEFF1"/>
                </a:highlight>
                <a:latin typeface="Consolas" pitchFamily="34" charset="0"/>
                <a:ea typeface="Consolas" pitchFamily="34" charset="-122"/>
                <a:cs typeface="Consolas" pitchFamily="34" charset="-120"/>
              </a:rPr>
              <a:t>secedit /configure /db C:\Windows\security\database\secedit.sdb /cfg C:\templates\disable_smbv1.inf /log C:\logs\smbv1_disable.log</a:t>
            </a:r>
            <a:endParaRPr lang="en-US" sz="1450" dirty="0"/>
          </a:p>
        </p:txBody>
      </p:sp>
      <p:sp>
        <p:nvSpPr>
          <p:cNvPr id="13" name="Text 11"/>
          <p:cNvSpPr/>
          <p:nvPr/>
        </p:nvSpPr>
        <p:spPr>
          <a:xfrm>
            <a:off x="7554278" y="6769656"/>
            <a:ext cx="6419493" cy="607219"/>
          </a:xfrm>
          <a:prstGeom prst="rect">
            <a:avLst/>
          </a:prstGeom>
          <a:noFill/>
          <a:ln/>
        </p:spPr>
        <p:txBody>
          <a:bodyPr wrap="squar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Result:</a:t>
            </a:r>
            <a:r>
              <a:rPr lang="en-US" sz="1450" dirty="0">
                <a:solidFill>
                  <a:srgbClr val="15213F"/>
                </a:solidFill>
                <a:latin typeface="Roboto" pitchFamily="34" charset="0"/>
                <a:ea typeface="Roboto" pitchFamily="34" charset="-122"/>
                <a:cs typeface="Roboto" pitchFamily="34" charset="-120"/>
              </a:rPr>
              <a:t> SMBv1 disabled system-wide, verified with Get-SmbServerConfiguration | Select EnableSMB1Protocol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662" y="416957"/>
            <a:ext cx="7756327" cy="473869"/>
          </a:xfrm>
          <a:prstGeom prst="rect">
            <a:avLst/>
          </a:prstGeom>
          <a:noFill/>
          <a:ln/>
        </p:spPr>
        <p:txBody>
          <a:bodyPr wrap="none" lIns="0" tIns="0" rIns="0" bIns="0" rtlCol="0" anchor="t"/>
          <a:lstStyle/>
          <a:p>
            <a:pPr marL="0" indent="0" algn="l">
              <a:lnSpc>
                <a:spcPts val="3700"/>
              </a:lnSpc>
              <a:buNone/>
            </a:pPr>
            <a:r>
              <a:rPr lang="en-US" sz="2950" dirty="0">
                <a:solidFill>
                  <a:srgbClr val="3257B8"/>
                </a:solidFill>
                <a:latin typeface="Roboto Slab" pitchFamily="34" charset="0"/>
                <a:ea typeface="Roboto Slab" pitchFamily="34" charset="-122"/>
                <a:cs typeface="Roboto Slab" pitchFamily="34" charset="-120"/>
              </a:rPr>
              <a:t>What is Network Centric Operations (NCO)?</a:t>
            </a:r>
            <a:endParaRPr lang="en-US" sz="2950" dirty="0"/>
          </a:p>
        </p:txBody>
      </p:sp>
      <p:sp>
        <p:nvSpPr>
          <p:cNvPr id="3" name="Text 1"/>
          <p:cNvSpPr/>
          <p:nvPr/>
        </p:nvSpPr>
        <p:spPr>
          <a:xfrm>
            <a:off x="530662" y="1194078"/>
            <a:ext cx="13569077"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Network Centric Operations is a strategic approach that leverages networked information systems to achieve information superiority, enabling faster decision-making, enhanced situational awareness, and coordinated responses across distributed teams and systems.</a:t>
            </a:r>
            <a:endParaRPr lang="en-US" sz="1150" dirty="0"/>
          </a:p>
        </p:txBody>
      </p:sp>
      <p:pic>
        <p:nvPicPr>
          <p:cNvPr id="4" name="Image 0" descr="preencoded.png"/>
          <p:cNvPicPr>
            <a:picLocks noChangeAspect="1"/>
          </p:cNvPicPr>
          <p:nvPr/>
        </p:nvPicPr>
        <p:blipFill>
          <a:blip r:embed="rId3"/>
          <a:stretch>
            <a:fillRect/>
          </a:stretch>
        </p:blipFill>
        <p:spPr>
          <a:xfrm>
            <a:off x="530662" y="1849874"/>
            <a:ext cx="4522946" cy="606504"/>
          </a:xfrm>
          <a:prstGeom prst="rect">
            <a:avLst/>
          </a:prstGeom>
        </p:spPr>
      </p:pic>
      <p:sp>
        <p:nvSpPr>
          <p:cNvPr id="5" name="Text 2"/>
          <p:cNvSpPr/>
          <p:nvPr/>
        </p:nvSpPr>
        <p:spPr>
          <a:xfrm>
            <a:off x="682228" y="2607945"/>
            <a:ext cx="1895356" cy="236934"/>
          </a:xfrm>
          <a:prstGeom prst="rect">
            <a:avLst/>
          </a:prstGeom>
          <a:noFill/>
          <a:ln/>
        </p:spPr>
        <p:txBody>
          <a:bodyPr wrap="none" lIns="0" tIns="0" rIns="0" bIns="0" rtlCol="0" anchor="t"/>
          <a:lstStyle/>
          <a:p>
            <a:pPr marL="0" indent="0" algn="l">
              <a:lnSpc>
                <a:spcPts val="1850"/>
              </a:lnSpc>
              <a:buNone/>
            </a:pPr>
            <a:r>
              <a:rPr lang="en-US" sz="1450" dirty="0">
                <a:solidFill>
                  <a:srgbClr val="15213F"/>
                </a:solidFill>
                <a:latin typeface="Roboto Slab" pitchFamily="34" charset="0"/>
                <a:ea typeface="Roboto Slab" pitchFamily="34" charset="-122"/>
                <a:cs typeface="Roboto Slab" pitchFamily="34" charset="-120"/>
              </a:rPr>
              <a:t>Information Sharing</a:t>
            </a:r>
            <a:endParaRPr lang="en-US" sz="1450" dirty="0"/>
          </a:p>
        </p:txBody>
      </p:sp>
      <p:sp>
        <p:nvSpPr>
          <p:cNvPr id="6" name="Text 3"/>
          <p:cNvSpPr/>
          <p:nvPr/>
        </p:nvSpPr>
        <p:spPr>
          <a:xfrm>
            <a:off x="682228" y="2935843"/>
            <a:ext cx="4219813"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Real-time data distribution across command levels and operational units</a:t>
            </a:r>
            <a:endParaRPr lang="en-US" sz="1150" dirty="0"/>
          </a:p>
        </p:txBody>
      </p:sp>
      <p:pic>
        <p:nvPicPr>
          <p:cNvPr id="7" name="Image 1" descr="preencoded.png"/>
          <p:cNvPicPr>
            <a:picLocks noChangeAspect="1"/>
          </p:cNvPicPr>
          <p:nvPr/>
        </p:nvPicPr>
        <p:blipFill>
          <a:blip r:embed="rId4"/>
          <a:stretch>
            <a:fillRect/>
          </a:stretch>
        </p:blipFill>
        <p:spPr>
          <a:xfrm>
            <a:off x="5053608" y="1849874"/>
            <a:ext cx="4523065" cy="606504"/>
          </a:xfrm>
          <a:prstGeom prst="rect">
            <a:avLst/>
          </a:prstGeom>
        </p:spPr>
      </p:pic>
      <p:sp>
        <p:nvSpPr>
          <p:cNvPr id="8" name="Text 4"/>
          <p:cNvSpPr/>
          <p:nvPr/>
        </p:nvSpPr>
        <p:spPr>
          <a:xfrm>
            <a:off x="5205174" y="2607945"/>
            <a:ext cx="1895356" cy="236934"/>
          </a:xfrm>
          <a:prstGeom prst="rect">
            <a:avLst/>
          </a:prstGeom>
          <a:noFill/>
          <a:ln/>
        </p:spPr>
        <p:txBody>
          <a:bodyPr wrap="none" lIns="0" tIns="0" rIns="0" bIns="0" rtlCol="0" anchor="t"/>
          <a:lstStyle/>
          <a:p>
            <a:pPr marL="0" indent="0" algn="l">
              <a:lnSpc>
                <a:spcPts val="1850"/>
              </a:lnSpc>
              <a:buNone/>
            </a:pPr>
            <a:r>
              <a:rPr lang="en-US" sz="1450" dirty="0">
                <a:solidFill>
                  <a:srgbClr val="15213F"/>
                </a:solidFill>
                <a:latin typeface="Roboto Slab" pitchFamily="34" charset="0"/>
                <a:ea typeface="Roboto Slab" pitchFamily="34" charset="-122"/>
                <a:cs typeface="Roboto Slab" pitchFamily="34" charset="-120"/>
              </a:rPr>
              <a:t>Shared Awareness</a:t>
            </a:r>
            <a:endParaRPr lang="en-US" sz="1450" dirty="0"/>
          </a:p>
        </p:txBody>
      </p:sp>
      <p:sp>
        <p:nvSpPr>
          <p:cNvPr id="9" name="Text 5"/>
          <p:cNvSpPr/>
          <p:nvPr/>
        </p:nvSpPr>
        <p:spPr>
          <a:xfrm>
            <a:off x="5205174" y="2935843"/>
            <a:ext cx="4219932"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Common operational picture accessible to all authorized stakeholders</a:t>
            </a:r>
            <a:endParaRPr lang="en-US" sz="1150" dirty="0"/>
          </a:p>
        </p:txBody>
      </p:sp>
      <p:pic>
        <p:nvPicPr>
          <p:cNvPr id="10" name="Image 2" descr="preencoded.png"/>
          <p:cNvPicPr>
            <a:picLocks noChangeAspect="1"/>
          </p:cNvPicPr>
          <p:nvPr/>
        </p:nvPicPr>
        <p:blipFill>
          <a:blip r:embed="rId5"/>
          <a:stretch>
            <a:fillRect/>
          </a:stretch>
        </p:blipFill>
        <p:spPr>
          <a:xfrm>
            <a:off x="9576673" y="1849874"/>
            <a:ext cx="4522946" cy="606504"/>
          </a:xfrm>
          <a:prstGeom prst="rect">
            <a:avLst/>
          </a:prstGeom>
        </p:spPr>
      </p:pic>
      <p:sp>
        <p:nvSpPr>
          <p:cNvPr id="11" name="Text 6"/>
          <p:cNvSpPr/>
          <p:nvPr/>
        </p:nvSpPr>
        <p:spPr>
          <a:xfrm>
            <a:off x="9728240" y="2607945"/>
            <a:ext cx="1974771" cy="236934"/>
          </a:xfrm>
          <a:prstGeom prst="rect">
            <a:avLst/>
          </a:prstGeom>
          <a:noFill/>
          <a:ln/>
        </p:spPr>
        <p:txBody>
          <a:bodyPr wrap="none" lIns="0" tIns="0" rIns="0" bIns="0" rtlCol="0" anchor="t"/>
          <a:lstStyle/>
          <a:p>
            <a:pPr marL="0" indent="0" algn="l">
              <a:lnSpc>
                <a:spcPts val="1850"/>
              </a:lnSpc>
              <a:buNone/>
            </a:pPr>
            <a:r>
              <a:rPr lang="en-US" sz="1450" dirty="0">
                <a:solidFill>
                  <a:srgbClr val="15213F"/>
                </a:solidFill>
                <a:latin typeface="Roboto Slab" pitchFamily="34" charset="0"/>
                <a:ea typeface="Roboto Slab" pitchFamily="34" charset="-122"/>
                <a:cs typeface="Roboto Slab" pitchFamily="34" charset="-120"/>
              </a:rPr>
              <a:t>Synchronized Actions</a:t>
            </a:r>
            <a:endParaRPr lang="en-US" sz="1450" dirty="0"/>
          </a:p>
        </p:txBody>
      </p:sp>
      <p:sp>
        <p:nvSpPr>
          <p:cNvPr id="12" name="Text 7"/>
          <p:cNvSpPr/>
          <p:nvPr/>
        </p:nvSpPr>
        <p:spPr>
          <a:xfrm>
            <a:off x="9728240" y="2935843"/>
            <a:ext cx="4219813"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Coordinated responses based on collective intelligence and unified strategy</a:t>
            </a:r>
            <a:endParaRPr lang="en-US" sz="1150" dirty="0"/>
          </a:p>
        </p:txBody>
      </p:sp>
      <p:sp>
        <p:nvSpPr>
          <p:cNvPr id="13" name="Shape 8"/>
          <p:cNvSpPr/>
          <p:nvPr/>
        </p:nvSpPr>
        <p:spPr>
          <a:xfrm>
            <a:off x="530662" y="3818975"/>
            <a:ext cx="13569077" cy="26551"/>
          </a:xfrm>
          <a:prstGeom prst="rect">
            <a:avLst/>
          </a:prstGeom>
          <a:solidFill>
            <a:srgbClr val="15213F">
              <a:alpha val="50000"/>
            </a:srgbClr>
          </a:solidFill>
          <a:ln/>
        </p:spPr>
      </p:sp>
      <p:sp>
        <p:nvSpPr>
          <p:cNvPr id="14" name="Text 9"/>
          <p:cNvSpPr/>
          <p:nvPr/>
        </p:nvSpPr>
        <p:spPr>
          <a:xfrm>
            <a:off x="530662" y="4072890"/>
            <a:ext cx="2325291" cy="284202"/>
          </a:xfrm>
          <a:prstGeom prst="rect">
            <a:avLst/>
          </a:prstGeom>
          <a:noFill/>
          <a:ln/>
        </p:spPr>
        <p:txBody>
          <a:bodyPr wrap="none" lIns="0" tIns="0" rIns="0" bIns="0" rtlCol="0" anchor="t"/>
          <a:lstStyle/>
          <a:p>
            <a:pPr marL="0" indent="0" algn="l">
              <a:lnSpc>
                <a:spcPts val="2200"/>
              </a:lnSpc>
              <a:buNone/>
            </a:pPr>
            <a:r>
              <a:rPr lang="en-US" sz="1750" dirty="0">
                <a:solidFill>
                  <a:srgbClr val="3257B8"/>
                </a:solidFill>
                <a:latin typeface="Roboto Slab" pitchFamily="34" charset="0"/>
                <a:ea typeface="Roboto Slab" pitchFamily="34" charset="-122"/>
                <a:cs typeface="Roboto Slab" pitchFamily="34" charset="-120"/>
              </a:rPr>
              <a:t>Real-World Examples</a:t>
            </a:r>
            <a:endParaRPr lang="en-US" sz="1750" dirty="0"/>
          </a:p>
        </p:txBody>
      </p:sp>
      <p:sp>
        <p:nvSpPr>
          <p:cNvPr id="15" name="Text 10"/>
          <p:cNvSpPr/>
          <p:nvPr/>
        </p:nvSpPr>
        <p:spPr>
          <a:xfrm>
            <a:off x="530662" y="4720947"/>
            <a:ext cx="6599634" cy="485299"/>
          </a:xfrm>
          <a:prstGeom prst="rect">
            <a:avLst/>
          </a:prstGeom>
          <a:noFill/>
          <a:ln/>
        </p:spPr>
        <p:txBody>
          <a:bodyPr wrap="square" lIns="0" tIns="0" rIns="0" bIns="0" rtlCol="0" anchor="t"/>
          <a:lstStyle/>
          <a:p>
            <a:pPr marL="0" indent="0" algn="l">
              <a:lnSpc>
                <a:spcPts val="1900"/>
              </a:lnSpc>
              <a:buNone/>
            </a:pPr>
            <a:r>
              <a:rPr lang="en-US" sz="1150" b="1" dirty="0">
                <a:solidFill>
                  <a:srgbClr val="15213F"/>
                </a:solidFill>
                <a:latin typeface="Roboto" pitchFamily="34" charset="0"/>
                <a:ea typeface="Roboto" pitchFamily="34" charset="-122"/>
                <a:cs typeface="Roboto" pitchFamily="34" charset="-120"/>
              </a:rPr>
              <a:t>Network Centric Operations (NCO)</a:t>
            </a:r>
            <a:r>
              <a:rPr lang="en-US" sz="1150" dirty="0">
                <a:solidFill>
                  <a:srgbClr val="15213F"/>
                </a:solidFill>
                <a:latin typeface="Roboto" pitchFamily="34" charset="0"/>
                <a:ea typeface="Roboto" pitchFamily="34" charset="-122"/>
                <a:cs typeface="Roboto" pitchFamily="34" charset="-120"/>
              </a:rPr>
              <a:t> is a military and defense strategy that uses </a:t>
            </a:r>
            <a:r>
              <a:rPr lang="en-US" sz="1150" b="1" dirty="0">
                <a:solidFill>
                  <a:srgbClr val="15213F"/>
                </a:solidFill>
                <a:latin typeface="Roboto" pitchFamily="34" charset="0"/>
                <a:ea typeface="Roboto" pitchFamily="34" charset="-122"/>
                <a:cs typeface="Roboto" pitchFamily="34" charset="-120"/>
              </a:rPr>
              <a:t>networked information technology</a:t>
            </a:r>
            <a:r>
              <a:rPr lang="en-US" sz="1150" dirty="0">
                <a:solidFill>
                  <a:srgbClr val="15213F"/>
                </a:solidFill>
                <a:latin typeface="Roboto" pitchFamily="34" charset="0"/>
                <a:ea typeface="Roboto" pitchFamily="34" charset="-122"/>
                <a:cs typeface="Roboto" pitchFamily="34" charset="-120"/>
              </a:rPr>
              <a:t> to connect:</a:t>
            </a:r>
            <a:endParaRPr lang="en-US" sz="1150" dirty="0"/>
          </a:p>
        </p:txBody>
      </p:sp>
      <p:sp>
        <p:nvSpPr>
          <p:cNvPr id="16" name="Text 11"/>
          <p:cNvSpPr/>
          <p:nvPr/>
        </p:nvSpPr>
        <p:spPr>
          <a:xfrm>
            <a:off x="530662" y="5342692"/>
            <a:ext cx="6599634" cy="242649"/>
          </a:xfrm>
          <a:prstGeom prst="rect">
            <a:avLst/>
          </a:prstGeom>
          <a:noFill/>
          <a:ln/>
        </p:spPr>
        <p:txBody>
          <a:bodyPr wrap="none" lIns="0" tIns="0" rIns="0" bIns="0" rtlCol="0" anchor="t"/>
          <a:lstStyle/>
          <a:p>
            <a:pPr marL="342900" indent="-342900" algn="l">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People (soldiers, commanders)</a:t>
            </a:r>
            <a:endParaRPr lang="en-US" sz="1150" dirty="0"/>
          </a:p>
        </p:txBody>
      </p:sp>
      <p:sp>
        <p:nvSpPr>
          <p:cNvPr id="17" name="Text 12"/>
          <p:cNvSpPr/>
          <p:nvPr/>
        </p:nvSpPr>
        <p:spPr>
          <a:xfrm>
            <a:off x="530662" y="5638324"/>
            <a:ext cx="6599634" cy="242649"/>
          </a:xfrm>
          <a:prstGeom prst="rect">
            <a:avLst/>
          </a:prstGeom>
          <a:noFill/>
          <a:ln/>
        </p:spPr>
        <p:txBody>
          <a:bodyPr wrap="none" lIns="0" tIns="0" rIns="0" bIns="0" rtlCol="0" anchor="t"/>
          <a:lstStyle/>
          <a:p>
            <a:pPr marL="342900" indent="-342900" algn="l">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Devices (weapons, sensors, drones)</a:t>
            </a:r>
            <a:endParaRPr lang="en-US" sz="1150" dirty="0"/>
          </a:p>
        </p:txBody>
      </p:sp>
      <p:sp>
        <p:nvSpPr>
          <p:cNvPr id="18" name="Text 13"/>
          <p:cNvSpPr/>
          <p:nvPr/>
        </p:nvSpPr>
        <p:spPr>
          <a:xfrm>
            <a:off x="530662" y="5933956"/>
            <a:ext cx="6599634" cy="242649"/>
          </a:xfrm>
          <a:prstGeom prst="rect">
            <a:avLst/>
          </a:prstGeom>
          <a:noFill/>
          <a:ln/>
        </p:spPr>
        <p:txBody>
          <a:bodyPr wrap="none" lIns="0" tIns="0" rIns="0" bIns="0" rtlCol="0" anchor="t"/>
          <a:lstStyle/>
          <a:p>
            <a:pPr marL="342900" indent="-342900" algn="l">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Systems (command centers, satellites, data platforms)</a:t>
            </a:r>
            <a:endParaRPr lang="en-US" sz="1150" dirty="0"/>
          </a:p>
        </p:txBody>
      </p:sp>
      <p:sp>
        <p:nvSpPr>
          <p:cNvPr id="19" name="Text 14"/>
          <p:cNvSpPr/>
          <p:nvPr/>
        </p:nvSpPr>
        <p:spPr>
          <a:xfrm>
            <a:off x="530662" y="6313051"/>
            <a:ext cx="6599634"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 </a:t>
            </a:r>
            <a:r>
              <a:rPr lang="en-US" sz="1150" b="1" dirty="0">
                <a:solidFill>
                  <a:srgbClr val="15213F"/>
                </a:solidFill>
                <a:latin typeface="Roboto" pitchFamily="34" charset="0"/>
                <a:ea typeface="Roboto" pitchFamily="34" charset="-122"/>
                <a:cs typeface="Roboto" pitchFamily="34" charset="-120"/>
              </a:rPr>
              <a:t>Goal:</a:t>
            </a:r>
            <a:r>
              <a:rPr lang="en-US" sz="1150" dirty="0">
                <a:solidFill>
                  <a:srgbClr val="15213F"/>
                </a:solidFill>
                <a:latin typeface="Roboto" pitchFamily="34" charset="0"/>
                <a:ea typeface="Roboto" pitchFamily="34" charset="-122"/>
                <a:cs typeface="Roboto" pitchFamily="34" charset="-120"/>
              </a:rPr>
              <a:t> Increase speed, accuracy, and effectiveness of decision-making and operations through </a:t>
            </a:r>
            <a:r>
              <a:rPr lang="en-US" sz="1150" b="1" dirty="0">
                <a:solidFill>
                  <a:srgbClr val="15213F"/>
                </a:solidFill>
                <a:latin typeface="Roboto" pitchFamily="34" charset="0"/>
                <a:ea typeface="Roboto" pitchFamily="34" charset="-122"/>
                <a:cs typeface="Roboto" pitchFamily="34" charset="-120"/>
              </a:rPr>
              <a:t>shared real-time information</a:t>
            </a:r>
            <a:r>
              <a:rPr lang="en-US" sz="1150" dirty="0">
                <a:solidFill>
                  <a:srgbClr val="15213F"/>
                </a:solidFill>
                <a:latin typeface="Roboto" pitchFamily="34" charset="0"/>
                <a:ea typeface="Roboto" pitchFamily="34" charset="-122"/>
                <a:cs typeface="Roboto" pitchFamily="34" charset="-120"/>
              </a:rPr>
              <a:t>.</a:t>
            </a:r>
            <a:endParaRPr lang="en-US" sz="1150" dirty="0"/>
          </a:p>
        </p:txBody>
      </p:sp>
      <p:sp>
        <p:nvSpPr>
          <p:cNvPr id="20" name="Text 15"/>
          <p:cNvSpPr/>
          <p:nvPr/>
        </p:nvSpPr>
        <p:spPr>
          <a:xfrm>
            <a:off x="7507724" y="4736068"/>
            <a:ext cx="2650808" cy="284202"/>
          </a:xfrm>
          <a:prstGeom prst="rect">
            <a:avLst/>
          </a:prstGeom>
          <a:noFill/>
          <a:ln/>
        </p:spPr>
        <p:txBody>
          <a:bodyPr wrap="none" lIns="0" tIns="0" rIns="0" bIns="0" rtlCol="0" anchor="t"/>
          <a:lstStyle/>
          <a:p>
            <a:pPr marL="0" indent="0" algn="l">
              <a:lnSpc>
                <a:spcPts val="2200"/>
              </a:lnSpc>
              <a:buNone/>
            </a:pPr>
            <a:r>
              <a:rPr lang="en-US" sz="1750" b="1" dirty="0">
                <a:solidFill>
                  <a:srgbClr val="3257B8"/>
                </a:solidFill>
                <a:latin typeface="Roboto Slab" pitchFamily="34" charset="0"/>
                <a:ea typeface="Roboto Slab" pitchFamily="34" charset="-122"/>
                <a:cs typeface="Roboto Slab" pitchFamily="34" charset="-120"/>
              </a:rPr>
              <a:t>Key Components of NCO</a:t>
            </a:r>
            <a:endParaRPr lang="en-US" sz="1750" dirty="0"/>
          </a:p>
        </p:txBody>
      </p:sp>
      <p:sp>
        <p:nvSpPr>
          <p:cNvPr id="21" name="Shape 16"/>
          <p:cNvSpPr/>
          <p:nvPr/>
        </p:nvSpPr>
        <p:spPr>
          <a:xfrm>
            <a:off x="7507724" y="5190768"/>
            <a:ext cx="6599634" cy="2456974"/>
          </a:xfrm>
          <a:prstGeom prst="roundRect">
            <a:avLst>
              <a:gd name="adj" fmla="val 926"/>
            </a:avLst>
          </a:prstGeom>
          <a:noFill/>
          <a:ln w="7620">
            <a:solidFill>
              <a:srgbClr val="000000">
                <a:alpha val="8000"/>
              </a:srgbClr>
            </a:solidFill>
            <a:prstDash val="solid"/>
          </a:ln>
        </p:spPr>
      </p:sp>
      <p:sp>
        <p:nvSpPr>
          <p:cNvPr id="22" name="Shape 17"/>
          <p:cNvSpPr/>
          <p:nvPr/>
        </p:nvSpPr>
        <p:spPr>
          <a:xfrm>
            <a:off x="7515344" y="5198388"/>
            <a:ext cx="6584394" cy="439817"/>
          </a:xfrm>
          <a:prstGeom prst="rect">
            <a:avLst/>
          </a:prstGeom>
          <a:solidFill>
            <a:srgbClr val="FFFFFF">
              <a:alpha val="4000"/>
            </a:srgbClr>
          </a:solidFill>
          <a:ln/>
        </p:spPr>
      </p:sp>
      <p:sp>
        <p:nvSpPr>
          <p:cNvPr id="23" name="Text 18"/>
          <p:cNvSpPr/>
          <p:nvPr/>
        </p:nvSpPr>
        <p:spPr>
          <a:xfrm>
            <a:off x="7667030" y="5296972"/>
            <a:ext cx="2079188" cy="242649"/>
          </a:xfrm>
          <a:prstGeom prst="rect">
            <a:avLst/>
          </a:prstGeom>
          <a:noFill/>
          <a:ln/>
        </p:spPr>
        <p:txBody>
          <a:bodyPr wrap="non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Component</a:t>
            </a:r>
            <a:endParaRPr lang="en-US" sz="1150" dirty="0"/>
          </a:p>
        </p:txBody>
      </p:sp>
      <p:sp>
        <p:nvSpPr>
          <p:cNvPr id="24" name="Text 19"/>
          <p:cNvSpPr/>
          <p:nvPr/>
        </p:nvSpPr>
        <p:spPr>
          <a:xfrm>
            <a:off x="10056971" y="5296972"/>
            <a:ext cx="3891201" cy="242649"/>
          </a:xfrm>
          <a:prstGeom prst="rect">
            <a:avLst/>
          </a:prstGeom>
          <a:noFill/>
          <a:ln/>
        </p:spPr>
        <p:txBody>
          <a:bodyPr wrap="non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Role</a:t>
            </a:r>
            <a:endParaRPr lang="en-US" sz="1150" dirty="0"/>
          </a:p>
        </p:txBody>
      </p:sp>
      <p:sp>
        <p:nvSpPr>
          <p:cNvPr id="25" name="Shape 20"/>
          <p:cNvSpPr/>
          <p:nvPr/>
        </p:nvSpPr>
        <p:spPr>
          <a:xfrm>
            <a:off x="7515344" y="5638205"/>
            <a:ext cx="6584394" cy="439817"/>
          </a:xfrm>
          <a:prstGeom prst="rect">
            <a:avLst/>
          </a:prstGeom>
          <a:solidFill>
            <a:srgbClr val="000000">
              <a:alpha val="4000"/>
            </a:srgbClr>
          </a:solidFill>
          <a:ln/>
        </p:spPr>
      </p:sp>
      <p:sp>
        <p:nvSpPr>
          <p:cNvPr id="26" name="Text 21"/>
          <p:cNvSpPr/>
          <p:nvPr/>
        </p:nvSpPr>
        <p:spPr>
          <a:xfrm>
            <a:off x="7667030" y="5736788"/>
            <a:ext cx="2079188" cy="242649"/>
          </a:xfrm>
          <a:prstGeom prst="rect">
            <a:avLst/>
          </a:prstGeom>
          <a:noFill/>
          <a:ln/>
        </p:spPr>
        <p:txBody>
          <a:bodyPr wrap="none" lIns="0" tIns="0" rIns="0" bIns="0" rtlCol="0" anchor="t"/>
          <a:lstStyle/>
          <a:p>
            <a:pPr marL="0" indent="0" algn="l">
              <a:lnSpc>
                <a:spcPts val="1900"/>
              </a:lnSpc>
              <a:buNone/>
            </a:pPr>
            <a:r>
              <a:rPr lang="en-US" sz="1150" b="1" dirty="0">
                <a:solidFill>
                  <a:srgbClr val="15213F"/>
                </a:solidFill>
                <a:latin typeface="Roboto" pitchFamily="34" charset="0"/>
                <a:ea typeface="Roboto" pitchFamily="34" charset="-122"/>
                <a:cs typeface="Roboto" pitchFamily="34" charset="-120"/>
              </a:rPr>
              <a:t>Sensors</a:t>
            </a:r>
            <a:endParaRPr lang="en-US" sz="1150" dirty="0"/>
          </a:p>
        </p:txBody>
      </p:sp>
      <p:sp>
        <p:nvSpPr>
          <p:cNvPr id="27" name="Text 22"/>
          <p:cNvSpPr/>
          <p:nvPr/>
        </p:nvSpPr>
        <p:spPr>
          <a:xfrm>
            <a:off x="10056971" y="5736788"/>
            <a:ext cx="3891201" cy="242649"/>
          </a:xfrm>
          <a:prstGeom prst="rect">
            <a:avLst/>
          </a:prstGeom>
          <a:noFill/>
          <a:ln/>
        </p:spPr>
        <p:txBody>
          <a:bodyPr wrap="non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Collect battlefield data (drones, radars, satellites)</a:t>
            </a:r>
            <a:endParaRPr lang="en-US" sz="1150" dirty="0"/>
          </a:p>
        </p:txBody>
      </p:sp>
      <p:sp>
        <p:nvSpPr>
          <p:cNvPr id="28" name="Shape 23"/>
          <p:cNvSpPr/>
          <p:nvPr/>
        </p:nvSpPr>
        <p:spPr>
          <a:xfrm>
            <a:off x="7515344" y="6078022"/>
            <a:ext cx="6584394" cy="682466"/>
          </a:xfrm>
          <a:prstGeom prst="rect">
            <a:avLst/>
          </a:prstGeom>
          <a:solidFill>
            <a:srgbClr val="FFFFFF">
              <a:alpha val="4000"/>
            </a:srgbClr>
          </a:solidFill>
          <a:ln/>
        </p:spPr>
      </p:sp>
      <p:sp>
        <p:nvSpPr>
          <p:cNvPr id="29" name="Text 24"/>
          <p:cNvSpPr/>
          <p:nvPr/>
        </p:nvSpPr>
        <p:spPr>
          <a:xfrm>
            <a:off x="7667030" y="6176605"/>
            <a:ext cx="2079188" cy="242649"/>
          </a:xfrm>
          <a:prstGeom prst="rect">
            <a:avLst/>
          </a:prstGeom>
          <a:noFill/>
          <a:ln/>
        </p:spPr>
        <p:txBody>
          <a:bodyPr wrap="none" lIns="0" tIns="0" rIns="0" bIns="0" rtlCol="0" anchor="t"/>
          <a:lstStyle/>
          <a:p>
            <a:pPr marL="0" indent="0" algn="l">
              <a:lnSpc>
                <a:spcPts val="1900"/>
              </a:lnSpc>
              <a:buNone/>
            </a:pPr>
            <a:r>
              <a:rPr lang="en-US" sz="1150" b="1" dirty="0">
                <a:solidFill>
                  <a:srgbClr val="15213F"/>
                </a:solidFill>
                <a:latin typeface="Roboto" pitchFamily="34" charset="0"/>
                <a:ea typeface="Roboto" pitchFamily="34" charset="-122"/>
                <a:cs typeface="Roboto" pitchFamily="34" charset="-120"/>
              </a:rPr>
              <a:t>Networks</a:t>
            </a:r>
            <a:endParaRPr lang="en-US" sz="1150" dirty="0"/>
          </a:p>
        </p:txBody>
      </p:sp>
      <p:sp>
        <p:nvSpPr>
          <p:cNvPr id="30" name="Text 25"/>
          <p:cNvSpPr/>
          <p:nvPr/>
        </p:nvSpPr>
        <p:spPr>
          <a:xfrm>
            <a:off x="10056971" y="6176605"/>
            <a:ext cx="3891201" cy="485299"/>
          </a:xfrm>
          <a:prstGeom prst="rect">
            <a:avLst/>
          </a:prstGeom>
          <a:noFill/>
          <a:ln/>
        </p:spPr>
        <p:txBody>
          <a:bodyPr wrap="squar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Transfer data securely (Internet, encrypted radio, military WAN)</a:t>
            </a:r>
            <a:endParaRPr lang="en-US" sz="1150" dirty="0"/>
          </a:p>
        </p:txBody>
      </p:sp>
      <p:sp>
        <p:nvSpPr>
          <p:cNvPr id="31" name="Shape 26"/>
          <p:cNvSpPr/>
          <p:nvPr/>
        </p:nvSpPr>
        <p:spPr>
          <a:xfrm>
            <a:off x="7515344" y="6760488"/>
            <a:ext cx="6584394" cy="439817"/>
          </a:xfrm>
          <a:prstGeom prst="rect">
            <a:avLst/>
          </a:prstGeom>
          <a:solidFill>
            <a:srgbClr val="000000">
              <a:alpha val="4000"/>
            </a:srgbClr>
          </a:solidFill>
          <a:ln/>
        </p:spPr>
      </p:sp>
      <p:sp>
        <p:nvSpPr>
          <p:cNvPr id="32" name="Text 27"/>
          <p:cNvSpPr/>
          <p:nvPr/>
        </p:nvSpPr>
        <p:spPr>
          <a:xfrm>
            <a:off x="7667030" y="6859072"/>
            <a:ext cx="2079188" cy="242649"/>
          </a:xfrm>
          <a:prstGeom prst="rect">
            <a:avLst/>
          </a:prstGeom>
          <a:noFill/>
          <a:ln/>
        </p:spPr>
        <p:txBody>
          <a:bodyPr wrap="none" lIns="0" tIns="0" rIns="0" bIns="0" rtlCol="0" anchor="t"/>
          <a:lstStyle/>
          <a:p>
            <a:pPr marL="0" indent="0" algn="l">
              <a:lnSpc>
                <a:spcPts val="1900"/>
              </a:lnSpc>
              <a:buNone/>
            </a:pPr>
            <a:r>
              <a:rPr lang="en-US" sz="1150" b="1" dirty="0">
                <a:solidFill>
                  <a:srgbClr val="15213F"/>
                </a:solidFill>
                <a:latin typeface="Roboto" pitchFamily="34" charset="0"/>
                <a:ea typeface="Roboto" pitchFamily="34" charset="-122"/>
                <a:cs typeface="Roboto" pitchFamily="34" charset="-120"/>
              </a:rPr>
              <a:t>Decision Systems</a:t>
            </a:r>
            <a:endParaRPr lang="en-US" sz="1150" dirty="0"/>
          </a:p>
        </p:txBody>
      </p:sp>
      <p:sp>
        <p:nvSpPr>
          <p:cNvPr id="33" name="Text 28"/>
          <p:cNvSpPr/>
          <p:nvPr/>
        </p:nvSpPr>
        <p:spPr>
          <a:xfrm>
            <a:off x="10056971" y="6859072"/>
            <a:ext cx="3891201" cy="242649"/>
          </a:xfrm>
          <a:prstGeom prst="rect">
            <a:avLst/>
          </a:prstGeom>
          <a:noFill/>
          <a:ln/>
        </p:spPr>
        <p:txBody>
          <a:bodyPr wrap="non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Data analysis, AI, command systems</a:t>
            </a:r>
            <a:endParaRPr lang="en-US" sz="1150" dirty="0"/>
          </a:p>
        </p:txBody>
      </p:sp>
      <p:sp>
        <p:nvSpPr>
          <p:cNvPr id="34" name="Shape 29"/>
          <p:cNvSpPr/>
          <p:nvPr/>
        </p:nvSpPr>
        <p:spPr>
          <a:xfrm>
            <a:off x="7515344" y="7200305"/>
            <a:ext cx="6584394" cy="439817"/>
          </a:xfrm>
          <a:prstGeom prst="rect">
            <a:avLst/>
          </a:prstGeom>
          <a:solidFill>
            <a:srgbClr val="FFFFFF">
              <a:alpha val="4000"/>
            </a:srgbClr>
          </a:solidFill>
          <a:ln/>
        </p:spPr>
      </p:sp>
      <p:sp>
        <p:nvSpPr>
          <p:cNvPr id="35" name="Text 30"/>
          <p:cNvSpPr/>
          <p:nvPr/>
        </p:nvSpPr>
        <p:spPr>
          <a:xfrm>
            <a:off x="7667030" y="7298888"/>
            <a:ext cx="2079188" cy="242649"/>
          </a:xfrm>
          <a:prstGeom prst="rect">
            <a:avLst/>
          </a:prstGeom>
          <a:noFill/>
          <a:ln/>
        </p:spPr>
        <p:txBody>
          <a:bodyPr wrap="none" lIns="0" tIns="0" rIns="0" bIns="0" rtlCol="0" anchor="t"/>
          <a:lstStyle/>
          <a:p>
            <a:pPr marL="0" indent="0" algn="l">
              <a:lnSpc>
                <a:spcPts val="1900"/>
              </a:lnSpc>
              <a:buNone/>
            </a:pPr>
            <a:r>
              <a:rPr lang="en-US" sz="1150" b="1" dirty="0">
                <a:solidFill>
                  <a:srgbClr val="15213F"/>
                </a:solidFill>
                <a:latin typeface="Roboto" pitchFamily="34" charset="0"/>
                <a:ea typeface="Roboto" pitchFamily="34" charset="-122"/>
                <a:cs typeface="Roboto" pitchFamily="34" charset="-120"/>
              </a:rPr>
              <a:t>Shooters</a:t>
            </a:r>
            <a:endParaRPr lang="en-US" sz="1150" dirty="0"/>
          </a:p>
        </p:txBody>
      </p:sp>
      <p:sp>
        <p:nvSpPr>
          <p:cNvPr id="36" name="Text 31"/>
          <p:cNvSpPr/>
          <p:nvPr/>
        </p:nvSpPr>
        <p:spPr>
          <a:xfrm>
            <a:off x="10056971" y="7298888"/>
            <a:ext cx="3891201" cy="242649"/>
          </a:xfrm>
          <a:prstGeom prst="rect">
            <a:avLst/>
          </a:prstGeom>
          <a:noFill/>
          <a:ln/>
        </p:spPr>
        <p:txBody>
          <a:bodyPr wrap="none" lIns="0" tIns="0" rIns="0" bIns="0" rtlCol="0" anchor="t"/>
          <a:lstStyle/>
          <a:p>
            <a:pPr marL="0" indent="0" algn="l">
              <a:lnSpc>
                <a:spcPts val="1900"/>
              </a:lnSpc>
              <a:buNone/>
            </a:pPr>
            <a:r>
              <a:rPr lang="en-US" sz="1150" dirty="0">
                <a:solidFill>
                  <a:srgbClr val="15213F"/>
                </a:solidFill>
                <a:latin typeface="Roboto" pitchFamily="34" charset="0"/>
                <a:ea typeface="Roboto" pitchFamily="34" charset="-122"/>
                <a:cs typeface="Roboto" pitchFamily="34" charset="-120"/>
              </a:rPr>
              <a:t>Units that take action (weapons, troops, cyber units)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0079" y="550426"/>
            <a:ext cx="9034582" cy="562570"/>
          </a:xfrm>
          <a:prstGeom prst="rect">
            <a:avLst/>
          </a:prstGeom>
          <a:noFill/>
          <a:ln/>
        </p:spPr>
        <p:txBody>
          <a:bodyPr wrap="none" lIns="0" tIns="0" rIns="0" bIns="0" rtlCol="0" anchor="t"/>
          <a:lstStyle/>
          <a:p>
            <a:pPr marL="0" indent="0" algn="l">
              <a:lnSpc>
                <a:spcPts val="4400"/>
              </a:lnSpc>
              <a:buNone/>
            </a:pPr>
            <a:r>
              <a:rPr lang="en-US" sz="3500" dirty="0">
                <a:solidFill>
                  <a:srgbClr val="3257B8"/>
                </a:solidFill>
                <a:latin typeface="Roboto Slab" pitchFamily="34" charset="0"/>
                <a:ea typeface="Roboto Slab" pitchFamily="34" charset="-122"/>
                <a:cs typeface="Roboto Slab" pitchFamily="34" charset="-120"/>
              </a:rPr>
              <a:t>Practical Network Centric Operations in IT</a:t>
            </a:r>
            <a:endParaRPr lang="en-US" sz="3500" dirty="0"/>
          </a:p>
        </p:txBody>
      </p:sp>
      <p:sp>
        <p:nvSpPr>
          <p:cNvPr id="3" name="Shape 1"/>
          <p:cNvSpPr/>
          <p:nvPr/>
        </p:nvSpPr>
        <p:spPr>
          <a:xfrm>
            <a:off x="7303770" y="1473041"/>
            <a:ext cx="22860" cy="3664744"/>
          </a:xfrm>
          <a:prstGeom prst="roundRect">
            <a:avLst>
              <a:gd name="adj" fmla="val 118131"/>
            </a:avLst>
          </a:prstGeom>
          <a:solidFill>
            <a:srgbClr val="CFD2D8"/>
          </a:solidFill>
          <a:ln/>
        </p:spPr>
      </p:sp>
      <p:sp>
        <p:nvSpPr>
          <p:cNvPr id="4" name="Shape 2"/>
          <p:cNvSpPr/>
          <p:nvPr/>
        </p:nvSpPr>
        <p:spPr>
          <a:xfrm>
            <a:off x="6595467" y="1664137"/>
            <a:ext cx="540068" cy="22860"/>
          </a:xfrm>
          <a:prstGeom prst="roundRect">
            <a:avLst>
              <a:gd name="adj" fmla="val 118131"/>
            </a:avLst>
          </a:prstGeom>
          <a:solidFill>
            <a:srgbClr val="CFD2D8"/>
          </a:solidFill>
          <a:ln/>
        </p:spPr>
      </p:sp>
      <p:sp>
        <p:nvSpPr>
          <p:cNvPr id="5" name="Shape 3"/>
          <p:cNvSpPr/>
          <p:nvPr/>
        </p:nvSpPr>
        <p:spPr>
          <a:xfrm>
            <a:off x="7112675" y="1473041"/>
            <a:ext cx="405051" cy="405051"/>
          </a:xfrm>
          <a:prstGeom prst="roundRect">
            <a:avLst>
              <a:gd name="adj" fmla="val 6667"/>
            </a:avLst>
          </a:prstGeom>
          <a:solidFill>
            <a:srgbClr val="E9ECF2"/>
          </a:solidFill>
          <a:ln/>
        </p:spPr>
      </p:sp>
      <p:sp>
        <p:nvSpPr>
          <p:cNvPr id="6" name="Text 4"/>
          <p:cNvSpPr/>
          <p:nvPr/>
        </p:nvSpPr>
        <p:spPr>
          <a:xfrm>
            <a:off x="7180183" y="1506795"/>
            <a:ext cx="270034" cy="337542"/>
          </a:xfrm>
          <a:prstGeom prst="rect">
            <a:avLst/>
          </a:prstGeom>
          <a:noFill/>
          <a:ln/>
        </p:spPr>
        <p:txBody>
          <a:bodyPr wrap="none" lIns="0" tIns="0" rIns="0" bIns="0" rtlCol="0" anchor="t"/>
          <a:lstStyle/>
          <a:p>
            <a:pPr marL="0" indent="0" algn="ctr">
              <a:lnSpc>
                <a:spcPts val="2100"/>
              </a:lnSpc>
              <a:buNone/>
            </a:pPr>
            <a:r>
              <a:rPr lang="en-US" sz="2100" dirty="0">
                <a:solidFill>
                  <a:srgbClr val="15213F"/>
                </a:solidFill>
                <a:latin typeface="Roboto Slab" pitchFamily="34" charset="0"/>
                <a:ea typeface="Roboto Slab" pitchFamily="34" charset="-122"/>
                <a:cs typeface="Roboto Slab" pitchFamily="34" charset="-120"/>
              </a:rPr>
              <a:t>1</a:t>
            </a:r>
            <a:endParaRPr lang="en-US" sz="2100" dirty="0"/>
          </a:p>
        </p:txBody>
      </p:sp>
      <p:sp>
        <p:nvSpPr>
          <p:cNvPr id="7" name="Text 5"/>
          <p:cNvSpPr/>
          <p:nvPr/>
        </p:nvSpPr>
        <p:spPr>
          <a:xfrm>
            <a:off x="2758678" y="1534835"/>
            <a:ext cx="3656409" cy="281226"/>
          </a:xfrm>
          <a:prstGeom prst="rect">
            <a:avLst/>
          </a:prstGeom>
          <a:noFill/>
          <a:ln/>
        </p:spPr>
        <p:txBody>
          <a:bodyPr wrap="none" lIns="0" tIns="0" rIns="0" bIns="0" rtlCol="0" anchor="t"/>
          <a:lstStyle/>
          <a:p>
            <a:pPr marL="0" indent="0" algn="r">
              <a:lnSpc>
                <a:spcPts val="2200"/>
              </a:lnSpc>
              <a:buNone/>
            </a:pPr>
            <a:r>
              <a:rPr lang="en-US" sz="1750" dirty="0">
                <a:solidFill>
                  <a:srgbClr val="15213F"/>
                </a:solidFill>
                <a:latin typeface="Roboto Slab" pitchFamily="34" charset="0"/>
                <a:ea typeface="Roboto Slab" pitchFamily="34" charset="-122"/>
                <a:cs typeface="Roboto Slab" pitchFamily="34" charset="-120"/>
              </a:rPr>
              <a:t>Centralized Monitoring Dashboard</a:t>
            </a:r>
            <a:endParaRPr lang="en-US" sz="1750" dirty="0"/>
          </a:p>
        </p:txBody>
      </p:sp>
      <p:sp>
        <p:nvSpPr>
          <p:cNvPr id="8" name="Text 6"/>
          <p:cNvSpPr/>
          <p:nvPr/>
        </p:nvSpPr>
        <p:spPr>
          <a:xfrm>
            <a:off x="630079" y="1924050"/>
            <a:ext cx="5785009" cy="1152049"/>
          </a:xfrm>
          <a:prstGeom prst="rect">
            <a:avLst/>
          </a:prstGeom>
          <a:noFill/>
          <a:ln/>
        </p:spPr>
        <p:txBody>
          <a:bodyPr wrap="square" lIns="0" tIns="0" rIns="0" bIns="0" rtlCol="0" anchor="t"/>
          <a:lstStyle/>
          <a:p>
            <a:pPr marL="0" indent="0" algn="r">
              <a:lnSpc>
                <a:spcPts val="2250"/>
              </a:lnSpc>
              <a:buNone/>
            </a:pPr>
            <a:r>
              <a:rPr lang="en-US" sz="1400" dirty="0">
                <a:solidFill>
                  <a:srgbClr val="15213F"/>
                </a:solidFill>
                <a:latin typeface="Roboto" pitchFamily="34" charset="0"/>
                <a:ea typeface="Roboto" pitchFamily="34" charset="-122"/>
                <a:cs typeface="Roboto" pitchFamily="34" charset="-120"/>
              </a:rPr>
              <a:t>Aggregate logs, metrics, and alerts from servers, switches, firewalls, and endpoints into unified platforms like Grafana, Datadog, or Azure Monitor. Security teams gain instant visibility into network health, detecting anomalies 15x faster than manual log review.</a:t>
            </a:r>
            <a:endParaRPr lang="en-US" sz="1400" dirty="0"/>
          </a:p>
        </p:txBody>
      </p:sp>
      <p:sp>
        <p:nvSpPr>
          <p:cNvPr id="9" name="Shape 7"/>
          <p:cNvSpPr/>
          <p:nvPr/>
        </p:nvSpPr>
        <p:spPr>
          <a:xfrm>
            <a:off x="7494865" y="2744272"/>
            <a:ext cx="540068" cy="22860"/>
          </a:xfrm>
          <a:prstGeom prst="roundRect">
            <a:avLst>
              <a:gd name="adj" fmla="val 118131"/>
            </a:avLst>
          </a:prstGeom>
          <a:solidFill>
            <a:srgbClr val="CFD2D8"/>
          </a:solidFill>
          <a:ln/>
        </p:spPr>
      </p:sp>
      <p:sp>
        <p:nvSpPr>
          <p:cNvPr id="10" name="Shape 8"/>
          <p:cNvSpPr/>
          <p:nvPr/>
        </p:nvSpPr>
        <p:spPr>
          <a:xfrm>
            <a:off x="7112675" y="2553176"/>
            <a:ext cx="405051" cy="405051"/>
          </a:xfrm>
          <a:prstGeom prst="roundRect">
            <a:avLst>
              <a:gd name="adj" fmla="val 6667"/>
            </a:avLst>
          </a:prstGeom>
          <a:solidFill>
            <a:srgbClr val="E9ECF2"/>
          </a:solidFill>
          <a:ln/>
        </p:spPr>
      </p:sp>
      <p:sp>
        <p:nvSpPr>
          <p:cNvPr id="11" name="Text 9"/>
          <p:cNvSpPr/>
          <p:nvPr/>
        </p:nvSpPr>
        <p:spPr>
          <a:xfrm>
            <a:off x="7180183" y="2586930"/>
            <a:ext cx="270034" cy="337542"/>
          </a:xfrm>
          <a:prstGeom prst="rect">
            <a:avLst/>
          </a:prstGeom>
          <a:noFill/>
          <a:ln/>
        </p:spPr>
        <p:txBody>
          <a:bodyPr wrap="none" lIns="0" tIns="0" rIns="0" bIns="0" rtlCol="0" anchor="t"/>
          <a:lstStyle/>
          <a:p>
            <a:pPr marL="0" indent="0" algn="ctr">
              <a:lnSpc>
                <a:spcPts val="2100"/>
              </a:lnSpc>
              <a:buNone/>
            </a:pPr>
            <a:r>
              <a:rPr lang="en-US" sz="2100" dirty="0">
                <a:solidFill>
                  <a:srgbClr val="15213F"/>
                </a:solidFill>
                <a:latin typeface="Roboto Slab" pitchFamily="34" charset="0"/>
                <a:ea typeface="Roboto Slab" pitchFamily="34" charset="-122"/>
                <a:cs typeface="Roboto Slab" pitchFamily="34" charset="-120"/>
              </a:rPr>
              <a:t>2</a:t>
            </a:r>
            <a:endParaRPr lang="en-US" sz="2100" dirty="0"/>
          </a:p>
        </p:txBody>
      </p:sp>
      <p:sp>
        <p:nvSpPr>
          <p:cNvPr id="12" name="Text 10"/>
          <p:cNvSpPr/>
          <p:nvPr/>
        </p:nvSpPr>
        <p:spPr>
          <a:xfrm>
            <a:off x="8215313" y="2614970"/>
            <a:ext cx="3528417" cy="281226"/>
          </a:xfrm>
          <a:prstGeom prst="rect">
            <a:avLst/>
          </a:prstGeom>
          <a:noFill/>
          <a:ln/>
        </p:spPr>
        <p:txBody>
          <a:bodyPr wrap="none" lIns="0" tIns="0" rIns="0" bIns="0" rtlCol="0" anchor="t"/>
          <a:lstStyle/>
          <a:p>
            <a:pPr marL="0" indent="0" algn="l">
              <a:lnSpc>
                <a:spcPts val="2200"/>
              </a:lnSpc>
              <a:buNone/>
            </a:pPr>
            <a:r>
              <a:rPr lang="en-US" sz="1750" dirty="0">
                <a:solidFill>
                  <a:srgbClr val="15213F"/>
                </a:solidFill>
                <a:latin typeface="Roboto Slab" pitchFamily="34" charset="0"/>
                <a:ea typeface="Roboto Slab" pitchFamily="34" charset="-122"/>
                <a:cs typeface="Roboto Slab" pitchFamily="34" charset="-120"/>
              </a:rPr>
              <a:t>Integrated Collaboration Systems</a:t>
            </a:r>
            <a:endParaRPr lang="en-US" sz="1750" dirty="0"/>
          </a:p>
        </p:txBody>
      </p:sp>
      <p:sp>
        <p:nvSpPr>
          <p:cNvPr id="13" name="Text 11"/>
          <p:cNvSpPr/>
          <p:nvPr/>
        </p:nvSpPr>
        <p:spPr>
          <a:xfrm>
            <a:off x="8215313" y="3004185"/>
            <a:ext cx="5785009" cy="1152049"/>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Connect monitoring tools to chat platforms (Slack, Teams) and ticketing systems (Jira, ServiceNow) via APIs. Critical alerts automatically create incidents and notify on-call engineers, reducing mean time to acknowledge (MTTA) from 12 minutes to 45 seconds.</a:t>
            </a:r>
            <a:endParaRPr lang="en-US" sz="1400" dirty="0"/>
          </a:p>
        </p:txBody>
      </p:sp>
      <p:sp>
        <p:nvSpPr>
          <p:cNvPr id="14" name="Shape 12"/>
          <p:cNvSpPr/>
          <p:nvPr/>
        </p:nvSpPr>
        <p:spPr>
          <a:xfrm>
            <a:off x="6595467" y="3725823"/>
            <a:ext cx="540068" cy="22860"/>
          </a:xfrm>
          <a:prstGeom prst="roundRect">
            <a:avLst>
              <a:gd name="adj" fmla="val 118131"/>
            </a:avLst>
          </a:prstGeom>
          <a:solidFill>
            <a:srgbClr val="CFD2D8"/>
          </a:solidFill>
          <a:ln/>
        </p:spPr>
      </p:sp>
      <p:sp>
        <p:nvSpPr>
          <p:cNvPr id="15" name="Shape 13"/>
          <p:cNvSpPr/>
          <p:nvPr/>
        </p:nvSpPr>
        <p:spPr>
          <a:xfrm>
            <a:off x="7112675" y="3534728"/>
            <a:ext cx="405051" cy="405051"/>
          </a:xfrm>
          <a:prstGeom prst="roundRect">
            <a:avLst>
              <a:gd name="adj" fmla="val 6667"/>
            </a:avLst>
          </a:prstGeom>
          <a:solidFill>
            <a:srgbClr val="E9ECF2"/>
          </a:solidFill>
          <a:ln/>
        </p:spPr>
      </p:sp>
      <p:sp>
        <p:nvSpPr>
          <p:cNvPr id="16" name="Text 14"/>
          <p:cNvSpPr/>
          <p:nvPr/>
        </p:nvSpPr>
        <p:spPr>
          <a:xfrm>
            <a:off x="7180183" y="3568482"/>
            <a:ext cx="270034" cy="337542"/>
          </a:xfrm>
          <a:prstGeom prst="rect">
            <a:avLst/>
          </a:prstGeom>
          <a:noFill/>
          <a:ln/>
        </p:spPr>
        <p:txBody>
          <a:bodyPr wrap="none" lIns="0" tIns="0" rIns="0" bIns="0" rtlCol="0" anchor="t"/>
          <a:lstStyle/>
          <a:p>
            <a:pPr marL="0" indent="0" algn="ctr">
              <a:lnSpc>
                <a:spcPts val="2100"/>
              </a:lnSpc>
              <a:buNone/>
            </a:pPr>
            <a:r>
              <a:rPr lang="en-US" sz="2100" dirty="0">
                <a:solidFill>
                  <a:srgbClr val="15213F"/>
                </a:solidFill>
                <a:latin typeface="Roboto Slab" pitchFamily="34" charset="0"/>
                <a:ea typeface="Roboto Slab" pitchFamily="34" charset="-122"/>
                <a:cs typeface="Roboto Slab" pitchFamily="34" charset="-120"/>
              </a:rPr>
              <a:t>3</a:t>
            </a:r>
            <a:endParaRPr lang="en-US" sz="2100" dirty="0"/>
          </a:p>
        </p:txBody>
      </p:sp>
      <p:sp>
        <p:nvSpPr>
          <p:cNvPr id="17" name="Text 15"/>
          <p:cNvSpPr/>
          <p:nvPr/>
        </p:nvSpPr>
        <p:spPr>
          <a:xfrm>
            <a:off x="2951083" y="3596521"/>
            <a:ext cx="3464004" cy="281226"/>
          </a:xfrm>
          <a:prstGeom prst="rect">
            <a:avLst/>
          </a:prstGeom>
          <a:noFill/>
          <a:ln/>
        </p:spPr>
        <p:txBody>
          <a:bodyPr wrap="none" lIns="0" tIns="0" rIns="0" bIns="0" rtlCol="0" anchor="t"/>
          <a:lstStyle/>
          <a:p>
            <a:pPr marL="0" indent="0" algn="r">
              <a:lnSpc>
                <a:spcPts val="2200"/>
              </a:lnSpc>
              <a:buNone/>
            </a:pPr>
            <a:r>
              <a:rPr lang="en-US" sz="1750" dirty="0">
                <a:solidFill>
                  <a:srgbClr val="15213F"/>
                </a:solidFill>
                <a:latin typeface="Roboto Slab" pitchFamily="34" charset="0"/>
                <a:ea typeface="Roboto Slab" pitchFamily="34" charset="-122"/>
                <a:cs typeface="Roboto Slab" pitchFamily="34" charset="-120"/>
              </a:rPr>
              <a:t>Automated Response Workflows</a:t>
            </a:r>
            <a:endParaRPr lang="en-US" sz="1750" dirty="0"/>
          </a:p>
        </p:txBody>
      </p:sp>
      <p:sp>
        <p:nvSpPr>
          <p:cNvPr id="18" name="Text 16"/>
          <p:cNvSpPr/>
          <p:nvPr/>
        </p:nvSpPr>
        <p:spPr>
          <a:xfrm>
            <a:off x="630079" y="3985736"/>
            <a:ext cx="5785009" cy="1152049"/>
          </a:xfrm>
          <a:prstGeom prst="rect">
            <a:avLst/>
          </a:prstGeom>
          <a:noFill/>
          <a:ln/>
        </p:spPr>
        <p:txBody>
          <a:bodyPr wrap="square" lIns="0" tIns="0" rIns="0" bIns="0" rtlCol="0" anchor="t"/>
          <a:lstStyle/>
          <a:p>
            <a:pPr marL="0" indent="0" algn="r">
              <a:lnSpc>
                <a:spcPts val="2250"/>
              </a:lnSpc>
              <a:buNone/>
            </a:pPr>
            <a:r>
              <a:rPr lang="en-US" sz="1400" dirty="0">
                <a:solidFill>
                  <a:srgbClr val="15213F"/>
                </a:solidFill>
                <a:latin typeface="Roboto" pitchFamily="34" charset="0"/>
                <a:ea typeface="Roboto" pitchFamily="34" charset="-122"/>
                <a:cs typeface="Roboto" pitchFamily="34" charset="-120"/>
              </a:rPr>
              <a:t>Deploy orchestration tools (Ansible, PowerShell Universal) that execute predefined response playbooks when specific conditions are met—isolating compromised systems, rotating credentials, or blocking malicious IPs without human intervention.</a:t>
            </a:r>
            <a:endParaRPr lang="en-US" sz="1400" dirty="0"/>
          </a:p>
        </p:txBody>
      </p:sp>
      <p:sp>
        <p:nvSpPr>
          <p:cNvPr id="19" name="Shape 17"/>
          <p:cNvSpPr/>
          <p:nvPr/>
        </p:nvSpPr>
        <p:spPr>
          <a:xfrm>
            <a:off x="630079" y="5430324"/>
            <a:ext cx="13370243" cy="30123"/>
          </a:xfrm>
          <a:prstGeom prst="rect">
            <a:avLst/>
          </a:prstGeom>
          <a:solidFill>
            <a:srgbClr val="15213F">
              <a:alpha val="50000"/>
            </a:srgbClr>
          </a:solidFill>
          <a:ln/>
        </p:spPr>
      </p:sp>
      <p:sp>
        <p:nvSpPr>
          <p:cNvPr id="20" name="Text 18"/>
          <p:cNvSpPr/>
          <p:nvPr/>
        </p:nvSpPr>
        <p:spPr>
          <a:xfrm>
            <a:off x="630079" y="5730478"/>
            <a:ext cx="5739646" cy="337542"/>
          </a:xfrm>
          <a:prstGeom prst="rect">
            <a:avLst/>
          </a:prstGeom>
          <a:noFill/>
          <a:ln/>
        </p:spPr>
        <p:txBody>
          <a:bodyPr wrap="none" lIns="0" tIns="0" rIns="0" bIns="0" rtlCol="0" anchor="t"/>
          <a:lstStyle/>
          <a:p>
            <a:pPr marL="0" indent="0" algn="l">
              <a:lnSpc>
                <a:spcPts val="2650"/>
              </a:lnSpc>
              <a:buNone/>
            </a:pPr>
            <a:r>
              <a:rPr lang="en-US" sz="2100" dirty="0">
                <a:solidFill>
                  <a:srgbClr val="3257B8"/>
                </a:solidFill>
                <a:latin typeface="Roboto Slab" pitchFamily="34" charset="0"/>
                <a:ea typeface="Roboto Slab" pitchFamily="34" charset="-122"/>
                <a:cs typeface="Roboto Slab" pitchFamily="34" charset="-120"/>
              </a:rPr>
              <a:t>Real Example: Ransomware Attack Response</a:t>
            </a:r>
            <a:endParaRPr lang="en-US" sz="2100" dirty="0"/>
          </a:p>
        </p:txBody>
      </p:sp>
      <p:sp>
        <p:nvSpPr>
          <p:cNvPr id="21" name="Shape 19"/>
          <p:cNvSpPr/>
          <p:nvPr/>
        </p:nvSpPr>
        <p:spPr>
          <a:xfrm>
            <a:off x="630079" y="6338054"/>
            <a:ext cx="13370243" cy="1341001"/>
          </a:xfrm>
          <a:prstGeom prst="roundRect">
            <a:avLst>
              <a:gd name="adj" fmla="val 2014"/>
            </a:avLst>
          </a:prstGeom>
          <a:solidFill>
            <a:srgbClr val="C3CFEF"/>
          </a:solidFill>
          <a:ln/>
        </p:spPr>
      </p:sp>
      <p:pic>
        <p:nvPicPr>
          <p:cNvPr id="22" name="Image 0" descr="preencoded.png"/>
          <p:cNvPicPr>
            <a:picLocks noChangeAspect="1"/>
          </p:cNvPicPr>
          <p:nvPr/>
        </p:nvPicPr>
        <p:blipFill>
          <a:blip r:embed="rId3"/>
          <a:stretch>
            <a:fillRect/>
          </a:stretch>
        </p:blipFill>
        <p:spPr>
          <a:xfrm>
            <a:off x="810101" y="6603683"/>
            <a:ext cx="225028" cy="180023"/>
          </a:xfrm>
          <a:prstGeom prst="rect">
            <a:avLst/>
          </a:prstGeom>
        </p:spPr>
      </p:pic>
      <p:sp>
        <p:nvSpPr>
          <p:cNvPr id="23" name="Text 20"/>
          <p:cNvSpPr/>
          <p:nvPr/>
        </p:nvSpPr>
        <p:spPr>
          <a:xfrm>
            <a:off x="1215152" y="6563082"/>
            <a:ext cx="12605147" cy="864037"/>
          </a:xfrm>
          <a:prstGeom prst="rect">
            <a:avLst/>
          </a:prstGeom>
          <a:noFill/>
          <a:ln/>
        </p:spPr>
        <p:txBody>
          <a:bodyPr wrap="square" lIns="0" tIns="0" rIns="0" bIns="0" rtlCol="0" anchor="t"/>
          <a:lstStyle/>
          <a:p>
            <a:pPr marL="0" indent="0" algn="l">
              <a:lnSpc>
                <a:spcPts val="2250"/>
              </a:lnSpc>
              <a:buNone/>
            </a:pPr>
            <a:r>
              <a:rPr lang="en-US" sz="1400" b="1" dirty="0">
                <a:solidFill>
                  <a:srgbClr val="000000"/>
                </a:solidFill>
                <a:latin typeface="Roboto" pitchFamily="34" charset="0"/>
                <a:ea typeface="Roboto" pitchFamily="34" charset="-122"/>
                <a:cs typeface="Roboto" pitchFamily="34" charset="-120"/>
              </a:rPr>
              <a:t>Scenario:</a:t>
            </a:r>
            <a:r>
              <a:rPr lang="en-US" sz="1400" dirty="0">
                <a:solidFill>
                  <a:srgbClr val="000000"/>
                </a:solidFill>
                <a:latin typeface="Roboto" pitchFamily="34" charset="0"/>
                <a:ea typeface="Roboto" pitchFamily="34" charset="-122"/>
                <a:cs typeface="Roboto" pitchFamily="34" charset="-120"/>
              </a:rPr>
              <a:t> At 2:47 AM, EDR detects encryption activity on file server FS-PROD-03. NCO system immediately: (1) Sends critical alert to #security-ops Slack channel, (2) Creates P1 incident in ServiceNow, (3) Pages on-call team, (4) Triggers automated network isolation script, (5) Snapshots VM for forensics, (6) Updates status dashboard visible to executives. Incident contained in 4 minutes vs. 2+ hours with traditional processes.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3283" y="435412"/>
            <a:ext cx="4805958" cy="494109"/>
          </a:xfrm>
          <a:prstGeom prst="rect">
            <a:avLst/>
          </a:prstGeom>
          <a:noFill/>
          <a:ln/>
        </p:spPr>
        <p:txBody>
          <a:bodyPr wrap="none" lIns="0" tIns="0" rIns="0" bIns="0" rtlCol="0" anchor="t"/>
          <a:lstStyle/>
          <a:p>
            <a:pPr marL="0" indent="0" algn="l">
              <a:lnSpc>
                <a:spcPts val="3850"/>
              </a:lnSpc>
              <a:buNone/>
            </a:pPr>
            <a:r>
              <a:rPr lang="en-US" sz="3100" dirty="0">
                <a:solidFill>
                  <a:srgbClr val="3257B8"/>
                </a:solidFill>
                <a:latin typeface="Roboto Slab" pitchFamily="34" charset="0"/>
                <a:ea typeface="Roboto Slab" pitchFamily="34" charset="-122"/>
                <a:cs typeface="Roboto Slab" pitchFamily="34" charset="-120"/>
              </a:rPr>
              <a:t>Summary &amp; Call to Action</a:t>
            </a:r>
            <a:endParaRPr lang="en-US" sz="3100" dirty="0"/>
          </a:p>
        </p:txBody>
      </p:sp>
      <p:sp>
        <p:nvSpPr>
          <p:cNvPr id="3" name="Shape 1"/>
          <p:cNvSpPr/>
          <p:nvPr/>
        </p:nvSpPr>
        <p:spPr>
          <a:xfrm>
            <a:off x="553283" y="1245632"/>
            <a:ext cx="355640" cy="355640"/>
          </a:xfrm>
          <a:prstGeom prst="roundRect">
            <a:avLst>
              <a:gd name="adj" fmla="val 6669"/>
            </a:avLst>
          </a:prstGeom>
          <a:solidFill>
            <a:srgbClr val="E9ECF2"/>
          </a:solidFill>
          <a:ln/>
        </p:spPr>
      </p:sp>
      <p:sp>
        <p:nvSpPr>
          <p:cNvPr id="4" name="Text 2"/>
          <p:cNvSpPr/>
          <p:nvPr/>
        </p:nvSpPr>
        <p:spPr>
          <a:xfrm>
            <a:off x="1066919" y="1275159"/>
            <a:ext cx="7710964" cy="296466"/>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Service Packs, Hotfixes, and Backups keep systems secure and stable</a:t>
            </a:r>
            <a:endParaRPr lang="en-US" sz="1850" dirty="0"/>
          </a:p>
        </p:txBody>
      </p:sp>
      <p:sp>
        <p:nvSpPr>
          <p:cNvPr id="5" name="Text 3"/>
          <p:cNvSpPr/>
          <p:nvPr/>
        </p:nvSpPr>
        <p:spPr>
          <a:xfrm>
            <a:off x="1066919" y="1666399"/>
            <a:ext cx="13010198" cy="252889"/>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Regular updates prevent exploitation while backups protect against data loss and ransomware.</a:t>
            </a:r>
            <a:endParaRPr lang="en-US" sz="1200" dirty="0"/>
          </a:p>
        </p:txBody>
      </p:sp>
      <p:sp>
        <p:nvSpPr>
          <p:cNvPr id="6" name="Shape 4"/>
          <p:cNvSpPr/>
          <p:nvPr/>
        </p:nvSpPr>
        <p:spPr>
          <a:xfrm>
            <a:off x="553283" y="2235398"/>
            <a:ext cx="355640" cy="355640"/>
          </a:xfrm>
          <a:prstGeom prst="roundRect">
            <a:avLst>
              <a:gd name="adj" fmla="val 6669"/>
            </a:avLst>
          </a:prstGeom>
          <a:solidFill>
            <a:srgbClr val="E9ECF2"/>
          </a:solidFill>
          <a:ln/>
        </p:spPr>
      </p:sp>
      <p:sp>
        <p:nvSpPr>
          <p:cNvPr id="7" name="Text 5"/>
          <p:cNvSpPr/>
          <p:nvPr/>
        </p:nvSpPr>
        <p:spPr>
          <a:xfrm>
            <a:off x="1066919" y="2264926"/>
            <a:ext cx="8081724" cy="296466"/>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Understanding Registry and AD permissions is key to controlling access</a:t>
            </a:r>
            <a:endParaRPr lang="en-US" sz="1850" dirty="0"/>
          </a:p>
        </p:txBody>
      </p:sp>
      <p:sp>
        <p:nvSpPr>
          <p:cNvPr id="8" name="Text 6"/>
          <p:cNvSpPr/>
          <p:nvPr/>
        </p:nvSpPr>
        <p:spPr>
          <a:xfrm>
            <a:off x="1066919" y="2656165"/>
            <a:ext cx="13010198" cy="252889"/>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Proper permission configuration prevents unauthorized changes and follows least-privilege principles.</a:t>
            </a:r>
            <a:endParaRPr lang="en-US" sz="1200" dirty="0"/>
          </a:p>
        </p:txBody>
      </p:sp>
      <p:sp>
        <p:nvSpPr>
          <p:cNvPr id="9" name="Shape 7"/>
          <p:cNvSpPr/>
          <p:nvPr/>
        </p:nvSpPr>
        <p:spPr>
          <a:xfrm>
            <a:off x="553283" y="3225165"/>
            <a:ext cx="355640" cy="355640"/>
          </a:xfrm>
          <a:prstGeom prst="roundRect">
            <a:avLst>
              <a:gd name="adj" fmla="val 6669"/>
            </a:avLst>
          </a:prstGeom>
          <a:solidFill>
            <a:srgbClr val="E9ECF2"/>
          </a:solidFill>
          <a:ln/>
        </p:spPr>
      </p:sp>
      <p:sp>
        <p:nvSpPr>
          <p:cNvPr id="10" name="Text 8"/>
          <p:cNvSpPr/>
          <p:nvPr/>
        </p:nvSpPr>
        <p:spPr>
          <a:xfrm>
            <a:off x="1066919" y="3254693"/>
            <a:ext cx="5753219" cy="296466"/>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Device driver rollback is a vital troubleshooting tool</a:t>
            </a:r>
            <a:endParaRPr lang="en-US" sz="1850" dirty="0"/>
          </a:p>
        </p:txBody>
      </p:sp>
      <p:sp>
        <p:nvSpPr>
          <p:cNvPr id="11" name="Text 9"/>
          <p:cNvSpPr/>
          <p:nvPr/>
        </p:nvSpPr>
        <p:spPr>
          <a:xfrm>
            <a:off x="1066919" y="3645932"/>
            <a:ext cx="13010198" cy="252889"/>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Quick recovery from problematic driver updates minimizes downtime and maintains productivity.</a:t>
            </a:r>
            <a:endParaRPr lang="en-US" sz="1200" dirty="0"/>
          </a:p>
        </p:txBody>
      </p:sp>
      <p:sp>
        <p:nvSpPr>
          <p:cNvPr id="12" name="Shape 10"/>
          <p:cNvSpPr/>
          <p:nvPr/>
        </p:nvSpPr>
        <p:spPr>
          <a:xfrm>
            <a:off x="553283" y="4214932"/>
            <a:ext cx="355640" cy="355640"/>
          </a:xfrm>
          <a:prstGeom prst="roundRect">
            <a:avLst>
              <a:gd name="adj" fmla="val 6669"/>
            </a:avLst>
          </a:prstGeom>
          <a:solidFill>
            <a:srgbClr val="E9ECF2"/>
          </a:solidFill>
          <a:ln/>
        </p:spPr>
      </p:sp>
      <p:sp>
        <p:nvSpPr>
          <p:cNvPr id="13" name="Text 11"/>
          <p:cNvSpPr/>
          <p:nvPr/>
        </p:nvSpPr>
        <p:spPr>
          <a:xfrm>
            <a:off x="1066919" y="4244459"/>
            <a:ext cx="7208639" cy="296466"/>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Secedit empowers admins to enforce security policies efficiently</a:t>
            </a:r>
            <a:endParaRPr lang="en-US" sz="1850" dirty="0"/>
          </a:p>
        </p:txBody>
      </p:sp>
      <p:sp>
        <p:nvSpPr>
          <p:cNvPr id="14" name="Text 12"/>
          <p:cNvSpPr/>
          <p:nvPr/>
        </p:nvSpPr>
        <p:spPr>
          <a:xfrm>
            <a:off x="1066919" y="4635698"/>
            <a:ext cx="13010198" cy="252889"/>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Consistent baseline configurations across systems reduce attack surface and compliance gaps.</a:t>
            </a:r>
            <a:endParaRPr lang="en-US" sz="1200" dirty="0"/>
          </a:p>
        </p:txBody>
      </p:sp>
      <p:sp>
        <p:nvSpPr>
          <p:cNvPr id="15" name="Shape 13"/>
          <p:cNvSpPr/>
          <p:nvPr/>
        </p:nvSpPr>
        <p:spPr>
          <a:xfrm>
            <a:off x="553283" y="5204698"/>
            <a:ext cx="355640" cy="355640"/>
          </a:xfrm>
          <a:prstGeom prst="roundRect">
            <a:avLst>
              <a:gd name="adj" fmla="val 6669"/>
            </a:avLst>
          </a:prstGeom>
          <a:solidFill>
            <a:srgbClr val="E9ECF2"/>
          </a:solidFill>
          <a:ln/>
        </p:spPr>
      </p:sp>
      <p:sp>
        <p:nvSpPr>
          <p:cNvPr id="16" name="Text 14"/>
          <p:cNvSpPr/>
          <p:nvPr/>
        </p:nvSpPr>
        <p:spPr>
          <a:xfrm>
            <a:off x="1066919" y="5234226"/>
            <a:ext cx="8181261" cy="296466"/>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Network Centric Operations transform information into actionable power</a:t>
            </a:r>
            <a:endParaRPr lang="en-US" sz="1850" dirty="0"/>
          </a:p>
        </p:txBody>
      </p:sp>
      <p:sp>
        <p:nvSpPr>
          <p:cNvPr id="17" name="Text 15"/>
          <p:cNvSpPr/>
          <p:nvPr/>
        </p:nvSpPr>
        <p:spPr>
          <a:xfrm>
            <a:off x="1066919" y="5625465"/>
            <a:ext cx="13010198" cy="252889"/>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Integrated systems and shared awareness enable faster, more coordinated responses to threats.</a:t>
            </a:r>
            <a:endParaRPr lang="en-US" sz="1200" dirty="0"/>
          </a:p>
        </p:txBody>
      </p:sp>
      <p:sp>
        <p:nvSpPr>
          <p:cNvPr id="18" name="Shape 16"/>
          <p:cNvSpPr/>
          <p:nvPr/>
        </p:nvSpPr>
        <p:spPr>
          <a:xfrm>
            <a:off x="553283" y="6135051"/>
            <a:ext cx="13523833" cy="27265"/>
          </a:xfrm>
          <a:prstGeom prst="rect">
            <a:avLst/>
          </a:prstGeom>
          <a:solidFill>
            <a:srgbClr val="15213F">
              <a:alpha val="50000"/>
            </a:srgbClr>
          </a:solidFill>
          <a:ln/>
        </p:spPr>
      </p:sp>
      <p:sp>
        <p:nvSpPr>
          <p:cNvPr id="19" name="Text 17"/>
          <p:cNvSpPr/>
          <p:nvPr/>
        </p:nvSpPr>
        <p:spPr>
          <a:xfrm>
            <a:off x="790337" y="6577013"/>
            <a:ext cx="8768477" cy="296466"/>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Next Step: take the reference of Unit 3's second part  last page for practical labs</a:t>
            </a:r>
            <a:endParaRPr lang="en-US" sz="1850" dirty="0"/>
          </a:p>
        </p:txBody>
      </p:sp>
      <p:sp>
        <p:nvSpPr>
          <p:cNvPr id="20" name="Text 18"/>
          <p:cNvSpPr/>
          <p:nvPr/>
        </p:nvSpPr>
        <p:spPr>
          <a:xfrm>
            <a:off x="790337" y="7110532"/>
            <a:ext cx="13286780" cy="505778"/>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Start with one area—enable driver rollback policies, create your first Secedit template, or establish a centralized monitoring dashboard. Each practice strengthens your Windows environment and network security posture incrementally. Small consistent actions compound into robust cyber resilience.</a:t>
            </a:r>
            <a:endParaRPr lang="en-US" sz="1200" dirty="0"/>
          </a:p>
        </p:txBody>
      </p:sp>
      <p:sp>
        <p:nvSpPr>
          <p:cNvPr id="21" name="Shape 19"/>
          <p:cNvSpPr/>
          <p:nvPr/>
        </p:nvSpPr>
        <p:spPr>
          <a:xfrm>
            <a:off x="553283" y="6339959"/>
            <a:ext cx="22860" cy="1454110"/>
          </a:xfrm>
          <a:prstGeom prst="rect">
            <a:avLst/>
          </a:prstGeom>
          <a:solidFill>
            <a:srgbClr val="3257B8"/>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232065"/>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Unit III </a:t>
            </a:r>
          </a:p>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Linux Security: Logging, Hardening, and Practical Tools</a:t>
            </a:r>
            <a:endParaRPr lang="en-US" sz="3900" dirty="0"/>
          </a:p>
        </p:txBody>
      </p:sp>
      <p:sp>
        <p:nvSpPr>
          <p:cNvPr id="3" name="Text 1"/>
          <p:cNvSpPr/>
          <p:nvPr/>
        </p:nvSpPr>
        <p:spPr>
          <a:xfrm>
            <a:off x="793790" y="386905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 hands-on guide to securing Linux systems through comprehensive logging strategies, system hardening techniques, and practical security tools. This presentation covers real-world examples, command-line utilities, and actionable configurations that sysadmins and security engineers can implement immediately.</a:t>
            </a:r>
            <a:endParaRPr lang="en-US" sz="1550" dirty="0"/>
          </a:p>
        </p:txBody>
      </p:sp>
      <p:sp>
        <p:nvSpPr>
          <p:cNvPr id="4" name="Text 2"/>
          <p:cNvSpPr/>
          <p:nvPr/>
        </p:nvSpPr>
        <p:spPr>
          <a:xfrm>
            <a:off x="793790" y="504491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Whether you're defending production servers, preparing for security audits, or building your skills in a lab environment, these techniques form the foundation of effective Linux security operations. We'll explore everything from basic log analysis to advanced integrity checking and automated hardening.</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52155"/>
            <a:ext cx="8155900"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Logging with Syslog &amp; Modern Alternatives</a:t>
            </a:r>
            <a:endParaRPr lang="en-US" sz="3100" dirty="0"/>
          </a:p>
        </p:txBody>
      </p:sp>
      <p:sp>
        <p:nvSpPr>
          <p:cNvPr id="3" name="Text 1"/>
          <p:cNvSpPr/>
          <p:nvPr/>
        </p:nvSpPr>
        <p:spPr>
          <a:xfrm>
            <a:off x="793790" y="204430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What is Syslog?</a:t>
            </a:r>
            <a:endParaRPr lang="en-US" sz="1950" dirty="0"/>
          </a:p>
        </p:txBody>
      </p:sp>
      <p:sp>
        <p:nvSpPr>
          <p:cNvPr id="4" name="Text 2"/>
          <p:cNvSpPr/>
          <p:nvPr/>
        </p:nvSpPr>
        <p:spPr>
          <a:xfrm>
            <a:off x="793790" y="2552819"/>
            <a:ext cx="6955631" cy="96023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Syslog is the traditional logging framework that collects system messages from the kernel, services, and applications. All logs are centralized in </a:t>
            </a:r>
            <a:r>
              <a:rPr lang="en-US" sz="1550" dirty="0">
                <a:solidFill>
                  <a:srgbClr val="15213F"/>
                </a:solidFill>
                <a:highlight>
                  <a:srgbClr val="EEEFF1"/>
                </a:highlight>
                <a:latin typeface="Consolas" pitchFamily="34" charset="0"/>
                <a:ea typeface="Consolas" pitchFamily="34" charset="-122"/>
                <a:cs typeface="Consolas" pitchFamily="34" charset="-120"/>
              </a:rPr>
              <a:t>/var/log/</a:t>
            </a:r>
            <a:r>
              <a:rPr lang="en-US" sz="1550" dirty="0">
                <a:solidFill>
                  <a:srgbClr val="15213F"/>
                </a:solidFill>
                <a:latin typeface="Roboto" pitchFamily="34" charset="0"/>
                <a:ea typeface="Roboto" pitchFamily="34" charset="-122"/>
                <a:cs typeface="Roboto" pitchFamily="34" charset="-120"/>
              </a:rPr>
              <a:t> for easy access and analysis.</a:t>
            </a:r>
            <a:endParaRPr lang="en-US" sz="1550" dirty="0"/>
          </a:p>
        </p:txBody>
      </p:sp>
      <p:sp>
        <p:nvSpPr>
          <p:cNvPr id="5" name="Text 3"/>
          <p:cNvSpPr/>
          <p:nvPr/>
        </p:nvSpPr>
        <p:spPr>
          <a:xfrm>
            <a:off x="793790" y="3691652"/>
            <a:ext cx="6955631"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Key log files to monitor:</a:t>
            </a:r>
            <a:endParaRPr lang="en-US" sz="1550" dirty="0"/>
          </a:p>
        </p:txBody>
      </p:sp>
      <p:sp>
        <p:nvSpPr>
          <p:cNvPr id="6" name="Text 4"/>
          <p:cNvSpPr/>
          <p:nvPr/>
        </p:nvSpPr>
        <p:spPr>
          <a:xfrm>
            <a:off x="793790" y="4187785"/>
            <a:ext cx="6955631" cy="32516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highlight>
                  <a:srgbClr val="EEEFF1"/>
                </a:highlight>
                <a:latin typeface="Consolas" pitchFamily="34" charset="0"/>
                <a:ea typeface="Consolas" pitchFamily="34" charset="-122"/>
                <a:cs typeface="Consolas" pitchFamily="34" charset="-120"/>
              </a:rPr>
              <a:t>/var/log/auth.log</a:t>
            </a:r>
            <a:r>
              <a:rPr lang="en-US" sz="1550" dirty="0">
                <a:solidFill>
                  <a:srgbClr val="15213F"/>
                </a:solidFill>
                <a:latin typeface="Roboto" pitchFamily="34" charset="0"/>
                <a:ea typeface="Roboto" pitchFamily="34" charset="-122"/>
                <a:cs typeface="Roboto" pitchFamily="34" charset="-120"/>
              </a:rPr>
              <a:t> - Authentication attempts and sudo usage</a:t>
            </a:r>
            <a:endParaRPr lang="en-US" sz="1550" dirty="0"/>
          </a:p>
        </p:txBody>
      </p:sp>
      <p:sp>
        <p:nvSpPr>
          <p:cNvPr id="7" name="Text 5"/>
          <p:cNvSpPr/>
          <p:nvPr/>
        </p:nvSpPr>
        <p:spPr>
          <a:xfrm>
            <a:off x="793790" y="4582358"/>
            <a:ext cx="6955631" cy="32516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highlight>
                  <a:srgbClr val="EEEFF1"/>
                </a:highlight>
                <a:latin typeface="Consolas" pitchFamily="34" charset="0"/>
                <a:ea typeface="Consolas" pitchFamily="34" charset="-122"/>
                <a:cs typeface="Consolas" pitchFamily="34" charset="-120"/>
              </a:rPr>
              <a:t>/var/log/syslog</a:t>
            </a:r>
            <a:r>
              <a:rPr lang="en-US" sz="1550" dirty="0">
                <a:solidFill>
                  <a:srgbClr val="15213F"/>
                </a:solidFill>
                <a:latin typeface="Roboto" pitchFamily="34" charset="0"/>
                <a:ea typeface="Roboto" pitchFamily="34" charset="-122"/>
                <a:cs typeface="Roboto" pitchFamily="34" charset="-120"/>
              </a:rPr>
              <a:t> - General system activity</a:t>
            </a:r>
            <a:endParaRPr lang="en-US" sz="1550" dirty="0"/>
          </a:p>
        </p:txBody>
      </p:sp>
      <p:sp>
        <p:nvSpPr>
          <p:cNvPr id="8" name="Text 6"/>
          <p:cNvSpPr/>
          <p:nvPr/>
        </p:nvSpPr>
        <p:spPr>
          <a:xfrm>
            <a:off x="793790" y="4976932"/>
            <a:ext cx="6955631" cy="32516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highlight>
                  <a:srgbClr val="EEEFF1"/>
                </a:highlight>
                <a:latin typeface="Consolas" pitchFamily="34" charset="0"/>
                <a:ea typeface="Consolas" pitchFamily="34" charset="-122"/>
                <a:cs typeface="Consolas" pitchFamily="34" charset="-120"/>
              </a:rPr>
              <a:t>/var/log/messages</a:t>
            </a:r>
            <a:r>
              <a:rPr lang="en-US" sz="1550" dirty="0">
                <a:solidFill>
                  <a:srgbClr val="15213F"/>
                </a:solidFill>
                <a:latin typeface="Roboto" pitchFamily="34" charset="0"/>
                <a:ea typeface="Roboto" pitchFamily="34" charset="-122"/>
                <a:cs typeface="Roboto" pitchFamily="34" charset="-120"/>
              </a:rPr>
              <a:t> - System-wide messages on RHEL-based systems</a:t>
            </a:r>
            <a:endParaRPr lang="en-US" sz="1550" dirty="0"/>
          </a:p>
        </p:txBody>
      </p:sp>
      <p:sp>
        <p:nvSpPr>
          <p:cNvPr id="9" name="Text 7"/>
          <p:cNvSpPr/>
          <p:nvPr/>
        </p:nvSpPr>
        <p:spPr>
          <a:xfrm>
            <a:off x="793790" y="5480685"/>
            <a:ext cx="6955631"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Essential commands:</a:t>
            </a:r>
            <a:endParaRPr lang="en-US" sz="1550" dirty="0"/>
          </a:p>
        </p:txBody>
      </p:sp>
      <p:sp>
        <p:nvSpPr>
          <p:cNvPr id="10" name="Shape 8"/>
          <p:cNvSpPr/>
          <p:nvPr/>
        </p:nvSpPr>
        <p:spPr>
          <a:xfrm>
            <a:off x="793790" y="6021467"/>
            <a:ext cx="6955631" cy="932736"/>
          </a:xfrm>
          <a:prstGeom prst="roundRect">
            <a:avLst>
              <a:gd name="adj" fmla="val 3192"/>
            </a:avLst>
          </a:prstGeom>
          <a:solidFill>
            <a:srgbClr val="EEEFF1"/>
          </a:solidFill>
          <a:ln/>
        </p:spPr>
      </p:sp>
      <p:sp>
        <p:nvSpPr>
          <p:cNvPr id="11" name="Shape 9"/>
          <p:cNvSpPr/>
          <p:nvPr/>
        </p:nvSpPr>
        <p:spPr>
          <a:xfrm>
            <a:off x="783908" y="6021467"/>
            <a:ext cx="6975396" cy="932736"/>
          </a:xfrm>
          <a:prstGeom prst="roundRect">
            <a:avLst>
              <a:gd name="adj" fmla="val 3192"/>
            </a:avLst>
          </a:prstGeom>
          <a:solidFill>
            <a:srgbClr val="EEEFF1"/>
          </a:solidFill>
          <a:ln/>
        </p:spPr>
      </p:sp>
      <p:sp>
        <p:nvSpPr>
          <p:cNvPr id="12" name="Text 10"/>
          <p:cNvSpPr/>
          <p:nvPr/>
        </p:nvSpPr>
        <p:spPr>
          <a:xfrm>
            <a:off x="982266" y="6170295"/>
            <a:ext cx="657867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sudo tail -f /var/log/syslogsudo less /var/log/auth.log</a:t>
            </a:r>
            <a:endParaRPr lang="en-US" sz="1550" dirty="0"/>
          </a:p>
        </p:txBody>
      </p:sp>
      <p:sp>
        <p:nvSpPr>
          <p:cNvPr id="13" name="Text 11"/>
          <p:cNvSpPr/>
          <p:nvPr/>
        </p:nvSpPr>
        <p:spPr>
          <a:xfrm>
            <a:off x="8241149" y="204430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Modern Alternatives</a:t>
            </a:r>
            <a:endParaRPr lang="en-US" sz="1950" dirty="0"/>
          </a:p>
        </p:txBody>
      </p:sp>
      <p:sp>
        <p:nvSpPr>
          <p:cNvPr id="14" name="Text 12"/>
          <p:cNvSpPr/>
          <p:nvPr/>
        </p:nvSpPr>
        <p:spPr>
          <a:xfrm>
            <a:off x="8241149" y="2552819"/>
            <a:ext cx="5602962"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Newer systems often use </a:t>
            </a:r>
            <a:r>
              <a:rPr lang="en-US" sz="1550" b="1" dirty="0">
                <a:solidFill>
                  <a:srgbClr val="15213F"/>
                </a:solidFill>
                <a:latin typeface="Roboto" pitchFamily="34" charset="0"/>
                <a:ea typeface="Roboto" pitchFamily="34" charset="-122"/>
                <a:cs typeface="Roboto" pitchFamily="34" charset="-120"/>
              </a:rPr>
              <a:t>journald</a:t>
            </a:r>
            <a:r>
              <a:rPr lang="en-US" sz="1550" dirty="0">
                <a:solidFill>
                  <a:srgbClr val="15213F"/>
                </a:solidFill>
                <a:latin typeface="Roboto" pitchFamily="34" charset="0"/>
                <a:ea typeface="Roboto" pitchFamily="34" charset="-122"/>
                <a:cs typeface="Roboto" pitchFamily="34" charset="-120"/>
              </a:rPr>
              <a:t> (systemd's logging service) or enhanced implementations like </a:t>
            </a:r>
            <a:r>
              <a:rPr lang="en-US" sz="1550" b="1" dirty="0">
                <a:solidFill>
                  <a:srgbClr val="15213F"/>
                </a:solidFill>
                <a:latin typeface="Roboto" pitchFamily="34" charset="0"/>
                <a:ea typeface="Roboto" pitchFamily="34" charset="-122"/>
                <a:cs typeface="Roboto" pitchFamily="34" charset="-120"/>
              </a:rPr>
              <a:t>rsyslog</a:t>
            </a:r>
            <a:r>
              <a:rPr lang="en-US" sz="1550" dirty="0">
                <a:solidFill>
                  <a:srgbClr val="15213F"/>
                </a:solidFill>
                <a:latin typeface="Roboto" pitchFamily="34" charset="0"/>
                <a:ea typeface="Roboto" pitchFamily="34" charset="-122"/>
                <a:cs typeface="Roboto" pitchFamily="34" charset="-120"/>
              </a:rPr>
              <a:t> and </a:t>
            </a:r>
            <a:r>
              <a:rPr lang="en-US" sz="1550" b="1" dirty="0">
                <a:solidFill>
                  <a:srgbClr val="15213F"/>
                </a:solidFill>
                <a:latin typeface="Roboto" pitchFamily="34" charset="0"/>
                <a:ea typeface="Roboto" pitchFamily="34" charset="-122"/>
                <a:cs typeface="Roboto" pitchFamily="34" charset="-120"/>
              </a:rPr>
              <a:t>syslog-ng</a:t>
            </a:r>
            <a:r>
              <a:rPr lang="en-US" sz="1550" dirty="0">
                <a:solidFill>
                  <a:srgbClr val="15213F"/>
                </a:solidFill>
                <a:latin typeface="Roboto" pitchFamily="34" charset="0"/>
                <a:ea typeface="Roboto" pitchFamily="34" charset="-122"/>
                <a:cs typeface="Roboto" pitchFamily="34" charset="-120"/>
              </a:rPr>
              <a:t>.</a:t>
            </a:r>
            <a:endParaRPr lang="en-US" sz="1550" dirty="0"/>
          </a:p>
        </p:txBody>
      </p:sp>
      <p:sp>
        <p:nvSpPr>
          <p:cNvPr id="15" name="Text 13"/>
          <p:cNvSpPr/>
          <p:nvPr/>
        </p:nvSpPr>
        <p:spPr>
          <a:xfrm>
            <a:off x="8241149" y="3366492"/>
            <a:ext cx="560296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Query systemd logs with journalctl:</a:t>
            </a:r>
            <a:endParaRPr lang="en-US" sz="1550" dirty="0"/>
          </a:p>
        </p:txBody>
      </p:sp>
      <p:sp>
        <p:nvSpPr>
          <p:cNvPr id="16" name="Shape 14"/>
          <p:cNvSpPr/>
          <p:nvPr/>
        </p:nvSpPr>
        <p:spPr>
          <a:xfrm>
            <a:off x="8241149" y="3907274"/>
            <a:ext cx="5602962" cy="1250275"/>
          </a:xfrm>
          <a:prstGeom prst="roundRect">
            <a:avLst>
              <a:gd name="adj" fmla="val 2381"/>
            </a:avLst>
          </a:prstGeom>
          <a:solidFill>
            <a:srgbClr val="EEEFF1"/>
          </a:solidFill>
          <a:ln/>
        </p:spPr>
      </p:sp>
      <p:sp>
        <p:nvSpPr>
          <p:cNvPr id="17" name="Shape 15"/>
          <p:cNvSpPr/>
          <p:nvPr/>
        </p:nvSpPr>
        <p:spPr>
          <a:xfrm>
            <a:off x="8231267" y="3907274"/>
            <a:ext cx="5622727" cy="1250275"/>
          </a:xfrm>
          <a:prstGeom prst="roundRect">
            <a:avLst>
              <a:gd name="adj" fmla="val 2381"/>
            </a:avLst>
          </a:prstGeom>
          <a:solidFill>
            <a:srgbClr val="EEEFF1"/>
          </a:solidFill>
          <a:ln/>
        </p:spPr>
      </p:sp>
      <p:sp>
        <p:nvSpPr>
          <p:cNvPr id="18" name="Text 16"/>
          <p:cNvSpPr/>
          <p:nvPr/>
        </p:nvSpPr>
        <p:spPr>
          <a:xfrm>
            <a:off x="8429625" y="4056102"/>
            <a:ext cx="5226010"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journalctl -xejournalctl -u sshd.servicejournalctl --since "1 hour ago"</a:t>
            </a:r>
            <a:endParaRPr lang="en-US" sz="1550" dirty="0"/>
          </a:p>
        </p:txBody>
      </p:sp>
      <p:sp>
        <p:nvSpPr>
          <p:cNvPr id="19" name="Text 17"/>
          <p:cNvSpPr/>
          <p:nvPr/>
        </p:nvSpPr>
        <p:spPr>
          <a:xfrm>
            <a:off x="8241149" y="5380792"/>
            <a:ext cx="5602962"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journalctl provides structured logging with powerful filtering capabilities, making it easier to troubleshoot specific services or time ranges.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41797"/>
            <a:ext cx="9596199"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Parsing &amp; Filtering Logs with Command-Line Tools</a:t>
            </a:r>
            <a:endParaRPr lang="en-US" sz="3100" dirty="0"/>
          </a:p>
        </p:txBody>
      </p:sp>
      <p:sp>
        <p:nvSpPr>
          <p:cNvPr id="3" name="Text 1"/>
          <p:cNvSpPr/>
          <p:nvPr/>
        </p:nvSpPr>
        <p:spPr>
          <a:xfrm>
            <a:off x="793790" y="19347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Effective log analysis requires mastering text processing utilities. These tools help you extract meaningful patterns from thousands of log entries, enabling quick incident detection and forensic analysis.</a:t>
            </a:r>
            <a:endParaRPr lang="en-US" sz="1550" dirty="0"/>
          </a:p>
        </p:txBody>
      </p:sp>
      <p:sp>
        <p:nvSpPr>
          <p:cNvPr id="4" name="Shape 2"/>
          <p:cNvSpPr/>
          <p:nvPr/>
        </p:nvSpPr>
        <p:spPr>
          <a:xfrm>
            <a:off x="793790" y="2793087"/>
            <a:ext cx="4215289" cy="3536275"/>
          </a:xfrm>
          <a:prstGeom prst="roundRect">
            <a:avLst>
              <a:gd name="adj" fmla="val 3103"/>
            </a:avLst>
          </a:prstGeom>
          <a:solidFill>
            <a:srgbClr val="FBFCFE"/>
          </a:solidFill>
          <a:ln w="22860">
            <a:solidFill>
              <a:srgbClr val="CFD2D8"/>
            </a:solidFill>
            <a:prstDash val="solid"/>
          </a:ln>
        </p:spPr>
      </p:sp>
      <p:pic>
        <p:nvPicPr>
          <p:cNvPr id="5" name="Image 0" descr="preencoded.png"/>
          <p:cNvPicPr>
            <a:picLocks noChangeAspect="1"/>
          </p:cNvPicPr>
          <p:nvPr/>
        </p:nvPicPr>
        <p:blipFill>
          <a:blip r:embed="rId3"/>
          <a:stretch>
            <a:fillRect/>
          </a:stretch>
        </p:blipFill>
        <p:spPr>
          <a:xfrm>
            <a:off x="770930" y="2793087"/>
            <a:ext cx="91440" cy="3536275"/>
          </a:xfrm>
          <a:prstGeom prst="rect">
            <a:avLst/>
          </a:prstGeom>
        </p:spPr>
      </p:pic>
      <p:sp>
        <p:nvSpPr>
          <p:cNvPr id="6" name="Text 3"/>
          <p:cNvSpPr/>
          <p:nvPr/>
        </p:nvSpPr>
        <p:spPr>
          <a:xfrm>
            <a:off x="1083588" y="3014305"/>
            <a:ext cx="2971562"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grep - Search for Patterns</a:t>
            </a:r>
            <a:endParaRPr lang="en-US" sz="1950" dirty="0"/>
          </a:p>
        </p:txBody>
      </p:sp>
      <p:sp>
        <p:nvSpPr>
          <p:cNvPr id="7" name="Text 4"/>
          <p:cNvSpPr/>
          <p:nvPr/>
        </p:nvSpPr>
        <p:spPr>
          <a:xfrm>
            <a:off x="1083588" y="3443526"/>
            <a:ext cx="37042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Find failed SSH login attempts:</a:t>
            </a:r>
            <a:endParaRPr lang="en-US" sz="1550" dirty="0"/>
          </a:p>
        </p:txBody>
      </p:sp>
      <p:sp>
        <p:nvSpPr>
          <p:cNvPr id="8" name="Shape 5"/>
          <p:cNvSpPr/>
          <p:nvPr/>
        </p:nvSpPr>
        <p:spPr>
          <a:xfrm>
            <a:off x="1083588" y="3984308"/>
            <a:ext cx="3704273" cy="932736"/>
          </a:xfrm>
          <a:prstGeom prst="roundRect">
            <a:avLst>
              <a:gd name="adj" fmla="val 3192"/>
            </a:avLst>
          </a:prstGeom>
          <a:solidFill>
            <a:srgbClr val="EEEFF1"/>
          </a:solidFill>
          <a:ln/>
        </p:spPr>
      </p:sp>
      <p:sp>
        <p:nvSpPr>
          <p:cNvPr id="9" name="Shape 6"/>
          <p:cNvSpPr/>
          <p:nvPr/>
        </p:nvSpPr>
        <p:spPr>
          <a:xfrm>
            <a:off x="1073706" y="3984308"/>
            <a:ext cx="3724037" cy="932736"/>
          </a:xfrm>
          <a:prstGeom prst="roundRect">
            <a:avLst>
              <a:gd name="adj" fmla="val 3192"/>
            </a:avLst>
          </a:prstGeom>
          <a:solidFill>
            <a:srgbClr val="EEEFF1"/>
          </a:solidFill>
          <a:ln/>
        </p:spPr>
      </p:sp>
      <p:sp>
        <p:nvSpPr>
          <p:cNvPr id="10" name="Text 7"/>
          <p:cNvSpPr/>
          <p:nvPr/>
        </p:nvSpPr>
        <p:spPr>
          <a:xfrm>
            <a:off x="1272064" y="4133136"/>
            <a:ext cx="33273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grep "Failed password" /var/log/auth.log</a:t>
            </a:r>
            <a:endParaRPr lang="en-US" sz="1550" dirty="0"/>
          </a:p>
        </p:txBody>
      </p:sp>
      <p:sp>
        <p:nvSpPr>
          <p:cNvPr id="11" name="Text 8"/>
          <p:cNvSpPr/>
          <p:nvPr/>
        </p:nvSpPr>
        <p:spPr>
          <a:xfrm>
            <a:off x="1083588" y="5140285"/>
            <a:ext cx="3704273" cy="9678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Use </a:t>
            </a:r>
            <a:r>
              <a:rPr lang="en-US" sz="1550" dirty="0">
                <a:solidFill>
                  <a:srgbClr val="15213F"/>
                </a:solidFill>
                <a:highlight>
                  <a:srgbClr val="EEEFF1"/>
                </a:highlight>
                <a:latin typeface="Consolas" pitchFamily="34" charset="0"/>
                <a:ea typeface="Consolas" pitchFamily="34" charset="-122"/>
                <a:cs typeface="Consolas" pitchFamily="34" charset="-120"/>
              </a:rPr>
              <a:t>-i</a:t>
            </a:r>
            <a:r>
              <a:rPr lang="en-US" sz="1550" dirty="0">
                <a:solidFill>
                  <a:srgbClr val="15213F"/>
                </a:solidFill>
                <a:latin typeface="Roboto" pitchFamily="34" charset="0"/>
                <a:ea typeface="Roboto" pitchFamily="34" charset="-122"/>
                <a:cs typeface="Roboto" pitchFamily="34" charset="-120"/>
              </a:rPr>
              <a:t> for case-insensitive search, </a:t>
            </a:r>
            <a:r>
              <a:rPr lang="en-US" sz="1550" dirty="0">
                <a:solidFill>
                  <a:srgbClr val="15213F"/>
                </a:solidFill>
                <a:highlight>
                  <a:srgbClr val="EEEFF1"/>
                </a:highlight>
                <a:latin typeface="Consolas" pitchFamily="34" charset="0"/>
                <a:ea typeface="Consolas" pitchFamily="34" charset="-122"/>
                <a:cs typeface="Consolas" pitchFamily="34" charset="-120"/>
              </a:rPr>
              <a:t>-v</a:t>
            </a:r>
            <a:r>
              <a:rPr lang="en-US" sz="1550" dirty="0">
                <a:solidFill>
                  <a:srgbClr val="15213F"/>
                </a:solidFill>
                <a:latin typeface="Roboto" pitchFamily="34" charset="0"/>
                <a:ea typeface="Roboto" pitchFamily="34" charset="-122"/>
                <a:cs typeface="Roboto" pitchFamily="34" charset="-120"/>
              </a:rPr>
              <a:t> to invert matches, and </a:t>
            </a:r>
            <a:r>
              <a:rPr lang="en-US" sz="1550" dirty="0">
                <a:solidFill>
                  <a:srgbClr val="15213F"/>
                </a:solidFill>
                <a:highlight>
                  <a:srgbClr val="EEEFF1"/>
                </a:highlight>
                <a:latin typeface="Consolas" pitchFamily="34" charset="0"/>
                <a:ea typeface="Consolas" pitchFamily="34" charset="-122"/>
                <a:cs typeface="Consolas" pitchFamily="34" charset="-120"/>
              </a:rPr>
              <a:t>-A 3</a:t>
            </a:r>
            <a:r>
              <a:rPr lang="en-US" sz="1550" dirty="0">
                <a:solidFill>
                  <a:srgbClr val="15213F"/>
                </a:solidFill>
                <a:latin typeface="Roboto" pitchFamily="34" charset="0"/>
                <a:ea typeface="Roboto" pitchFamily="34" charset="-122"/>
                <a:cs typeface="Roboto" pitchFamily="34" charset="-120"/>
              </a:rPr>
              <a:t> to show 3 lines after each match.</a:t>
            </a:r>
            <a:endParaRPr lang="en-US" sz="1550" dirty="0"/>
          </a:p>
        </p:txBody>
      </p:sp>
      <p:sp>
        <p:nvSpPr>
          <p:cNvPr id="12" name="Shape 9"/>
          <p:cNvSpPr/>
          <p:nvPr/>
        </p:nvSpPr>
        <p:spPr>
          <a:xfrm>
            <a:off x="5207437" y="2793087"/>
            <a:ext cx="4215408" cy="3536275"/>
          </a:xfrm>
          <a:prstGeom prst="roundRect">
            <a:avLst>
              <a:gd name="adj" fmla="val 3103"/>
            </a:avLst>
          </a:prstGeom>
          <a:solidFill>
            <a:srgbClr val="FBFCFE"/>
          </a:solidFill>
          <a:ln w="22860">
            <a:solidFill>
              <a:srgbClr val="CFD2D8"/>
            </a:solidFill>
            <a:prstDash val="solid"/>
          </a:ln>
        </p:spPr>
      </p:sp>
      <p:pic>
        <p:nvPicPr>
          <p:cNvPr id="13" name="Image 1" descr="preencoded.png"/>
          <p:cNvPicPr>
            <a:picLocks noChangeAspect="1"/>
          </p:cNvPicPr>
          <p:nvPr/>
        </p:nvPicPr>
        <p:blipFill>
          <a:blip r:embed="rId3"/>
          <a:stretch>
            <a:fillRect/>
          </a:stretch>
        </p:blipFill>
        <p:spPr>
          <a:xfrm>
            <a:off x="5184577" y="2793087"/>
            <a:ext cx="91440" cy="3536275"/>
          </a:xfrm>
          <a:prstGeom prst="rect">
            <a:avLst/>
          </a:prstGeom>
        </p:spPr>
      </p:pic>
      <p:sp>
        <p:nvSpPr>
          <p:cNvPr id="14" name="Text 10"/>
          <p:cNvSpPr/>
          <p:nvPr/>
        </p:nvSpPr>
        <p:spPr>
          <a:xfrm>
            <a:off x="5497235" y="3014305"/>
            <a:ext cx="3346252"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awk - Extract Specific Fields</a:t>
            </a:r>
            <a:endParaRPr lang="en-US" sz="1950" dirty="0"/>
          </a:p>
        </p:txBody>
      </p:sp>
      <p:sp>
        <p:nvSpPr>
          <p:cNvPr id="15" name="Text 11"/>
          <p:cNvSpPr/>
          <p:nvPr/>
        </p:nvSpPr>
        <p:spPr>
          <a:xfrm>
            <a:off x="5497235" y="3443526"/>
            <a:ext cx="370439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Pull IP addresses from failed attempts:</a:t>
            </a:r>
            <a:endParaRPr lang="en-US" sz="1550" dirty="0"/>
          </a:p>
        </p:txBody>
      </p:sp>
      <p:sp>
        <p:nvSpPr>
          <p:cNvPr id="16" name="Shape 12"/>
          <p:cNvSpPr/>
          <p:nvPr/>
        </p:nvSpPr>
        <p:spPr>
          <a:xfrm>
            <a:off x="5497235" y="3984308"/>
            <a:ext cx="3704392" cy="932736"/>
          </a:xfrm>
          <a:prstGeom prst="roundRect">
            <a:avLst>
              <a:gd name="adj" fmla="val 3192"/>
            </a:avLst>
          </a:prstGeom>
          <a:solidFill>
            <a:srgbClr val="EEEFF1"/>
          </a:solidFill>
          <a:ln/>
        </p:spPr>
      </p:sp>
      <p:sp>
        <p:nvSpPr>
          <p:cNvPr id="17" name="Shape 13"/>
          <p:cNvSpPr/>
          <p:nvPr/>
        </p:nvSpPr>
        <p:spPr>
          <a:xfrm>
            <a:off x="5487353" y="3984308"/>
            <a:ext cx="3724156" cy="932736"/>
          </a:xfrm>
          <a:prstGeom prst="roundRect">
            <a:avLst>
              <a:gd name="adj" fmla="val 3192"/>
            </a:avLst>
          </a:prstGeom>
          <a:solidFill>
            <a:srgbClr val="EEEFF1"/>
          </a:solidFill>
          <a:ln/>
        </p:spPr>
      </p:sp>
      <p:sp>
        <p:nvSpPr>
          <p:cNvPr id="18" name="Text 14"/>
          <p:cNvSpPr/>
          <p:nvPr/>
        </p:nvSpPr>
        <p:spPr>
          <a:xfrm>
            <a:off x="5685711" y="4133136"/>
            <a:ext cx="3327440"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grep "Failed" /var/log/auth.log | awk '{print $11}'</a:t>
            </a:r>
            <a:endParaRPr lang="en-US" sz="1550" dirty="0"/>
          </a:p>
        </p:txBody>
      </p:sp>
      <p:sp>
        <p:nvSpPr>
          <p:cNvPr id="19" name="Text 15"/>
          <p:cNvSpPr/>
          <p:nvPr/>
        </p:nvSpPr>
        <p:spPr>
          <a:xfrm>
            <a:off x="5497235" y="5140285"/>
            <a:ext cx="3704392" cy="96023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awk excels at column-based extraction. Each field is accessed via </a:t>
            </a:r>
            <a:r>
              <a:rPr lang="en-US" sz="1550" dirty="0">
                <a:solidFill>
                  <a:srgbClr val="15213F"/>
                </a:solidFill>
                <a:highlight>
                  <a:srgbClr val="EEEFF1"/>
                </a:highlight>
                <a:latin typeface="Consolas" pitchFamily="34" charset="0"/>
                <a:ea typeface="Consolas" pitchFamily="34" charset="-122"/>
                <a:cs typeface="Consolas" pitchFamily="34" charset="-120"/>
              </a:rPr>
              <a:t>$1</a:t>
            </a:r>
            <a:r>
              <a:rPr lang="en-US" sz="1550" dirty="0">
                <a:solidFill>
                  <a:srgbClr val="15213F"/>
                </a:solidFill>
                <a:latin typeface="Roboto" pitchFamily="34" charset="0"/>
                <a:ea typeface="Roboto" pitchFamily="34" charset="-122"/>
                <a:cs typeface="Roboto" pitchFamily="34" charset="-120"/>
              </a:rPr>
              <a:t>, </a:t>
            </a:r>
            <a:r>
              <a:rPr lang="en-US" sz="1550" dirty="0">
                <a:solidFill>
                  <a:srgbClr val="15213F"/>
                </a:solidFill>
                <a:highlight>
                  <a:srgbClr val="EEEFF1"/>
                </a:highlight>
                <a:latin typeface="Consolas" pitchFamily="34" charset="0"/>
                <a:ea typeface="Consolas" pitchFamily="34" charset="-122"/>
                <a:cs typeface="Consolas" pitchFamily="34" charset="-120"/>
              </a:rPr>
              <a:t>$2</a:t>
            </a:r>
            <a:r>
              <a:rPr lang="en-US" sz="1550" dirty="0">
                <a:solidFill>
                  <a:srgbClr val="15213F"/>
                </a:solidFill>
                <a:latin typeface="Roboto" pitchFamily="34" charset="0"/>
                <a:ea typeface="Roboto" pitchFamily="34" charset="-122"/>
                <a:cs typeface="Roboto" pitchFamily="34" charset="-120"/>
              </a:rPr>
              <a:t>, etc., making it perfect for structured logs.</a:t>
            </a:r>
            <a:endParaRPr lang="en-US" sz="1550" dirty="0"/>
          </a:p>
        </p:txBody>
      </p:sp>
      <p:sp>
        <p:nvSpPr>
          <p:cNvPr id="20" name="Shape 16"/>
          <p:cNvSpPr/>
          <p:nvPr/>
        </p:nvSpPr>
        <p:spPr>
          <a:xfrm>
            <a:off x="9621203" y="2793087"/>
            <a:ext cx="4215289" cy="3536275"/>
          </a:xfrm>
          <a:prstGeom prst="roundRect">
            <a:avLst>
              <a:gd name="adj" fmla="val 3103"/>
            </a:avLst>
          </a:prstGeom>
          <a:solidFill>
            <a:srgbClr val="FBFCFE"/>
          </a:solidFill>
          <a:ln w="22860">
            <a:solidFill>
              <a:srgbClr val="CFD2D8"/>
            </a:solidFill>
            <a:prstDash val="solid"/>
          </a:ln>
        </p:spPr>
      </p:sp>
      <p:pic>
        <p:nvPicPr>
          <p:cNvPr id="21" name="Image 2" descr="preencoded.png"/>
          <p:cNvPicPr>
            <a:picLocks noChangeAspect="1"/>
          </p:cNvPicPr>
          <p:nvPr/>
        </p:nvPicPr>
        <p:blipFill>
          <a:blip r:embed="rId3"/>
          <a:stretch>
            <a:fillRect/>
          </a:stretch>
        </p:blipFill>
        <p:spPr>
          <a:xfrm>
            <a:off x="9598343" y="2793087"/>
            <a:ext cx="91440" cy="3536275"/>
          </a:xfrm>
          <a:prstGeom prst="rect">
            <a:avLst/>
          </a:prstGeom>
        </p:spPr>
      </p:pic>
      <p:sp>
        <p:nvSpPr>
          <p:cNvPr id="22" name="Text 17"/>
          <p:cNvSpPr/>
          <p:nvPr/>
        </p:nvSpPr>
        <p:spPr>
          <a:xfrm>
            <a:off x="9911001" y="3014305"/>
            <a:ext cx="3337203"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cut - Simple Field Extraction</a:t>
            </a:r>
            <a:endParaRPr lang="en-US" sz="1950" dirty="0"/>
          </a:p>
        </p:txBody>
      </p:sp>
      <p:sp>
        <p:nvSpPr>
          <p:cNvPr id="23" name="Text 18"/>
          <p:cNvSpPr/>
          <p:nvPr/>
        </p:nvSpPr>
        <p:spPr>
          <a:xfrm>
            <a:off x="9911001" y="3443526"/>
            <a:ext cx="37042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Extract usernames from log entries:</a:t>
            </a:r>
            <a:endParaRPr lang="en-US" sz="1550" dirty="0"/>
          </a:p>
        </p:txBody>
      </p:sp>
      <p:sp>
        <p:nvSpPr>
          <p:cNvPr id="24" name="Shape 19"/>
          <p:cNvSpPr/>
          <p:nvPr/>
        </p:nvSpPr>
        <p:spPr>
          <a:xfrm>
            <a:off x="9911001" y="3984308"/>
            <a:ext cx="3704273" cy="932736"/>
          </a:xfrm>
          <a:prstGeom prst="roundRect">
            <a:avLst>
              <a:gd name="adj" fmla="val 3192"/>
            </a:avLst>
          </a:prstGeom>
          <a:solidFill>
            <a:srgbClr val="EEEFF1"/>
          </a:solidFill>
          <a:ln/>
        </p:spPr>
      </p:sp>
      <p:sp>
        <p:nvSpPr>
          <p:cNvPr id="25" name="Shape 20"/>
          <p:cNvSpPr/>
          <p:nvPr/>
        </p:nvSpPr>
        <p:spPr>
          <a:xfrm>
            <a:off x="9901118" y="3984308"/>
            <a:ext cx="3724037" cy="932736"/>
          </a:xfrm>
          <a:prstGeom prst="roundRect">
            <a:avLst>
              <a:gd name="adj" fmla="val 3192"/>
            </a:avLst>
          </a:prstGeom>
          <a:solidFill>
            <a:srgbClr val="EEEFF1"/>
          </a:solidFill>
          <a:ln/>
        </p:spPr>
      </p:sp>
      <p:sp>
        <p:nvSpPr>
          <p:cNvPr id="26" name="Text 21"/>
          <p:cNvSpPr/>
          <p:nvPr/>
        </p:nvSpPr>
        <p:spPr>
          <a:xfrm>
            <a:off x="10099477" y="4133136"/>
            <a:ext cx="33273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grep "Failed" /var/log/auth.log | cut -d' ' -f 9</a:t>
            </a:r>
            <a:endParaRPr lang="en-US" sz="1550" dirty="0"/>
          </a:p>
        </p:txBody>
      </p:sp>
      <p:sp>
        <p:nvSpPr>
          <p:cNvPr id="27" name="Text 22"/>
          <p:cNvSpPr/>
          <p:nvPr/>
        </p:nvSpPr>
        <p:spPr>
          <a:xfrm>
            <a:off x="9911001" y="5140285"/>
            <a:ext cx="3704273" cy="6503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 </a:t>
            </a:r>
            <a:r>
              <a:rPr lang="en-US" sz="1550" dirty="0">
                <a:solidFill>
                  <a:srgbClr val="15213F"/>
                </a:solidFill>
                <a:highlight>
                  <a:srgbClr val="EEEFF1"/>
                </a:highlight>
                <a:latin typeface="Consolas" pitchFamily="34" charset="0"/>
                <a:ea typeface="Consolas" pitchFamily="34" charset="-122"/>
                <a:cs typeface="Consolas" pitchFamily="34" charset="-120"/>
              </a:rPr>
              <a:t>-d</a:t>
            </a:r>
            <a:r>
              <a:rPr lang="en-US" sz="1550" dirty="0">
                <a:solidFill>
                  <a:srgbClr val="15213F"/>
                </a:solidFill>
                <a:latin typeface="Roboto" pitchFamily="34" charset="0"/>
                <a:ea typeface="Roboto" pitchFamily="34" charset="-122"/>
                <a:cs typeface="Roboto" pitchFamily="34" charset="-120"/>
              </a:rPr>
              <a:t> flag sets the delimiter (space in this case), and </a:t>
            </a:r>
            <a:r>
              <a:rPr lang="en-US" sz="1550" dirty="0">
                <a:solidFill>
                  <a:srgbClr val="15213F"/>
                </a:solidFill>
                <a:highlight>
                  <a:srgbClr val="EEEFF1"/>
                </a:highlight>
                <a:latin typeface="Consolas" pitchFamily="34" charset="0"/>
                <a:ea typeface="Consolas" pitchFamily="34" charset="-122"/>
                <a:cs typeface="Consolas" pitchFamily="34" charset="-120"/>
              </a:rPr>
              <a:t>-f 9</a:t>
            </a:r>
            <a:r>
              <a:rPr lang="en-US" sz="1550" dirty="0">
                <a:solidFill>
                  <a:srgbClr val="15213F"/>
                </a:solidFill>
                <a:latin typeface="Roboto" pitchFamily="34" charset="0"/>
                <a:ea typeface="Roboto" pitchFamily="34" charset="-122"/>
                <a:cs typeface="Roboto" pitchFamily="34" charset="-120"/>
              </a:rPr>
              <a:t> selects the 9th field.</a:t>
            </a:r>
            <a:endParaRPr lang="en-US" sz="1550" dirty="0"/>
          </a:p>
        </p:txBody>
      </p:sp>
      <p:sp>
        <p:nvSpPr>
          <p:cNvPr id="28" name="Text 23"/>
          <p:cNvSpPr/>
          <p:nvPr/>
        </p:nvSpPr>
        <p:spPr>
          <a:xfrm>
            <a:off x="793790" y="655260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Combine these tools in pipelines to build sophisticated log analysis workflows. For example, count failed logins per IP: grep "Failed password" /var/log/auth.log | awk '{print $11}' | sort | uniq -c | sort -nr</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76883"/>
            <a:ext cx="1001744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Advanced Monitoring with auditd &amp; SIEM Integration</a:t>
            </a:r>
            <a:endParaRPr lang="en-US" sz="3100" dirty="0"/>
          </a:p>
        </p:txBody>
      </p:sp>
      <p:sp>
        <p:nvSpPr>
          <p:cNvPr id="3" name="Text 1"/>
          <p:cNvSpPr/>
          <p:nvPr/>
        </p:nvSpPr>
        <p:spPr>
          <a:xfrm>
            <a:off x="793790" y="1769031"/>
            <a:ext cx="3292673"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Monitoring with auditd</a:t>
            </a:r>
            <a:endParaRPr lang="en-US" sz="2300" dirty="0"/>
          </a:p>
        </p:txBody>
      </p:sp>
      <p:sp>
        <p:nvSpPr>
          <p:cNvPr id="4" name="Text 2"/>
          <p:cNvSpPr/>
          <p:nvPr/>
        </p:nvSpPr>
        <p:spPr>
          <a:xfrm>
            <a:off x="793790" y="2339459"/>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 Linux Audit Framework (</a:t>
            </a:r>
            <a:r>
              <a:rPr lang="en-US" sz="1550" b="1" dirty="0">
                <a:solidFill>
                  <a:srgbClr val="15213F"/>
                </a:solidFill>
                <a:latin typeface="Roboto" pitchFamily="34" charset="0"/>
                <a:ea typeface="Roboto" pitchFamily="34" charset="-122"/>
                <a:cs typeface="Roboto" pitchFamily="34" charset="-120"/>
              </a:rPr>
              <a:t>auditd</a:t>
            </a:r>
            <a:r>
              <a:rPr lang="en-US" sz="1550" dirty="0">
                <a:solidFill>
                  <a:srgbClr val="15213F"/>
                </a:solidFill>
                <a:latin typeface="Roboto" pitchFamily="34" charset="0"/>
                <a:ea typeface="Roboto" pitchFamily="34" charset="-122"/>
                <a:cs typeface="Roboto" pitchFamily="34" charset="-120"/>
              </a:rPr>
              <a:t>) provides kernel-level monitoring of file access, system calls, and privileged operations. It's essential for compliance and detecting unauthorized changes.</a:t>
            </a:r>
            <a:endParaRPr lang="en-US" sz="1550" dirty="0"/>
          </a:p>
        </p:txBody>
      </p:sp>
      <p:sp>
        <p:nvSpPr>
          <p:cNvPr id="5" name="Text 3"/>
          <p:cNvSpPr/>
          <p:nvPr/>
        </p:nvSpPr>
        <p:spPr>
          <a:xfrm>
            <a:off x="793790" y="3502946"/>
            <a:ext cx="6279356"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Enable and configure audit rules:</a:t>
            </a:r>
            <a:endParaRPr lang="en-US" sz="1550" dirty="0"/>
          </a:p>
        </p:txBody>
      </p:sp>
      <p:sp>
        <p:nvSpPr>
          <p:cNvPr id="6" name="Shape 4"/>
          <p:cNvSpPr/>
          <p:nvPr/>
        </p:nvSpPr>
        <p:spPr>
          <a:xfrm>
            <a:off x="793790" y="4011454"/>
            <a:ext cx="6279356" cy="1250275"/>
          </a:xfrm>
          <a:prstGeom prst="roundRect">
            <a:avLst>
              <a:gd name="adj" fmla="val 2381"/>
            </a:avLst>
          </a:prstGeom>
          <a:solidFill>
            <a:srgbClr val="EEEFF1"/>
          </a:solidFill>
          <a:ln/>
        </p:spPr>
      </p:sp>
      <p:sp>
        <p:nvSpPr>
          <p:cNvPr id="7" name="Shape 5"/>
          <p:cNvSpPr/>
          <p:nvPr/>
        </p:nvSpPr>
        <p:spPr>
          <a:xfrm>
            <a:off x="783908" y="4011454"/>
            <a:ext cx="6299121" cy="1250275"/>
          </a:xfrm>
          <a:prstGeom prst="roundRect">
            <a:avLst>
              <a:gd name="adj" fmla="val 2381"/>
            </a:avLst>
          </a:prstGeom>
          <a:solidFill>
            <a:srgbClr val="EEEFF1"/>
          </a:solidFill>
          <a:ln/>
        </p:spPr>
      </p:sp>
      <p:sp>
        <p:nvSpPr>
          <p:cNvPr id="8" name="Text 6"/>
          <p:cNvSpPr/>
          <p:nvPr/>
        </p:nvSpPr>
        <p:spPr>
          <a:xfrm>
            <a:off x="982266" y="4160282"/>
            <a:ext cx="5902404"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sudo systemctl enable auditd --nowsudo auditctl -w /etc/passwd -p warsudo ausearch -f /etc/passwd</a:t>
            </a:r>
            <a:endParaRPr lang="en-US" sz="1550" dirty="0"/>
          </a:p>
        </p:txBody>
      </p:sp>
      <p:sp>
        <p:nvSpPr>
          <p:cNvPr id="9" name="Text 7"/>
          <p:cNvSpPr/>
          <p:nvPr/>
        </p:nvSpPr>
        <p:spPr>
          <a:xfrm>
            <a:off x="793790" y="5484971"/>
            <a:ext cx="6279356" cy="9678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 </a:t>
            </a:r>
            <a:r>
              <a:rPr lang="en-US" sz="1550" dirty="0">
                <a:solidFill>
                  <a:srgbClr val="15213F"/>
                </a:solidFill>
                <a:highlight>
                  <a:srgbClr val="EEEFF1"/>
                </a:highlight>
                <a:latin typeface="Consolas" pitchFamily="34" charset="0"/>
                <a:ea typeface="Consolas" pitchFamily="34" charset="-122"/>
                <a:cs typeface="Consolas" pitchFamily="34" charset="-120"/>
              </a:rPr>
              <a:t>-w</a:t>
            </a:r>
            <a:r>
              <a:rPr lang="en-US" sz="1550" dirty="0">
                <a:solidFill>
                  <a:srgbClr val="15213F"/>
                </a:solidFill>
                <a:latin typeface="Roboto" pitchFamily="34" charset="0"/>
                <a:ea typeface="Roboto" pitchFamily="34" charset="-122"/>
                <a:cs typeface="Roboto" pitchFamily="34" charset="-120"/>
              </a:rPr>
              <a:t> flag watches a file, while </a:t>
            </a:r>
            <a:r>
              <a:rPr lang="en-US" sz="1550" dirty="0">
                <a:solidFill>
                  <a:srgbClr val="15213F"/>
                </a:solidFill>
                <a:highlight>
                  <a:srgbClr val="EEEFF1"/>
                </a:highlight>
                <a:latin typeface="Consolas" pitchFamily="34" charset="0"/>
                <a:ea typeface="Consolas" pitchFamily="34" charset="-122"/>
                <a:cs typeface="Consolas" pitchFamily="34" charset="-120"/>
              </a:rPr>
              <a:t>-p war</a:t>
            </a:r>
            <a:r>
              <a:rPr lang="en-US" sz="1550" dirty="0">
                <a:solidFill>
                  <a:srgbClr val="15213F"/>
                </a:solidFill>
                <a:latin typeface="Roboto" pitchFamily="34" charset="0"/>
                <a:ea typeface="Roboto" pitchFamily="34" charset="-122"/>
                <a:cs typeface="Roboto" pitchFamily="34" charset="-120"/>
              </a:rPr>
              <a:t> monitors write, append, and attribute changes. Use </a:t>
            </a:r>
            <a:r>
              <a:rPr lang="en-US" sz="1550" dirty="0">
                <a:solidFill>
                  <a:srgbClr val="15213F"/>
                </a:solidFill>
                <a:highlight>
                  <a:srgbClr val="EEEFF1"/>
                </a:highlight>
                <a:latin typeface="Consolas" pitchFamily="34" charset="0"/>
                <a:ea typeface="Consolas" pitchFamily="34" charset="-122"/>
                <a:cs typeface="Consolas" pitchFamily="34" charset="-120"/>
              </a:rPr>
              <a:t>ausearch</a:t>
            </a:r>
            <a:r>
              <a:rPr lang="en-US" sz="1550" dirty="0">
                <a:solidFill>
                  <a:srgbClr val="15213F"/>
                </a:solidFill>
                <a:latin typeface="Roboto" pitchFamily="34" charset="0"/>
                <a:ea typeface="Roboto" pitchFamily="34" charset="-122"/>
                <a:cs typeface="Roboto" pitchFamily="34" charset="-120"/>
              </a:rPr>
              <a:t> to query audit logs for specific files or events.</a:t>
            </a:r>
            <a:endParaRPr lang="en-US" sz="1550" dirty="0"/>
          </a:p>
        </p:txBody>
      </p:sp>
      <p:sp>
        <p:nvSpPr>
          <p:cNvPr id="10" name="Text 8"/>
          <p:cNvSpPr/>
          <p:nvPr/>
        </p:nvSpPr>
        <p:spPr>
          <a:xfrm>
            <a:off x="793790" y="6631424"/>
            <a:ext cx="6279356" cy="64269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Real-world example:</a:t>
            </a:r>
            <a:r>
              <a:rPr lang="en-US" sz="1550" dirty="0">
                <a:solidFill>
                  <a:srgbClr val="15213F"/>
                </a:solidFill>
                <a:latin typeface="Roboto" pitchFamily="34" charset="0"/>
                <a:ea typeface="Roboto" pitchFamily="34" charset="-122"/>
                <a:cs typeface="Roboto" pitchFamily="34" charset="-120"/>
              </a:rPr>
              <a:t> Detect when someone attempts to modify </a:t>
            </a:r>
            <a:r>
              <a:rPr lang="en-US" sz="1550" dirty="0">
                <a:solidFill>
                  <a:srgbClr val="15213F"/>
                </a:solidFill>
                <a:highlight>
                  <a:srgbClr val="EEEFF1"/>
                </a:highlight>
                <a:latin typeface="Consolas" pitchFamily="34" charset="0"/>
                <a:ea typeface="Consolas" pitchFamily="34" charset="-122"/>
                <a:cs typeface="Consolas" pitchFamily="34" charset="-120"/>
              </a:rPr>
              <a:t>/etc/passwd</a:t>
            </a:r>
            <a:r>
              <a:rPr lang="en-US" sz="1550" dirty="0">
                <a:solidFill>
                  <a:srgbClr val="15213F"/>
                </a:solidFill>
                <a:latin typeface="Roboto" pitchFamily="34" charset="0"/>
                <a:ea typeface="Roboto" pitchFamily="34" charset="-122"/>
                <a:cs typeface="Roboto" pitchFamily="34" charset="-120"/>
              </a:rPr>
              <a:t> or escalate privileges via </a:t>
            </a:r>
            <a:r>
              <a:rPr lang="en-US" sz="1550" dirty="0">
                <a:solidFill>
                  <a:srgbClr val="15213F"/>
                </a:solidFill>
                <a:highlight>
                  <a:srgbClr val="EEEFF1"/>
                </a:highlight>
                <a:latin typeface="Consolas" pitchFamily="34" charset="0"/>
                <a:ea typeface="Consolas" pitchFamily="34" charset="-122"/>
                <a:cs typeface="Consolas" pitchFamily="34" charset="-120"/>
              </a:rPr>
              <a:t>sudo</a:t>
            </a:r>
            <a:r>
              <a:rPr lang="en-US" sz="1550" dirty="0">
                <a:solidFill>
                  <a:srgbClr val="15213F"/>
                </a:solidFill>
                <a:latin typeface="Roboto" pitchFamily="34" charset="0"/>
                <a:ea typeface="Roboto" pitchFamily="34" charset="-122"/>
                <a:cs typeface="Roboto" pitchFamily="34" charset="-120"/>
              </a:rPr>
              <a:t>.</a:t>
            </a:r>
            <a:endParaRPr lang="en-US" sz="1550" dirty="0"/>
          </a:p>
        </p:txBody>
      </p:sp>
      <p:sp>
        <p:nvSpPr>
          <p:cNvPr id="11" name="Text 9"/>
          <p:cNvSpPr/>
          <p:nvPr/>
        </p:nvSpPr>
        <p:spPr>
          <a:xfrm>
            <a:off x="7564874" y="1769031"/>
            <a:ext cx="3403878"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Log Aggregation &amp; SIEM</a:t>
            </a:r>
            <a:endParaRPr lang="en-US" sz="2300" dirty="0"/>
          </a:p>
        </p:txBody>
      </p:sp>
      <p:sp>
        <p:nvSpPr>
          <p:cNvPr id="12" name="Text 10"/>
          <p:cNvSpPr/>
          <p:nvPr/>
        </p:nvSpPr>
        <p:spPr>
          <a:xfrm>
            <a:off x="7564874" y="2339459"/>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Centralized logging is critical for enterprise security. Security Information and Event Management (SIEM) platforms collect logs from multiple hosts, correlate events, and trigger alerts.</a:t>
            </a:r>
            <a:endParaRPr lang="en-US" sz="1550" dirty="0"/>
          </a:p>
        </p:txBody>
      </p:sp>
      <p:sp>
        <p:nvSpPr>
          <p:cNvPr id="13" name="Text 11"/>
          <p:cNvSpPr/>
          <p:nvPr/>
        </p:nvSpPr>
        <p:spPr>
          <a:xfrm>
            <a:off x="7564874" y="3470672"/>
            <a:ext cx="6279356"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Popular SIEM solutions:</a:t>
            </a:r>
            <a:endParaRPr lang="en-US" sz="1550" dirty="0"/>
          </a:p>
        </p:txBody>
      </p:sp>
      <p:sp>
        <p:nvSpPr>
          <p:cNvPr id="14" name="Text 12"/>
          <p:cNvSpPr/>
          <p:nvPr/>
        </p:nvSpPr>
        <p:spPr>
          <a:xfrm>
            <a:off x="7564874" y="396680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ELK Stack</a:t>
            </a:r>
            <a:r>
              <a:rPr lang="en-US" sz="1550" dirty="0">
                <a:solidFill>
                  <a:srgbClr val="15213F"/>
                </a:solidFill>
                <a:latin typeface="Roboto" pitchFamily="34" charset="0"/>
                <a:ea typeface="Roboto" pitchFamily="34" charset="-122"/>
                <a:cs typeface="Roboto" pitchFamily="34" charset="-120"/>
              </a:rPr>
              <a:t> - Elasticsearch, Logstash, Kibana</a:t>
            </a:r>
            <a:endParaRPr lang="en-US" sz="1550" dirty="0"/>
          </a:p>
        </p:txBody>
      </p:sp>
      <p:sp>
        <p:nvSpPr>
          <p:cNvPr id="15" name="Text 13"/>
          <p:cNvSpPr/>
          <p:nvPr/>
        </p:nvSpPr>
        <p:spPr>
          <a:xfrm>
            <a:off x="7564874" y="435375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Splunk</a:t>
            </a:r>
            <a:r>
              <a:rPr lang="en-US" sz="1550" dirty="0">
                <a:solidFill>
                  <a:srgbClr val="15213F"/>
                </a:solidFill>
                <a:latin typeface="Roboto" pitchFamily="34" charset="0"/>
                <a:ea typeface="Roboto" pitchFamily="34" charset="-122"/>
                <a:cs typeface="Roboto" pitchFamily="34" charset="-120"/>
              </a:rPr>
              <a:t> - Commercial, powerful analytics</a:t>
            </a:r>
            <a:endParaRPr lang="en-US" sz="1550" dirty="0"/>
          </a:p>
        </p:txBody>
      </p:sp>
      <p:sp>
        <p:nvSpPr>
          <p:cNvPr id="16" name="Text 14"/>
          <p:cNvSpPr/>
          <p:nvPr/>
        </p:nvSpPr>
        <p:spPr>
          <a:xfrm>
            <a:off x="7564874" y="474071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Graylog</a:t>
            </a:r>
            <a:r>
              <a:rPr lang="en-US" sz="1550" dirty="0">
                <a:solidFill>
                  <a:srgbClr val="15213F"/>
                </a:solidFill>
                <a:latin typeface="Roboto" pitchFamily="34" charset="0"/>
                <a:ea typeface="Roboto" pitchFamily="34" charset="-122"/>
                <a:cs typeface="Roboto" pitchFamily="34" charset="-120"/>
              </a:rPr>
              <a:t> - Open-source, scalable</a:t>
            </a:r>
            <a:endParaRPr lang="en-US" sz="1550" dirty="0"/>
          </a:p>
        </p:txBody>
      </p:sp>
      <p:sp>
        <p:nvSpPr>
          <p:cNvPr id="17" name="Text 15"/>
          <p:cNvSpPr/>
          <p:nvPr/>
        </p:nvSpPr>
        <p:spPr>
          <a:xfrm>
            <a:off x="7564874" y="512766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Wazuh</a:t>
            </a:r>
            <a:r>
              <a:rPr lang="en-US" sz="1550" dirty="0">
                <a:solidFill>
                  <a:srgbClr val="15213F"/>
                </a:solidFill>
                <a:latin typeface="Roboto" pitchFamily="34" charset="0"/>
                <a:ea typeface="Roboto" pitchFamily="34" charset="-122"/>
                <a:cs typeface="Roboto" pitchFamily="34" charset="-120"/>
              </a:rPr>
              <a:t> - Free, host-based intrusion detection</a:t>
            </a:r>
            <a:endParaRPr lang="en-US" sz="1550" dirty="0"/>
          </a:p>
        </p:txBody>
      </p:sp>
      <p:sp>
        <p:nvSpPr>
          <p:cNvPr id="18" name="Text 16"/>
          <p:cNvSpPr/>
          <p:nvPr/>
        </p:nvSpPr>
        <p:spPr>
          <a:xfrm>
            <a:off x="7564874" y="5623798"/>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Why centralize?</a:t>
            </a:r>
            <a:r>
              <a:rPr lang="en-US" sz="1550" dirty="0">
                <a:solidFill>
                  <a:srgbClr val="15213F"/>
                </a:solidFill>
                <a:latin typeface="Roboto" pitchFamily="34" charset="0"/>
                <a:ea typeface="Roboto" pitchFamily="34" charset="-122"/>
                <a:cs typeface="Roboto" pitchFamily="34" charset="-120"/>
              </a:rPr>
              <a:t> Single pane of glass for incident response, automated alerting, and compliance reporting. Linux servers forward logs via rsyslog or agents to a central dashboard.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70309"/>
            <a:ext cx="7093506"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Essential Log Files &amp; Security Utilities</a:t>
            </a:r>
            <a:endParaRPr lang="en-US" sz="3100" dirty="0"/>
          </a:p>
        </p:txBody>
      </p:sp>
      <p:sp>
        <p:nvSpPr>
          <p:cNvPr id="3" name="Shape 1"/>
          <p:cNvSpPr/>
          <p:nvPr/>
        </p:nvSpPr>
        <p:spPr>
          <a:xfrm>
            <a:off x="793790" y="1463278"/>
            <a:ext cx="6422231" cy="6196013"/>
          </a:xfrm>
          <a:prstGeom prst="roundRect">
            <a:avLst>
              <a:gd name="adj" fmla="val 480"/>
            </a:avLst>
          </a:prstGeom>
          <a:solidFill>
            <a:srgbClr val="E9ECF2"/>
          </a:solidFill>
          <a:ln/>
        </p:spPr>
      </p:sp>
      <p:pic>
        <p:nvPicPr>
          <p:cNvPr id="4" name="Image 0" descr="preencoded.png"/>
          <p:cNvPicPr>
            <a:picLocks noChangeAspect="1"/>
          </p:cNvPicPr>
          <p:nvPr/>
        </p:nvPicPr>
        <p:blipFill>
          <a:blip r:embed="rId3"/>
          <a:stretch>
            <a:fillRect/>
          </a:stretch>
        </p:blipFill>
        <p:spPr>
          <a:xfrm>
            <a:off x="992148" y="1661636"/>
            <a:ext cx="595313" cy="595313"/>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5859" y="1825228"/>
            <a:ext cx="267891" cy="267891"/>
          </a:xfrm>
          <a:prstGeom prst="rect">
            <a:avLst/>
          </a:prstGeom>
        </p:spPr>
      </p:pic>
      <p:sp>
        <p:nvSpPr>
          <p:cNvPr id="6" name="Text 2"/>
          <p:cNvSpPr/>
          <p:nvPr/>
        </p:nvSpPr>
        <p:spPr>
          <a:xfrm>
            <a:off x="992148" y="2455307"/>
            <a:ext cx="2766774"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Standard Log Locations</a:t>
            </a:r>
            <a:endParaRPr lang="en-US" sz="1950" dirty="0"/>
          </a:p>
        </p:txBody>
      </p:sp>
      <p:sp>
        <p:nvSpPr>
          <p:cNvPr id="7" name="Shape 3"/>
          <p:cNvSpPr/>
          <p:nvPr/>
        </p:nvSpPr>
        <p:spPr>
          <a:xfrm>
            <a:off x="1289804" y="2988707"/>
            <a:ext cx="5727859" cy="2869763"/>
          </a:xfrm>
          <a:prstGeom prst="roundRect">
            <a:avLst>
              <a:gd name="adj" fmla="val 1037"/>
            </a:avLst>
          </a:prstGeom>
          <a:noFill/>
          <a:ln w="7620">
            <a:solidFill>
              <a:srgbClr val="000000">
                <a:alpha val="8000"/>
              </a:srgbClr>
            </a:solidFill>
            <a:prstDash val="solid"/>
          </a:ln>
        </p:spPr>
      </p:sp>
      <p:sp>
        <p:nvSpPr>
          <p:cNvPr id="8" name="Shape 4"/>
          <p:cNvSpPr/>
          <p:nvPr/>
        </p:nvSpPr>
        <p:spPr>
          <a:xfrm>
            <a:off x="1297424" y="2996327"/>
            <a:ext cx="5712619" cy="570905"/>
          </a:xfrm>
          <a:prstGeom prst="rect">
            <a:avLst/>
          </a:prstGeom>
          <a:solidFill>
            <a:srgbClr val="FFFFFF">
              <a:alpha val="4000"/>
            </a:srgbClr>
          </a:solidFill>
          <a:ln/>
        </p:spPr>
      </p:sp>
      <p:sp>
        <p:nvSpPr>
          <p:cNvPr id="9" name="Text 5"/>
          <p:cNvSpPr/>
          <p:nvPr/>
        </p:nvSpPr>
        <p:spPr>
          <a:xfrm>
            <a:off x="1495782" y="3123009"/>
            <a:ext cx="245578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Type</a:t>
            </a:r>
            <a:endParaRPr lang="en-US" sz="1550" dirty="0"/>
          </a:p>
        </p:txBody>
      </p:sp>
      <p:sp>
        <p:nvSpPr>
          <p:cNvPr id="10" name="Text 6"/>
          <p:cNvSpPr/>
          <p:nvPr/>
        </p:nvSpPr>
        <p:spPr>
          <a:xfrm>
            <a:off x="4355902" y="3123009"/>
            <a:ext cx="245578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File Path</a:t>
            </a:r>
            <a:endParaRPr lang="en-US" sz="1550" dirty="0"/>
          </a:p>
        </p:txBody>
      </p:sp>
      <p:sp>
        <p:nvSpPr>
          <p:cNvPr id="11" name="Shape 7"/>
          <p:cNvSpPr/>
          <p:nvPr/>
        </p:nvSpPr>
        <p:spPr>
          <a:xfrm>
            <a:off x="1297424" y="3567232"/>
            <a:ext cx="5712619" cy="570905"/>
          </a:xfrm>
          <a:prstGeom prst="rect">
            <a:avLst/>
          </a:prstGeom>
          <a:solidFill>
            <a:srgbClr val="000000">
              <a:alpha val="4000"/>
            </a:srgbClr>
          </a:solidFill>
          <a:ln/>
        </p:spPr>
      </p:sp>
      <p:sp>
        <p:nvSpPr>
          <p:cNvPr id="12" name="Text 8"/>
          <p:cNvSpPr/>
          <p:nvPr/>
        </p:nvSpPr>
        <p:spPr>
          <a:xfrm>
            <a:off x="1495782" y="3693914"/>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Authentication</a:t>
            </a:r>
            <a:endParaRPr lang="en-US" sz="1550" dirty="0"/>
          </a:p>
        </p:txBody>
      </p:sp>
      <p:sp>
        <p:nvSpPr>
          <p:cNvPr id="13" name="Text 9"/>
          <p:cNvSpPr/>
          <p:nvPr/>
        </p:nvSpPr>
        <p:spPr>
          <a:xfrm>
            <a:off x="4355902" y="3693914"/>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/var/log/auth.log</a:t>
            </a:r>
            <a:endParaRPr lang="en-US" sz="1550" dirty="0"/>
          </a:p>
        </p:txBody>
      </p:sp>
      <p:sp>
        <p:nvSpPr>
          <p:cNvPr id="14" name="Shape 10"/>
          <p:cNvSpPr/>
          <p:nvPr/>
        </p:nvSpPr>
        <p:spPr>
          <a:xfrm>
            <a:off x="1297424" y="4138136"/>
            <a:ext cx="5712619" cy="570905"/>
          </a:xfrm>
          <a:prstGeom prst="rect">
            <a:avLst/>
          </a:prstGeom>
          <a:solidFill>
            <a:srgbClr val="FFFFFF">
              <a:alpha val="4000"/>
            </a:srgbClr>
          </a:solidFill>
          <a:ln/>
        </p:spPr>
      </p:sp>
      <p:sp>
        <p:nvSpPr>
          <p:cNvPr id="15" name="Text 11"/>
          <p:cNvSpPr/>
          <p:nvPr/>
        </p:nvSpPr>
        <p:spPr>
          <a:xfrm>
            <a:off x="1495782" y="4264819"/>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Kernel</a:t>
            </a:r>
            <a:endParaRPr lang="en-US" sz="1550" dirty="0"/>
          </a:p>
        </p:txBody>
      </p:sp>
      <p:sp>
        <p:nvSpPr>
          <p:cNvPr id="16" name="Text 12"/>
          <p:cNvSpPr/>
          <p:nvPr/>
        </p:nvSpPr>
        <p:spPr>
          <a:xfrm>
            <a:off x="4355902" y="4264819"/>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/var/log/kern.log</a:t>
            </a:r>
            <a:endParaRPr lang="en-US" sz="1550" dirty="0"/>
          </a:p>
        </p:txBody>
      </p:sp>
      <p:sp>
        <p:nvSpPr>
          <p:cNvPr id="17" name="Shape 13"/>
          <p:cNvSpPr/>
          <p:nvPr/>
        </p:nvSpPr>
        <p:spPr>
          <a:xfrm>
            <a:off x="1297424" y="4709041"/>
            <a:ext cx="5712619" cy="570905"/>
          </a:xfrm>
          <a:prstGeom prst="rect">
            <a:avLst/>
          </a:prstGeom>
          <a:solidFill>
            <a:srgbClr val="000000">
              <a:alpha val="4000"/>
            </a:srgbClr>
          </a:solidFill>
          <a:ln/>
        </p:spPr>
      </p:sp>
      <p:sp>
        <p:nvSpPr>
          <p:cNvPr id="18" name="Text 14"/>
          <p:cNvSpPr/>
          <p:nvPr/>
        </p:nvSpPr>
        <p:spPr>
          <a:xfrm>
            <a:off x="1495782" y="4835723"/>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Boot</a:t>
            </a:r>
            <a:endParaRPr lang="en-US" sz="1550" dirty="0"/>
          </a:p>
        </p:txBody>
      </p:sp>
      <p:sp>
        <p:nvSpPr>
          <p:cNvPr id="19" name="Text 15"/>
          <p:cNvSpPr/>
          <p:nvPr/>
        </p:nvSpPr>
        <p:spPr>
          <a:xfrm>
            <a:off x="4355902" y="4835723"/>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/var/log/boot.log</a:t>
            </a:r>
            <a:endParaRPr lang="en-US" sz="1550" dirty="0"/>
          </a:p>
        </p:txBody>
      </p:sp>
      <p:sp>
        <p:nvSpPr>
          <p:cNvPr id="20" name="Shape 16"/>
          <p:cNvSpPr/>
          <p:nvPr/>
        </p:nvSpPr>
        <p:spPr>
          <a:xfrm>
            <a:off x="1297424" y="5279946"/>
            <a:ext cx="5712619" cy="570905"/>
          </a:xfrm>
          <a:prstGeom prst="rect">
            <a:avLst/>
          </a:prstGeom>
          <a:solidFill>
            <a:srgbClr val="FFFFFF">
              <a:alpha val="4000"/>
            </a:srgbClr>
          </a:solidFill>
          <a:ln/>
        </p:spPr>
      </p:sp>
      <p:sp>
        <p:nvSpPr>
          <p:cNvPr id="21" name="Text 17"/>
          <p:cNvSpPr/>
          <p:nvPr/>
        </p:nvSpPr>
        <p:spPr>
          <a:xfrm>
            <a:off x="1495782" y="5406628"/>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Mail</a:t>
            </a:r>
            <a:endParaRPr lang="en-US" sz="1550" dirty="0"/>
          </a:p>
        </p:txBody>
      </p:sp>
      <p:sp>
        <p:nvSpPr>
          <p:cNvPr id="22" name="Text 18"/>
          <p:cNvSpPr/>
          <p:nvPr/>
        </p:nvSpPr>
        <p:spPr>
          <a:xfrm>
            <a:off x="4355902" y="5406628"/>
            <a:ext cx="245578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/var/log/mail.log</a:t>
            </a:r>
            <a:endParaRPr lang="en-US" sz="1550" dirty="0"/>
          </a:p>
        </p:txBody>
      </p:sp>
      <p:sp>
        <p:nvSpPr>
          <p:cNvPr id="23" name="Text 19"/>
          <p:cNvSpPr/>
          <p:nvPr/>
        </p:nvSpPr>
        <p:spPr>
          <a:xfrm>
            <a:off x="1289804" y="6081713"/>
            <a:ext cx="572785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Parse kernel warnings:</a:t>
            </a:r>
            <a:endParaRPr lang="en-US" sz="1550" dirty="0"/>
          </a:p>
        </p:txBody>
      </p:sp>
      <p:sp>
        <p:nvSpPr>
          <p:cNvPr id="24" name="Shape 20"/>
          <p:cNvSpPr/>
          <p:nvPr/>
        </p:nvSpPr>
        <p:spPr>
          <a:xfrm>
            <a:off x="1289804" y="6622494"/>
            <a:ext cx="5727859" cy="615196"/>
          </a:xfrm>
          <a:prstGeom prst="roundRect">
            <a:avLst>
              <a:gd name="adj" fmla="val 4839"/>
            </a:avLst>
          </a:prstGeom>
          <a:solidFill>
            <a:srgbClr val="EEEFF1"/>
          </a:solidFill>
          <a:ln/>
        </p:spPr>
      </p:sp>
      <p:sp>
        <p:nvSpPr>
          <p:cNvPr id="25" name="Shape 21"/>
          <p:cNvSpPr/>
          <p:nvPr/>
        </p:nvSpPr>
        <p:spPr>
          <a:xfrm>
            <a:off x="1279922" y="6622494"/>
            <a:ext cx="5747623" cy="615196"/>
          </a:xfrm>
          <a:prstGeom prst="roundRect">
            <a:avLst>
              <a:gd name="adj" fmla="val 4839"/>
            </a:avLst>
          </a:prstGeom>
          <a:solidFill>
            <a:srgbClr val="EEEFF1"/>
          </a:solidFill>
          <a:ln/>
        </p:spPr>
      </p:sp>
      <p:sp>
        <p:nvSpPr>
          <p:cNvPr id="26" name="Text 22"/>
          <p:cNvSpPr/>
          <p:nvPr/>
        </p:nvSpPr>
        <p:spPr>
          <a:xfrm>
            <a:off x="1478280" y="6771323"/>
            <a:ext cx="535090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grep -i "warning" /var/log/kern.log</a:t>
            </a:r>
            <a:endParaRPr lang="en-US" sz="1550" dirty="0"/>
          </a:p>
        </p:txBody>
      </p:sp>
      <p:sp>
        <p:nvSpPr>
          <p:cNvPr id="27" name="Shape 23"/>
          <p:cNvSpPr/>
          <p:nvPr/>
        </p:nvSpPr>
        <p:spPr>
          <a:xfrm>
            <a:off x="992148" y="2988707"/>
            <a:ext cx="22860" cy="4248983"/>
          </a:xfrm>
          <a:prstGeom prst="rect">
            <a:avLst/>
          </a:prstGeom>
          <a:solidFill>
            <a:srgbClr val="3257B8"/>
          </a:solidFill>
          <a:ln/>
        </p:spPr>
      </p:sp>
      <p:sp>
        <p:nvSpPr>
          <p:cNvPr id="28" name="Shape 24"/>
          <p:cNvSpPr/>
          <p:nvPr/>
        </p:nvSpPr>
        <p:spPr>
          <a:xfrm>
            <a:off x="7414379" y="1463278"/>
            <a:ext cx="6422231" cy="6196013"/>
          </a:xfrm>
          <a:prstGeom prst="roundRect">
            <a:avLst>
              <a:gd name="adj" fmla="val 480"/>
            </a:avLst>
          </a:prstGeom>
          <a:solidFill>
            <a:srgbClr val="E9ECF2"/>
          </a:solidFill>
          <a:ln/>
        </p:spPr>
      </p:sp>
      <p:pic>
        <p:nvPicPr>
          <p:cNvPr id="29" name="Image 2" descr="preencoded.png"/>
          <p:cNvPicPr>
            <a:picLocks noChangeAspect="1"/>
          </p:cNvPicPr>
          <p:nvPr/>
        </p:nvPicPr>
        <p:blipFill>
          <a:blip r:embed="rId6"/>
          <a:stretch>
            <a:fillRect/>
          </a:stretch>
        </p:blipFill>
        <p:spPr>
          <a:xfrm>
            <a:off x="7612737" y="1661636"/>
            <a:ext cx="595313" cy="595313"/>
          </a:xfrm>
          <a:prstGeom prst="rect">
            <a:avLst/>
          </a:prstGeom>
        </p:spPr>
      </p:pic>
      <p:pic>
        <p:nvPicPr>
          <p:cNvPr id="3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6448" y="1825228"/>
            <a:ext cx="267891" cy="267891"/>
          </a:xfrm>
          <a:prstGeom prst="rect">
            <a:avLst/>
          </a:prstGeom>
        </p:spPr>
      </p:pic>
      <p:sp>
        <p:nvSpPr>
          <p:cNvPr id="31" name="Text 25"/>
          <p:cNvSpPr/>
          <p:nvPr/>
        </p:nvSpPr>
        <p:spPr>
          <a:xfrm>
            <a:off x="7612737" y="2455307"/>
            <a:ext cx="3320058"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Security Tools &amp; Capabilities</a:t>
            </a:r>
            <a:endParaRPr lang="en-US" sz="1950" dirty="0"/>
          </a:p>
        </p:txBody>
      </p:sp>
      <p:sp>
        <p:nvSpPr>
          <p:cNvPr id="32" name="Text 26"/>
          <p:cNvSpPr/>
          <p:nvPr/>
        </p:nvSpPr>
        <p:spPr>
          <a:xfrm>
            <a:off x="7612737" y="2884527"/>
            <a:ext cx="6025515"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Mandatory Access Control:</a:t>
            </a:r>
            <a:endParaRPr lang="en-US" sz="1550" dirty="0"/>
          </a:p>
        </p:txBody>
      </p:sp>
      <p:sp>
        <p:nvSpPr>
          <p:cNvPr id="33" name="Text 27"/>
          <p:cNvSpPr/>
          <p:nvPr/>
        </p:nvSpPr>
        <p:spPr>
          <a:xfrm>
            <a:off x="7612737" y="3321129"/>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AppArmor</a:t>
            </a:r>
            <a:r>
              <a:rPr lang="en-US" sz="1550" dirty="0">
                <a:solidFill>
                  <a:srgbClr val="15213F"/>
                </a:solidFill>
                <a:latin typeface="Roboto" pitchFamily="34" charset="0"/>
                <a:ea typeface="Roboto" pitchFamily="34" charset="-122"/>
                <a:cs typeface="Roboto" pitchFamily="34" charset="-120"/>
              </a:rPr>
              <a:t> - Application confinement (Ubuntu/Debian)</a:t>
            </a:r>
            <a:endParaRPr lang="en-US" sz="1550" dirty="0"/>
          </a:p>
        </p:txBody>
      </p:sp>
      <p:sp>
        <p:nvSpPr>
          <p:cNvPr id="34" name="Text 28"/>
          <p:cNvSpPr/>
          <p:nvPr/>
        </p:nvSpPr>
        <p:spPr>
          <a:xfrm>
            <a:off x="7612737" y="3708083"/>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SELinux</a:t>
            </a:r>
            <a:r>
              <a:rPr lang="en-US" sz="1550" dirty="0">
                <a:solidFill>
                  <a:srgbClr val="15213F"/>
                </a:solidFill>
                <a:latin typeface="Roboto" pitchFamily="34" charset="0"/>
                <a:ea typeface="Roboto" pitchFamily="34" charset="-122"/>
                <a:cs typeface="Roboto" pitchFamily="34" charset="-120"/>
              </a:rPr>
              <a:t> - Policy-based security (RHEL/CentOS)</a:t>
            </a:r>
            <a:endParaRPr lang="en-US" sz="1550" dirty="0"/>
          </a:p>
        </p:txBody>
      </p:sp>
      <p:sp>
        <p:nvSpPr>
          <p:cNvPr id="35" name="Text 29"/>
          <p:cNvSpPr/>
          <p:nvPr/>
        </p:nvSpPr>
        <p:spPr>
          <a:xfrm>
            <a:off x="7612737" y="4144685"/>
            <a:ext cx="6025515"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Fail2Ban</a:t>
            </a:r>
            <a:r>
              <a:rPr lang="en-US" sz="1550" dirty="0">
                <a:solidFill>
                  <a:srgbClr val="15213F"/>
                </a:solidFill>
                <a:latin typeface="Roboto" pitchFamily="34" charset="0"/>
                <a:ea typeface="Roboto" pitchFamily="34" charset="-122"/>
                <a:cs typeface="Roboto" pitchFamily="34" charset="-120"/>
              </a:rPr>
              <a:t> - Automatic IP banning after repeated failed logins:</a:t>
            </a:r>
            <a:endParaRPr lang="en-US" sz="1550" dirty="0"/>
          </a:p>
        </p:txBody>
      </p:sp>
      <p:sp>
        <p:nvSpPr>
          <p:cNvPr id="36" name="Shape 30"/>
          <p:cNvSpPr/>
          <p:nvPr/>
        </p:nvSpPr>
        <p:spPr>
          <a:xfrm>
            <a:off x="7612737" y="4685467"/>
            <a:ext cx="6025515" cy="615196"/>
          </a:xfrm>
          <a:prstGeom prst="roundRect">
            <a:avLst>
              <a:gd name="adj" fmla="val 4839"/>
            </a:avLst>
          </a:prstGeom>
          <a:solidFill>
            <a:srgbClr val="EEEFF1"/>
          </a:solidFill>
          <a:ln/>
        </p:spPr>
      </p:sp>
      <p:sp>
        <p:nvSpPr>
          <p:cNvPr id="37" name="Shape 31"/>
          <p:cNvSpPr/>
          <p:nvPr/>
        </p:nvSpPr>
        <p:spPr>
          <a:xfrm>
            <a:off x="7602855" y="4685467"/>
            <a:ext cx="6045279" cy="615196"/>
          </a:xfrm>
          <a:prstGeom prst="roundRect">
            <a:avLst>
              <a:gd name="adj" fmla="val 4839"/>
            </a:avLst>
          </a:prstGeom>
          <a:solidFill>
            <a:srgbClr val="EEEFF1"/>
          </a:solidFill>
          <a:ln/>
        </p:spPr>
      </p:sp>
      <p:sp>
        <p:nvSpPr>
          <p:cNvPr id="38" name="Text 32"/>
          <p:cNvSpPr/>
          <p:nvPr/>
        </p:nvSpPr>
        <p:spPr>
          <a:xfrm>
            <a:off x="7801213" y="4834295"/>
            <a:ext cx="564856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highlight>
                  <a:srgbClr val="EEEFF1"/>
                </a:highlight>
                <a:latin typeface="Consolas" pitchFamily="34" charset="0"/>
                <a:ea typeface="Consolas" pitchFamily="34" charset="-122"/>
                <a:cs typeface="Consolas" pitchFamily="34" charset="-120"/>
              </a:rPr>
              <a:t>sudo fail2ban-client status sshd</a:t>
            </a:r>
            <a:endParaRPr lang="en-US" sz="1550" dirty="0"/>
          </a:p>
        </p:txBody>
      </p:sp>
      <p:sp>
        <p:nvSpPr>
          <p:cNvPr id="39" name="Text 33"/>
          <p:cNvSpPr/>
          <p:nvPr/>
        </p:nvSpPr>
        <p:spPr>
          <a:xfrm>
            <a:off x="7612737" y="5523905"/>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These tools restrict what processes can do, even if compromised, adding defense-in-depth beyond traditional permissions.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0098" y="536258"/>
            <a:ext cx="7775734" cy="487561"/>
          </a:xfrm>
          <a:prstGeom prst="rect">
            <a:avLst/>
          </a:prstGeom>
          <a:noFill/>
          <a:ln/>
        </p:spPr>
        <p:txBody>
          <a:bodyPr wrap="none" lIns="0" tIns="0" rIns="0" bIns="0" rtlCol="0" anchor="t"/>
          <a:lstStyle/>
          <a:p>
            <a:pPr marL="0" indent="0" algn="l">
              <a:lnSpc>
                <a:spcPts val="3800"/>
              </a:lnSpc>
              <a:buNone/>
            </a:pPr>
            <a:r>
              <a:rPr lang="en-US" sz="3050" dirty="0">
                <a:solidFill>
                  <a:srgbClr val="3257B8"/>
                </a:solidFill>
                <a:latin typeface="Roboto Slab" pitchFamily="34" charset="0"/>
                <a:ea typeface="Roboto Slab" pitchFamily="34" charset="-122"/>
                <a:cs typeface="Roboto Slab" pitchFamily="34" charset="-120"/>
              </a:rPr>
              <a:t>Patch Management &amp; Security Commands</a:t>
            </a:r>
            <a:endParaRPr lang="en-US" sz="3050" dirty="0"/>
          </a:p>
        </p:txBody>
      </p:sp>
      <p:pic>
        <p:nvPicPr>
          <p:cNvPr id="3" name="Image 0" descr="preencoded.png"/>
          <p:cNvPicPr>
            <a:picLocks noChangeAspect="1"/>
          </p:cNvPicPr>
          <p:nvPr/>
        </p:nvPicPr>
        <p:blipFill>
          <a:blip r:embed="rId3"/>
          <a:stretch>
            <a:fillRect/>
          </a:stretch>
        </p:blipFill>
        <p:spPr>
          <a:xfrm>
            <a:off x="780098" y="1413867"/>
            <a:ext cx="6535103" cy="780098"/>
          </a:xfrm>
          <a:prstGeom prst="rect">
            <a:avLst/>
          </a:prstGeom>
        </p:spPr>
      </p:pic>
      <p:sp>
        <p:nvSpPr>
          <p:cNvPr id="4" name="Text 1"/>
          <p:cNvSpPr/>
          <p:nvPr/>
        </p:nvSpPr>
        <p:spPr>
          <a:xfrm>
            <a:off x="975122" y="2388989"/>
            <a:ext cx="2437924" cy="304800"/>
          </a:xfrm>
          <a:prstGeom prst="rect">
            <a:avLst/>
          </a:prstGeom>
          <a:noFill/>
          <a:ln/>
        </p:spPr>
        <p:txBody>
          <a:bodyPr wrap="none" lIns="0" tIns="0" rIns="0" bIns="0" rtlCol="0" anchor="t"/>
          <a:lstStyle/>
          <a:p>
            <a:pPr marL="0" indent="0" algn="l">
              <a:lnSpc>
                <a:spcPts val="2350"/>
              </a:lnSpc>
              <a:buNone/>
            </a:pPr>
            <a:r>
              <a:rPr lang="en-US" sz="1900" dirty="0">
                <a:solidFill>
                  <a:srgbClr val="15213F"/>
                </a:solidFill>
                <a:latin typeface="Roboto Slab" pitchFamily="34" charset="0"/>
                <a:ea typeface="Roboto Slab" pitchFamily="34" charset="-122"/>
                <a:cs typeface="Roboto Slab" pitchFamily="34" charset="-120"/>
              </a:rPr>
              <a:t>Patch Management</a:t>
            </a:r>
            <a:endParaRPr lang="en-US" sz="1900" dirty="0"/>
          </a:p>
        </p:txBody>
      </p:sp>
      <p:sp>
        <p:nvSpPr>
          <p:cNvPr id="5" name="Text 2"/>
          <p:cNvSpPr/>
          <p:nvPr/>
        </p:nvSpPr>
        <p:spPr>
          <a:xfrm>
            <a:off x="975122" y="2810708"/>
            <a:ext cx="6145054" cy="623887"/>
          </a:xfrm>
          <a:prstGeom prst="rect">
            <a:avLst/>
          </a:prstGeom>
          <a:noFill/>
          <a:ln/>
        </p:spPr>
        <p:txBody>
          <a:bodyPr wrap="square" lIns="0" tIns="0" rIns="0" bIns="0" rtlCol="0" anchor="t"/>
          <a:lstStyle/>
          <a:p>
            <a:pPr marL="0" indent="0" algn="l">
              <a:lnSpc>
                <a:spcPts val="2450"/>
              </a:lnSpc>
              <a:buNone/>
            </a:pPr>
            <a:r>
              <a:rPr lang="en-US" sz="1500" dirty="0">
                <a:solidFill>
                  <a:srgbClr val="15213F"/>
                </a:solidFill>
                <a:latin typeface="Roboto" pitchFamily="34" charset="0"/>
                <a:ea typeface="Roboto" pitchFamily="34" charset="-122"/>
                <a:cs typeface="Roboto" pitchFamily="34" charset="-120"/>
              </a:rPr>
              <a:t>Keeping systems updated is the #1 defense against known vulnerabilities. Schedule regular updates and test in staging first.</a:t>
            </a:r>
            <a:endParaRPr lang="en-US" sz="1500" dirty="0"/>
          </a:p>
        </p:txBody>
      </p:sp>
      <p:sp>
        <p:nvSpPr>
          <p:cNvPr id="6" name="Text 3"/>
          <p:cNvSpPr/>
          <p:nvPr/>
        </p:nvSpPr>
        <p:spPr>
          <a:xfrm>
            <a:off x="975122" y="3551515"/>
            <a:ext cx="6145054" cy="311944"/>
          </a:xfrm>
          <a:prstGeom prst="rect">
            <a:avLst/>
          </a:prstGeom>
          <a:noFill/>
          <a:ln/>
        </p:spPr>
        <p:txBody>
          <a:bodyPr wrap="none" lIns="0" tIns="0" rIns="0" bIns="0" rtlCol="0" anchor="t"/>
          <a:lstStyle/>
          <a:p>
            <a:pPr marL="0" indent="0" algn="l">
              <a:lnSpc>
                <a:spcPts val="2450"/>
              </a:lnSpc>
              <a:buNone/>
            </a:pPr>
            <a:r>
              <a:rPr lang="en-US" sz="1500" b="1" dirty="0">
                <a:solidFill>
                  <a:srgbClr val="15213F"/>
                </a:solidFill>
                <a:latin typeface="Roboto" pitchFamily="34" charset="0"/>
                <a:ea typeface="Roboto" pitchFamily="34" charset="-122"/>
                <a:cs typeface="Roboto" pitchFamily="34" charset="-120"/>
              </a:rPr>
              <a:t>Debian/Ubuntu:</a:t>
            </a:r>
            <a:endParaRPr lang="en-US" sz="1500" dirty="0"/>
          </a:p>
        </p:txBody>
      </p:sp>
      <p:sp>
        <p:nvSpPr>
          <p:cNvPr id="7" name="Shape 4"/>
          <p:cNvSpPr/>
          <p:nvPr/>
        </p:nvSpPr>
        <p:spPr>
          <a:xfrm>
            <a:off x="975122" y="4082772"/>
            <a:ext cx="6145054" cy="604361"/>
          </a:xfrm>
          <a:prstGeom prst="roundRect">
            <a:avLst>
              <a:gd name="adj" fmla="val 4841"/>
            </a:avLst>
          </a:prstGeom>
          <a:solidFill>
            <a:srgbClr val="EEEFF1"/>
          </a:solidFill>
          <a:ln/>
        </p:spPr>
      </p:sp>
      <p:sp>
        <p:nvSpPr>
          <p:cNvPr id="8" name="Shape 5"/>
          <p:cNvSpPr/>
          <p:nvPr/>
        </p:nvSpPr>
        <p:spPr>
          <a:xfrm>
            <a:off x="965478" y="4082772"/>
            <a:ext cx="6164342" cy="604361"/>
          </a:xfrm>
          <a:prstGeom prst="roundRect">
            <a:avLst>
              <a:gd name="adj" fmla="val 4841"/>
            </a:avLst>
          </a:prstGeom>
          <a:solidFill>
            <a:srgbClr val="EEEFF1"/>
          </a:solidFill>
          <a:ln/>
        </p:spPr>
      </p:sp>
      <p:sp>
        <p:nvSpPr>
          <p:cNvPr id="9" name="Text 6"/>
          <p:cNvSpPr/>
          <p:nvPr/>
        </p:nvSpPr>
        <p:spPr>
          <a:xfrm>
            <a:off x="1160502" y="4228981"/>
            <a:ext cx="5774293" cy="31194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highlight>
                  <a:srgbClr val="EEEFF1"/>
                </a:highlight>
                <a:latin typeface="Consolas" pitchFamily="34" charset="0"/>
                <a:ea typeface="Consolas" pitchFamily="34" charset="-122"/>
                <a:cs typeface="Consolas" pitchFamily="34" charset="-120"/>
              </a:rPr>
              <a:t>sudo apt update &amp;&amp; sudo apt upgrade</a:t>
            </a:r>
            <a:endParaRPr lang="en-US" sz="1500" dirty="0"/>
          </a:p>
        </p:txBody>
      </p:sp>
      <p:sp>
        <p:nvSpPr>
          <p:cNvPr id="10" name="Text 7"/>
          <p:cNvSpPr/>
          <p:nvPr/>
        </p:nvSpPr>
        <p:spPr>
          <a:xfrm>
            <a:off x="975122" y="4906447"/>
            <a:ext cx="6145054" cy="311944"/>
          </a:xfrm>
          <a:prstGeom prst="rect">
            <a:avLst/>
          </a:prstGeom>
          <a:noFill/>
          <a:ln/>
        </p:spPr>
        <p:txBody>
          <a:bodyPr wrap="none" lIns="0" tIns="0" rIns="0" bIns="0" rtlCol="0" anchor="t"/>
          <a:lstStyle/>
          <a:p>
            <a:pPr marL="0" indent="0" algn="l">
              <a:lnSpc>
                <a:spcPts val="2450"/>
              </a:lnSpc>
              <a:buNone/>
            </a:pPr>
            <a:r>
              <a:rPr lang="en-US" sz="1500" b="1" dirty="0">
                <a:solidFill>
                  <a:srgbClr val="15213F"/>
                </a:solidFill>
                <a:latin typeface="Roboto" pitchFamily="34" charset="0"/>
                <a:ea typeface="Roboto" pitchFamily="34" charset="-122"/>
                <a:cs typeface="Roboto" pitchFamily="34" charset="-120"/>
              </a:rPr>
              <a:t>Fedora/CentOS:</a:t>
            </a:r>
            <a:endParaRPr lang="en-US" sz="1500" dirty="0"/>
          </a:p>
        </p:txBody>
      </p:sp>
      <p:sp>
        <p:nvSpPr>
          <p:cNvPr id="11" name="Shape 8"/>
          <p:cNvSpPr/>
          <p:nvPr/>
        </p:nvSpPr>
        <p:spPr>
          <a:xfrm>
            <a:off x="975122" y="5437703"/>
            <a:ext cx="6145054" cy="604361"/>
          </a:xfrm>
          <a:prstGeom prst="roundRect">
            <a:avLst>
              <a:gd name="adj" fmla="val 4841"/>
            </a:avLst>
          </a:prstGeom>
          <a:solidFill>
            <a:srgbClr val="EEEFF1"/>
          </a:solidFill>
          <a:ln/>
        </p:spPr>
      </p:sp>
      <p:sp>
        <p:nvSpPr>
          <p:cNvPr id="12" name="Shape 9"/>
          <p:cNvSpPr/>
          <p:nvPr/>
        </p:nvSpPr>
        <p:spPr>
          <a:xfrm>
            <a:off x="965478" y="5437703"/>
            <a:ext cx="6164342" cy="604361"/>
          </a:xfrm>
          <a:prstGeom prst="roundRect">
            <a:avLst>
              <a:gd name="adj" fmla="val 4841"/>
            </a:avLst>
          </a:prstGeom>
          <a:solidFill>
            <a:srgbClr val="EEEFF1"/>
          </a:solidFill>
          <a:ln/>
        </p:spPr>
      </p:sp>
      <p:sp>
        <p:nvSpPr>
          <p:cNvPr id="13" name="Text 10"/>
          <p:cNvSpPr/>
          <p:nvPr/>
        </p:nvSpPr>
        <p:spPr>
          <a:xfrm>
            <a:off x="1160502" y="5583912"/>
            <a:ext cx="5774293" cy="31194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highlight>
                  <a:srgbClr val="EEEFF1"/>
                </a:highlight>
                <a:latin typeface="Consolas" pitchFamily="34" charset="0"/>
                <a:ea typeface="Consolas" pitchFamily="34" charset="-122"/>
                <a:cs typeface="Consolas" pitchFamily="34" charset="-120"/>
              </a:rPr>
              <a:t>sudo dnf update</a:t>
            </a:r>
            <a:endParaRPr lang="en-US" sz="1500" dirty="0"/>
          </a:p>
        </p:txBody>
      </p:sp>
      <p:sp>
        <p:nvSpPr>
          <p:cNvPr id="14" name="Text 11"/>
          <p:cNvSpPr/>
          <p:nvPr/>
        </p:nvSpPr>
        <p:spPr>
          <a:xfrm>
            <a:off x="975122" y="6261378"/>
            <a:ext cx="6145054" cy="31956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latin typeface="Roboto" pitchFamily="34" charset="0"/>
                <a:ea typeface="Roboto" pitchFamily="34" charset="-122"/>
                <a:cs typeface="Roboto" pitchFamily="34" charset="-120"/>
              </a:rPr>
              <a:t>Use </a:t>
            </a:r>
            <a:r>
              <a:rPr lang="en-US" sz="1500" dirty="0">
                <a:solidFill>
                  <a:srgbClr val="15213F"/>
                </a:solidFill>
                <a:highlight>
                  <a:srgbClr val="EEEFF1"/>
                </a:highlight>
                <a:latin typeface="Consolas" pitchFamily="34" charset="0"/>
                <a:ea typeface="Consolas" pitchFamily="34" charset="-122"/>
                <a:cs typeface="Consolas" pitchFamily="34" charset="-120"/>
              </a:rPr>
              <a:t>unattended-upgrades</a:t>
            </a:r>
            <a:r>
              <a:rPr lang="en-US" sz="1500" dirty="0">
                <a:solidFill>
                  <a:srgbClr val="15213F"/>
                </a:solidFill>
                <a:latin typeface="Roboto" pitchFamily="34" charset="0"/>
                <a:ea typeface="Roboto" pitchFamily="34" charset="-122"/>
                <a:cs typeface="Roboto" pitchFamily="34" charset="-120"/>
              </a:rPr>
              <a:t> for automatic security patches.</a:t>
            </a:r>
            <a:endParaRPr lang="en-US" sz="1500" dirty="0"/>
          </a:p>
        </p:txBody>
      </p:sp>
      <p:pic>
        <p:nvPicPr>
          <p:cNvPr id="15" name="Image 1" descr="preencoded.png"/>
          <p:cNvPicPr>
            <a:picLocks noChangeAspect="1"/>
          </p:cNvPicPr>
          <p:nvPr/>
        </p:nvPicPr>
        <p:blipFill>
          <a:blip r:embed="rId4"/>
          <a:stretch>
            <a:fillRect/>
          </a:stretch>
        </p:blipFill>
        <p:spPr>
          <a:xfrm>
            <a:off x="7315200" y="1413867"/>
            <a:ext cx="6535103" cy="780098"/>
          </a:xfrm>
          <a:prstGeom prst="rect">
            <a:avLst/>
          </a:prstGeom>
        </p:spPr>
      </p:pic>
      <p:sp>
        <p:nvSpPr>
          <p:cNvPr id="16" name="Text 12"/>
          <p:cNvSpPr/>
          <p:nvPr/>
        </p:nvSpPr>
        <p:spPr>
          <a:xfrm>
            <a:off x="7510224" y="2388989"/>
            <a:ext cx="3276243" cy="304800"/>
          </a:xfrm>
          <a:prstGeom prst="rect">
            <a:avLst/>
          </a:prstGeom>
          <a:noFill/>
          <a:ln/>
        </p:spPr>
        <p:txBody>
          <a:bodyPr wrap="none" lIns="0" tIns="0" rIns="0" bIns="0" rtlCol="0" anchor="t"/>
          <a:lstStyle/>
          <a:p>
            <a:pPr marL="0" indent="0" algn="l">
              <a:lnSpc>
                <a:spcPts val="2350"/>
              </a:lnSpc>
              <a:buNone/>
            </a:pPr>
            <a:r>
              <a:rPr lang="en-US" sz="1900" dirty="0">
                <a:solidFill>
                  <a:srgbClr val="15213F"/>
                </a:solidFill>
                <a:latin typeface="Roboto Slab" pitchFamily="34" charset="0"/>
                <a:ea typeface="Roboto Slab" pitchFamily="34" charset="-122"/>
                <a:cs typeface="Roboto Slab" pitchFamily="34" charset="-120"/>
              </a:rPr>
              <a:t>Built-in Security Commands</a:t>
            </a:r>
            <a:endParaRPr lang="en-US" sz="1900" dirty="0"/>
          </a:p>
        </p:txBody>
      </p:sp>
      <p:sp>
        <p:nvSpPr>
          <p:cNvPr id="17" name="Text 13"/>
          <p:cNvSpPr/>
          <p:nvPr/>
        </p:nvSpPr>
        <p:spPr>
          <a:xfrm>
            <a:off x="7510224" y="2810708"/>
            <a:ext cx="6145054" cy="311944"/>
          </a:xfrm>
          <a:prstGeom prst="rect">
            <a:avLst/>
          </a:prstGeom>
          <a:noFill/>
          <a:ln/>
        </p:spPr>
        <p:txBody>
          <a:bodyPr wrap="none" lIns="0" tIns="0" rIns="0" bIns="0" rtlCol="0" anchor="t"/>
          <a:lstStyle/>
          <a:p>
            <a:pPr marL="0" indent="0" algn="l">
              <a:lnSpc>
                <a:spcPts val="2450"/>
              </a:lnSpc>
              <a:buNone/>
            </a:pPr>
            <a:r>
              <a:rPr lang="en-US" sz="1500" b="1" dirty="0">
                <a:solidFill>
                  <a:srgbClr val="15213F"/>
                </a:solidFill>
                <a:latin typeface="Roboto" pitchFamily="34" charset="0"/>
                <a:ea typeface="Roboto" pitchFamily="34" charset="-122"/>
                <a:cs typeface="Roboto" pitchFamily="34" charset="-120"/>
              </a:rPr>
              <a:t>Identify open ports and listening services:</a:t>
            </a:r>
            <a:endParaRPr lang="en-US" sz="1500" dirty="0"/>
          </a:p>
        </p:txBody>
      </p:sp>
      <p:sp>
        <p:nvSpPr>
          <p:cNvPr id="18" name="Shape 14"/>
          <p:cNvSpPr/>
          <p:nvPr/>
        </p:nvSpPr>
        <p:spPr>
          <a:xfrm>
            <a:off x="7510224" y="3341965"/>
            <a:ext cx="6145054" cy="916305"/>
          </a:xfrm>
          <a:prstGeom prst="roundRect">
            <a:avLst>
              <a:gd name="adj" fmla="val 3193"/>
            </a:avLst>
          </a:prstGeom>
          <a:solidFill>
            <a:srgbClr val="EEEFF1"/>
          </a:solidFill>
          <a:ln/>
        </p:spPr>
      </p:sp>
      <p:sp>
        <p:nvSpPr>
          <p:cNvPr id="19" name="Shape 15"/>
          <p:cNvSpPr/>
          <p:nvPr/>
        </p:nvSpPr>
        <p:spPr>
          <a:xfrm>
            <a:off x="7500580" y="3341965"/>
            <a:ext cx="6164342" cy="916305"/>
          </a:xfrm>
          <a:prstGeom prst="roundRect">
            <a:avLst>
              <a:gd name="adj" fmla="val 3193"/>
            </a:avLst>
          </a:prstGeom>
          <a:solidFill>
            <a:srgbClr val="EEEFF1"/>
          </a:solidFill>
          <a:ln/>
        </p:spPr>
      </p:sp>
      <p:sp>
        <p:nvSpPr>
          <p:cNvPr id="20" name="Text 16"/>
          <p:cNvSpPr/>
          <p:nvPr/>
        </p:nvSpPr>
        <p:spPr>
          <a:xfrm>
            <a:off x="7695605" y="3488174"/>
            <a:ext cx="5774293" cy="623887"/>
          </a:xfrm>
          <a:prstGeom prst="rect">
            <a:avLst/>
          </a:prstGeom>
          <a:noFill/>
          <a:ln/>
        </p:spPr>
        <p:txBody>
          <a:bodyPr wrap="square" lIns="0" tIns="0" rIns="0" bIns="0" rtlCol="0" anchor="t"/>
          <a:lstStyle/>
          <a:p>
            <a:pPr marL="0" indent="0" algn="l">
              <a:lnSpc>
                <a:spcPts val="2450"/>
              </a:lnSpc>
              <a:buNone/>
            </a:pPr>
            <a:r>
              <a:rPr lang="en-US" sz="1500" dirty="0">
                <a:solidFill>
                  <a:srgbClr val="15213F"/>
                </a:solidFill>
                <a:highlight>
                  <a:srgbClr val="EEEFF1"/>
                </a:highlight>
                <a:latin typeface="Consolas" pitchFamily="34" charset="0"/>
                <a:ea typeface="Consolas" pitchFamily="34" charset="-122"/>
                <a:cs typeface="Consolas" pitchFamily="34" charset="-120"/>
              </a:rPr>
              <a:t>ss -tulnnetstat -tuln</a:t>
            </a:r>
            <a:endParaRPr lang="en-US" sz="1500" dirty="0"/>
          </a:p>
        </p:txBody>
      </p:sp>
      <p:sp>
        <p:nvSpPr>
          <p:cNvPr id="21" name="Text 17"/>
          <p:cNvSpPr/>
          <p:nvPr/>
        </p:nvSpPr>
        <p:spPr>
          <a:xfrm>
            <a:off x="7510224" y="4477583"/>
            <a:ext cx="6145054" cy="311944"/>
          </a:xfrm>
          <a:prstGeom prst="rect">
            <a:avLst/>
          </a:prstGeom>
          <a:noFill/>
          <a:ln/>
        </p:spPr>
        <p:txBody>
          <a:bodyPr wrap="none" lIns="0" tIns="0" rIns="0" bIns="0" rtlCol="0" anchor="t"/>
          <a:lstStyle/>
          <a:p>
            <a:pPr marL="0" indent="0" algn="l">
              <a:lnSpc>
                <a:spcPts val="2450"/>
              </a:lnSpc>
              <a:buNone/>
            </a:pPr>
            <a:r>
              <a:rPr lang="en-US" sz="1500" b="1" dirty="0">
                <a:solidFill>
                  <a:srgbClr val="15213F"/>
                </a:solidFill>
                <a:latin typeface="Roboto" pitchFamily="34" charset="0"/>
                <a:ea typeface="Roboto" pitchFamily="34" charset="-122"/>
                <a:cs typeface="Roboto" pitchFamily="34" charset="-120"/>
              </a:rPr>
              <a:t>Check running services:</a:t>
            </a:r>
            <a:endParaRPr lang="en-US" sz="1500" dirty="0"/>
          </a:p>
        </p:txBody>
      </p:sp>
      <p:sp>
        <p:nvSpPr>
          <p:cNvPr id="22" name="Shape 18"/>
          <p:cNvSpPr/>
          <p:nvPr/>
        </p:nvSpPr>
        <p:spPr>
          <a:xfrm>
            <a:off x="7510224" y="5008840"/>
            <a:ext cx="6145054" cy="604361"/>
          </a:xfrm>
          <a:prstGeom prst="roundRect">
            <a:avLst>
              <a:gd name="adj" fmla="val 4841"/>
            </a:avLst>
          </a:prstGeom>
          <a:solidFill>
            <a:srgbClr val="EEEFF1"/>
          </a:solidFill>
          <a:ln/>
        </p:spPr>
      </p:sp>
      <p:sp>
        <p:nvSpPr>
          <p:cNvPr id="23" name="Shape 19"/>
          <p:cNvSpPr/>
          <p:nvPr/>
        </p:nvSpPr>
        <p:spPr>
          <a:xfrm>
            <a:off x="7500580" y="5008840"/>
            <a:ext cx="6164342" cy="604361"/>
          </a:xfrm>
          <a:prstGeom prst="roundRect">
            <a:avLst>
              <a:gd name="adj" fmla="val 4841"/>
            </a:avLst>
          </a:prstGeom>
          <a:solidFill>
            <a:srgbClr val="EEEFF1"/>
          </a:solidFill>
          <a:ln/>
        </p:spPr>
      </p:sp>
      <p:sp>
        <p:nvSpPr>
          <p:cNvPr id="24" name="Text 20"/>
          <p:cNvSpPr/>
          <p:nvPr/>
        </p:nvSpPr>
        <p:spPr>
          <a:xfrm>
            <a:off x="7695605" y="5155049"/>
            <a:ext cx="5774293" cy="31194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highlight>
                  <a:srgbClr val="EEEFF1"/>
                </a:highlight>
                <a:latin typeface="Consolas" pitchFamily="34" charset="0"/>
                <a:ea typeface="Consolas" pitchFamily="34" charset="-122"/>
                <a:cs typeface="Consolas" pitchFamily="34" charset="-120"/>
              </a:rPr>
              <a:t>systemctl list-units --type=service</a:t>
            </a:r>
            <a:endParaRPr lang="en-US" sz="1500" dirty="0"/>
          </a:p>
        </p:txBody>
      </p:sp>
      <p:sp>
        <p:nvSpPr>
          <p:cNvPr id="25" name="Text 21"/>
          <p:cNvSpPr/>
          <p:nvPr/>
        </p:nvSpPr>
        <p:spPr>
          <a:xfrm>
            <a:off x="7510224" y="5832515"/>
            <a:ext cx="6145054" cy="311944"/>
          </a:xfrm>
          <a:prstGeom prst="rect">
            <a:avLst/>
          </a:prstGeom>
          <a:noFill/>
          <a:ln/>
        </p:spPr>
        <p:txBody>
          <a:bodyPr wrap="none" lIns="0" tIns="0" rIns="0" bIns="0" rtlCol="0" anchor="t"/>
          <a:lstStyle/>
          <a:p>
            <a:pPr marL="0" indent="0" algn="l">
              <a:lnSpc>
                <a:spcPts val="2450"/>
              </a:lnSpc>
              <a:buNone/>
            </a:pPr>
            <a:r>
              <a:rPr lang="en-US" sz="1500" b="1" dirty="0">
                <a:solidFill>
                  <a:srgbClr val="15213F"/>
                </a:solidFill>
                <a:latin typeface="Roboto" pitchFamily="34" charset="0"/>
                <a:ea typeface="Roboto" pitchFamily="34" charset="-122"/>
                <a:cs typeface="Roboto" pitchFamily="34" charset="-120"/>
              </a:rPr>
              <a:t>Review active connections:</a:t>
            </a:r>
            <a:endParaRPr lang="en-US" sz="1500" dirty="0"/>
          </a:p>
        </p:txBody>
      </p:sp>
      <p:sp>
        <p:nvSpPr>
          <p:cNvPr id="26" name="Shape 22"/>
          <p:cNvSpPr/>
          <p:nvPr/>
        </p:nvSpPr>
        <p:spPr>
          <a:xfrm>
            <a:off x="7510224" y="6363772"/>
            <a:ext cx="6145054" cy="604361"/>
          </a:xfrm>
          <a:prstGeom prst="roundRect">
            <a:avLst>
              <a:gd name="adj" fmla="val 4841"/>
            </a:avLst>
          </a:prstGeom>
          <a:solidFill>
            <a:srgbClr val="EEEFF1"/>
          </a:solidFill>
          <a:ln/>
        </p:spPr>
      </p:sp>
      <p:sp>
        <p:nvSpPr>
          <p:cNvPr id="27" name="Shape 23"/>
          <p:cNvSpPr/>
          <p:nvPr/>
        </p:nvSpPr>
        <p:spPr>
          <a:xfrm>
            <a:off x="7500580" y="6363772"/>
            <a:ext cx="6164342" cy="604361"/>
          </a:xfrm>
          <a:prstGeom prst="roundRect">
            <a:avLst>
              <a:gd name="adj" fmla="val 4841"/>
            </a:avLst>
          </a:prstGeom>
          <a:solidFill>
            <a:srgbClr val="EEEFF1"/>
          </a:solidFill>
          <a:ln/>
        </p:spPr>
      </p:sp>
      <p:sp>
        <p:nvSpPr>
          <p:cNvPr id="28" name="Text 24"/>
          <p:cNvSpPr/>
          <p:nvPr/>
        </p:nvSpPr>
        <p:spPr>
          <a:xfrm>
            <a:off x="7695605" y="6509980"/>
            <a:ext cx="5774293" cy="31194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highlight>
                  <a:srgbClr val="EEEFF1"/>
                </a:highlight>
                <a:latin typeface="Consolas" pitchFamily="34" charset="0"/>
                <a:ea typeface="Consolas" pitchFamily="34" charset="-122"/>
                <a:cs typeface="Consolas" pitchFamily="34" charset="-120"/>
              </a:rPr>
              <a:t>ss -antp</a:t>
            </a:r>
            <a:endParaRPr lang="en-US" sz="1500" dirty="0"/>
          </a:p>
        </p:txBody>
      </p:sp>
      <p:sp>
        <p:nvSpPr>
          <p:cNvPr id="29" name="Text 25"/>
          <p:cNvSpPr/>
          <p:nvPr/>
        </p:nvSpPr>
        <p:spPr>
          <a:xfrm>
            <a:off x="7510224" y="7187446"/>
            <a:ext cx="6145054" cy="311944"/>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latin typeface="Roboto" pitchFamily="34" charset="0"/>
                <a:ea typeface="Roboto" pitchFamily="34" charset="-122"/>
                <a:cs typeface="Roboto" pitchFamily="34" charset="-120"/>
              </a:rPr>
              <a:t>Regularly audit open ports to minimize attack surface.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7098" y="415052"/>
            <a:ext cx="7740491" cy="373261"/>
          </a:xfrm>
          <a:prstGeom prst="rect">
            <a:avLst/>
          </a:prstGeom>
          <a:noFill/>
          <a:ln/>
        </p:spPr>
        <p:txBody>
          <a:bodyPr wrap="none" lIns="0" tIns="0" rIns="0" bIns="0" rtlCol="0" anchor="t"/>
          <a:lstStyle/>
          <a:p>
            <a:pPr marL="0" indent="0" algn="l">
              <a:lnSpc>
                <a:spcPts val="2900"/>
              </a:lnSpc>
              <a:buNone/>
            </a:pPr>
            <a:r>
              <a:rPr lang="en-US" sz="2350" dirty="0">
                <a:solidFill>
                  <a:srgbClr val="3257B8"/>
                </a:solidFill>
                <a:latin typeface="Roboto Slab" pitchFamily="34" charset="0"/>
                <a:ea typeface="Roboto Slab" pitchFamily="34" charset="-122"/>
                <a:cs typeface="Roboto Slab" pitchFamily="34" charset="-120"/>
              </a:rPr>
              <a:t>Hardening: Integrity Checking, Firewalls &amp; Automation</a:t>
            </a:r>
            <a:endParaRPr lang="en-US" sz="2350" dirty="0"/>
          </a:p>
        </p:txBody>
      </p:sp>
      <p:sp>
        <p:nvSpPr>
          <p:cNvPr id="3" name="Text 1"/>
          <p:cNvSpPr/>
          <p:nvPr/>
        </p:nvSpPr>
        <p:spPr>
          <a:xfrm>
            <a:off x="597098" y="1086803"/>
            <a:ext cx="149185" cy="186571"/>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Slab Light" pitchFamily="34" charset="0"/>
                <a:ea typeface="Roboto Slab Light" pitchFamily="34" charset="-122"/>
                <a:cs typeface="Roboto Slab Light" pitchFamily="34" charset="-120"/>
              </a:rPr>
              <a:t>01</a:t>
            </a:r>
            <a:endParaRPr lang="en-US" sz="1150" dirty="0"/>
          </a:p>
        </p:txBody>
      </p:sp>
      <p:pic>
        <p:nvPicPr>
          <p:cNvPr id="4" name="Image 0" descr="preencoded.png"/>
          <p:cNvPicPr>
            <a:picLocks noChangeAspect="1"/>
          </p:cNvPicPr>
          <p:nvPr/>
        </p:nvPicPr>
        <p:blipFill>
          <a:blip r:embed="rId3"/>
          <a:stretch>
            <a:fillRect/>
          </a:stretch>
        </p:blipFill>
        <p:spPr>
          <a:xfrm>
            <a:off x="597098" y="1325166"/>
            <a:ext cx="6643449" cy="15240"/>
          </a:xfrm>
          <a:prstGeom prst="rect">
            <a:avLst/>
          </a:prstGeom>
        </p:spPr>
      </p:pic>
      <p:sp>
        <p:nvSpPr>
          <p:cNvPr id="5" name="Text 2"/>
          <p:cNvSpPr/>
          <p:nvPr/>
        </p:nvSpPr>
        <p:spPr>
          <a:xfrm>
            <a:off x="597098" y="1430179"/>
            <a:ext cx="2595801" cy="233124"/>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Integrity Checking with AIDE</a:t>
            </a:r>
            <a:endParaRPr lang="en-US" sz="1450" dirty="0"/>
          </a:p>
        </p:txBody>
      </p:sp>
      <p:sp>
        <p:nvSpPr>
          <p:cNvPr id="6" name="Text 3"/>
          <p:cNvSpPr/>
          <p:nvPr/>
        </p:nvSpPr>
        <p:spPr>
          <a:xfrm>
            <a:off x="597098" y="1752838"/>
            <a:ext cx="6643449" cy="47767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Advanced Intrusion Detection Environment (AIDE) creates cryptographic checksums of files to detect unauthorized modifications.</a:t>
            </a:r>
            <a:endParaRPr lang="en-US" sz="1150" dirty="0"/>
          </a:p>
        </p:txBody>
      </p:sp>
      <p:sp>
        <p:nvSpPr>
          <p:cNvPr id="7" name="Shape 4"/>
          <p:cNvSpPr/>
          <p:nvPr/>
        </p:nvSpPr>
        <p:spPr>
          <a:xfrm>
            <a:off x="597098" y="2368629"/>
            <a:ext cx="6643449" cy="940356"/>
          </a:xfrm>
          <a:prstGeom prst="roundRect">
            <a:avLst>
              <a:gd name="adj" fmla="val 2381"/>
            </a:avLst>
          </a:prstGeom>
          <a:solidFill>
            <a:srgbClr val="EEEFF1"/>
          </a:solidFill>
          <a:ln/>
        </p:spPr>
      </p:sp>
      <p:sp>
        <p:nvSpPr>
          <p:cNvPr id="8" name="Shape 5"/>
          <p:cNvSpPr/>
          <p:nvPr/>
        </p:nvSpPr>
        <p:spPr>
          <a:xfrm>
            <a:off x="589717" y="2368629"/>
            <a:ext cx="6658213" cy="940356"/>
          </a:xfrm>
          <a:prstGeom prst="roundRect">
            <a:avLst>
              <a:gd name="adj" fmla="val 2381"/>
            </a:avLst>
          </a:prstGeom>
          <a:solidFill>
            <a:srgbClr val="EEEFF1"/>
          </a:solidFill>
          <a:ln/>
        </p:spPr>
      </p:sp>
      <p:sp>
        <p:nvSpPr>
          <p:cNvPr id="9" name="Text 6"/>
          <p:cNvSpPr/>
          <p:nvPr/>
        </p:nvSpPr>
        <p:spPr>
          <a:xfrm>
            <a:off x="738902" y="2510314"/>
            <a:ext cx="6359843" cy="716518"/>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highlight>
                  <a:srgbClr val="EEEFF1"/>
                </a:highlight>
                <a:latin typeface="Consolas" pitchFamily="34" charset="0"/>
                <a:ea typeface="Consolas" pitchFamily="34" charset="-122"/>
                <a:cs typeface="Consolas" pitchFamily="34" charset="-120"/>
              </a:rPr>
              <a:t>sudo apt install aidesudo aideinitsudo aide --check</a:t>
            </a:r>
            <a:endParaRPr lang="en-US" sz="1150" dirty="0"/>
          </a:p>
        </p:txBody>
      </p:sp>
      <p:sp>
        <p:nvSpPr>
          <p:cNvPr id="10" name="Text 7"/>
          <p:cNvSpPr/>
          <p:nvPr/>
        </p:nvSpPr>
        <p:spPr>
          <a:xfrm>
            <a:off x="597098" y="3506629"/>
            <a:ext cx="6643449" cy="238839"/>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Run checks regularly and investigate any unexpected changes to critical system files.</a:t>
            </a:r>
            <a:endParaRPr lang="en-US" sz="1150" dirty="0"/>
          </a:p>
        </p:txBody>
      </p:sp>
      <p:sp>
        <p:nvSpPr>
          <p:cNvPr id="11" name="Text 8"/>
          <p:cNvSpPr/>
          <p:nvPr/>
        </p:nvSpPr>
        <p:spPr>
          <a:xfrm>
            <a:off x="7389733" y="1086803"/>
            <a:ext cx="149185" cy="186571"/>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Slab Light" pitchFamily="34" charset="0"/>
                <a:ea typeface="Roboto Slab Light" pitchFamily="34" charset="-122"/>
                <a:cs typeface="Roboto Slab Light" pitchFamily="34" charset="-120"/>
              </a:rPr>
              <a:t>02</a:t>
            </a:r>
            <a:endParaRPr lang="en-US" sz="1150" dirty="0"/>
          </a:p>
        </p:txBody>
      </p:sp>
      <p:pic>
        <p:nvPicPr>
          <p:cNvPr id="12" name="Image 1" descr="preencoded.png"/>
          <p:cNvPicPr>
            <a:picLocks noChangeAspect="1"/>
          </p:cNvPicPr>
          <p:nvPr/>
        </p:nvPicPr>
        <p:blipFill>
          <a:blip r:embed="rId3"/>
          <a:stretch>
            <a:fillRect/>
          </a:stretch>
        </p:blipFill>
        <p:spPr>
          <a:xfrm>
            <a:off x="7389733" y="1325166"/>
            <a:ext cx="6643568" cy="15240"/>
          </a:xfrm>
          <a:prstGeom prst="rect">
            <a:avLst/>
          </a:prstGeom>
        </p:spPr>
      </p:pic>
      <p:sp>
        <p:nvSpPr>
          <p:cNvPr id="13" name="Text 9"/>
          <p:cNvSpPr/>
          <p:nvPr/>
        </p:nvSpPr>
        <p:spPr>
          <a:xfrm>
            <a:off x="7389733" y="1430179"/>
            <a:ext cx="3051453" cy="233124"/>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Host-Based Firewall Configuration</a:t>
            </a:r>
            <a:endParaRPr lang="en-US" sz="1450" dirty="0"/>
          </a:p>
        </p:txBody>
      </p:sp>
      <p:sp>
        <p:nvSpPr>
          <p:cNvPr id="14" name="Text 10"/>
          <p:cNvSpPr/>
          <p:nvPr/>
        </p:nvSpPr>
        <p:spPr>
          <a:xfrm>
            <a:off x="7389733" y="1752838"/>
            <a:ext cx="6643568" cy="238839"/>
          </a:xfrm>
          <a:prstGeom prst="rect">
            <a:avLst/>
          </a:prstGeom>
          <a:noFill/>
          <a:ln/>
        </p:spPr>
        <p:txBody>
          <a:bodyPr wrap="none" lIns="0" tIns="0" rIns="0" bIns="0" rtlCol="0" anchor="t"/>
          <a:lstStyle/>
          <a:p>
            <a:pPr marL="0" indent="0" algn="l">
              <a:lnSpc>
                <a:spcPts val="1850"/>
              </a:lnSpc>
              <a:buNone/>
            </a:pPr>
            <a:r>
              <a:rPr lang="en-US" sz="1150" b="1" dirty="0">
                <a:solidFill>
                  <a:srgbClr val="15213F"/>
                </a:solidFill>
                <a:latin typeface="Roboto" pitchFamily="34" charset="0"/>
                <a:ea typeface="Roboto" pitchFamily="34" charset="-122"/>
                <a:cs typeface="Roboto" pitchFamily="34" charset="-120"/>
              </a:rPr>
              <a:t>Configure ufw (Ubuntu):</a:t>
            </a:r>
            <a:endParaRPr lang="en-US" sz="1150" dirty="0"/>
          </a:p>
        </p:txBody>
      </p:sp>
      <p:sp>
        <p:nvSpPr>
          <p:cNvPr id="15" name="Shape 11"/>
          <p:cNvSpPr/>
          <p:nvPr/>
        </p:nvSpPr>
        <p:spPr>
          <a:xfrm>
            <a:off x="7389733" y="2144673"/>
            <a:ext cx="6643568" cy="940356"/>
          </a:xfrm>
          <a:prstGeom prst="roundRect">
            <a:avLst>
              <a:gd name="adj" fmla="val 2381"/>
            </a:avLst>
          </a:prstGeom>
          <a:solidFill>
            <a:srgbClr val="EEEFF1"/>
          </a:solidFill>
          <a:ln/>
        </p:spPr>
      </p:sp>
      <p:sp>
        <p:nvSpPr>
          <p:cNvPr id="16" name="Shape 12"/>
          <p:cNvSpPr/>
          <p:nvPr/>
        </p:nvSpPr>
        <p:spPr>
          <a:xfrm>
            <a:off x="7382351" y="2144673"/>
            <a:ext cx="6658332" cy="940356"/>
          </a:xfrm>
          <a:prstGeom prst="roundRect">
            <a:avLst>
              <a:gd name="adj" fmla="val 2381"/>
            </a:avLst>
          </a:prstGeom>
          <a:solidFill>
            <a:srgbClr val="EEEFF1"/>
          </a:solidFill>
          <a:ln/>
        </p:spPr>
      </p:sp>
      <p:sp>
        <p:nvSpPr>
          <p:cNvPr id="17" name="Text 13"/>
          <p:cNvSpPr/>
          <p:nvPr/>
        </p:nvSpPr>
        <p:spPr>
          <a:xfrm>
            <a:off x="7531537" y="2271474"/>
            <a:ext cx="6359962" cy="716518"/>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highlight>
                  <a:srgbClr val="EEEFF1"/>
                </a:highlight>
                <a:latin typeface="Consolas" pitchFamily="34" charset="0"/>
                <a:ea typeface="Consolas" pitchFamily="34" charset="-122"/>
                <a:cs typeface="Consolas" pitchFamily="34" charset="-120"/>
              </a:rPr>
              <a:t>sudo ufw allow 22sudo ufw enablesudo ufw status</a:t>
            </a:r>
            <a:endParaRPr lang="en-US" sz="1150" dirty="0"/>
          </a:p>
        </p:txBody>
      </p:sp>
      <p:sp>
        <p:nvSpPr>
          <p:cNvPr id="18" name="Text 14"/>
          <p:cNvSpPr/>
          <p:nvPr/>
        </p:nvSpPr>
        <p:spPr>
          <a:xfrm>
            <a:off x="7389733" y="3267789"/>
            <a:ext cx="6643568" cy="238839"/>
          </a:xfrm>
          <a:prstGeom prst="rect">
            <a:avLst/>
          </a:prstGeom>
          <a:noFill/>
          <a:ln/>
        </p:spPr>
        <p:txBody>
          <a:bodyPr wrap="none" lIns="0" tIns="0" rIns="0" bIns="0" rtlCol="0" anchor="t"/>
          <a:lstStyle/>
          <a:p>
            <a:pPr marL="0" indent="0" algn="l">
              <a:lnSpc>
                <a:spcPts val="1850"/>
              </a:lnSpc>
              <a:buNone/>
            </a:pPr>
            <a:r>
              <a:rPr lang="en-US" sz="1150" b="1" dirty="0">
                <a:solidFill>
                  <a:srgbClr val="15213F"/>
                </a:solidFill>
                <a:latin typeface="Roboto" pitchFamily="34" charset="0"/>
                <a:ea typeface="Roboto" pitchFamily="34" charset="-122"/>
                <a:cs typeface="Roboto" pitchFamily="34" charset="-120"/>
              </a:rPr>
              <a:t>Configure firewalld (RHEL):</a:t>
            </a:r>
            <a:endParaRPr lang="en-US" sz="1150" dirty="0"/>
          </a:p>
        </p:txBody>
      </p:sp>
      <p:sp>
        <p:nvSpPr>
          <p:cNvPr id="19" name="Shape 15"/>
          <p:cNvSpPr/>
          <p:nvPr/>
        </p:nvSpPr>
        <p:spPr>
          <a:xfrm>
            <a:off x="7389733" y="3659624"/>
            <a:ext cx="6643568" cy="701516"/>
          </a:xfrm>
          <a:prstGeom prst="roundRect">
            <a:avLst>
              <a:gd name="adj" fmla="val 3192"/>
            </a:avLst>
          </a:prstGeom>
          <a:solidFill>
            <a:srgbClr val="EEEFF1"/>
          </a:solidFill>
          <a:ln/>
        </p:spPr>
      </p:sp>
      <p:sp>
        <p:nvSpPr>
          <p:cNvPr id="20" name="Shape 16"/>
          <p:cNvSpPr/>
          <p:nvPr/>
        </p:nvSpPr>
        <p:spPr>
          <a:xfrm>
            <a:off x="7382351" y="3659624"/>
            <a:ext cx="6658332" cy="701516"/>
          </a:xfrm>
          <a:prstGeom prst="roundRect">
            <a:avLst>
              <a:gd name="adj" fmla="val 3192"/>
            </a:avLst>
          </a:prstGeom>
          <a:solidFill>
            <a:srgbClr val="EEEFF1"/>
          </a:solidFill>
          <a:ln/>
        </p:spPr>
      </p:sp>
      <p:sp>
        <p:nvSpPr>
          <p:cNvPr id="21" name="Text 17"/>
          <p:cNvSpPr/>
          <p:nvPr/>
        </p:nvSpPr>
        <p:spPr>
          <a:xfrm>
            <a:off x="7531537" y="3786426"/>
            <a:ext cx="6359962" cy="47767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highlight>
                  <a:srgbClr val="EEEFF1"/>
                </a:highlight>
                <a:latin typeface="Consolas" pitchFamily="34" charset="0"/>
                <a:ea typeface="Consolas" pitchFamily="34" charset="-122"/>
                <a:cs typeface="Consolas" pitchFamily="34" charset="-120"/>
              </a:rPr>
              <a:t>sudo firewall-cmd --add-port=22/tcp --permanentsudo firewall-cmd --reload</a:t>
            </a:r>
            <a:endParaRPr lang="en-US" sz="1150" dirty="0"/>
          </a:p>
        </p:txBody>
      </p:sp>
      <p:sp>
        <p:nvSpPr>
          <p:cNvPr id="22" name="Text 18"/>
          <p:cNvSpPr/>
          <p:nvPr/>
        </p:nvSpPr>
        <p:spPr>
          <a:xfrm>
            <a:off x="7389733" y="4543901"/>
            <a:ext cx="6643568" cy="238839"/>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Default-deny policies with explicit allow rules minimize exposure.</a:t>
            </a:r>
            <a:endParaRPr lang="en-US" sz="1150" dirty="0"/>
          </a:p>
        </p:txBody>
      </p:sp>
      <p:sp>
        <p:nvSpPr>
          <p:cNvPr id="23" name="Text 19"/>
          <p:cNvSpPr/>
          <p:nvPr/>
        </p:nvSpPr>
        <p:spPr>
          <a:xfrm>
            <a:off x="597098" y="5043845"/>
            <a:ext cx="149185" cy="186571"/>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Slab Light" pitchFamily="34" charset="0"/>
                <a:ea typeface="Roboto Slab Light" pitchFamily="34" charset="-122"/>
                <a:cs typeface="Roboto Slab Light" pitchFamily="34" charset="-120"/>
              </a:rPr>
              <a:t>03</a:t>
            </a:r>
            <a:endParaRPr lang="en-US" sz="1150" dirty="0"/>
          </a:p>
        </p:txBody>
      </p:sp>
      <p:pic>
        <p:nvPicPr>
          <p:cNvPr id="24" name="Image 2" descr="preencoded.png"/>
          <p:cNvPicPr>
            <a:picLocks noChangeAspect="1"/>
          </p:cNvPicPr>
          <p:nvPr/>
        </p:nvPicPr>
        <p:blipFill>
          <a:blip r:embed="rId3"/>
          <a:stretch>
            <a:fillRect/>
          </a:stretch>
        </p:blipFill>
        <p:spPr>
          <a:xfrm>
            <a:off x="597098" y="5267325"/>
            <a:ext cx="6643449" cy="15240"/>
          </a:xfrm>
          <a:prstGeom prst="rect">
            <a:avLst/>
          </a:prstGeom>
        </p:spPr>
      </p:pic>
      <p:sp>
        <p:nvSpPr>
          <p:cNvPr id="25" name="Text 20"/>
          <p:cNvSpPr/>
          <p:nvPr/>
        </p:nvSpPr>
        <p:spPr>
          <a:xfrm>
            <a:off x="597098" y="5387221"/>
            <a:ext cx="2943701" cy="233124"/>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Automated Hardening with Lynis</a:t>
            </a:r>
            <a:endParaRPr lang="en-US" sz="1450" dirty="0"/>
          </a:p>
        </p:txBody>
      </p:sp>
      <p:sp>
        <p:nvSpPr>
          <p:cNvPr id="26" name="Text 21"/>
          <p:cNvSpPr/>
          <p:nvPr/>
        </p:nvSpPr>
        <p:spPr>
          <a:xfrm>
            <a:off x="597098" y="5709880"/>
            <a:ext cx="6643449" cy="47767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Lynis is a security auditing tool that scans your system and provides actionable hardening recommendations.</a:t>
            </a:r>
            <a:endParaRPr lang="en-US" sz="1150" dirty="0"/>
          </a:p>
        </p:txBody>
      </p:sp>
      <p:sp>
        <p:nvSpPr>
          <p:cNvPr id="27" name="Shape 22"/>
          <p:cNvSpPr/>
          <p:nvPr/>
        </p:nvSpPr>
        <p:spPr>
          <a:xfrm>
            <a:off x="597098" y="6325672"/>
            <a:ext cx="6643449" cy="701516"/>
          </a:xfrm>
          <a:prstGeom prst="roundRect">
            <a:avLst>
              <a:gd name="adj" fmla="val 3192"/>
            </a:avLst>
          </a:prstGeom>
          <a:solidFill>
            <a:srgbClr val="EEEFF1"/>
          </a:solidFill>
          <a:ln/>
        </p:spPr>
      </p:sp>
      <p:sp>
        <p:nvSpPr>
          <p:cNvPr id="28" name="Shape 23"/>
          <p:cNvSpPr/>
          <p:nvPr/>
        </p:nvSpPr>
        <p:spPr>
          <a:xfrm>
            <a:off x="589717" y="6325672"/>
            <a:ext cx="6658213" cy="701516"/>
          </a:xfrm>
          <a:prstGeom prst="roundRect">
            <a:avLst>
              <a:gd name="adj" fmla="val 3192"/>
            </a:avLst>
          </a:prstGeom>
          <a:solidFill>
            <a:srgbClr val="EEEFF1"/>
          </a:solidFill>
          <a:ln/>
        </p:spPr>
      </p:sp>
      <p:sp>
        <p:nvSpPr>
          <p:cNvPr id="29" name="Text 24"/>
          <p:cNvSpPr/>
          <p:nvPr/>
        </p:nvSpPr>
        <p:spPr>
          <a:xfrm>
            <a:off x="738902" y="6467356"/>
            <a:ext cx="6359843" cy="47767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highlight>
                  <a:srgbClr val="EEEFF1"/>
                </a:highlight>
                <a:latin typeface="Consolas" pitchFamily="34" charset="0"/>
                <a:ea typeface="Consolas" pitchFamily="34" charset="-122"/>
                <a:cs typeface="Consolas" pitchFamily="34" charset="-120"/>
              </a:rPr>
              <a:t>sudo apt install lynissudo lynis audit system</a:t>
            </a:r>
            <a:endParaRPr lang="en-US" sz="1150" dirty="0"/>
          </a:p>
        </p:txBody>
      </p:sp>
      <p:sp>
        <p:nvSpPr>
          <p:cNvPr id="30" name="Text 25"/>
          <p:cNvSpPr/>
          <p:nvPr/>
        </p:nvSpPr>
        <p:spPr>
          <a:xfrm>
            <a:off x="597098" y="7224832"/>
            <a:ext cx="6643449" cy="47767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Review the report and implement high-priority suggestions. Re-scan periodically to track improvements.</a:t>
            </a:r>
            <a:endParaRPr lang="en-US" sz="1150" dirty="0"/>
          </a:p>
        </p:txBody>
      </p:sp>
      <p:sp>
        <p:nvSpPr>
          <p:cNvPr id="31" name="Text 26"/>
          <p:cNvSpPr/>
          <p:nvPr/>
        </p:nvSpPr>
        <p:spPr>
          <a:xfrm>
            <a:off x="7389733" y="5043845"/>
            <a:ext cx="149185" cy="186571"/>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Slab Light" pitchFamily="34" charset="0"/>
                <a:ea typeface="Roboto Slab Light" pitchFamily="34" charset="-122"/>
                <a:cs typeface="Roboto Slab Light" pitchFamily="34" charset="-120"/>
              </a:rPr>
              <a:t>04</a:t>
            </a:r>
            <a:endParaRPr lang="en-US" sz="1150" dirty="0"/>
          </a:p>
        </p:txBody>
      </p:sp>
      <p:pic>
        <p:nvPicPr>
          <p:cNvPr id="32" name="Image 3" descr="preencoded.png"/>
          <p:cNvPicPr>
            <a:picLocks noChangeAspect="1"/>
          </p:cNvPicPr>
          <p:nvPr/>
        </p:nvPicPr>
        <p:blipFill>
          <a:blip r:embed="rId3"/>
          <a:stretch>
            <a:fillRect/>
          </a:stretch>
        </p:blipFill>
        <p:spPr>
          <a:xfrm>
            <a:off x="7389733" y="5282208"/>
            <a:ext cx="6643568" cy="15240"/>
          </a:xfrm>
          <a:prstGeom prst="rect">
            <a:avLst/>
          </a:prstGeom>
        </p:spPr>
      </p:pic>
      <p:sp>
        <p:nvSpPr>
          <p:cNvPr id="33" name="Text 27"/>
          <p:cNvSpPr/>
          <p:nvPr/>
        </p:nvSpPr>
        <p:spPr>
          <a:xfrm>
            <a:off x="7389733" y="5387221"/>
            <a:ext cx="2737366" cy="233124"/>
          </a:xfrm>
          <a:prstGeom prst="rect">
            <a:avLst/>
          </a:prstGeom>
          <a:noFill/>
          <a:ln/>
        </p:spPr>
        <p:txBody>
          <a:bodyPr wrap="none" lIns="0" tIns="0" rIns="0" bIns="0" rtlCol="0" anchor="t"/>
          <a:lstStyle/>
          <a:p>
            <a:pPr marL="0" indent="0" algn="l">
              <a:lnSpc>
                <a:spcPts val="1800"/>
              </a:lnSpc>
              <a:buNone/>
            </a:pPr>
            <a:r>
              <a:rPr lang="en-US" sz="1450" dirty="0">
                <a:solidFill>
                  <a:srgbClr val="15213F"/>
                </a:solidFill>
                <a:latin typeface="Roboto Slab" pitchFamily="34" charset="0"/>
                <a:ea typeface="Roboto Slab" pitchFamily="34" charset="-122"/>
                <a:cs typeface="Roboto Slab" pitchFamily="34" charset="-120"/>
              </a:rPr>
              <a:t>Package Management Strategy</a:t>
            </a:r>
            <a:endParaRPr lang="en-US" sz="1450" dirty="0"/>
          </a:p>
        </p:txBody>
      </p:sp>
      <p:sp>
        <p:nvSpPr>
          <p:cNvPr id="34" name="Text 28"/>
          <p:cNvSpPr/>
          <p:nvPr/>
        </p:nvSpPr>
        <p:spPr>
          <a:xfrm>
            <a:off x="7389733" y="5709880"/>
            <a:ext cx="6643568" cy="238839"/>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Pin critical package versions to prevent unexpected updates that might break production:</a:t>
            </a:r>
            <a:endParaRPr lang="en-US" sz="1150" dirty="0"/>
          </a:p>
        </p:txBody>
      </p:sp>
      <p:sp>
        <p:nvSpPr>
          <p:cNvPr id="35" name="Shape 29"/>
          <p:cNvSpPr/>
          <p:nvPr/>
        </p:nvSpPr>
        <p:spPr>
          <a:xfrm>
            <a:off x="7389733" y="6086832"/>
            <a:ext cx="6643568" cy="462677"/>
          </a:xfrm>
          <a:prstGeom prst="roundRect">
            <a:avLst>
              <a:gd name="adj" fmla="val 4840"/>
            </a:avLst>
          </a:prstGeom>
          <a:solidFill>
            <a:srgbClr val="EEEFF1"/>
          </a:solidFill>
          <a:ln/>
        </p:spPr>
      </p:sp>
      <p:sp>
        <p:nvSpPr>
          <p:cNvPr id="36" name="Shape 30"/>
          <p:cNvSpPr/>
          <p:nvPr/>
        </p:nvSpPr>
        <p:spPr>
          <a:xfrm>
            <a:off x="7382351" y="6086832"/>
            <a:ext cx="6658332" cy="462677"/>
          </a:xfrm>
          <a:prstGeom prst="roundRect">
            <a:avLst>
              <a:gd name="adj" fmla="val 4840"/>
            </a:avLst>
          </a:prstGeom>
          <a:solidFill>
            <a:srgbClr val="EEEFF1"/>
          </a:solidFill>
          <a:ln/>
        </p:spPr>
      </p:sp>
      <p:sp>
        <p:nvSpPr>
          <p:cNvPr id="37" name="Text 31"/>
          <p:cNvSpPr/>
          <p:nvPr/>
        </p:nvSpPr>
        <p:spPr>
          <a:xfrm>
            <a:off x="7531537" y="6228517"/>
            <a:ext cx="6359962" cy="238839"/>
          </a:xfrm>
          <a:prstGeom prst="rect">
            <a:avLst/>
          </a:prstGeom>
          <a:noFill/>
          <a:ln/>
        </p:spPr>
        <p:txBody>
          <a:bodyPr wrap="none" lIns="0" tIns="0" rIns="0" bIns="0" rtlCol="0" anchor="t"/>
          <a:lstStyle/>
          <a:p>
            <a:pPr marL="0" indent="0" algn="l">
              <a:lnSpc>
                <a:spcPts val="1850"/>
              </a:lnSpc>
              <a:buNone/>
            </a:pPr>
            <a:r>
              <a:rPr lang="en-US" sz="1150" dirty="0">
                <a:solidFill>
                  <a:srgbClr val="15213F"/>
                </a:solidFill>
                <a:highlight>
                  <a:srgbClr val="EEEFF1"/>
                </a:highlight>
                <a:latin typeface="Consolas" pitchFamily="34" charset="0"/>
                <a:ea typeface="Consolas" pitchFamily="34" charset="-122"/>
                <a:cs typeface="Consolas" pitchFamily="34" charset="-120"/>
              </a:rPr>
              <a:t>sudo apt-mark hold openssh-server</a:t>
            </a:r>
            <a:endParaRPr lang="en-US" sz="1150" dirty="0"/>
          </a:p>
        </p:txBody>
      </p:sp>
      <p:sp>
        <p:nvSpPr>
          <p:cNvPr id="38" name="Text 32"/>
          <p:cNvSpPr/>
          <p:nvPr/>
        </p:nvSpPr>
        <p:spPr>
          <a:xfrm>
            <a:off x="7389733" y="6747153"/>
            <a:ext cx="6643568" cy="485299"/>
          </a:xfrm>
          <a:prstGeom prst="rect">
            <a:avLst/>
          </a:prstGeom>
          <a:noFill/>
          <a:ln/>
        </p:spPr>
        <p:txBody>
          <a:bodyPr wrap="square" lIns="0" tIns="0" rIns="0" bIns="0" rtlCol="0" anchor="t"/>
          <a:lstStyle/>
          <a:p>
            <a:pPr marL="0" indent="0" algn="l">
              <a:lnSpc>
                <a:spcPts val="1850"/>
              </a:lnSpc>
              <a:buNone/>
            </a:pPr>
            <a:r>
              <a:rPr lang="en-US" sz="1150" dirty="0">
                <a:solidFill>
                  <a:srgbClr val="15213F"/>
                </a:solidFill>
                <a:latin typeface="Roboto" pitchFamily="34" charset="0"/>
                <a:ea typeface="Roboto" pitchFamily="34" charset="-122"/>
                <a:cs typeface="Roboto" pitchFamily="34" charset="-120"/>
              </a:rPr>
              <a:t>Use </a:t>
            </a:r>
            <a:r>
              <a:rPr lang="en-US" sz="1150" dirty="0">
                <a:solidFill>
                  <a:srgbClr val="15213F"/>
                </a:solidFill>
                <a:highlight>
                  <a:srgbClr val="EEEFF1"/>
                </a:highlight>
                <a:latin typeface="Consolas" pitchFamily="34" charset="0"/>
                <a:ea typeface="Consolas" pitchFamily="34" charset="-122"/>
                <a:cs typeface="Consolas" pitchFamily="34" charset="-120"/>
              </a:rPr>
              <a:t>apt-mark unhold</a:t>
            </a:r>
            <a:r>
              <a:rPr lang="en-US" sz="1150" dirty="0">
                <a:solidFill>
                  <a:srgbClr val="15213F"/>
                </a:solidFill>
                <a:latin typeface="Roboto" pitchFamily="34" charset="0"/>
                <a:ea typeface="Roboto" pitchFamily="34" charset="-122"/>
                <a:cs typeface="Roboto" pitchFamily="34" charset="-120"/>
              </a:rPr>
              <a:t> when ready to upgrade. This prevents automatic updates to sensitive services.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62978"/>
            <a:ext cx="5774769"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Free Practice Labs &amp; Resources</a:t>
            </a:r>
            <a:endParaRPr lang="en-US" sz="3100" dirty="0"/>
          </a:p>
        </p:txBody>
      </p:sp>
      <p:sp>
        <p:nvSpPr>
          <p:cNvPr id="3" name="Text 1"/>
          <p:cNvSpPr/>
          <p:nvPr/>
        </p:nvSpPr>
        <p:spPr>
          <a:xfrm>
            <a:off x="793790" y="185594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Hands-on practice is essential for mastering Linux security. These platforms offer free labs where you can safely experiment with logging, hardening, and incident response techniques in realistic environments.</a:t>
            </a:r>
            <a:endParaRPr lang="en-US" sz="1550" dirty="0"/>
          </a:p>
        </p:txBody>
      </p:sp>
      <p:sp>
        <p:nvSpPr>
          <p:cNvPr id="4" name="Shape 2"/>
          <p:cNvSpPr/>
          <p:nvPr/>
        </p:nvSpPr>
        <p:spPr>
          <a:xfrm>
            <a:off x="793790" y="2714268"/>
            <a:ext cx="13042821" cy="4011573"/>
          </a:xfrm>
          <a:prstGeom prst="roundRect">
            <a:avLst>
              <a:gd name="adj" fmla="val 742"/>
            </a:avLst>
          </a:prstGeom>
          <a:noFill/>
          <a:ln w="7620">
            <a:solidFill>
              <a:srgbClr val="000000">
                <a:alpha val="8000"/>
              </a:srgbClr>
            </a:solidFill>
            <a:prstDash val="solid"/>
          </a:ln>
        </p:spPr>
      </p:sp>
      <p:sp>
        <p:nvSpPr>
          <p:cNvPr id="5" name="Shape 3"/>
          <p:cNvSpPr/>
          <p:nvPr/>
        </p:nvSpPr>
        <p:spPr>
          <a:xfrm>
            <a:off x="801410" y="2721888"/>
            <a:ext cx="13027581" cy="570905"/>
          </a:xfrm>
          <a:prstGeom prst="rect">
            <a:avLst/>
          </a:prstGeom>
          <a:solidFill>
            <a:srgbClr val="FFFFFF">
              <a:alpha val="4000"/>
            </a:srgbClr>
          </a:solidFill>
          <a:ln/>
        </p:spPr>
      </p:sp>
      <p:sp>
        <p:nvSpPr>
          <p:cNvPr id="6" name="Text 4"/>
          <p:cNvSpPr/>
          <p:nvPr/>
        </p:nvSpPr>
        <p:spPr>
          <a:xfrm>
            <a:off x="999887" y="2848570"/>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Platform</a:t>
            </a:r>
            <a:endParaRPr lang="en-US" sz="1550" dirty="0"/>
          </a:p>
        </p:txBody>
      </p:sp>
      <p:sp>
        <p:nvSpPr>
          <p:cNvPr id="7" name="Text 5"/>
          <p:cNvSpPr/>
          <p:nvPr/>
        </p:nvSpPr>
        <p:spPr>
          <a:xfrm>
            <a:off x="4260533" y="2848570"/>
            <a:ext cx="3503890"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Lab Name</a:t>
            </a:r>
            <a:endParaRPr lang="en-US" sz="1550" dirty="0"/>
          </a:p>
        </p:txBody>
      </p:sp>
      <p:sp>
        <p:nvSpPr>
          <p:cNvPr id="8" name="Text 6"/>
          <p:cNvSpPr/>
          <p:nvPr/>
        </p:nvSpPr>
        <p:spPr>
          <a:xfrm>
            <a:off x="8168759" y="2848570"/>
            <a:ext cx="54618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Purpose</a:t>
            </a:r>
            <a:endParaRPr lang="en-US" sz="1550" dirty="0"/>
          </a:p>
        </p:txBody>
      </p:sp>
      <p:sp>
        <p:nvSpPr>
          <p:cNvPr id="9" name="Shape 7"/>
          <p:cNvSpPr/>
          <p:nvPr/>
        </p:nvSpPr>
        <p:spPr>
          <a:xfrm>
            <a:off x="801410" y="3292793"/>
            <a:ext cx="13027581" cy="570905"/>
          </a:xfrm>
          <a:prstGeom prst="rect">
            <a:avLst/>
          </a:prstGeom>
          <a:solidFill>
            <a:srgbClr val="000000">
              <a:alpha val="4000"/>
            </a:srgbClr>
          </a:solidFill>
          <a:ln/>
        </p:spPr>
      </p:sp>
      <p:sp>
        <p:nvSpPr>
          <p:cNvPr id="10" name="Text 8"/>
          <p:cNvSpPr/>
          <p:nvPr/>
        </p:nvSpPr>
        <p:spPr>
          <a:xfrm>
            <a:off x="999887" y="3419475"/>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TryHackMe</a:t>
            </a:r>
            <a:endParaRPr lang="en-US" sz="1550" dirty="0"/>
          </a:p>
        </p:txBody>
      </p:sp>
      <p:sp>
        <p:nvSpPr>
          <p:cNvPr id="11" name="Text 9"/>
          <p:cNvSpPr/>
          <p:nvPr/>
        </p:nvSpPr>
        <p:spPr>
          <a:xfrm>
            <a:off x="4260533" y="3419475"/>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Linux Fundamentals 1–3</a:t>
            </a:r>
            <a:endParaRPr lang="en-US" sz="1550" dirty="0"/>
          </a:p>
        </p:txBody>
      </p:sp>
      <p:sp>
        <p:nvSpPr>
          <p:cNvPr id="12" name="Text 10"/>
          <p:cNvSpPr/>
          <p:nvPr/>
        </p:nvSpPr>
        <p:spPr>
          <a:xfrm>
            <a:off x="8168759" y="3419475"/>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Master Linux security basics and command-line essentials</a:t>
            </a:r>
            <a:endParaRPr lang="en-US" sz="1550" dirty="0"/>
          </a:p>
        </p:txBody>
      </p:sp>
      <p:sp>
        <p:nvSpPr>
          <p:cNvPr id="13" name="Shape 11"/>
          <p:cNvSpPr/>
          <p:nvPr/>
        </p:nvSpPr>
        <p:spPr>
          <a:xfrm>
            <a:off x="801410" y="3863697"/>
            <a:ext cx="13027581" cy="570905"/>
          </a:xfrm>
          <a:prstGeom prst="rect">
            <a:avLst/>
          </a:prstGeom>
          <a:solidFill>
            <a:srgbClr val="FFFFFF">
              <a:alpha val="4000"/>
            </a:srgbClr>
          </a:solidFill>
          <a:ln/>
        </p:spPr>
      </p:sp>
      <p:sp>
        <p:nvSpPr>
          <p:cNvPr id="14" name="Text 12"/>
          <p:cNvSpPr/>
          <p:nvPr/>
        </p:nvSpPr>
        <p:spPr>
          <a:xfrm>
            <a:off x="999887" y="3990380"/>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TryHackMe</a:t>
            </a:r>
            <a:endParaRPr lang="en-US" sz="1550" dirty="0"/>
          </a:p>
        </p:txBody>
      </p:sp>
      <p:sp>
        <p:nvSpPr>
          <p:cNvPr id="15" name="Text 13"/>
          <p:cNvSpPr/>
          <p:nvPr/>
        </p:nvSpPr>
        <p:spPr>
          <a:xfrm>
            <a:off x="4260533" y="3990380"/>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Linux PrivEsc</a:t>
            </a:r>
            <a:endParaRPr lang="en-US" sz="1550" dirty="0"/>
          </a:p>
        </p:txBody>
      </p:sp>
      <p:sp>
        <p:nvSpPr>
          <p:cNvPr id="16" name="Text 14"/>
          <p:cNvSpPr/>
          <p:nvPr/>
        </p:nvSpPr>
        <p:spPr>
          <a:xfrm>
            <a:off x="8168759" y="3990380"/>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Audit and exploit common misconfigurations</a:t>
            </a:r>
            <a:endParaRPr lang="en-US" sz="1550" dirty="0"/>
          </a:p>
        </p:txBody>
      </p:sp>
      <p:sp>
        <p:nvSpPr>
          <p:cNvPr id="17" name="Shape 15"/>
          <p:cNvSpPr/>
          <p:nvPr/>
        </p:nvSpPr>
        <p:spPr>
          <a:xfrm>
            <a:off x="801410" y="4434602"/>
            <a:ext cx="13027581" cy="570905"/>
          </a:xfrm>
          <a:prstGeom prst="rect">
            <a:avLst/>
          </a:prstGeom>
          <a:solidFill>
            <a:srgbClr val="000000">
              <a:alpha val="4000"/>
            </a:srgbClr>
          </a:solidFill>
          <a:ln/>
        </p:spPr>
      </p:sp>
      <p:sp>
        <p:nvSpPr>
          <p:cNvPr id="18" name="Text 16"/>
          <p:cNvSpPr/>
          <p:nvPr/>
        </p:nvSpPr>
        <p:spPr>
          <a:xfrm>
            <a:off x="999887" y="456128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TryHackMe</a:t>
            </a:r>
            <a:endParaRPr lang="en-US" sz="1550" dirty="0"/>
          </a:p>
        </p:txBody>
      </p:sp>
      <p:sp>
        <p:nvSpPr>
          <p:cNvPr id="19" name="Text 17"/>
          <p:cNvSpPr/>
          <p:nvPr/>
        </p:nvSpPr>
        <p:spPr>
          <a:xfrm>
            <a:off x="4260533" y="4561284"/>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Blue Team Fundamentals</a:t>
            </a:r>
            <a:endParaRPr lang="en-US" sz="1550" dirty="0"/>
          </a:p>
        </p:txBody>
      </p:sp>
      <p:sp>
        <p:nvSpPr>
          <p:cNvPr id="20" name="Text 18"/>
          <p:cNvSpPr/>
          <p:nvPr/>
        </p:nvSpPr>
        <p:spPr>
          <a:xfrm>
            <a:off x="8168759" y="4561284"/>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Learn logging, monitoring, and SIEM operations</a:t>
            </a:r>
            <a:endParaRPr lang="en-US" sz="1550" dirty="0"/>
          </a:p>
        </p:txBody>
      </p:sp>
      <p:sp>
        <p:nvSpPr>
          <p:cNvPr id="21" name="Shape 19"/>
          <p:cNvSpPr/>
          <p:nvPr/>
        </p:nvSpPr>
        <p:spPr>
          <a:xfrm>
            <a:off x="801410" y="5005507"/>
            <a:ext cx="13027581" cy="570905"/>
          </a:xfrm>
          <a:prstGeom prst="rect">
            <a:avLst/>
          </a:prstGeom>
          <a:solidFill>
            <a:srgbClr val="FFFFFF">
              <a:alpha val="4000"/>
            </a:srgbClr>
          </a:solidFill>
          <a:ln/>
        </p:spPr>
      </p:sp>
      <p:sp>
        <p:nvSpPr>
          <p:cNvPr id="22" name="Text 20"/>
          <p:cNvSpPr/>
          <p:nvPr/>
        </p:nvSpPr>
        <p:spPr>
          <a:xfrm>
            <a:off x="999887" y="5132189"/>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TryHackMe</a:t>
            </a:r>
            <a:endParaRPr lang="en-US" sz="1550" dirty="0"/>
          </a:p>
        </p:txBody>
      </p:sp>
      <p:sp>
        <p:nvSpPr>
          <p:cNvPr id="23" name="Text 21"/>
          <p:cNvSpPr/>
          <p:nvPr/>
        </p:nvSpPr>
        <p:spPr>
          <a:xfrm>
            <a:off x="4260533" y="5132189"/>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Investigating Windows</a:t>
            </a:r>
            <a:endParaRPr lang="en-US" sz="1550" dirty="0"/>
          </a:p>
        </p:txBody>
      </p:sp>
      <p:sp>
        <p:nvSpPr>
          <p:cNvPr id="24" name="Text 22"/>
          <p:cNvSpPr/>
          <p:nvPr/>
        </p:nvSpPr>
        <p:spPr>
          <a:xfrm>
            <a:off x="8168759" y="5132189"/>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Log analysis concepts applicable to Linux</a:t>
            </a:r>
            <a:endParaRPr lang="en-US" sz="1550" dirty="0"/>
          </a:p>
        </p:txBody>
      </p:sp>
      <p:sp>
        <p:nvSpPr>
          <p:cNvPr id="25" name="Shape 23"/>
          <p:cNvSpPr/>
          <p:nvPr/>
        </p:nvSpPr>
        <p:spPr>
          <a:xfrm>
            <a:off x="801410" y="5576411"/>
            <a:ext cx="13027581" cy="570905"/>
          </a:xfrm>
          <a:prstGeom prst="rect">
            <a:avLst/>
          </a:prstGeom>
          <a:solidFill>
            <a:srgbClr val="000000">
              <a:alpha val="4000"/>
            </a:srgbClr>
          </a:solidFill>
          <a:ln/>
        </p:spPr>
      </p:sp>
      <p:sp>
        <p:nvSpPr>
          <p:cNvPr id="26" name="Text 24"/>
          <p:cNvSpPr/>
          <p:nvPr/>
        </p:nvSpPr>
        <p:spPr>
          <a:xfrm>
            <a:off x="999887" y="570309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CyberSecLabs</a:t>
            </a:r>
            <a:endParaRPr lang="en-US" sz="1550" dirty="0"/>
          </a:p>
        </p:txBody>
      </p:sp>
      <p:sp>
        <p:nvSpPr>
          <p:cNvPr id="27" name="Text 25"/>
          <p:cNvSpPr/>
          <p:nvPr/>
        </p:nvSpPr>
        <p:spPr>
          <a:xfrm>
            <a:off x="4260533" y="5703094"/>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Logging Basics</a:t>
            </a:r>
            <a:endParaRPr lang="en-US" sz="1550" dirty="0"/>
          </a:p>
        </p:txBody>
      </p:sp>
      <p:sp>
        <p:nvSpPr>
          <p:cNvPr id="28" name="Text 26"/>
          <p:cNvSpPr/>
          <p:nvPr/>
        </p:nvSpPr>
        <p:spPr>
          <a:xfrm>
            <a:off x="8168759" y="5703094"/>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Practical SIEM and log parsing exercises</a:t>
            </a:r>
            <a:endParaRPr lang="en-US" sz="1550" dirty="0"/>
          </a:p>
        </p:txBody>
      </p:sp>
      <p:sp>
        <p:nvSpPr>
          <p:cNvPr id="29" name="Shape 27"/>
          <p:cNvSpPr/>
          <p:nvPr/>
        </p:nvSpPr>
        <p:spPr>
          <a:xfrm>
            <a:off x="801410" y="6147316"/>
            <a:ext cx="13027581" cy="570905"/>
          </a:xfrm>
          <a:prstGeom prst="rect">
            <a:avLst/>
          </a:prstGeom>
          <a:solidFill>
            <a:srgbClr val="FFFFFF">
              <a:alpha val="4000"/>
            </a:srgbClr>
          </a:solidFill>
          <a:ln/>
        </p:spPr>
      </p:sp>
      <p:sp>
        <p:nvSpPr>
          <p:cNvPr id="30" name="Text 28"/>
          <p:cNvSpPr/>
          <p:nvPr/>
        </p:nvSpPr>
        <p:spPr>
          <a:xfrm>
            <a:off x="999887" y="627399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Wazuh Free Lab</a:t>
            </a:r>
            <a:endParaRPr lang="en-US" sz="1550" dirty="0"/>
          </a:p>
        </p:txBody>
      </p:sp>
      <p:sp>
        <p:nvSpPr>
          <p:cNvPr id="31" name="Text 29"/>
          <p:cNvSpPr/>
          <p:nvPr/>
        </p:nvSpPr>
        <p:spPr>
          <a:xfrm>
            <a:off x="4260533" y="6273998"/>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Wazuh Cloud Trial</a:t>
            </a:r>
            <a:endParaRPr lang="en-US" sz="1550" dirty="0"/>
          </a:p>
        </p:txBody>
      </p:sp>
      <p:sp>
        <p:nvSpPr>
          <p:cNvPr id="32" name="Text 30"/>
          <p:cNvSpPr/>
          <p:nvPr/>
        </p:nvSpPr>
        <p:spPr>
          <a:xfrm>
            <a:off x="8168759" y="6273998"/>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Centralized SIEM monitoring with real agents</a:t>
            </a:r>
            <a:endParaRPr lang="en-US" sz="1550" dirty="0"/>
          </a:p>
        </p:txBody>
      </p:sp>
      <p:sp>
        <p:nvSpPr>
          <p:cNvPr id="33" name="Text 31"/>
          <p:cNvSpPr/>
          <p:nvPr/>
        </p:nvSpPr>
        <p:spPr>
          <a:xfrm>
            <a:off x="793790" y="6949083"/>
            <a:ext cx="13042821" cy="317540"/>
          </a:xfrm>
          <a:prstGeom prst="rect">
            <a:avLst/>
          </a:prstGeom>
          <a:noFill/>
          <a:ln/>
        </p:spPr>
        <p:txBody>
          <a:bodyPr wrap="none" lIns="0" tIns="0" rIns="0" bIns="0" rtlCol="0" anchor="t"/>
          <a:lstStyle/>
          <a:p>
            <a:pPr marL="0" indent="0" algn="l">
              <a:lnSpc>
                <a:spcPts val="2500"/>
              </a:lnSpc>
              <a:buNone/>
            </a:pP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2722</Words>
  <Application>Microsoft Office PowerPoint</Application>
  <PresentationFormat>Custom</PresentationFormat>
  <Paragraphs>277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Roboto</vt:lpstr>
      <vt:lpstr>Roboto Slab</vt:lpstr>
      <vt:lpstr>Consolas</vt:lpstr>
      <vt:lpstr>Roboto Slab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Nilesh Panchal</cp:lastModifiedBy>
  <cp:revision>4</cp:revision>
  <dcterms:created xsi:type="dcterms:W3CDTF">2025-11-24T09:23:41Z</dcterms:created>
  <dcterms:modified xsi:type="dcterms:W3CDTF">2025-11-24T10:08:57Z</dcterms:modified>
</cp:coreProperties>
</file>