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625" r:id="rId2"/>
    <p:sldId id="408" r:id="rId3"/>
    <p:sldId id="635" r:id="rId4"/>
    <p:sldId id="657" r:id="rId5"/>
    <p:sldId id="656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5">
          <p15:clr>
            <a:srgbClr val="A4A3A4"/>
          </p15:clr>
        </p15:guide>
        <p15:guide id="2" pos="28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033" autoAdjust="0"/>
  </p:normalViewPr>
  <p:slideViewPr>
    <p:cSldViewPr>
      <p:cViewPr varScale="1">
        <p:scale>
          <a:sx n="82" d="100"/>
          <a:sy n="82" d="100"/>
        </p:scale>
        <p:origin x="1474" y="58"/>
      </p:cViewPr>
      <p:guideLst>
        <p:guide orient="horz" pos="2145"/>
        <p:guide pos="28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806D20-265A-45AE-8D7F-1100293F805F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854D4B-AC91-4CBF-9F06-E2874E0FB78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900093-A566-4883-87EB-6E6022A9D2E1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781080"/>
            <a:ext cx="8546121" cy="5791192"/>
          </a:xfrm>
        </p:spPr>
        <p:txBody>
          <a:bodyPr>
            <a:normAutofit fontScale="85000" lnSpcReduction="20000"/>
          </a:bodyPr>
          <a:lstStyle/>
          <a:p>
            <a:endParaRPr lang="en-IN" sz="4800" b="1" dirty="0">
              <a:solidFill>
                <a:schemeClr val="tx1"/>
              </a:solidFill>
            </a:endParaRPr>
          </a:p>
          <a:p>
            <a:r>
              <a:rPr lang="en-IN" sz="4800" b="1" dirty="0">
                <a:solidFill>
                  <a:schemeClr val="tx1"/>
                </a:solidFill>
              </a:rPr>
              <a:t>Mobile Phone Security </a:t>
            </a: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US" sz="2000" b="1" dirty="0">
              <a:solidFill>
                <a:schemeClr val="tx1"/>
              </a:solidFill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Dr. </a:t>
            </a:r>
            <a:r>
              <a:rPr lang="en-US" sz="2000" b="1" dirty="0" err="1">
                <a:solidFill>
                  <a:schemeClr val="tx1"/>
                </a:solidFill>
              </a:rPr>
              <a:t>Digvijaysinh</a:t>
            </a:r>
            <a:r>
              <a:rPr lang="en-US" sz="2000" b="1" dirty="0">
                <a:solidFill>
                  <a:schemeClr val="tx1"/>
                </a:solidFill>
              </a:rPr>
              <a:t> Rathod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Associate Professor </a:t>
            </a:r>
            <a:r>
              <a:rPr lang="en-IN" altLang="en-US" sz="2000" b="1" dirty="0">
                <a:solidFill>
                  <a:schemeClr val="tx1"/>
                </a:solidFill>
              </a:rPr>
              <a:t>&amp; Associate Dean</a:t>
            </a:r>
            <a:r>
              <a:rPr lang="en-US" sz="2000" b="1" dirty="0">
                <a:solidFill>
                  <a:schemeClr val="tx1"/>
                </a:solidFill>
              </a:rPr>
              <a:t> </a:t>
            </a:r>
          </a:p>
          <a:p>
            <a:r>
              <a:rPr lang="en-IN" altLang="en-US" sz="2000" b="1" dirty="0">
                <a:solidFill>
                  <a:schemeClr val="tx1"/>
                </a:solidFill>
              </a:rPr>
              <a:t>School of Cyber Security and Digital Forensics</a:t>
            </a:r>
            <a:endParaRPr lang="en-US" sz="2000" b="1" dirty="0">
              <a:solidFill>
                <a:schemeClr val="tx1"/>
              </a:solidFill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National Forensic Sciences University with status of Institution of National Importance 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2400" b="1" dirty="0">
              <a:latin typeface="Calibri" panose="020F0502020204030204" pitchFamily="34" charset="0"/>
            </a:endParaRP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digvijay.rathod@gfsu.edu.in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28860" y="1928802"/>
            <a:ext cx="4909738" cy="3000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 descr="GFSU: Courses, Admissions, Placements, Scholarships, Fees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045495" y="0"/>
            <a:ext cx="1120496" cy="142873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604" y="982029"/>
            <a:ext cx="8546121" cy="904368"/>
          </a:xfrm>
        </p:spPr>
        <p:txBody>
          <a:bodyPr>
            <a:noAutofit/>
          </a:bodyPr>
          <a:lstStyle/>
          <a:p>
            <a:pPr lvl="1">
              <a:lnSpc>
                <a:spcPct val="150000"/>
              </a:lnSpc>
            </a:pPr>
            <a:r>
              <a:rPr lang="en-US" alt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iOS Application</a:t>
            </a:r>
          </a:p>
          <a:p>
            <a:pPr lvl="1">
              <a:lnSpc>
                <a:spcPct val="150000"/>
              </a:lnSpc>
            </a:pPr>
            <a:r>
              <a:rPr lang="en-US" alt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Concepts</a:t>
            </a:r>
          </a:p>
          <a:p>
            <a:pPr lvl="1">
              <a:lnSpc>
                <a:spcPct val="150000"/>
              </a:lnSpc>
            </a:pPr>
            <a:r>
              <a:rPr lang="en-US" alt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>
              <a:lnSpc>
                <a:spcPct val="150000"/>
              </a:lnSpc>
            </a:pPr>
            <a:endParaRPr lang="en-US" altLang="en-US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Objection Framework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3772" y="634026"/>
            <a:ext cx="8676456" cy="5467320"/>
          </a:xfrm>
        </p:spPr>
        <p:txBody>
          <a:bodyPr>
            <a:noAutofit/>
          </a:bodyPr>
          <a:lstStyle/>
          <a:p>
            <a:pPr marL="4572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Objection is runtime mobile exploration toolkit built on top of </a:t>
            </a:r>
            <a:r>
              <a:rPr lang="en-US" sz="23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frida</a:t>
            </a:r>
            <a:r>
              <a:rPr 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which is used in Android and iOS </a:t>
            </a:r>
            <a:r>
              <a:rPr lang="en-US" sz="23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pentesting</a:t>
            </a:r>
            <a:r>
              <a:rPr 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can use Objection to perform numerous functions like SSL Pinning bypass, root detection bypass, performing memory tasks, heap tasks and more without even being root/ jailbroken.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However, it is to be noted that to take full advantage of all the functions it is recommended for </a:t>
            </a:r>
            <a:r>
              <a:rPr lang="en-US" sz="2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device to be root. S</a:t>
            </a:r>
            <a:r>
              <a:rPr 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ome of the functions demonstrated will require root and some may not. 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Local Data Storage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27448667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2218" y="498376"/>
            <a:ext cx="8546121" cy="5467320"/>
          </a:xfrm>
        </p:spPr>
        <p:txBody>
          <a:bodyPr>
            <a:no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recommended to test the application on a root device.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Install Frida server in the </a:t>
            </a:r>
            <a:r>
              <a:rPr lang="en-US" sz="23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Genymotion</a:t>
            </a:r>
            <a:r>
              <a:rPr 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client in the Kali Linux.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Run the Frida serve in the </a:t>
            </a:r>
            <a:r>
              <a:rPr lang="en-US" sz="23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genymotion</a:t>
            </a:r>
            <a:r>
              <a:rPr 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test Frida with kali Linux.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Install objection </a:t>
            </a:r>
          </a:p>
          <a:p>
            <a:pPr algn="just">
              <a:lnSpc>
                <a:spcPct val="150000"/>
              </a:lnSpc>
            </a:pPr>
            <a:r>
              <a:rPr 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Pip3 install objection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Objection Framework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2158924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2218" y="498376"/>
            <a:ext cx="8546121" cy="5467320"/>
          </a:xfrm>
        </p:spPr>
        <p:txBody>
          <a:bodyPr>
            <a:no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Now, the packages (apps) installed in an android device are referred to as </a:t>
            </a:r>
            <a:r>
              <a:rPr lang="en-US" sz="2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gadget</a:t>
            </a: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objection and to interact with an application to test, we’ll have to inject our objection agent in the app. To do so:</a:t>
            </a:r>
          </a:p>
          <a:p>
            <a:pPr algn="just">
              <a:lnSpc>
                <a:spcPct val="150000"/>
              </a:lnSpc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objection –gadget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jakhar.aseem.diva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explore</a:t>
            </a:r>
          </a:p>
          <a:p>
            <a:pPr algn="just">
              <a:lnSpc>
                <a:spcPct val="150000"/>
              </a:lnSpc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ping // to check that target agent responds ok</a:t>
            </a:r>
          </a:p>
          <a:p>
            <a:pPr algn="just">
              <a:lnSpc>
                <a:spcPct val="150000"/>
              </a:lnSpc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objection &gt;&gt;  - - help // to see the help</a:t>
            </a:r>
          </a:p>
          <a:p>
            <a:pPr algn="just">
              <a:lnSpc>
                <a:spcPct val="150000"/>
              </a:lnSpc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objection &gt;&gt; &lt;tab&gt; // to check the complete help</a:t>
            </a:r>
          </a:p>
          <a:p>
            <a:pPr algn="just">
              <a:lnSpc>
                <a:spcPct val="150000"/>
              </a:lnSpc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objection &gt;&gt;   - - help android /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ios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/…..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Objection Framework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23545507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9374</TotalTime>
  <Words>300</Words>
  <Application>Microsoft Office PowerPoint</Application>
  <PresentationFormat>On-screen Show (4:3)</PresentationFormat>
  <Paragraphs>44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digvijay</dc:creator>
  <cp:lastModifiedBy>Aastha Thakker</cp:lastModifiedBy>
  <cp:revision>774</cp:revision>
  <dcterms:created xsi:type="dcterms:W3CDTF">2018-03-30T10:15:00Z</dcterms:created>
  <dcterms:modified xsi:type="dcterms:W3CDTF">2026-04-21T12:52:07Z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1033-11.2.0.9684</vt:lpwstr>
  </property>
</Properties>
</file>