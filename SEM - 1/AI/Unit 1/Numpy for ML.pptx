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6" roundtripDataSignature="AMtx7mhdxJiKzafZcoNwULuCNBDTInoK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https://madewithml.com/courses/foundations/numpy/</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3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3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3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3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NumPy for Machine Learning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2"/>
          <p:cNvSpPr txBox="1"/>
          <p:nvPr>
            <p:ph type="title"/>
          </p:nvPr>
        </p:nvSpPr>
        <p:spPr>
          <a:xfrm>
            <a:off x="311700" y="1632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Let’s start</a:t>
            </a:r>
            <a:endParaRPr/>
          </a:p>
        </p:txBody>
      </p:sp>
      <p:sp>
        <p:nvSpPr>
          <p:cNvPr id="60" name="Google Shape;60;p2"/>
          <p:cNvSpPr txBox="1"/>
          <p:nvPr>
            <p:ph idx="1" type="body"/>
          </p:nvPr>
        </p:nvSpPr>
        <p:spPr>
          <a:xfrm>
            <a:off x="108025" y="811925"/>
            <a:ext cx="8889600" cy="379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First we'll import the NumPy package and set seeds for reproducibility so that we can receive the exact same results every time.</a:t>
            </a:r>
            <a:endParaRPr/>
          </a:p>
          <a:p>
            <a:pPr indent="0" lvl="0" marL="0" rtl="0" algn="l">
              <a:lnSpc>
                <a:spcPct val="115000"/>
              </a:lnSpc>
              <a:spcBef>
                <a:spcPts val="1200"/>
              </a:spcBef>
              <a:spcAft>
                <a:spcPts val="0"/>
              </a:spcAft>
              <a:buSzPts val="1800"/>
              <a:buNone/>
            </a:pPr>
            <a:r>
              <a:rPr b="1" i="1" lang="en" sz="1400"/>
              <a:t>import numpy as np</a:t>
            </a:r>
            <a:endParaRPr b="1" i="1" sz="1400"/>
          </a:p>
          <a:p>
            <a:pPr indent="0" lvl="0" marL="0" rtl="0" algn="l">
              <a:lnSpc>
                <a:spcPct val="115000"/>
              </a:lnSpc>
              <a:spcBef>
                <a:spcPts val="1200"/>
              </a:spcBef>
              <a:spcAft>
                <a:spcPts val="0"/>
              </a:spcAft>
              <a:buSzPts val="1800"/>
              <a:buNone/>
            </a:pPr>
            <a:r>
              <a:rPr i="1" lang="en"/>
              <a:t># Set seed for reproducibility</a:t>
            </a:r>
            <a:endParaRPr i="1"/>
          </a:p>
          <a:p>
            <a:pPr indent="0" lvl="0" marL="0" rtl="0" algn="l">
              <a:lnSpc>
                <a:spcPct val="115000"/>
              </a:lnSpc>
              <a:spcBef>
                <a:spcPts val="1200"/>
              </a:spcBef>
              <a:spcAft>
                <a:spcPts val="0"/>
              </a:spcAft>
              <a:buSzPts val="1800"/>
              <a:buNone/>
            </a:pPr>
            <a:r>
              <a:rPr lang="en" sz="1500" u="sng">
                <a:highlight>
                  <a:srgbClr val="FF9900"/>
                </a:highlight>
              </a:rPr>
              <a:t>np.random.seed(seed=1234)</a:t>
            </a:r>
            <a:endParaRPr sz="1500" u="sng">
              <a:highlight>
                <a:srgbClr val="FF9900"/>
              </a:highlight>
            </a:endParaRPr>
          </a:p>
          <a:p>
            <a:pPr indent="0" lvl="0" marL="0" rtl="0" algn="l">
              <a:lnSpc>
                <a:spcPct val="115000"/>
              </a:lnSpc>
              <a:spcBef>
                <a:spcPts val="1200"/>
              </a:spcBef>
              <a:spcAft>
                <a:spcPts val="0"/>
              </a:spcAft>
              <a:buSzPts val="1800"/>
              <a:buNone/>
            </a:pPr>
            <a:r>
              <a:rPr lang="en" sz="1500">
                <a:solidFill>
                  <a:schemeClr val="dk1"/>
                </a:solidFill>
              </a:rPr>
              <a:t>The </a:t>
            </a:r>
            <a:r>
              <a:rPr b="1" lang="en" sz="1500">
                <a:solidFill>
                  <a:schemeClr val="dk1"/>
                </a:solidFill>
              </a:rPr>
              <a:t>seed value</a:t>
            </a:r>
            <a:r>
              <a:rPr lang="en" sz="1500">
                <a:solidFill>
                  <a:schemeClr val="dk1"/>
                </a:solidFill>
              </a:rPr>
              <a:t> in NumPy is a fundamental concept for controlling the behavior of its </a:t>
            </a:r>
            <a:r>
              <a:rPr b="1" lang="en" sz="1500">
                <a:solidFill>
                  <a:schemeClr val="dk1"/>
                </a:solidFill>
              </a:rPr>
              <a:t>Pseudo-Random Number Generators (PRNGs)</a:t>
            </a:r>
            <a:r>
              <a:rPr lang="en" sz="1500">
                <a:solidFill>
                  <a:schemeClr val="dk1"/>
                </a:solidFill>
              </a:rPr>
              <a:t>.</a:t>
            </a:r>
            <a:endParaRPr sz="1500">
              <a:solidFill>
                <a:schemeClr val="dk1"/>
              </a:solidFill>
            </a:endParaRPr>
          </a:p>
          <a:p>
            <a:pPr indent="0" lvl="0" marL="0" rtl="0" algn="l">
              <a:lnSpc>
                <a:spcPct val="115000"/>
              </a:lnSpc>
              <a:spcBef>
                <a:spcPts val="1200"/>
              </a:spcBef>
              <a:spcAft>
                <a:spcPts val="0"/>
              </a:spcAft>
              <a:buSzPts val="1800"/>
              <a:buNone/>
            </a:pPr>
            <a:r>
              <a:rPr lang="en" sz="1500">
                <a:solidFill>
                  <a:schemeClr val="dk1"/>
                </a:solidFill>
              </a:rPr>
              <a:t>PRNGs are deterministic algorithms. They don't generate truly random numbers; they generate a long sequence of numbers based on an initial input value (the seed)</a:t>
            </a:r>
            <a:endParaRPr sz="1500">
              <a:solidFill>
                <a:schemeClr val="dk1"/>
              </a:solidFill>
            </a:endParaRPr>
          </a:p>
          <a:p>
            <a:pPr indent="0" lvl="0" marL="0" rtl="0" algn="l">
              <a:lnSpc>
                <a:spcPct val="115000"/>
              </a:lnSpc>
              <a:spcBef>
                <a:spcPts val="1200"/>
              </a:spcBef>
              <a:spcAft>
                <a:spcPts val="1200"/>
              </a:spcAft>
              <a:buSzPts val="1800"/>
              <a:buNone/>
            </a:pPr>
            <a:r>
              <a:rPr lang="en" sz="1500">
                <a:solidFill>
                  <a:schemeClr val="dk1"/>
                </a:solidFill>
              </a:rPr>
              <a:t>In scientific computing, machine learning, and especially when writing technical blogs, you must ensure that your code yields identical results every time someone runs it. Setting the seed guarantees this consistency.</a:t>
            </a:r>
            <a:endParaRPr sz="15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txBox="1"/>
          <p:nvPr>
            <p:ph type="title"/>
          </p:nvPr>
        </p:nvSpPr>
        <p:spPr>
          <a:xfrm>
            <a:off x="311700" y="3400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Scalar/Vector/Matrix/3D tensor</a:t>
            </a:r>
            <a:endParaRPr/>
          </a:p>
        </p:txBody>
      </p:sp>
      <p:pic>
        <p:nvPicPr>
          <p:cNvPr id="66" name="Google Shape;66;p3"/>
          <p:cNvPicPr preferRelativeResize="0"/>
          <p:nvPr/>
        </p:nvPicPr>
        <p:blipFill rotWithShape="1">
          <a:blip r:embed="rId3">
            <a:alphaModFix/>
          </a:blip>
          <a:srcRect b="0" l="0" r="0" t="0"/>
          <a:stretch/>
        </p:blipFill>
        <p:spPr>
          <a:xfrm>
            <a:off x="152400" y="1170125"/>
            <a:ext cx="8839202" cy="328934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Basic properties of Numpy array </a:t>
            </a:r>
            <a:r>
              <a:rPr lang="en">
                <a:highlight>
                  <a:srgbClr val="4A86E8"/>
                </a:highlight>
              </a:rPr>
              <a:t># Scalar</a:t>
            </a:r>
            <a:endParaRPr>
              <a:highlight>
                <a:srgbClr val="4A86E8"/>
              </a:highlight>
            </a:endParaRPr>
          </a:p>
        </p:txBody>
      </p:sp>
      <p:sp>
        <p:nvSpPr>
          <p:cNvPr id="72" name="Google Shape;72;p4"/>
          <p:cNvSpPr txBox="1"/>
          <p:nvPr>
            <p:ph idx="1" type="body"/>
          </p:nvPr>
        </p:nvSpPr>
        <p:spPr>
          <a:xfrm>
            <a:off x="311700" y="1152475"/>
            <a:ext cx="50748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n"/>
              <a:t># Scalar</a:t>
            </a:r>
            <a:endParaRPr b="1"/>
          </a:p>
          <a:p>
            <a:pPr indent="0" lvl="0" marL="0" rtl="0" algn="l">
              <a:lnSpc>
                <a:spcPct val="115000"/>
              </a:lnSpc>
              <a:spcBef>
                <a:spcPts val="1200"/>
              </a:spcBef>
              <a:spcAft>
                <a:spcPts val="0"/>
              </a:spcAft>
              <a:buSzPts val="1800"/>
              <a:buNone/>
            </a:pPr>
            <a:r>
              <a:rPr lang="en"/>
              <a:t>x = np.array(6)</a:t>
            </a:r>
            <a:endParaRPr/>
          </a:p>
          <a:p>
            <a:pPr indent="0" lvl="0" marL="0" rtl="0" algn="l">
              <a:lnSpc>
                <a:spcPct val="115000"/>
              </a:lnSpc>
              <a:spcBef>
                <a:spcPts val="1200"/>
              </a:spcBef>
              <a:spcAft>
                <a:spcPts val="0"/>
              </a:spcAft>
              <a:buSzPts val="1800"/>
              <a:buNone/>
            </a:pPr>
            <a:r>
              <a:rPr lang="en"/>
              <a:t>print ("x: ", x)</a:t>
            </a:r>
            <a:endParaRPr/>
          </a:p>
          <a:p>
            <a:pPr indent="0" lvl="0" marL="0" rtl="0" algn="l">
              <a:lnSpc>
                <a:spcPct val="115000"/>
              </a:lnSpc>
              <a:spcBef>
                <a:spcPts val="1200"/>
              </a:spcBef>
              <a:spcAft>
                <a:spcPts val="0"/>
              </a:spcAft>
              <a:buSzPts val="1800"/>
              <a:buNone/>
            </a:pPr>
            <a:r>
              <a:rPr lang="en"/>
              <a:t>print ("x ndim: ", x.ndim) # number of dimensions</a:t>
            </a:r>
            <a:endParaRPr/>
          </a:p>
          <a:p>
            <a:pPr indent="0" lvl="0" marL="0" rtl="0" algn="l">
              <a:lnSpc>
                <a:spcPct val="115000"/>
              </a:lnSpc>
              <a:spcBef>
                <a:spcPts val="1200"/>
              </a:spcBef>
              <a:spcAft>
                <a:spcPts val="0"/>
              </a:spcAft>
              <a:buSzPts val="1800"/>
              <a:buNone/>
            </a:pPr>
            <a:r>
              <a:rPr lang="en"/>
              <a:t>print ("x shape:", x.shape) # dimensions</a:t>
            </a:r>
            <a:endParaRPr/>
          </a:p>
          <a:p>
            <a:pPr indent="0" lvl="0" marL="0" rtl="0" algn="l">
              <a:lnSpc>
                <a:spcPct val="115000"/>
              </a:lnSpc>
              <a:spcBef>
                <a:spcPts val="1200"/>
              </a:spcBef>
              <a:spcAft>
                <a:spcPts val="0"/>
              </a:spcAft>
              <a:buSzPts val="1800"/>
              <a:buNone/>
            </a:pPr>
            <a:r>
              <a:rPr lang="en"/>
              <a:t>print ("x size: ", x.size) # size of elements</a:t>
            </a:r>
            <a:endParaRPr/>
          </a:p>
          <a:p>
            <a:pPr indent="0" lvl="0" marL="0" rtl="0" algn="l">
              <a:lnSpc>
                <a:spcPct val="115000"/>
              </a:lnSpc>
              <a:spcBef>
                <a:spcPts val="1200"/>
              </a:spcBef>
              <a:spcAft>
                <a:spcPts val="1200"/>
              </a:spcAft>
              <a:buSzPts val="1800"/>
              <a:buNone/>
            </a:pPr>
            <a:r>
              <a:rPr lang="en"/>
              <a:t>print ("x dtype: ", x.dtype) # data type</a:t>
            </a:r>
            <a:endParaRPr/>
          </a:p>
        </p:txBody>
      </p:sp>
      <p:pic>
        <p:nvPicPr>
          <p:cNvPr id="73" name="Google Shape;73;p4"/>
          <p:cNvPicPr preferRelativeResize="0"/>
          <p:nvPr/>
        </p:nvPicPr>
        <p:blipFill rotWithShape="1">
          <a:blip r:embed="rId3">
            <a:alphaModFix/>
          </a:blip>
          <a:srcRect b="0" l="0" r="0" t="0"/>
          <a:stretch/>
        </p:blipFill>
        <p:spPr>
          <a:xfrm>
            <a:off x="5613850" y="2234425"/>
            <a:ext cx="3218450" cy="195275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Basic properties of Numpy array  </a:t>
            </a:r>
            <a:r>
              <a:rPr lang="en">
                <a:highlight>
                  <a:srgbClr val="4A86E8"/>
                </a:highlight>
              </a:rPr>
              <a:t># Vector</a:t>
            </a:r>
            <a:endParaRPr>
              <a:highlight>
                <a:srgbClr val="4A86E8"/>
              </a:highlight>
            </a:endParaRPr>
          </a:p>
          <a:p>
            <a:pPr indent="0" lvl="0" marL="0" rtl="0" algn="l">
              <a:lnSpc>
                <a:spcPct val="100000"/>
              </a:lnSpc>
              <a:spcBef>
                <a:spcPts val="0"/>
              </a:spcBef>
              <a:spcAft>
                <a:spcPts val="0"/>
              </a:spcAft>
              <a:buSzPct val="111111"/>
              <a:buNone/>
            </a:pPr>
            <a:r>
              <a:t/>
            </a:r>
            <a:endParaRPr/>
          </a:p>
        </p:txBody>
      </p:sp>
      <p:sp>
        <p:nvSpPr>
          <p:cNvPr id="79" name="Google Shape;79;p5"/>
          <p:cNvSpPr txBox="1"/>
          <p:nvPr>
            <p:ph idx="1" type="body"/>
          </p:nvPr>
        </p:nvSpPr>
        <p:spPr>
          <a:xfrm>
            <a:off x="311700" y="1152475"/>
            <a:ext cx="42603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 </a:t>
            </a:r>
            <a:r>
              <a:rPr b="1" lang="en"/>
              <a:t>Vector</a:t>
            </a:r>
            <a:endParaRPr b="1"/>
          </a:p>
          <a:p>
            <a:pPr indent="0" lvl="0" marL="0" rtl="0" algn="l">
              <a:lnSpc>
                <a:spcPct val="115000"/>
              </a:lnSpc>
              <a:spcBef>
                <a:spcPts val="1200"/>
              </a:spcBef>
              <a:spcAft>
                <a:spcPts val="0"/>
              </a:spcAft>
              <a:buSzPts val="1800"/>
              <a:buNone/>
            </a:pPr>
            <a:r>
              <a:rPr lang="en"/>
              <a:t>x = np.array([1.3 , 2.2 , 1.7])</a:t>
            </a:r>
            <a:endParaRPr/>
          </a:p>
          <a:p>
            <a:pPr indent="0" lvl="0" marL="0" rtl="0" algn="l">
              <a:lnSpc>
                <a:spcPct val="115000"/>
              </a:lnSpc>
              <a:spcBef>
                <a:spcPts val="1200"/>
              </a:spcBef>
              <a:spcAft>
                <a:spcPts val="0"/>
              </a:spcAft>
              <a:buSzPts val="1800"/>
              <a:buNone/>
            </a:pPr>
            <a:r>
              <a:rPr lang="en"/>
              <a:t>print ("x: ", x)</a:t>
            </a:r>
            <a:endParaRPr/>
          </a:p>
          <a:p>
            <a:pPr indent="0" lvl="0" marL="0" rtl="0" algn="l">
              <a:lnSpc>
                <a:spcPct val="115000"/>
              </a:lnSpc>
              <a:spcBef>
                <a:spcPts val="1200"/>
              </a:spcBef>
              <a:spcAft>
                <a:spcPts val="0"/>
              </a:spcAft>
              <a:buSzPts val="1800"/>
              <a:buNone/>
            </a:pPr>
            <a:r>
              <a:rPr lang="en"/>
              <a:t>print ("x ndim: ", x.ndim)</a:t>
            </a:r>
            <a:endParaRPr/>
          </a:p>
          <a:p>
            <a:pPr indent="0" lvl="0" marL="0" rtl="0" algn="l">
              <a:lnSpc>
                <a:spcPct val="115000"/>
              </a:lnSpc>
              <a:spcBef>
                <a:spcPts val="1200"/>
              </a:spcBef>
              <a:spcAft>
                <a:spcPts val="0"/>
              </a:spcAft>
              <a:buSzPts val="1800"/>
              <a:buNone/>
            </a:pPr>
            <a:r>
              <a:rPr lang="en"/>
              <a:t>print ("x shape:", x.shape)</a:t>
            </a:r>
            <a:endParaRPr/>
          </a:p>
          <a:p>
            <a:pPr indent="0" lvl="0" marL="0" rtl="0" algn="l">
              <a:lnSpc>
                <a:spcPct val="115000"/>
              </a:lnSpc>
              <a:spcBef>
                <a:spcPts val="1200"/>
              </a:spcBef>
              <a:spcAft>
                <a:spcPts val="0"/>
              </a:spcAft>
              <a:buSzPts val="1800"/>
              <a:buNone/>
            </a:pPr>
            <a:r>
              <a:rPr lang="en"/>
              <a:t>print ("x size: ", x.size)</a:t>
            </a:r>
            <a:endParaRPr/>
          </a:p>
          <a:p>
            <a:pPr indent="0" lvl="0" marL="0" rtl="0" algn="l">
              <a:lnSpc>
                <a:spcPct val="115000"/>
              </a:lnSpc>
              <a:spcBef>
                <a:spcPts val="1200"/>
              </a:spcBef>
              <a:spcAft>
                <a:spcPts val="1200"/>
              </a:spcAft>
              <a:buSzPts val="1800"/>
              <a:buNone/>
            </a:pPr>
            <a:r>
              <a:rPr lang="en"/>
              <a:t>print ("x dtype: ", x.dtype) # notice the float datatype</a:t>
            </a:r>
            <a:endParaRPr/>
          </a:p>
        </p:txBody>
      </p:sp>
      <p:pic>
        <p:nvPicPr>
          <p:cNvPr id="80" name="Google Shape;80;p5"/>
          <p:cNvPicPr preferRelativeResize="0"/>
          <p:nvPr/>
        </p:nvPicPr>
        <p:blipFill rotWithShape="1">
          <a:blip r:embed="rId3">
            <a:alphaModFix/>
          </a:blip>
          <a:srcRect b="0" l="0" r="0" t="0"/>
          <a:stretch/>
        </p:blipFill>
        <p:spPr>
          <a:xfrm>
            <a:off x="5144125" y="2571750"/>
            <a:ext cx="3390800" cy="1703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Basic properties of Numpy array  </a:t>
            </a:r>
            <a:r>
              <a:rPr lang="en">
                <a:highlight>
                  <a:srgbClr val="4A86E8"/>
                </a:highlight>
              </a:rPr>
              <a:t># Matrix</a:t>
            </a:r>
            <a:endParaRPr>
              <a:highlight>
                <a:srgbClr val="4A86E8"/>
              </a:highlight>
            </a:endParaRPr>
          </a:p>
          <a:p>
            <a:pPr indent="0" lvl="0" marL="0" rtl="0" algn="l">
              <a:lnSpc>
                <a:spcPct val="100000"/>
              </a:lnSpc>
              <a:spcBef>
                <a:spcPts val="0"/>
              </a:spcBef>
              <a:spcAft>
                <a:spcPts val="0"/>
              </a:spcAft>
              <a:buSzPct val="111111"/>
              <a:buNone/>
            </a:pPr>
            <a:r>
              <a:t/>
            </a:r>
            <a:endParaRPr/>
          </a:p>
        </p:txBody>
      </p:sp>
      <p:sp>
        <p:nvSpPr>
          <p:cNvPr id="86" name="Google Shape;86;p6"/>
          <p:cNvSpPr txBox="1"/>
          <p:nvPr>
            <p:ph idx="1" type="body"/>
          </p:nvPr>
        </p:nvSpPr>
        <p:spPr>
          <a:xfrm>
            <a:off x="311700" y="1152475"/>
            <a:ext cx="42603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 </a:t>
            </a:r>
            <a:r>
              <a:rPr b="1" lang="en"/>
              <a:t>Matrix</a:t>
            </a:r>
            <a:endParaRPr b="1"/>
          </a:p>
          <a:p>
            <a:pPr indent="0" lvl="0" marL="0" rtl="0" algn="l">
              <a:lnSpc>
                <a:spcPct val="115000"/>
              </a:lnSpc>
              <a:spcBef>
                <a:spcPts val="1200"/>
              </a:spcBef>
              <a:spcAft>
                <a:spcPts val="0"/>
              </a:spcAft>
              <a:buSzPts val="1800"/>
              <a:buNone/>
            </a:pPr>
            <a:r>
              <a:rPr lang="en"/>
              <a:t>x = np.array([[1,2], [3,4]])</a:t>
            </a:r>
            <a:endParaRPr/>
          </a:p>
          <a:p>
            <a:pPr indent="0" lvl="0" marL="0" rtl="0" algn="l">
              <a:lnSpc>
                <a:spcPct val="115000"/>
              </a:lnSpc>
              <a:spcBef>
                <a:spcPts val="1200"/>
              </a:spcBef>
              <a:spcAft>
                <a:spcPts val="0"/>
              </a:spcAft>
              <a:buSzPts val="1800"/>
              <a:buNone/>
            </a:pPr>
            <a:r>
              <a:rPr lang="en"/>
              <a:t>print ("x:\n", x)</a:t>
            </a:r>
            <a:endParaRPr/>
          </a:p>
          <a:p>
            <a:pPr indent="0" lvl="0" marL="0" rtl="0" algn="l">
              <a:lnSpc>
                <a:spcPct val="115000"/>
              </a:lnSpc>
              <a:spcBef>
                <a:spcPts val="1200"/>
              </a:spcBef>
              <a:spcAft>
                <a:spcPts val="0"/>
              </a:spcAft>
              <a:buSzPts val="1800"/>
              <a:buNone/>
            </a:pPr>
            <a:r>
              <a:rPr lang="en"/>
              <a:t>print ("x ndim: ", x.ndim)</a:t>
            </a:r>
            <a:endParaRPr/>
          </a:p>
          <a:p>
            <a:pPr indent="0" lvl="0" marL="0" rtl="0" algn="l">
              <a:lnSpc>
                <a:spcPct val="115000"/>
              </a:lnSpc>
              <a:spcBef>
                <a:spcPts val="1200"/>
              </a:spcBef>
              <a:spcAft>
                <a:spcPts val="0"/>
              </a:spcAft>
              <a:buSzPts val="1800"/>
              <a:buNone/>
            </a:pPr>
            <a:r>
              <a:rPr lang="en"/>
              <a:t>print ("x shape:", x.shape)</a:t>
            </a:r>
            <a:endParaRPr/>
          </a:p>
          <a:p>
            <a:pPr indent="0" lvl="0" marL="0" rtl="0" algn="l">
              <a:lnSpc>
                <a:spcPct val="115000"/>
              </a:lnSpc>
              <a:spcBef>
                <a:spcPts val="1200"/>
              </a:spcBef>
              <a:spcAft>
                <a:spcPts val="0"/>
              </a:spcAft>
              <a:buSzPts val="1800"/>
              <a:buNone/>
            </a:pPr>
            <a:r>
              <a:rPr lang="en"/>
              <a:t>print ("x size: ", x.size)</a:t>
            </a:r>
            <a:endParaRPr/>
          </a:p>
          <a:p>
            <a:pPr indent="0" lvl="0" marL="0" rtl="0" algn="l">
              <a:lnSpc>
                <a:spcPct val="115000"/>
              </a:lnSpc>
              <a:spcBef>
                <a:spcPts val="1200"/>
              </a:spcBef>
              <a:spcAft>
                <a:spcPts val="1200"/>
              </a:spcAft>
              <a:buSzPts val="1800"/>
              <a:buNone/>
            </a:pPr>
            <a:r>
              <a:rPr lang="en"/>
              <a:t>print ("x dtype: ", x.dtype)</a:t>
            </a:r>
            <a:endParaRPr/>
          </a:p>
        </p:txBody>
      </p:sp>
      <p:pic>
        <p:nvPicPr>
          <p:cNvPr id="87" name="Google Shape;87;p6"/>
          <p:cNvPicPr preferRelativeResize="0"/>
          <p:nvPr/>
        </p:nvPicPr>
        <p:blipFill rotWithShape="1">
          <a:blip r:embed="rId3">
            <a:alphaModFix/>
          </a:blip>
          <a:srcRect b="0" l="0" r="0" t="0"/>
          <a:stretch/>
        </p:blipFill>
        <p:spPr>
          <a:xfrm>
            <a:off x="4759675" y="2153575"/>
            <a:ext cx="3741338" cy="2415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Basic properties of Numpy array  </a:t>
            </a:r>
            <a:r>
              <a:rPr lang="en">
                <a:highlight>
                  <a:srgbClr val="4A86E8"/>
                </a:highlight>
              </a:rPr>
              <a:t># 3-D Tensor</a:t>
            </a:r>
            <a:endParaRPr/>
          </a:p>
        </p:txBody>
      </p:sp>
      <p:sp>
        <p:nvSpPr>
          <p:cNvPr id="93" name="Google Shape;93;p7"/>
          <p:cNvSpPr txBox="1"/>
          <p:nvPr>
            <p:ph idx="1" type="body"/>
          </p:nvPr>
        </p:nvSpPr>
        <p:spPr>
          <a:xfrm>
            <a:off x="311700" y="1152475"/>
            <a:ext cx="4448100" cy="3549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 </a:t>
            </a:r>
            <a:r>
              <a:rPr b="1" lang="en"/>
              <a:t>3-D Tensor</a:t>
            </a:r>
            <a:endParaRPr b="1"/>
          </a:p>
          <a:p>
            <a:pPr indent="0" lvl="0" marL="0" rtl="0" algn="l">
              <a:lnSpc>
                <a:spcPct val="115000"/>
              </a:lnSpc>
              <a:spcBef>
                <a:spcPts val="1200"/>
              </a:spcBef>
              <a:spcAft>
                <a:spcPts val="0"/>
              </a:spcAft>
              <a:buSzPts val="1800"/>
              <a:buNone/>
            </a:pPr>
            <a:r>
              <a:rPr lang="en"/>
              <a:t>x = np.array([[[1,2],[3,4]],[[5,6],[7,8]]])</a:t>
            </a:r>
            <a:endParaRPr/>
          </a:p>
          <a:p>
            <a:pPr indent="0" lvl="0" marL="0" rtl="0" algn="l">
              <a:lnSpc>
                <a:spcPct val="115000"/>
              </a:lnSpc>
              <a:spcBef>
                <a:spcPts val="1200"/>
              </a:spcBef>
              <a:spcAft>
                <a:spcPts val="0"/>
              </a:spcAft>
              <a:buSzPts val="1800"/>
              <a:buNone/>
            </a:pPr>
            <a:r>
              <a:rPr lang="en"/>
              <a:t>print ("x:\n", x)</a:t>
            </a:r>
            <a:endParaRPr/>
          </a:p>
          <a:p>
            <a:pPr indent="0" lvl="0" marL="0" rtl="0" algn="l">
              <a:lnSpc>
                <a:spcPct val="115000"/>
              </a:lnSpc>
              <a:spcBef>
                <a:spcPts val="1200"/>
              </a:spcBef>
              <a:spcAft>
                <a:spcPts val="0"/>
              </a:spcAft>
              <a:buSzPts val="1800"/>
              <a:buNone/>
            </a:pPr>
            <a:r>
              <a:rPr lang="en"/>
              <a:t>print ("x ndim: ", x.ndim)</a:t>
            </a:r>
            <a:endParaRPr/>
          </a:p>
          <a:p>
            <a:pPr indent="0" lvl="0" marL="0" rtl="0" algn="l">
              <a:lnSpc>
                <a:spcPct val="115000"/>
              </a:lnSpc>
              <a:spcBef>
                <a:spcPts val="1200"/>
              </a:spcBef>
              <a:spcAft>
                <a:spcPts val="0"/>
              </a:spcAft>
              <a:buSzPts val="1800"/>
              <a:buNone/>
            </a:pPr>
            <a:r>
              <a:rPr lang="en"/>
              <a:t>print ("x shape:", x.shape)</a:t>
            </a:r>
            <a:endParaRPr/>
          </a:p>
          <a:p>
            <a:pPr indent="0" lvl="0" marL="0" rtl="0" algn="l">
              <a:lnSpc>
                <a:spcPct val="115000"/>
              </a:lnSpc>
              <a:spcBef>
                <a:spcPts val="1200"/>
              </a:spcBef>
              <a:spcAft>
                <a:spcPts val="0"/>
              </a:spcAft>
              <a:buSzPts val="1800"/>
              <a:buNone/>
            </a:pPr>
            <a:r>
              <a:rPr lang="en"/>
              <a:t>print ("x size: ", x.size)</a:t>
            </a:r>
            <a:endParaRPr/>
          </a:p>
          <a:p>
            <a:pPr indent="0" lvl="0" marL="0" rtl="0" algn="l">
              <a:lnSpc>
                <a:spcPct val="115000"/>
              </a:lnSpc>
              <a:spcBef>
                <a:spcPts val="1200"/>
              </a:spcBef>
              <a:spcAft>
                <a:spcPts val="1200"/>
              </a:spcAft>
              <a:buSzPts val="1800"/>
              <a:buNone/>
            </a:pPr>
            <a:r>
              <a:rPr lang="en"/>
              <a:t>print ("x dtype: ", x.dtype)</a:t>
            </a:r>
            <a:endParaRPr/>
          </a:p>
        </p:txBody>
      </p:sp>
      <p:pic>
        <p:nvPicPr>
          <p:cNvPr id="94" name="Google Shape;94;p7"/>
          <p:cNvPicPr preferRelativeResize="0"/>
          <p:nvPr/>
        </p:nvPicPr>
        <p:blipFill rotWithShape="1">
          <a:blip r:embed="rId3">
            <a:alphaModFix/>
          </a:blip>
          <a:srcRect b="0" l="0" r="0" t="0"/>
          <a:stretch/>
        </p:blipFill>
        <p:spPr>
          <a:xfrm>
            <a:off x="5182025" y="1409975"/>
            <a:ext cx="3387675" cy="2782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1820"/>
              <a:t>NumPy also comes with several functions that allow us to create tensors quickly</a:t>
            </a:r>
            <a:endParaRPr sz="1820"/>
          </a:p>
        </p:txBody>
      </p:sp>
      <p:sp>
        <p:nvSpPr>
          <p:cNvPr id="100" name="Google Shape;100;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highlight>
                  <a:srgbClr val="4A86E8"/>
                </a:highlight>
              </a:rPr>
              <a:t># Functions</a:t>
            </a:r>
            <a:endParaRPr>
              <a:highlight>
                <a:srgbClr val="4A86E8"/>
              </a:highlight>
            </a:endParaRPr>
          </a:p>
          <a:p>
            <a:pPr indent="0" lvl="0" marL="0" rtl="0" algn="l">
              <a:lnSpc>
                <a:spcPct val="115000"/>
              </a:lnSpc>
              <a:spcBef>
                <a:spcPts val="1200"/>
              </a:spcBef>
              <a:spcAft>
                <a:spcPts val="0"/>
              </a:spcAft>
              <a:buSzPts val="1800"/>
              <a:buNone/>
            </a:pPr>
            <a:r>
              <a:rPr lang="en"/>
              <a:t>print ("np.zeros((2,2)):\n", np.zeros((2,2)))</a:t>
            </a:r>
            <a:endParaRPr/>
          </a:p>
          <a:p>
            <a:pPr indent="0" lvl="0" marL="0" rtl="0" algn="l">
              <a:lnSpc>
                <a:spcPct val="115000"/>
              </a:lnSpc>
              <a:spcBef>
                <a:spcPts val="1200"/>
              </a:spcBef>
              <a:spcAft>
                <a:spcPts val="0"/>
              </a:spcAft>
              <a:buSzPts val="1800"/>
              <a:buNone/>
            </a:pPr>
            <a:r>
              <a:rPr lang="en"/>
              <a:t>print ("np.ones((2,2)):\n", np.ones((2,2)))</a:t>
            </a:r>
            <a:endParaRPr/>
          </a:p>
          <a:p>
            <a:pPr indent="0" lvl="0" marL="0" rtl="0" algn="l">
              <a:lnSpc>
                <a:spcPct val="115000"/>
              </a:lnSpc>
              <a:spcBef>
                <a:spcPts val="1200"/>
              </a:spcBef>
              <a:spcAft>
                <a:spcPts val="0"/>
              </a:spcAft>
              <a:buSzPts val="1800"/>
              <a:buNone/>
            </a:pPr>
            <a:r>
              <a:rPr lang="en"/>
              <a:t>print ("np.eye((2)):\n", np.eye((2))) # identity matrix</a:t>
            </a:r>
            <a:endParaRPr/>
          </a:p>
          <a:p>
            <a:pPr indent="0" lvl="0" marL="0" rtl="0" algn="l">
              <a:lnSpc>
                <a:spcPct val="115000"/>
              </a:lnSpc>
              <a:spcBef>
                <a:spcPts val="1200"/>
              </a:spcBef>
              <a:spcAft>
                <a:spcPts val="1200"/>
              </a:spcAft>
              <a:buSzPts val="1800"/>
              <a:buNone/>
            </a:pPr>
            <a:r>
              <a:rPr lang="en"/>
              <a:t>print ("np.random.random((2,2)):\n", np.random.random((2,2)))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Indexing</a:t>
            </a:r>
            <a:endParaRPr/>
          </a:p>
        </p:txBody>
      </p:sp>
      <p:sp>
        <p:nvSpPr>
          <p:cNvPr id="106" name="Google Shape;106;p9"/>
          <p:cNvSpPr txBox="1"/>
          <p:nvPr>
            <p:ph idx="1" type="body"/>
          </p:nvPr>
        </p:nvSpPr>
        <p:spPr>
          <a:xfrm>
            <a:off x="311700" y="1152475"/>
            <a:ext cx="8520600" cy="1419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We can extract specific values from our tensors using indexing.</a:t>
            </a:r>
            <a:endParaRPr/>
          </a:p>
          <a:p>
            <a:pPr indent="0" lvl="0" marL="0" rtl="0" algn="l">
              <a:lnSpc>
                <a:spcPct val="115000"/>
              </a:lnSpc>
              <a:spcBef>
                <a:spcPts val="1200"/>
              </a:spcBef>
              <a:spcAft>
                <a:spcPts val="1200"/>
              </a:spcAft>
              <a:buSzPts val="1800"/>
              <a:buNone/>
            </a:pPr>
            <a:r>
              <a:rPr lang="en"/>
              <a:t>Keep in mind that when indexing the row and column, indices start at 0. And like indexing with lists, we can use negative indices as well (where -1 is the last item).</a:t>
            </a:r>
            <a:endParaRPr/>
          </a:p>
        </p:txBody>
      </p:sp>
      <p:pic>
        <p:nvPicPr>
          <p:cNvPr id="107" name="Google Shape;107;p9"/>
          <p:cNvPicPr preferRelativeResize="0"/>
          <p:nvPr/>
        </p:nvPicPr>
        <p:blipFill rotWithShape="1">
          <a:blip r:embed="rId3">
            <a:alphaModFix/>
          </a:blip>
          <a:srcRect b="0" l="0" r="0" t="0"/>
          <a:stretch/>
        </p:blipFill>
        <p:spPr>
          <a:xfrm>
            <a:off x="2880625" y="2499300"/>
            <a:ext cx="2867133" cy="2644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Indexing</a:t>
            </a:r>
            <a:endParaRPr/>
          </a:p>
        </p:txBody>
      </p:sp>
      <p:sp>
        <p:nvSpPr>
          <p:cNvPr id="113" name="Google Shape;113;p10"/>
          <p:cNvSpPr txBox="1"/>
          <p:nvPr>
            <p:ph idx="1" type="body"/>
          </p:nvPr>
        </p:nvSpPr>
        <p:spPr>
          <a:xfrm>
            <a:off x="311700" y="1152475"/>
            <a:ext cx="3321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 Indexing</a:t>
            </a:r>
            <a:endParaRPr/>
          </a:p>
          <a:p>
            <a:pPr indent="0" lvl="0" marL="0" rtl="0" algn="l">
              <a:lnSpc>
                <a:spcPct val="115000"/>
              </a:lnSpc>
              <a:spcBef>
                <a:spcPts val="1200"/>
              </a:spcBef>
              <a:spcAft>
                <a:spcPts val="0"/>
              </a:spcAft>
              <a:buSzPts val="1800"/>
              <a:buNone/>
            </a:pPr>
            <a:r>
              <a:rPr lang="en"/>
              <a:t>x = np.array([1, 2, 3])</a:t>
            </a:r>
            <a:endParaRPr/>
          </a:p>
          <a:p>
            <a:pPr indent="0" lvl="0" marL="0" rtl="0" algn="l">
              <a:lnSpc>
                <a:spcPct val="115000"/>
              </a:lnSpc>
              <a:spcBef>
                <a:spcPts val="1200"/>
              </a:spcBef>
              <a:spcAft>
                <a:spcPts val="0"/>
              </a:spcAft>
              <a:buSzPts val="1800"/>
              <a:buNone/>
            </a:pPr>
            <a:r>
              <a:rPr lang="en"/>
              <a:t>print ("x: ", x)</a:t>
            </a:r>
            <a:endParaRPr/>
          </a:p>
          <a:p>
            <a:pPr indent="0" lvl="0" marL="0" rtl="0" algn="l">
              <a:lnSpc>
                <a:spcPct val="115000"/>
              </a:lnSpc>
              <a:spcBef>
                <a:spcPts val="1200"/>
              </a:spcBef>
              <a:spcAft>
                <a:spcPts val="0"/>
              </a:spcAft>
              <a:buSzPts val="1800"/>
              <a:buNone/>
            </a:pPr>
            <a:r>
              <a:rPr lang="en"/>
              <a:t>print ("x[0]: ", x[0])</a:t>
            </a:r>
            <a:endParaRPr/>
          </a:p>
          <a:p>
            <a:pPr indent="0" lvl="0" marL="0" rtl="0" algn="l">
              <a:lnSpc>
                <a:spcPct val="115000"/>
              </a:lnSpc>
              <a:spcBef>
                <a:spcPts val="1200"/>
              </a:spcBef>
              <a:spcAft>
                <a:spcPts val="0"/>
              </a:spcAft>
              <a:buSzPts val="1800"/>
              <a:buNone/>
            </a:pPr>
            <a:r>
              <a:rPr lang="en"/>
              <a:t>x[0] = 0</a:t>
            </a:r>
            <a:endParaRPr/>
          </a:p>
          <a:p>
            <a:pPr indent="0" lvl="0" marL="0" rtl="0" algn="l">
              <a:lnSpc>
                <a:spcPct val="115000"/>
              </a:lnSpc>
              <a:spcBef>
                <a:spcPts val="1200"/>
              </a:spcBef>
              <a:spcAft>
                <a:spcPts val="1200"/>
              </a:spcAft>
              <a:buSzPts val="1800"/>
              <a:buNone/>
            </a:pPr>
            <a:r>
              <a:rPr lang="en"/>
              <a:t>print ("x: ", x)</a:t>
            </a:r>
            <a:endParaRPr/>
          </a:p>
        </p:txBody>
      </p:sp>
      <p:pic>
        <p:nvPicPr>
          <p:cNvPr id="114" name="Google Shape;114;p10"/>
          <p:cNvPicPr preferRelativeResize="0"/>
          <p:nvPr/>
        </p:nvPicPr>
        <p:blipFill rotWithShape="1">
          <a:blip r:embed="rId3">
            <a:alphaModFix/>
          </a:blip>
          <a:srcRect b="0" l="0" r="0" t="0"/>
          <a:stretch/>
        </p:blipFill>
        <p:spPr>
          <a:xfrm>
            <a:off x="4294750" y="1896750"/>
            <a:ext cx="4048475" cy="1927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 Slicing</a:t>
            </a:r>
            <a:endParaRPr/>
          </a:p>
        </p:txBody>
      </p:sp>
      <p:sp>
        <p:nvSpPr>
          <p:cNvPr id="120" name="Google Shape;120;p11"/>
          <p:cNvSpPr txBox="1"/>
          <p:nvPr>
            <p:ph idx="1" type="body"/>
          </p:nvPr>
        </p:nvSpPr>
        <p:spPr>
          <a:xfrm>
            <a:off x="311700" y="1152475"/>
            <a:ext cx="43851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600"/>
              <a:t>x = np.array([[1,2,3,4], [5,6,7,8], [9,10,11,12]])</a:t>
            </a:r>
            <a:endParaRPr sz="1600"/>
          </a:p>
          <a:p>
            <a:pPr indent="0" lvl="0" marL="0" rtl="0" algn="l">
              <a:lnSpc>
                <a:spcPct val="115000"/>
              </a:lnSpc>
              <a:spcBef>
                <a:spcPts val="1200"/>
              </a:spcBef>
              <a:spcAft>
                <a:spcPts val="0"/>
              </a:spcAft>
              <a:buSzPts val="1800"/>
              <a:buNone/>
            </a:pPr>
            <a:r>
              <a:rPr lang="en" sz="1600"/>
              <a:t>print (x)</a:t>
            </a:r>
            <a:endParaRPr sz="1600"/>
          </a:p>
          <a:p>
            <a:pPr indent="0" lvl="0" marL="0" rtl="0" algn="l">
              <a:lnSpc>
                <a:spcPct val="115000"/>
              </a:lnSpc>
              <a:spcBef>
                <a:spcPts val="1200"/>
              </a:spcBef>
              <a:spcAft>
                <a:spcPts val="0"/>
              </a:spcAft>
              <a:buSzPts val="1800"/>
              <a:buNone/>
            </a:pPr>
            <a:r>
              <a:rPr lang="en" sz="1600"/>
              <a:t>print ("x column 1: ", x[:, 1])</a:t>
            </a:r>
            <a:endParaRPr sz="1600"/>
          </a:p>
          <a:p>
            <a:pPr indent="0" lvl="0" marL="0" rtl="0" algn="l">
              <a:lnSpc>
                <a:spcPct val="115000"/>
              </a:lnSpc>
              <a:spcBef>
                <a:spcPts val="1200"/>
              </a:spcBef>
              <a:spcAft>
                <a:spcPts val="0"/>
              </a:spcAft>
              <a:buSzPts val="1800"/>
              <a:buNone/>
            </a:pPr>
            <a:r>
              <a:rPr lang="en" sz="1600"/>
              <a:t>print ("x row 0: ", x[0, :])</a:t>
            </a:r>
            <a:endParaRPr sz="1600"/>
          </a:p>
          <a:p>
            <a:pPr indent="0" lvl="0" marL="0" rtl="0" algn="l">
              <a:lnSpc>
                <a:spcPct val="115000"/>
              </a:lnSpc>
              <a:spcBef>
                <a:spcPts val="1200"/>
              </a:spcBef>
              <a:spcAft>
                <a:spcPts val="1200"/>
              </a:spcAft>
              <a:buSzPts val="1800"/>
              <a:buNone/>
            </a:pPr>
            <a:r>
              <a:rPr lang="en" sz="1600"/>
              <a:t>print ("x rows 0,1 &amp; cols 1,2: \n", x[0:2, 1:3]</a:t>
            </a:r>
            <a:endParaRPr sz="1600"/>
          </a:p>
        </p:txBody>
      </p:sp>
      <p:pic>
        <p:nvPicPr>
          <p:cNvPr id="121" name="Google Shape;121;p11"/>
          <p:cNvPicPr preferRelativeResize="0"/>
          <p:nvPr/>
        </p:nvPicPr>
        <p:blipFill rotWithShape="1">
          <a:blip r:embed="rId3">
            <a:alphaModFix/>
          </a:blip>
          <a:srcRect b="0" l="0" r="0" t="0"/>
          <a:stretch/>
        </p:blipFill>
        <p:spPr>
          <a:xfrm>
            <a:off x="5373850" y="1215100"/>
            <a:ext cx="2486025" cy="1685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 Integer array indexing</a:t>
            </a:r>
            <a:endParaRPr/>
          </a:p>
          <a:p>
            <a:pPr indent="0" lvl="0" marL="0" rtl="0" algn="l">
              <a:lnSpc>
                <a:spcPct val="100000"/>
              </a:lnSpc>
              <a:spcBef>
                <a:spcPts val="0"/>
              </a:spcBef>
              <a:spcAft>
                <a:spcPts val="0"/>
              </a:spcAft>
              <a:buSzPct val="111111"/>
              <a:buNone/>
            </a:pPr>
            <a:r>
              <a:t/>
            </a:r>
            <a:endParaRPr/>
          </a:p>
        </p:txBody>
      </p:sp>
      <p:sp>
        <p:nvSpPr>
          <p:cNvPr id="127" name="Google Shape;127;p12"/>
          <p:cNvSpPr txBox="1"/>
          <p:nvPr>
            <p:ph idx="1" type="body"/>
          </p:nvPr>
        </p:nvSpPr>
        <p:spPr>
          <a:xfrm>
            <a:off x="311700" y="1152475"/>
            <a:ext cx="4505100" cy="34164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n"/>
              <a:t># Integer array indexing</a:t>
            </a:r>
            <a:endParaRPr/>
          </a:p>
          <a:p>
            <a:pPr indent="0" lvl="0" marL="0" rtl="0" algn="l">
              <a:lnSpc>
                <a:spcPct val="115000"/>
              </a:lnSpc>
              <a:spcBef>
                <a:spcPts val="1200"/>
              </a:spcBef>
              <a:spcAft>
                <a:spcPts val="0"/>
              </a:spcAft>
              <a:buSzPct val="117647"/>
              <a:buNone/>
            </a:pPr>
            <a:r>
              <a:rPr lang="en"/>
              <a:t>print (x)</a:t>
            </a:r>
            <a:endParaRPr/>
          </a:p>
          <a:p>
            <a:pPr indent="0" lvl="0" marL="0" rtl="0" algn="l">
              <a:lnSpc>
                <a:spcPct val="115000"/>
              </a:lnSpc>
              <a:spcBef>
                <a:spcPts val="1200"/>
              </a:spcBef>
              <a:spcAft>
                <a:spcPts val="0"/>
              </a:spcAft>
              <a:buSzPct val="117647"/>
              <a:buNone/>
            </a:pPr>
            <a:r>
              <a:rPr lang="en"/>
              <a:t>rows_to_get = np.array([0, 1, 2])</a:t>
            </a:r>
            <a:endParaRPr/>
          </a:p>
          <a:p>
            <a:pPr indent="0" lvl="0" marL="0" rtl="0" algn="l">
              <a:lnSpc>
                <a:spcPct val="115000"/>
              </a:lnSpc>
              <a:spcBef>
                <a:spcPts val="1200"/>
              </a:spcBef>
              <a:spcAft>
                <a:spcPts val="0"/>
              </a:spcAft>
              <a:buSzPct val="117647"/>
              <a:buNone/>
            </a:pPr>
            <a:r>
              <a:rPr lang="en"/>
              <a:t>print ("rows_to_get: ", rows_to_get)</a:t>
            </a:r>
            <a:endParaRPr/>
          </a:p>
          <a:p>
            <a:pPr indent="0" lvl="0" marL="0" rtl="0" algn="l">
              <a:lnSpc>
                <a:spcPct val="115000"/>
              </a:lnSpc>
              <a:spcBef>
                <a:spcPts val="1200"/>
              </a:spcBef>
              <a:spcAft>
                <a:spcPts val="0"/>
              </a:spcAft>
              <a:buSzPct val="117647"/>
              <a:buNone/>
            </a:pPr>
            <a:r>
              <a:rPr lang="en"/>
              <a:t>cols_to_get = np.array([0, 2, 1])</a:t>
            </a:r>
            <a:endParaRPr/>
          </a:p>
          <a:p>
            <a:pPr indent="0" lvl="0" marL="0" rtl="0" algn="l">
              <a:lnSpc>
                <a:spcPct val="115000"/>
              </a:lnSpc>
              <a:spcBef>
                <a:spcPts val="1200"/>
              </a:spcBef>
              <a:spcAft>
                <a:spcPts val="0"/>
              </a:spcAft>
              <a:buSzPct val="117647"/>
              <a:buNone/>
            </a:pPr>
            <a:r>
              <a:rPr lang="en"/>
              <a:t>print ("cols_to_get: ", cols_to_get)</a:t>
            </a:r>
            <a:endParaRPr/>
          </a:p>
          <a:p>
            <a:pPr indent="0" lvl="0" marL="0" rtl="0" algn="l">
              <a:lnSpc>
                <a:spcPct val="115000"/>
              </a:lnSpc>
              <a:spcBef>
                <a:spcPts val="1200"/>
              </a:spcBef>
              <a:spcAft>
                <a:spcPts val="0"/>
              </a:spcAft>
              <a:buSzPct val="117647"/>
              <a:buNone/>
            </a:pPr>
            <a:r>
              <a:rPr lang="en"/>
              <a:t># Combine sequences above to get values to get</a:t>
            </a:r>
            <a:endParaRPr/>
          </a:p>
          <a:p>
            <a:pPr indent="0" lvl="0" marL="0" rtl="0" algn="l">
              <a:lnSpc>
                <a:spcPct val="115000"/>
              </a:lnSpc>
              <a:spcBef>
                <a:spcPts val="1200"/>
              </a:spcBef>
              <a:spcAft>
                <a:spcPts val="1200"/>
              </a:spcAft>
              <a:buSzPct val="117647"/>
              <a:buNone/>
            </a:pPr>
            <a:r>
              <a:rPr lang="en"/>
              <a:t>print ("indexed values: ", x[rows_to_get, cols_to_get]) # (0, 0), (1, 2), (2, 1)</a:t>
            </a:r>
            <a:endParaRPr/>
          </a:p>
        </p:txBody>
      </p:sp>
      <p:pic>
        <p:nvPicPr>
          <p:cNvPr id="128" name="Google Shape;128;p12"/>
          <p:cNvPicPr preferRelativeResize="0"/>
          <p:nvPr/>
        </p:nvPicPr>
        <p:blipFill rotWithShape="1">
          <a:blip r:embed="rId3">
            <a:alphaModFix/>
          </a:blip>
          <a:srcRect b="0" l="0" r="0" t="0"/>
          <a:stretch/>
        </p:blipFill>
        <p:spPr>
          <a:xfrm>
            <a:off x="4657000" y="1547850"/>
            <a:ext cx="4235650" cy="1894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Boolean array indexing</a:t>
            </a:r>
            <a:endParaRPr/>
          </a:p>
        </p:txBody>
      </p:sp>
      <p:sp>
        <p:nvSpPr>
          <p:cNvPr id="134" name="Google Shape;134;p13"/>
          <p:cNvSpPr txBox="1"/>
          <p:nvPr>
            <p:ph idx="1" type="body"/>
          </p:nvPr>
        </p:nvSpPr>
        <p:spPr>
          <a:xfrm>
            <a:off x="311700" y="1152475"/>
            <a:ext cx="38607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 Boolean array indexing</a:t>
            </a:r>
            <a:endParaRPr/>
          </a:p>
          <a:p>
            <a:pPr indent="0" lvl="0" marL="0" rtl="0" algn="l">
              <a:lnSpc>
                <a:spcPct val="115000"/>
              </a:lnSpc>
              <a:spcBef>
                <a:spcPts val="1200"/>
              </a:spcBef>
              <a:spcAft>
                <a:spcPts val="0"/>
              </a:spcAft>
              <a:buSzPts val="1800"/>
              <a:buNone/>
            </a:pPr>
            <a:r>
              <a:rPr lang="en"/>
              <a:t>x = np.array([[1, 2], [3, 4], [5, 6]])</a:t>
            </a:r>
            <a:endParaRPr/>
          </a:p>
          <a:p>
            <a:pPr indent="0" lvl="0" marL="0" rtl="0" algn="l">
              <a:lnSpc>
                <a:spcPct val="115000"/>
              </a:lnSpc>
              <a:spcBef>
                <a:spcPts val="1200"/>
              </a:spcBef>
              <a:spcAft>
                <a:spcPts val="0"/>
              </a:spcAft>
              <a:buSzPts val="1800"/>
              <a:buNone/>
            </a:pPr>
            <a:r>
              <a:rPr lang="en"/>
              <a:t>print ("x:\n", x)</a:t>
            </a:r>
            <a:endParaRPr/>
          </a:p>
          <a:p>
            <a:pPr indent="0" lvl="0" marL="0" rtl="0" algn="l">
              <a:lnSpc>
                <a:spcPct val="115000"/>
              </a:lnSpc>
              <a:spcBef>
                <a:spcPts val="1200"/>
              </a:spcBef>
              <a:spcAft>
                <a:spcPts val="0"/>
              </a:spcAft>
              <a:buSzPts val="1800"/>
              <a:buNone/>
            </a:pPr>
            <a:r>
              <a:rPr lang="en"/>
              <a:t>print ("x &gt; 2:\n", x &gt; 2)</a:t>
            </a:r>
            <a:endParaRPr/>
          </a:p>
          <a:p>
            <a:pPr indent="0" lvl="0" marL="0" rtl="0" algn="l">
              <a:lnSpc>
                <a:spcPct val="115000"/>
              </a:lnSpc>
              <a:spcBef>
                <a:spcPts val="1200"/>
              </a:spcBef>
              <a:spcAft>
                <a:spcPts val="1200"/>
              </a:spcAft>
              <a:buSzPts val="1800"/>
              <a:buNone/>
            </a:pPr>
            <a:r>
              <a:rPr lang="en"/>
              <a:t>print ("x[x &gt; 2]:\n", x[x &gt; 2])</a:t>
            </a:r>
            <a:endParaRPr/>
          </a:p>
        </p:txBody>
      </p:sp>
      <p:pic>
        <p:nvPicPr>
          <p:cNvPr id="135" name="Google Shape;135;p13"/>
          <p:cNvPicPr preferRelativeResize="0"/>
          <p:nvPr/>
        </p:nvPicPr>
        <p:blipFill rotWithShape="1">
          <a:blip r:embed="rId3">
            <a:alphaModFix/>
          </a:blip>
          <a:srcRect b="0" l="0" r="0" t="0"/>
          <a:stretch/>
        </p:blipFill>
        <p:spPr>
          <a:xfrm>
            <a:off x="4909425" y="675425"/>
            <a:ext cx="2996875" cy="4026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Arithmetic</a:t>
            </a:r>
            <a:endParaRPr/>
          </a:p>
        </p:txBody>
      </p:sp>
      <p:sp>
        <p:nvSpPr>
          <p:cNvPr id="141" name="Google Shape;141;p14"/>
          <p:cNvSpPr txBox="1"/>
          <p:nvPr>
            <p:ph idx="1" type="body"/>
          </p:nvPr>
        </p:nvSpPr>
        <p:spPr>
          <a:xfrm>
            <a:off x="311700" y="1152475"/>
            <a:ext cx="4355100" cy="34164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108108"/>
              <a:buNone/>
            </a:pPr>
            <a:r>
              <a:rPr lang="en">
                <a:highlight>
                  <a:srgbClr val="4A86E8"/>
                </a:highlight>
              </a:rPr>
              <a:t># Basic math</a:t>
            </a:r>
            <a:endParaRPr>
              <a:highlight>
                <a:srgbClr val="4A86E8"/>
              </a:highlight>
            </a:endParaRPr>
          </a:p>
          <a:p>
            <a:pPr indent="0" lvl="0" marL="0" rtl="0" algn="l">
              <a:lnSpc>
                <a:spcPct val="115000"/>
              </a:lnSpc>
              <a:spcBef>
                <a:spcPts val="1200"/>
              </a:spcBef>
              <a:spcAft>
                <a:spcPts val="0"/>
              </a:spcAft>
              <a:buSzPct val="108108"/>
              <a:buNone/>
            </a:pPr>
            <a:r>
              <a:rPr lang="en"/>
              <a:t>x = np.array([[1,2], [3,4]], dtype=np.float64)</a:t>
            </a:r>
            <a:endParaRPr/>
          </a:p>
          <a:p>
            <a:pPr indent="0" lvl="0" marL="0" rtl="0" algn="l">
              <a:lnSpc>
                <a:spcPct val="115000"/>
              </a:lnSpc>
              <a:spcBef>
                <a:spcPts val="1200"/>
              </a:spcBef>
              <a:spcAft>
                <a:spcPts val="0"/>
              </a:spcAft>
              <a:buSzPct val="108108"/>
              <a:buNone/>
            </a:pPr>
            <a:r>
              <a:rPr lang="en"/>
              <a:t>y = np.array([[1,2], [3,4]], dtype=np.float64)</a:t>
            </a:r>
            <a:endParaRPr/>
          </a:p>
          <a:p>
            <a:pPr indent="0" lvl="0" marL="0" rtl="0" algn="l">
              <a:lnSpc>
                <a:spcPct val="115000"/>
              </a:lnSpc>
              <a:spcBef>
                <a:spcPts val="1200"/>
              </a:spcBef>
              <a:spcAft>
                <a:spcPts val="0"/>
              </a:spcAft>
              <a:buSzPct val="108108"/>
              <a:buNone/>
            </a:pPr>
            <a:r>
              <a:rPr lang="en"/>
              <a:t>print ("x + y:\n", </a:t>
            </a:r>
            <a:r>
              <a:rPr lang="en">
                <a:highlight>
                  <a:srgbClr val="4A86E8"/>
                </a:highlight>
              </a:rPr>
              <a:t>np.add(x, y))</a:t>
            </a:r>
            <a:r>
              <a:rPr lang="en"/>
              <a:t> # or x + y</a:t>
            </a:r>
            <a:endParaRPr/>
          </a:p>
          <a:p>
            <a:pPr indent="0" lvl="0" marL="0" rtl="0" algn="l">
              <a:lnSpc>
                <a:spcPct val="115000"/>
              </a:lnSpc>
              <a:spcBef>
                <a:spcPts val="1200"/>
              </a:spcBef>
              <a:spcAft>
                <a:spcPts val="0"/>
              </a:spcAft>
              <a:buSzPct val="108108"/>
              <a:buNone/>
            </a:pPr>
            <a:r>
              <a:rPr lang="en"/>
              <a:t>print ("x - y:\n", </a:t>
            </a:r>
            <a:r>
              <a:rPr lang="en">
                <a:highlight>
                  <a:srgbClr val="4A86E8"/>
                </a:highlight>
              </a:rPr>
              <a:t>np.subtract(x, y))</a:t>
            </a:r>
            <a:r>
              <a:rPr lang="en"/>
              <a:t> # or x - y</a:t>
            </a:r>
            <a:endParaRPr/>
          </a:p>
          <a:p>
            <a:pPr indent="0" lvl="0" marL="0" rtl="0" algn="l">
              <a:lnSpc>
                <a:spcPct val="115000"/>
              </a:lnSpc>
              <a:spcBef>
                <a:spcPts val="1200"/>
              </a:spcBef>
              <a:spcAft>
                <a:spcPts val="1200"/>
              </a:spcAft>
              <a:buSzPct val="108108"/>
              <a:buNone/>
            </a:pPr>
            <a:r>
              <a:rPr lang="en"/>
              <a:t>print ("x * y:\n", </a:t>
            </a:r>
            <a:r>
              <a:rPr lang="en">
                <a:highlight>
                  <a:srgbClr val="4A86E8"/>
                </a:highlight>
              </a:rPr>
              <a:t>np.multiply(x, y))</a:t>
            </a:r>
            <a:r>
              <a:rPr lang="en"/>
              <a:t> # or x * y</a:t>
            </a:r>
            <a:endParaRPr/>
          </a:p>
        </p:txBody>
      </p:sp>
      <p:pic>
        <p:nvPicPr>
          <p:cNvPr id="142" name="Google Shape;142;p14"/>
          <p:cNvPicPr preferRelativeResize="0"/>
          <p:nvPr/>
        </p:nvPicPr>
        <p:blipFill rotWithShape="1">
          <a:blip r:embed="rId3">
            <a:alphaModFix/>
          </a:blip>
          <a:srcRect b="0" l="0" r="0" t="0"/>
          <a:stretch/>
        </p:blipFill>
        <p:spPr>
          <a:xfrm>
            <a:off x="5328850" y="1152475"/>
            <a:ext cx="2933273" cy="3416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Dot product</a:t>
            </a:r>
            <a:endParaRPr/>
          </a:p>
          <a:p>
            <a:pPr indent="0" lvl="0" marL="0" rtl="0" algn="l">
              <a:lnSpc>
                <a:spcPct val="100000"/>
              </a:lnSpc>
              <a:spcBef>
                <a:spcPts val="0"/>
              </a:spcBef>
              <a:spcAft>
                <a:spcPts val="0"/>
              </a:spcAft>
              <a:buSzPct val="111111"/>
              <a:buNone/>
            </a:pPr>
            <a:r>
              <a:t/>
            </a:r>
            <a:endParaRPr/>
          </a:p>
        </p:txBody>
      </p:sp>
      <p:sp>
        <p:nvSpPr>
          <p:cNvPr id="148" name="Google Shape;148;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One of the most common NumPy operations we’ll use in machine learning is matrix multiplication using the dot product. Suppose we wanted to take the dot product of two matrices with shapes [2 X 3] and [3 X 2]. We take the rows of our first matrix (2) and the columns of our second matrix (2) to determine the dot product, giving us an output of [2 X 2].</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n"/>
              <a:t>The only requirement is that the inside dimensions match, in this case the first matrix has 3 columns and the second matrix has 3 rows.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2106"/>
              <a:buNone/>
            </a:pPr>
            <a:r>
              <a:rPr lang="en"/>
              <a:t>Dot Product Step </a:t>
            </a:r>
            <a:r>
              <a:rPr lang="en" sz="2355"/>
              <a:t>(1st matrix 1st row * 2nd matrix 1st column)</a:t>
            </a:r>
            <a:endParaRPr sz="2355"/>
          </a:p>
        </p:txBody>
      </p:sp>
      <p:pic>
        <p:nvPicPr>
          <p:cNvPr id="154" name="Google Shape;154;p16"/>
          <p:cNvPicPr preferRelativeResize="0"/>
          <p:nvPr/>
        </p:nvPicPr>
        <p:blipFill rotWithShape="1">
          <a:blip r:embed="rId3">
            <a:alphaModFix/>
          </a:blip>
          <a:srcRect b="0" l="0" r="0" t="0"/>
          <a:stretch/>
        </p:blipFill>
        <p:spPr>
          <a:xfrm>
            <a:off x="2041175" y="1769725"/>
            <a:ext cx="5264050" cy="2918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2nd steps (1st matrix 1st row * 2nd matrix 2nd column)</a:t>
            </a:r>
            <a:endParaRPr/>
          </a:p>
        </p:txBody>
      </p:sp>
      <p:pic>
        <p:nvPicPr>
          <p:cNvPr id="160" name="Google Shape;160;p17"/>
          <p:cNvPicPr preferRelativeResize="0"/>
          <p:nvPr/>
        </p:nvPicPr>
        <p:blipFill rotWithShape="1">
          <a:blip r:embed="rId3">
            <a:alphaModFix/>
          </a:blip>
          <a:srcRect b="0" l="0" r="0" t="0"/>
          <a:stretch/>
        </p:blipFill>
        <p:spPr>
          <a:xfrm>
            <a:off x="1306650" y="1400325"/>
            <a:ext cx="6957925" cy="3459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en"/>
              <a:t>3rd steps (1st matrix 2nd row * 2nd matrix 1st column)</a:t>
            </a:r>
            <a:endParaRPr/>
          </a:p>
          <a:p>
            <a:pPr indent="0" lvl="0" marL="0" rtl="0" algn="l">
              <a:lnSpc>
                <a:spcPct val="100000"/>
              </a:lnSpc>
              <a:spcBef>
                <a:spcPts val="0"/>
              </a:spcBef>
              <a:spcAft>
                <a:spcPts val="0"/>
              </a:spcAft>
              <a:buSzPct val="111111"/>
              <a:buNone/>
            </a:pPr>
            <a:r>
              <a:t/>
            </a:r>
            <a:endParaRPr/>
          </a:p>
        </p:txBody>
      </p:sp>
      <p:pic>
        <p:nvPicPr>
          <p:cNvPr id="166" name="Google Shape;166;p18"/>
          <p:cNvPicPr preferRelativeResize="0"/>
          <p:nvPr/>
        </p:nvPicPr>
        <p:blipFill rotWithShape="1">
          <a:blip r:embed="rId3">
            <a:alphaModFix/>
          </a:blip>
          <a:srcRect b="0" l="0" r="0" t="0"/>
          <a:stretch/>
        </p:blipFill>
        <p:spPr>
          <a:xfrm>
            <a:off x="1171750" y="1352550"/>
            <a:ext cx="7098826" cy="3199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9"/>
          <p:cNvPicPr preferRelativeResize="0"/>
          <p:nvPr/>
        </p:nvPicPr>
        <p:blipFill rotWithShape="1">
          <a:blip r:embed="rId3">
            <a:alphaModFix/>
          </a:blip>
          <a:srcRect b="0" l="0" r="0" t="0"/>
          <a:stretch/>
        </p:blipFill>
        <p:spPr>
          <a:xfrm>
            <a:off x="1906250" y="1350025"/>
            <a:ext cx="5773725" cy="3195925"/>
          </a:xfrm>
          <a:prstGeom prst="rect">
            <a:avLst/>
          </a:prstGeom>
          <a:noFill/>
          <a:ln>
            <a:noFill/>
          </a:ln>
        </p:spPr>
      </p:pic>
      <p:sp>
        <p:nvSpPr>
          <p:cNvPr id="172" name="Google Shape;172;p19"/>
          <p:cNvSpPr txBox="1"/>
          <p:nvPr>
            <p:ph type="title"/>
          </p:nvPr>
        </p:nvSpPr>
        <p:spPr>
          <a:xfrm>
            <a:off x="532813" y="41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3rd steps (1st matrix 2nd row * 2nd matrix 2nd column)</a:t>
            </a:r>
            <a:endParaRPr/>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61110"/>
              <a:buFont typeface="Arial"/>
              <a:buNone/>
            </a:pPr>
            <a:r>
              <a:rPr lang="en" sz="1800">
                <a:solidFill>
                  <a:schemeClr val="dk2"/>
                </a:solidFill>
              </a:rPr>
              <a:t># Dot product</a:t>
            </a:r>
            <a:endParaRPr sz="1800">
              <a:solidFill>
                <a:schemeClr val="dk2"/>
              </a:solidFill>
            </a:endParaRPr>
          </a:p>
          <a:p>
            <a:pPr indent="0" lvl="0" marL="0" rtl="0" algn="l">
              <a:lnSpc>
                <a:spcPct val="100000"/>
              </a:lnSpc>
              <a:spcBef>
                <a:spcPts val="1200"/>
              </a:spcBef>
              <a:spcAft>
                <a:spcPts val="0"/>
              </a:spcAft>
              <a:buSzPct val="111111"/>
              <a:buNone/>
            </a:pPr>
            <a:r>
              <a:t/>
            </a:r>
            <a:endParaRPr/>
          </a:p>
        </p:txBody>
      </p:sp>
      <p:sp>
        <p:nvSpPr>
          <p:cNvPr id="178" name="Google Shape;178;p20"/>
          <p:cNvSpPr txBox="1"/>
          <p:nvPr>
            <p:ph idx="1" type="body"/>
          </p:nvPr>
        </p:nvSpPr>
        <p:spPr>
          <a:xfrm>
            <a:off x="311700" y="1152475"/>
            <a:ext cx="57342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 Dot product</a:t>
            </a:r>
            <a:endParaRPr/>
          </a:p>
          <a:p>
            <a:pPr indent="0" lvl="0" marL="0" rtl="0" algn="l">
              <a:lnSpc>
                <a:spcPct val="115000"/>
              </a:lnSpc>
              <a:spcBef>
                <a:spcPts val="1200"/>
              </a:spcBef>
              <a:spcAft>
                <a:spcPts val="0"/>
              </a:spcAft>
              <a:buSzPts val="1800"/>
              <a:buNone/>
            </a:pPr>
            <a:r>
              <a:rPr lang="en"/>
              <a:t>a = np.array([[1,2,3], [4,5,6]], dtype=np.float64) # we can specify dtype</a:t>
            </a:r>
            <a:endParaRPr/>
          </a:p>
          <a:p>
            <a:pPr indent="0" lvl="0" marL="0" rtl="0" algn="l">
              <a:lnSpc>
                <a:spcPct val="115000"/>
              </a:lnSpc>
              <a:spcBef>
                <a:spcPts val="1200"/>
              </a:spcBef>
              <a:spcAft>
                <a:spcPts val="0"/>
              </a:spcAft>
              <a:buSzPts val="1800"/>
              <a:buNone/>
            </a:pPr>
            <a:r>
              <a:rPr lang="en"/>
              <a:t>b = np.array([[7,8], [9,10], [11, 12]], dtype=np.float64)</a:t>
            </a:r>
            <a:endParaRPr/>
          </a:p>
          <a:p>
            <a:pPr indent="0" lvl="0" marL="0" rtl="0" algn="l">
              <a:lnSpc>
                <a:spcPct val="115000"/>
              </a:lnSpc>
              <a:spcBef>
                <a:spcPts val="1200"/>
              </a:spcBef>
              <a:spcAft>
                <a:spcPts val="0"/>
              </a:spcAft>
              <a:buSzPts val="1800"/>
              <a:buNone/>
            </a:pPr>
            <a:r>
              <a:rPr lang="en"/>
              <a:t>c = a.dot(b)</a:t>
            </a:r>
            <a:endParaRPr/>
          </a:p>
          <a:p>
            <a:pPr indent="0" lvl="0" marL="0" rtl="0" algn="l">
              <a:lnSpc>
                <a:spcPct val="115000"/>
              </a:lnSpc>
              <a:spcBef>
                <a:spcPts val="1200"/>
              </a:spcBef>
              <a:spcAft>
                <a:spcPts val="0"/>
              </a:spcAft>
              <a:buSzPts val="1800"/>
              <a:buNone/>
            </a:pPr>
            <a:r>
              <a:rPr lang="en"/>
              <a:t>print (f"{a.shape} · {b.shape} = {c.shape}")</a:t>
            </a:r>
            <a:endParaRPr/>
          </a:p>
          <a:p>
            <a:pPr indent="0" lvl="0" marL="0" rtl="0" algn="l">
              <a:lnSpc>
                <a:spcPct val="115000"/>
              </a:lnSpc>
              <a:spcBef>
                <a:spcPts val="1200"/>
              </a:spcBef>
              <a:spcAft>
                <a:spcPts val="1200"/>
              </a:spcAft>
              <a:buSzPts val="1800"/>
              <a:buNone/>
            </a:pPr>
            <a:r>
              <a:rPr lang="en"/>
              <a:t>print (c)</a:t>
            </a:r>
            <a:endParaRPr/>
          </a:p>
        </p:txBody>
      </p:sp>
      <p:pic>
        <p:nvPicPr>
          <p:cNvPr id="179" name="Google Shape;179;p20"/>
          <p:cNvPicPr preferRelativeResize="0"/>
          <p:nvPr/>
        </p:nvPicPr>
        <p:blipFill rotWithShape="1">
          <a:blip r:embed="rId3">
            <a:alphaModFix/>
          </a:blip>
          <a:srcRect b="0" l="0" r="0" t="0"/>
          <a:stretch/>
        </p:blipFill>
        <p:spPr>
          <a:xfrm>
            <a:off x="6384375" y="1829675"/>
            <a:ext cx="2690350" cy="998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Axis operations</a:t>
            </a:r>
            <a:endParaRPr/>
          </a:p>
        </p:txBody>
      </p:sp>
      <p:sp>
        <p:nvSpPr>
          <p:cNvPr id="185" name="Google Shape;185;p21"/>
          <p:cNvSpPr txBox="1"/>
          <p:nvPr>
            <p:ph idx="1" type="body"/>
          </p:nvPr>
        </p:nvSpPr>
        <p:spPr>
          <a:xfrm>
            <a:off x="311700" y="1152475"/>
            <a:ext cx="8520600" cy="7614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358"/>
              <a:buNone/>
            </a:pPr>
            <a:r>
              <a:rPr lang="en" sz="1385"/>
              <a:t>We can also do operations across a specific axis.</a:t>
            </a:r>
            <a:endParaRPr sz="1385"/>
          </a:p>
          <a:p>
            <a:pPr indent="0" lvl="0" marL="0" rtl="0" algn="l">
              <a:lnSpc>
                <a:spcPct val="95000"/>
              </a:lnSpc>
              <a:spcBef>
                <a:spcPts val="1200"/>
              </a:spcBef>
              <a:spcAft>
                <a:spcPts val="0"/>
              </a:spcAft>
              <a:buSzPts val="358"/>
              <a:buNone/>
            </a:pPr>
            <a:r>
              <a:t/>
            </a:r>
            <a:endParaRPr sz="1385"/>
          </a:p>
          <a:p>
            <a:pPr indent="0" lvl="0" marL="0" rtl="0" algn="l">
              <a:lnSpc>
                <a:spcPct val="95000"/>
              </a:lnSpc>
              <a:spcBef>
                <a:spcPts val="1200"/>
              </a:spcBef>
              <a:spcAft>
                <a:spcPts val="1200"/>
              </a:spcAft>
              <a:buSzPts val="358"/>
              <a:buNone/>
            </a:pPr>
            <a:r>
              <a:t/>
            </a:r>
            <a:endParaRPr sz="1385"/>
          </a:p>
        </p:txBody>
      </p:sp>
      <p:pic>
        <p:nvPicPr>
          <p:cNvPr id="186" name="Google Shape;186;p21"/>
          <p:cNvPicPr preferRelativeResize="0"/>
          <p:nvPr/>
        </p:nvPicPr>
        <p:blipFill rotWithShape="1">
          <a:blip r:embed="rId3">
            <a:alphaModFix/>
          </a:blip>
          <a:srcRect b="0" l="0" r="0" t="0"/>
          <a:stretch/>
        </p:blipFill>
        <p:spPr>
          <a:xfrm>
            <a:off x="5328025" y="0"/>
            <a:ext cx="3878750" cy="1688900"/>
          </a:xfrm>
          <a:prstGeom prst="rect">
            <a:avLst/>
          </a:prstGeom>
          <a:noFill/>
          <a:ln>
            <a:noFill/>
          </a:ln>
        </p:spPr>
      </p:pic>
      <p:sp>
        <p:nvSpPr>
          <p:cNvPr id="187" name="Google Shape;187;p21"/>
          <p:cNvSpPr txBox="1"/>
          <p:nvPr/>
        </p:nvSpPr>
        <p:spPr>
          <a:xfrm>
            <a:off x="439700" y="1703875"/>
            <a:ext cx="4677000" cy="314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 Sum across a dimension</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x = np.array([[1,2],[3,4]])</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print (x)</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print ("sum all: ", np.sum(x)) # adds all elements</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print ("sum axis=0: ", np.sum(x, axis=0)) # sum across rows</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2"/>
                </a:solidFill>
                <a:latin typeface="Arial"/>
                <a:ea typeface="Arial"/>
                <a:cs typeface="Arial"/>
                <a:sym typeface="Arial"/>
              </a:rPr>
              <a:t>print ("sum axis=1: ", np.sum(x, axis=1)) # sum across columns</a:t>
            </a:r>
            <a:endParaRPr b="0" i="0" sz="1600" u="none" cap="none" strike="noStrike">
              <a:solidFill>
                <a:schemeClr val="dk2"/>
              </a:solidFill>
              <a:latin typeface="Arial"/>
              <a:ea typeface="Arial"/>
              <a:cs typeface="Arial"/>
              <a:sym typeface="Arial"/>
            </a:endParaRPr>
          </a:p>
        </p:txBody>
      </p:sp>
      <p:pic>
        <p:nvPicPr>
          <p:cNvPr id="188" name="Google Shape;188;p21"/>
          <p:cNvPicPr preferRelativeResize="0"/>
          <p:nvPr/>
        </p:nvPicPr>
        <p:blipFill rotWithShape="1">
          <a:blip r:embed="rId4">
            <a:alphaModFix/>
          </a:blip>
          <a:srcRect b="0" l="0" r="0" t="0"/>
          <a:stretch/>
        </p:blipFill>
        <p:spPr>
          <a:xfrm>
            <a:off x="5269100" y="2066275"/>
            <a:ext cx="3653200" cy="1946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sz="1800">
                <a:solidFill>
                  <a:schemeClr val="dk2"/>
                </a:solidFill>
              </a:rPr>
              <a:t># Min/max</a:t>
            </a:r>
            <a:endParaRPr/>
          </a:p>
        </p:txBody>
      </p:sp>
      <p:sp>
        <p:nvSpPr>
          <p:cNvPr id="194" name="Google Shape;194;p22"/>
          <p:cNvSpPr txBox="1"/>
          <p:nvPr>
            <p:ph idx="1" type="body"/>
          </p:nvPr>
        </p:nvSpPr>
        <p:spPr>
          <a:xfrm>
            <a:off x="311700" y="1152475"/>
            <a:ext cx="40854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0"/>
              </a:spcAft>
              <a:buSzPts val="1800"/>
              <a:buNone/>
            </a:pPr>
            <a:r>
              <a:rPr lang="en"/>
              <a:t>x = np.array([[1,2,3], [4,5,6]])</a:t>
            </a:r>
            <a:endParaRPr/>
          </a:p>
          <a:p>
            <a:pPr indent="0" lvl="0" marL="0" rtl="0" algn="l">
              <a:lnSpc>
                <a:spcPct val="115000"/>
              </a:lnSpc>
              <a:spcBef>
                <a:spcPts val="1200"/>
              </a:spcBef>
              <a:spcAft>
                <a:spcPts val="0"/>
              </a:spcAft>
              <a:buSzPts val="1800"/>
              <a:buNone/>
            </a:pPr>
            <a:r>
              <a:rPr lang="en"/>
              <a:t>print ("min: ", x.min())</a:t>
            </a:r>
            <a:endParaRPr/>
          </a:p>
          <a:p>
            <a:pPr indent="0" lvl="0" marL="0" rtl="0" algn="l">
              <a:lnSpc>
                <a:spcPct val="115000"/>
              </a:lnSpc>
              <a:spcBef>
                <a:spcPts val="1200"/>
              </a:spcBef>
              <a:spcAft>
                <a:spcPts val="0"/>
              </a:spcAft>
              <a:buSzPts val="1800"/>
              <a:buNone/>
            </a:pPr>
            <a:r>
              <a:rPr lang="en"/>
              <a:t>print ("max: ", x.max())</a:t>
            </a:r>
            <a:endParaRPr/>
          </a:p>
          <a:p>
            <a:pPr indent="0" lvl="0" marL="0" rtl="0" algn="l">
              <a:lnSpc>
                <a:spcPct val="115000"/>
              </a:lnSpc>
              <a:spcBef>
                <a:spcPts val="1200"/>
              </a:spcBef>
              <a:spcAft>
                <a:spcPts val="0"/>
              </a:spcAft>
              <a:buSzPts val="1800"/>
              <a:buNone/>
            </a:pPr>
            <a:r>
              <a:rPr lang="en"/>
              <a:t>print ("min axis=0: ", x.min(axis=0))</a:t>
            </a:r>
            <a:endParaRPr/>
          </a:p>
          <a:p>
            <a:pPr indent="0" lvl="0" marL="0" rtl="0" algn="l">
              <a:lnSpc>
                <a:spcPct val="115000"/>
              </a:lnSpc>
              <a:spcBef>
                <a:spcPts val="1200"/>
              </a:spcBef>
              <a:spcAft>
                <a:spcPts val="1200"/>
              </a:spcAft>
              <a:buSzPts val="1800"/>
              <a:buNone/>
            </a:pPr>
            <a:r>
              <a:rPr lang="en"/>
              <a:t>print ("min axis=1: ", x.min(axis=1))</a:t>
            </a:r>
            <a:endParaRPr/>
          </a:p>
        </p:txBody>
      </p:sp>
      <p:pic>
        <p:nvPicPr>
          <p:cNvPr id="195" name="Google Shape;195;p22"/>
          <p:cNvPicPr preferRelativeResize="0"/>
          <p:nvPr/>
        </p:nvPicPr>
        <p:blipFill rotWithShape="1">
          <a:blip r:embed="rId3">
            <a:alphaModFix/>
          </a:blip>
          <a:srcRect b="0" l="0" r="0" t="0"/>
          <a:stretch/>
        </p:blipFill>
        <p:spPr>
          <a:xfrm>
            <a:off x="4969225" y="2039550"/>
            <a:ext cx="3418598" cy="14016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Broadcast</a:t>
            </a:r>
            <a:endParaRPr/>
          </a:p>
        </p:txBody>
      </p:sp>
      <p:sp>
        <p:nvSpPr>
          <p:cNvPr id="201" name="Google Shape;201;p23"/>
          <p:cNvSpPr txBox="1"/>
          <p:nvPr>
            <p:ph idx="1" type="body"/>
          </p:nvPr>
        </p:nvSpPr>
        <p:spPr>
          <a:xfrm>
            <a:off x="311700" y="1152475"/>
            <a:ext cx="4595100" cy="3579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What happens when we try to do operations with tensors with seemingly incompatible shapes? Their dimensions aren’t compatible as is but how does NumPy still gives us the right result? This is where broadcasting comes in. The scalar is broadcast across the vector so that they have compatible shapes.</a:t>
            </a:r>
            <a:endParaRPr/>
          </a:p>
        </p:txBody>
      </p:sp>
      <p:pic>
        <p:nvPicPr>
          <p:cNvPr id="202" name="Google Shape;202;p23"/>
          <p:cNvPicPr preferRelativeResize="0"/>
          <p:nvPr/>
        </p:nvPicPr>
        <p:blipFill rotWithShape="1">
          <a:blip r:embed="rId3">
            <a:alphaModFix/>
          </a:blip>
          <a:srcRect b="0" l="0" r="0" t="0"/>
          <a:stretch/>
        </p:blipFill>
        <p:spPr>
          <a:xfrm>
            <a:off x="5179125" y="1195388"/>
            <a:ext cx="3095625" cy="2752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 Broadcasting</a:t>
            </a:r>
            <a:endParaRPr/>
          </a:p>
          <a:p>
            <a:pPr indent="0" lvl="0" marL="0" rtl="0" algn="l">
              <a:lnSpc>
                <a:spcPct val="100000"/>
              </a:lnSpc>
              <a:spcBef>
                <a:spcPts val="0"/>
              </a:spcBef>
              <a:spcAft>
                <a:spcPts val="0"/>
              </a:spcAft>
              <a:buSzPct val="111111"/>
              <a:buNone/>
            </a:pPr>
            <a:r>
              <a:t/>
            </a:r>
            <a:endParaRPr/>
          </a:p>
        </p:txBody>
      </p:sp>
      <p:sp>
        <p:nvSpPr>
          <p:cNvPr id="208" name="Google Shape;208;p24"/>
          <p:cNvSpPr txBox="1"/>
          <p:nvPr>
            <p:ph idx="1" type="body"/>
          </p:nvPr>
        </p:nvSpPr>
        <p:spPr>
          <a:xfrm>
            <a:off x="311700" y="1152475"/>
            <a:ext cx="40704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 Broadcasting</a:t>
            </a:r>
            <a:endParaRPr/>
          </a:p>
          <a:p>
            <a:pPr indent="0" lvl="0" marL="0" rtl="0" algn="l">
              <a:lnSpc>
                <a:spcPct val="115000"/>
              </a:lnSpc>
              <a:spcBef>
                <a:spcPts val="1200"/>
              </a:spcBef>
              <a:spcAft>
                <a:spcPts val="0"/>
              </a:spcAft>
              <a:buSzPts val="1800"/>
              <a:buNone/>
            </a:pPr>
            <a:r>
              <a:rPr lang="en"/>
              <a:t>x = np.array([1,2]) # vector</a:t>
            </a:r>
            <a:endParaRPr/>
          </a:p>
          <a:p>
            <a:pPr indent="0" lvl="0" marL="0" rtl="0" algn="l">
              <a:lnSpc>
                <a:spcPct val="115000"/>
              </a:lnSpc>
              <a:spcBef>
                <a:spcPts val="1200"/>
              </a:spcBef>
              <a:spcAft>
                <a:spcPts val="0"/>
              </a:spcAft>
              <a:buSzPts val="1800"/>
              <a:buNone/>
            </a:pPr>
            <a:r>
              <a:rPr lang="en"/>
              <a:t>y = np.array(3) # scalar</a:t>
            </a:r>
            <a:endParaRPr/>
          </a:p>
          <a:p>
            <a:pPr indent="0" lvl="0" marL="0" rtl="0" algn="l">
              <a:lnSpc>
                <a:spcPct val="115000"/>
              </a:lnSpc>
              <a:spcBef>
                <a:spcPts val="1200"/>
              </a:spcBef>
              <a:spcAft>
                <a:spcPts val="0"/>
              </a:spcAft>
              <a:buSzPts val="1800"/>
              <a:buNone/>
            </a:pPr>
            <a:r>
              <a:rPr lang="en"/>
              <a:t>z = x + y</a:t>
            </a:r>
            <a:endParaRPr/>
          </a:p>
          <a:p>
            <a:pPr indent="0" lvl="0" marL="0" rtl="0" algn="l">
              <a:lnSpc>
                <a:spcPct val="115000"/>
              </a:lnSpc>
              <a:spcBef>
                <a:spcPts val="1200"/>
              </a:spcBef>
              <a:spcAft>
                <a:spcPts val="1200"/>
              </a:spcAft>
              <a:buSzPts val="1800"/>
              <a:buNone/>
            </a:pPr>
            <a:r>
              <a:rPr lang="en"/>
              <a:t>print ("z:\n", z)</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Gotchas</a:t>
            </a:r>
            <a:endParaRPr/>
          </a:p>
        </p:txBody>
      </p:sp>
      <p:sp>
        <p:nvSpPr>
          <p:cNvPr id="214" name="Google Shape;214;p25"/>
          <p:cNvSpPr txBox="1"/>
          <p:nvPr>
            <p:ph idx="1" type="body"/>
          </p:nvPr>
        </p:nvSpPr>
        <p:spPr>
          <a:xfrm>
            <a:off x="311700" y="1152475"/>
            <a:ext cx="3830700" cy="3416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a:t>a = np.array((3, 4, 5))</a:t>
            </a:r>
            <a:endParaRPr/>
          </a:p>
          <a:p>
            <a:pPr indent="0" lvl="0" marL="0" rtl="0" algn="l">
              <a:lnSpc>
                <a:spcPct val="115000"/>
              </a:lnSpc>
              <a:spcBef>
                <a:spcPts val="1200"/>
              </a:spcBef>
              <a:spcAft>
                <a:spcPts val="0"/>
              </a:spcAft>
              <a:buSzPts val="1800"/>
              <a:buNone/>
            </a:pPr>
            <a:r>
              <a:rPr lang="en"/>
              <a:t>b = np.expand_dims(a, axis=1)</a:t>
            </a:r>
            <a:endParaRPr/>
          </a:p>
          <a:p>
            <a:pPr indent="0" lvl="0" marL="0" rtl="0" algn="l">
              <a:lnSpc>
                <a:spcPct val="115000"/>
              </a:lnSpc>
              <a:spcBef>
                <a:spcPts val="1200"/>
              </a:spcBef>
              <a:spcAft>
                <a:spcPts val="0"/>
              </a:spcAft>
              <a:buSzPts val="1800"/>
              <a:buNone/>
            </a:pPr>
            <a:r>
              <a:rPr lang="en"/>
              <a:t>c = a + b</a:t>
            </a:r>
            <a:endParaRPr/>
          </a:p>
          <a:p>
            <a:pPr indent="0" lvl="0" marL="0" rtl="0" algn="l">
              <a:lnSpc>
                <a:spcPct val="115000"/>
              </a:lnSpc>
              <a:spcBef>
                <a:spcPts val="1200"/>
              </a:spcBef>
              <a:spcAft>
                <a:spcPts val="0"/>
              </a:spcAft>
              <a:buSzPts val="1800"/>
              <a:buNone/>
            </a:pPr>
            <a:r>
              <a:rPr lang="en"/>
              <a:t>a.shape # (3,)</a:t>
            </a:r>
            <a:endParaRPr/>
          </a:p>
          <a:p>
            <a:pPr indent="0" lvl="0" marL="0" rtl="0" algn="l">
              <a:lnSpc>
                <a:spcPct val="115000"/>
              </a:lnSpc>
              <a:spcBef>
                <a:spcPts val="1200"/>
              </a:spcBef>
              <a:spcAft>
                <a:spcPts val="0"/>
              </a:spcAft>
              <a:buSzPts val="1800"/>
              <a:buNone/>
            </a:pPr>
            <a:r>
              <a:rPr lang="en"/>
              <a:t>b.shape # (3, 1)</a:t>
            </a:r>
            <a:endParaRPr/>
          </a:p>
          <a:p>
            <a:pPr indent="0" lvl="0" marL="0" rtl="0" algn="l">
              <a:lnSpc>
                <a:spcPct val="115000"/>
              </a:lnSpc>
              <a:spcBef>
                <a:spcPts val="1200"/>
              </a:spcBef>
              <a:spcAft>
                <a:spcPts val="0"/>
              </a:spcAft>
              <a:buSzPts val="1800"/>
              <a:buNone/>
            </a:pPr>
            <a:r>
              <a:rPr lang="en"/>
              <a:t>c.shape # (3, 3)</a:t>
            </a:r>
            <a:endParaRPr/>
          </a:p>
          <a:p>
            <a:pPr indent="0" lvl="0" marL="0" rtl="0" algn="l">
              <a:lnSpc>
                <a:spcPct val="115000"/>
              </a:lnSpc>
              <a:spcBef>
                <a:spcPts val="1200"/>
              </a:spcBef>
              <a:spcAft>
                <a:spcPts val="0"/>
              </a:spcAft>
              <a:buSzPts val="1800"/>
              <a:buNone/>
            </a:pPr>
            <a:r>
              <a:rPr lang="en"/>
              <a:t>print (c)</a:t>
            </a:r>
            <a:endParaRPr/>
          </a:p>
          <a:p>
            <a:pPr indent="0" lvl="0" marL="0" rtl="0" algn="l">
              <a:lnSpc>
                <a:spcPct val="115000"/>
              </a:lnSpc>
              <a:spcBef>
                <a:spcPts val="1200"/>
              </a:spcBef>
              <a:spcAft>
                <a:spcPts val="1200"/>
              </a:spcAft>
              <a:buSzPts val="1800"/>
              <a:buNone/>
            </a:pPr>
            <a:r>
              <a:t/>
            </a:r>
            <a:endParaRPr/>
          </a:p>
        </p:txBody>
      </p:sp>
      <p:pic>
        <p:nvPicPr>
          <p:cNvPr id="215" name="Google Shape;215;p25"/>
          <p:cNvPicPr preferRelativeResize="0"/>
          <p:nvPr/>
        </p:nvPicPr>
        <p:blipFill rotWithShape="1">
          <a:blip r:embed="rId3">
            <a:alphaModFix/>
          </a:blip>
          <a:srcRect b="0" l="0" r="0" t="0"/>
          <a:stretch/>
        </p:blipFill>
        <p:spPr>
          <a:xfrm>
            <a:off x="4324775" y="1982588"/>
            <a:ext cx="4428225" cy="11783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21" name="Google Shape;221;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How can we fix this? We need to be careful to ensure that a is the same shape as b if we don't want this unintentional broadcasting behavior.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solidFill>
                  <a:schemeClr val="dk2"/>
                </a:solidFill>
              </a:rPr>
              <a:t>if we don't want this unintentional broadcasting behavior</a:t>
            </a:r>
            <a:endParaRPr/>
          </a:p>
        </p:txBody>
      </p:sp>
      <p:sp>
        <p:nvSpPr>
          <p:cNvPr id="227" name="Google Shape;227;p27"/>
          <p:cNvSpPr txBox="1"/>
          <p:nvPr>
            <p:ph idx="1" type="body"/>
          </p:nvPr>
        </p:nvSpPr>
        <p:spPr>
          <a:xfrm>
            <a:off x="311700" y="1152475"/>
            <a:ext cx="3081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a = a.reshape(-1, 1)</a:t>
            </a:r>
            <a:endParaRPr/>
          </a:p>
          <a:p>
            <a:pPr indent="0" lvl="0" marL="0" rtl="0" algn="l">
              <a:lnSpc>
                <a:spcPct val="115000"/>
              </a:lnSpc>
              <a:spcBef>
                <a:spcPts val="1200"/>
              </a:spcBef>
              <a:spcAft>
                <a:spcPts val="0"/>
              </a:spcAft>
              <a:buSzPts val="1800"/>
              <a:buNone/>
            </a:pPr>
            <a:r>
              <a:rPr lang="en"/>
              <a:t>a.shape # (3, 1)</a:t>
            </a:r>
            <a:endParaRPr/>
          </a:p>
          <a:p>
            <a:pPr indent="0" lvl="0" marL="0" rtl="0" algn="l">
              <a:lnSpc>
                <a:spcPct val="115000"/>
              </a:lnSpc>
              <a:spcBef>
                <a:spcPts val="1200"/>
              </a:spcBef>
              <a:spcAft>
                <a:spcPts val="0"/>
              </a:spcAft>
              <a:buSzPts val="1800"/>
              <a:buNone/>
            </a:pPr>
            <a:r>
              <a:rPr lang="en"/>
              <a:t>c = a + b</a:t>
            </a:r>
            <a:endParaRPr/>
          </a:p>
          <a:p>
            <a:pPr indent="0" lvl="0" marL="0" rtl="0" algn="l">
              <a:lnSpc>
                <a:spcPct val="115000"/>
              </a:lnSpc>
              <a:spcBef>
                <a:spcPts val="1200"/>
              </a:spcBef>
              <a:spcAft>
                <a:spcPts val="0"/>
              </a:spcAft>
              <a:buSzPts val="1800"/>
              <a:buNone/>
            </a:pPr>
            <a:r>
              <a:rPr lang="en"/>
              <a:t>c.shape # (3, 1)</a:t>
            </a:r>
            <a:endParaRPr/>
          </a:p>
          <a:p>
            <a:pPr indent="0" lvl="0" marL="0" rtl="0" algn="l">
              <a:lnSpc>
                <a:spcPct val="115000"/>
              </a:lnSpc>
              <a:spcBef>
                <a:spcPts val="1200"/>
              </a:spcBef>
              <a:spcAft>
                <a:spcPts val="1200"/>
              </a:spcAft>
              <a:buSzPts val="1800"/>
              <a:buNone/>
            </a:pPr>
            <a:r>
              <a:rPr lang="en"/>
              <a:t>print (c)</a:t>
            </a:r>
            <a:endParaRPr/>
          </a:p>
        </p:txBody>
      </p:sp>
      <p:pic>
        <p:nvPicPr>
          <p:cNvPr id="228" name="Google Shape;228;p27"/>
          <p:cNvPicPr preferRelativeResize="0"/>
          <p:nvPr/>
        </p:nvPicPr>
        <p:blipFill rotWithShape="1">
          <a:blip r:embed="rId3">
            <a:alphaModFix/>
          </a:blip>
          <a:srcRect b="0" l="0" r="0" t="0"/>
          <a:stretch/>
        </p:blipFill>
        <p:spPr>
          <a:xfrm>
            <a:off x="3754975" y="2204450"/>
            <a:ext cx="4894575" cy="19578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Reshape</a:t>
            </a:r>
            <a:endParaRPr/>
          </a:p>
        </p:txBody>
      </p:sp>
      <p:sp>
        <p:nvSpPr>
          <p:cNvPr id="234" name="Google Shape;234;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This kind of unintended broadcasting happens more often then you'd think because this is exactly what happens when we create an array from a list. So we need to ensure that we apply the proper reshaping before using it for any operations.</a:t>
            </a:r>
            <a:endParaRPr/>
          </a:p>
          <a:p>
            <a:pPr indent="0" lvl="0" marL="0" rtl="0" algn="l">
              <a:lnSpc>
                <a:spcPct val="115000"/>
              </a:lnSpc>
              <a:spcBef>
                <a:spcPts val="1200"/>
              </a:spcBef>
              <a:spcAft>
                <a:spcPts val="0"/>
              </a:spcAft>
              <a:buSzPts val="1800"/>
              <a:buNone/>
            </a:pPr>
            <a:r>
              <a:rPr lang="en"/>
              <a:t>a = np.array([3, 4, 5])</a:t>
            </a:r>
            <a:endParaRPr/>
          </a:p>
          <a:p>
            <a:pPr indent="0" lvl="0" marL="0" rtl="0" algn="l">
              <a:lnSpc>
                <a:spcPct val="115000"/>
              </a:lnSpc>
              <a:spcBef>
                <a:spcPts val="1200"/>
              </a:spcBef>
              <a:spcAft>
                <a:spcPts val="0"/>
              </a:spcAft>
              <a:buSzPts val="1800"/>
              <a:buNone/>
            </a:pPr>
            <a:r>
              <a:rPr lang="en"/>
              <a:t>a.shape # (3,)</a:t>
            </a:r>
            <a:endParaRPr/>
          </a:p>
          <a:p>
            <a:pPr indent="0" lvl="0" marL="0" rtl="0" algn="l">
              <a:lnSpc>
                <a:spcPct val="115000"/>
              </a:lnSpc>
              <a:spcBef>
                <a:spcPts val="1200"/>
              </a:spcBef>
              <a:spcAft>
                <a:spcPts val="0"/>
              </a:spcAft>
              <a:buSzPts val="1800"/>
              <a:buNone/>
            </a:pPr>
            <a:r>
              <a:rPr lang="en"/>
              <a:t>a = a.reshape(-1, 1)</a:t>
            </a:r>
            <a:endParaRPr/>
          </a:p>
          <a:p>
            <a:pPr indent="0" lvl="0" marL="0" rtl="0" algn="l">
              <a:lnSpc>
                <a:spcPct val="115000"/>
              </a:lnSpc>
              <a:spcBef>
                <a:spcPts val="1200"/>
              </a:spcBef>
              <a:spcAft>
                <a:spcPts val="1200"/>
              </a:spcAft>
              <a:buSzPts val="1800"/>
              <a:buNone/>
            </a:pPr>
            <a:r>
              <a:rPr lang="en"/>
              <a:t>a.shape # (3, 1)</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40000"/>
              </a:lnSpc>
              <a:spcBef>
                <a:spcPts val="4200"/>
              </a:spcBef>
              <a:spcAft>
                <a:spcPts val="0"/>
              </a:spcAft>
              <a:buClr>
                <a:schemeClr val="dk1"/>
              </a:buClr>
              <a:buSzPct val="41509"/>
              <a:buFont typeface="Arial"/>
              <a:buNone/>
            </a:pPr>
            <a:r>
              <a:rPr b="1" lang="en" sz="2650">
                <a:highlight>
                  <a:srgbClr val="FFFFFF"/>
                </a:highlight>
              </a:rPr>
              <a:t>Transpose</a:t>
            </a:r>
            <a:endParaRPr b="1" sz="2650">
              <a:highlight>
                <a:srgbClr val="FFFFFF"/>
              </a:highlight>
            </a:endParaRPr>
          </a:p>
          <a:p>
            <a:pPr indent="0" lvl="0" marL="0" rtl="0" algn="l">
              <a:lnSpc>
                <a:spcPct val="100000"/>
              </a:lnSpc>
              <a:spcBef>
                <a:spcPts val="1700"/>
              </a:spcBef>
              <a:spcAft>
                <a:spcPts val="0"/>
              </a:spcAft>
              <a:buSzPct val="111111"/>
              <a:buNone/>
            </a:pPr>
            <a:r>
              <a:t/>
            </a:r>
            <a:endParaRPr/>
          </a:p>
        </p:txBody>
      </p:sp>
      <p:sp>
        <p:nvSpPr>
          <p:cNvPr id="240" name="Google Shape;240;p29"/>
          <p:cNvSpPr txBox="1"/>
          <p:nvPr>
            <p:ph idx="1" type="body"/>
          </p:nvPr>
        </p:nvSpPr>
        <p:spPr>
          <a:xfrm>
            <a:off x="311700" y="1152475"/>
            <a:ext cx="8520600" cy="926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We often need to change the dimensions of our tensors for operations like the dot product. If we need to switch two dimensions, we can transpose the tensor.</a:t>
            </a:r>
            <a:endParaRPr/>
          </a:p>
        </p:txBody>
      </p:sp>
      <p:pic>
        <p:nvPicPr>
          <p:cNvPr id="241" name="Google Shape;241;p29"/>
          <p:cNvPicPr preferRelativeResize="0"/>
          <p:nvPr/>
        </p:nvPicPr>
        <p:blipFill rotWithShape="1">
          <a:blip r:embed="rId3">
            <a:alphaModFix/>
          </a:blip>
          <a:srcRect b="0" l="0" r="0" t="0"/>
          <a:stretch/>
        </p:blipFill>
        <p:spPr>
          <a:xfrm>
            <a:off x="557150" y="2213325"/>
            <a:ext cx="5467000" cy="27601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solidFill>
                  <a:schemeClr val="dk2"/>
                </a:solidFill>
              </a:rPr>
              <a:t>Transposing</a:t>
            </a:r>
            <a:endParaRPr/>
          </a:p>
        </p:txBody>
      </p:sp>
      <p:sp>
        <p:nvSpPr>
          <p:cNvPr id="247" name="Google Shape;247;p30"/>
          <p:cNvSpPr txBox="1"/>
          <p:nvPr>
            <p:ph idx="1" type="body"/>
          </p:nvPr>
        </p:nvSpPr>
        <p:spPr>
          <a:xfrm>
            <a:off x="311700" y="1152475"/>
            <a:ext cx="42603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 Transposing</a:t>
            </a:r>
            <a:endParaRPr/>
          </a:p>
          <a:p>
            <a:pPr indent="0" lvl="0" marL="0" rtl="0" algn="l">
              <a:lnSpc>
                <a:spcPct val="115000"/>
              </a:lnSpc>
              <a:spcBef>
                <a:spcPts val="1200"/>
              </a:spcBef>
              <a:spcAft>
                <a:spcPts val="0"/>
              </a:spcAft>
              <a:buSzPts val="1800"/>
              <a:buNone/>
            </a:pPr>
            <a:r>
              <a:rPr lang="en"/>
              <a:t>x = np.array([[1,2,3], [4,5,6]])</a:t>
            </a:r>
            <a:endParaRPr/>
          </a:p>
          <a:p>
            <a:pPr indent="0" lvl="0" marL="0" rtl="0" algn="l">
              <a:lnSpc>
                <a:spcPct val="115000"/>
              </a:lnSpc>
              <a:spcBef>
                <a:spcPts val="1200"/>
              </a:spcBef>
              <a:spcAft>
                <a:spcPts val="0"/>
              </a:spcAft>
              <a:buSzPts val="1800"/>
              <a:buNone/>
            </a:pPr>
            <a:r>
              <a:rPr lang="en"/>
              <a:t>print ("x:\n", x)</a:t>
            </a:r>
            <a:endParaRPr/>
          </a:p>
          <a:p>
            <a:pPr indent="0" lvl="0" marL="0" rtl="0" algn="l">
              <a:lnSpc>
                <a:spcPct val="115000"/>
              </a:lnSpc>
              <a:spcBef>
                <a:spcPts val="1200"/>
              </a:spcBef>
              <a:spcAft>
                <a:spcPts val="0"/>
              </a:spcAft>
              <a:buSzPts val="1800"/>
              <a:buNone/>
            </a:pPr>
            <a:r>
              <a:rPr lang="en"/>
              <a:t>print ("x.shape: ", x.shape)</a:t>
            </a:r>
            <a:endParaRPr/>
          </a:p>
          <a:p>
            <a:pPr indent="0" lvl="0" marL="0" rtl="0" algn="l">
              <a:lnSpc>
                <a:spcPct val="115000"/>
              </a:lnSpc>
              <a:spcBef>
                <a:spcPts val="1200"/>
              </a:spcBef>
              <a:spcAft>
                <a:spcPts val="0"/>
              </a:spcAft>
              <a:buSzPts val="1800"/>
              <a:buNone/>
            </a:pPr>
            <a:r>
              <a:rPr lang="en"/>
              <a:t>y = np.transpose(x, (1,0)) # flip dimensions at index 0 and 1</a:t>
            </a:r>
            <a:endParaRPr/>
          </a:p>
          <a:p>
            <a:pPr indent="0" lvl="0" marL="0" rtl="0" algn="l">
              <a:lnSpc>
                <a:spcPct val="115000"/>
              </a:lnSpc>
              <a:spcBef>
                <a:spcPts val="1200"/>
              </a:spcBef>
              <a:spcAft>
                <a:spcPts val="0"/>
              </a:spcAft>
              <a:buSzPts val="1800"/>
              <a:buNone/>
            </a:pPr>
            <a:r>
              <a:rPr lang="en"/>
              <a:t>print ("y:\n", y)</a:t>
            </a:r>
            <a:endParaRPr/>
          </a:p>
          <a:p>
            <a:pPr indent="0" lvl="0" marL="0" rtl="0" algn="l">
              <a:lnSpc>
                <a:spcPct val="115000"/>
              </a:lnSpc>
              <a:spcBef>
                <a:spcPts val="1200"/>
              </a:spcBef>
              <a:spcAft>
                <a:spcPts val="1200"/>
              </a:spcAft>
              <a:buSzPts val="1800"/>
              <a:buNone/>
            </a:pPr>
            <a:r>
              <a:rPr lang="en"/>
              <a:t>print ("y.shape: ", y.shape)</a:t>
            </a:r>
            <a:endParaRPr/>
          </a:p>
        </p:txBody>
      </p:sp>
      <p:pic>
        <p:nvPicPr>
          <p:cNvPr id="248" name="Google Shape;248;p30"/>
          <p:cNvPicPr preferRelativeResize="0"/>
          <p:nvPr/>
        </p:nvPicPr>
        <p:blipFill rotWithShape="1">
          <a:blip r:embed="rId3">
            <a:alphaModFix/>
          </a:blip>
          <a:srcRect b="0" l="0" r="0" t="0"/>
          <a:stretch/>
        </p:blipFill>
        <p:spPr>
          <a:xfrm>
            <a:off x="5174125" y="1532475"/>
            <a:ext cx="2700725" cy="303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