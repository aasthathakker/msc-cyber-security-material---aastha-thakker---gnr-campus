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gc5MLiuwx1BsZTbouKkty1A4c7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2" name="Google Shape;252;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6" name="Google Shape;266;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6"/>
          <p:cNvSpPr/>
          <p:nvPr>
            <p:ph idx="2" type="pic"/>
          </p:nvPr>
        </p:nvSpPr>
        <p:spPr>
          <a:xfrm>
            <a:off x="5183188" y="987425"/>
            <a:ext cx="6172200" cy="4873625"/>
          </a:xfrm>
          <a:prstGeom prst="rect">
            <a:avLst/>
          </a:prstGeom>
          <a:noFill/>
          <a:ln>
            <a:noFill/>
          </a:ln>
        </p:spPr>
      </p:sp>
      <p:sp>
        <p:nvSpPr>
          <p:cNvPr id="64" name="Google Shape;64;p4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b="1" lang="en-US"/>
              <a:t>K-Means Clustering</a:t>
            </a:r>
            <a:br>
              <a:rPr b="1" lang="en-US"/>
            </a:b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Unsupervised ML algorithm</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592050" y="0"/>
            <a:ext cx="10515600" cy="98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Introduction</a:t>
            </a:r>
            <a:endParaRPr/>
          </a:p>
        </p:txBody>
      </p:sp>
      <p:sp>
        <p:nvSpPr>
          <p:cNvPr id="91" name="Google Shape;91;p2"/>
          <p:cNvSpPr txBox="1"/>
          <p:nvPr>
            <p:ph idx="1" type="body"/>
          </p:nvPr>
        </p:nvSpPr>
        <p:spPr>
          <a:xfrm>
            <a:off x="473425" y="986600"/>
            <a:ext cx="11168100" cy="1814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K-means clustering - </a:t>
            </a:r>
            <a:r>
              <a:rPr b="1" lang="en-US"/>
              <a:t>unsupervised learning </a:t>
            </a:r>
            <a:r>
              <a:rPr lang="en-US"/>
              <a:t>- </a:t>
            </a:r>
            <a:r>
              <a:rPr lang="en-US"/>
              <a:t>used to group similar data points together in a process known as clustering. </a:t>
            </a:r>
            <a:endParaRPr/>
          </a:p>
          <a:p>
            <a:pPr indent="-228600" lvl="0" marL="228600" rtl="0" algn="l">
              <a:lnSpc>
                <a:spcPct val="90000"/>
              </a:lnSpc>
              <a:spcBef>
                <a:spcPts val="1000"/>
              </a:spcBef>
              <a:spcAft>
                <a:spcPts val="0"/>
              </a:spcAft>
              <a:buClr>
                <a:schemeClr val="dk1"/>
              </a:buClr>
              <a:buSzPts val="2800"/>
              <a:buChar char="•"/>
            </a:pPr>
            <a:r>
              <a:rPr lang="en-US"/>
              <a:t>Clustering helps us understand our data in a unique way – by grouping things together into clusters.</a:t>
            </a:r>
            <a:endParaRPr/>
          </a:p>
        </p:txBody>
      </p:sp>
      <p:sp>
        <p:nvSpPr>
          <p:cNvPr id="92" name="Google Shape;92;p2"/>
          <p:cNvSpPr txBox="1"/>
          <p:nvPr>
            <p:ph type="title"/>
          </p:nvPr>
        </p:nvSpPr>
        <p:spPr>
          <a:xfrm>
            <a:off x="473425" y="2898919"/>
            <a:ext cx="10515600" cy="712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Clustering?</a:t>
            </a:r>
            <a:endParaRPr/>
          </a:p>
        </p:txBody>
      </p:sp>
      <p:sp>
        <p:nvSpPr>
          <p:cNvPr id="93" name="Google Shape;93;p2"/>
          <p:cNvSpPr txBox="1"/>
          <p:nvPr>
            <p:ph idx="1" type="body"/>
          </p:nvPr>
        </p:nvSpPr>
        <p:spPr>
          <a:xfrm>
            <a:off x="473425" y="3709650"/>
            <a:ext cx="11007900" cy="26994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Cluster analysis is a technique used in data mining and machine learning to group similar objects into clusters. </a:t>
            </a:r>
            <a:endParaRPr/>
          </a:p>
          <a:p>
            <a:pPr indent="-228600" lvl="0" marL="228600" rtl="0" algn="l">
              <a:lnSpc>
                <a:spcPct val="90000"/>
              </a:lnSpc>
              <a:spcBef>
                <a:spcPts val="1000"/>
              </a:spcBef>
              <a:spcAft>
                <a:spcPts val="0"/>
              </a:spcAft>
              <a:buClr>
                <a:schemeClr val="dk1"/>
              </a:buClr>
              <a:buSzPts val="2800"/>
              <a:buChar char="•"/>
            </a:pPr>
            <a:r>
              <a:rPr lang="en-US"/>
              <a:t>K-means clustering is a widely used method for cluster analysis where the aim is to partition a set of objects into K clusters in such a way that the </a:t>
            </a:r>
            <a:r>
              <a:rPr b="1" lang="en-US"/>
              <a:t>sum of the squared distances </a:t>
            </a:r>
            <a:r>
              <a:rPr lang="en-US"/>
              <a:t>between the objects and their assigned cluster </a:t>
            </a:r>
            <a:r>
              <a:rPr b="1" lang="en-US" u="sng">
                <a:solidFill>
                  <a:srgbClr val="FF0000"/>
                </a:solidFill>
              </a:rPr>
              <a:t>mean is minimized.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Hierarchical clustering and k-means</a:t>
            </a:r>
            <a:endParaRPr/>
          </a:p>
        </p:txBody>
      </p:sp>
      <p:sp>
        <p:nvSpPr>
          <p:cNvPr id="99" name="Google Shape;9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Hierarchical clustering and k-means clustering are two popular techniques in the field of unsupervised learning used for clustering data points into distinct groups. </a:t>
            </a:r>
            <a:endParaRPr/>
          </a:p>
          <a:p>
            <a:pPr indent="-228600" lvl="0" marL="228600" rtl="0" algn="l">
              <a:lnSpc>
                <a:spcPct val="90000"/>
              </a:lnSpc>
              <a:spcBef>
                <a:spcPts val="1000"/>
              </a:spcBef>
              <a:spcAft>
                <a:spcPts val="0"/>
              </a:spcAft>
              <a:buClr>
                <a:schemeClr val="dk1"/>
              </a:buClr>
              <a:buSzPts val="2800"/>
              <a:buChar char="•"/>
            </a:pPr>
            <a:r>
              <a:rPr lang="en-US"/>
              <a:t>While k-means clustering </a:t>
            </a:r>
            <a:r>
              <a:rPr b="1" lang="en-US"/>
              <a:t>divides data into a predefined number of clusters</a:t>
            </a:r>
            <a:r>
              <a:rPr lang="en-US"/>
              <a:t>,</a:t>
            </a:r>
            <a:endParaRPr/>
          </a:p>
          <a:p>
            <a:pPr indent="-228600" lvl="0" marL="228600" rtl="0" algn="l">
              <a:lnSpc>
                <a:spcPct val="90000"/>
              </a:lnSpc>
              <a:spcBef>
                <a:spcPts val="1000"/>
              </a:spcBef>
              <a:spcAft>
                <a:spcPts val="0"/>
              </a:spcAft>
              <a:buClr>
                <a:schemeClr val="dk1"/>
              </a:buClr>
              <a:buSzPts val="2800"/>
              <a:buChar char="•"/>
            </a:pPr>
            <a:r>
              <a:rPr lang="en-US"/>
              <a:t> hierarchical clustering creates a hierarchical </a:t>
            </a:r>
            <a:r>
              <a:rPr b="1" lang="en-US">
                <a:solidFill>
                  <a:srgbClr val="FF0000"/>
                </a:solidFill>
              </a:rPr>
              <a:t>tree-like structure to represent the relationships between the clusters</a:t>
            </a:r>
            <a:r>
              <a:rPr lang="en-US"/>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br>
              <a:rPr lang="en-US"/>
            </a:br>
            <a:endParaRPr/>
          </a:p>
        </p:txBody>
      </p:sp>
      <p:sp>
        <p:nvSpPr>
          <p:cNvPr id="105" name="Google Shape;10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Let’s try understanding this with a simple example. A bank wants to give credit card offers to its customers. </a:t>
            </a:r>
            <a:r>
              <a:rPr lang="en-US">
                <a:solidFill>
                  <a:srgbClr val="FF0000"/>
                </a:solidFill>
              </a:rPr>
              <a:t>Currently, they look at the details of each customer and, based on this information, decide which offer should be given to which customer.</a:t>
            </a:r>
            <a:endParaRPr/>
          </a:p>
          <a:p>
            <a:pPr indent="-228600" lvl="0" marL="228600" rtl="0" algn="l">
              <a:lnSpc>
                <a:spcPct val="90000"/>
              </a:lnSpc>
              <a:spcBef>
                <a:spcPts val="1000"/>
              </a:spcBef>
              <a:spcAft>
                <a:spcPts val="0"/>
              </a:spcAft>
              <a:buClr>
                <a:srgbClr val="00B050"/>
              </a:buClr>
              <a:buSzPct val="100000"/>
              <a:buChar char="•"/>
            </a:pPr>
            <a:r>
              <a:rPr lang="en-US">
                <a:solidFill>
                  <a:srgbClr val="00B050"/>
                </a:solidFill>
              </a:rPr>
              <a:t>Now, the bank can potentially have millions of customers. Does it make sense to look at the details of each customer separately and then make a decision?</a:t>
            </a:r>
            <a:endParaRPr/>
          </a:p>
          <a:p>
            <a:pPr indent="-228600" lvl="0" marL="228600" rtl="0" algn="l">
              <a:lnSpc>
                <a:spcPct val="90000"/>
              </a:lnSpc>
              <a:spcBef>
                <a:spcPts val="1000"/>
              </a:spcBef>
              <a:spcAft>
                <a:spcPts val="0"/>
              </a:spcAft>
              <a:buClr>
                <a:srgbClr val="00B050"/>
              </a:buClr>
              <a:buSzPct val="100000"/>
              <a:buChar char="•"/>
            </a:pPr>
            <a:r>
              <a:rPr lang="en-US">
                <a:solidFill>
                  <a:srgbClr val="00B050"/>
                </a:solidFill>
              </a:rPr>
              <a:t> </a:t>
            </a:r>
            <a:r>
              <a:rPr lang="en-US">
                <a:solidFill>
                  <a:srgbClr val="00B0F0"/>
                </a:solidFill>
              </a:rPr>
              <a:t>Certainly not! It is a manual process and will take a huge amount of time.</a:t>
            </a:r>
            <a:endParaRPr/>
          </a:p>
          <a:p>
            <a:pPr indent="-228600" lvl="0" marL="228600" rtl="0" algn="l">
              <a:lnSpc>
                <a:spcPct val="90000"/>
              </a:lnSpc>
              <a:spcBef>
                <a:spcPts val="1000"/>
              </a:spcBef>
              <a:spcAft>
                <a:spcPts val="0"/>
              </a:spcAft>
              <a:buClr>
                <a:schemeClr val="dk1"/>
              </a:buClr>
              <a:buSzPct val="100000"/>
              <a:buChar char="•"/>
            </a:pPr>
            <a:r>
              <a:rPr lang="en-US"/>
              <a:t>So what can the bank do? One option is to segment its customers into different groups. For instance, the bank can group the customers based on </a:t>
            </a:r>
            <a:r>
              <a:rPr lang="en-US">
                <a:solidFill>
                  <a:srgbClr val="FF0000"/>
                </a:solidFill>
              </a:rPr>
              <a:t>their income:</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customer segmentation" id="110" name="Google Shape;110;p6"/>
          <p:cNvPicPr preferRelativeResize="0"/>
          <p:nvPr/>
        </p:nvPicPr>
        <p:blipFill rotWithShape="1">
          <a:blip r:embed="rId3">
            <a:alphaModFix/>
          </a:blip>
          <a:srcRect b="0" l="0" r="0" t="0"/>
          <a:stretch/>
        </p:blipFill>
        <p:spPr>
          <a:xfrm>
            <a:off x="2448014" y="2161703"/>
            <a:ext cx="7333755" cy="2513327"/>
          </a:xfrm>
          <a:prstGeom prst="rect">
            <a:avLst/>
          </a:prstGeom>
          <a:noFill/>
          <a:ln>
            <a:noFill/>
          </a:ln>
        </p:spPr>
      </p:pic>
      <p:sp>
        <p:nvSpPr>
          <p:cNvPr id="111" name="Google Shape;111;p6"/>
          <p:cNvSpPr txBox="1"/>
          <p:nvPr/>
        </p:nvSpPr>
        <p:spPr>
          <a:xfrm>
            <a:off x="351525" y="5254575"/>
            <a:ext cx="11336700" cy="10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2100">
                <a:solidFill>
                  <a:schemeClr val="dk1"/>
                </a:solidFill>
                <a:latin typeface="Calibri"/>
                <a:ea typeface="Calibri"/>
                <a:cs typeface="Calibri"/>
                <a:sym typeface="Calibri"/>
              </a:rPr>
              <a:t>T</a:t>
            </a:r>
            <a:r>
              <a:rPr b="0" i="0" lang="en-US" sz="2100" u="none" cap="none" strike="noStrike">
                <a:solidFill>
                  <a:schemeClr val="dk1"/>
                </a:solidFill>
                <a:latin typeface="Calibri"/>
                <a:ea typeface="Calibri"/>
                <a:cs typeface="Calibri"/>
                <a:sym typeface="Calibri"/>
              </a:rPr>
              <a:t>he bank can now make three different strategies or offers,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2100" u="none" cap="none" strike="noStrike">
                <a:solidFill>
                  <a:schemeClr val="dk1"/>
                </a:solidFill>
                <a:latin typeface="Calibri"/>
                <a:ea typeface="Calibri"/>
                <a:cs typeface="Calibri"/>
                <a:sym typeface="Calibri"/>
              </a:rPr>
              <a:t>one for each group. Here, instead of creating different strategies for individual customers, they only have to make 3 strategies. This will reduce the effort as well as the time.</a:t>
            </a:r>
            <a:endParaRPr b="0" i="0" sz="2100" u="none" cap="none" strike="noStrike">
              <a:solidFill>
                <a:schemeClr val="dk1"/>
              </a:solidFill>
              <a:latin typeface="Calibri"/>
              <a:ea typeface="Calibri"/>
              <a:cs typeface="Calibri"/>
              <a:sym typeface="Calibri"/>
            </a:endParaRPr>
          </a:p>
        </p:txBody>
      </p:sp>
      <p:sp>
        <p:nvSpPr>
          <p:cNvPr id="112" name="Google Shape;112;p6"/>
          <p:cNvSpPr txBox="1"/>
          <p:nvPr/>
        </p:nvSpPr>
        <p:spPr>
          <a:xfrm>
            <a:off x="570400" y="489400"/>
            <a:ext cx="10980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The groups I have shown below are known as clusters, and the process of creating these groups is </a:t>
            </a:r>
            <a:endParaRPr b="1"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100" u="none" cap="none" strike="noStrike">
                <a:solidFill>
                  <a:schemeClr val="dk1"/>
                </a:solidFill>
                <a:latin typeface="Calibri"/>
                <a:ea typeface="Calibri"/>
                <a:cs typeface="Calibri"/>
                <a:sym typeface="Calibri"/>
              </a:rPr>
              <a:t>known as clustering</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i="1" lang="en-US"/>
              <a:t>Clustering is the process of dividing the entire data into groups (also known as clusters) </a:t>
            </a:r>
            <a:r>
              <a:rPr i="1" lang="en-US">
                <a:solidFill>
                  <a:srgbClr val="FF0000"/>
                </a:solidFill>
              </a:rPr>
              <a:t>based on the patterns in the data.</a:t>
            </a:r>
            <a:endParaRPr/>
          </a:p>
          <a:p>
            <a:pPr indent="-50800" lvl="0" marL="228600" rtl="0" algn="l">
              <a:lnSpc>
                <a:spcPct val="90000"/>
              </a:lnSpc>
              <a:spcBef>
                <a:spcPts val="1000"/>
              </a:spcBef>
              <a:spcAft>
                <a:spcPts val="0"/>
              </a:spcAft>
              <a:buClr>
                <a:schemeClr val="dk1"/>
              </a:buClr>
              <a:buSzPts val="2800"/>
              <a:buNone/>
            </a:pPr>
            <a:r>
              <a:t/>
            </a:r>
            <a:endParaRPr i="1"/>
          </a:p>
          <a:p>
            <a:pPr indent="-50800" lvl="0" marL="228600" rtl="0" algn="l">
              <a:lnSpc>
                <a:spcPct val="90000"/>
              </a:lnSpc>
              <a:spcBef>
                <a:spcPts val="1000"/>
              </a:spcBef>
              <a:spcAft>
                <a:spcPts val="0"/>
              </a:spcAft>
              <a:buClr>
                <a:schemeClr val="dk1"/>
              </a:buClr>
              <a:buSzPts val="2800"/>
              <a:buNone/>
            </a:pPr>
            <a:r>
              <a:t/>
            </a:r>
            <a:endParaRPr i="1"/>
          </a:p>
          <a:p>
            <a:pPr indent="-228600" lvl="0" marL="228600" rtl="0" algn="l">
              <a:lnSpc>
                <a:spcPct val="90000"/>
              </a:lnSpc>
              <a:spcBef>
                <a:spcPts val="1000"/>
              </a:spcBef>
              <a:spcAft>
                <a:spcPts val="0"/>
              </a:spcAft>
              <a:buClr>
                <a:schemeClr val="dk1"/>
              </a:buClr>
              <a:buSzPts val="2800"/>
              <a:buChar char="•"/>
            </a:pPr>
            <a:r>
              <a:rPr b="1" lang="en-US"/>
              <a:t>In clustering, we do not have a target to predict. We look at the data, </a:t>
            </a:r>
            <a:r>
              <a:rPr b="1" lang="en-US" u="sng"/>
              <a:t>try to club similar observations, and form different groups</a:t>
            </a:r>
            <a:r>
              <a:rPr b="1" lang="en-US"/>
              <a:t>. Hence it is an unsupervised learning problem.</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23" name="Google Shape;123;p9"/>
          <p:cNvSpPr txBox="1"/>
          <p:nvPr>
            <p:ph idx="1" type="body"/>
          </p:nvPr>
        </p:nvSpPr>
        <p:spPr>
          <a:xfrm>
            <a:off x="838200" y="1825625"/>
            <a:ext cx="10515600" cy="1213789"/>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let’s say the bank only wants to use the income and debt to make the segmentation. They collected the customer data and used a scatter plot to visualize it:</a:t>
            </a:r>
            <a:endParaRPr/>
          </a:p>
        </p:txBody>
      </p:sp>
      <p:pic>
        <p:nvPicPr>
          <p:cNvPr descr="customer segmentation clustering [k-means clustering]" id="124" name="Google Shape;124;p9"/>
          <p:cNvPicPr preferRelativeResize="0"/>
          <p:nvPr/>
        </p:nvPicPr>
        <p:blipFill rotWithShape="1">
          <a:blip r:embed="rId3">
            <a:alphaModFix/>
          </a:blip>
          <a:srcRect b="0" l="0" r="0" t="0"/>
          <a:stretch/>
        </p:blipFill>
        <p:spPr>
          <a:xfrm>
            <a:off x="2692713" y="3174351"/>
            <a:ext cx="5505450" cy="2952751"/>
          </a:xfrm>
          <a:prstGeom prst="rect">
            <a:avLst/>
          </a:prstGeom>
          <a:noFill/>
          <a:ln>
            <a:noFill/>
          </a:ln>
        </p:spPr>
      </p:pic>
      <p:sp>
        <p:nvSpPr>
          <p:cNvPr id="125" name="Google Shape;125;p9"/>
          <p:cNvSpPr txBox="1"/>
          <p:nvPr>
            <p:ph type="title"/>
          </p:nvPr>
        </p:nvSpPr>
        <p:spPr>
          <a:xfrm>
            <a:off x="0" y="0"/>
            <a:ext cx="12192000" cy="1690800"/>
          </a:xfrm>
          <a:prstGeom prst="rect">
            <a:avLst/>
          </a:prstGeom>
          <a:solidFill>
            <a:schemeClr val="accent2"/>
          </a:solidFill>
          <a:ln cap="flat" cmpd="sng" w="12700">
            <a:solidFill>
              <a:srgbClr val="AC5B23"/>
            </a:solidFill>
            <a:prstDash val="solid"/>
            <a:miter lim="800000"/>
            <a:headEnd len="sm" w="sm" type="none"/>
            <a:tailEnd len="sm" w="sm" type="none"/>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6000"/>
              <a:buFont typeface="Calibri"/>
              <a:buNone/>
            </a:pPr>
            <a:r>
              <a:rPr lang="en-US">
                <a:solidFill>
                  <a:schemeClr val="lt1"/>
                </a:solidFill>
                <a:latin typeface="Calibri"/>
                <a:ea typeface="Calibri"/>
                <a:cs typeface="Calibri"/>
                <a:sym typeface="Calibri"/>
              </a:rPr>
              <a:t>Properties of Clusters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Segments</a:t>
            </a:r>
            <a:endParaRPr/>
          </a:p>
        </p:txBody>
      </p:sp>
      <p:sp>
        <p:nvSpPr>
          <p:cNvPr id="131" name="Google Shape;13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 the X-axis, we have the income of the customer, and the y-axis represents the amount of debt. Here, we can clearly visualize that these customers can be segmented into 4 different clusters, as shown below:</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https://cdn.analyticsvidhya.com/wp-content/uploads/2019/08/Screenshot-from-2019-08-08-14-47-20.png" id="132" name="Google Shape;132;p10"/>
          <p:cNvPicPr preferRelativeResize="0"/>
          <p:nvPr/>
        </p:nvPicPr>
        <p:blipFill rotWithShape="1">
          <a:blip r:embed="rId3">
            <a:alphaModFix/>
          </a:blip>
          <a:srcRect b="0" l="0" r="0" t="0"/>
          <a:stretch/>
        </p:blipFill>
        <p:spPr>
          <a:xfrm>
            <a:off x="2679834" y="3214687"/>
            <a:ext cx="5486400" cy="29622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1"/>
          <p:cNvSpPr txBox="1"/>
          <p:nvPr>
            <p:ph idx="1" type="body"/>
          </p:nvPr>
        </p:nvSpPr>
        <p:spPr>
          <a:xfrm>
            <a:off x="838200" y="220575"/>
            <a:ext cx="10515600" cy="2306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All the data points in a cluster should be similar to each other.</a:t>
            </a:r>
            <a:endParaRPr/>
          </a:p>
          <a:p>
            <a:pPr indent="-228600" lvl="0" marL="228600" rtl="0" algn="l">
              <a:lnSpc>
                <a:spcPct val="90000"/>
              </a:lnSpc>
              <a:spcBef>
                <a:spcPts val="1000"/>
              </a:spcBef>
              <a:spcAft>
                <a:spcPts val="0"/>
              </a:spcAft>
              <a:buClr>
                <a:schemeClr val="dk1"/>
              </a:buClr>
              <a:buSzPts val="2800"/>
              <a:buChar char="•"/>
            </a:pPr>
            <a:r>
              <a:rPr lang="en-US"/>
              <a:t>If the customers in a particular cluster are not similar to each other, then their requirements might vary, right? If the bank gives them the same offer, they might not like it, and their interest in the bank might reduce. Not ideal.</a:t>
            </a:r>
            <a:endParaRPr/>
          </a:p>
        </p:txBody>
      </p:sp>
      <p:pic>
        <p:nvPicPr>
          <p:cNvPr descr="single cluster [k-means clustering]" id="138" name="Google Shape;138;p11"/>
          <p:cNvPicPr preferRelativeResize="0"/>
          <p:nvPr/>
        </p:nvPicPr>
        <p:blipFill rotWithShape="1">
          <a:blip r:embed="rId3">
            <a:alphaModFix/>
          </a:blip>
          <a:srcRect b="0" l="0" r="0" t="0"/>
          <a:stretch/>
        </p:blipFill>
        <p:spPr>
          <a:xfrm>
            <a:off x="4062883" y="1958497"/>
            <a:ext cx="2214420" cy="1066200"/>
          </a:xfrm>
          <a:prstGeom prst="rect">
            <a:avLst/>
          </a:prstGeom>
          <a:noFill/>
          <a:ln>
            <a:noFill/>
          </a:ln>
        </p:spPr>
      </p:pic>
      <p:sp>
        <p:nvSpPr>
          <p:cNvPr id="139" name="Google Shape;139;p11"/>
          <p:cNvSpPr txBox="1"/>
          <p:nvPr>
            <p:ph idx="1" type="body"/>
          </p:nvPr>
        </p:nvSpPr>
        <p:spPr>
          <a:xfrm>
            <a:off x="424475" y="3250300"/>
            <a:ext cx="11199000" cy="551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The data points from different clusters should be as different as possible.</a:t>
            </a:r>
            <a:endParaRPr/>
          </a:p>
        </p:txBody>
      </p:sp>
      <p:pic>
        <p:nvPicPr>
          <p:cNvPr descr="multiple clusters [k-means clustering]" id="140" name="Google Shape;140;p11"/>
          <p:cNvPicPr preferRelativeResize="0"/>
          <p:nvPr/>
        </p:nvPicPr>
        <p:blipFill rotWithShape="1">
          <a:blip r:embed="rId4">
            <a:alphaModFix/>
          </a:blip>
          <a:srcRect b="0" l="0" r="0" t="0"/>
          <a:stretch/>
        </p:blipFill>
        <p:spPr>
          <a:xfrm>
            <a:off x="2072250" y="3801996"/>
            <a:ext cx="7903449" cy="305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3"/>
          <p:cNvSpPr txBox="1"/>
          <p:nvPr>
            <p:ph type="title"/>
          </p:nvPr>
        </p:nvSpPr>
        <p:spPr>
          <a:xfrm>
            <a:off x="838200" y="365125"/>
            <a:ext cx="10515600" cy="903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Inertia</a:t>
            </a:r>
            <a:endParaRPr/>
          </a:p>
        </p:txBody>
      </p:sp>
      <p:sp>
        <p:nvSpPr>
          <p:cNvPr id="146" name="Google Shape;146;p13"/>
          <p:cNvSpPr txBox="1"/>
          <p:nvPr>
            <p:ph idx="1" type="body"/>
          </p:nvPr>
        </p:nvSpPr>
        <p:spPr>
          <a:xfrm>
            <a:off x="838200" y="12533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is what inertia evaluates. It tells us how far the points within a cluster are. So,</a:t>
            </a:r>
            <a:r>
              <a:rPr b="1" lang="en-US"/>
              <a:t> inertia actually calculates the sum of distances of all the points within a cluster from the centroid of that cluster.</a:t>
            </a:r>
            <a:endParaRPr/>
          </a:p>
          <a:p>
            <a:pPr indent="-228600" lvl="0" marL="228600" rtl="0" algn="l">
              <a:lnSpc>
                <a:spcPct val="90000"/>
              </a:lnSpc>
              <a:spcBef>
                <a:spcPts val="1000"/>
              </a:spcBef>
              <a:spcAft>
                <a:spcPts val="0"/>
              </a:spcAft>
              <a:buClr>
                <a:schemeClr val="dk1"/>
              </a:buClr>
              <a:buSzPts val="2800"/>
              <a:buChar char="•"/>
            </a:pPr>
            <a:r>
              <a:rPr b="1" lang="en-US"/>
              <a:t> </a:t>
            </a:r>
            <a:r>
              <a:rPr lang="en-US"/>
              <a:t>Normally, we use Euclidean distance as the distance metric, as long as most of the features are numeric; otherwise, Manhattan distance in case most of the features are categorical.</a:t>
            </a:r>
            <a:endParaRPr/>
          </a:p>
          <a:p>
            <a:pPr indent="-228600" lvl="0" marL="228600" rtl="0" algn="l">
              <a:lnSpc>
                <a:spcPct val="90000"/>
              </a:lnSpc>
              <a:spcBef>
                <a:spcPts val="1000"/>
              </a:spcBef>
              <a:spcAft>
                <a:spcPts val="0"/>
              </a:spcAft>
              <a:buClr>
                <a:schemeClr val="dk1"/>
              </a:buClr>
              <a:buSzPts val="2800"/>
              <a:buChar char="•"/>
            </a:pPr>
            <a:r>
              <a:rPr lang="en-US"/>
              <a:t>We calculate this for all the clusters; the final inertial value is the sum of all these distances. This distance within the clusters is known as </a:t>
            </a:r>
            <a:r>
              <a:rPr b="1" lang="en-US"/>
              <a:t>intracluster distance</a:t>
            </a:r>
            <a:r>
              <a:rPr lang="en-US"/>
              <a:t>. So, inertia gives us the sum of intracluster distances: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272775" y="73300"/>
            <a:ext cx="10515600" cy="9216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Dunn Index</a:t>
            </a:r>
            <a:endParaRPr/>
          </a:p>
        </p:txBody>
      </p:sp>
      <p:sp>
        <p:nvSpPr>
          <p:cNvPr id="152" name="Google Shape;152;p14"/>
          <p:cNvSpPr txBox="1"/>
          <p:nvPr>
            <p:ph idx="1" type="body"/>
          </p:nvPr>
        </p:nvSpPr>
        <p:spPr>
          <a:xfrm>
            <a:off x="345825" y="994900"/>
            <a:ext cx="11387100" cy="2973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now know that inertia tries to minimize the intracluster distance. It is trying to make more compact clusters.</a:t>
            </a:r>
            <a:endParaRPr/>
          </a:p>
          <a:p>
            <a:pPr indent="-228600" lvl="0" marL="228600" rtl="0" algn="l">
              <a:lnSpc>
                <a:spcPct val="90000"/>
              </a:lnSpc>
              <a:spcBef>
                <a:spcPts val="1000"/>
              </a:spcBef>
              <a:spcAft>
                <a:spcPts val="0"/>
              </a:spcAft>
              <a:buClr>
                <a:schemeClr val="dk1"/>
              </a:buClr>
              <a:buSzPts val="2800"/>
              <a:buChar char="•"/>
            </a:pPr>
            <a:r>
              <a:rPr lang="en-US"/>
              <a:t>If the distance between the centroid of a cluster &amp; the points in that cluster is small, it means that the points are closer to each other. So, inertia makes sure that the first property of clusters is satisfied. </a:t>
            </a:r>
            <a:r>
              <a:rPr lang="en-US">
                <a:solidFill>
                  <a:srgbClr val="FF0000"/>
                </a:solidFill>
              </a:rPr>
              <a:t>But it does not care about the second property – that different clusters should be as different from each other as possible.</a:t>
            </a:r>
            <a:endParaRPr/>
          </a:p>
        </p:txBody>
      </p:sp>
      <p:pic>
        <p:nvPicPr>
          <p:cNvPr id="153" name="Google Shape;153;p14"/>
          <p:cNvPicPr preferRelativeResize="0"/>
          <p:nvPr>
            <p:ph idx="1" type="body"/>
          </p:nvPr>
        </p:nvPicPr>
        <p:blipFill rotWithShape="1">
          <a:blip r:embed="rId3">
            <a:alphaModFix/>
          </a:blip>
          <a:srcRect b="0" l="0" r="0" t="0"/>
          <a:stretch/>
        </p:blipFill>
        <p:spPr>
          <a:xfrm>
            <a:off x="345825" y="4022550"/>
            <a:ext cx="7384200" cy="2097600"/>
          </a:xfrm>
          <a:prstGeom prst="rect">
            <a:avLst/>
          </a:prstGeom>
          <a:noFill/>
          <a:ln>
            <a:noFill/>
          </a:ln>
        </p:spPr>
      </p:pic>
      <p:pic>
        <p:nvPicPr>
          <p:cNvPr id="154" name="Google Shape;154;p14"/>
          <p:cNvPicPr preferRelativeResize="0"/>
          <p:nvPr/>
        </p:nvPicPr>
        <p:blipFill rotWithShape="1">
          <a:blip r:embed="rId4">
            <a:alphaModFix/>
          </a:blip>
          <a:srcRect b="0" l="0" r="0" t="0"/>
          <a:stretch/>
        </p:blipFill>
        <p:spPr>
          <a:xfrm>
            <a:off x="7730027" y="4533299"/>
            <a:ext cx="4215700" cy="1076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838200" y="365125"/>
            <a:ext cx="10515600" cy="888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Silhouette Score</a:t>
            </a:r>
            <a:endParaRPr/>
          </a:p>
        </p:txBody>
      </p:sp>
      <p:sp>
        <p:nvSpPr>
          <p:cNvPr id="160" name="Google Shape;160;p16"/>
          <p:cNvSpPr txBox="1"/>
          <p:nvPr>
            <p:ph idx="1" type="body"/>
          </p:nvPr>
        </p:nvSpPr>
        <p:spPr>
          <a:xfrm>
            <a:off x="460950" y="1253325"/>
            <a:ext cx="11089500" cy="4351200"/>
          </a:xfrm>
          <a:prstGeom prst="rect">
            <a:avLst/>
          </a:prstGeom>
          <a:noFill/>
          <a:ln>
            <a:noFill/>
          </a:ln>
        </p:spPr>
        <p:txBody>
          <a:bodyPr anchorCtr="0" anchor="t" bIns="45700" lIns="91425" spcFirstLastPara="1" rIns="91425" wrap="square" tIns="45700">
            <a:normAutofit/>
          </a:bodyPr>
          <a:lstStyle/>
          <a:p>
            <a:pPr indent="-260350" lvl="1" marL="685800" rtl="0" algn="l">
              <a:lnSpc>
                <a:spcPct val="90000"/>
              </a:lnSpc>
              <a:spcBef>
                <a:spcPts val="0"/>
              </a:spcBef>
              <a:spcAft>
                <a:spcPts val="0"/>
              </a:spcAft>
              <a:buClr>
                <a:schemeClr val="dk1"/>
              </a:buClr>
              <a:buSzPts val="2900"/>
              <a:buChar char="•"/>
            </a:pPr>
            <a:r>
              <a:rPr lang="en-US" sz="2900"/>
              <a:t>The silhouette score and plot are used to evaluate the quality of a clustering solution produced by the k-means algorithm. </a:t>
            </a:r>
            <a:endParaRPr sz="2900"/>
          </a:p>
          <a:p>
            <a:pPr indent="-260350" lvl="1" marL="685800" rtl="0" algn="l">
              <a:lnSpc>
                <a:spcPct val="90000"/>
              </a:lnSpc>
              <a:spcBef>
                <a:spcPts val="500"/>
              </a:spcBef>
              <a:spcAft>
                <a:spcPts val="0"/>
              </a:spcAft>
              <a:buClr>
                <a:schemeClr val="dk1"/>
              </a:buClr>
              <a:buSzPts val="2900"/>
              <a:buChar char="•"/>
            </a:pPr>
            <a:r>
              <a:rPr lang="en-US" sz="2900"/>
              <a:t>The silhouette score measures the </a:t>
            </a:r>
            <a:r>
              <a:rPr lang="en-US" sz="2900" u="sng"/>
              <a:t>similarity of each point to its own cluster compared to other clusters,</a:t>
            </a:r>
            <a:r>
              <a:rPr lang="en-US" sz="2900"/>
              <a:t> and the silhouette plot visualizes these scores for each sample.</a:t>
            </a:r>
            <a:endParaRPr sz="2900"/>
          </a:p>
          <a:p>
            <a:pPr indent="-260350" lvl="1" marL="685800" rtl="0" algn="l">
              <a:lnSpc>
                <a:spcPct val="90000"/>
              </a:lnSpc>
              <a:spcBef>
                <a:spcPts val="500"/>
              </a:spcBef>
              <a:spcAft>
                <a:spcPts val="0"/>
              </a:spcAft>
              <a:buClr>
                <a:schemeClr val="dk1"/>
              </a:buClr>
              <a:buSzPts val="2900"/>
              <a:buChar char="•"/>
            </a:pPr>
            <a:r>
              <a:rPr lang="en-US" sz="2900"/>
              <a:t> A </a:t>
            </a:r>
            <a:r>
              <a:rPr b="1" lang="en-US" sz="2900" u="sng"/>
              <a:t>high </a:t>
            </a:r>
            <a:r>
              <a:rPr lang="en-US" sz="2900" u="sng"/>
              <a:t>silhouette score indicates that the clusters </a:t>
            </a:r>
            <a:r>
              <a:rPr b="1" lang="en-US" sz="2900" u="sng"/>
              <a:t>are well separated</a:t>
            </a:r>
            <a:r>
              <a:rPr lang="en-US" sz="2900"/>
              <a:t>, and each sample is more similar to the samples in its own cluster than to samples in other clusters. </a:t>
            </a:r>
            <a:endParaRPr sz="2900"/>
          </a:p>
          <a:p>
            <a:pPr indent="-260350" lvl="1" marL="685800" rtl="0" algn="l">
              <a:lnSpc>
                <a:spcPct val="90000"/>
              </a:lnSpc>
              <a:spcBef>
                <a:spcPts val="500"/>
              </a:spcBef>
              <a:spcAft>
                <a:spcPts val="0"/>
              </a:spcAft>
              <a:buClr>
                <a:schemeClr val="dk1"/>
              </a:buClr>
              <a:buSzPts val="2900"/>
              <a:buChar char="•"/>
            </a:pPr>
            <a:r>
              <a:rPr lang="en-US" sz="2900"/>
              <a:t>A silhouette score close to</a:t>
            </a:r>
            <a:r>
              <a:rPr b="1" lang="en-US" sz="2900"/>
              <a:t> </a:t>
            </a:r>
            <a:r>
              <a:rPr b="1" lang="en-US" sz="2900" u="sng"/>
              <a:t>0 suggests overlapping clusters</a:t>
            </a:r>
            <a:r>
              <a:rPr lang="en-US" sz="2900" u="sng"/>
              <a:t>, and a negative score suggests poor clustering solutions</a:t>
            </a:r>
            <a:r>
              <a:rPr lang="en-US" sz="2900"/>
              <a:t>.</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838200" y="365125"/>
            <a:ext cx="10515600" cy="958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The K-Means Clustering</a:t>
            </a:r>
            <a:endParaRPr/>
          </a:p>
        </p:txBody>
      </p:sp>
      <p:sp>
        <p:nvSpPr>
          <p:cNvPr id="166" name="Google Shape;166;p17"/>
          <p:cNvSpPr txBox="1"/>
          <p:nvPr>
            <p:ph idx="1" type="body"/>
          </p:nvPr>
        </p:nvSpPr>
        <p:spPr>
          <a:xfrm>
            <a:off x="838200" y="1253325"/>
            <a:ext cx="10515600" cy="3152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Recall the first property of clusters — it states that the points within a cluster should be similar to each other. So,</a:t>
            </a:r>
            <a:r>
              <a:rPr b="1" lang="en-US"/>
              <a:t> our aim here is to minimize the distance between the points within a cluster.</a:t>
            </a:r>
            <a:endParaRPr b="1"/>
          </a:p>
          <a:p>
            <a:pPr indent="-228600" lvl="0" marL="228600" rtl="0" algn="l">
              <a:lnSpc>
                <a:spcPct val="90000"/>
              </a:lnSpc>
              <a:spcBef>
                <a:spcPts val="1000"/>
              </a:spcBef>
              <a:spcAft>
                <a:spcPts val="0"/>
              </a:spcAft>
              <a:buClr>
                <a:schemeClr val="dk1"/>
              </a:buClr>
              <a:buSzPts val="2800"/>
              <a:buChar char="•"/>
            </a:pPr>
            <a:r>
              <a:rPr i="1" lang="en-US"/>
              <a:t>There is an algorithm that tries to </a:t>
            </a:r>
            <a:r>
              <a:rPr i="1" lang="en-US" u="sng"/>
              <a:t>minimize the distance of the points in a cluster with their centroid</a:t>
            </a:r>
            <a:r>
              <a:rPr i="1" lang="en-US"/>
              <a:t> — the k-means clustering technique.</a:t>
            </a:r>
            <a:endParaRPr i="1"/>
          </a:p>
          <a:p>
            <a:pPr indent="-228600" lvl="0" marL="228600" rtl="0" algn="l">
              <a:lnSpc>
                <a:spcPct val="90000"/>
              </a:lnSpc>
              <a:spcBef>
                <a:spcPts val="1000"/>
              </a:spcBef>
              <a:spcAft>
                <a:spcPts val="0"/>
              </a:spcAft>
              <a:buClr>
                <a:schemeClr val="dk1"/>
              </a:buClr>
              <a:buSzPts val="2800"/>
              <a:buChar char="•"/>
            </a:pPr>
            <a:r>
              <a:rPr i="1" lang="en-US"/>
              <a:t>The main objective of the K-Means algorithm is to </a:t>
            </a:r>
            <a:r>
              <a:rPr i="1" lang="en-US" u="sng"/>
              <a:t>minimize the sum of distances between the points and their respective cluster centroid.</a:t>
            </a:r>
            <a:endParaRPr u="sng"/>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descr="k-means clustering" id="171" name="Google Shape;171;p18"/>
          <p:cNvPicPr preferRelativeResize="0"/>
          <p:nvPr/>
        </p:nvPicPr>
        <p:blipFill rotWithShape="1">
          <a:blip r:embed="rId3">
            <a:alphaModFix/>
          </a:blip>
          <a:srcRect b="0" l="0" r="0" t="0"/>
          <a:stretch/>
        </p:blipFill>
        <p:spPr>
          <a:xfrm>
            <a:off x="4890090" y="1"/>
            <a:ext cx="2647950" cy="1819276"/>
          </a:xfrm>
          <a:prstGeom prst="rect">
            <a:avLst/>
          </a:prstGeom>
          <a:noFill/>
          <a:ln>
            <a:noFill/>
          </a:ln>
        </p:spPr>
      </p:pic>
      <p:sp>
        <p:nvSpPr>
          <p:cNvPr id="172" name="Google Shape;172;p18"/>
          <p:cNvSpPr txBox="1"/>
          <p:nvPr/>
        </p:nvSpPr>
        <p:spPr>
          <a:xfrm>
            <a:off x="540913" y="1819282"/>
            <a:ext cx="11346300" cy="201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2500" u="none" cap="none" strike="noStrike">
                <a:solidFill>
                  <a:schemeClr val="dk1"/>
                </a:solidFill>
                <a:latin typeface="Calibri"/>
                <a:ea typeface="Calibri"/>
                <a:cs typeface="Calibri"/>
                <a:sym typeface="Calibri"/>
              </a:rPr>
              <a:t>Step -1 Choose the number of clusters </a:t>
            </a:r>
            <a:r>
              <a:rPr b="1" i="1" lang="en-US" sz="2500" u="none" cap="none" strike="noStrike">
                <a:solidFill>
                  <a:schemeClr val="dk1"/>
                </a:solidFill>
                <a:latin typeface="Calibri"/>
                <a:ea typeface="Calibri"/>
                <a:cs typeface="Calibri"/>
                <a:sym typeface="Calibri"/>
              </a:rPr>
              <a:t>k </a:t>
            </a:r>
            <a:r>
              <a:rPr b="0" i="0" lang="en-US" sz="2500" u="none" cap="none" strike="noStrike">
                <a:solidFill>
                  <a:schemeClr val="dk1"/>
                </a:solidFill>
                <a:latin typeface="Calibri"/>
                <a:ea typeface="Calibri"/>
                <a:cs typeface="Calibri"/>
                <a:sym typeface="Calibri"/>
              </a:rPr>
              <a:t>The first step in k-means is to pick the number of clusters, k.</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1" i="0" lang="en-US" sz="2500" u="none" cap="none" strike="noStrike">
                <a:solidFill>
                  <a:schemeClr val="dk1"/>
                </a:solidFill>
                <a:latin typeface="Calibri"/>
                <a:ea typeface="Calibri"/>
                <a:cs typeface="Calibri"/>
                <a:sym typeface="Calibri"/>
              </a:rPr>
              <a:t>Step 2: Select k random points from the data as centroids </a:t>
            </a:r>
            <a:r>
              <a:rPr b="0" i="0" lang="en-US" sz="2500" u="none" cap="none" strike="noStrike">
                <a:solidFill>
                  <a:schemeClr val="dk1"/>
                </a:solidFill>
                <a:latin typeface="Calibri"/>
                <a:ea typeface="Calibri"/>
                <a:cs typeface="Calibri"/>
                <a:sym typeface="Calibri"/>
              </a:rPr>
              <a:t>Next, we randomly select the centroid for each cluster. Let’s say we want to have 2 clusters, so k is equal to 2 here. We then randomly select the centroid:</a:t>
            </a:r>
            <a:endParaRPr b="0" i="0" sz="2500" u="none" cap="none" strike="noStrike">
              <a:solidFill>
                <a:schemeClr val="dk1"/>
              </a:solidFill>
              <a:latin typeface="Calibri"/>
              <a:ea typeface="Calibri"/>
              <a:cs typeface="Calibri"/>
              <a:sym typeface="Calibri"/>
            </a:endParaRPr>
          </a:p>
        </p:txBody>
      </p:sp>
      <p:pic>
        <p:nvPicPr>
          <p:cNvPr id="173" name="Google Shape;173;p18"/>
          <p:cNvPicPr preferRelativeResize="0"/>
          <p:nvPr/>
        </p:nvPicPr>
        <p:blipFill rotWithShape="1">
          <a:blip r:embed="rId4">
            <a:alphaModFix/>
          </a:blip>
          <a:srcRect b="0" l="0" r="0" t="0"/>
          <a:stretch/>
        </p:blipFill>
        <p:spPr>
          <a:xfrm>
            <a:off x="4418511" y="4055653"/>
            <a:ext cx="3354975" cy="2228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type="title"/>
          </p:nvPr>
        </p:nvSpPr>
        <p:spPr>
          <a:xfrm>
            <a:off x="838200" y="365125"/>
            <a:ext cx="10515600" cy="830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Choosing the right K or calculate K </a:t>
            </a:r>
            <a:endParaRPr/>
          </a:p>
        </p:txBody>
      </p:sp>
      <p:sp>
        <p:nvSpPr>
          <p:cNvPr id="179" name="Google Shape;179;p19"/>
          <p:cNvSpPr txBox="1"/>
          <p:nvPr>
            <p:ph idx="1" type="body"/>
          </p:nvPr>
        </p:nvSpPr>
        <p:spPr>
          <a:xfrm>
            <a:off x="838200" y="1067850"/>
            <a:ext cx="10515600" cy="24948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1800"/>
              <a:buNone/>
            </a:pPr>
            <a:r>
              <a:rPr lang="en-US" sz="2300"/>
              <a:t>The K-means algorithm itself doesn't automatically define the optimal number of clusters (k). It requires you to specify the value of k beforehand. </a:t>
            </a:r>
            <a:endParaRPr sz="2300"/>
          </a:p>
          <a:p>
            <a:pPr indent="0" lvl="0" marL="0" rtl="0" algn="l">
              <a:lnSpc>
                <a:spcPct val="90000"/>
              </a:lnSpc>
              <a:spcBef>
                <a:spcPts val="1000"/>
              </a:spcBef>
              <a:spcAft>
                <a:spcPts val="0"/>
              </a:spcAft>
              <a:buSzPts val="1800"/>
              <a:buNone/>
            </a:pPr>
            <a:r>
              <a:rPr b="1" lang="en-US" sz="2000">
                <a:latin typeface="Arial"/>
                <a:ea typeface="Arial"/>
                <a:cs typeface="Arial"/>
                <a:sym typeface="Arial"/>
              </a:rPr>
              <a:t>Elbow Method:</a:t>
            </a:r>
            <a:r>
              <a:rPr lang="en-US" sz="2000">
                <a:latin typeface="Arial"/>
                <a:ea typeface="Arial"/>
                <a:cs typeface="Arial"/>
                <a:sym typeface="Arial"/>
              </a:rPr>
              <a:t> This technique involves running K-means multiple times with different values of k and plotting the </a:t>
            </a:r>
            <a:r>
              <a:rPr b="1" lang="en-US" sz="2000">
                <a:latin typeface="Arial"/>
                <a:ea typeface="Arial"/>
                <a:cs typeface="Arial"/>
                <a:sym typeface="Arial"/>
              </a:rPr>
              <a:t>within-cluster sum of squares (WSS)</a:t>
            </a:r>
            <a:r>
              <a:rPr lang="en-US" sz="2000">
                <a:latin typeface="Arial"/>
                <a:ea typeface="Arial"/>
                <a:cs typeface="Arial"/>
                <a:sym typeface="Arial"/>
              </a:rPr>
              <a:t> for each k. </a:t>
            </a:r>
            <a:endParaRPr sz="2000">
              <a:latin typeface="Arial"/>
              <a:ea typeface="Arial"/>
              <a:cs typeface="Arial"/>
              <a:sym typeface="Arial"/>
            </a:endParaRPr>
          </a:p>
          <a:p>
            <a:pPr indent="0" lvl="0" marL="0" rtl="0" algn="l">
              <a:lnSpc>
                <a:spcPct val="90000"/>
              </a:lnSpc>
              <a:spcBef>
                <a:spcPts val="1000"/>
              </a:spcBef>
              <a:spcAft>
                <a:spcPts val="0"/>
              </a:spcAft>
              <a:buSzPts val="1800"/>
              <a:buNone/>
            </a:pPr>
            <a:r>
              <a:rPr lang="en-US" sz="2000">
                <a:latin typeface="Arial"/>
                <a:ea typeface="Arial"/>
                <a:cs typeface="Arial"/>
                <a:sym typeface="Arial"/>
              </a:rPr>
              <a:t>WSS represents the total distance between data points and their assigned cluster centroid (center).</a:t>
            </a:r>
            <a:endParaRPr sz="2000">
              <a:latin typeface="Arial"/>
              <a:ea typeface="Arial"/>
              <a:cs typeface="Arial"/>
              <a:sym typeface="Arial"/>
            </a:endParaRPr>
          </a:p>
          <a:p>
            <a:pPr indent="0" lvl="0" marL="0" rtl="0" algn="l">
              <a:lnSpc>
                <a:spcPct val="90000"/>
              </a:lnSpc>
              <a:spcBef>
                <a:spcPts val="1000"/>
              </a:spcBef>
              <a:spcAft>
                <a:spcPts val="0"/>
              </a:spcAft>
              <a:buSzPts val="1800"/>
              <a:buNone/>
            </a:pPr>
            <a:r>
              <a:rPr lang="en-US" sz="2000">
                <a:latin typeface="Arial"/>
                <a:ea typeface="Arial"/>
                <a:cs typeface="Arial"/>
                <a:sym typeface="Arial"/>
              </a:rPr>
              <a:t> The elbow method suggests choosing the value of k where the curve starts to flatten out (the "elbow"). This indicates that adding more clusters isn't significantly reducing the WSS, suggesting diminishing returns.</a:t>
            </a:r>
            <a:endParaRPr sz="3700"/>
          </a:p>
        </p:txBody>
      </p:sp>
      <p:pic>
        <p:nvPicPr>
          <p:cNvPr id="180" name="Google Shape;180;p19"/>
          <p:cNvPicPr preferRelativeResize="0"/>
          <p:nvPr/>
        </p:nvPicPr>
        <p:blipFill rotWithShape="1">
          <a:blip r:embed="rId3">
            <a:alphaModFix/>
          </a:blip>
          <a:srcRect b="0" l="0" r="0" t="0"/>
          <a:stretch/>
        </p:blipFill>
        <p:spPr>
          <a:xfrm>
            <a:off x="838188" y="4262647"/>
            <a:ext cx="3876637" cy="2584425"/>
          </a:xfrm>
          <a:prstGeom prst="rect">
            <a:avLst/>
          </a:prstGeom>
          <a:noFill/>
          <a:ln>
            <a:noFill/>
          </a:ln>
        </p:spPr>
      </p:pic>
      <p:pic>
        <p:nvPicPr>
          <p:cNvPr id="181" name="Google Shape;181;p19"/>
          <p:cNvPicPr preferRelativeResize="0"/>
          <p:nvPr/>
        </p:nvPicPr>
        <p:blipFill rotWithShape="1">
          <a:blip r:embed="rId4">
            <a:alphaModFix/>
          </a:blip>
          <a:srcRect b="0" l="0" r="0" t="0"/>
          <a:stretch/>
        </p:blipFill>
        <p:spPr>
          <a:xfrm>
            <a:off x="7477174" y="3997138"/>
            <a:ext cx="3876625" cy="28499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0"/>
          <p:cNvSpPr txBox="1"/>
          <p:nvPr>
            <p:ph idx="1" type="body"/>
          </p:nvPr>
        </p:nvSpPr>
        <p:spPr>
          <a:xfrm>
            <a:off x="607500" y="346025"/>
            <a:ext cx="5411700" cy="58413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1000"/>
              </a:spcBef>
              <a:spcAft>
                <a:spcPts val="0"/>
              </a:spcAft>
              <a:buSzPts val="935"/>
              <a:buNone/>
            </a:pPr>
            <a:r>
              <a:rPr lang="en-US" sz="2080"/>
              <a:t>import matplotlib.pyplot as plt</a:t>
            </a:r>
            <a:endParaRPr sz="2080"/>
          </a:p>
          <a:p>
            <a:pPr indent="0" lvl="0" marL="0" rtl="0" algn="l">
              <a:lnSpc>
                <a:spcPct val="70000"/>
              </a:lnSpc>
              <a:spcBef>
                <a:spcPts val="1000"/>
              </a:spcBef>
              <a:spcAft>
                <a:spcPts val="0"/>
              </a:spcAft>
              <a:buSzPts val="935"/>
              <a:buNone/>
            </a:pPr>
            <a:r>
              <a:rPr lang="en-US" sz="2080"/>
              <a:t>from sklearn.cluster import KMeans</a:t>
            </a:r>
            <a:endParaRPr sz="2080"/>
          </a:p>
          <a:p>
            <a:pPr indent="0" lvl="0" marL="0" rtl="0" algn="l">
              <a:lnSpc>
                <a:spcPct val="70000"/>
              </a:lnSpc>
              <a:spcBef>
                <a:spcPts val="1000"/>
              </a:spcBef>
              <a:spcAft>
                <a:spcPts val="0"/>
              </a:spcAft>
              <a:buSzPts val="935"/>
              <a:buNone/>
            </a:pPr>
            <a:r>
              <a:t/>
            </a:r>
            <a:endParaRPr sz="2080"/>
          </a:p>
          <a:p>
            <a:pPr indent="0" lvl="0" marL="0" rtl="0" algn="l">
              <a:lnSpc>
                <a:spcPct val="70000"/>
              </a:lnSpc>
              <a:spcBef>
                <a:spcPts val="1000"/>
              </a:spcBef>
              <a:spcAft>
                <a:spcPts val="0"/>
              </a:spcAft>
              <a:buSzPts val="935"/>
              <a:buNone/>
            </a:pPr>
            <a:r>
              <a:rPr lang="en-US" sz="2080"/>
              <a:t># Sample data (replace with your data)</a:t>
            </a:r>
            <a:endParaRPr sz="2080"/>
          </a:p>
          <a:p>
            <a:pPr indent="0" lvl="0" marL="0" rtl="0" algn="l">
              <a:lnSpc>
                <a:spcPct val="70000"/>
              </a:lnSpc>
              <a:spcBef>
                <a:spcPts val="1000"/>
              </a:spcBef>
              <a:spcAft>
                <a:spcPts val="0"/>
              </a:spcAft>
              <a:buSzPts val="935"/>
              <a:buNone/>
            </a:pPr>
            <a:r>
              <a:rPr lang="en-US" sz="2080"/>
              <a:t>data = [[1, 2], [1.5, 1.8], [5, 8], [8, 8], [1, 0.6], [9, 11]]</a:t>
            </a:r>
            <a:endParaRPr sz="2080"/>
          </a:p>
          <a:p>
            <a:pPr indent="0" lvl="0" marL="0" rtl="0" algn="l">
              <a:lnSpc>
                <a:spcPct val="70000"/>
              </a:lnSpc>
              <a:spcBef>
                <a:spcPts val="1000"/>
              </a:spcBef>
              <a:spcAft>
                <a:spcPts val="0"/>
              </a:spcAft>
              <a:buSzPts val="935"/>
              <a:buNone/>
            </a:pPr>
            <a:r>
              <a:t/>
            </a:r>
            <a:endParaRPr sz="2080"/>
          </a:p>
          <a:p>
            <a:pPr indent="0" lvl="0" marL="0" rtl="0" algn="l">
              <a:lnSpc>
                <a:spcPct val="70000"/>
              </a:lnSpc>
              <a:spcBef>
                <a:spcPts val="1000"/>
              </a:spcBef>
              <a:spcAft>
                <a:spcPts val="0"/>
              </a:spcAft>
              <a:buSzPts val="935"/>
              <a:buNone/>
            </a:pPr>
            <a:r>
              <a:rPr lang="en-US" sz="2080"/>
              <a:t># Define a range of k values to explore</a:t>
            </a:r>
            <a:endParaRPr sz="2080"/>
          </a:p>
          <a:p>
            <a:pPr indent="0" lvl="0" marL="0" rtl="0" algn="l">
              <a:lnSpc>
                <a:spcPct val="70000"/>
              </a:lnSpc>
              <a:spcBef>
                <a:spcPts val="1000"/>
              </a:spcBef>
              <a:spcAft>
                <a:spcPts val="0"/>
              </a:spcAft>
              <a:buSzPts val="935"/>
              <a:buNone/>
            </a:pPr>
            <a:r>
              <a:rPr lang="en-US" sz="2080"/>
              <a:t>k_values = range(1, 10)  # Try from 1 to 9 clusters</a:t>
            </a:r>
            <a:endParaRPr sz="2080"/>
          </a:p>
          <a:p>
            <a:pPr indent="0" lvl="0" marL="0" rtl="0" algn="l">
              <a:lnSpc>
                <a:spcPct val="70000"/>
              </a:lnSpc>
              <a:spcBef>
                <a:spcPts val="1000"/>
              </a:spcBef>
              <a:spcAft>
                <a:spcPts val="0"/>
              </a:spcAft>
              <a:buSzPts val="935"/>
              <a:buNone/>
            </a:pPr>
            <a:r>
              <a:t/>
            </a:r>
            <a:endParaRPr sz="2080"/>
          </a:p>
          <a:p>
            <a:pPr indent="0" lvl="0" marL="0" rtl="0" algn="l">
              <a:lnSpc>
                <a:spcPct val="70000"/>
              </a:lnSpc>
              <a:spcBef>
                <a:spcPts val="1000"/>
              </a:spcBef>
              <a:spcAft>
                <a:spcPts val="0"/>
              </a:spcAft>
              <a:buSzPts val="935"/>
              <a:buNone/>
            </a:pPr>
            <a:r>
              <a:rPr lang="en-US" sz="2080"/>
              <a:t># Create a list to store WCSS values for each k</a:t>
            </a:r>
            <a:endParaRPr sz="2080"/>
          </a:p>
          <a:p>
            <a:pPr indent="0" lvl="0" marL="0" rtl="0" algn="l">
              <a:lnSpc>
                <a:spcPct val="70000"/>
              </a:lnSpc>
              <a:spcBef>
                <a:spcPts val="1000"/>
              </a:spcBef>
              <a:spcAft>
                <a:spcPts val="0"/>
              </a:spcAft>
              <a:buSzPts val="935"/>
              <a:buNone/>
            </a:pPr>
            <a:r>
              <a:rPr lang="en-US" sz="2080"/>
              <a:t>wcss = []</a:t>
            </a:r>
            <a:endParaRPr sz="2080"/>
          </a:p>
          <a:p>
            <a:pPr indent="0" lvl="0" marL="0" rtl="0" algn="l">
              <a:lnSpc>
                <a:spcPct val="70000"/>
              </a:lnSpc>
              <a:spcBef>
                <a:spcPts val="1000"/>
              </a:spcBef>
              <a:spcAft>
                <a:spcPts val="0"/>
              </a:spcAft>
              <a:buSzPts val="935"/>
              <a:buNone/>
            </a:pPr>
            <a:r>
              <a:t/>
            </a:r>
            <a:endParaRPr sz="2080"/>
          </a:p>
          <a:p>
            <a:pPr indent="0" lvl="0" marL="0" rtl="0" algn="l">
              <a:lnSpc>
                <a:spcPct val="70000"/>
              </a:lnSpc>
              <a:spcBef>
                <a:spcPts val="1000"/>
              </a:spcBef>
              <a:spcAft>
                <a:spcPts val="0"/>
              </a:spcAft>
              <a:buSzPts val="935"/>
              <a:buNone/>
            </a:pPr>
            <a:r>
              <a:t/>
            </a:r>
            <a:endParaRPr sz="2080"/>
          </a:p>
        </p:txBody>
      </p:sp>
      <p:sp>
        <p:nvSpPr>
          <p:cNvPr id="187" name="Google Shape;187;p20"/>
          <p:cNvSpPr txBox="1"/>
          <p:nvPr/>
        </p:nvSpPr>
        <p:spPr>
          <a:xfrm>
            <a:off x="6858025" y="320075"/>
            <a:ext cx="4928400" cy="5893200"/>
          </a:xfrm>
          <a:prstGeom prst="rect">
            <a:avLst/>
          </a:prstGeom>
          <a:noFill/>
          <a:ln>
            <a:noFill/>
          </a:ln>
        </p:spPr>
        <p:txBody>
          <a:bodyPr anchorCtr="0" anchor="t" bIns="91425" lIns="91425" spcFirstLastPara="1" rIns="91425" wrap="square" tIns="91425">
            <a:noAutofit/>
          </a:bodyPr>
          <a:lstStyle/>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for k in k_values:</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 Create a KMeans object with the specified k</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kmeans = KMeans(n_clusters=k)</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 Fit the KMeans model to the data</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kmeans.fit(data)</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 Get the WCSS value for this k</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wcss.append(kmeans.inertia_)</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 Plot the elbow curve</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plt.plot(k_values, wcss, 'o-')</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plt.xlabel("Number of clusters (k)")</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plt.ylabel("WCSS")</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plt.title("Elbow Method for K-Means Clustering")</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1100"/>
              <a:buFont typeface="Arial"/>
              <a:buNone/>
            </a:pPr>
            <a:r>
              <a:rPr b="0" i="0" lang="en-US" sz="1800" u="none" cap="none" strike="noStrike">
                <a:solidFill>
                  <a:schemeClr val="dk1"/>
                </a:solidFill>
                <a:latin typeface="Calibri"/>
                <a:ea typeface="Calibri"/>
                <a:cs typeface="Calibri"/>
                <a:sym typeface="Calibri"/>
              </a:rPr>
              <a:t>plt.show()</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1"/>
          <p:cNvSpPr txBox="1"/>
          <p:nvPr>
            <p:ph type="title"/>
          </p:nvPr>
        </p:nvSpPr>
        <p:spPr>
          <a:xfrm>
            <a:off x="838200" y="365125"/>
            <a:ext cx="10515600" cy="86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800"/>
              <a:t>Silhouette Analysis:</a:t>
            </a:r>
            <a:endParaRPr b="1"/>
          </a:p>
        </p:txBody>
      </p:sp>
      <p:sp>
        <p:nvSpPr>
          <p:cNvPr id="193" name="Google Shape;193;p21"/>
          <p:cNvSpPr txBox="1"/>
          <p:nvPr>
            <p:ph idx="1" type="body"/>
          </p:nvPr>
        </p:nvSpPr>
        <p:spPr>
          <a:xfrm>
            <a:off x="838200" y="1253400"/>
            <a:ext cx="10515600" cy="2459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500"/>
              <a:t>This method takes into account both cohesion (similarity within clusters) and separation (dissimilarity between clusters). </a:t>
            </a:r>
            <a:endParaRPr sz="2500"/>
          </a:p>
          <a:p>
            <a:pPr indent="0" lvl="0" marL="0" rtl="0" algn="l">
              <a:lnSpc>
                <a:spcPct val="90000"/>
              </a:lnSpc>
              <a:spcBef>
                <a:spcPts val="1000"/>
              </a:spcBef>
              <a:spcAft>
                <a:spcPts val="0"/>
              </a:spcAft>
              <a:buSzPts val="1800"/>
              <a:buNone/>
            </a:pPr>
            <a:r>
              <a:rPr lang="en-US" sz="2500"/>
              <a:t>It calculates a silhouette coefficient for each data point, ranging from -1 to 1. Values closer to 1 indicate a good fit for the data point in its assigned cluster. </a:t>
            </a:r>
            <a:endParaRPr sz="2500"/>
          </a:p>
          <a:p>
            <a:pPr indent="0" lvl="0" marL="0" rtl="0" algn="l">
              <a:lnSpc>
                <a:spcPct val="90000"/>
              </a:lnSpc>
              <a:spcBef>
                <a:spcPts val="1000"/>
              </a:spcBef>
              <a:spcAft>
                <a:spcPts val="0"/>
              </a:spcAft>
              <a:buSzPts val="1800"/>
              <a:buNone/>
            </a:pPr>
            <a:r>
              <a:rPr lang="en-US" sz="2500"/>
              <a:t>You can then average the silhouette coefficients across all data points for different k values and choose the k that maximizes the average silhouette score.</a:t>
            </a:r>
            <a:endParaRPr sz="2500"/>
          </a:p>
        </p:txBody>
      </p:sp>
      <p:sp>
        <p:nvSpPr>
          <p:cNvPr id="194" name="Google Shape;194;p21"/>
          <p:cNvSpPr txBox="1"/>
          <p:nvPr>
            <p:ph type="title"/>
          </p:nvPr>
        </p:nvSpPr>
        <p:spPr>
          <a:xfrm>
            <a:off x="838200" y="4140675"/>
            <a:ext cx="10515600" cy="848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800"/>
              <a:t>Domain Knowledge:</a:t>
            </a:r>
            <a:endParaRPr b="1"/>
          </a:p>
        </p:txBody>
      </p:sp>
      <p:sp>
        <p:nvSpPr>
          <p:cNvPr id="195" name="Google Shape;195;p21"/>
          <p:cNvSpPr txBox="1"/>
          <p:nvPr>
            <p:ph idx="1" type="body"/>
          </p:nvPr>
        </p:nvSpPr>
        <p:spPr>
          <a:xfrm>
            <a:off x="838200" y="4989375"/>
            <a:ext cx="10515600" cy="1641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500"/>
              <a:t>In some cases, your understanding of the underlying data might suggest a natural number of clusters. </a:t>
            </a:r>
            <a:endParaRPr sz="2500"/>
          </a:p>
          <a:p>
            <a:pPr indent="0" lvl="0" marL="0" rtl="0" algn="l">
              <a:lnSpc>
                <a:spcPct val="90000"/>
              </a:lnSpc>
              <a:spcBef>
                <a:spcPts val="1000"/>
              </a:spcBef>
              <a:spcAft>
                <a:spcPts val="0"/>
              </a:spcAft>
              <a:buSzPts val="1800"/>
              <a:buNone/>
            </a:pPr>
            <a:r>
              <a:rPr lang="en-US" sz="2500"/>
              <a:t>For example, if you're clustering customer data, you might expect a specific number of customer segments based on demographics or purchase behavior.</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3"/>
          <p:cNvSpPr txBox="1"/>
          <p:nvPr>
            <p:ph idx="1" type="body"/>
          </p:nvPr>
        </p:nvSpPr>
        <p:spPr>
          <a:xfrm>
            <a:off x="838200" y="463639"/>
            <a:ext cx="10515600" cy="571332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Step 3: Assign all the points to the closest cluster centroid </a:t>
            </a:r>
            <a:r>
              <a:rPr lang="en-US"/>
              <a:t>Once we have initialized the centroids, we assign each point to the closest cluster centroid:</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1" name="Google Shape;201;p23"/>
          <p:cNvPicPr preferRelativeResize="0"/>
          <p:nvPr/>
        </p:nvPicPr>
        <p:blipFill rotWithShape="1">
          <a:blip r:embed="rId3">
            <a:alphaModFix/>
          </a:blip>
          <a:srcRect b="0" l="0" r="0" t="0"/>
          <a:stretch/>
        </p:blipFill>
        <p:spPr>
          <a:xfrm>
            <a:off x="4661750" y="3177381"/>
            <a:ext cx="3847316" cy="250220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E-step ((Expectation-step))</a:t>
            </a:r>
            <a:endParaRPr/>
          </a:p>
        </p:txBody>
      </p:sp>
      <p:sp>
        <p:nvSpPr>
          <p:cNvPr id="207" name="Google Shape;20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E-step is responsible for updating the cluster assignments of the data points. It involves assigning each data point xi to the nearest centroid, μk, using a chosen distance metric. This step is represented by the minimization of the objective function J with respect to wik:</a:t>
            </a:r>
            <a:endParaRPr/>
          </a:p>
          <a:p>
            <a:pPr indent="-228600" lvl="0" marL="228600" rtl="0" algn="l">
              <a:lnSpc>
                <a:spcPct val="90000"/>
              </a:lnSpc>
              <a:spcBef>
                <a:spcPts val="1000"/>
              </a:spcBef>
              <a:spcAft>
                <a:spcPts val="0"/>
              </a:spcAft>
              <a:buClr>
                <a:schemeClr val="dk1"/>
              </a:buClr>
              <a:buSzPts val="2800"/>
              <a:buChar char="•"/>
            </a:pPr>
            <a:r>
              <a:rPr lang="en-US"/>
              <a:t>minJ(wik) = ∑k=1^K ∑i=1^n wik ||xi - μk||^2</a:t>
            </a:r>
            <a:endParaRPr/>
          </a:p>
          <a:p>
            <a:pPr indent="-228600" lvl="0" marL="228600" rtl="0" algn="l">
              <a:lnSpc>
                <a:spcPct val="90000"/>
              </a:lnSpc>
              <a:spcBef>
                <a:spcPts val="1000"/>
              </a:spcBef>
              <a:spcAft>
                <a:spcPts val="0"/>
              </a:spcAft>
              <a:buClr>
                <a:schemeClr val="dk1"/>
              </a:buClr>
              <a:buSzPts val="2800"/>
              <a:buChar char="•"/>
            </a:pPr>
            <a:r>
              <a:rPr lang="en-US"/>
              <a:t>where:</a:t>
            </a:r>
            <a:endParaRPr/>
          </a:p>
          <a:p>
            <a:pPr indent="-228600" lvl="0" marL="228600" rtl="0" algn="l">
              <a:lnSpc>
                <a:spcPct val="90000"/>
              </a:lnSpc>
              <a:spcBef>
                <a:spcPts val="1000"/>
              </a:spcBef>
              <a:spcAft>
                <a:spcPts val="0"/>
              </a:spcAft>
              <a:buClr>
                <a:schemeClr val="dk1"/>
              </a:buClr>
              <a:buSzPts val="2800"/>
              <a:buChar char="•"/>
            </a:pPr>
            <a:r>
              <a:rPr lang="en-US"/>
              <a:t>wik is an indicator variable that equals 1 if xi belongs to cluster k, and 0 otherwise</a:t>
            </a:r>
            <a:endParaRPr/>
          </a:p>
          <a:p>
            <a:pPr indent="-228600" lvl="0" marL="228600" rtl="0" algn="l">
              <a:lnSpc>
                <a:spcPct val="90000"/>
              </a:lnSpc>
              <a:spcBef>
                <a:spcPts val="1000"/>
              </a:spcBef>
              <a:spcAft>
                <a:spcPts val="0"/>
              </a:spcAft>
              <a:buClr>
                <a:schemeClr val="dk1"/>
              </a:buClr>
              <a:buSzPts val="2800"/>
              <a:buChar char="•"/>
            </a:pPr>
            <a:r>
              <a:rPr lang="en-US"/>
              <a:t>||xi - μk||^2 is the squared distance between xi and μk</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5"/>
          <p:cNvSpPr txBox="1"/>
          <p:nvPr>
            <p:ph idx="1" type="body"/>
          </p:nvPr>
        </p:nvSpPr>
        <p:spPr>
          <a:xfrm>
            <a:off x="838200" y="12937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It’s a minimization problem of two parts.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We first minimize J w.r.t. wik and treat μk fixed. </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Then we minimize J w.r.t. μk and treat wik fixed.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Technically speaking, we differentiate J w.r.t. wik first and update cluster assignments (</a:t>
            </a:r>
            <a:r>
              <a:rPr i="1" lang="en-US"/>
              <a:t>E-step</a:t>
            </a:r>
            <a:r>
              <a:rPr lang="en-US"/>
              <a:t>). </a:t>
            </a:r>
            <a:endParaRPr/>
          </a:p>
          <a:p>
            <a:pPr indent="-228600" lvl="0" marL="228600" rtl="0" algn="l">
              <a:lnSpc>
                <a:spcPct val="90000"/>
              </a:lnSpc>
              <a:spcBef>
                <a:spcPts val="1000"/>
              </a:spcBef>
              <a:spcAft>
                <a:spcPts val="0"/>
              </a:spcAft>
              <a:buClr>
                <a:schemeClr val="dk1"/>
              </a:buClr>
              <a:buSzPts val="2800"/>
              <a:buChar char="•"/>
            </a:pPr>
            <a:r>
              <a:rPr lang="en-US"/>
              <a:t>Then we differentiate J w.r.t. μk and recompute the centroids after the cluster assignments from previous step (</a:t>
            </a:r>
            <a:r>
              <a:rPr i="1" lang="en-US"/>
              <a:t>M-step</a:t>
            </a:r>
            <a:r>
              <a:rPr lang="en-US"/>
              <a:t>). </a:t>
            </a:r>
            <a:endParaRPr/>
          </a:p>
          <a:p>
            <a:pPr indent="-228600" lvl="0" marL="228600" rtl="0" algn="l">
              <a:lnSpc>
                <a:spcPct val="90000"/>
              </a:lnSpc>
              <a:spcBef>
                <a:spcPts val="1000"/>
              </a:spcBef>
              <a:spcAft>
                <a:spcPts val="0"/>
              </a:spcAft>
              <a:buClr>
                <a:schemeClr val="dk1"/>
              </a:buClr>
              <a:buSzPts val="2800"/>
              <a:buChar char="•"/>
            </a:pPr>
            <a:r>
              <a:rPr lang="en-US"/>
              <a:t>Therefore, E-step is:</a:t>
            </a:r>
            <a:endParaRPr/>
          </a:p>
        </p:txBody>
      </p:sp>
      <p:pic>
        <p:nvPicPr>
          <p:cNvPr id="213" name="Google Shape;213;p25"/>
          <p:cNvPicPr preferRelativeResize="0"/>
          <p:nvPr>
            <p:ph idx="1" type="body"/>
          </p:nvPr>
        </p:nvPicPr>
        <p:blipFill rotWithShape="1">
          <a:blip r:embed="rId3">
            <a:alphaModFix/>
          </a:blip>
          <a:srcRect b="0" l="0" r="0" t="0"/>
          <a:stretch/>
        </p:blipFill>
        <p:spPr>
          <a:xfrm>
            <a:off x="708723" y="4480570"/>
            <a:ext cx="10515600" cy="1840500"/>
          </a:xfrm>
          <a:prstGeom prst="rect">
            <a:avLst/>
          </a:prstGeom>
          <a:noFill/>
          <a:ln>
            <a:noFill/>
          </a:ln>
        </p:spPr>
      </p:pic>
      <p:sp>
        <p:nvSpPr>
          <p:cNvPr id="214" name="Google Shape;214;p25"/>
          <p:cNvSpPr txBox="1"/>
          <p:nvPr/>
        </p:nvSpPr>
        <p:spPr>
          <a:xfrm>
            <a:off x="3" y="6442501"/>
            <a:ext cx="121920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lang="en-US" sz="2100">
                <a:solidFill>
                  <a:schemeClr val="dk1"/>
                </a:solidFill>
                <a:latin typeface="Calibri"/>
                <a:ea typeface="Calibri"/>
                <a:cs typeface="Calibri"/>
                <a:sym typeface="Calibri"/>
              </a:rPr>
              <a:t>A</a:t>
            </a:r>
            <a:r>
              <a:rPr b="0" i="0" lang="en-US" sz="2100" u="none" cap="none" strike="noStrike">
                <a:solidFill>
                  <a:schemeClr val="dk1"/>
                </a:solidFill>
                <a:latin typeface="Calibri"/>
                <a:ea typeface="Calibri"/>
                <a:cs typeface="Calibri"/>
                <a:sym typeface="Calibri"/>
              </a:rPr>
              <a:t>ssign the data point xi to the closest cluster judged by its sum of squared distance from cluster’s centroid.</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And M-step is:</a:t>
            </a:r>
            <a:endParaRPr/>
          </a:p>
        </p:txBody>
      </p:sp>
      <p:pic>
        <p:nvPicPr>
          <p:cNvPr descr="https://miro.medium.com/v2/resize:fit:700/0*PHCjT5JlbAppbkwz.png" id="220" name="Google Shape;220;p27"/>
          <p:cNvPicPr preferRelativeResize="0"/>
          <p:nvPr>
            <p:ph idx="1" type="body"/>
          </p:nvPr>
        </p:nvPicPr>
        <p:blipFill rotWithShape="1">
          <a:blip r:embed="rId3">
            <a:alphaModFix/>
          </a:blip>
          <a:srcRect b="0" l="0" r="0" t="0"/>
          <a:stretch/>
        </p:blipFill>
        <p:spPr>
          <a:xfrm>
            <a:off x="838199" y="1418472"/>
            <a:ext cx="11100900" cy="1728600"/>
          </a:xfrm>
          <a:prstGeom prst="rect">
            <a:avLst/>
          </a:prstGeom>
          <a:noFill/>
          <a:ln>
            <a:noFill/>
          </a:ln>
        </p:spPr>
      </p:pic>
      <p:sp>
        <p:nvSpPr>
          <p:cNvPr id="221" name="Google Shape;221;p27"/>
          <p:cNvSpPr txBox="1"/>
          <p:nvPr/>
        </p:nvSpPr>
        <p:spPr>
          <a:xfrm>
            <a:off x="4473000" y="581513"/>
            <a:ext cx="7466100" cy="892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2600" u="none" cap="none" strike="noStrike">
                <a:solidFill>
                  <a:schemeClr val="dk1"/>
                </a:solidFill>
                <a:latin typeface="Calibri"/>
                <a:ea typeface="Calibri"/>
                <a:cs typeface="Calibri"/>
                <a:sym typeface="Calibri"/>
              </a:rPr>
              <a:t>Which translates to recomputing the centroid of each cluster to reflect the new assignments.</a:t>
            </a:r>
            <a:endParaRPr b="0" i="0" sz="26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8"/>
          <p:cNvSpPr txBox="1"/>
          <p:nvPr>
            <p:ph idx="1" type="body"/>
          </p:nvPr>
        </p:nvSpPr>
        <p:spPr>
          <a:xfrm>
            <a:off x="838200" y="282421"/>
            <a:ext cx="10515600" cy="1843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Step 4:Recomputed the centroids of newly formed clusters </a:t>
            </a:r>
            <a:r>
              <a:rPr lang="en-US"/>
              <a:t>Now, once we have assigned all of the points to either cluster, the next step is to compute the centroids of newly formed clusters:</a:t>
            </a:r>
            <a:endParaRPr/>
          </a:p>
          <a:p>
            <a:pPr indent="-228600" lvl="0" marL="228600" rtl="0" algn="l">
              <a:lnSpc>
                <a:spcPct val="90000"/>
              </a:lnSpc>
              <a:spcBef>
                <a:spcPts val="1000"/>
              </a:spcBef>
              <a:spcAft>
                <a:spcPts val="0"/>
              </a:spcAft>
              <a:buClr>
                <a:schemeClr val="dk1"/>
              </a:buClr>
              <a:buSzPts val="2800"/>
              <a:buChar char="•"/>
            </a:pPr>
            <a:r>
              <a:rPr lang="en-US"/>
              <a:t>Here, the red and green crosses are the new centroids.</a:t>
            </a:r>
            <a:endParaRPr/>
          </a:p>
        </p:txBody>
      </p:sp>
      <p:pic>
        <p:nvPicPr>
          <p:cNvPr id="227" name="Google Shape;227;p28"/>
          <p:cNvPicPr preferRelativeResize="0"/>
          <p:nvPr/>
        </p:nvPicPr>
        <p:blipFill rotWithShape="1">
          <a:blip r:embed="rId3">
            <a:alphaModFix/>
          </a:blip>
          <a:srcRect b="0" l="0" r="0" t="0"/>
          <a:stretch/>
        </p:blipFill>
        <p:spPr>
          <a:xfrm>
            <a:off x="1176870" y="2125621"/>
            <a:ext cx="2686050" cy="1657350"/>
          </a:xfrm>
          <a:prstGeom prst="rect">
            <a:avLst/>
          </a:prstGeom>
          <a:noFill/>
          <a:ln>
            <a:noFill/>
          </a:ln>
        </p:spPr>
      </p:pic>
      <p:sp>
        <p:nvSpPr>
          <p:cNvPr id="228" name="Google Shape;228;p28"/>
          <p:cNvSpPr/>
          <p:nvPr/>
        </p:nvSpPr>
        <p:spPr>
          <a:xfrm>
            <a:off x="1000200" y="3782948"/>
            <a:ext cx="10353600" cy="1334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242424"/>
              </a:buClr>
              <a:buSzPts val="1500"/>
              <a:buFont typeface="Arial"/>
              <a:buNone/>
            </a:pPr>
            <a:r>
              <a:rPr b="0" i="0" lang="en-US" sz="2300" u="none" cap="none" strike="noStrike">
                <a:solidFill>
                  <a:srgbClr val="242424"/>
                </a:solidFill>
                <a:latin typeface="Arial"/>
                <a:ea typeface="Arial"/>
                <a:cs typeface="Arial"/>
                <a:sym typeface="Arial"/>
              </a:rPr>
              <a:t>Computation of the centroids for the clusters is done by taking the MEAN of the all data points that belong to each cluster:</a:t>
            </a:r>
            <a:r>
              <a:rPr lang="en-US" sz="1900">
                <a:solidFill>
                  <a:schemeClr val="dk1"/>
                </a:solidFill>
                <a:latin typeface="Calibri"/>
                <a:ea typeface="Calibri"/>
                <a:cs typeface="Calibri"/>
                <a:sym typeface="Calibri"/>
              </a:rPr>
              <a:t> </a:t>
            </a:r>
            <a:r>
              <a:rPr b="0" i="1" lang="en-US" sz="2300" u="none" cap="none" strike="noStrike">
                <a:solidFill>
                  <a:srgbClr val="242424"/>
                </a:solidFill>
                <a:latin typeface="Arial"/>
                <a:ea typeface="Arial"/>
                <a:cs typeface="Arial"/>
                <a:sym typeface="Arial"/>
              </a:rPr>
              <a:t>There is another Algorithm </a:t>
            </a:r>
            <a:r>
              <a:rPr b="1" i="1" lang="en-US" sz="2300" u="none" cap="none" strike="noStrike">
                <a:solidFill>
                  <a:srgbClr val="242424"/>
                </a:solidFill>
                <a:latin typeface="Arial"/>
                <a:ea typeface="Arial"/>
                <a:cs typeface="Arial"/>
                <a:sym typeface="Arial"/>
              </a:rPr>
              <a:t>K-Medioids</a:t>
            </a:r>
            <a:r>
              <a:rPr b="0" i="1" lang="en-US" sz="2300" u="none" cap="none" strike="noStrike">
                <a:solidFill>
                  <a:srgbClr val="242424"/>
                </a:solidFill>
                <a:latin typeface="Arial"/>
                <a:ea typeface="Arial"/>
                <a:cs typeface="Arial"/>
                <a:sym typeface="Arial"/>
              </a:rPr>
              <a:t> which does the same thing but in this step it takes the MEDIAN</a:t>
            </a:r>
            <a:endParaRPr b="0" i="0" sz="26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9"/>
          <p:cNvSpPr txBox="1"/>
          <p:nvPr>
            <p:ph type="title"/>
          </p:nvPr>
        </p:nvSpPr>
        <p:spPr>
          <a:xfrm>
            <a:off x="838200" y="365125"/>
            <a:ext cx="10515600" cy="1012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Popularly used similarity measures are</a:t>
            </a:r>
            <a:endParaRPr/>
          </a:p>
        </p:txBody>
      </p:sp>
      <p:sp>
        <p:nvSpPr>
          <p:cNvPr id="234" name="Google Shape;234;p29"/>
          <p:cNvSpPr txBox="1"/>
          <p:nvPr>
            <p:ph idx="1" type="body"/>
          </p:nvPr>
        </p:nvSpPr>
        <p:spPr>
          <a:xfrm>
            <a:off x="838200" y="1825625"/>
            <a:ext cx="10515600" cy="1887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KMeans generally uses the Euclidean Distance (also known as the squared distance), the most common distance used in Euclidean or Cartesian Geometry. But one can choose any distance or form of similarity for this purpose.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42424"/>
              </a:buClr>
              <a:buSzPts val="4400"/>
              <a:buFont typeface="Arial"/>
              <a:buNone/>
            </a:pPr>
            <a:r>
              <a:rPr b="1" lang="en-US">
                <a:solidFill>
                  <a:srgbClr val="242424"/>
                </a:solidFill>
                <a:latin typeface="Arial"/>
                <a:ea typeface="Arial"/>
                <a:cs typeface="Arial"/>
                <a:sym typeface="Arial"/>
              </a:rPr>
              <a:t>Cosine distance</a:t>
            </a:r>
            <a:endParaRPr/>
          </a:p>
        </p:txBody>
      </p:sp>
      <p:sp>
        <p:nvSpPr>
          <p:cNvPr id="240" name="Google Shape;240;p30"/>
          <p:cNvSpPr txBox="1"/>
          <p:nvPr>
            <p:ph idx="1" type="body"/>
          </p:nvPr>
        </p:nvSpPr>
        <p:spPr>
          <a:xfrm>
            <a:off x="838200" y="1825625"/>
            <a:ext cx="10515600" cy="1008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solidFill>
                  <a:srgbClr val="242424"/>
                </a:solidFill>
                <a:latin typeface="Arial"/>
                <a:ea typeface="Arial"/>
                <a:cs typeface="Arial"/>
                <a:sym typeface="Arial"/>
              </a:rPr>
              <a:t>Cosine distance:</a:t>
            </a:r>
            <a:r>
              <a:rPr lang="en-US">
                <a:solidFill>
                  <a:srgbClr val="242424"/>
                </a:solidFill>
                <a:latin typeface="Arial"/>
                <a:ea typeface="Arial"/>
                <a:cs typeface="Arial"/>
                <a:sym typeface="Arial"/>
              </a:rPr>
              <a:t> It determines the cosine of the angle between the point vectors of the two points in the n dimensional space.</a:t>
            </a:r>
            <a:endParaRPr/>
          </a:p>
        </p:txBody>
      </p:sp>
      <p:sp>
        <p:nvSpPr>
          <p:cNvPr id="241" name="Google Shape;241;p30"/>
          <p:cNvSpPr/>
          <p:nvPr/>
        </p:nvSpPr>
        <p:spPr>
          <a:xfrm>
            <a:off x="838200" y="2928802"/>
            <a:ext cx="10515600" cy="36933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  </a:t>
            </a:r>
            <a:endParaRPr b="0" i="0" sz="3700" u="none" cap="none" strike="noStrike">
              <a:solidFill>
                <a:schemeClr val="dk1"/>
              </a:solidFill>
              <a:latin typeface="Arial"/>
              <a:ea typeface="Arial"/>
              <a:cs typeface="Arial"/>
              <a:sym typeface="Arial"/>
            </a:endParaRPr>
          </a:p>
        </p:txBody>
      </p:sp>
      <p:pic>
        <p:nvPicPr>
          <p:cNvPr descr="https://miro.medium.com/v2/resize:fit:189/1*1sC45WhfHIJUMaoXy8d5_g.png" id="242" name="Google Shape;242;p30"/>
          <p:cNvPicPr preferRelativeResize="0"/>
          <p:nvPr/>
        </p:nvPicPr>
        <p:blipFill rotWithShape="1">
          <a:blip r:embed="rId3">
            <a:alphaModFix/>
          </a:blip>
          <a:srcRect b="0" l="0" r="0" t="0"/>
          <a:stretch/>
        </p:blipFill>
        <p:spPr>
          <a:xfrm>
            <a:off x="4429438" y="3528967"/>
            <a:ext cx="3074567" cy="10085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Manhattan distance:</a:t>
            </a:r>
            <a:endParaRPr/>
          </a:p>
        </p:txBody>
      </p:sp>
      <p:sp>
        <p:nvSpPr>
          <p:cNvPr id="248" name="Google Shape;24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It computes the sum of the absolute differences between the coordinates of the two data points.</a:t>
            </a:r>
            <a:endParaRPr/>
          </a:p>
          <a:p>
            <a:pPr indent="-228600" lvl="0" marL="228600" rtl="0" algn="l">
              <a:lnSpc>
                <a:spcPct val="90000"/>
              </a:lnSpc>
              <a:spcBef>
                <a:spcPts val="1000"/>
              </a:spcBef>
              <a:spcAft>
                <a:spcPts val="0"/>
              </a:spcAft>
              <a:buClr>
                <a:schemeClr val="dk1"/>
              </a:buClr>
              <a:buSzPts val="2800"/>
              <a:buChar char="•"/>
            </a:pPr>
            <a:br>
              <a:rPr lang="en-US"/>
            </a:br>
            <a:endParaRPr/>
          </a:p>
        </p:txBody>
      </p:sp>
      <p:pic>
        <p:nvPicPr>
          <p:cNvPr id="249" name="Google Shape;249;p31"/>
          <p:cNvPicPr preferRelativeResize="0"/>
          <p:nvPr/>
        </p:nvPicPr>
        <p:blipFill rotWithShape="1">
          <a:blip r:embed="rId3">
            <a:alphaModFix/>
          </a:blip>
          <a:srcRect b="0" l="0" r="0" t="0"/>
          <a:stretch/>
        </p:blipFill>
        <p:spPr>
          <a:xfrm>
            <a:off x="2710339" y="3450464"/>
            <a:ext cx="5287441" cy="110865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Minkowski distance:</a:t>
            </a:r>
            <a:endParaRPr/>
          </a:p>
        </p:txBody>
      </p:sp>
      <p:sp>
        <p:nvSpPr>
          <p:cNvPr id="255" name="Google Shape;255;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 is also known as the generalized distance metric. It can be used for both ordinal and quantitative variables.</a:t>
            </a:r>
            <a:endParaRPr/>
          </a:p>
        </p:txBody>
      </p:sp>
      <p:pic>
        <p:nvPicPr>
          <p:cNvPr id="256" name="Google Shape;256;p32"/>
          <p:cNvPicPr preferRelativeResize="0"/>
          <p:nvPr/>
        </p:nvPicPr>
        <p:blipFill rotWithShape="1">
          <a:blip r:embed="rId3">
            <a:alphaModFix/>
          </a:blip>
          <a:srcRect b="0" l="0" r="0" t="0"/>
          <a:stretch/>
        </p:blipFill>
        <p:spPr>
          <a:xfrm>
            <a:off x="2858489" y="3408943"/>
            <a:ext cx="5612925" cy="10600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idx="1" type="body"/>
          </p:nvPr>
        </p:nvSpPr>
        <p:spPr>
          <a:xfrm>
            <a:off x="1756375" y="1460825"/>
            <a:ext cx="6426000" cy="739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a:t>Step 5: Repeat steps 3 and 4</a:t>
            </a:r>
            <a:endParaRPr/>
          </a:p>
        </p:txBody>
      </p:sp>
      <p:pic>
        <p:nvPicPr>
          <p:cNvPr id="262" name="Google Shape;262;p33"/>
          <p:cNvPicPr preferRelativeResize="0"/>
          <p:nvPr/>
        </p:nvPicPr>
        <p:blipFill rotWithShape="1">
          <a:blip r:embed="rId3">
            <a:alphaModFix/>
          </a:blip>
          <a:srcRect b="0" l="0" r="0" t="0"/>
          <a:stretch/>
        </p:blipFill>
        <p:spPr>
          <a:xfrm>
            <a:off x="4009614" y="2126922"/>
            <a:ext cx="4172755" cy="2604164"/>
          </a:xfrm>
          <a:prstGeom prst="rect">
            <a:avLst/>
          </a:prstGeom>
          <a:noFill/>
          <a:ln>
            <a:noFill/>
          </a:ln>
        </p:spPr>
      </p:pic>
      <p:sp>
        <p:nvSpPr>
          <p:cNvPr id="263" name="Google Shape;263;p33"/>
          <p:cNvSpPr txBox="1"/>
          <p:nvPr/>
        </p:nvSpPr>
        <p:spPr>
          <a:xfrm>
            <a:off x="387900" y="4731075"/>
            <a:ext cx="11804100" cy="1348200"/>
          </a:xfrm>
          <a:prstGeom prst="rect">
            <a:avLst/>
          </a:prstGeom>
          <a:noFill/>
          <a:ln>
            <a:noFill/>
          </a:ln>
        </p:spPr>
        <p:txBody>
          <a:bodyPr anchorCtr="0" anchor="t" bIns="91425" lIns="91425" spcFirstLastPara="1" rIns="91425" wrap="square" tIns="91425">
            <a:spAutoFit/>
          </a:bodyPr>
          <a:lstStyle/>
          <a:p>
            <a:pPr indent="0" lvl="0" marL="457200" rtl="0" algn="l">
              <a:lnSpc>
                <a:spcPct val="90000"/>
              </a:lnSpc>
              <a:spcBef>
                <a:spcPts val="0"/>
              </a:spcBef>
              <a:spcAft>
                <a:spcPts val="0"/>
              </a:spcAft>
              <a:buNone/>
            </a:pPr>
            <a:r>
              <a:rPr i="1" lang="en-US" sz="2800">
                <a:solidFill>
                  <a:schemeClr val="dk1"/>
                </a:solidFill>
                <a:latin typeface="Calibri"/>
                <a:ea typeface="Calibri"/>
                <a:cs typeface="Calibri"/>
                <a:sym typeface="Calibri"/>
              </a:rPr>
              <a:t>The step of computing the centroid and assigning all the points to the cluster based on their distance from the centroid is a single iteration</a:t>
            </a:r>
            <a:r>
              <a:rPr lang="en-US" sz="2800">
                <a:solidFill>
                  <a:schemeClr val="dk1"/>
                </a:solidFill>
                <a:latin typeface="Calibri"/>
                <a:ea typeface="Calibri"/>
                <a:cs typeface="Calibri"/>
                <a:sym typeface="Calibri"/>
              </a:rPr>
              <a:t>. But wait – when should we stop this process? It can’t run till eternity, right?</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Stopping Criteria for K-Means Clustering</a:t>
            </a:r>
            <a:br>
              <a:rPr lang="en-US"/>
            </a:br>
            <a:endParaRPr/>
          </a:p>
        </p:txBody>
      </p:sp>
      <p:sp>
        <p:nvSpPr>
          <p:cNvPr id="269" name="Google Shape;269;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essentially three stopping criteria that can be adopted to stop the K-means algorithm:</a:t>
            </a:r>
            <a:endParaRPr/>
          </a:p>
          <a:p>
            <a:pPr indent="-228600" lvl="0" marL="228600" rtl="0" algn="l">
              <a:lnSpc>
                <a:spcPct val="90000"/>
              </a:lnSpc>
              <a:spcBef>
                <a:spcPts val="1000"/>
              </a:spcBef>
              <a:spcAft>
                <a:spcPts val="0"/>
              </a:spcAft>
              <a:buClr>
                <a:schemeClr val="dk1"/>
              </a:buClr>
              <a:buSzPts val="2800"/>
              <a:buChar char="•"/>
            </a:pPr>
            <a:r>
              <a:rPr lang="en-US"/>
              <a:t>Centroids of newly formed clusters do not change</a:t>
            </a:r>
            <a:endParaRPr/>
          </a:p>
          <a:p>
            <a:pPr indent="-228600" lvl="0" marL="228600" rtl="0" algn="l">
              <a:lnSpc>
                <a:spcPct val="90000"/>
              </a:lnSpc>
              <a:spcBef>
                <a:spcPts val="1000"/>
              </a:spcBef>
              <a:spcAft>
                <a:spcPts val="0"/>
              </a:spcAft>
              <a:buClr>
                <a:schemeClr val="dk1"/>
              </a:buClr>
              <a:buSzPts val="2800"/>
              <a:buChar char="•"/>
            </a:pPr>
            <a:r>
              <a:rPr lang="en-US"/>
              <a:t>Points remain in the same cluster</a:t>
            </a:r>
            <a:endParaRPr/>
          </a:p>
          <a:p>
            <a:pPr indent="-228600" lvl="0" marL="228600" rtl="0" algn="l">
              <a:lnSpc>
                <a:spcPct val="90000"/>
              </a:lnSpc>
              <a:spcBef>
                <a:spcPts val="1000"/>
              </a:spcBef>
              <a:spcAft>
                <a:spcPts val="0"/>
              </a:spcAft>
              <a:buClr>
                <a:schemeClr val="dk1"/>
              </a:buClr>
              <a:buSzPts val="2800"/>
              <a:buChar char="•"/>
            </a:pPr>
            <a:r>
              <a:rPr lang="en-US"/>
              <a:t>Maximum number of iterations is reached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Applications of Clustering in Real-World Scenarios</a:t>
            </a:r>
            <a:br>
              <a:rPr lang="en-US"/>
            </a:br>
            <a:endParaRPr/>
          </a:p>
        </p:txBody>
      </p:sp>
      <p:sp>
        <p:nvSpPr>
          <p:cNvPr id="275" name="Google Shape;275;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Customer Segmentation</a:t>
            </a:r>
            <a:endParaRPr/>
          </a:p>
          <a:p>
            <a:pPr indent="-228600" lvl="0" marL="228600" rtl="0" algn="l">
              <a:lnSpc>
                <a:spcPct val="90000"/>
              </a:lnSpc>
              <a:spcBef>
                <a:spcPts val="1000"/>
              </a:spcBef>
              <a:spcAft>
                <a:spcPts val="0"/>
              </a:spcAft>
              <a:buClr>
                <a:schemeClr val="dk1"/>
              </a:buClr>
              <a:buSzPts val="2800"/>
              <a:buChar char="•"/>
            </a:pPr>
            <a:r>
              <a:rPr lang="en-US"/>
              <a:t>Document Clustering</a:t>
            </a:r>
            <a:endParaRPr/>
          </a:p>
          <a:p>
            <a:pPr indent="-228600" lvl="0" marL="228600" rtl="0" algn="l">
              <a:lnSpc>
                <a:spcPct val="90000"/>
              </a:lnSpc>
              <a:spcBef>
                <a:spcPts val="1000"/>
              </a:spcBef>
              <a:spcAft>
                <a:spcPts val="0"/>
              </a:spcAft>
              <a:buClr>
                <a:schemeClr val="dk1"/>
              </a:buClr>
              <a:buSzPts val="2800"/>
              <a:buChar char="•"/>
            </a:pPr>
            <a:r>
              <a:rPr lang="en-US"/>
              <a:t>Image Segmentation</a:t>
            </a:r>
            <a:endParaRPr/>
          </a:p>
          <a:p>
            <a:pPr indent="-228600" lvl="0" marL="228600" rtl="0" algn="l">
              <a:lnSpc>
                <a:spcPct val="90000"/>
              </a:lnSpc>
              <a:spcBef>
                <a:spcPts val="1000"/>
              </a:spcBef>
              <a:spcAft>
                <a:spcPts val="0"/>
              </a:spcAft>
              <a:buClr>
                <a:schemeClr val="dk1"/>
              </a:buClr>
              <a:buSzPts val="2800"/>
              <a:buChar char="•"/>
            </a:pPr>
            <a:r>
              <a:rPr lang="en-US"/>
              <a:t>Recommendation Engines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