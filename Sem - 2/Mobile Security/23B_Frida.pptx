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625" r:id="rId2"/>
    <p:sldId id="408" r:id="rId3"/>
    <p:sldId id="632" r:id="rId4"/>
    <p:sldId id="635" r:id="rId5"/>
    <p:sldId id="633" r:id="rId6"/>
    <p:sldId id="593" r:id="rId7"/>
    <p:sldId id="628" r:id="rId8"/>
    <p:sldId id="634" r:id="rId9"/>
    <p:sldId id="636" r:id="rId10"/>
    <p:sldId id="637" r:id="rId11"/>
    <p:sldId id="638" r:id="rId12"/>
    <p:sldId id="639" r:id="rId13"/>
    <p:sldId id="640" r:id="rId14"/>
    <p:sldId id="641" r:id="rId15"/>
    <p:sldId id="642" r:id="rId16"/>
    <p:sldId id="643" r:id="rId17"/>
    <p:sldId id="644" r:id="rId18"/>
    <p:sldId id="645" r:id="rId19"/>
    <p:sldId id="646" r:id="rId20"/>
    <p:sldId id="647" r:id="rId21"/>
    <p:sldId id="648" r:id="rId22"/>
    <p:sldId id="649" r:id="rId23"/>
    <p:sldId id="650" r:id="rId24"/>
    <p:sldId id="651" r:id="rId25"/>
    <p:sldId id="652" r:id="rId26"/>
    <p:sldId id="653" r:id="rId27"/>
    <p:sldId id="654" r:id="rId28"/>
    <p:sldId id="629" r:id="rId29"/>
    <p:sldId id="630" r:id="rId30"/>
    <p:sldId id="631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15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frida.re/docs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04" y="982029"/>
            <a:ext cx="8546121" cy="90436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</a:p>
          <a:p>
            <a:pPr lvl="1">
              <a:lnSpc>
                <a:spcPct val="150000"/>
              </a:lnSpc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 tools,</a:t>
            </a:r>
          </a:p>
          <a:p>
            <a:pPr lvl="1">
              <a:lnSpc>
                <a:spcPct val="150000"/>
              </a:lnSpc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commands</a:t>
            </a:r>
          </a:p>
          <a:p>
            <a:pPr lvl="1">
              <a:lnSpc>
                <a:spcPct val="150000"/>
              </a:lnSpc>
            </a:pP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algn="l"/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https://frida.re/docs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https://github.com/rortega/Frukah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 Tools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59072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algn="just"/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 is particularly useful for dynamic analysis on Android/iOS/Windows applications.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allows us to set up hooks on the target functions so that we can inspect/modify the parameters and return value.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also alter the entire logic of the hooked function.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article shows the most useful code snippets for copy &amp; paste to save time reading the lengthy documentation page.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 Tools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C65305-82D9-4AA8-9B14-FA0F87D0E6BA}"/>
              </a:ext>
            </a:extLst>
          </p:cNvPr>
          <p:cNvSpPr/>
          <p:nvPr/>
        </p:nvSpPr>
        <p:spPr>
          <a:xfrm>
            <a:off x="2895073" y="6050486"/>
            <a:ext cx="6240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https://frida.re/docs/frida-trace/</a:t>
            </a:r>
          </a:p>
        </p:txBody>
      </p:sp>
    </p:spTree>
    <p:extLst>
      <p:ext uri="{BB962C8B-B14F-4D97-AF65-F5344CB8AC3E}">
        <p14:creationId xmlns:p14="http://schemas.microsoft.com/office/powerpoint/2010/main" val="274486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 Tools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REPL interface, a tool aimed at rapid prototyping and easy debugging, for more Use Frida –h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 Tools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7E3AF7-34BD-4C39-A9B7-98B122E6B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31" y="2307528"/>
            <a:ext cx="8693646" cy="331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6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 Tools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-trace :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-trace is a tool for dynamically Monitoring/tracing Method calls. It is useful for debugging method calls on every event in mobile application.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 Tools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C65305-82D9-4AA8-9B14-FA0F87D0E6BA}"/>
              </a:ext>
            </a:extLst>
          </p:cNvPr>
          <p:cNvSpPr/>
          <p:nvPr/>
        </p:nvSpPr>
        <p:spPr>
          <a:xfrm>
            <a:off x="2895073" y="6050486"/>
            <a:ext cx="6240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https://frida.re/docs/frida-trace/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6FD5E4-2BE1-4381-9EF0-57A0C06A0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49" y="2348881"/>
            <a:ext cx="8709457" cy="3096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algn="l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 Tools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frida-ps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This is a command-line tool for listing processes, which is very useful when interacting with a remote system.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-discover: for discovering internal functions in a program, which can then be traced by using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-trace.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-ls-devices: This is a command-line tool for listing attached devices, which is very useful when interacting with multiple devices.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-kill: This is a command-line tool for killing processes.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 Tools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C65305-82D9-4AA8-9B14-FA0F87D0E6BA}"/>
              </a:ext>
            </a:extLst>
          </p:cNvPr>
          <p:cNvSpPr/>
          <p:nvPr/>
        </p:nvSpPr>
        <p:spPr>
          <a:xfrm>
            <a:off x="2895073" y="6050486"/>
            <a:ext cx="6240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https://frida.re/docs/frida-trace/</a:t>
            </a:r>
          </a:p>
        </p:txBody>
      </p:sp>
    </p:spTree>
    <p:extLst>
      <p:ext uri="{BB962C8B-B14F-4D97-AF65-F5344CB8AC3E}">
        <p14:creationId xmlns:p14="http://schemas.microsoft.com/office/powerpoint/2010/main" val="958853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2693" y="586343"/>
            <a:ext cx="8546121" cy="5467320"/>
          </a:xfrm>
        </p:spPr>
        <p:txBody>
          <a:bodyPr>
            <a:noAutofit/>
          </a:bodyPr>
          <a:lstStyle/>
          <a:p>
            <a:pPr algn="l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sys</a:t>
            </a:r>
          </a:p>
          <a:p>
            <a:pPr algn="l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ss = """</a:t>
            </a:r>
          </a:p>
          <a:p>
            <a:pPr algn="l"/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Java.perform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(function () {</a:t>
            </a:r>
          </a:p>
          <a:p>
            <a:pPr algn="l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declare classes that are going to be used</a:t>
            </a:r>
          </a:p>
          <a:p>
            <a:pPr algn="l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const System =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Java.use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java.lang.System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algn="l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const Log =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Java.use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android.util.Log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l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const Exception =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Java.use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java.lang.Exception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l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System.exit.implementation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function() {</a:t>
            </a:r>
          </a:p>
          <a:p>
            <a:pPr algn="l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// console.log(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Log.getStackTraceString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Exception.$new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()));</a:t>
            </a:r>
          </a:p>
          <a:p>
            <a:pPr algn="l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};</a:t>
            </a:r>
          </a:p>
          <a:p>
            <a:pPr algn="l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algn="l"/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 python binding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40238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a class might have multiple methods and each of these methods have a specific purpose.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onCreate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 defines the implementation of activity as soon as the activity is created (or launched).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what is, we can hook this function and change the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activity when it is created.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demonstration purpose, I’ll just print some custom text in my console as soon as the activity is called but the possibilities are limitless.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Typically you won’t have access to the source code, hence, what we’ll do is extract the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first and then decompile it to view source code.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pull the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we’ll first know it’s the path and then pull it.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different methods in java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905026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 pm path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pull /data/app/jakhar.aseem.diva-dxAm4hRxYY4VgIq2X5zU6w==/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base.apk</a:t>
            </a: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we’ll decompile it using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apktool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then use dex2jar to convert it in jar format, and finally use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jd-gui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view the decompiled source code like below.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is the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MainActivity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decompiled.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different methods in java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066462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different methods in java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11" name="Picture 10" descr="https://1.bp.blogspot.com/-nYLTJp4jXrk/X_Hwh5WNTWI/AAAAAAAAsYI/K6kT3qUoj4QSpRXEdNmi3Gv8hi72igNTACLcBGAsYHQ/s16000/7.png">
            <a:extLst>
              <a:ext uri="{FF2B5EF4-FFF2-40B4-BE49-F238E27FC236}">
                <a16:creationId xmlns:a16="http://schemas.microsoft.com/office/drawing/2014/main" id="{294FD150-0CFD-4CE2-85CA-37E0B6EB5D0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781080"/>
            <a:ext cx="8208913" cy="4952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5332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we see the following things: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see that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onCreate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a Bundle parameter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creating a view of the main page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below is an example of how to hook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onCreate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different methods in java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59206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console.log("Script loaded!");</a:t>
            </a:r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Java.perform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(function(){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mainapp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Java.use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jakhar.aseem.diva.MainActivity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mainapp.onCreate.implementation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function(){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console.log("My script called!");</a:t>
            </a:r>
          </a:p>
          <a:p>
            <a:pPr algn="l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var ret = 		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this.onCreate.overload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android.os.Bundle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").call(this);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};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send("Hooks installed");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different methods in java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747895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	Any implementation of the hook is put inside perform(function(){ //&lt;code&gt;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	The activity we want to hook (main activity) is put inside use(“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jakhar.aseem.diva.MainActivity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”), and assign a variable to it. Here,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mainapp</a:t>
            </a: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	Now,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onCreate.implementation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sets a definition of the function.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different methods in java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282303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	Here, we can insert any code we cant to run in the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onCreate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method. I just inserted log function to output “My script called!” every time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onCreate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called.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	New variable ret calls this newly formed implementation function. overload method is used to add this code to the existing piece of code. Here, “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os.Bundle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is input as a parameter since in the original function a bundle object is used.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	Finally, the call method is used to call the current method using “this” pointer.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different methods in java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669842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AutoNum type="arabicPeriod" startAt="7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send() function outputs the text in double-quotes on the current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command line.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launch this script we type in the following command: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-U -l mainactivityhook.js -f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you can see now, the hook is successfully installed, activity launches and our custom output is now displayed and the hook is successfully installed</a:t>
            </a:r>
          </a:p>
          <a:p>
            <a:pPr marL="457200" indent="-457200" algn="just">
              <a:lnSpc>
                <a:spcPct val="150000"/>
              </a:lnSpc>
              <a:buAutoNum type="arabicPeriod" startAt="7"/>
            </a:pP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 startAt="7"/>
            </a:pP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 startAt="7"/>
            </a:pP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different methods in java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238934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the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onCreate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 that is present in the native libraries, some methods are custom created.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you inspect the code of diva, you’ll see a function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startChallenge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that is launching challenges in the application.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I’m not putting the code in here but you can refer to the decompiled code in the above step.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we’ll observe that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startChallenge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launching activities present in the project.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a defined method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876048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since it is launching an activity, it has an “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android.view.VIEW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argument passed in its code.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in the code below, every time a user hits a button to start any challenge, we’ll just force him to call our hook and our defined output would be displayed (that is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MainActivity.startChallenge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is now started).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Needless to say, we can change this by any implementation we want.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a defined method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795741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284" y="717513"/>
            <a:ext cx="8546121" cy="5467320"/>
          </a:xfrm>
        </p:spPr>
        <p:txBody>
          <a:bodyPr>
            <a:noAutofit/>
          </a:bodyPr>
          <a:lstStyle/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console.log("Hooked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startChallenge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function");</a:t>
            </a:r>
          </a:p>
          <a:p>
            <a:pPr algn="just"/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Java.perform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(function(){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newstart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Java.use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jakhar.aseem.diva.MainActivity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newstart.startChallenge.overload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android.view.View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").implementation = function(v){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//enter any implementation of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startChallenge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 want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//for demo I'm just sending an alert on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console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send("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MainActivity.startChallenge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is now started");</a:t>
            </a:r>
          </a:p>
          <a:p>
            <a:pPr algn="l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var ret =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this.startChallenge.overload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android.view.View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").call(this);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};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a defined method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109779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call this script, without having to input %resume this time, we can type in the command with –no-pause filter: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-U -l main_startchallenge.js -f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sure enough, every time a button is pressed, our custom input is displayed.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a defined method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865920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also tamper the exit method in android just like we tampered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onCreate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 I’m using a demonstration application that I custom coded.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a button that is performing an exit function. You can see a sample screenshot below: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exit() method: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37699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here we see the exit button. As the name states, on pressing it, application exits.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create a hook down below that will stop the exit. Here, “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java.lang.System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is the package that has exit function and so we’ll overload it using “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sysexit.exit.overload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().implementation.”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whenever a user clicks on exit, our send method will be called and exit will be stopped.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exit() method: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243535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console.log("Hooking on exit function");</a:t>
            </a:r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Java.perform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(function(){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sysexit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Java.use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java.lang.System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sysexit.exit.overload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("int").implementation = function(var_0) 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send("I've stopped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java.lang.System.exit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now!");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};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exit() method: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402180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fire this script up and sure enough, we can see that the process is not terminated when the exit button is clicked.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 had been terminated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must have thrown a process terminated error and closed the console.</a:t>
            </a:r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-U -l avoidexit.js -f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com.example.harshitrajpal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--no-pause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exit() method: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189322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hooked methods till now, but a return variable can also be hooked and its output be tampered with.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application that I custom coded which is mentioned above, there is a simple program to display output of 10 and 50.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We’ll hook this return value and output 100. The code to do this is pretty straightforward: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return value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042916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console.log(“Hook for implementation of method”);</a:t>
            </a:r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Java.perform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(function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myFunc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algn="l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var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Java.use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com.example.harshitrajpal.MainActivity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”);</a:t>
            </a:r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myClass.returnValue.implementation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function()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//we will manipulate the return value here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var ret = 100;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return ret;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algn="just"/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return value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881988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498376"/>
            <a:ext cx="8546121" cy="546732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first run the program without loading our hook. We can see that the program outputs 60 which is the correct answer.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we’ll fire up our script and see what changes happen in the application now.</a:t>
            </a:r>
          </a:p>
          <a:p>
            <a:pPr algn="just"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-U -l retValueHook.js -f </a:t>
            </a:r>
            <a:r>
              <a:rPr 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com.example.harshitrajpal</a:t>
            </a: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--no-pause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Hooking return value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593780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695340"/>
            <a:ext cx="8546121" cy="5467320"/>
          </a:xfrm>
        </p:spPr>
        <p:txBody>
          <a:bodyPr>
            <a:noAutofit/>
          </a:bodyPr>
          <a:lstStyle/>
          <a:p>
            <a:pPr algn="just"/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Java.available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check Frida running on android or not. It is to check if you are actually running on Android. For example, you could create 1 SSL bypassing script that first checks if you’re on Android or iOS, and act accordingly .It specify whether the current process has the a Java VM loaded, i.e. Dalvik or ART return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(true or false)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 </a:t>
            </a:r>
            <a:r>
              <a:rPr lang="en-US" sz="2400" b="1" dirty="0" err="1"/>
              <a:t>Api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C65305-82D9-4AA8-9B14-FA0F87D0E6BA}"/>
              </a:ext>
            </a:extLst>
          </p:cNvPr>
          <p:cNvSpPr/>
          <p:nvPr/>
        </p:nvSpPr>
        <p:spPr>
          <a:xfrm>
            <a:off x="2895073" y="6050486"/>
            <a:ext cx="6240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https://frida.re/docs/frida-trace/</a:t>
            </a:r>
          </a:p>
        </p:txBody>
      </p:sp>
    </p:spTree>
    <p:extLst>
      <p:ext uri="{BB962C8B-B14F-4D97-AF65-F5344CB8AC3E}">
        <p14:creationId xmlns:p14="http://schemas.microsoft.com/office/powerpoint/2010/main" val="1869183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695340"/>
            <a:ext cx="8546121" cy="5467320"/>
          </a:xfrm>
        </p:spPr>
        <p:txBody>
          <a:bodyPr>
            <a:noAutofit/>
          </a:bodyPr>
          <a:lstStyle/>
          <a:p>
            <a:pPr algn="just"/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Java.available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check Frida running on android or not. It is to check if you are actually running on Android. For example, you could create 1 SSL bypassing script that first checks if you’re on Android or iOS, and act accordingly .It specify whether the current process has the a Java VM loaded, i.e. Dalvik or ART return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(true or false)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 </a:t>
            </a:r>
            <a:r>
              <a:rPr lang="en-US" sz="2400" b="1" dirty="0" err="1"/>
              <a:t>Api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C65305-82D9-4AA8-9B14-FA0F87D0E6BA}"/>
              </a:ext>
            </a:extLst>
          </p:cNvPr>
          <p:cNvSpPr/>
          <p:nvPr/>
        </p:nvSpPr>
        <p:spPr>
          <a:xfrm>
            <a:off x="2895073" y="6050486"/>
            <a:ext cx="6240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https://frida.re/docs/frida-trace/</a:t>
            </a:r>
          </a:p>
        </p:txBody>
      </p:sp>
    </p:spTree>
    <p:extLst>
      <p:ext uri="{BB962C8B-B14F-4D97-AF65-F5344CB8AC3E}">
        <p14:creationId xmlns:p14="http://schemas.microsoft.com/office/powerpoint/2010/main" val="1074503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695340"/>
            <a:ext cx="8546121" cy="546732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Java.androidVersion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return the android version of device that we are using.</a:t>
            </a:r>
          </a:p>
          <a:p>
            <a:pPr algn="just">
              <a:lnSpc>
                <a:spcPct val="150000"/>
              </a:lnSpc>
            </a:pP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Java.enumerateLoadedClasses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(callback):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API enumerates classes where object specifying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onMatch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(name, handle): called for each loaded class with a name that may be passed to use() to get a JavaScript wrapper.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onComplete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called when all classes have been enumerated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 </a:t>
            </a:r>
            <a:r>
              <a:rPr lang="en-US" sz="2400" b="1" dirty="0" err="1"/>
              <a:t>Api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C65305-82D9-4AA8-9B14-FA0F87D0E6BA}"/>
              </a:ext>
            </a:extLst>
          </p:cNvPr>
          <p:cNvSpPr/>
          <p:nvPr/>
        </p:nvSpPr>
        <p:spPr>
          <a:xfrm>
            <a:off x="2895073" y="6050486"/>
            <a:ext cx="6240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https://frida.re/docs/frida-trace/</a:t>
            </a:r>
          </a:p>
        </p:txBody>
      </p:sp>
    </p:spTree>
    <p:extLst>
      <p:ext uri="{BB962C8B-B14F-4D97-AF65-F5344CB8AC3E}">
        <p14:creationId xmlns:p14="http://schemas.microsoft.com/office/powerpoint/2010/main" val="3059630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7353</TotalTime>
  <Words>2189</Words>
  <Application>Microsoft Office PowerPoint</Application>
  <PresentationFormat>On-screen Show (4:3)</PresentationFormat>
  <Paragraphs>213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766</cp:revision>
  <dcterms:created xsi:type="dcterms:W3CDTF">2018-03-30T10:15:00Z</dcterms:created>
  <dcterms:modified xsi:type="dcterms:W3CDTF">2026-04-21T13:07:00Z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